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2.xml" ContentType="application/vnd.openxmlformats-officedocument.theme+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heme/theme3.xml" ContentType="application/vnd.openxmlformats-officedocument.theme+xml"/>
  <Override PartName="/ppt/tags/tag9.xml" ContentType="application/vnd.openxmlformats-officedocument.presentationml.tags+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4.xml" ContentType="application/vnd.openxmlformats-officedocument.theme+xml"/>
  <Override PartName="/ppt/tags/tag10.xml" ContentType="application/vnd.openxmlformats-officedocument.presentationml.tags+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5.xml" ContentType="application/vnd.openxmlformats-officedocument.theme+xml"/>
  <Override PartName="/ppt/tags/tag11.xml" ContentType="application/vnd.openxmlformats-officedocument.presentationml.tags+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6.xml" ContentType="application/vnd.openxmlformats-officedocument.theme+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7.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8.xml" ContentType="application/vnd.openxmlformats-officedocument.theme+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tags/tag18.xml" ContentType="application/vnd.openxmlformats-officedocument.presentationml.tags+xml"/>
  <Override PartName="/ppt/notesSlides/notesSlide2.xml" ContentType="application/vnd.openxmlformats-officedocument.presentationml.notesSlide+xml"/>
  <Override PartName="/ppt/tags/tag19.xml" ContentType="application/vnd.openxmlformats-officedocument.presentationml.tags+xml"/>
  <Override PartName="/ppt/notesSlides/notesSlide3.xml" ContentType="application/vnd.openxmlformats-officedocument.presentationml.notesSlide+xml"/>
  <Override PartName="/ppt/tags/tag20.xml" ContentType="application/vnd.openxmlformats-officedocument.presentationml.tags+xml"/>
  <Override PartName="/ppt/notesSlides/notesSlide4.xml" ContentType="application/vnd.openxmlformats-officedocument.presentationml.notesSlide+xml"/>
  <Override PartName="/ppt/tags/tag21.xml" ContentType="application/vnd.openxmlformats-officedocument.presentationml.tags+xml"/>
  <Override PartName="/ppt/notesSlides/notesSlide5.xml" ContentType="application/vnd.openxmlformats-officedocument.presentationml.notesSlide+xml"/>
  <Override PartName="/ppt/tags/tag22.xml" ContentType="application/vnd.openxmlformats-officedocument.presentationml.tags+xml"/>
  <Override PartName="/ppt/notesSlides/notesSlide6.xml" ContentType="application/vnd.openxmlformats-officedocument.presentationml.notesSlide+xml"/>
  <Override PartName="/ppt/tags/tag23.xml" ContentType="application/vnd.openxmlformats-officedocument.presentationml.tags+xml"/>
  <Override PartName="/ppt/notesSlides/notesSlide7.xml" ContentType="application/vnd.openxmlformats-officedocument.presentationml.notesSlide+xml"/>
  <Override PartName="/ppt/tags/tag24.xml" ContentType="application/vnd.openxmlformats-officedocument.presentationml.tags+xml"/>
  <Override PartName="/ppt/notesSlides/notesSlide8.xml" ContentType="application/vnd.openxmlformats-officedocument.presentationml.notesSlide+xml"/>
  <Override PartName="/ppt/tags/tag25.xml" ContentType="application/vnd.openxmlformats-officedocument.presentationml.tags+xml"/>
  <Override PartName="/ppt/notesSlides/notesSlide9.xml" ContentType="application/vnd.openxmlformats-officedocument.presentationml.notesSlide+xml"/>
  <Override PartName="/ppt/tags/tag26.xml" ContentType="application/vnd.openxmlformats-officedocument.presentationml.tags+xml"/>
  <Override PartName="/ppt/notesSlides/notesSlide10.xml" ContentType="application/vnd.openxmlformats-officedocument.presentationml.notesSlide+xml"/>
  <Override PartName="/ppt/tags/tag27.xml" ContentType="application/vnd.openxmlformats-officedocument.presentationml.tags+xml"/>
  <Override PartName="/ppt/notesSlides/notesSlide11.xml" ContentType="application/vnd.openxmlformats-officedocument.presentationml.notesSlide+xml"/>
  <Override PartName="/ppt/tags/tag28.xml" ContentType="application/vnd.openxmlformats-officedocument.presentationml.tags+xml"/>
  <Override PartName="/ppt/notesSlides/notesSlide12.xml" ContentType="application/vnd.openxmlformats-officedocument.presentationml.notesSlide+xml"/>
  <Override PartName="/ppt/tags/tag29.xml" ContentType="application/vnd.openxmlformats-officedocument.presentationml.tags+xml"/>
  <Override PartName="/ppt/notesSlides/notesSlide13.xml" ContentType="application/vnd.openxmlformats-officedocument.presentationml.notesSlide+xml"/>
  <Override PartName="/ppt/tags/tag30.xml" ContentType="application/vnd.openxmlformats-officedocument.presentationml.tags+xml"/>
  <Override PartName="/ppt/notesSlides/notesSlide14.xml" ContentType="application/vnd.openxmlformats-officedocument.presentationml.notesSlide+xml"/>
  <Override PartName="/ppt/tags/tag31.xml" ContentType="application/vnd.openxmlformats-officedocument.presentationml.tags+xml"/>
  <Override PartName="/ppt/notesSlides/notesSlide15.xml" ContentType="application/vnd.openxmlformats-officedocument.presentationml.notesSlide+xml"/>
  <Override PartName="/ppt/tags/tag32.xml" ContentType="application/vnd.openxmlformats-officedocument.presentationml.tags+xml"/>
  <Override PartName="/ppt/notesSlides/notesSlide16.xml" ContentType="application/vnd.openxmlformats-officedocument.presentationml.notesSlide+xml"/>
  <Override PartName="/ppt/tags/tag33.xml" ContentType="application/vnd.openxmlformats-officedocument.presentationml.tags+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tags/tag34.xml" ContentType="application/vnd.openxmlformats-officedocument.presentationml.tags+xml"/>
  <Override PartName="/ppt/notesSlides/notesSlide23.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tags/tag35.xml" ContentType="application/vnd.openxmlformats-officedocument.presentationml.tags+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tags/tag36.xml" ContentType="application/vnd.openxmlformats-officedocument.presentationml.tags+xml"/>
  <Override PartName="/ppt/notesSlides/notesSlide30.xml" ContentType="application/vnd.openxmlformats-officedocument.presentationml.notesSlide+xml"/>
  <Override PartName="/ppt/tags/tag37.xml" ContentType="application/vnd.openxmlformats-officedocument.presentationml.tags+xml"/>
  <Override PartName="/ppt/notesSlides/notesSlide31.xml" ContentType="application/vnd.openxmlformats-officedocument.presentationml.notesSlide+xml"/>
  <Override PartName="/ppt/tags/tag38.xml" ContentType="application/vnd.openxmlformats-officedocument.presentationml.tags+xml"/>
  <Override PartName="/ppt/notesSlides/notesSlide32.xml" ContentType="application/vnd.openxmlformats-officedocument.presentationml.notesSlide+xml"/>
  <Override PartName="/ppt/tags/tag39.xml" ContentType="application/vnd.openxmlformats-officedocument.presentationml.tags+xml"/>
  <Override PartName="/ppt/notesSlides/notesSlide33.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tags/tag40.xml" ContentType="application/vnd.openxmlformats-officedocument.presentationml.tags+xml"/>
  <Override PartName="/ppt/notesSlides/notesSlide34.xml" ContentType="application/vnd.openxmlformats-officedocument.presentationml.notesSlide+xml"/>
  <Override PartName="/ppt/tags/tag41.xml" ContentType="application/vnd.openxmlformats-officedocument.presentationml.tags+xml"/>
  <Override PartName="/ppt/notesSlides/notesSlide35.xml" ContentType="application/vnd.openxmlformats-officedocument.presentationml.notesSlide+xml"/>
  <Override PartName="/ppt/tags/tag42.xml" ContentType="application/vnd.openxmlformats-officedocument.presentationml.tags+xml"/>
  <Override PartName="/ppt/notesSlides/notesSlide36.xml" ContentType="application/vnd.openxmlformats-officedocument.presentationml.notesSlide+xml"/>
  <Override PartName="/ppt/tags/tag43.xml" ContentType="application/vnd.openxmlformats-officedocument.presentationml.tags+xml"/>
  <Override PartName="/ppt/notesSlides/notesSlide37.xml" ContentType="application/vnd.openxmlformats-officedocument.presentationml.notesSlide+xml"/>
  <Override PartName="/ppt/tags/tag44.xml" ContentType="application/vnd.openxmlformats-officedocument.presentationml.tags+xml"/>
  <Override PartName="/ppt/notesSlides/notesSlide38.xml" ContentType="application/vnd.openxmlformats-officedocument.presentationml.notesSlide+xml"/>
  <Override PartName="/ppt/tags/tag45.xml" ContentType="application/vnd.openxmlformats-officedocument.presentationml.tags+xml"/>
  <Override PartName="/ppt/notesSlides/notesSlide39.xml" ContentType="application/vnd.openxmlformats-officedocument.presentationml.notesSlide+xml"/>
  <Override PartName="/ppt/tags/tag46.xml" ContentType="application/vnd.openxmlformats-officedocument.presentationml.tags+xml"/>
  <Override PartName="/ppt/notesSlides/notesSlide40.xml" ContentType="application/vnd.openxmlformats-officedocument.presentationml.notesSlide+xml"/>
  <Override PartName="/ppt/tags/tag47.xml" ContentType="application/vnd.openxmlformats-officedocument.presentationml.tags+xml"/>
  <Override PartName="/ppt/notesSlides/notesSlide41.xml" ContentType="application/vnd.openxmlformats-officedocument.presentationml.notesSlide+xml"/>
  <Override PartName="/ppt/tags/tag48.xml" ContentType="application/vnd.openxmlformats-officedocument.presentationml.tags+xml"/>
  <Override PartName="/ppt/notesSlides/notesSlide42.xml" ContentType="application/vnd.openxmlformats-officedocument.presentationml.notesSlide+xml"/>
  <Override PartName="/ppt/tags/tag49.xml" ContentType="application/vnd.openxmlformats-officedocument.presentationml.tags+xml"/>
  <Override PartName="/ppt/notesSlides/notesSlide43.xml" ContentType="application/vnd.openxmlformats-officedocument.presentationml.notesSlide+xml"/>
  <Override PartName="/ppt/tags/tag50.xml" ContentType="application/vnd.openxmlformats-officedocument.presentationml.tags+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tags/tag51.xml" ContentType="application/vnd.openxmlformats-officedocument.presentationml.tags+xml"/>
  <Override PartName="/ppt/notesSlides/notesSlide50.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2.xml" ContentType="application/vnd.openxmlformats-officedocument.themeOverride+xml"/>
  <Override PartName="/ppt/tags/tag52.xml" ContentType="application/vnd.openxmlformats-officedocument.presentationml.tags+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ppt/metadata" ContentType="application/binary"/>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saveSubsetFonts="1" autoCompressPictures="0">
  <p:sldMasterIdLst>
    <p:sldMasterId id="2147483725" r:id="rId4"/>
    <p:sldMasterId id="2147483807" r:id="rId5"/>
    <p:sldMasterId id="2147483795" r:id="rId6"/>
    <p:sldMasterId id="2147483783" r:id="rId7"/>
    <p:sldMasterId id="2147483769" r:id="rId8"/>
    <p:sldMasterId id="2147483827" r:id="rId9"/>
    <p:sldMasterId id="2147483886" r:id="rId10"/>
    <p:sldMasterId id="2147483956" r:id="rId11"/>
  </p:sldMasterIdLst>
  <p:notesMasterIdLst>
    <p:notesMasterId r:id="rId108"/>
  </p:notesMasterIdLst>
  <p:handoutMasterIdLst>
    <p:handoutMasterId r:id="rId109"/>
  </p:handoutMasterIdLst>
  <p:sldIdLst>
    <p:sldId id="768" r:id="rId12"/>
    <p:sldId id="2076138745" r:id="rId13"/>
    <p:sldId id="2076138746" r:id="rId14"/>
    <p:sldId id="2076138752" r:id="rId15"/>
    <p:sldId id="2076138748" r:id="rId16"/>
    <p:sldId id="2076138704" r:id="rId17"/>
    <p:sldId id="2076138751" r:id="rId18"/>
    <p:sldId id="2076138753" r:id="rId19"/>
    <p:sldId id="2076138737" r:id="rId20"/>
    <p:sldId id="2076138709" r:id="rId21"/>
    <p:sldId id="2076138708" r:id="rId22"/>
    <p:sldId id="2076138755" r:id="rId23"/>
    <p:sldId id="2076138756" r:id="rId24"/>
    <p:sldId id="2076138740" r:id="rId25"/>
    <p:sldId id="2076138757" r:id="rId26"/>
    <p:sldId id="2076138747" r:id="rId27"/>
    <p:sldId id="2076138758" r:id="rId28"/>
    <p:sldId id="2076138749" r:id="rId29"/>
    <p:sldId id="2076138722" r:id="rId30"/>
    <p:sldId id="2076138759" r:id="rId31"/>
    <p:sldId id="2076138734" r:id="rId32"/>
    <p:sldId id="2076138735" r:id="rId33"/>
    <p:sldId id="2076138738" r:id="rId34"/>
    <p:sldId id="2076138750" r:id="rId35"/>
    <p:sldId id="2076138666" r:id="rId36"/>
    <p:sldId id="2076138696" r:id="rId37"/>
    <p:sldId id="2076138716" r:id="rId38"/>
    <p:sldId id="2462" r:id="rId39"/>
    <p:sldId id="2492" r:id="rId40"/>
    <p:sldId id="2076138744" r:id="rId41"/>
    <p:sldId id="2147473198" r:id="rId42"/>
    <p:sldId id="2147473199" r:id="rId43"/>
    <p:sldId id="2147473200" r:id="rId44"/>
    <p:sldId id="2147473201" r:id="rId45"/>
    <p:sldId id="2147473154" r:id="rId46"/>
    <p:sldId id="2147473155" r:id="rId47"/>
    <p:sldId id="2147473157" r:id="rId48"/>
    <p:sldId id="2147473158" r:id="rId49"/>
    <p:sldId id="2147473159" r:id="rId50"/>
    <p:sldId id="2147473160" r:id="rId51"/>
    <p:sldId id="2147473161" r:id="rId52"/>
    <p:sldId id="2147473162" r:id="rId53"/>
    <p:sldId id="2147473163" r:id="rId54"/>
    <p:sldId id="2147473164" r:id="rId55"/>
    <p:sldId id="2147473165" r:id="rId56"/>
    <p:sldId id="2147473166" r:id="rId57"/>
    <p:sldId id="2147473167" r:id="rId58"/>
    <p:sldId id="2147473168" r:id="rId59"/>
    <p:sldId id="2147473169" r:id="rId60"/>
    <p:sldId id="2147473170" r:id="rId61"/>
    <p:sldId id="2147473171" r:id="rId62"/>
    <p:sldId id="2147473172" r:id="rId63"/>
    <p:sldId id="2147473173" r:id="rId64"/>
    <p:sldId id="2147473174" r:id="rId65"/>
    <p:sldId id="2147473175" r:id="rId66"/>
    <p:sldId id="2147473176" r:id="rId67"/>
    <p:sldId id="2147473177" r:id="rId68"/>
    <p:sldId id="2147473178" r:id="rId69"/>
    <p:sldId id="2076138760" r:id="rId70"/>
    <p:sldId id="2147473134" r:id="rId71"/>
    <p:sldId id="2147473135" r:id="rId72"/>
    <p:sldId id="2147473140" r:id="rId73"/>
    <p:sldId id="2147473139" r:id="rId74"/>
    <p:sldId id="2147473138" r:id="rId75"/>
    <p:sldId id="2147473137" r:id="rId76"/>
    <p:sldId id="2147473136" r:id="rId77"/>
    <p:sldId id="2147473141" r:id="rId78"/>
    <p:sldId id="2147473142" r:id="rId79"/>
    <p:sldId id="2147473143" r:id="rId80"/>
    <p:sldId id="2147473144" r:id="rId81"/>
    <p:sldId id="2147473145" r:id="rId82"/>
    <p:sldId id="2147473146" r:id="rId83"/>
    <p:sldId id="2147473147" r:id="rId84"/>
    <p:sldId id="2147473148" r:id="rId85"/>
    <p:sldId id="2147473179" r:id="rId86"/>
    <p:sldId id="2147473180" r:id="rId87"/>
    <p:sldId id="2147473181" r:id="rId88"/>
    <p:sldId id="2147473182" r:id="rId89"/>
    <p:sldId id="2147473183" r:id="rId90"/>
    <p:sldId id="2147473184" r:id="rId91"/>
    <p:sldId id="2147473185" r:id="rId92"/>
    <p:sldId id="2147473186" r:id="rId93"/>
    <p:sldId id="2147473187" r:id="rId94"/>
    <p:sldId id="2147473188" r:id="rId95"/>
    <p:sldId id="2147473189" r:id="rId96"/>
    <p:sldId id="2147473190" r:id="rId97"/>
    <p:sldId id="2147473191" r:id="rId98"/>
    <p:sldId id="2147473192" r:id="rId99"/>
    <p:sldId id="2147473193" r:id="rId100"/>
    <p:sldId id="2147473194" r:id="rId101"/>
    <p:sldId id="2076138761" r:id="rId102"/>
    <p:sldId id="953" r:id="rId103"/>
    <p:sldId id="2147473149" r:id="rId104"/>
    <p:sldId id="2147473195" r:id="rId105"/>
    <p:sldId id="2147473196" r:id="rId106"/>
    <p:sldId id="2147473197" r:id="rId107"/>
  </p:sldIdLst>
  <p:sldSz cx="12192000" cy="6858000"/>
  <p:notesSz cx="7315200" cy="9601200"/>
  <p:custDataLst>
    <p:tags r:id="rId110"/>
  </p:custData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521415D9-36F7-43E2-AB2F-B90AF26B5E84}">
      <p14:sectionLst xmlns:p14="http://schemas.microsoft.com/office/powerpoint/2010/main">
        <p14:section name="Default Section" id="{E76FAF91-8124-4232-8E4D-8EC6AB82B97E}">
          <p14:sldIdLst>
            <p14:sldId id="768"/>
          </p14:sldIdLst>
        </p14:section>
        <p14:section name="IRRBB" id="{12477131-6843-4F5A-A1CA-0949CF023638}">
          <p14:sldIdLst>
            <p14:sldId id="2076138745"/>
            <p14:sldId id="2076138746"/>
            <p14:sldId id="2076138752"/>
            <p14:sldId id="2076138748"/>
            <p14:sldId id="2076138704"/>
            <p14:sldId id="2076138751"/>
            <p14:sldId id="2076138753"/>
            <p14:sldId id="2076138737"/>
            <p14:sldId id="2076138709"/>
            <p14:sldId id="2076138708"/>
            <p14:sldId id="2076138755"/>
            <p14:sldId id="2076138756"/>
            <p14:sldId id="2076138740"/>
            <p14:sldId id="2076138757"/>
            <p14:sldId id="2076138747"/>
            <p14:sldId id="2076138758"/>
            <p14:sldId id="2076138749"/>
            <p14:sldId id="2076138722"/>
            <p14:sldId id="2076138759"/>
            <p14:sldId id="2076138734"/>
            <p14:sldId id="2076138735"/>
            <p14:sldId id="2076138738"/>
            <p14:sldId id="2076138750"/>
            <p14:sldId id="2076138666"/>
            <p14:sldId id="2076138696"/>
            <p14:sldId id="2076138716"/>
            <p14:sldId id="2462"/>
            <p14:sldId id="2492"/>
            <p14:sldId id="2076138744"/>
          </p14:sldIdLst>
        </p14:section>
        <p14:section name="IRRBB Pimped" id="{2F90FACE-7B60-40E9-A054-4EF4D503A1C1}">
          <p14:sldIdLst>
            <p14:sldId id="2147473198"/>
            <p14:sldId id="2147473199"/>
            <p14:sldId id="2147473200"/>
            <p14:sldId id="2147473201"/>
            <p14:sldId id="2147473154"/>
            <p14:sldId id="2147473155"/>
            <p14:sldId id="2147473157"/>
            <p14:sldId id="2147473158"/>
            <p14:sldId id="2147473159"/>
            <p14:sldId id="2147473160"/>
            <p14:sldId id="2147473161"/>
            <p14:sldId id="2147473162"/>
            <p14:sldId id="2147473163"/>
            <p14:sldId id="2147473164"/>
            <p14:sldId id="2147473165"/>
            <p14:sldId id="2147473166"/>
            <p14:sldId id="2147473167"/>
            <p14:sldId id="2147473168"/>
            <p14:sldId id="2147473169"/>
            <p14:sldId id="2147473170"/>
            <p14:sldId id="2147473171"/>
            <p14:sldId id="2147473172"/>
            <p14:sldId id="2147473173"/>
            <p14:sldId id="2147473174"/>
            <p14:sldId id="2147473175"/>
            <p14:sldId id="2147473176"/>
            <p14:sldId id="2147473177"/>
            <p14:sldId id="2147473178"/>
          </p14:sldIdLst>
        </p14:section>
        <p14:section name="STEBA NII" id="{5F06F2FD-DD97-4CE1-A903-D70472F0BC4F}">
          <p14:sldIdLst>
            <p14:sldId id="2076138760"/>
            <p14:sldId id="2147473134"/>
            <p14:sldId id="2147473135"/>
            <p14:sldId id="2147473140"/>
            <p14:sldId id="2147473139"/>
            <p14:sldId id="2147473138"/>
            <p14:sldId id="2147473137"/>
            <p14:sldId id="2147473136"/>
            <p14:sldId id="2147473141"/>
            <p14:sldId id="2147473142"/>
            <p14:sldId id="2147473143"/>
            <p14:sldId id="2147473144"/>
            <p14:sldId id="2147473145"/>
            <p14:sldId id="2147473146"/>
            <p14:sldId id="2147473147"/>
            <p14:sldId id="2147473148"/>
          </p14:sldIdLst>
        </p14:section>
        <p14:section name="STEBA NII Pimped" id="{750CB354-57D9-4479-9262-75FD7D0FE4CE}">
          <p14:sldIdLst>
            <p14:sldId id="2147473179"/>
            <p14:sldId id="2147473180"/>
            <p14:sldId id="2147473181"/>
            <p14:sldId id="2147473182"/>
            <p14:sldId id="2147473183"/>
            <p14:sldId id="2147473184"/>
            <p14:sldId id="2147473185"/>
            <p14:sldId id="2147473186"/>
            <p14:sldId id="2147473187"/>
            <p14:sldId id="2147473188"/>
            <p14:sldId id="2147473189"/>
            <p14:sldId id="2147473190"/>
            <p14:sldId id="2147473191"/>
            <p14:sldId id="2147473192"/>
            <p14:sldId id="2147473193"/>
            <p14:sldId id="2147473194"/>
          </p14:sldIdLst>
        </p14:section>
        <p14:section name="CSRBB" id="{D2680BC0-92A5-4B2D-8E73-860989D51837}">
          <p14:sldIdLst>
            <p14:sldId id="2076138761"/>
            <p14:sldId id="953"/>
            <p14:sldId id="2147473149"/>
          </p14:sldIdLst>
        </p14:section>
        <p14:section name="CSRBB Pimped" id="{55E02BA9-39AC-4BED-BBF6-66A06DB92021}">
          <p14:sldIdLst>
            <p14:sldId id="2147473195"/>
            <p14:sldId id="2147473196"/>
            <p14:sldId id="2147473197"/>
          </p14:sldIdLst>
        </p14:section>
      </p14:sectionLst>
    </p:ext>
    <p:ext uri="{EFAFB233-063F-42B5-8137-9DF3F51BA10A}">
      <p15:sldGuideLst xmlns:p15="http://schemas.microsoft.com/office/powerpoint/2012/main">
        <p15:guide id="1" orient="horz" pos="2092" userDrawn="1">
          <p15:clr>
            <a:srgbClr val="A4A3A4"/>
          </p15:clr>
        </p15:guide>
        <p15:guide id="2" pos="3863" userDrawn="1">
          <p15:clr>
            <a:srgbClr val="A4A3A4"/>
          </p15:clr>
        </p15:guide>
      </p15:sldGuideLst>
    </p:ext>
    <p:ext uri="http://customooxmlschemas.google.com/">
      <go:slidesCustomData xmlns="" xmlns:go="http://customooxmlschemas.google.com/"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r:id="rId112" roundtripDataSignature="AMtx7miqSztKhMykfr9qi7D1KDQkovR/zw=="/>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Marco Hauschel" initials="" lastIdx="10" clrIdx="0"/>
  <p:cmAuthor id="1" name="nicole ortega" initials="no" lastIdx="10" clrIdx="1"/>
  <p:cmAuthor id="2" name="Azul Stengel" initials="AS" lastIdx="1" clrIdx="2">
    <p:extLst>
      <p:ext uri="{19B8F6BF-5375-455C-9EA6-DF929625EA0E}">
        <p15:presenceInfo xmlns:p15="http://schemas.microsoft.com/office/powerpoint/2012/main" userId="S::azul.stengel@mladvisory.eu::331fce96-de48-42bc-9bbc-4b5d0f767068" providerId="AD"/>
      </p:ext>
    </p:extLst>
  </p:cmAuthor>
  <p:cmAuthor id="3" name="Charles Morel" initials="CM" lastIdx="1" clrIdx="3">
    <p:extLst>
      <p:ext uri="{19B8F6BF-5375-455C-9EA6-DF929625EA0E}">
        <p15:presenceInfo xmlns:p15="http://schemas.microsoft.com/office/powerpoint/2012/main" userId="S::charles.morel@mladvisory.eu::f219ea3c-033f-4f07-b64b-33c9fe49ecb2" providerId="AD"/>
      </p:ext>
    </p:extLst>
  </p:cmAuthor>
  <p:cmAuthor id="4" name="Hélène Fréon-Douzon" initials="HFD" lastIdx="3" clrIdx="4">
    <p:extLst>
      <p:ext uri="{19B8F6BF-5375-455C-9EA6-DF929625EA0E}">
        <p15:presenceInfo xmlns:p15="http://schemas.microsoft.com/office/powerpoint/2012/main" userId="S::helene.freon-douzon@mladvisory.eu::d42b9cd9-f459-4800-b79d-9205c07d823a" providerId="AD"/>
      </p:ext>
    </p:extLst>
  </p:cmAuthor>
  <p:cmAuthor id="5" name="Louis Jubert" initials="LJ" lastIdx="1" clrIdx="5">
    <p:extLst>
      <p:ext uri="{19B8F6BF-5375-455C-9EA6-DF929625EA0E}">
        <p15:presenceInfo xmlns:p15="http://schemas.microsoft.com/office/powerpoint/2012/main" userId="S::louis.jubert@mladvisory.eu::416ad87d-7b71-40d9-9068-1207843e1a15"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65C71"/>
    <a:srgbClr val="D4F0F8"/>
    <a:srgbClr val="197B96"/>
    <a:srgbClr val="FFCC00"/>
    <a:srgbClr val="E3EFF2"/>
    <a:srgbClr val="71CDE7"/>
    <a:srgbClr val="79D0E8"/>
    <a:srgbClr val="EAF8FC"/>
    <a:srgbClr val="BCE7F4"/>
    <a:srgbClr val="F2F2F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ECD16562-3338-74ED-7AB0-28E0AB4F5116}" v="1" dt="2025-09-22T09:09:18.298"/>
  </p1510:revLst>
</p1510:revInfo>
</file>

<file path=ppt/tableStyles.xml><?xml version="1.0" encoding="utf-8"?>
<a:tblStyleLst xmlns:a="http://schemas.openxmlformats.org/drawingml/2006/main" def="{B1798C55-09AD-4454-950D-8970D776B629}">
  <a:tblStyle styleId="{B1798C55-09AD-4454-950D-8970D776B629}" styleName="Table_0">
    <a:wholeTbl>
      <a:tcTxStyle b="off" i="off">
        <a:font>
          <a:latin typeface="Calibri"/>
          <a:ea typeface="Calibri"/>
          <a:cs typeface="Calibri"/>
        </a:font>
        <a:schemeClr val="dk1"/>
      </a:tcTxStyle>
      <a:tcStyle>
        <a:tcBdr>
          <a:left>
            <a:ln w="9525" cap="flat" cmpd="sng">
              <a:solidFill>
                <a:schemeClr val="dk1"/>
              </a:solidFill>
              <a:prstDash val="solid"/>
              <a:round/>
              <a:headEnd type="none" w="sm" len="sm"/>
              <a:tailEnd type="none" w="sm" len="sm"/>
            </a:ln>
          </a:left>
          <a:right>
            <a:ln w="9525" cap="flat" cmpd="sng">
              <a:solidFill>
                <a:schemeClr val="dk1"/>
              </a:solidFill>
              <a:prstDash val="solid"/>
              <a:round/>
              <a:headEnd type="none" w="sm" len="sm"/>
              <a:tailEnd type="none" w="sm" len="sm"/>
            </a:ln>
          </a:right>
          <a:top>
            <a:ln w="9525" cap="flat" cmpd="sng">
              <a:solidFill>
                <a:schemeClr val="dk1"/>
              </a:solidFill>
              <a:prstDash val="solid"/>
              <a:round/>
              <a:headEnd type="none" w="sm" len="sm"/>
              <a:tailEnd type="none" w="sm" len="sm"/>
            </a:ln>
          </a:top>
          <a:bottom>
            <a:ln w="9525" cap="flat" cmpd="sng">
              <a:solidFill>
                <a:schemeClr val="dk1"/>
              </a:solidFill>
              <a:prstDash val="solid"/>
              <a:round/>
              <a:headEnd type="none" w="sm" len="sm"/>
              <a:tailEnd type="none" w="sm" len="sm"/>
            </a:ln>
          </a:bottom>
          <a:insideH>
            <a:ln w="9525" cap="flat" cmpd="sng">
              <a:solidFill>
                <a:srgbClr val="000000">
                  <a:alpha val="0"/>
                </a:srgbClr>
              </a:solidFill>
              <a:prstDash val="solid"/>
              <a:round/>
              <a:headEnd type="none" w="sm" len="sm"/>
              <a:tailEnd type="none" w="sm" len="sm"/>
            </a:ln>
          </a:insideH>
          <a:insideV>
            <a:ln w="9525" cap="flat" cmpd="sng">
              <a:solidFill>
                <a:srgbClr val="000000">
                  <a:alpha val="0"/>
                </a:srgbClr>
              </a:solidFill>
              <a:prstDash val="solid"/>
              <a:round/>
              <a:headEnd type="none" w="sm" len="sm"/>
              <a:tailEnd type="none" w="sm" len="sm"/>
            </a:ln>
          </a:insideV>
        </a:tcBdr>
        <a:fill>
          <a:solidFill>
            <a:srgbClr val="FFFFFF">
              <a:alpha val="0"/>
            </a:srgbClr>
          </a:solidFill>
        </a:fill>
      </a:tcStyle>
    </a:wholeTbl>
    <a:band1H>
      <a:tcTxStyle/>
      <a:tcStyle>
        <a:tcBdr>
          <a:top>
            <a:ln w="9525" cap="flat" cmpd="sng">
              <a:solidFill>
                <a:schemeClr val="dk1"/>
              </a:solidFill>
              <a:prstDash val="solid"/>
              <a:round/>
              <a:headEnd type="none" w="sm" len="sm"/>
              <a:tailEnd type="none" w="sm" len="sm"/>
            </a:ln>
          </a:top>
          <a:bottom>
            <a:ln w="9525" cap="flat" cmpd="sng">
              <a:solidFill>
                <a:schemeClr val="dk1"/>
              </a:solidFill>
              <a:prstDash val="solid"/>
              <a:round/>
              <a:headEnd type="none" w="sm" len="sm"/>
              <a:tailEnd type="none" w="sm" len="sm"/>
            </a:ln>
          </a:bottom>
        </a:tcBdr>
      </a:tcStyle>
    </a:band1H>
    <a:band2H>
      <a:tcTxStyle/>
      <a:tcStyle>
        <a:tcBdr/>
      </a:tcStyle>
    </a:band2H>
    <a:band1V>
      <a:tcTxStyle/>
      <a:tcStyle>
        <a:tcBdr>
          <a:left>
            <a:ln w="9525" cap="flat" cmpd="sng">
              <a:solidFill>
                <a:schemeClr val="dk1"/>
              </a:solidFill>
              <a:prstDash val="solid"/>
              <a:round/>
              <a:headEnd type="none" w="sm" len="sm"/>
              <a:tailEnd type="none" w="sm" len="sm"/>
            </a:ln>
          </a:left>
          <a:right>
            <a:ln w="9525" cap="flat" cmpd="sng">
              <a:solidFill>
                <a:schemeClr val="dk1"/>
              </a:solidFill>
              <a:prstDash val="solid"/>
              <a:round/>
              <a:headEnd type="none" w="sm" len="sm"/>
              <a:tailEnd type="none" w="sm" len="sm"/>
            </a:ln>
          </a:right>
        </a:tcBdr>
      </a:tcStyle>
    </a:band1V>
    <a:band2V>
      <a:tcTxStyle/>
      <a:tcStyle>
        <a:tcBdr>
          <a:left>
            <a:ln w="9525" cap="flat" cmpd="sng">
              <a:solidFill>
                <a:schemeClr val="dk1"/>
              </a:solidFill>
              <a:prstDash val="solid"/>
              <a:round/>
              <a:headEnd type="none" w="sm" len="sm"/>
              <a:tailEnd type="none" w="sm" len="sm"/>
            </a:ln>
          </a:left>
          <a:right>
            <a:ln w="9525" cap="flat" cmpd="sng">
              <a:solidFill>
                <a:schemeClr val="dk1"/>
              </a:solidFill>
              <a:prstDash val="solid"/>
              <a:round/>
              <a:headEnd type="none" w="sm" len="sm"/>
              <a:tailEnd type="none" w="sm" len="sm"/>
            </a:ln>
          </a:right>
        </a:tcBdr>
      </a:tcStyle>
    </a:band2V>
    <a:lastCol>
      <a:tcTxStyle b="on" i="off"/>
      <a:tcStyle>
        <a:tcBdr/>
      </a:tcStyle>
    </a:lastCol>
    <a:firstCol>
      <a:tcTxStyle b="on" i="off"/>
      <a:tcStyle>
        <a:tcBdr/>
      </a:tcStyle>
    </a:firstCol>
    <a:lastRow>
      <a:tcTxStyle b="on" i="off"/>
      <a:tcStyle>
        <a:tcBdr>
          <a:top>
            <a:ln w="50800" cap="flat" cmpd="sng">
              <a:solidFill>
                <a:schemeClr val="dk1"/>
              </a:solidFill>
              <a:prstDash val="solid"/>
              <a:round/>
              <a:headEnd type="none" w="sm" len="sm"/>
              <a:tailEnd type="none" w="sm" len="sm"/>
            </a:ln>
          </a:top>
        </a:tcBdr>
      </a:tcStyle>
    </a:lastRow>
    <a:seCell>
      <a:tcTxStyle/>
      <a:tcStyle>
        <a:tcBdr/>
      </a:tcStyle>
    </a:seCell>
    <a:swCell>
      <a:tcTxStyle/>
      <a:tcStyle>
        <a:tcBdr/>
      </a:tcStyle>
    </a:swCell>
    <a:firstRow>
      <a:tcTxStyle b="on" i="off">
        <a:font>
          <a:latin typeface="Calibri"/>
          <a:ea typeface="Calibri"/>
          <a:cs typeface="Calibri"/>
        </a:font>
        <a:schemeClr val="lt1"/>
      </a:tcTxStyle>
      <a:tcStyle>
        <a:tcBdr/>
        <a:fill>
          <a:solidFill>
            <a:schemeClr val="dk1"/>
          </a:solidFill>
        </a:fill>
      </a:tcStyle>
    </a:firstRow>
    <a:neCell>
      <a:tcTxStyle/>
      <a:tcStyle>
        <a:tcBdr/>
      </a:tcStyle>
    </a:neCell>
    <a:nwCell>
      <a:tcTxStyle/>
      <a:tcStyle>
        <a:tcBdr/>
      </a:tcStyle>
    </a:nwCell>
  </a:tblStyle>
  <a:tblStyle styleId="{B407F83F-F4B1-428F-90E6-6AE17F0CE779}" styleName="Table_1">
    <a:wholeTbl>
      <a:tcTxStyle b="off" i="off">
        <a:font>
          <a:latin typeface="Calibri"/>
          <a:ea typeface="Calibri"/>
          <a:cs typeface="Calibri"/>
        </a:font>
        <a:schemeClr val="dk1"/>
      </a:tcTxStyle>
      <a:tcStyle>
        <a:tcBdr>
          <a:left>
            <a:ln w="12700" cap="flat" cmpd="sng">
              <a:solidFill>
                <a:schemeClr val="dk1"/>
              </a:solidFill>
              <a:prstDash val="solid"/>
              <a:round/>
              <a:headEnd type="none" w="sm" len="sm"/>
              <a:tailEnd type="none" w="sm" len="sm"/>
            </a:ln>
          </a:left>
          <a:right>
            <a:ln w="12700" cap="flat" cmpd="sng">
              <a:solidFill>
                <a:schemeClr val="dk1"/>
              </a:solidFill>
              <a:prstDash val="solid"/>
              <a:round/>
              <a:headEnd type="none" w="sm" len="sm"/>
              <a:tailEnd type="none" w="sm" len="sm"/>
            </a:ln>
          </a:right>
          <a:top>
            <a:ln w="12700" cap="flat" cmpd="sng">
              <a:solidFill>
                <a:schemeClr val="dk1"/>
              </a:solidFill>
              <a:prstDash val="solid"/>
              <a:round/>
              <a:headEnd type="none" w="sm" len="sm"/>
              <a:tailEnd type="none" w="sm" len="sm"/>
            </a:ln>
          </a:top>
          <a:bottom>
            <a:ln w="12700" cap="flat" cmpd="sng">
              <a:solidFill>
                <a:schemeClr val="dk1"/>
              </a:solidFill>
              <a:prstDash val="solid"/>
              <a:round/>
              <a:headEnd type="none" w="sm" len="sm"/>
              <a:tailEnd type="none" w="sm" len="sm"/>
            </a:ln>
          </a:bottom>
          <a:insideH>
            <a:ln w="12700" cap="flat" cmpd="sng">
              <a:solidFill>
                <a:schemeClr val="dk1"/>
              </a:solidFill>
              <a:prstDash val="solid"/>
              <a:round/>
              <a:headEnd type="none" w="sm" len="sm"/>
              <a:tailEnd type="none" w="sm" len="sm"/>
            </a:ln>
          </a:insideH>
          <a:insideV>
            <a:ln w="12700" cap="flat" cmpd="sng">
              <a:solidFill>
                <a:schemeClr val="dk1"/>
              </a:solidFill>
              <a:prstDash val="solid"/>
              <a:round/>
              <a:headEnd type="none" w="sm" len="sm"/>
              <a:tailEnd type="none" w="sm" len="sm"/>
            </a:ln>
          </a:insideV>
        </a:tcBdr>
        <a:fill>
          <a:solidFill>
            <a:srgbClr val="FFFFFF">
              <a:alpha val="0"/>
            </a:srgbClr>
          </a:solidFill>
        </a:fill>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2D5ABB26-0587-4C30-8999-92F81FD0307C}" styleName="Sin estilo ni cuadrícula">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7E9639D4-E3E2-4D34-9284-5A2195B3D0D7}" styleName="Estilo claro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D7AC3CCA-C797-4891-BE02-D94E43425B78}" styleName="Estilo medio 4">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w="12700" cmpd="sng">
              <a:solidFill>
                <a:schemeClr val="dk1"/>
              </a:solid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25400" cmpd="sng">
              <a:solidFill>
                <a:schemeClr val="dk1"/>
              </a:solidFill>
            </a:ln>
          </a:top>
        </a:tcBdr>
        <a:fill>
          <a:solidFill>
            <a:schemeClr val="dk1">
              <a:tint val="20000"/>
            </a:schemeClr>
          </a:solidFill>
        </a:fill>
      </a:tcStyle>
    </a:lastRow>
    <a:firstRow>
      <a:tcTxStyle b="on"/>
      <a:tcStyle>
        <a:tcBdr/>
        <a:fill>
          <a:solidFill>
            <a:schemeClr val="dk1">
              <a:tint val="20000"/>
            </a:schemeClr>
          </a:solidFill>
        </a:fill>
      </a:tcStyle>
    </a:firstRow>
  </a:tblStyle>
  <a:tblStyle styleId="{F5AB1C69-6EDB-4FF4-983F-18BD219EF322}" styleName="Style moyen 2 - Accentuation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5FD0F851-EC5A-4D38-B0AD-8093EC10F338}" styleName="Light Style 1 - Accent 5">
    <a:wholeTbl>
      <a:tcTxStyle>
        <a:fontRef idx="minor">
          <a:scrgbClr r="0" g="0" b="0"/>
        </a:fontRef>
        <a:schemeClr val="tx1"/>
      </a:tcTxStyle>
      <a:tcStyle>
        <a:tcBdr>
          <a:left>
            <a:ln>
              <a:noFill/>
            </a:ln>
          </a:left>
          <a:right>
            <a:ln>
              <a:noFill/>
            </a:ln>
          </a:right>
          <a:top>
            <a:ln w="12700" cmpd="sng">
              <a:solidFill>
                <a:schemeClr val="accent5"/>
              </a:solidFill>
            </a:ln>
          </a:top>
          <a:bottom>
            <a:ln w="12700" cmpd="sng">
              <a:solidFill>
                <a:schemeClr val="accent5"/>
              </a:solidFill>
            </a:ln>
          </a:bottom>
          <a:insideH>
            <a:ln>
              <a:noFill/>
            </a:ln>
          </a:insideH>
          <a:insideV>
            <a:ln>
              <a:noFill/>
            </a:ln>
          </a:insideV>
        </a:tcBdr>
        <a:fill>
          <a:noFill/>
        </a:fill>
      </a:tcStyle>
    </a:wholeTbl>
    <a:band1H>
      <a:tcStyle>
        <a:tcBdr/>
        <a:fill>
          <a:solidFill>
            <a:schemeClr val="accent5">
              <a:alpha val="20000"/>
            </a:schemeClr>
          </a:solidFill>
        </a:fill>
      </a:tcStyle>
    </a:band1H>
    <a:band2H>
      <a:tcStyle>
        <a:tcBdr/>
      </a:tcStyle>
    </a:band2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12700" cmpd="sng">
              <a:solidFill>
                <a:schemeClr val="accent5"/>
              </a:solidFill>
            </a:ln>
          </a:top>
        </a:tcBdr>
        <a:fill>
          <a:noFill/>
        </a:fill>
      </a:tcStyle>
    </a:lastRow>
    <a:firstRow>
      <a:tcTxStyle b="on"/>
      <a:tcStyle>
        <a:tcBdr>
          <a:bottom>
            <a:ln w="12700" cmpd="sng">
              <a:solidFill>
                <a:schemeClr val="accent5"/>
              </a:solidFill>
            </a:ln>
          </a:bottom>
        </a:tcBdr>
        <a:fill>
          <a:no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2330" autoAdjust="0"/>
    <p:restoredTop sz="93447" autoAdjust="0"/>
  </p:normalViewPr>
  <p:slideViewPr>
    <p:cSldViewPr snapToGrid="0">
      <p:cViewPr>
        <p:scale>
          <a:sx n="100" d="100"/>
          <a:sy n="100" d="100"/>
        </p:scale>
        <p:origin x="1062" y="240"/>
      </p:cViewPr>
      <p:guideLst>
        <p:guide orient="horz" pos="2092"/>
        <p:guide pos="3863"/>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5.xml"/><Relationship Id="rId117" Type="http://schemas.openxmlformats.org/officeDocument/2006/relationships/tableStyles" Target="tableStyles.xml"/><Relationship Id="rId21" Type="http://schemas.openxmlformats.org/officeDocument/2006/relationships/slide" Target="slides/slide10.xml"/><Relationship Id="rId42" Type="http://schemas.openxmlformats.org/officeDocument/2006/relationships/slide" Target="slides/slide31.xml"/><Relationship Id="rId47" Type="http://schemas.openxmlformats.org/officeDocument/2006/relationships/slide" Target="slides/slide36.xml"/><Relationship Id="rId63" Type="http://schemas.openxmlformats.org/officeDocument/2006/relationships/slide" Target="slides/slide52.xml"/><Relationship Id="rId68" Type="http://schemas.openxmlformats.org/officeDocument/2006/relationships/slide" Target="slides/slide57.xml"/><Relationship Id="rId84" Type="http://schemas.openxmlformats.org/officeDocument/2006/relationships/slide" Target="slides/slide73.xml"/><Relationship Id="rId89" Type="http://schemas.openxmlformats.org/officeDocument/2006/relationships/slide" Target="slides/slide78.xml"/><Relationship Id="rId112" Type="http://customschemas.google.com/relationships/presentationmetadata" Target="metadata"/><Relationship Id="rId16" Type="http://schemas.openxmlformats.org/officeDocument/2006/relationships/slide" Target="slides/slide5.xml"/><Relationship Id="rId107" Type="http://schemas.openxmlformats.org/officeDocument/2006/relationships/slide" Target="slides/slide96.xml"/><Relationship Id="rId11" Type="http://schemas.openxmlformats.org/officeDocument/2006/relationships/slideMaster" Target="slideMasters/slideMaster8.xml"/><Relationship Id="rId32" Type="http://schemas.openxmlformats.org/officeDocument/2006/relationships/slide" Target="slides/slide21.xml"/><Relationship Id="rId37" Type="http://schemas.openxmlformats.org/officeDocument/2006/relationships/slide" Target="slides/slide26.xml"/><Relationship Id="rId53" Type="http://schemas.openxmlformats.org/officeDocument/2006/relationships/slide" Target="slides/slide42.xml"/><Relationship Id="rId58" Type="http://schemas.openxmlformats.org/officeDocument/2006/relationships/slide" Target="slides/slide47.xml"/><Relationship Id="rId74" Type="http://schemas.openxmlformats.org/officeDocument/2006/relationships/slide" Target="slides/slide63.xml"/><Relationship Id="rId79" Type="http://schemas.openxmlformats.org/officeDocument/2006/relationships/slide" Target="slides/slide68.xml"/><Relationship Id="rId102" Type="http://schemas.openxmlformats.org/officeDocument/2006/relationships/slide" Target="slides/slide91.xml"/><Relationship Id="rId5" Type="http://schemas.openxmlformats.org/officeDocument/2006/relationships/slideMaster" Target="slideMasters/slideMaster2.xml"/><Relationship Id="rId90" Type="http://schemas.openxmlformats.org/officeDocument/2006/relationships/slide" Target="slides/slide79.xml"/><Relationship Id="rId95" Type="http://schemas.openxmlformats.org/officeDocument/2006/relationships/slide" Target="slides/slide84.xml"/><Relationship Id="rId22" Type="http://schemas.openxmlformats.org/officeDocument/2006/relationships/slide" Target="slides/slide11.xml"/><Relationship Id="rId27" Type="http://schemas.openxmlformats.org/officeDocument/2006/relationships/slide" Target="slides/slide16.xml"/><Relationship Id="rId43" Type="http://schemas.openxmlformats.org/officeDocument/2006/relationships/slide" Target="slides/slide32.xml"/><Relationship Id="rId48" Type="http://schemas.openxmlformats.org/officeDocument/2006/relationships/slide" Target="slides/slide37.xml"/><Relationship Id="rId64" Type="http://schemas.openxmlformats.org/officeDocument/2006/relationships/slide" Target="slides/slide53.xml"/><Relationship Id="rId69" Type="http://schemas.openxmlformats.org/officeDocument/2006/relationships/slide" Target="slides/slide58.xml"/><Relationship Id="rId113" Type="http://schemas.openxmlformats.org/officeDocument/2006/relationships/commentAuthors" Target="commentAuthors.xml"/><Relationship Id="rId118" Type="http://schemas.microsoft.com/office/2015/10/relationships/revisionInfo" Target="revisionInfo.xml"/><Relationship Id="rId80" Type="http://schemas.openxmlformats.org/officeDocument/2006/relationships/slide" Target="slides/slide69.xml"/><Relationship Id="rId85" Type="http://schemas.openxmlformats.org/officeDocument/2006/relationships/slide" Target="slides/slide74.xml"/><Relationship Id="rId12" Type="http://schemas.openxmlformats.org/officeDocument/2006/relationships/slide" Target="slides/slide1.xml"/><Relationship Id="rId17" Type="http://schemas.openxmlformats.org/officeDocument/2006/relationships/slide" Target="slides/slide6.xml"/><Relationship Id="rId33" Type="http://schemas.openxmlformats.org/officeDocument/2006/relationships/slide" Target="slides/slide22.xml"/><Relationship Id="rId38" Type="http://schemas.openxmlformats.org/officeDocument/2006/relationships/slide" Target="slides/slide27.xml"/><Relationship Id="rId59" Type="http://schemas.openxmlformats.org/officeDocument/2006/relationships/slide" Target="slides/slide48.xml"/><Relationship Id="rId103" Type="http://schemas.openxmlformats.org/officeDocument/2006/relationships/slide" Target="slides/slide92.xml"/><Relationship Id="rId108" Type="http://schemas.openxmlformats.org/officeDocument/2006/relationships/notesMaster" Target="notesMasters/notesMaster1.xml"/><Relationship Id="rId54" Type="http://schemas.openxmlformats.org/officeDocument/2006/relationships/slide" Target="slides/slide43.xml"/><Relationship Id="rId70" Type="http://schemas.openxmlformats.org/officeDocument/2006/relationships/slide" Target="slides/slide59.xml"/><Relationship Id="rId75" Type="http://schemas.openxmlformats.org/officeDocument/2006/relationships/slide" Target="slides/slide64.xml"/><Relationship Id="rId91" Type="http://schemas.openxmlformats.org/officeDocument/2006/relationships/slide" Target="slides/slide80.xml"/><Relationship Id="rId96" Type="http://schemas.openxmlformats.org/officeDocument/2006/relationships/slide" Target="slides/slide85.xml"/><Relationship Id="rId1" Type="http://schemas.openxmlformats.org/officeDocument/2006/relationships/customXml" Target="../customXml/item1.xml"/><Relationship Id="rId6" Type="http://schemas.openxmlformats.org/officeDocument/2006/relationships/slideMaster" Target="slideMasters/slideMaster3.xml"/><Relationship Id="rId23" Type="http://schemas.openxmlformats.org/officeDocument/2006/relationships/slide" Target="slides/slide12.xml"/><Relationship Id="rId28" Type="http://schemas.openxmlformats.org/officeDocument/2006/relationships/slide" Target="slides/slide17.xml"/><Relationship Id="rId49" Type="http://schemas.openxmlformats.org/officeDocument/2006/relationships/slide" Target="slides/slide38.xml"/><Relationship Id="rId114" Type="http://schemas.openxmlformats.org/officeDocument/2006/relationships/presProps" Target="presProps.xml"/><Relationship Id="rId10" Type="http://schemas.openxmlformats.org/officeDocument/2006/relationships/slideMaster" Target="slideMasters/slideMaster7.xml"/><Relationship Id="rId31" Type="http://schemas.openxmlformats.org/officeDocument/2006/relationships/slide" Target="slides/slide20.xml"/><Relationship Id="rId44" Type="http://schemas.openxmlformats.org/officeDocument/2006/relationships/slide" Target="slides/slide33.xml"/><Relationship Id="rId52" Type="http://schemas.openxmlformats.org/officeDocument/2006/relationships/slide" Target="slides/slide41.xml"/><Relationship Id="rId60" Type="http://schemas.openxmlformats.org/officeDocument/2006/relationships/slide" Target="slides/slide49.xml"/><Relationship Id="rId65" Type="http://schemas.openxmlformats.org/officeDocument/2006/relationships/slide" Target="slides/slide54.xml"/><Relationship Id="rId73" Type="http://schemas.openxmlformats.org/officeDocument/2006/relationships/slide" Target="slides/slide62.xml"/><Relationship Id="rId78" Type="http://schemas.openxmlformats.org/officeDocument/2006/relationships/slide" Target="slides/slide67.xml"/><Relationship Id="rId81" Type="http://schemas.openxmlformats.org/officeDocument/2006/relationships/slide" Target="slides/slide70.xml"/><Relationship Id="rId86" Type="http://schemas.openxmlformats.org/officeDocument/2006/relationships/slide" Target="slides/slide75.xml"/><Relationship Id="rId94" Type="http://schemas.openxmlformats.org/officeDocument/2006/relationships/slide" Target="slides/slide83.xml"/><Relationship Id="rId99" Type="http://schemas.openxmlformats.org/officeDocument/2006/relationships/slide" Target="slides/slide88.xml"/><Relationship Id="rId101" Type="http://schemas.openxmlformats.org/officeDocument/2006/relationships/slide" Target="slides/slide90.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 Target="slides/slide2.xml"/><Relationship Id="rId18" Type="http://schemas.openxmlformats.org/officeDocument/2006/relationships/slide" Target="slides/slide7.xml"/><Relationship Id="rId39" Type="http://schemas.openxmlformats.org/officeDocument/2006/relationships/slide" Target="slides/slide28.xml"/><Relationship Id="rId109" Type="http://schemas.openxmlformats.org/officeDocument/2006/relationships/handoutMaster" Target="handoutMasters/handoutMaster1.xml"/><Relationship Id="rId34" Type="http://schemas.openxmlformats.org/officeDocument/2006/relationships/slide" Target="slides/slide23.xml"/><Relationship Id="rId50" Type="http://schemas.openxmlformats.org/officeDocument/2006/relationships/slide" Target="slides/slide39.xml"/><Relationship Id="rId55" Type="http://schemas.openxmlformats.org/officeDocument/2006/relationships/slide" Target="slides/slide44.xml"/><Relationship Id="rId76" Type="http://schemas.openxmlformats.org/officeDocument/2006/relationships/slide" Target="slides/slide65.xml"/><Relationship Id="rId97" Type="http://schemas.openxmlformats.org/officeDocument/2006/relationships/slide" Target="slides/slide86.xml"/><Relationship Id="rId104" Type="http://schemas.openxmlformats.org/officeDocument/2006/relationships/slide" Target="slides/slide93.xml"/><Relationship Id="rId7" Type="http://schemas.openxmlformats.org/officeDocument/2006/relationships/slideMaster" Target="slideMasters/slideMaster4.xml"/><Relationship Id="rId71" Type="http://schemas.openxmlformats.org/officeDocument/2006/relationships/slide" Target="slides/slide60.xml"/><Relationship Id="rId92" Type="http://schemas.openxmlformats.org/officeDocument/2006/relationships/slide" Target="slides/slide81.xml"/><Relationship Id="rId2" Type="http://schemas.openxmlformats.org/officeDocument/2006/relationships/customXml" Target="../customXml/item2.xml"/><Relationship Id="rId29" Type="http://schemas.openxmlformats.org/officeDocument/2006/relationships/slide" Target="slides/slide18.xml"/><Relationship Id="rId24" Type="http://schemas.openxmlformats.org/officeDocument/2006/relationships/slide" Target="slides/slide13.xml"/><Relationship Id="rId40" Type="http://schemas.openxmlformats.org/officeDocument/2006/relationships/slide" Target="slides/slide29.xml"/><Relationship Id="rId45" Type="http://schemas.openxmlformats.org/officeDocument/2006/relationships/slide" Target="slides/slide34.xml"/><Relationship Id="rId66" Type="http://schemas.openxmlformats.org/officeDocument/2006/relationships/slide" Target="slides/slide55.xml"/><Relationship Id="rId87" Type="http://schemas.openxmlformats.org/officeDocument/2006/relationships/slide" Target="slides/slide76.xml"/><Relationship Id="rId110" Type="http://schemas.openxmlformats.org/officeDocument/2006/relationships/tags" Target="tags/tag1.xml"/><Relationship Id="rId115" Type="http://schemas.openxmlformats.org/officeDocument/2006/relationships/viewProps" Target="viewProps.xml"/><Relationship Id="rId61" Type="http://schemas.openxmlformats.org/officeDocument/2006/relationships/slide" Target="slides/slide50.xml"/><Relationship Id="rId82" Type="http://schemas.openxmlformats.org/officeDocument/2006/relationships/slide" Target="slides/slide71.xml"/><Relationship Id="rId19" Type="http://schemas.openxmlformats.org/officeDocument/2006/relationships/slide" Target="slides/slide8.xml"/><Relationship Id="rId14" Type="http://schemas.openxmlformats.org/officeDocument/2006/relationships/slide" Target="slides/slide3.xml"/><Relationship Id="rId30" Type="http://schemas.openxmlformats.org/officeDocument/2006/relationships/slide" Target="slides/slide19.xml"/><Relationship Id="rId35" Type="http://schemas.openxmlformats.org/officeDocument/2006/relationships/slide" Target="slides/slide24.xml"/><Relationship Id="rId56" Type="http://schemas.openxmlformats.org/officeDocument/2006/relationships/slide" Target="slides/slide45.xml"/><Relationship Id="rId77" Type="http://schemas.openxmlformats.org/officeDocument/2006/relationships/slide" Target="slides/slide66.xml"/><Relationship Id="rId100" Type="http://schemas.openxmlformats.org/officeDocument/2006/relationships/slide" Target="slides/slide89.xml"/><Relationship Id="rId105" Type="http://schemas.openxmlformats.org/officeDocument/2006/relationships/slide" Target="slides/slide94.xml"/><Relationship Id="rId8" Type="http://schemas.openxmlformats.org/officeDocument/2006/relationships/slideMaster" Target="slideMasters/slideMaster5.xml"/><Relationship Id="rId51" Type="http://schemas.openxmlformats.org/officeDocument/2006/relationships/slide" Target="slides/slide40.xml"/><Relationship Id="rId72" Type="http://schemas.openxmlformats.org/officeDocument/2006/relationships/slide" Target="slides/slide61.xml"/><Relationship Id="rId93" Type="http://schemas.openxmlformats.org/officeDocument/2006/relationships/slide" Target="slides/slide82.xml"/><Relationship Id="rId98" Type="http://schemas.openxmlformats.org/officeDocument/2006/relationships/slide" Target="slides/slide87.xml"/><Relationship Id="rId3" Type="http://schemas.openxmlformats.org/officeDocument/2006/relationships/customXml" Target="../customXml/item3.xml"/><Relationship Id="rId25" Type="http://schemas.openxmlformats.org/officeDocument/2006/relationships/slide" Target="slides/slide14.xml"/><Relationship Id="rId46" Type="http://schemas.openxmlformats.org/officeDocument/2006/relationships/slide" Target="slides/slide35.xml"/><Relationship Id="rId67" Type="http://schemas.openxmlformats.org/officeDocument/2006/relationships/slide" Target="slides/slide56.xml"/><Relationship Id="rId116" Type="http://schemas.openxmlformats.org/officeDocument/2006/relationships/theme" Target="theme/theme1.xml"/><Relationship Id="rId20" Type="http://schemas.openxmlformats.org/officeDocument/2006/relationships/slide" Target="slides/slide9.xml"/><Relationship Id="rId41" Type="http://schemas.openxmlformats.org/officeDocument/2006/relationships/slide" Target="slides/slide30.xml"/><Relationship Id="rId62" Type="http://schemas.openxmlformats.org/officeDocument/2006/relationships/slide" Target="slides/slide51.xml"/><Relationship Id="rId83" Type="http://schemas.openxmlformats.org/officeDocument/2006/relationships/slide" Target="slides/slide72.xml"/><Relationship Id="rId88" Type="http://schemas.openxmlformats.org/officeDocument/2006/relationships/slide" Target="slides/slide77.xml"/><Relationship Id="rId15" Type="http://schemas.openxmlformats.org/officeDocument/2006/relationships/slide" Target="slides/slide4.xml"/><Relationship Id="rId36" Type="http://schemas.openxmlformats.org/officeDocument/2006/relationships/slide" Target="slides/slide25.xml"/><Relationship Id="rId57" Type="http://schemas.openxmlformats.org/officeDocument/2006/relationships/slide" Target="slides/slide46.xml"/><Relationship Id="rId106" Type="http://schemas.openxmlformats.org/officeDocument/2006/relationships/slide" Target="slides/slide95.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oleObject" Target="https://mlagroup-my.sharepoint.com/personal/emma_delcourt_mladvisory_eu/Documents/Desktop/LOOMIS/Loomis%20prod%20IRRBB.xlsx" TargetMode="External"/></Relationships>
</file>

<file path=ppt/charts/_rels/chart2.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oleObject" Target="https://mlagroup-my.sharepoint.com/personal/emma_delcourt_mladvisory_eu/Documents/Desktop/LOOMIS/Loomis%20prod%20IRRBB.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fr-FR"/>
              <a:t>Scénarios</a:t>
            </a:r>
            <a:r>
              <a:rPr lang="fr-FR" baseline="0"/>
              <a:t> de chocs de taux d'intérêts au 31/12/2023</a:t>
            </a:r>
            <a:endParaRPr lang="fr-F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fr-FR"/>
        </a:p>
      </c:txPr>
    </c:title>
    <c:autoTitleDeleted val="0"/>
    <c:plotArea>
      <c:layout/>
      <c:lineChart>
        <c:grouping val="standard"/>
        <c:varyColors val="0"/>
        <c:ser>
          <c:idx val="0"/>
          <c:order val="0"/>
          <c:tx>
            <c:strRef>
              <c:f>'[Loomis prod IRRBB.xlsx]Courbe EUR (2)'!$A$12</c:f>
              <c:strCache>
                <c:ptCount val="1"/>
                <c:pt idx="0">
                  <c:v>Baseline</c:v>
                </c:pt>
              </c:strCache>
            </c:strRef>
          </c:tx>
          <c:spPr>
            <a:ln w="28575" cap="rnd">
              <a:solidFill>
                <a:schemeClr val="tx1"/>
              </a:solidFill>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(2)'!$B$12:$T$12</c:f>
              <c:numCache>
                <c:formatCode>0.00%</c:formatCode>
                <c:ptCount val="19"/>
                <c:pt idx="0">
                  <c:v>3.882E-2</c:v>
                </c:pt>
                <c:pt idx="1">
                  <c:v>3.8625E-2</c:v>
                </c:pt>
                <c:pt idx="2">
                  <c:v>3.884E-2</c:v>
                </c:pt>
                <c:pt idx="3">
                  <c:v>3.9050000000000001E-2</c:v>
                </c:pt>
                <c:pt idx="4">
                  <c:v>3.7746248506317262E-2</c:v>
                </c:pt>
                <c:pt idx="5">
                  <c:v>3.5538745518951795E-2</c:v>
                </c:pt>
                <c:pt idx="6">
                  <c:v>3.5456450003672535E-2</c:v>
                </c:pt>
                <c:pt idx="7">
                  <c:v>3.7499361960479483E-2</c:v>
                </c:pt>
                <c:pt idx="8">
                  <c:v>3.1868350096543652E-2</c:v>
                </c:pt>
                <c:pt idx="9">
                  <c:v>2.4779797609203458E-2</c:v>
                </c:pt>
                <c:pt idx="10">
                  <c:v>2.4222631114737991E-2</c:v>
                </c:pt>
                <c:pt idx="11">
                  <c:v>2.4103101710475139E-2</c:v>
                </c:pt>
                <c:pt idx="12">
                  <c:v>2.4159931196286344E-2</c:v>
                </c:pt>
                <c:pt idx="13">
                  <c:v>2.4310970162659151E-2</c:v>
                </c:pt>
                <c:pt idx="14">
                  <c:v>2.4511995765496453E-2</c:v>
                </c:pt>
                <c:pt idx="15">
                  <c:v>2.4749764915319106E-2</c:v>
                </c:pt>
                <c:pt idx="16">
                  <c:v>2.5269141678025187E-2</c:v>
                </c:pt>
                <c:pt idx="17">
                  <c:v>2.5326048260952638E-2</c:v>
                </c:pt>
                <c:pt idx="18">
                  <c:v>2.3866345010194467E-2</c:v>
                </c:pt>
              </c:numCache>
            </c:numRef>
          </c:val>
          <c:smooth val="0"/>
          <c:extLst>
            <c:ext xmlns:c16="http://schemas.microsoft.com/office/drawing/2014/chart" uri="{C3380CC4-5D6E-409C-BE32-E72D297353CC}">
              <c16:uniqueId val="{00000000-ECCE-44D7-8C4F-E63D2190433F}"/>
            </c:ext>
          </c:extLst>
        </c:ser>
        <c:ser>
          <c:idx val="1"/>
          <c:order val="1"/>
          <c:tx>
            <c:strRef>
              <c:f>'[Loomis prod IRRBB.xlsx]Courbe EUR (2)'!$A$13</c:f>
              <c:strCache>
                <c:ptCount val="1"/>
                <c:pt idx="0">
                  <c:v>Scénario parallel Up</c:v>
                </c:pt>
              </c:strCache>
            </c:strRef>
          </c:tx>
          <c:spPr>
            <a:ln w="28575" cap="rnd">
              <a:solidFill>
                <a:srgbClr val="92D050"/>
              </a:solidFill>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(2)'!$B$13:$T$13</c:f>
              <c:numCache>
                <c:formatCode>0.00%</c:formatCode>
                <c:ptCount val="19"/>
                <c:pt idx="0">
                  <c:v>5.8819999999999997E-2</c:v>
                </c:pt>
                <c:pt idx="1">
                  <c:v>5.8624999999999997E-2</c:v>
                </c:pt>
                <c:pt idx="2">
                  <c:v>5.8840000000000003E-2</c:v>
                </c:pt>
                <c:pt idx="3">
                  <c:v>5.9050000000000005E-2</c:v>
                </c:pt>
                <c:pt idx="4">
                  <c:v>5.7746248506317266E-2</c:v>
                </c:pt>
                <c:pt idx="5">
                  <c:v>5.5538745518951799E-2</c:v>
                </c:pt>
                <c:pt idx="6">
                  <c:v>5.5456450003672539E-2</c:v>
                </c:pt>
                <c:pt idx="7">
                  <c:v>5.7499361960479486E-2</c:v>
                </c:pt>
                <c:pt idx="8">
                  <c:v>5.1868350096543656E-2</c:v>
                </c:pt>
                <c:pt idx="9">
                  <c:v>4.4779797609203462E-2</c:v>
                </c:pt>
                <c:pt idx="10">
                  <c:v>4.4222631114737995E-2</c:v>
                </c:pt>
                <c:pt idx="11">
                  <c:v>4.4103101710475143E-2</c:v>
                </c:pt>
                <c:pt idx="12">
                  <c:v>4.4159931196286348E-2</c:v>
                </c:pt>
                <c:pt idx="13">
                  <c:v>4.4310970162659155E-2</c:v>
                </c:pt>
                <c:pt idx="14">
                  <c:v>4.4511995765496457E-2</c:v>
                </c:pt>
                <c:pt idx="15">
                  <c:v>4.474976491531911E-2</c:v>
                </c:pt>
                <c:pt idx="16">
                  <c:v>4.526914167802519E-2</c:v>
                </c:pt>
                <c:pt idx="17">
                  <c:v>4.5326048260952642E-2</c:v>
                </c:pt>
                <c:pt idx="18">
                  <c:v>4.3866345010194471E-2</c:v>
                </c:pt>
              </c:numCache>
            </c:numRef>
          </c:val>
          <c:smooth val="0"/>
          <c:extLst>
            <c:ext xmlns:c16="http://schemas.microsoft.com/office/drawing/2014/chart" uri="{C3380CC4-5D6E-409C-BE32-E72D297353CC}">
              <c16:uniqueId val="{00000001-ECCE-44D7-8C4F-E63D2190433F}"/>
            </c:ext>
          </c:extLst>
        </c:ser>
        <c:ser>
          <c:idx val="2"/>
          <c:order val="2"/>
          <c:tx>
            <c:strRef>
              <c:f>'[Loomis prod IRRBB.xlsx]Courbe EUR (2)'!$A$14</c:f>
              <c:strCache>
                <c:ptCount val="1"/>
                <c:pt idx="0">
                  <c:v>Scénario parallel Down</c:v>
                </c:pt>
              </c:strCache>
            </c:strRef>
          </c:tx>
          <c:spPr>
            <a:ln w="28575" cap="rnd">
              <a:solidFill>
                <a:srgbClr val="FF0000"/>
              </a:solidFill>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(2)'!$B$14:$T$14</c:f>
              <c:numCache>
                <c:formatCode>0.00%</c:formatCode>
                <c:ptCount val="19"/>
                <c:pt idx="0">
                  <c:v>1.882E-2</c:v>
                </c:pt>
                <c:pt idx="1">
                  <c:v>1.8624999999999999E-2</c:v>
                </c:pt>
                <c:pt idx="2">
                  <c:v>1.8839999999999999E-2</c:v>
                </c:pt>
                <c:pt idx="3">
                  <c:v>1.9050000000000001E-2</c:v>
                </c:pt>
                <c:pt idx="4">
                  <c:v>1.7746248506317262E-2</c:v>
                </c:pt>
                <c:pt idx="5">
                  <c:v>1.5538745518951794E-2</c:v>
                </c:pt>
                <c:pt idx="6">
                  <c:v>1.5456450003672535E-2</c:v>
                </c:pt>
                <c:pt idx="7">
                  <c:v>1.7499361960479482E-2</c:v>
                </c:pt>
                <c:pt idx="8">
                  <c:v>1.1868350096543651E-2</c:v>
                </c:pt>
                <c:pt idx="9">
                  <c:v>4.7797976092034573E-3</c:v>
                </c:pt>
                <c:pt idx="10">
                  <c:v>4.2226311147379909E-3</c:v>
                </c:pt>
                <c:pt idx="11">
                  <c:v>4.1031017104751384E-3</c:v>
                </c:pt>
                <c:pt idx="12">
                  <c:v>4.1599311962863435E-3</c:v>
                </c:pt>
                <c:pt idx="13">
                  <c:v>4.3109701626591508E-3</c:v>
                </c:pt>
                <c:pt idx="14">
                  <c:v>4.5119957654964522E-3</c:v>
                </c:pt>
                <c:pt idx="15">
                  <c:v>4.7497649153191053E-3</c:v>
                </c:pt>
                <c:pt idx="16">
                  <c:v>5.2691416780251861E-3</c:v>
                </c:pt>
                <c:pt idx="17">
                  <c:v>5.3260482609526379E-3</c:v>
                </c:pt>
                <c:pt idx="18">
                  <c:v>3.866345010194467E-3</c:v>
                </c:pt>
              </c:numCache>
            </c:numRef>
          </c:val>
          <c:smooth val="0"/>
          <c:extLst>
            <c:ext xmlns:c16="http://schemas.microsoft.com/office/drawing/2014/chart" uri="{C3380CC4-5D6E-409C-BE32-E72D297353CC}">
              <c16:uniqueId val="{00000002-ECCE-44D7-8C4F-E63D2190433F}"/>
            </c:ext>
          </c:extLst>
        </c:ser>
        <c:ser>
          <c:idx val="3"/>
          <c:order val="3"/>
          <c:tx>
            <c:strRef>
              <c:f>'[Loomis prod IRRBB.xlsx]Courbe EUR (2)'!$A$15</c:f>
              <c:strCache>
                <c:ptCount val="1"/>
                <c:pt idx="0">
                  <c:v>Steepener</c:v>
                </c:pt>
              </c:strCache>
            </c:strRef>
          </c:tx>
          <c:spPr>
            <a:ln w="28575" cap="rnd">
              <a:solidFill>
                <a:srgbClr val="0070C0"/>
              </a:solidFill>
              <a:prstDash val="sysDot"/>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(2)'!$B$15:$T$15</c:f>
              <c:numCache>
                <c:formatCode>0.00%</c:formatCode>
                <c:ptCount val="19"/>
                <c:pt idx="0">
                  <c:v>2.2587528635186122E-2</c:v>
                </c:pt>
                <c:pt idx="1">
                  <c:v>2.2636655677396336E-2</c:v>
                </c:pt>
                <c:pt idx="2">
                  <c:v>2.362046620799426E-2</c:v>
                </c:pt>
                <c:pt idx="3">
                  <c:v>2.5059613375154138E-2</c:v>
                </c:pt>
                <c:pt idx="4">
                  <c:v>2.514877899180484E-2</c:v>
                </c:pt>
                <c:pt idx="5">
                  <c:v>2.4249800533303008E-2</c:v>
                </c:pt>
                <c:pt idx="6">
                  <c:v>2.598315537276983E-2</c:v>
                </c:pt>
                <c:pt idx="7">
                  <c:v>3.0196736668175204E-2</c:v>
                </c:pt>
                <c:pt idx="8">
                  <c:v>2.7352999026439145E-2</c:v>
                </c:pt>
                <c:pt idx="9">
                  <c:v>2.3254031612321122E-2</c:v>
                </c:pt>
                <c:pt idx="10">
                  <c:v>2.5025156313939659E-2</c:v>
                </c:pt>
                <c:pt idx="11">
                  <c:v>2.6718901916405288E-2</c:v>
                </c:pt>
                <c:pt idx="12">
                  <c:v>2.8187911397380444E-2</c:v>
                </c:pt>
                <c:pt idx="13">
                  <c:v>2.9438757249824709E-2</c:v>
                </c:pt>
                <c:pt idx="14">
                  <c:v>3.0496313316761781E-2</c:v>
                </c:pt>
                <c:pt idx="15">
                  <c:v>3.140114906274985E-2</c:v>
                </c:pt>
                <c:pt idx="16">
                  <c:v>3.3159734104034153E-2</c:v>
                </c:pt>
                <c:pt idx="17">
                  <c:v>3.4008197669331178E-2</c:v>
                </c:pt>
                <c:pt idx="18">
                  <c:v>3.2817601043254721E-2</c:v>
                </c:pt>
              </c:numCache>
            </c:numRef>
          </c:val>
          <c:smooth val="0"/>
          <c:extLst>
            <c:ext xmlns:c16="http://schemas.microsoft.com/office/drawing/2014/chart" uri="{C3380CC4-5D6E-409C-BE32-E72D297353CC}">
              <c16:uniqueId val="{00000003-ECCE-44D7-8C4F-E63D2190433F}"/>
            </c:ext>
          </c:extLst>
        </c:ser>
        <c:ser>
          <c:idx val="4"/>
          <c:order val="4"/>
          <c:tx>
            <c:strRef>
              <c:f>'[Loomis prod IRRBB.xlsx]Courbe EUR (2)'!$A$16</c:f>
              <c:strCache>
                <c:ptCount val="1"/>
                <c:pt idx="0">
                  <c:v>Flattener</c:v>
                </c:pt>
              </c:strCache>
            </c:strRef>
          </c:tx>
          <c:spPr>
            <a:ln w="28575" cap="rnd">
              <a:solidFill>
                <a:schemeClr val="accent2">
                  <a:lumMod val="75000"/>
                </a:schemeClr>
              </a:solidFill>
              <a:prstDash val="sysDot"/>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(2)'!$B$16:$T$16</c:f>
              <c:numCache>
                <c:formatCode>0.00%</c:formatCode>
                <c:ptCount val="19"/>
                <c:pt idx="0">
                  <c:v>5.8801950712283599E-2</c:v>
                </c:pt>
                <c:pt idx="1">
                  <c:v>5.8355572371789913E-2</c:v>
                </c:pt>
                <c:pt idx="2">
                  <c:v>5.7778925884837594E-2</c:v>
                </c:pt>
                <c:pt idx="3">
                  <c:v>5.6723269395880883E-2</c:v>
                </c:pt>
                <c:pt idx="4">
                  <c:v>5.3985227016310249E-2</c:v>
                </c:pt>
                <c:pt idx="5">
                  <c:v>5.043033243486738E-2</c:v>
                </c:pt>
                <c:pt idx="6">
                  <c:v>4.847845635628522E-2</c:v>
                </c:pt>
                <c:pt idx="7">
                  <c:v>4.8286223647604674E-2</c:v>
                </c:pt>
                <c:pt idx="8">
                  <c:v>3.9785147238037402E-2</c:v>
                </c:pt>
                <c:pt idx="9">
                  <c:v>2.961821012084468E-2</c:v>
                </c:pt>
                <c:pt idx="10">
                  <c:v>2.6663595266055082E-2</c:v>
                </c:pt>
                <c:pt idx="11">
                  <c:v>2.467693120139855E-2</c:v>
                </c:pt>
                <c:pt idx="12">
                  <c:v>2.3279634751595391E-2</c:v>
                </c:pt>
                <c:pt idx="13">
                  <c:v>2.2298199300627292E-2</c:v>
                </c:pt>
                <c:pt idx="14">
                  <c:v>2.1617252940431163E-2</c:v>
                </c:pt>
                <c:pt idx="15">
                  <c:v>2.1168141634796359E-2</c:v>
                </c:pt>
                <c:pt idx="16">
                  <c:v>2.041150195223378E-2</c:v>
                </c:pt>
                <c:pt idx="17">
                  <c:v>1.9653339959255924E-2</c:v>
                </c:pt>
                <c:pt idx="18">
                  <c:v>1.7916536817736389E-2</c:v>
                </c:pt>
              </c:numCache>
            </c:numRef>
          </c:val>
          <c:smooth val="0"/>
          <c:extLst>
            <c:ext xmlns:c16="http://schemas.microsoft.com/office/drawing/2014/chart" uri="{C3380CC4-5D6E-409C-BE32-E72D297353CC}">
              <c16:uniqueId val="{00000004-ECCE-44D7-8C4F-E63D2190433F}"/>
            </c:ext>
          </c:extLst>
        </c:ser>
        <c:ser>
          <c:idx val="5"/>
          <c:order val="5"/>
          <c:tx>
            <c:strRef>
              <c:f>'[Loomis prod IRRBB.xlsx]Courbe EUR (2)'!$A$17</c:f>
              <c:strCache>
                <c:ptCount val="1"/>
                <c:pt idx="0">
                  <c:v>Short rates up</c:v>
                </c:pt>
              </c:strCache>
            </c:strRef>
          </c:tx>
          <c:spPr>
            <a:ln w="28575" cap="rnd">
              <a:solidFill>
                <a:srgbClr val="00B0F0"/>
              </a:solidFill>
              <a:prstDash val="dash"/>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(2)'!$B$17:$T$17</c:f>
              <c:numCache>
                <c:formatCode>0.00%</c:formatCode>
                <c:ptCount val="19"/>
                <c:pt idx="0">
                  <c:v>6.3802644915657306E-2</c:v>
                </c:pt>
                <c:pt idx="1">
                  <c:v>6.3365934972874918E-2</c:v>
                </c:pt>
                <c:pt idx="2">
                  <c:v>6.2819736427728451E-2</c:v>
                </c:pt>
                <c:pt idx="3">
                  <c:v>6.1812759034500855E-2</c:v>
                </c:pt>
                <c:pt idx="4">
                  <c:v>5.9129881689002822E-2</c:v>
                </c:pt>
                <c:pt idx="5">
                  <c:v>5.5626809861178315E-2</c:v>
                </c:pt>
                <c:pt idx="6">
                  <c:v>5.3746840727338582E-2</c:v>
                </c:pt>
                <c:pt idx="7">
                  <c:v>5.3640575121176787E-2</c:v>
                </c:pt>
                <c:pt idx="8">
                  <c:v>4.5249885809518407E-2</c:v>
                </c:pt>
                <c:pt idx="9">
                  <c:v>3.5201348101166166E-2</c:v>
                </c:pt>
                <c:pt idx="10">
                  <c:v>3.2338942798696736E-2</c:v>
                </c:pt>
                <c:pt idx="11">
                  <c:v>3.0424091605593801E-2</c:v>
                </c:pt>
                <c:pt idx="12">
                  <c:v>2.9082723076391197E-2</c:v>
                </c:pt>
                <c:pt idx="13">
                  <c:v>2.8144844333782365E-2</c:v>
                </c:pt>
                <c:pt idx="14">
                  <c:v>2.7497819972164442E-2</c:v>
                </c:pt>
                <c:pt idx="15">
                  <c:v>2.7075127145585694E-2</c:v>
                </c:pt>
                <c:pt idx="16">
                  <c:v>2.6367565018610373E-2</c:v>
                </c:pt>
                <c:pt idx="17">
                  <c:v>2.5640751817013488E-2</c:v>
                </c:pt>
                <c:pt idx="18">
                  <c:v>2.3914606363600162E-2</c:v>
                </c:pt>
              </c:numCache>
            </c:numRef>
          </c:val>
          <c:smooth val="0"/>
          <c:extLst>
            <c:ext xmlns:c16="http://schemas.microsoft.com/office/drawing/2014/chart" uri="{C3380CC4-5D6E-409C-BE32-E72D297353CC}">
              <c16:uniqueId val="{00000005-ECCE-44D7-8C4F-E63D2190433F}"/>
            </c:ext>
          </c:extLst>
        </c:ser>
        <c:ser>
          <c:idx val="6"/>
          <c:order val="6"/>
          <c:tx>
            <c:strRef>
              <c:f>'[Loomis prod IRRBB.xlsx]Courbe EUR (2)'!$A$18</c:f>
              <c:strCache>
                <c:ptCount val="1"/>
                <c:pt idx="0">
                  <c:v>Short rates down</c:v>
                </c:pt>
              </c:strCache>
            </c:strRef>
          </c:tx>
          <c:spPr>
            <a:ln w="28575" cap="rnd">
              <a:solidFill>
                <a:srgbClr val="7030A0"/>
              </a:solidFill>
              <a:prstDash val="dash"/>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(2)'!$B$18:$T$18</c:f>
              <c:numCache>
                <c:formatCode>0.000%</c:formatCode>
                <c:ptCount val="19"/>
                <c:pt idx="0">
                  <c:v>1.3837355084342695E-2</c:v>
                </c:pt>
                <c:pt idx="1">
                  <c:v>1.3884065027125084E-2</c:v>
                </c:pt>
                <c:pt idx="2">
                  <c:v>1.4860263572271545E-2</c:v>
                </c:pt>
                <c:pt idx="3">
                  <c:v>1.6287240965499147E-2</c:v>
                </c:pt>
                <c:pt idx="4">
                  <c:v>1.6362615323631698E-2</c:v>
                </c:pt>
                <c:pt idx="5">
                  <c:v>1.5450681176725274E-2</c:v>
                </c:pt>
                <c:pt idx="6">
                  <c:v>1.7166059280006491E-2</c:v>
                </c:pt>
                <c:pt idx="7">
                  <c:v>2.1358148799782182E-2</c:v>
                </c:pt>
                <c:pt idx="8">
                  <c:v>1.8486814383568896E-2</c:v>
                </c:pt>
                <c:pt idx="9">
                  <c:v>1.4358247117240748E-2</c:v>
                </c:pt>
                <c:pt idx="10">
                  <c:v>1.6106319430779246E-2</c:v>
                </c:pt>
                <c:pt idx="11">
                  <c:v>1.7782111815356477E-2</c:v>
                </c:pt>
                <c:pt idx="12">
                  <c:v>1.9237139316181491E-2</c:v>
                </c:pt>
                <c:pt idx="13">
                  <c:v>2.0477095991535937E-2</c:v>
                </c:pt>
                <c:pt idx="14">
                  <c:v>2.1526171558828463E-2</c:v>
                </c:pt>
                <c:pt idx="15">
                  <c:v>2.2424402685052518E-2</c:v>
                </c:pt>
                <c:pt idx="16">
                  <c:v>2.417071833744E-2</c:v>
                </c:pt>
                <c:pt idx="17">
                  <c:v>2.5011344704891789E-2</c:v>
                </c:pt>
                <c:pt idx="18">
                  <c:v>2.3818083656788773E-2</c:v>
                </c:pt>
              </c:numCache>
            </c:numRef>
          </c:val>
          <c:smooth val="0"/>
          <c:extLst>
            <c:ext xmlns:c16="http://schemas.microsoft.com/office/drawing/2014/chart" uri="{C3380CC4-5D6E-409C-BE32-E72D297353CC}">
              <c16:uniqueId val="{00000006-ECCE-44D7-8C4F-E63D2190433F}"/>
            </c:ext>
          </c:extLst>
        </c:ser>
        <c:dLbls>
          <c:showLegendKey val="0"/>
          <c:showVal val="0"/>
          <c:showCatName val="0"/>
          <c:showSerName val="0"/>
          <c:showPercent val="0"/>
          <c:showBubbleSize val="0"/>
        </c:dLbls>
        <c:smooth val="0"/>
        <c:axId val="1423340800"/>
        <c:axId val="1423341280"/>
      </c:lineChart>
      <c:catAx>
        <c:axId val="14233408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crossAx val="1423341280"/>
        <c:crosses val="autoZero"/>
        <c:auto val="1"/>
        <c:lblAlgn val="ctr"/>
        <c:lblOffset val="100"/>
        <c:noMultiLvlLbl val="0"/>
      </c:catAx>
      <c:valAx>
        <c:axId val="1423341280"/>
        <c:scaling>
          <c:orientation val="minMax"/>
        </c:scaling>
        <c:delete val="0"/>
        <c:axPos val="l"/>
        <c:majorGridlines>
          <c:spPr>
            <a:ln w="9525" cap="flat" cmpd="sng" algn="ctr">
              <a:solidFill>
                <a:schemeClr val="tx1">
                  <a:lumMod val="15000"/>
                  <a:lumOff val="85000"/>
                </a:schemeClr>
              </a:solidFill>
              <a:round/>
            </a:ln>
            <a:effectLst/>
          </c:spPr>
        </c:majorGridlines>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crossAx val="142334080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rgbClr val="115264">
          <a:lumMod val="50000"/>
        </a:srgbClr>
      </a:solidFill>
    </a:ln>
    <a:effectLst/>
  </c:spPr>
  <c:txPr>
    <a:bodyPr/>
    <a:lstStyle/>
    <a:p>
      <a:pPr>
        <a:defRPr/>
      </a:pPr>
      <a:endParaRPr lang="fr-FR"/>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Sheet1!$D$3</c:f>
              <c:strCache>
                <c:ptCount val="1"/>
                <c:pt idx="0">
                  <c:v>baseline</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Sheet1!$D$4:$D$9</c:f>
              <c:numCache>
                <c:formatCode>General</c:formatCode>
                <c:ptCount val="6"/>
                <c:pt idx="0">
                  <c:v>2</c:v>
                </c:pt>
                <c:pt idx="1">
                  <c:v>2.2000000000000002</c:v>
                </c:pt>
                <c:pt idx="2">
                  <c:v>2.5</c:v>
                </c:pt>
                <c:pt idx="3">
                  <c:v>3</c:v>
                </c:pt>
                <c:pt idx="4">
                  <c:v>3.5</c:v>
                </c:pt>
                <c:pt idx="5">
                  <c:v>3.8</c:v>
                </c:pt>
              </c:numCache>
            </c:numRef>
          </c:val>
          <c:smooth val="0"/>
          <c:extLst>
            <c:ext xmlns:c16="http://schemas.microsoft.com/office/drawing/2014/chart" uri="{C3380CC4-5D6E-409C-BE32-E72D297353CC}">
              <c16:uniqueId val="{00000000-0467-490C-9130-D3568ECE6295}"/>
            </c:ext>
          </c:extLst>
        </c:ser>
        <c:ser>
          <c:idx val="1"/>
          <c:order val="1"/>
          <c:tx>
            <c:strRef>
              <c:f>Sheet1!$E$3</c:f>
              <c:strCache>
                <c:ptCount val="1"/>
                <c:pt idx="0">
                  <c:v>parallel up</c:v>
                </c:pt>
              </c:strCache>
            </c:strRef>
          </c:tx>
          <c:spPr>
            <a:ln w="25400" cap="rnd">
              <a:solidFill>
                <a:srgbClr val="197B96"/>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Sheet1!$E$4:$E$9</c:f>
              <c:numCache>
                <c:formatCode>General</c:formatCode>
                <c:ptCount val="6"/>
                <c:pt idx="0">
                  <c:v>3</c:v>
                </c:pt>
                <c:pt idx="1">
                  <c:v>3.2</c:v>
                </c:pt>
                <c:pt idx="2">
                  <c:v>3.5</c:v>
                </c:pt>
                <c:pt idx="3">
                  <c:v>4</c:v>
                </c:pt>
                <c:pt idx="4">
                  <c:v>4.5</c:v>
                </c:pt>
                <c:pt idx="5">
                  <c:v>4.8</c:v>
                </c:pt>
              </c:numCache>
            </c:numRef>
          </c:val>
          <c:smooth val="0"/>
          <c:extLst>
            <c:ext xmlns:c16="http://schemas.microsoft.com/office/drawing/2014/chart" uri="{C3380CC4-5D6E-409C-BE32-E72D297353CC}">
              <c16:uniqueId val="{00000001-0467-490C-9130-D3568ECE6295}"/>
            </c:ext>
          </c:extLst>
        </c:ser>
        <c:ser>
          <c:idx val="2"/>
          <c:order val="2"/>
          <c:tx>
            <c:strRef>
              <c:f>Sheet1!$F$3</c:f>
              <c:strCache>
                <c:ptCount val="1"/>
                <c:pt idx="0">
                  <c:v>parallel down</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Sheet1!$F$4:$F$9</c:f>
              <c:numCache>
                <c:formatCode>General</c:formatCode>
                <c:ptCount val="6"/>
                <c:pt idx="0">
                  <c:v>1</c:v>
                </c:pt>
                <c:pt idx="1">
                  <c:v>1.2</c:v>
                </c:pt>
                <c:pt idx="2">
                  <c:v>1.5</c:v>
                </c:pt>
                <c:pt idx="3">
                  <c:v>2</c:v>
                </c:pt>
                <c:pt idx="4">
                  <c:v>2.5</c:v>
                </c:pt>
                <c:pt idx="5">
                  <c:v>2.8</c:v>
                </c:pt>
              </c:numCache>
            </c:numRef>
          </c:val>
          <c:smooth val="0"/>
          <c:extLst>
            <c:ext xmlns:c16="http://schemas.microsoft.com/office/drawing/2014/chart" uri="{C3380CC4-5D6E-409C-BE32-E72D297353CC}">
              <c16:uniqueId val="{00000002-0467-490C-9130-D3568ECE6295}"/>
            </c:ext>
          </c:extLst>
        </c:ser>
        <c:ser>
          <c:idx val="3"/>
          <c:order val="3"/>
          <c:tx>
            <c:strRef>
              <c:f>Sheet1!$G$3</c:f>
              <c:strCache>
                <c:ptCount val="1"/>
                <c:pt idx="0">
                  <c:v>steepener</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Sheet1!$G$4:$G$9</c:f>
              <c:numCache>
                <c:formatCode>General</c:formatCode>
                <c:ptCount val="6"/>
                <c:pt idx="0">
                  <c:v>1.5</c:v>
                </c:pt>
                <c:pt idx="1">
                  <c:v>1.9</c:v>
                </c:pt>
                <c:pt idx="2">
                  <c:v>2.5</c:v>
                </c:pt>
                <c:pt idx="3">
                  <c:v>3.5</c:v>
                </c:pt>
                <c:pt idx="4">
                  <c:v>4.5</c:v>
                </c:pt>
                <c:pt idx="5">
                  <c:v>5</c:v>
                </c:pt>
              </c:numCache>
            </c:numRef>
          </c:val>
          <c:smooth val="0"/>
          <c:extLst>
            <c:ext xmlns:c16="http://schemas.microsoft.com/office/drawing/2014/chart" uri="{C3380CC4-5D6E-409C-BE32-E72D297353CC}">
              <c16:uniqueId val="{00000003-0467-490C-9130-D3568ECE6295}"/>
            </c:ext>
          </c:extLst>
        </c:ser>
        <c:ser>
          <c:idx val="4"/>
          <c:order val="4"/>
          <c:tx>
            <c:strRef>
              <c:f>Sheet1!$H$3</c:f>
              <c:strCache>
                <c:ptCount val="1"/>
                <c:pt idx="0">
                  <c:v>Flattener</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Sheet1!$H$4:$H$9</c:f>
              <c:numCache>
                <c:formatCode>General</c:formatCode>
                <c:ptCount val="6"/>
                <c:pt idx="0">
                  <c:v>2.5</c:v>
                </c:pt>
                <c:pt idx="1">
                  <c:v>2.5</c:v>
                </c:pt>
                <c:pt idx="2">
                  <c:v>2.5</c:v>
                </c:pt>
                <c:pt idx="3">
                  <c:v>2.5</c:v>
                </c:pt>
                <c:pt idx="4">
                  <c:v>2.5</c:v>
                </c:pt>
                <c:pt idx="5">
                  <c:v>2.6</c:v>
                </c:pt>
              </c:numCache>
            </c:numRef>
          </c:val>
          <c:smooth val="0"/>
          <c:extLst>
            <c:ext xmlns:c16="http://schemas.microsoft.com/office/drawing/2014/chart" uri="{C3380CC4-5D6E-409C-BE32-E72D297353CC}">
              <c16:uniqueId val="{00000004-0467-490C-9130-D3568ECE6295}"/>
            </c:ext>
          </c:extLst>
        </c:ser>
        <c:ser>
          <c:idx val="5"/>
          <c:order val="5"/>
          <c:tx>
            <c:strRef>
              <c:f>Sheet1!$I$3</c:f>
              <c:strCache>
                <c:ptCount val="1"/>
                <c:pt idx="0">
                  <c:v>short rates up</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Sheet1!$I$4:$I$9</c:f>
              <c:numCache>
                <c:formatCode>General</c:formatCode>
                <c:ptCount val="6"/>
                <c:pt idx="0">
                  <c:v>3</c:v>
                </c:pt>
                <c:pt idx="1">
                  <c:v>3</c:v>
                </c:pt>
                <c:pt idx="2">
                  <c:v>2.9</c:v>
                </c:pt>
                <c:pt idx="3">
                  <c:v>3.2</c:v>
                </c:pt>
                <c:pt idx="4">
                  <c:v>3.5</c:v>
                </c:pt>
                <c:pt idx="5">
                  <c:v>3.8</c:v>
                </c:pt>
              </c:numCache>
            </c:numRef>
          </c:val>
          <c:smooth val="0"/>
          <c:extLst>
            <c:ext xmlns:c16="http://schemas.microsoft.com/office/drawing/2014/chart" uri="{C3380CC4-5D6E-409C-BE32-E72D297353CC}">
              <c16:uniqueId val="{00000005-0467-490C-9130-D3568ECE6295}"/>
            </c:ext>
          </c:extLst>
        </c:ser>
        <c:ser>
          <c:idx val="6"/>
          <c:order val="6"/>
          <c:tx>
            <c:strRef>
              <c:f>Sheet1!$J$3</c:f>
              <c:strCache>
                <c:ptCount val="1"/>
                <c:pt idx="0">
                  <c:v>short rates down</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Sheet1!$J$4:$J$9</c:f>
              <c:numCache>
                <c:formatCode>General</c:formatCode>
                <c:ptCount val="6"/>
                <c:pt idx="0">
                  <c:v>1</c:v>
                </c:pt>
                <c:pt idx="1">
                  <c:v>1.4</c:v>
                </c:pt>
                <c:pt idx="2">
                  <c:v>2.1</c:v>
                </c:pt>
                <c:pt idx="3">
                  <c:v>2.8</c:v>
                </c:pt>
                <c:pt idx="4">
                  <c:v>3.5</c:v>
                </c:pt>
                <c:pt idx="5">
                  <c:v>3.8</c:v>
                </c:pt>
              </c:numCache>
            </c:numRef>
          </c:val>
          <c:smooth val="0"/>
          <c:extLst>
            <c:ext xmlns:c16="http://schemas.microsoft.com/office/drawing/2014/chart" uri="{C3380CC4-5D6E-409C-BE32-E72D297353CC}">
              <c16:uniqueId val="{00000006-0467-490C-9130-D3568ECE6295}"/>
            </c:ext>
          </c:extLst>
        </c:ser>
        <c:dLbls>
          <c:showLegendKey val="0"/>
          <c:showVal val="0"/>
          <c:showCatName val="0"/>
          <c:showSerName val="0"/>
          <c:showPercent val="0"/>
          <c:showBubbleSize val="0"/>
        </c:dLbls>
        <c:smooth val="0"/>
        <c:axId val="1699529984"/>
        <c:axId val="1699532384"/>
      </c:lineChart>
      <c:catAx>
        <c:axId val="16995299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accent4">
                    <a:lumMod val="10000"/>
                  </a:schemeClr>
                </a:solidFill>
                <a:latin typeface="+mn-lt"/>
                <a:ea typeface="+mn-ea"/>
                <a:cs typeface="+mn-cs"/>
              </a:defRPr>
            </a:pPr>
            <a:endParaRPr lang="fr-FR"/>
          </a:p>
        </c:txPr>
        <c:crossAx val="1699532384"/>
        <c:crosses val="autoZero"/>
        <c:auto val="1"/>
        <c:lblAlgn val="ctr"/>
        <c:lblOffset val="100"/>
        <c:noMultiLvlLbl val="0"/>
      </c:catAx>
      <c:valAx>
        <c:axId val="1699532384"/>
        <c:scaling>
          <c:orientation val="minMax"/>
        </c:scaling>
        <c:delete val="1"/>
        <c:axPos val="l"/>
        <c:numFmt formatCode="General" sourceLinked="1"/>
        <c:majorTickMark val="none"/>
        <c:minorTickMark val="none"/>
        <c:tickLblPos val="nextTo"/>
        <c:crossAx val="169952998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Sheet1!$D$3</c:f>
              <c:strCache>
                <c:ptCount val="1"/>
                <c:pt idx="0">
                  <c:v>baseline</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Sheet1!$D$4:$D$9</c:f>
              <c:numCache>
                <c:formatCode>General</c:formatCode>
                <c:ptCount val="6"/>
                <c:pt idx="0">
                  <c:v>2</c:v>
                </c:pt>
                <c:pt idx="1">
                  <c:v>2.2000000000000002</c:v>
                </c:pt>
                <c:pt idx="2">
                  <c:v>2.5</c:v>
                </c:pt>
                <c:pt idx="3">
                  <c:v>3</c:v>
                </c:pt>
                <c:pt idx="4">
                  <c:v>3.5</c:v>
                </c:pt>
                <c:pt idx="5">
                  <c:v>3.8</c:v>
                </c:pt>
              </c:numCache>
            </c:numRef>
          </c:val>
          <c:smooth val="0"/>
          <c:extLst>
            <c:ext xmlns:c16="http://schemas.microsoft.com/office/drawing/2014/chart" uri="{C3380CC4-5D6E-409C-BE32-E72D297353CC}">
              <c16:uniqueId val="{00000000-0467-490C-9130-D3568ECE6295}"/>
            </c:ext>
          </c:extLst>
        </c:ser>
        <c:ser>
          <c:idx val="1"/>
          <c:order val="1"/>
          <c:tx>
            <c:strRef>
              <c:f>Sheet1!$E$3</c:f>
              <c:strCache>
                <c:ptCount val="1"/>
                <c:pt idx="0">
                  <c:v>parallel up</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Sheet1!$E$4:$E$9</c:f>
              <c:numCache>
                <c:formatCode>General</c:formatCode>
                <c:ptCount val="6"/>
                <c:pt idx="0">
                  <c:v>3</c:v>
                </c:pt>
                <c:pt idx="1">
                  <c:v>3.2</c:v>
                </c:pt>
                <c:pt idx="2">
                  <c:v>3.5</c:v>
                </c:pt>
                <c:pt idx="3">
                  <c:v>4</c:v>
                </c:pt>
                <c:pt idx="4">
                  <c:v>4.5</c:v>
                </c:pt>
                <c:pt idx="5">
                  <c:v>4.8</c:v>
                </c:pt>
              </c:numCache>
            </c:numRef>
          </c:val>
          <c:smooth val="0"/>
          <c:extLst>
            <c:ext xmlns:c16="http://schemas.microsoft.com/office/drawing/2014/chart" uri="{C3380CC4-5D6E-409C-BE32-E72D297353CC}">
              <c16:uniqueId val="{00000001-0467-490C-9130-D3568ECE6295}"/>
            </c:ext>
          </c:extLst>
        </c:ser>
        <c:ser>
          <c:idx val="2"/>
          <c:order val="2"/>
          <c:tx>
            <c:strRef>
              <c:f>Sheet1!$F$3</c:f>
              <c:strCache>
                <c:ptCount val="1"/>
                <c:pt idx="0">
                  <c:v>parallel down</c:v>
                </c:pt>
              </c:strCache>
            </c:strRef>
          </c:tx>
          <c:spPr>
            <a:ln w="25400" cap="rnd">
              <a:solidFill>
                <a:srgbClr val="197B96"/>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Sheet1!$F$4:$F$9</c:f>
              <c:numCache>
                <c:formatCode>General</c:formatCode>
                <c:ptCount val="6"/>
                <c:pt idx="0">
                  <c:v>1</c:v>
                </c:pt>
                <c:pt idx="1">
                  <c:v>1.2</c:v>
                </c:pt>
                <c:pt idx="2">
                  <c:v>1.5</c:v>
                </c:pt>
                <c:pt idx="3">
                  <c:v>2</c:v>
                </c:pt>
                <c:pt idx="4">
                  <c:v>2.5</c:v>
                </c:pt>
                <c:pt idx="5">
                  <c:v>2.8</c:v>
                </c:pt>
              </c:numCache>
            </c:numRef>
          </c:val>
          <c:smooth val="0"/>
          <c:extLst>
            <c:ext xmlns:c16="http://schemas.microsoft.com/office/drawing/2014/chart" uri="{C3380CC4-5D6E-409C-BE32-E72D297353CC}">
              <c16:uniqueId val="{00000002-0467-490C-9130-D3568ECE6295}"/>
            </c:ext>
          </c:extLst>
        </c:ser>
        <c:ser>
          <c:idx val="3"/>
          <c:order val="3"/>
          <c:tx>
            <c:strRef>
              <c:f>Sheet1!$G$3</c:f>
              <c:strCache>
                <c:ptCount val="1"/>
                <c:pt idx="0">
                  <c:v>steepener</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Sheet1!$G$4:$G$9</c:f>
              <c:numCache>
                <c:formatCode>General</c:formatCode>
                <c:ptCount val="6"/>
                <c:pt idx="0">
                  <c:v>1.5</c:v>
                </c:pt>
                <c:pt idx="1">
                  <c:v>1.9</c:v>
                </c:pt>
                <c:pt idx="2">
                  <c:v>2.5</c:v>
                </c:pt>
                <c:pt idx="3">
                  <c:v>3.5</c:v>
                </c:pt>
                <c:pt idx="4">
                  <c:v>4.5</c:v>
                </c:pt>
                <c:pt idx="5">
                  <c:v>5</c:v>
                </c:pt>
              </c:numCache>
            </c:numRef>
          </c:val>
          <c:smooth val="0"/>
          <c:extLst>
            <c:ext xmlns:c16="http://schemas.microsoft.com/office/drawing/2014/chart" uri="{C3380CC4-5D6E-409C-BE32-E72D297353CC}">
              <c16:uniqueId val="{00000003-0467-490C-9130-D3568ECE6295}"/>
            </c:ext>
          </c:extLst>
        </c:ser>
        <c:ser>
          <c:idx val="4"/>
          <c:order val="4"/>
          <c:tx>
            <c:strRef>
              <c:f>Sheet1!$H$3</c:f>
              <c:strCache>
                <c:ptCount val="1"/>
                <c:pt idx="0">
                  <c:v>Flattener</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Sheet1!$H$4:$H$9</c:f>
              <c:numCache>
                <c:formatCode>General</c:formatCode>
                <c:ptCount val="6"/>
                <c:pt idx="0">
                  <c:v>2.5</c:v>
                </c:pt>
                <c:pt idx="1">
                  <c:v>2.5</c:v>
                </c:pt>
                <c:pt idx="2">
                  <c:v>2.5</c:v>
                </c:pt>
                <c:pt idx="3">
                  <c:v>2.5</c:v>
                </c:pt>
                <c:pt idx="4">
                  <c:v>2.5</c:v>
                </c:pt>
                <c:pt idx="5">
                  <c:v>2.6</c:v>
                </c:pt>
              </c:numCache>
            </c:numRef>
          </c:val>
          <c:smooth val="0"/>
          <c:extLst>
            <c:ext xmlns:c16="http://schemas.microsoft.com/office/drawing/2014/chart" uri="{C3380CC4-5D6E-409C-BE32-E72D297353CC}">
              <c16:uniqueId val="{00000004-0467-490C-9130-D3568ECE6295}"/>
            </c:ext>
          </c:extLst>
        </c:ser>
        <c:ser>
          <c:idx val="5"/>
          <c:order val="5"/>
          <c:tx>
            <c:strRef>
              <c:f>Sheet1!$I$3</c:f>
              <c:strCache>
                <c:ptCount val="1"/>
                <c:pt idx="0">
                  <c:v>short rates up</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Sheet1!$I$4:$I$9</c:f>
              <c:numCache>
                <c:formatCode>General</c:formatCode>
                <c:ptCount val="6"/>
                <c:pt idx="0">
                  <c:v>3</c:v>
                </c:pt>
                <c:pt idx="1">
                  <c:v>3</c:v>
                </c:pt>
                <c:pt idx="2">
                  <c:v>2.9</c:v>
                </c:pt>
                <c:pt idx="3">
                  <c:v>3.2</c:v>
                </c:pt>
                <c:pt idx="4">
                  <c:v>3.5</c:v>
                </c:pt>
                <c:pt idx="5">
                  <c:v>3.8</c:v>
                </c:pt>
              </c:numCache>
            </c:numRef>
          </c:val>
          <c:smooth val="0"/>
          <c:extLst>
            <c:ext xmlns:c16="http://schemas.microsoft.com/office/drawing/2014/chart" uri="{C3380CC4-5D6E-409C-BE32-E72D297353CC}">
              <c16:uniqueId val="{00000005-0467-490C-9130-D3568ECE6295}"/>
            </c:ext>
          </c:extLst>
        </c:ser>
        <c:ser>
          <c:idx val="6"/>
          <c:order val="6"/>
          <c:tx>
            <c:strRef>
              <c:f>Sheet1!$J$3</c:f>
              <c:strCache>
                <c:ptCount val="1"/>
                <c:pt idx="0">
                  <c:v>short rates down</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Sheet1!$J$4:$J$9</c:f>
              <c:numCache>
                <c:formatCode>General</c:formatCode>
                <c:ptCount val="6"/>
                <c:pt idx="0">
                  <c:v>1</c:v>
                </c:pt>
                <c:pt idx="1">
                  <c:v>1.4</c:v>
                </c:pt>
                <c:pt idx="2">
                  <c:v>2.1</c:v>
                </c:pt>
                <c:pt idx="3">
                  <c:v>2.8</c:v>
                </c:pt>
                <c:pt idx="4">
                  <c:v>3.5</c:v>
                </c:pt>
                <c:pt idx="5">
                  <c:v>3.8</c:v>
                </c:pt>
              </c:numCache>
            </c:numRef>
          </c:val>
          <c:smooth val="0"/>
          <c:extLst>
            <c:ext xmlns:c16="http://schemas.microsoft.com/office/drawing/2014/chart" uri="{C3380CC4-5D6E-409C-BE32-E72D297353CC}">
              <c16:uniqueId val="{00000006-0467-490C-9130-D3568ECE6295}"/>
            </c:ext>
          </c:extLst>
        </c:ser>
        <c:dLbls>
          <c:showLegendKey val="0"/>
          <c:showVal val="0"/>
          <c:showCatName val="0"/>
          <c:showSerName val="0"/>
          <c:showPercent val="0"/>
          <c:showBubbleSize val="0"/>
        </c:dLbls>
        <c:smooth val="0"/>
        <c:axId val="1699529984"/>
        <c:axId val="1699532384"/>
      </c:lineChart>
      <c:catAx>
        <c:axId val="16995299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accent4">
                    <a:lumMod val="10000"/>
                  </a:schemeClr>
                </a:solidFill>
                <a:latin typeface="+mn-lt"/>
                <a:ea typeface="+mn-ea"/>
                <a:cs typeface="+mn-cs"/>
              </a:defRPr>
            </a:pPr>
            <a:endParaRPr lang="fr-FR"/>
          </a:p>
        </c:txPr>
        <c:crossAx val="1699532384"/>
        <c:crosses val="autoZero"/>
        <c:auto val="1"/>
        <c:lblAlgn val="ctr"/>
        <c:lblOffset val="100"/>
        <c:noMultiLvlLbl val="0"/>
      </c:catAx>
      <c:valAx>
        <c:axId val="1699532384"/>
        <c:scaling>
          <c:orientation val="minMax"/>
        </c:scaling>
        <c:delete val="1"/>
        <c:axPos val="l"/>
        <c:numFmt formatCode="General" sourceLinked="1"/>
        <c:majorTickMark val="none"/>
        <c:minorTickMark val="none"/>
        <c:tickLblPos val="nextTo"/>
        <c:crossAx val="169952998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Sheet1!$D$3</c:f>
              <c:strCache>
                <c:ptCount val="1"/>
                <c:pt idx="0">
                  <c:v>baseline</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Sheet1!$D$4:$D$9</c:f>
              <c:numCache>
                <c:formatCode>General</c:formatCode>
                <c:ptCount val="6"/>
                <c:pt idx="0">
                  <c:v>2</c:v>
                </c:pt>
                <c:pt idx="1">
                  <c:v>2.2000000000000002</c:v>
                </c:pt>
                <c:pt idx="2">
                  <c:v>2.5</c:v>
                </c:pt>
                <c:pt idx="3">
                  <c:v>3</c:v>
                </c:pt>
                <c:pt idx="4">
                  <c:v>3.5</c:v>
                </c:pt>
                <c:pt idx="5">
                  <c:v>3.8</c:v>
                </c:pt>
              </c:numCache>
            </c:numRef>
          </c:val>
          <c:smooth val="0"/>
          <c:extLst>
            <c:ext xmlns:c16="http://schemas.microsoft.com/office/drawing/2014/chart" uri="{C3380CC4-5D6E-409C-BE32-E72D297353CC}">
              <c16:uniqueId val="{00000000-0467-490C-9130-D3568ECE6295}"/>
            </c:ext>
          </c:extLst>
        </c:ser>
        <c:ser>
          <c:idx val="1"/>
          <c:order val="1"/>
          <c:tx>
            <c:strRef>
              <c:f>Sheet1!$E$3</c:f>
              <c:strCache>
                <c:ptCount val="1"/>
                <c:pt idx="0">
                  <c:v>parallel up</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Sheet1!$E$4:$E$9</c:f>
              <c:numCache>
                <c:formatCode>General</c:formatCode>
                <c:ptCount val="6"/>
                <c:pt idx="0">
                  <c:v>3</c:v>
                </c:pt>
                <c:pt idx="1">
                  <c:v>3.2</c:v>
                </c:pt>
                <c:pt idx="2">
                  <c:v>3.5</c:v>
                </c:pt>
                <c:pt idx="3">
                  <c:v>4</c:v>
                </c:pt>
                <c:pt idx="4">
                  <c:v>4.5</c:v>
                </c:pt>
                <c:pt idx="5">
                  <c:v>4.8</c:v>
                </c:pt>
              </c:numCache>
            </c:numRef>
          </c:val>
          <c:smooth val="0"/>
          <c:extLst>
            <c:ext xmlns:c16="http://schemas.microsoft.com/office/drawing/2014/chart" uri="{C3380CC4-5D6E-409C-BE32-E72D297353CC}">
              <c16:uniqueId val="{00000001-0467-490C-9130-D3568ECE6295}"/>
            </c:ext>
          </c:extLst>
        </c:ser>
        <c:ser>
          <c:idx val="2"/>
          <c:order val="2"/>
          <c:tx>
            <c:strRef>
              <c:f>Sheet1!$F$3</c:f>
              <c:strCache>
                <c:ptCount val="1"/>
                <c:pt idx="0">
                  <c:v>parallel down</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Sheet1!$F$4:$F$9</c:f>
              <c:numCache>
                <c:formatCode>General</c:formatCode>
                <c:ptCount val="6"/>
                <c:pt idx="0">
                  <c:v>1</c:v>
                </c:pt>
                <c:pt idx="1">
                  <c:v>1.2</c:v>
                </c:pt>
                <c:pt idx="2">
                  <c:v>1.5</c:v>
                </c:pt>
                <c:pt idx="3">
                  <c:v>2</c:v>
                </c:pt>
                <c:pt idx="4">
                  <c:v>2.5</c:v>
                </c:pt>
                <c:pt idx="5">
                  <c:v>2.8</c:v>
                </c:pt>
              </c:numCache>
            </c:numRef>
          </c:val>
          <c:smooth val="0"/>
          <c:extLst>
            <c:ext xmlns:c16="http://schemas.microsoft.com/office/drawing/2014/chart" uri="{C3380CC4-5D6E-409C-BE32-E72D297353CC}">
              <c16:uniqueId val="{00000002-0467-490C-9130-D3568ECE6295}"/>
            </c:ext>
          </c:extLst>
        </c:ser>
        <c:ser>
          <c:idx val="3"/>
          <c:order val="3"/>
          <c:tx>
            <c:strRef>
              <c:f>Sheet1!$G$3</c:f>
              <c:strCache>
                <c:ptCount val="1"/>
                <c:pt idx="0">
                  <c:v>steepener</c:v>
                </c:pt>
              </c:strCache>
            </c:strRef>
          </c:tx>
          <c:spPr>
            <a:ln w="25400" cap="rnd">
              <a:solidFill>
                <a:srgbClr val="197B96"/>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Sheet1!$G$4:$G$9</c:f>
              <c:numCache>
                <c:formatCode>General</c:formatCode>
                <c:ptCount val="6"/>
                <c:pt idx="0">
                  <c:v>1.5</c:v>
                </c:pt>
                <c:pt idx="1">
                  <c:v>1.9</c:v>
                </c:pt>
                <c:pt idx="2">
                  <c:v>2.5</c:v>
                </c:pt>
                <c:pt idx="3">
                  <c:v>3.5</c:v>
                </c:pt>
                <c:pt idx="4">
                  <c:v>4.5</c:v>
                </c:pt>
                <c:pt idx="5">
                  <c:v>5</c:v>
                </c:pt>
              </c:numCache>
            </c:numRef>
          </c:val>
          <c:smooth val="0"/>
          <c:extLst>
            <c:ext xmlns:c16="http://schemas.microsoft.com/office/drawing/2014/chart" uri="{C3380CC4-5D6E-409C-BE32-E72D297353CC}">
              <c16:uniqueId val="{00000003-0467-490C-9130-D3568ECE6295}"/>
            </c:ext>
          </c:extLst>
        </c:ser>
        <c:ser>
          <c:idx val="4"/>
          <c:order val="4"/>
          <c:tx>
            <c:strRef>
              <c:f>Sheet1!$H$3</c:f>
              <c:strCache>
                <c:ptCount val="1"/>
                <c:pt idx="0">
                  <c:v>Flattener</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Sheet1!$H$4:$H$9</c:f>
              <c:numCache>
                <c:formatCode>General</c:formatCode>
                <c:ptCount val="6"/>
                <c:pt idx="0">
                  <c:v>2.5</c:v>
                </c:pt>
                <c:pt idx="1">
                  <c:v>2.5</c:v>
                </c:pt>
                <c:pt idx="2">
                  <c:v>2.5</c:v>
                </c:pt>
                <c:pt idx="3">
                  <c:v>2.5</c:v>
                </c:pt>
                <c:pt idx="4">
                  <c:v>2.5</c:v>
                </c:pt>
                <c:pt idx="5">
                  <c:v>2.6</c:v>
                </c:pt>
              </c:numCache>
            </c:numRef>
          </c:val>
          <c:smooth val="0"/>
          <c:extLst>
            <c:ext xmlns:c16="http://schemas.microsoft.com/office/drawing/2014/chart" uri="{C3380CC4-5D6E-409C-BE32-E72D297353CC}">
              <c16:uniqueId val="{00000004-0467-490C-9130-D3568ECE6295}"/>
            </c:ext>
          </c:extLst>
        </c:ser>
        <c:ser>
          <c:idx val="5"/>
          <c:order val="5"/>
          <c:tx>
            <c:strRef>
              <c:f>Sheet1!$I$3</c:f>
              <c:strCache>
                <c:ptCount val="1"/>
                <c:pt idx="0">
                  <c:v>short rates up</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Sheet1!$I$4:$I$9</c:f>
              <c:numCache>
                <c:formatCode>General</c:formatCode>
                <c:ptCount val="6"/>
                <c:pt idx="0">
                  <c:v>3</c:v>
                </c:pt>
                <c:pt idx="1">
                  <c:v>3</c:v>
                </c:pt>
                <c:pt idx="2">
                  <c:v>2.9</c:v>
                </c:pt>
                <c:pt idx="3">
                  <c:v>3.2</c:v>
                </c:pt>
                <c:pt idx="4">
                  <c:v>3.5</c:v>
                </c:pt>
                <c:pt idx="5">
                  <c:v>3.8</c:v>
                </c:pt>
              </c:numCache>
            </c:numRef>
          </c:val>
          <c:smooth val="0"/>
          <c:extLst>
            <c:ext xmlns:c16="http://schemas.microsoft.com/office/drawing/2014/chart" uri="{C3380CC4-5D6E-409C-BE32-E72D297353CC}">
              <c16:uniqueId val="{00000005-0467-490C-9130-D3568ECE6295}"/>
            </c:ext>
          </c:extLst>
        </c:ser>
        <c:ser>
          <c:idx val="6"/>
          <c:order val="6"/>
          <c:tx>
            <c:strRef>
              <c:f>Sheet1!$J$3</c:f>
              <c:strCache>
                <c:ptCount val="1"/>
                <c:pt idx="0">
                  <c:v>short rates down</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Sheet1!$J$4:$J$9</c:f>
              <c:numCache>
                <c:formatCode>General</c:formatCode>
                <c:ptCount val="6"/>
                <c:pt idx="0">
                  <c:v>1</c:v>
                </c:pt>
                <c:pt idx="1">
                  <c:v>1.4</c:v>
                </c:pt>
                <c:pt idx="2">
                  <c:v>2.1</c:v>
                </c:pt>
                <c:pt idx="3">
                  <c:v>2.8</c:v>
                </c:pt>
                <c:pt idx="4">
                  <c:v>3.5</c:v>
                </c:pt>
                <c:pt idx="5">
                  <c:v>3.8</c:v>
                </c:pt>
              </c:numCache>
            </c:numRef>
          </c:val>
          <c:smooth val="0"/>
          <c:extLst>
            <c:ext xmlns:c16="http://schemas.microsoft.com/office/drawing/2014/chart" uri="{C3380CC4-5D6E-409C-BE32-E72D297353CC}">
              <c16:uniqueId val="{00000006-0467-490C-9130-D3568ECE6295}"/>
            </c:ext>
          </c:extLst>
        </c:ser>
        <c:dLbls>
          <c:showLegendKey val="0"/>
          <c:showVal val="0"/>
          <c:showCatName val="0"/>
          <c:showSerName val="0"/>
          <c:showPercent val="0"/>
          <c:showBubbleSize val="0"/>
        </c:dLbls>
        <c:smooth val="0"/>
        <c:axId val="1699529984"/>
        <c:axId val="1699532384"/>
      </c:lineChart>
      <c:catAx>
        <c:axId val="16995299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accent4">
                    <a:lumMod val="10000"/>
                  </a:schemeClr>
                </a:solidFill>
                <a:latin typeface="+mn-lt"/>
                <a:ea typeface="+mn-ea"/>
                <a:cs typeface="+mn-cs"/>
              </a:defRPr>
            </a:pPr>
            <a:endParaRPr lang="fr-FR"/>
          </a:p>
        </c:txPr>
        <c:crossAx val="1699532384"/>
        <c:crosses val="autoZero"/>
        <c:auto val="1"/>
        <c:lblAlgn val="ctr"/>
        <c:lblOffset val="100"/>
        <c:noMultiLvlLbl val="0"/>
      </c:catAx>
      <c:valAx>
        <c:axId val="1699532384"/>
        <c:scaling>
          <c:orientation val="minMax"/>
        </c:scaling>
        <c:delete val="1"/>
        <c:axPos val="l"/>
        <c:numFmt formatCode="General" sourceLinked="1"/>
        <c:majorTickMark val="none"/>
        <c:minorTickMark val="none"/>
        <c:tickLblPos val="nextTo"/>
        <c:crossAx val="169952998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Sheet1!$D$3</c:f>
              <c:strCache>
                <c:ptCount val="1"/>
                <c:pt idx="0">
                  <c:v>baseline</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Sheet1!$D$4:$D$9</c:f>
              <c:numCache>
                <c:formatCode>General</c:formatCode>
                <c:ptCount val="6"/>
                <c:pt idx="0">
                  <c:v>2</c:v>
                </c:pt>
                <c:pt idx="1">
                  <c:v>2.2000000000000002</c:v>
                </c:pt>
                <c:pt idx="2">
                  <c:v>2.5</c:v>
                </c:pt>
                <c:pt idx="3">
                  <c:v>3</c:v>
                </c:pt>
                <c:pt idx="4">
                  <c:v>3.5</c:v>
                </c:pt>
                <c:pt idx="5">
                  <c:v>3.8</c:v>
                </c:pt>
              </c:numCache>
            </c:numRef>
          </c:val>
          <c:smooth val="0"/>
          <c:extLst>
            <c:ext xmlns:c16="http://schemas.microsoft.com/office/drawing/2014/chart" uri="{C3380CC4-5D6E-409C-BE32-E72D297353CC}">
              <c16:uniqueId val="{00000000-0467-490C-9130-D3568ECE6295}"/>
            </c:ext>
          </c:extLst>
        </c:ser>
        <c:ser>
          <c:idx val="1"/>
          <c:order val="1"/>
          <c:tx>
            <c:strRef>
              <c:f>Sheet1!$E$3</c:f>
              <c:strCache>
                <c:ptCount val="1"/>
                <c:pt idx="0">
                  <c:v>parallel up</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Sheet1!$E$4:$E$9</c:f>
              <c:numCache>
                <c:formatCode>General</c:formatCode>
                <c:ptCount val="6"/>
                <c:pt idx="0">
                  <c:v>3</c:v>
                </c:pt>
                <c:pt idx="1">
                  <c:v>3.2</c:v>
                </c:pt>
                <c:pt idx="2">
                  <c:v>3.5</c:v>
                </c:pt>
                <c:pt idx="3">
                  <c:v>4</c:v>
                </c:pt>
                <c:pt idx="4">
                  <c:v>4.5</c:v>
                </c:pt>
                <c:pt idx="5">
                  <c:v>4.8</c:v>
                </c:pt>
              </c:numCache>
            </c:numRef>
          </c:val>
          <c:smooth val="0"/>
          <c:extLst>
            <c:ext xmlns:c16="http://schemas.microsoft.com/office/drawing/2014/chart" uri="{C3380CC4-5D6E-409C-BE32-E72D297353CC}">
              <c16:uniqueId val="{00000001-0467-490C-9130-D3568ECE6295}"/>
            </c:ext>
          </c:extLst>
        </c:ser>
        <c:ser>
          <c:idx val="2"/>
          <c:order val="2"/>
          <c:tx>
            <c:strRef>
              <c:f>Sheet1!$F$3</c:f>
              <c:strCache>
                <c:ptCount val="1"/>
                <c:pt idx="0">
                  <c:v>parallel down</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Sheet1!$F$4:$F$9</c:f>
              <c:numCache>
                <c:formatCode>General</c:formatCode>
                <c:ptCount val="6"/>
                <c:pt idx="0">
                  <c:v>1</c:v>
                </c:pt>
                <c:pt idx="1">
                  <c:v>1.2</c:v>
                </c:pt>
                <c:pt idx="2">
                  <c:v>1.5</c:v>
                </c:pt>
                <c:pt idx="3">
                  <c:v>2</c:v>
                </c:pt>
                <c:pt idx="4">
                  <c:v>2.5</c:v>
                </c:pt>
                <c:pt idx="5">
                  <c:v>2.8</c:v>
                </c:pt>
              </c:numCache>
            </c:numRef>
          </c:val>
          <c:smooth val="0"/>
          <c:extLst>
            <c:ext xmlns:c16="http://schemas.microsoft.com/office/drawing/2014/chart" uri="{C3380CC4-5D6E-409C-BE32-E72D297353CC}">
              <c16:uniqueId val="{00000002-0467-490C-9130-D3568ECE6295}"/>
            </c:ext>
          </c:extLst>
        </c:ser>
        <c:ser>
          <c:idx val="3"/>
          <c:order val="3"/>
          <c:tx>
            <c:strRef>
              <c:f>Sheet1!$G$3</c:f>
              <c:strCache>
                <c:ptCount val="1"/>
                <c:pt idx="0">
                  <c:v>steepener</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Sheet1!$G$4:$G$9</c:f>
              <c:numCache>
                <c:formatCode>General</c:formatCode>
                <c:ptCount val="6"/>
                <c:pt idx="0">
                  <c:v>1.5</c:v>
                </c:pt>
                <c:pt idx="1">
                  <c:v>1.9</c:v>
                </c:pt>
                <c:pt idx="2">
                  <c:v>2.5</c:v>
                </c:pt>
                <c:pt idx="3">
                  <c:v>3.5</c:v>
                </c:pt>
                <c:pt idx="4">
                  <c:v>4.5</c:v>
                </c:pt>
                <c:pt idx="5">
                  <c:v>5</c:v>
                </c:pt>
              </c:numCache>
            </c:numRef>
          </c:val>
          <c:smooth val="0"/>
          <c:extLst>
            <c:ext xmlns:c16="http://schemas.microsoft.com/office/drawing/2014/chart" uri="{C3380CC4-5D6E-409C-BE32-E72D297353CC}">
              <c16:uniqueId val="{00000003-0467-490C-9130-D3568ECE6295}"/>
            </c:ext>
          </c:extLst>
        </c:ser>
        <c:ser>
          <c:idx val="4"/>
          <c:order val="4"/>
          <c:tx>
            <c:strRef>
              <c:f>Sheet1!$H$3</c:f>
              <c:strCache>
                <c:ptCount val="1"/>
                <c:pt idx="0">
                  <c:v>Flattener</c:v>
                </c:pt>
              </c:strCache>
            </c:strRef>
          </c:tx>
          <c:spPr>
            <a:ln w="25400" cap="rnd">
              <a:solidFill>
                <a:srgbClr val="197B96"/>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Sheet1!$H$4:$H$9</c:f>
              <c:numCache>
                <c:formatCode>General</c:formatCode>
                <c:ptCount val="6"/>
                <c:pt idx="0">
                  <c:v>2.5</c:v>
                </c:pt>
                <c:pt idx="1">
                  <c:v>2.5</c:v>
                </c:pt>
                <c:pt idx="2">
                  <c:v>2.5</c:v>
                </c:pt>
                <c:pt idx="3">
                  <c:v>2.5</c:v>
                </c:pt>
                <c:pt idx="4">
                  <c:v>2.5</c:v>
                </c:pt>
                <c:pt idx="5">
                  <c:v>2.6</c:v>
                </c:pt>
              </c:numCache>
            </c:numRef>
          </c:val>
          <c:smooth val="0"/>
          <c:extLst>
            <c:ext xmlns:c16="http://schemas.microsoft.com/office/drawing/2014/chart" uri="{C3380CC4-5D6E-409C-BE32-E72D297353CC}">
              <c16:uniqueId val="{00000004-0467-490C-9130-D3568ECE6295}"/>
            </c:ext>
          </c:extLst>
        </c:ser>
        <c:ser>
          <c:idx val="5"/>
          <c:order val="5"/>
          <c:tx>
            <c:strRef>
              <c:f>Sheet1!$I$3</c:f>
              <c:strCache>
                <c:ptCount val="1"/>
                <c:pt idx="0">
                  <c:v>short rates up</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Sheet1!$I$4:$I$9</c:f>
              <c:numCache>
                <c:formatCode>General</c:formatCode>
                <c:ptCount val="6"/>
                <c:pt idx="0">
                  <c:v>3</c:v>
                </c:pt>
                <c:pt idx="1">
                  <c:v>3</c:v>
                </c:pt>
                <c:pt idx="2">
                  <c:v>2.9</c:v>
                </c:pt>
                <c:pt idx="3">
                  <c:v>3.2</c:v>
                </c:pt>
                <c:pt idx="4">
                  <c:v>3.5</c:v>
                </c:pt>
                <c:pt idx="5">
                  <c:v>3.8</c:v>
                </c:pt>
              </c:numCache>
            </c:numRef>
          </c:val>
          <c:smooth val="0"/>
          <c:extLst>
            <c:ext xmlns:c16="http://schemas.microsoft.com/office/drawing/2014/chart" uri="{C3380CC4-5D6E-409C-BE32-E72D297353CC}">
              <c16:uniqueId val="{00000005-0467-490C-9130-D3568ECE6295}"/>
            </c:ext>
          </c:extLst>
        </c:ser>
        <c:ser>
          <c:idx val="6"/>
          <c:order val="6"/>
          <c:tx>
            <c:strRef>
              <c:f>Sheet1!$J$3</c:f>
              <c:strCache>
                <c:ptCount val="1"/>
                <c:pt idx="0">
                  <c:v>short rates down</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Sheet1!$J$4:$J$9</c:f>
              <c:numCache>
                <c:formatCode>General</c:formatCode>
                <c:ptCount val="6"/>
                <c:pt idx="0">
                  <c:v>1</c:v>
                </c:pt>
                <c:pt idx="1">
                  <c:v>1.4</c:v>
                </c:pt>
                <c:pt idx="2">
                  <c:v>2.1</c:v>
                </c:pt>
                <c:pt idx="3">
                  <c:v>2.8</c:v>
                </c:pt>
                <c:pt idx="4">
                  <c:v>3.5</c:v>
                </c:pt>
                <c:pt idx="5">
                  <c:v>3.8</c:v>
                </c:pt>
              </c:numCache>
            </c:numRef>
          </c:val>
          <c:smooth val="0"/>
          <c:extLst>
            <c:ext xmlns:c16="http://schemas.microsoft.com/office/drawing/2014/chart" uri="{C3380CC4-5D6E-409C-BE32-E72D297353CC}">
              <c16:uniqueId val="{00000006-0467-490C-9130-D3568ECE6295}"/>
            </c:ext>
          </c:extLst>
        </c:ser>
        <c:dLbls>
          <c:showLegendKey val="0"/>
          <c:showVal val="0"/>
          <c:showCatName val="0"/>
          <c:showSerName val="0"/>
          <c:showPercent val="0"/>
          <c:showBubbleSize val="0"/>
        </c:dLbls>
        <c:smooth val="0"/>
        <c:axId val="1699529984"/>
        <c:axId val="1699532384"/>
      </c:lineChart>
      <c:catAx>
        <c:axId val="16995299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accent4">
                    <a:lumMod val="10000"/>
                  </a:schemeClr>
                </a:solidFill>
                <a:latin typeface="+mn-lt"/>
                <a:ea typeface="+mn-ea"/>
                <a:cs typeface="+mn-cs"/>
              </a:defRPr>
            </a:pPr>
            <a:endParaRPr lang="fr-FR"/>
          </a:p>
        </c:txPr>
        <c:crossAx val="1699532384"/>
        <c:crosses val="autoZero"/>
        <c:auto val="1"/>
        <c:lblAlgn val="ctr"/>
        <c:lblOffset val="100"/>
        <c:noMultiLvlLbl val="0"/>
      </c:catAx>
      <c:valAx>
        <c:axId val="1699532384"/>
        <c:scaling>
          <c:orientation val="minMax"/>
        </c:scaling>
        <c:delete val="1"/>
        <c:axPos val="l"/>
        <c:numFmt formatCode="General" sourceLinked="1"/>
        <c:majorTickMark val="none"/>
        <c:minorTickMark val="none"/>
        <c:tickLblPos val="nextTo"/>
        <c:crossAx val="169952998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Sheet1!$D$3</c:f>
              <c:strCache>
                <c:ptCount val="1"/>
                <c:pt idx="0">
                  <c:v>baseline</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Sheet1!$D$4:$D$9</c:f>
              <c:numCache>
                <c:formatCode>General</c:formatCode>
                <c:ptCount val="6"/>
                <c:pt idx="0">
                  <c:v>2</c:v>
                </c:pt>
                <c:pt idx="1">
                  <c:v>2.2000000000000002</c:v>
                </c:pt>
                <c:pt idx="2">
                  <c:v>2.5</c:v>
                </c:pt>
                <c:pt idx="3">
                  <c:v>3</c:v>
                </c:pt>
                <c:pt idx="4">
                  <c:v>3.5</c:v>
                </c:pt>
                <c:pt idx="5">
                  <c:v>3.8</c:v>
                </c:pt>
              </c:numCache>
            </c:numRef>
          </c:val>
          <c:smooth val="0"/>
          <c:extLst>
            <c:ext xmlns:c16="http://schemas.microsoft.com/office/drawing/2014/chart" uri="{C3380CC4-5D6E-409C-BE32-E72D297353CC}">
              <c16:uniqueId val="{00000000-0467-490C-9130-D3568ECE6295}"/>
            </c:ext>
          </c:extLst>
        </c:ser>
        <c:ser>
          <c:idx val="1"/>
          <c:order val="1"/>
          <c:tx>
            <c:strRef>
              <c:f>Sheet1!$E$3</c:f>
              <c:strCache>
                <c:ptCount val="1"/>
                <c:pt idx="0">
                  <c:v>parallel up</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Sheet1!$E$4:$E$9</c:f>
              <c:numCache>
                <c:formatCode>General</c:formatCode>
                <c:ptCount val="6"/>
                <c:pt idx="0">
                  <c:v>3</c:v>
                </c:pt>
                <c:pt idx="1">
                  <c:v>3.2</c:v>
                </c:pt>
                <c:pt idx="2">
                  <c:v>3.5</c:v>
                </c:pt>
                <c:pt idx="3">
                  <c:v>4</c:v>
                </c:pt>
                <c:pt idx="4">
                  <c:v>4.5</c:v>
                </c:pt>
                <c:pt idx="5">
                  <c:v>4.8</c:v>
                </c:pt>
              </c:numCache>
            </c:numRef>
          </c:val>
          <c:smooth val="0"/>
          <c:extLst>
            <c:ext xmlns:c16="http://schemas.microsoft.com/office/drawing/2014/chart" uri="{C3380CC4-5D6E-409C-BE32-E72D297353CC}">
              <c16:uniqueId val="{00000001-0467-490C-9130-D3568ECE6295}"/>
            </c:ext>
          </c:extLst>
        </c:ser>
        <c:ser>
          <c:idx val="2"/>
          <c:order val="2"/>
          <c:tx>
            <c:strRef>
              <c:f>Sheet1!$F$3</c:f>
              <c:strCache>
                <c:ptCount val="1"/>
                <c:pt idx="0">
                  <c:v>parallel down</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Sheet1!$F$4:$F$9</c:f>
              <c:numCache>
                <c:formatCode>General</c:formatCode>
                <c:ptCount val="6"/>
                <c:pt idx="0">
                  <c:v>1</c:v>
                </c:pt>
                <c:pt idx="1">
                  <c:v>1.2</c:v>
                </c:pt>
                <c:pt idx="2">
                  <c:v>1.5</c:v>
                </c:pt>
                <c:pt idx="3">
                  <c:v>2</c:v>
                </c:pt>
                <c:pt idx="4">
                  <c:v>2.5</c:v>
                </c:pt>
                <c:pt idx="5">
                  <c:v>2.8</c:v>
                </c:pt>
              </c:numCache>
            </c:numRef>
          </c:val>
          <c:smooth val="0"/>
          <c:extLst>
            <c:ext xmlns:c16="http://schemas.microsoft.com/office/drawing/2014/chart" uri="{C3380CC4-5D6E-409C-BE32-E72D297353CC}">
              <c16:uniqueId val="{00000002-0467-490C-9130-D3568ECE6295}"/>
            </c:ext>
          </c:extLst>
        </c:ser>
        <c:ser>
          <c:idx val="3"/>
          <c:order val="3"/>
          <c:tx>
            <c:strRef>
              <c:f>Sheet1!$G$3</c:f>
              <c:strCache>
                <c:ptCount val="1"/>
                <c:pt idx="0">
                  <c:v>steepener</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Sheet1!$G$4:$G$9</c:f>
              <c:numCache>
                <c:formatCode>General</c:formatCode>
                <c:ptCount val="6"/>
                <c:pt idx="0">
                  <c:v>1.5</c:v>
                </c:pt>
                <c:pt idx="1">
                  <c:v>1.9</c:v>
                </c:pt>
                <c:pt idx="2">
                  <c:v>2.5</c:v>
                </c:pt>
                <c:pt idx="3">
                  <c:v>3.5</c:v>
                </c:pt>
                <c:pt idx="4">
                  <c:v>4.5</c:v>
                </c:pt>
                <c:pt idx="5">
                  <c:v>5</c:v>
                </c:pt>
              </c:numCache>
            </c:numRef>
          </c:val>
          <c:smooth val="0"/>
          <c:extLst>
            <c:ext xmlns:c16="http://schemas.microsoft.com/office/drawing/2014/chart" uri="{C3380CC4-5D6E-409C-BE32-E72D297353CC}">
              <c16:uniqueId val="{00000003-0467-490C-9130-D3568ECE6295}"/>
            </c:ext>
          </c:extLst>
        </c:ser>
        <c:ser>
          <c:idx val="4"/>
          <c:order val="4"/>
          <c:tx>
            <c:strRef>
              <c:f>Sheet1!$H$3</c:f>
              <c:strCache>
                <c:ptCount val="1"/>
                <c:pt idx="0">
                  <c:v>Flattener</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Sheet1!$H$4:$H$9</c:f>
              <c:numCache>
                <c:formatCode>General</c:formatCode>
                <c:ptCount val="6"/>
                <c:pt idx="0">
                  <c:v>2.5</c:v>
                </c:pt>
                <c:pt idx="1">
                  <c:v>2.5</c:v>
                </c:pt>
                <c:pt idx="2">
                  <c:v>2.5</c:v>
                </c:pt>
                <c:pt idx="3">
                  <c:v>2.5</c:v>
                </c:pt>
                <c:pt idx="4">
                  <c:v>2.5</c:v>
                </c:pt>
                <c:pt idx="5">
                  <c:v>2.6</c:v>
                </c:pt>
              </c:numCache>
            </c:numRef>
          </c:val>
          <c:smooth val="0"/>
          <c:extLst>
            <c:ext xmlns:c16="http://schemas.microsoft.com/office/drawing/2014/chart" uri="{C3380CC4-5D6E-409C-BE32-E72D297353CC}">
              <c16:uniqueId val="{00000004-0467-490C-9130-D3568ECE6295}"/>
            </c:ext>
          </c:extLst>
        </c:ser>
        <c:ser>
          <c:idx val="5"/>
          <c:order val="5"/>
          <c:tx>
            <c:strRef>
              <c:f>Sheet1!$I$3</c:f>
              <c:strCache>
                <c:ptCount val="1"/>
                <c:pt idx="0">
                  <c:v>short rates up</c:v>
                </c:pt>
              </c:strCache>
            </c:strRef>
          </c:tx>
          <c:spPr>
            <a:ln w="25400" cap="rnd">
              <a:solidFill>
                <a:srgbClr val="197B96"/>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Sheet1!$I$4:$I$9</c:f>
              <c:numCache>
                <c:formatCode>General</c:formatCode>
                <c:ptCount val="6"/>
                <c:pt idx="0">
                  <c:v>3</c:v>
                </c:pt>
                <c:pt idx="1">
                  <c:v>3</c:v>
                </c:pt>
                <c:pt idx="2">
                  <c:v>2.9</c:v>
                </c:pt>
                <c:pt idx="3">
                  <c:v>3.2</c:v>
                </c:pt>
                <c:pt idx="4">
                  <c:v>3.5</c:v>
                </c:pt>
                <c:pt idx="5">
                  <c:v>3.8</c:v>
                </c:pt>
              </c:numCache>
            </c:numRef>
          </c:val>
          <c:smooth val="0"/>
          <c:extLst>
            <c:ext xmlns:c16="http://schemas.microsoft.com/office/drawing/2014/chart" uri="{C3380CC4-5D6E-409C-BE32-E72D297353CC}">
              <c16:uniqueId val="{00000005-0467-490C-9130-D3568ECE6295}"/>
            </c:ext>
          </c:extLst>
        </c:ser>
        <c:ser>
          <c:idx val="6"/>
          <c:order val="6"/>
          <c:tx>
            <c:strRef>
              <c:f>Sheet1!$J$3</c:f>
              <c:strCache>
                <c:ptCount val="1"/>
                <c:pt idx="0">
                  <c:v>short rates down</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Sheet1!$J$4:$J$9</c:f>
              <c:numCache>
                <c:formatCode>General</c:formatCode>
                <c:ptCount val="6"/>
                <c:pt idx="0">
                  <c:v>1</c:v>
                </c:pt>
                <c:pt idx="1">
                  <c:v>1.4</c:v>
                </c:pt>
                <c:pt idx="2">
                  <c:v>2.1</c:v>
                </c:pt>
                <c:pt idx="3">
                  <c:v>2.8</c:v>
                </c:pt>
                <c:pt idx="4">
                  <c:v>3.5</c:v>
                </c:pt>
                <c:pt idx="5">
                  <c:v>3.8</c:v>
                </c:pt>
              </c:numCache>
            </c:numRef>
          </c:val>
          <c:smooth val="0"/>
          <c:extLst>
            <c:ext xmlns:c16="http://schemas.microsoft.com/office/drawing/2014/chart" uri="{C3380CC4-5D6E-409C-BE32-E72D297353CC}">
              <c16:uniqueId val="{00000006-0467-490C-9130-D3568ECE6295}"/>
            </c:ext>
          </c:extLst>
        </c:ser>
        <c:dLbls>
          <c:showLegendKey val="0"/>
          <c:showVal val="0"/>
          <c:showCatName val="0"/>
          <c:showSerName val="0"/>
          <c:showPercent val="0"/>
          <c:showBubbleSize val="0"/>
        </c:dLbls>
        <c:smooth val="0"/>
        <c:axId val="1699529984"/>
        <c:axId val="1699532384"/>
      </c:lineChart>
      <c:catAx>
        <c:axId val="16995299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accent4">
                    <a:lumMod val="10000"/>
                  </a:schemeClr>
                </a:solidFill>
                <a:latin typeface="+mn-lt"/>
                <a:ea typeface="+mn-ea"/>
                <a:cs typeface="+mn-cs"/>
              </a:defRPr>
            </a:pPr>
            <a:endParaRPr lang="fr-FR"/>
          </a:p>
        </c:txPr>
        <c:crossAx val="1699532384"/>
        <c:crosses val="autoZero"/>
        <c:auto val="1"/>
        <c:lblAlgn val="ctr"/>
        <c:lblOffset val="100"/>
        <c:noMultiLvlLbl val="0"/>
      </c:catAx>
      <c:valAx>
        <c:axId val="1699532384"/>
        <c:scaling>
          <c:orientation val="minMax"/>
        </c:scaling>
        <c:delete val="1"/>
        <c:axPos val="l"/>
        <c:numFmt formatCode="General" sourceLinked="1"/>
        <c:majorTickMark val="none"/>
        <c:minorTickMark val="none"/>
        <c:tickLblPos val="nextTo"/>
        <c:crossAx val="169952998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Sheet1!$D$3</c:f>
              <c:strCache>
                <c:ptCount val="1"/>
                <c:pt idx="0">
                  <c:v>baseline</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Sheet1!$D$4:$D$9</c:f>
              <c:numCache>
                <c:formatCode>General</c:formatCode>
                <c:ptCount val="6"/>
                <c:pt idx="0">
                  <c:v>2</c:v>
                </c:pt>
                <c:pt idx="1">
                  <c:v>2.2000000000000002</c:v>
                </c:pt>
                <c:pt idx="2">
                  <c:v>2.5</c:v>
                </c:pt>
                <c:pt idx="3">
                  <c:v>3</c:v>
                </c:pt>
                <c:pt idx="4">
                  <c:v>3.5</c:v>
                </c:pt>
                <c:pt idx="5">
                  <c:v>3.8</c:v>
                </c:pt>
              </c:numCache>
            </c:numRef>
          </c:val>
          <c:smooth val="0"/>
          <c:extLst>
            <c:ext xmlns:c16="http://schemas.microsoft.com/office/drawing/2014/chart" uri="{C3380CC4-5D6E-409C-BE32-E72D297353CC}">
              <c16:uniqueId val="{00000000-0467-490C-9130-D3568ECE6295}"/>
            </c:ext>
          </c:extLst>
        </c:ser>
        <c:ser>
          <c:idx val="1"/>
          <c:order val="1"/>
          <c:tx>
            <c:strRef>
              <c:f>Sheet1!$E$3</c:f>
              <c:strCache>
                <c:ptCount val="1"/>
                <c:pt idx="0">
                  <c:v>parallel up</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Sheet1!$E$4:$E$9</c:f>
              <c:numCache>
                <c:formatCode>General</c:formatCode>
                <c:ptCount val="6"/>
                <c:pt idx="0">
                  <c:v>3</c:v>
                </c:pt>
                <c:pt idx="1">
                  <c:v>3.2</c:v>
                </c:pt>
                <c:pt idx="2">
                  <c:v>3.5</c:v>
                </c:pt>
                <c:pt idx="3">
                  <c:v>4</c:v>
                </c:pt>
                <c:pt idx="4">
                  <c:v>4.5</c:v>
                </c:pt>
                <c:pt idx="5">
                  <c:v>4.8</c:v>
                </c:pt>
              </c:numCache>
            </c:numRef>
          </c:val>
          <c:smooth val="0"/>
          <c:extLst>
            <c:ext xmlns:c16="http://schemas.microsoft.com/office/drawing/2014/chart" uri="{C3380CC4-5D6E-409C-BE32-E72D297353CC}">
              <c16:uniqueId val="{00000001-0467-490C-9130-D3568ECE6295}"/>
            </c:ext>
          </c:extLst>
        </c:ser>
        <c:ser>
          <c:idx val="2"/>
          <c:order val="2"/>
          <c:tx>
            <c:strRef>
              <c:f>Sheet1!$F$3</c:f>
              <c:strCache>
                <c:ptCount val="1"/>
                <c:pt idx="0">
                  <c:v>parallel down</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Sheet1!$F$4:$F$9</c:f>
              <c:numCache>
                <c:formatCode>General</c:formatCode>
                <c:ptCount val="6"/>
                <c:pt idx="0">
                  <c:v>1</c:v>
                </c:pt>
                <c:pt idx="1">
                  <c:v>1.2</c:v>
                </c:pt>
                <c:pt idx="2">
                  <c:v>1.5</c:v>
                </c:pt>
                <c:pt idx="3">
                  <c:v>2</c:v>
                </c:pt>
                <c:pt idx="4">
                  <c:v>2.5</c:v>
                </c:pt>
                <c:pt idx="5">
                  <c:v>2.8</c:v>
                </c:pt>
              </c:numCache>
            </c:numRef>
          </c:val>
          <c:smooth val="0"/>
          <c:extLst>
            <c:ext xmlns:c16="http://schemas.microsoft.com/office/drawing/2014/chart" uri="{C3380CC4-5D6E-409C-BE32-E72D297353CC}">
              <c16:uniqueId val="{00000002-0467-490C-9130-D3568ECE6295}"/>
            </c:ext>
          </c:extLst>
        </c:ser>
        <c:ser>
          <c:idx val="3"/>
          <c:order val="3"/>
          <c:tx>
            <c:strRef>
              <c:f>Sheet1!$G$3</c:f>
              <c:strCache>
                <c:ptCount val="1"/>
                <c:pt idx="0">
                  <c:v>steepener</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Sheet1!$G$4:$G$9</c:f>
              <c:numCache>
                <c:formatCode>General</c:formatCode>
                <c:ptCount val="6"/>
                <c:pt idx="0">
                  <c:v>1.5</c:v>
                </c:pt>
                <c:pt idx="1">
                  <c:v>1.9</c:v>
                </c:pt>
                <c:pt idx="2">
                  <c:v>2.5</c:v>
                </c:pt>
                <c:pt idx="3">
                  <c:v>3.5</c:v>
                </c:pt>
                <c:pt idx="4">
                  <c:v>4.5</c:v>
                </c:pt>
                <c:pt idx="5">
                  <c:v>5</c:v>
                </c:pt>
              </c:numCache>
            </c:numRef>
          </c:val>
          <c:smooth val="0"/>
          <c:extLst>
            <c:ext xmlns:c16="http://schemas.microsoft.com/office/drawing/2014/chart" uri="{C3380CC4-5D6E-409C-BE32-E72D297353CC}">
              <c16:uniqueId val="{00000003-0467-490C-9130-D3568ECE6295}"/>
            </c:ext>
          </c:extLst>
        </c:ser>
        <c:ser>
          <c:idx val="4"/>
          <c:order val="4"/>
          <c:tx>
            <c:strRef>
              <c:f>Sheet1!$H$3</c:f>
              <c:strCache>
                <c:ptCount val="1"/>
                <c:pt idx="0">
                  <c:v>Flattener</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Sheet1!$H$4:$H$9</c:f>
              <c:numCache>
                <c:formatCode>General</c:formatCode>
                <c:ptCount val="6"/>
                <c:pt idx="0">
                  <c:v>2.5</c:v>
                </c:pt>
                <c:pt idx="1">
                  <c:v>2.5</c:v>
                </c:pt>
                <c:pt idx="2">
                  <c:v>2.5</c:v>
                </c:pt>
                <c:pt idx="3">
                  <c:v>2.5</c:v>
                </c:pt>
                <c:pt idx="4">
                  <c:v>2.5</c:v>
                </c:pt>
                <c:pt idx="5">
                  <c:v>2.6</c:v>
                </c:pt>
              </c:numCache>
            </c:numRef>
          </c:val>
          <c:smooth val="0"/>
          <c:extLst>
            <c:ext xmlns:c16="http://schemas.microsoft.com/office/drawing/2014/chart" uri="{C3380CC4-5D6E-409C-BE32-E72D297353CC}">
              <c16:uniqueId val="{00000004-0467-490C-9130-D3568ECE6295}"/>
            </c:ext>
          </c:extLst>
        </c:ser>
        <c:ser>
          <c:idx val="5"/>
          <c:order val="5"/>
          <c:tx>
            <c:strRef>
              <c:f>Sheet1!$I$3</c:f>
              <c:strCache>
                <c:ptCount val="1"/>
                <c:pt idx="0">
                  <c:v>short rates up</c:v>
                </c:pt>
              </c:strCache>
            </c:strRef>
          </c:tx>
          <c:spPr>
            <a:ln w="12700" cap="rnd">
              <a:solidFill>
                <a:schemeClr val="bg1">
                  <a:lumMod val="65000"/>
                </a:schemeClr>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Sheet1!$I$4:$I$9</c:f>
              <c:numCache>
                <c:formatCode>General</c:formatCode>
                <c:ptCount val="6"/>
                <c:pt idx="0">
                  <c:v>3</c:v>
                </c:pt>
                <c:pt idx="1">
                  <c:v>3</c:v>
                </c:pt>
                <c:pt idx="2">
                  <c:v>2.9</c:v>
                </c:pt>
                <c:pt idx="3">
                  <c:v>3.2</c:v>
                </c:pt>
                <c:pt idx="4">
                  <c:v>3.5</c:v>
                </c:pt>
                <c:pt idx="5">
                  <c:v>3.8</c:v>
                </c:pt>
              </c:numCache>
            </c:numRef>
          </c:val>
          <c:smooth val="0"/>
          <c:extLst>
            <c:ext xmlns:c16="http://schemas.microsoft.com/office/drawing/2014/chart" uri="{C3380CC4-5D6E-409C-BE32-E72D297353CC}">
              <c16:uniqueId val="{00000005-0467-490C-9130-D3568ECE6295}"/>
            </c:ext>
          </c:extLst>
        </c:ser>
        <c:ser>
          <c:idx val="6"/>
          <c:order val="6"/>
          <c:tx>
            <c:strRef>
              <c:f>Sheet1!$J$3</c:f>
              <c:strCache>
                <c:ptCount val="1"/>
                <c:pt idx="0">
                  <c:v>short rates down</c:v>
                </c:pt>
              </c:strCache>
            </c:strRef>
          </c:tx>
          <c:spPr>
            <a:ln w="25400" cap="rnd">
              <a:solidFill>
                <a:srgbClr val="197B96"/>
              </a:solidFill>
              <a:round/>
            </a:ln>
            <a:effectLst/>
          </c:spPr>
          <c:marker>
            <c:symbol val="none"/>
          </c:marker>
          <c:cat>
            <c:numRef>
              <c:f>Sheet1!$C$4:$C$9</c:f>
              <c:numCache>
                <c:formatCode>General</c:formatCode>
                <c:ptCount val="6"/>
                <c:pt idx="0">
                  <c:v>1</c:v>
                </c:pt>
                <c:pt idx="1">
                  <c:v>2</c:v>
                </c:pt>
                <c:pt idx="2">
                  <c:v>5</c:v>
                </c:pt>
                <c:pt idx="3">
                  <c:v>10</c:v>
                </c:pt>
                <c:pt idx="4">
                  <c:v>20</c:v>
                </c:pt>
                <c:pt idx="5">
                  <c:v>30</c:v>
                </c:pt>
              </c:numCache>
            </c:numRef>
          </c:cat>
          <c:val>
            <c:numRef>
              <c:f>Sheet1!$J$4:$J$9</c:f>
              <c:numCache>
                <c:formatCode>General</c:formatCode>
                <c:ptCount val="6"/>
                <c:pt idx="0">
                  <c:v>1</c:v>
                </c:pt>
                <c:pt idx="1">
                  <c:v>1.4</c:v>
                </c:pt>
                <c:pt idx="2">
                  <c:v>2.1</c:v>
                </c:pt>
                <c:pt idx="3">
                  <c:v>2.8</c:v>
                </c:pt>
                <c:pt idx="4">
                  <c:v>3.5</c:v>
                </c:pt>
                <c:pt idx="5">
                  <c:v>3.8</c:v>
                </c:pt>
              </c:numCache>
            </c:numRef>
          </c:val>
          <c:smooth val="0"/>
          <c:extLst>
            <c:ext xmlns:c16="http://schemas.microsoft.com/office/drawing/2014/chart" uri="{C3380CC4-5D6E-409C-BE32-E72D297353CC}">
              <c16:uniqueId val="{00000006-0467-490C-9130-D3568ECE6295}"/>
            </c:ext>
          </c:extLst>
        </c:ser>
        <c:dLbls>
          <c:showLegendKey val="0"/>
          <c:showVal val="0"/>
          <c:showCatName val="0"/>
          <c:showSerName val="0"/>
          <c:showPercent val="0"/>
          <c:showBubbleSize val="0"/>
        </c:dLbls>
        <c:smooth val="0"/>
        <c:axId val="1699529984"/>
        <c:axId val="1699532384"/>
      </c:lineChart>
      <c:catAx>
        <c:axId val="16995299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accent4">
                    <a:lumMod val="10000"/>
                  </a:schemeClr>
                </a:solidFill>
                <a:latin typeface="+mn-lt"/>
                <a:ea typeface="+mn-ea"/>
                <a:cs typeface="+mn-cs"/>
              </a:defRPr>
            </a:pPr>
            <a:endParaRPr lang="fr-FR"/>
          </a:p>
        </c:txPr>
        <c:crossAx val="1699532384"/>
        <c:crosses val="autoZero"/>
        <c:auto val="1"/>
        <c:lblAlgn val="ctr"/>
        <c:lblOffset val="100"/>
        <c:noMultiLvlLbl val="0"/>
      </c:catAx>
      <c:valAx>
        <c:axId val="1699532384"/>
        <c:scaling>
          <c:orientation val="minMax"/>
        </c:scaling>
        <c:delete val="1"/>
        <c:axPos val="l"/>
        <c:numFmt formatCode="General" sourceLinked="1"/>
        <c:majorTickMark val="none"/>
        <c:minorTickMark val="none"/>
        <c:tickLblPos val="nextTo"/>
        <c:crossAx val="169952998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fr-FR"/>
              <a:t>Scénarios</a:t>
            </a:r>
            <a:r>
              <a:rPr lang="fr-FR" baseline="0"/>
              <a:t> de chocs de taux d'intérêts au 31/12/2023</a:t>
            </a:r>
            <a:endParaRPr lang="fr-F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fr-FR"/>
        </a:p>
      </c:txPr>
    </c:title>
    <c:autoTitleDeleted val="0"/>
    <c:plotArea>
      <c:layout/>
      <c:lineChart>
        <c:grouping val="standard"/>
        <c:varyColors val="0"/>
        <c:ser>
          <c:idx val="0"/>
          <c:order val="0"/>
          <c:tx>
            <c:strRef>
              <c:f>'[Loomis prod IRRBB.xlsx]Courbe EUR (2)'!$A$12</c:f>
              <c:strCache>
                <c:ptCount val="1"/>
                <c:pt idx="0">
                  <c:v>Baseline</c:v>
                </c:pt>
              </c:strCache>
            </c:strRef>
          </c:tx>
          <c:spPr>
            <a:ln w="28575" cap="rnd">
              <a:solidFill>
                <a:schemeClr val="tx1"/>
              </a:solidFill>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(2)'!$B$12:$T$12</c:f>
              <c:numCache>
                <c:formatCode>0.00%</c:formatCode>
                <c:ptCount val="19"/>
                <c:pt idx="0">
                  <c:v>3.882E-2</c:v>
                </c:pt>
                <c:pt idx="1">
                  <c:v>3.8625E-2</c:v>
                </c:pt>
                <c:pt idx="2">
                  <c:v>3.884E-2</c:v>
                </c:pt>
                <c:pt idx="3">
                  <c:v>3.9050000000000001E-2</c:v>
                </c:pt>
                <c:pt idx="4">
                  <c:v>3.7746248506317262E-2</c:v>
                </c:pt>
                <c:pt idx="5">
                  <c:v>3.5538745518951795E-2</c:v>
                </c:pt>
                <c:pt idx="6">
                  <c:v>3.5456450003672535E-2</c:v>
                </c:pt>
                <c:pt idx="7">
                  <c:v>3.7499361960479483E-2</c:v>
                </c:pt>
                <c:pt idx="8">
                  <c:v>3.1868350096543652E-2</c:v>
                </c:pt>
                <c:pt idx="9">
                  <c:v>2.4779797609203458E-2</c:v>
                </c:pt>
                <c:pt idx="10">
                  <c:v>2.4222631114737991E-2</c:v>
                </c:pt>
                <c:pt idx="11">
                  <c:v>2.4103101710475139E-2</c:v>
                </c:pt>
                <c:pt idx="12">
                  <c:v>2.4159931196286344E-2</c:v>
                </c:pt>
                <c:pt idx="13">
                  <c:v>2.4310970162659151E-2</c:v>
                </c:pt>
                <c:pt idx="14">
                  <c:v>2.4511995765496453E-2</c:v>
                </c:pt>
                <c:pt idx="15">
                  <c:v>2.4749764915319106E-2</c:v>
                </c:pt>
                <c:pt idx="16">
                  <c:v>2.5269141678025187E-2</c:v>
                </c:pt>
                <c:pt idx="17">
                  <c:v>2.5326048260952638E-2</c:v>
                </c:pt>
                <c:pt idx="18">
                  <c:v>2.3866345010194467E-2</c:v>
                </c:pt>
              </c:numCache>
            </c:numRef>
          </c:val>
          <c:smooth val="0"/>
          <c:extLst>
            <c:ext xmlns:c16="http://schemas.microsoft.com/office/drawing/2014/chart" uri="{C3380CC4-5D6E-409C-BE32-E72D297353CC}">
              <c16:uniqueId val="{00000000-ECCE-44D7-8C4F-E63D2190433F}"/>
            </c:ext>
          </c:extLst>
        </c:ser>
        <c:ser>
          <c:idx val="1"/>
          <c:order val="1"/>
          <c:tx>
            <c:strRef>
              <c:f>'[Loomis prod IRRBB.xlsx]Courbe EUR (2)'!$A$13</c:f>
              <c:strCache>
                <c:ptCount val="1"/>
                <c:pt idx="0">
                  <c:v>Scénario parallel Up</c:v>
                </c:pt>
              </c:strCache>
            </c:strRef>
          </c:tx>
          <c:spPr>
            <a:ln w="28575" cap="rnd">
              <a:solidFill>
                <a:srgbClr val="92D050"/>
              </a:solidFill>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(2)'!$B$13:$T$13</c:f>
              <c:numCache>
                <c:formatCode>0.00%</c:formatCode>
                <c:ptCount val="19"/>
                <c:pt idx="0">
                  <c:v>5.8819999999999997E-2</c:v>
                </c:pt>
                <c:pt idx="1">
                  <c:v>5.8624999999999997E-2</c:v>
                </c:pt>
                <c:pt idx="2">
                  <c:v>5.8840000000000003E-2</c:v>
                </c:pt>
                <c:pt idx="3">
                  <c:v>5.9050000000000005E-2</c:v>
                </c:pt>
                <c:pt idx="4">
                  <c:v>5.7746248506317266E-2</c:v>
                </c:pt>
                <c:pt idx="5">
                  <c:v>5.5538745518951799E-2</c:v>
                </c:pt>
                <c:pt idx="6">
                  <c:v>5.5456450003672539E-2</c:v>
                </c:pt>
                <c:pt idx="7">
                  <c:v>5.7499361960479486E-2</c:v>
                </c:pt>
                <c:pt idx="8">
                  <c:v>5.1868350096543656E-2</c:v>
                </c:pt>
                <c:pt idx="9">
                  <c:v>4.4779797609203462E-2</c:v>
                </c:pt>
                <c:pt idx="10">
                  <c:v>4.4222631114737995E-2</c:v>
                </c:pt>
                <c:pt idx="11">
                  <c:v>4.4103101710475143E-2</c:v>
                </c:pt>
                <c:pt idx="12">
                  <c:v>4.4159931196286348E-2</c:v>
                </c:pt>
                <c:pt idx="13">
                  <c:v>4.4310970162659155E-2</c:v>
                </c:pt>
                <c:pt idx="14">
                  <c:v>4.4511995765496457E-2</c:v>
                </c:pt>
                <c:pt idx="15">
                  <c:v>4.474976491531911E-2</c:v>
                </c:pt>
                <c:pt idx="16">
                  <c:v>4.526914167802519E-2</c:v>
                </c:pt>
                <c:pt idx="17">
                  <c:v>4.5326048260952642E-2</c:v>
                </c:pt>
                <c:pt idx="18">
                  <c:v>4.3866345010194471E-2</c:v>
                </c:pt>
              </c:numCache>
            </c:numRef>
          </c:val>
          <c:smooth val="0"/>
          <c:extLst>
            <c:ext xmlns:c16="http://schemas.microsoft.com/office/drawing/2014/chart" uri="{C3380CC4-5D6E-409C-BE32-E72D297353CC}">
              <c16:uniqueId val="{00000001-ECCE-44D7-8C4F-E63D2190433F}"/>
            </c:ext>
          </c:extLst>
        </c:ser>
        <c:ser>
          <c:idx val="2"/>
          <c:order val="2"/>
          <c:tx>
            <c:strRef>
              <c:f>'[Loomis prod IRRBB.xlsx]Courbe EUR (2)'!$A$14</c:f>
              <c:strCache>
                <c:ptCount val="1"/>
                <c:pt idx="0">
                  <c:v>Scénario parallel Down</c:v>
                </c:pt>
              </c:strCache>
            </c:strRef>
          </c:tx>
          <c:spPr>
            <a:ln w="28575" cap="rnd">
              <a:solidFill>
                <a:srgbClr val="FF0000"/>
              </a:solidFill>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(2)'!$B$14:$T$14</c:f>
              <c:numCache>
                <c:formatCode>0.00%</c:formatCode>
                <c:ptCount val="19"/>
                <c:pt idx="0">
                  <c:v>1.882E-2</c:v>
                </c:pt>
                <c:pt idx="1">
                  <c:v>1.8624999999999999E-2</c:v>
                </c:pt>
                <c:pt idx="2">
                  <c:v>1.8839999999999999E-2</c:v>
                </c:pt>
                <c:pt idx="3">
                  <c:v>1.9050000000000001E-2</c:v>
                </c:pt>
                <c:pt idx="4">
                  <c:v>1.7746248506317262E-2</c:v>
                </c:pt>
                <c:pt idx="5">
                  <c:v>1.5538745518951794E-2</c:v>
                </c:pt>
                <c:pt idx="6">
                  <c:v>1.5456450003672535E-2</c:v>
                </c:pt>
                <c:pt idx="7">
                  <c:v>1.7499361960479482E-2</c:v>
                </c:pt>
                <c:pt idx="8">
                  <c:v>1.1868350096543651E-2</c:v>
                </c:pt>
                <c:pt idx="9">
                  <c:v>4.7797976092034573E-3</c:v>
                </c:pt>
                <c:pt idx="10">
                  <c:v>4.2226311147379909E-3</c:v>
                </c:pt>
                <c:pt idx="11">
                  <c:v>4.1031017104751384E-3</c:v>
                </c:pt>
                <c:pt idx="12">
                  <c:v>4.1599311962863435E-3</c:v>
                </c:pt>
                <c:pt idx="13">
                  <c:v>4.3109701626591508E-3</c:v>
                </c:pt>
                <c:pt idx="14">
                  <c:v>4.5119957654964522E-3</c:v>
                </c:pt>
                <c:pt idx="15">
                  <c:v>4.7497649153191053E-3</c:v>
                </c:pt>
                <c:pt idx="16">
                  <c:v>5.2691416780251861E-3</c:v>
                </c:pt>
                <c:pt idx="17">
                  <c:v>5.3260482609526379E-3</c:v>
                </c:pt>
                <c:pt idx="18">
                  <c:v>3.866345010194467E-3</c:v>
                </c:pt>
              </c:numCache>
            </c:numRef>
          </c:val>
          <c:smooth val="0"/>
          <c:extLst>
            <c:ext xmlns:c16="http://schemas.microsoft.com/office/drawing/2014/chart" uri="{C3380CC4-5D6E-409C-BE32-E72D297353CC}">
              <c16:uniqueId val="{00000002-ECCE-44D7-8C4F-E63D2190433F}"/>
            </c:ext>
          </c:extLst>
        </c:ser>
        <c:ser>
          <c:idx val="3"/>
          <c:order val="3"/>
          <c:tx>
            <c:strRef>
              <c:f>'[Loomis prod IRRBB.xlsx]Courbe EUR (2)'!$A$15</c:f>
              <c:strCache>
                <c:ptCount val="1"/>
                <c:pt idx="0">
                  <c:v>Steepener</c:v>
                </c:pt>
              </c:strCache>
            </c:strRef>
          </c:tx>
          <c:spPr>
            <a:ln w="28575" cap="rnd">
              <a:solidFill>
                <a:srgbClr val="0070C0"/>
              </a:solidFill>
              <a:prstDash val="sysDot"/>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(2)'!$B$15:$T$15</c:f>
              <c:numCache>
                <c:formatCode>0.00%</c:formatCode>
                <c:ptCount val="19"/>
                <c:pt idx="0">
                  <c:v>2.2587528635186122E-2</c:v>
                </c:pt>
                <c:pt idx="1">
                  <c:v>2.2636655677396336E-2</c:v>
                </c:pt>
                <c:pt idx="2">
                  <c:v>2.362046620799426E-2</c:v>
                </c:pt>
                <c:pt idx="3">
                  <c:v>2.5059613375154138E-2</c:v>
                </c:pt>
                <c:pt idx="4">
                  <c:v>2.514877899180484E-2</c:v>
                </c:pt>
                <c:pt idx="5">
                  <c:v>2.4249800533303008E-2</c:v>
                </c:pt>
                <c:pt idx="6">
                  <c:v>2.598315537276983E-2</c:v>
                </c:pt>
                <c:pt idx="7">
                  <c:v>3.0196736668175204E-2</c:v>
                </c:pt>
                <c:pt idx="8">
                  <c:v>2.7352999026439145E-2</c:v>
                </c:pt>
                <c:pt idx="9">
                  <c:v>2.3254031612321122E-2</c:v>
                </c:pt>
                <c:pt idx="10">
                  <c:v>2.5025156313939659E-2</c:v>
                </c:pt>
                <c:pt idx="11">
                  <c:v>2.6718901916405288E-2</c:v>
                </c:pt>
                <c:pt idx="12">
                  <c:v>2.8187911397380444E-2</c:v>
                </c:pt>
                <c:pt idx="13">
                  <c:v>2.9438757249824709E-2</c:v>
                </c:pt>
                <c:pt idx="14">
                  <c:v>3.0496313316761781E-2</c:v>
                </c:pt>
                <c:pt idx="15">
                  <c:v>3.140114906274985E-2</c:v>
                </c:pt>
                <c:pt idx="16">
                  <c:v>3.3159734104034153E-2</c:v>
                </c:pt>
                <c:pt idx="17">
                  <c:v>3.4008197669331178E-2</c:v>
                </c:pt>
                <c:pt idx="18">
                  <c:v>3.2817601043254721E-2</c:v>
                </c:pt>
              </c:numCache>
            </c:numRef>
          </c:val>
          <c:smooth val="0"/>
          <c:extLst>
            <c:ext xmlns:c16="http://schemas.microsoft.com/office/drawing/2014/chart" uri="{C3380CC4-5D6E-409C-BE32-E72D297353CC}">
              <c16:uniqueId val="{00000003-ECCE-44D7-8C4F-E63D2190433F}"/>
            </c:ext>
          </c:extLst>
        </c:ser>
        <c:ser>
          <c:idx val="4"/>
          <c:order val="4"/>
          <c:tx>
            <c:strRef>
              <c:f>'[Loomis prod IRRBB.xlsx]Courbe EUR (2)'!$A$16</c:f>
              <c:strCache>
                <c:ptCount val="1"/>
                <c:pt idx="0">
                  <c:v>Flattener</c:v>
                </c:pt>
              </c:strCache>
            </c:strRef>
          </c:tx>
          <c:spPr>
            <a:ln w="28575" cap="rnd">
              <a:solidFill>
                <a:schemeClr val="accent2">
                  <a:lumMod val="75000"/>
                </a:schemeClr>
              </a:solidFill>
              <a:prstDash val="sysDot"/>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(2)'!$B$16:$T$16</c:f>
              <c:numCache>
                <c:formatCode>0.00%</c:formatCode>
                <c:ptCount val="19"/>
                <c:pt idx="0">
                  <c:v>5.8801950712283599E-2</c:v>
                </c:pt>
                <c:pt idx="1">
                  <c:v>5.8355572371789913E-2</c:v>
                </c:pt>
                <c:pt idx="2">
                  <c:v>5.7778925884837594E-2</c:v>
                </c:pt>
                <c:pt idx="3">
                  <c:v>5.6723269395880883E-2</c:v>
                </c:pt>
                <c:pt idx="4">
                  <c:v>5.3985227016310249E-2</c:v>
                </c:pt>
                <c:pt idx="5">
                  <c:v>5.043033243486738E-2</c:v>
                </c:pt>
                <c:pt idx="6">
                  <c:v>4.847845635628522E-2</c:v>
                </c:pt>
                <c:pt idx="7">
                  <c:v>4.8286223647604674E-2</c:v>
                </c:pt>
                <c:pt idx="8">
                  <c:v>3.9785147238037402E-2</c:v>
                </c:pt>
                <c:pt idx="9">
                  <c:v>2.961821012084468E-2</c:v>
                </c:pt>
                <c:pt idx="10">
                  <c:v>2.6663595266055082E-2</c:v>
                </c:pt>
                <c:pt idx="11">
                  <c:v>2.467693120139855E-2</c:v>
                </c:pt>
                <c:pt idx="12">
                  <c:v>2.3279634751595391E-2</c:v>
                </c:pt>
                <c:pt idx="13">
                  <c:v>2.2298199300627292E-2</c:v>
                </c:pt>
                <c:pt idx="14">
                  <c:v>2.1617252940431163E-2</c:v>
                </c:pt>
                <c:pt idx="15">
                  <c:v>2.1168141634796359E-2</c:v>
                </c:pt>
                <c:pt idx="16">
                  <c:v>2.041150195223378E-2</c:v>
                </c:pt>
                <c:pt idx="17">
                  <c:v>1.9653339959255924E-2</c:v>
                </c:pt>
                <c:pt idx="18">
                  <c:v>1.7916536817736389E-2</c:v>
                </c:pt>
              </c:numCache>
            </c:numRef>
          </c:val>
          <c:smooth val="0"/>
          <c:extLst>
            <c:ext xmlns:c16="http://schemas.microsoft.com/office/drawing/2014/chart" uri="{C3380CC4-5D6E-409C-BE32-E72D297353CC}">
              <c16:uniqueId val="{00000004-ECCE-44D7-8C4F-E63D2190433F}"/>
            </c:ext>
          </c:extLst>
        </c:ser>
        <c:ser>
          <c:idx val="5"/>
          <c:order val="5"/>
          <c:tx>
            <c:strRef>
              <c:f>'[Loomis prod IRRBB.xlsx]Courbe EUR (2)'!$A$17</c:f>
              <c:strCache>
                <c:ptCount val="1"/>
                <c:pt idx="0">
                  <c:v>Short rates up</c:v>
                </c:pt>
              </c:strCache>
            </c:strRef>
          </c:tx>
          <c:spPr>
            <a:ln w="28575" cap="rnd">
              <a:solidFill>
                <a:srgbClr val="00B0F0"/>
              </a:solidFill>
              <a:prstDash val="dash"/>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(2)'!$B$17:$T$17</c:f>
              <c:numCache>
                <c:formatCode>0.00%</c:formatCode>
                <c:ptCount val="19"/>
                <c:pt idx="0">
                  <c:v>6.3802644915657306E-2</c:v>
                </c:pt>
                <c:pt idx="1">
                  <c:v>6.3365934972874918E-2</c:v>
                </c:pt>
                <c:pt idx="2">
                  <c:v>6.2819736427728451E-2</c:v>
                </c:pt>
                <c:pt idx="3">
                  <c:v>6.1812759034500855E-2</c:v>
                </c:pt>
                <c:pt idx="4">
                  <c:v>5.9129881689002822E-2</c:v>
                </c:pt>
                <c:pt idx="5">
                  <c:v>5.5626809861178315E-2</c:v>
                </c:pt>
                <c:pt idx="6">
                  <c:v>5.3746840727338582E-2</c:v>
                </c:pt>
                <c:pt idx="7">
                  <c:v>5.3640575121176787E-2</c:v>
                </c:pt>
                <c:pt idx="8">
                  <c:v>4.5249885809518407E-2</c:v>
                </c:pt>
                <c:pt idx="9">
                  <c:v>3.5201348101166166E-2</c:v>
                </c:pt>
                <c:pt idx="10">
                  <c:v>3.2338942798696736E-2</c:v>
                </c:pt>
                <c:pt idx="11">
                  <c:v>3.0424091605593801E-2</c:v>
                </c:pt>
                <c:pt idx="12">
                  <c:v>2.9082723076391197E-2</c:v>
                </c:pt>
                <c:pt idx="13">
                  <c:v>2.8144844333782365E-2</c:v>
                </c:pt>
                <c:pt idx="14">
                  <c:v>2.7497819972164442E-2</c:v>
                </c:pt>
                <c:pt idx="15">
                  <c:v>2.7075127145585694E-2</c:v>
                </c:pt>
                <c:pt idx="16">
                  <c:v>2.6367565018610373E-2</c:v>
                </c:pt>
                <c:pt idx="17">
                  <c:v>2.5640751817013488E-2</c:v>
                </c:pt>
                <c:pt idx="18">
                  <c:v>2.3914606363600162E-2</c:v>
                </c:pt>
              </c:numCache>
            </c:numRef>
          </c:val>
          <c:smooth val="0"/>
          <c:extLst>
            <c:ext xmlns:c16="http://schemas.microsoft.com/office/drawing/2014/chart" uri="{C3380CC4-5D6E-409C-BE32-E72D297353CC}">
              <c16:uniqueId val="{00000005-ECCE-44D7-8C4F-E63D2190433F}"/>
            </c:ext>
          </c:extLst>
        </c:ser>
        <c:ser>
          <c:idx val="6"/>
          <c:order val="6"/>
          <c:tx>
            <c:strRef>
              <c:f>'[Loomis prod IRRBB.xlsx]Courbe EUR (2)'!$A$18</c:f>
              <c:strCache>
                <c:ptCount val="1"/>
                <c:pt idx="0">
                  <c:v>Short rates down</c:v>
                </c:pt>
              </c:strCache>
            </c:strRef>
          </c:tx>
          <c:spPr>
            <a:ln w="28575" cap="rnd">
              <a:solidFill>
                <a:srgbClr val="7030A0"/>
              </a:solidFill>
              <a:prstDash val="dash"/>
              <a:round/>
            </a:ln>
            <a:effectLst/>
          </c:spPr>
          <c:marker>
            <c:symbol val="none"/>
          </c:marker>
          <c:cat>
            <c:strRef>
              <c:f>'[Loomis prod IRRBB.xlsx]Courbe EUR (2)'!$B$11:$T$11</c:f>
              <c:strCache>
                <c:ptCount val="19"/>
                <c:pt idx="0">
                  <c:v>JJ</c:v>
                </c:pt>
                <c:pt idx="1">
                  <c:v>JJ - 1M</c:v>
                </c:pt>
                <c:pt idx="2">
                  <c:v>1M -3M</c:v>
                </c:pt>
                <c:pt idx="3">
                  <c:v>3M-6M</c:v>
                </c:pt>
                <c:pt idx="4">
                  <c:v>6M-9M</c:v>
                </c:pt>
                <c:pt idx="5">
                  <c:v>9M-12M</c:v>
                </c:pt>
                <c:pt idx="6">
                  <c:v>12M -1,5Y</c:v>
                </c:pt>
                <c:pt idx="7">
                  <c:v>1,5Y-2Y</c:v>
                </c:pt>
                <c:pt idx="8">
                  <c:v>2Y-3Y</c:v>
                </c:pt>
                <c:pt idx="9">
                  <c:v>3Y-4Y</c:v>
                </c:pt>
                <c:pt idx="10">
                  <c:v>4Y-5Y</c:v>
                </c:pt>
                <c:pt idx="11">
                  <c:v>5Y-6Y</c:v>
                </c:pt>
                <c:pt idx="12">
                  <c:v>6Y-7Y</c:v>
                </c:pt>
                <c:pt idx="13">
                  <c:v>7Y-8Y</c:v>
                </c:pt>
                <c:pt idx="14">
                  <c:v>8Y-9Y</c:v>
                </c:pt>
                <c:pt idx="15">
                  <c:v>9Y-10Y</c:v>
                </c:pt>
                <c:pt idx="16">
                  <c:v>10Y-15Y</c:v>
                </c:pt>
                <c:pt idx="17">
                  <c:v>15Y-20Y</c:v>
                </c:pt>
                <c:pt idx="18">
                  <c:v>20Y+</c:v>
                </c:pt>
              </c:strCache>
            </c:strRef>
          </c:cat>
          <c:val>
            <c:numRef>
              <c:f>'[Loomis prod IRRBB.xlsx]Courbe EUR (2)'!$B$18:$T$18</c:f>
              <c:numCache>
                <c:formatCode>0.000%</c:formatCode>
                <c:ptCount val="19"/>
                <c:pt idx="0">
                  <c:v>1.3837355084342695E-2</c:v>
                </c:pt>
                <c:pt idx="1">
                  <c:v>1.3884065027125084E-2</c:v>
                </c:pt>
                <c:pt idx="2">
                  <c:v>1.4860263572271545E-2</c:v>
                </c:pt>
                <c:pt idx="3">
                  <c:v>1.6287240965499147E-2</c:v>
                </c:pt>
                <c:pt idx="4">
                  <c:v>1.6362615323631698E-2</c:v>
                </c:pt>
                <c:pt idx="5">
                  <c:v>1.5450681176725274E-2</c:v>
                </c:pt>
                <c:pt idx="6">
                  <c:v>1.7166059280006491E-2</c:v>
                </c:pt>
                <c:pt idx="7">
                  <c:v>2.1358148799782182E-2</c:v>
                </c:pt>
                <c:pt idx="8">
                  <c:v>1.8486814383568896E-2</c:v>
                </c:pt>
                <c:pt idx="9">
                  <c:v>1.4358247117240748E-2</c:v>
                </c:pt>
                <c:pt idx="10">
                  <c:v>1.6106319430779246E-2</c:v>
                </c:pt>
                <c:pt idx="11">
                  <c:v>1.7782111815356477E-2</c:v>
                </c:pt>
                <c:pt idx="12">
                  <c:v>1.9237139316181491E-2</c:v>
                </c:pt>
                <c:pt idx="13">
                  <c:v>2.0477095991535937E-2</c:v>
                </c:pt>
                <c:pt idx="14">
                  <c:v>2.1526171558828463E-2</c:v>
                </c:pt>
                <c:pt idx="15">
                  <c:v>2.2424402685052518E-2</c:v>
                </c:pt>
                <c:pt idx="16">
                  <c:v>2.417071833744E-2</c:v>
                </c:pt>
                <c:pt idx="17">
                  <c:v>2.5011344704891789E-2</c:v>
                </c:pt>
                <c:pt idx="18">
                  <c:v>2.3818083656788773E-2</c:v>
                </c:pt>
              </c:numCache>
            </c:numRef>
          </c:val>
          <c:smooth val="0"/>
          <c:extLst>
            <c:ext xmlns:c16="http://schemas.microsoft.com/office/drawing/2014/chart" uri="{C3380CC4-5D6E-409C-BE32-E72D297353CC}">
              <c16:uniqueId val="{00000006-ECCE-44D7-8C4F-E63D2190433F}"/>
            </c:ext>
          </c:extLst>
        </c:ser>
        <c:dLbls>
          <c:showLegendKey val="0"/>
          <c:showVal val="0"/>
          <c:showCatName val="0"/>
          <c:showSerName val="0"/>
          <c:showPercent val="0"/>
          <c:showBubbleSize val="0"/>
        </c:dLbls>
        <c:smooth val="0"/>
        <c:axId val="1423340800"/>
        <c:axId val="1423341280"/>
      </c:lineChart>
      <c:catAx>
        <c:axId val="14233408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crossAx val="1423341280"/>
        <c:crosses val="autoZero"/>
        <c:auto val="1"/>
        <c:lblAlgn val="ctr"/>
        <c:lblOffset val="100"/>
        <c:noMultiLvlLbl val="0"/>
      </c:catAx>
      <c:valAx>
        <c:axId val="1423341280"/>
        <c:scaling>
          <c:orientation val="minMax"/>
        </c:scaling>
        <c:delete val="0"/>
        <c:axPos val="l"/>
        <c:majorGridlines>
          <c:spPr>
            <a:ln w="9525" cap="flat" cmpd="sng" algn="ctr">
              <a:solidFill>
                <a:schemeClr val="tx1">
                  <a:lumMod val="15000"/>
                  <a:lumOff val="85000"/>
                </a:schemeClr>
              </a:solidFill>
              <a:round/>
            </a:ln>
            <a:effectLst/>
          </c:spPr>
        </c:majorGridlines>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crossAx val="142334080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rgbClr val="115264">
          <a:lumMod val="50000"/>
        </a:srgbClr>
      </a:solidFill>
    </a:ln>
    <a:effectLst/>
  </c:spPr>
  <c:txPr>
    <a:bodyPr/>
    <a:lstStyle/>
    <a:p>
      <a:pPr>
        <a:defRPr/>
      </a:pPr>
      <a:endParaRPr lang="fr-FR"/>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10.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a:extLst>
              <a:ext uri="{FF2B5EF4-FFF2-40B4-BE49-F238E27FC236}">
                <a16:creationId xmlns:a16="http://schemas.microsoft.com/office/drawing/2014/main" id="{CB159B2C-5D3C-5CA5-1B69-88A035EDF006}"/>
              </a:ext>
            </a:extLst>
          </p:cNvPr>
          <p:cNvSpPr>
            <a:spLocks noGrp="1"/>
          </p:cNvSpPr>
          <p:nvPr>
            <p:ph type="hdr" sz="quarter"/>
          </p:nvPr>
        </p:nvSpPr>
        <p:spPr>
          <a:xfrm>
            <a:off x="0" y="0"/>
            <a:ext cx="3170238" cy="481013"/>
          </a:xfrm>
          <a:prstGeom prst="rect">
            <a:avLst/>
          </a:prstGeom>
        </p:spPr>
        <p:txBody>
          <a:bodyPr vert="horz" lIns="91440" tIns="45720" rIns="91440" bIns="45720" rtlCol="0"/>
          <a:lstStyle>
            <a:lvl1pPr algn="l">
              <a:defRPr sz="1200"/>
            </a:lvl1pPr>
          </a:lstStyle>
          <a:p>
            <a:endParaRPr lang="fr-FR"/>
          </a:p>
        </p:txBody>
      </p:sp>
      <p:sp>
        <p:nvSpPr>
          <p:cNvPr id="3" name="Espace réservé de la date 2">
            <a:extLst>
              <a:ext uri="{FF2B5EF4-FFF2-40B4-BE49-F238E27FC236}">
                <a16:creationId xmlns:a16="http://schemas.microsoft.com/office/drawing/2014/main" id="{7CD932A5-7CE4-8A46-03CA-AB6BD5B59A01}"/>
              </a:ext>
            </a:extLst>
          </p:cNvPr>
          <p:cNvSpPr>
            <a:spLocks noGrp="1"/>
          </p:cNvSpPr>
          <p:nvPr>
            <p:ph type="dt" sz="quarter" idx="1"/>
          </p:nvPr>
        </p:nvSpPr>
        <p:spPr>
          <a:xfrm>
            <a:off x="4143375" y="0"/>
            <a:ext cx="3170238" cy="481013"/>
          </a:xfrm>
          <a:prstGeom prst="rect">
            <a:avLst/>
          </a:prstGeom>
        </p:spPr>
        <p:txBody>
          <a:bodyPr vert="horz" lIns="91440" tIns="45720" rIns="91440" bIns="45720" rtlCol="0"/>
          <a:lstStyle>
            <a:lvl1pPr algn="r">
              <a:defRPr sz="1200"/>
            </a:lvl1pPr>
          </a:lstStyle>
          <a:p>
            <a:fld id="{574FEF87-6C43-4A1D-AA77-F905160DDD60}" type="datetimeFigureOut">
              <a:rPr lang="fr-FR" smtClean="0"/>
              <a:t>12/01/2026</a:t>
            </a:fld>
            <a:endParaRPr lang="fr-FR"/>
          </a:p>
        </p:txBody>
      </p:sp>
      <p:sp>
        <p:nvSpPr>
          <p:cNvPr id="4" name="Espace réservé du pied de page 3">
            <a:extLst>
              <a:ext uri="{FF2B5EF4-FFF2-40B4-BE49-F238E27FC236}">
                <a16:creationId xmlns:a16="http://schemas.microsoft.com/office/drawing/2014/main" id="{D83602CB-AA2A-9973-8CFA-2FCB05C9872D}"/>
              </a:ext>
            </a:extLst>
          </p:cNvPr>
          <p:cNvSpPr>
            <a:spLocks noGrp="1"/>
          </p:cNvSpPr>
          <p:nvPr>
            <p:ph type="ftr" sz="quarter" idx="2"/>
          </p:nvPr>
        </p:nvSpPr>
        <p:spPr>
          <a:xfrm>
            <a:off x="0" y="9120188"/>
            <a:ext cx="3170238" cy="481012"/>
          </a:xfrm>
          <a:prstGeom prst="rect">
            <a:avLst/>
          </a:prstGeom>
        </p:spPr>
        <p:txBody>
          <a:bodyPr vert="horz" lIns="91440" tIns="45720" rIns="91440" bIns="45720" rtlCol="0" anchor="b"/>
          <a:lstStyle>
            <a:lvl1pPr algn="l">
              <a:defRPr sz="1200"/>
            </a:lvl1pPr>
          </a:lstStyle>
          <a:p>
            <a:endParaRPr lang="fr-FR"/>
          </a:p>
        </p:txBody>
      </p:sp>
      <p:sp>
        <p:nvSpPr>
          <p:cNvPr id="5" name="Espace réservé du numéro de diapositive 4">
            <a:extLst>
              <a:ext uri="{FF2B5EF4-FFF2-40B4-BE49-F238E27FC236}">
                <a16:creationId xmlns:a16="http://schemas.microsoft.com/office/drawing/2014/main" id="{76DE7225-3BA0-9E34-F2A4-AF7851597567}"/>
              </a:ext>
            </a:extLst>
          </p:cNvPr>
          <p:cNvSpPr>
            <a:spLocks noGrp="1"/>
          </p:cNvSpPr>
          <p:nvPr>
            <p:ph type="sldNum" sz="quarter" idx="3"/>
          </p:nvPr>
        </p:nvSpPr>
        <p:spPr>
          <a:xfrm>
            <a:off x="4143375" y="9120188"/>
            <a:ext cx="3170238" cy="481012"/>
          </a:xfrm>
          <a:prstGeom prst="rect">
            <a:avLst/>
          </a:prstGeom>
        </p:spPr>
        <p:txBody>
          <a:bodyPr vert="horz" lIns="91440" tIns="45720" rIns="91440" bIns="45720" rtlCol="0" anchor="b"/>
          <a:lstStyle>
            <a:lvl1pPr algn="r">
              <a:defRPr sz="1200"/>
            </a:lvl1pPr>
          </a:lstStyle>
          <a:p>
            <a:fld id="{2DBE08B1-B0E5-45B9-8FD3-E64DF4A1CB38}" type="slidenum">
              <a:rPr lang="fr-FR" smtClean="0"/>
              <a:t>‹N°›</a:t>
            </a:fld>
            <a:endParaRPr lang="fr-FR"/>
          </a:p>
        </p:txBody>
      </p:sp>
    </p:spTree>
    <p:extLst>
      <p:ext uri="{BB962C8B-B14F-4D97-AF65-F5344CB8AC3E}">
        <p14:creationId xmlns:p14="http://schemas.microsoft.com/office/powerpoint/2010/main" val="307611645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txBox="1">
            <a:spLocks noGrp="1"/>
          </p:cNvSpPr>
          <p:nvPr>
            <p:ph type="hdr" idx="2"/>
          </p:nvPr>
        </p:nvSpPr>
        <p:spPr>
          <a:xfrm>
            <a:off x="0" y="0"/>
            <a:ext cx="3169920" cy="481727"/>
          </a:xfrm>
          <a:prstGeom prst="rect">
            <a:avLst/>
          </a:prstGeom>
          <a:noFill/>
          <a:ln>
            <a:noFill/>
          </a:ln>
        </p:spPr>
        <p:txBody>
          <a:bodyPr spcFirstLastPara="1" wrap="square" lIns="96645" tIns="48309" rIns="96645" bIns="48309" anchor="t" anchorCtr="0">
            <a:noAutofit/>
          </a:bodyPr>
          <a:lstStyle>
            <a:lvl1pPr marR="0" lvl="0" algn="l" rtl="0">
              <a:spcBef>
                <a:spcPts val="0"/>
              </a:spcBef>
              <a:spcAft>
                <a:spcPts val="0"/>
              </a:spcAft>
              <a:buSzPts val="1400"/>
              <a:buNone/>
              <a:defRPr sz="1300" b="0" i="0" u="none" strike="noStrike" cap="none">
                <a:solidFill>
                  <a:schemeClr val="dk1"/>
                </a:solidFill>
                <a:latin typeface="Calibri"/>
                <a:ea typeface="Calibri"/>
                <a:cs typeface="Calibri"/>
                <a:sym typeface="Calibri"/>
              </a:defRPr>
            </a:lvl1pPr>
            <a:lvl2pPr marR="0" lvl="1"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9pPr>
          </a:lstStyle>
          <a:p>
            <a:endParaRPr/>
          </a:p>
        </p:txBody>
      </p:sp>
      <p:sp>
        <p:nvSpPr>
          <p:cNvPr id="4" name="Google Shape;4;n"/>
          <p:cNvSpPr txBox="1">
            <a:spLocks noGrp="1"/>
          </p:cNvSpPr>
          <p:nvPr>
            <p:ph type="dt" idx="10"/>
          </p:nvPr>
        </p:nvSpPr>
        <p:spPr>
          <a:xfrm>
            <a:off x="4143587" y="0"/>
            <a:ext cx="3169920" cy="481727"/>
          </a:xfrm>
          <a:prstGeom prst="rect">
            <a:avLst/>
          </a:prstGeom>
          <a:noFill/>
          <a:ln>
            <a:noFill/>
          </a:ln>
        </p:spPr>
        <p:txBody>
          <a:bodyPr spcFirstLastPara="1" wrap="square" lIns="96645" tIns="48309" rIns="96645" bIns="48309" anchor="t" anchorCtr="0">
            <a:noAutofit/>
          </a:bodyPr>
          <a:lstStyle>
            <a:lvl1pPr marR="0" lvl="0" algn="r" rtl="0">
              <a:spcBef>
                <a:spcPts val="0"/>
              </a:spcBef>
              <a:spcAft>
                <a:spcPts val="0"/>
              </a:spcAft>
              <a:buSzPts val="1400"/>
              <a:buNone/>
              <a:defRPr sz="1300" b="0" i="0" u="none" strike="noStrike" cap="none">
                <a:solidFill>
                  <a:schemeClr val="dk1"/>
                </a:solidFill>
                <a:latin typeface="Calibri"/>
                <a:ea typeface="Calibri"/>
                <a:cs typeface="Calibri"/>
                <a:sym typeface="Calibri"/>
              </a:defRPr>
            </a:lvl1pPr>
            <a:lvl2pPr marR="0" lvl="1"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9pPr>
          </a:lstStyle>
          <a:p>
            <a:endParaRPr/>
          </a:p>
        </p:txBody>
      </p:sp>
      <p:sp>
        <p:nvSpPr>
          <p:cNvPr id="5" name="Google Shape;5;n"/>
          <p:cNvSpPr>
            <a:spLocks noGrp="1" noRot="1" noChangeAspect="1"/>
          </p:cNvSpPr>
          <p:nvPr>
            <p:ph type="sldImg" idx="3"/>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 name="Google Shape;6;n"/>
          <p:cNvSpPr txBox="1">
            <a:spLocks noGrp="1"/>
          </p:cNvSpPr>
          <p:nvPr>
            <p:ph type="body" idx="1"/>
          </p:nvPr>
        </p:nvSpPr>
        <p:spPr>
          <a:xfrm>
            <a:off x="731520" y="4620577"/>
            <a:ext cx="5852160" cy="3780473"/>
          </a:xfrm>
          <a:prstGeom prst="rect">
            <a:avLst/>
          </a:prstGeom>
          <a:noFill/>
          <a:ln>
            <a:noFill/>
          </a:ln>
        </p:spPr>
        <p:txBody>
          <a:bodyPr spcFirstLastPara="1" wrap="square" lIns="96645" tIns="48309" rIns="96645" bIns="48309" anchor="t" anchorCtr="0">
            <a:noAutofit/>
          </a:bodyPr>
          <a:lstStyle>
            <a:lvl1pPr marL="457200" marR="0" lvl="0"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1pPr>
            <a:lvl2pPr marL="914400" marR="0" lvl="1"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2pPr>
            <a:lvl3pPr marL="1371600" marR="0" lvl="2"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3pPr>
            <a:lvl4pPr marL="1828800" marR="0" lvl="3"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4pPr>
            <a:lvl5pPr marL="2286000" marR="0" lvl="4"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5pPr>
            <a:lvl6pPr marL="2743200" marR="0" lvl="5"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6pPr>
            <a:lvl7pPr marL="3200400" marR="0" lvl="6"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7pPr>
            <a:lvl8pPr marL="3657600" marR="0" lvl="7"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8pPr>
            <a:lvl9pPr marL="4114800" marR="0" lvl="8"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9pPr>
          </a:lstStyle>
          <a:p>
            <a:endParaRPr/>
          </a:p>
        </p:txBody>
      </p:sp>
      <p:sp>
        <p:nvSpPr>
          <p:cNvPr id="7" name="Google Shape;7;n"/>
          <p:cNvSpPr txBox="1">
            <a:spLocks noGrp="1"/>
          </p:cNvSpPr>
          <p:nvPr>
            <p:ph type="ftr" idx="11"/>
          </p:nvPr>
        </p:nvSpPr>
        <p:spPr>
          <a:xfrm>
            <a:off x="0" y="9119474"/>
            <a:ext cx="3169920" cy="481726"/>
          </a:xfrm>
          <a:prstGeom prst="rect">
            <a:avLst/>
          </a:prstGeom>
          <a:noFill/>
          <a:ln>
            <a:noFill/>
          </a:ln>
        </p:spPr>
        <p:txBody>
          <a:bodyPr spcFirstLastPara="1" wrap="square" lIns="96645" tIns="48309" rIns="96645" bIns="48309" anchor="b" anchorCtr="0">
            <a:noAutofit/>
          </a:bodyPr>
          <a:lstStyle>
            <a:lvl1pPr marR="0" lvl="0" algn="l" rtl="0">
              <a:spcBef>
                <a:spcPts val="0"/>
              </a:spcBef>
              <a:spcAft>
                <a:spcPts val="0"/>
              </a:spcAft>
              <a:buSzPts val="1400"/>
              <a:buNone/>
              <a:defRPr sz="1300" b="0" i="0" u="none" strike="noStrike" cap="none">
                <a:solidFill>
                  <a:schemeClr val="dk1"/>
                </a:solidFill>
                <a:latin typeface="Calibri"/>
                <a:ea typeface="Calibri"/>
                <a:cs typeface="Calibri"/>
                <a:sym typeface="Calibri"/>
              </a:defRPr>
            </a:lvl1pPr>
            <a:lvl2pPr marR="0" lvl="1"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900" b="0" i="0" u="none" strike="noStrike" cap="none">
                <a:solidFill>
                  <a:schemeClr val="dk1"/>
                </a:solidFill>
                <a:latin typeface="Calibri"/>
                <a:ea typeface="Calibri"/>
                <a:cs typeface="Calibri"/>
                <a:sym typeface="Calibri"/>
              </a:defRPr>
            </a:lvl9pPr>
          </a:lstStyle>
          <a:p>
            <a:endParaRPr/>
          </a:p>
        </p:txBody>
      </p:sp>
      <p:sp>
        <p:nvSpPr>
          <p:cNvPr id="8" name="Google Shape;8;n"/>
          <p:cNvSpPr txBox="1">
            <a:spLocks noGrp="1"/>
          </p:cNvSpPr>
          <p:nvPr>
            <p:ph type="sldNum" idx="12"/>
          </p:nvPr>
        </p:nvSpPr>
        <p:spPr>
          <a:xfrm>
            <a:off x="4143587" y="9119474"/>
            <a:ext cx="3169920" cy="481726"/>
          </a:xfrm>
          <a:prstGeom prst="rect">
            <a:avLst/>
          </a:prstGeom>
          <a:noFill/>
          <a:ln>
            <a:noFill/>
          </a:ln>
        </p:spPr>
        <p:txBody>
          <a:bodyPr spcFirstLastPara="1" wrap="square" lIns="96645" tIns="48309" rIns="96645" bIns="48309" anchor="b" anchorCtr="0">
            <a:noAutofit/>
          </a:bodyPr>
          <a:lstStyle/>
          <a:p>
            <a:pPr algn="r"/>
            <a:fld id="{00000000-1234-1234-1234-123412341234}" type="slidenum">
              <a:rPr lang="en-US" sz="1300" smtClean="0">
                <a:solidFill>
                  <a:schemeClr val="dk1"/>
                </a:solidFill>
                <a:latin typeface="Calibri"/>
                <a:ea typeface="Calibri"/>
                <a:cs typeface="Calibri"/>
                <a:sym typeface="Calibri"/>
              </a:rPr>
              <a:pPr algn="r"/>
              <a:t>‹N°›</a:t>
            </a:fld>
            <a:endParaRPr lang="en-US" sz="130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244037689"/>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idx="12"/>
          </p:nvPr>
        </p:nvSpPr>
        <p:spPr/>
        <p:txBody>
          <a:bodyPr/>
          <a:lstStyle/>
          <a:p>
            <a:pPr algn="r"/>
            <a:fld id="{00000000-1234-1234-1234-123412341234}" type="slidenum">
              <a:rPr lang="en-US" sz="1300" smtClean="0">
                <a:solidFill>
                  <a:schemeClr val="dk1"/>
                </a:solidFill>
                <a:latin typeface="Calibri"/>
                <a:ea typeface="Calibri"/>
                <a:cs typeface="Calibri"/>
                <a:sym typeface="Calibri"/>
              </a:rPr>
              <a:pPr algn="r"/>
              <a:t>1</a:t>
            </a:fld>
            <a:endParaRPr lang="en-US" sz="130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759170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2</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53123283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3</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43621423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4</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4308019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5</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4260595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6</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39758068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7</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4707608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8</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55231176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9</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43803757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10</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35761086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11</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53055833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12</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6176164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13</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67645638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14</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50803858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15</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66635518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16</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64396841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17</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60774938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18</a:t>
            </a:fld>
            <a:endParaRPr lang="fr-FR"/>
          </a:p>
        </p:txBody>
      </p:sp>
    </p:spTree>
    <p:extLst>
      <p:ext uri="{BB962C8B-B14F-4D97-AF65-F5344CB8AC3E}">
        <p14:creationId xmlns:p14="http://schemas.microsoft.com/office/powerpoint/2010/main" val="349650961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19</a:t>
            </a:fld>
            <a:endParaRPr lang="fr-FR"/>
          </a:p>
        </p:txBody>
      </p:sp>
    </p:spTree>
    <p:extLst>
      <p:ext uri="{BB962C8B-B14F-4D97-AF65-F5344CB8AC3E}">
        <p14:creationId xmlns:p14="http://schemas.microsoft.com/office/powerpoint/2010/main" val="427262016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20</a:t>
            </a:fld>
            <a:endParaRPr lang="fr-FR"/>
          </a:p>
        </p:txBody>
      </p:sp>
    </p:spTree>
    <p:extLst>
      <p:ext uri="{BB962C8B-B14F-4D97-AF65-F5344CB8AC3E}">
        <p14:creationId xmlns:p14="http://schemas.microsoft.com/office/powerpoint/2010/main" val="221276773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21</a:t>
            </a:fld>
            <a:endParaRPr lang="fr-FR"/>
          </a:p>
        </p:txBody>
      </p:sp>
    </p:spTree>
    <p:extLst>
      <p:ext uri="{BB962C8B-B14F-4D97-AF65-F5344CB8AC3E}">
        <p14:creationId xmlns:p14="http://schemas.microsoft.com/office/powerpoint/2010/main" val="425362875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22</a:t>
            </a:fld>
            <a:endParaRPr lang="fr-FR"/>
          </a:p>
        </p:txBody>
      </p:sp>
    </p:spTree>
    <p:extLst>
      <p:ext uri="{BB962C8B-B14F-4D97-AF65-F5344CB8AC3E}">
        <p14:creationId xmlns:p14="http://schemas.microsoft.com/office/powerpoint/2010/main" val="313040378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23</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96564230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24</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36282492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25</a:t>
            </a:fld>
            <a:endParaRPr lang="fr-FR"/>
          </a:p>
        </p:txBody>
      </p:sp>
    </p:spTree>
    <p:extLst>
      <p:ext uri="{BB962C8B-B14F-4D97-AF65-F5344CB8AC3E}">
        <p14:creationId xmlns:p14="http://schemas.microsoft.com/office/powerpoint/2010/main" val="376270437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26</a:t>
            </a:fld>
            <a:endParaRPr lang="fr-FR"/>
          </a:p>
        </p:txBody>
      </p:sp>
    </p:spTree>
    <p:extLst>
      <p:ext uri="{BB962C8B-B14F-4D97-AF65-F5344CB8AC3E}">
        <p14:creationId xmlns:p14="http://schemas.microsoft.com/office/powerpoint/2010/main" val="36551873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27</a:t>
            </a:fld>
            <a:endParaRPr lang="fr-FR"/>
          </a:p>
        </p:txBody>
      </p:sp>
    </p:spTree>
    <p:extLst>
      <p:ext uri="{BB962C8B-B14F-4D97-AF65-F5344CB8AC3E}">
        <p14:creationId xmlns:p14="http://schemas.microsoft.com/office/powerpoint/2010/main" val="62191901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3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28</a:t>
            </a:fld>
            <a:endParaRPr kumimoji="0" lang="en-US" sz="13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71001097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3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29</a:t>
            </a:fld>
            <a:endParaRPr kumimoji="0" lang="en-US" sz="13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205077190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31</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53247384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32</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53024614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33</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64858729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34</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59822246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35</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99500233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36</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34753045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37</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24014235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38</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87550228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39</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8419271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40</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86615436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41</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33956942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42</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1276805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43</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10446123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44</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402891353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45</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01120601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46</a:t>
            </a:fld>
            <a:endParaRPr lang="fr-FR"/>
          </a:p>
        </p:txBody>
      </p:sp>
    </p:spTree>
    <p:extLst>
      <p:ext uri="{BB962C8B-B14F-4D97-AF65-F5344CB8AC3E}">
        <p14:creationId xmlns:p14="http://schemas.microsoft.com/office/powerpoint/2010/main" val="123598101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47</a:t>
            </a:fld>
            <a:endParaRPr lang="fr-FR"/>
          </a:p>
        </p:txBody>
      </p:sp>
    </p:spTree>
    <p:extLst>
      <p:ext uri="{BB962C8B-B14F-4D97-AF65-F5344CB8AC3E}">
        <p14:creationId xmlns:p14="http://schemas.microsoft.com/office/powerpoint/2010/main" val="415311539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48</a:t>
            </a:fld>
            <a:endParaRPr lang="fr-FR"/>
          </a:p>
        </p:txBody>
      </p:sp>
    </p:spTree>
    <p:extLst>
      <p:ext uri="{BB962C8B-B14F-4D97-AF65-F5344CB8AC3E}">
        <p14:creationId xmlns:p14="http://schemas.microsoft.com/office/powerpoint/2010/main" val="352019708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49</a:t>
            </a:fld>
            <a:endParaRPr lang="fr-FR"/>
          </a:p>
        </p:txBody>
      </p:sp>
    </p:spTree>
    <p:extLst>
      <p:ext uri="{BB962C8B-B14F-4D97-AF65-F5344CB8AC3E}">
        <p14:creationId xmlns:p14="http://schemas.microsoft.com/office/powerpoint/2010/main" val="87190184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50</a:t>
            </a:fld>
            <a:endParaRPr lang="fr-FR"/>
          </a:p>
        </p:txBody>
      </p:sp>
    </p:spTree>
    <p:extLst>
      <p:ext uri="{BB962C8B-B14F-4D97-AF65-F5344CB8AC3E}">
        <p14:creationId xmlns:p14="http://schemas.microsoft.com/office/powerpoint/2010/main" val="101407024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51</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79554595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4102D13E-027B-4957-B1F5-D3410A7A0F21}" type="slidenum">
              <a:rPr kumimoji="0" lang="fr-FR"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52</a:t>
            </a:fld>
            <a:endParaRPr kumimoji="0" lang="fr-FR"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89858635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53</a:t>
            </a:fld>
            <a:endParaRPr lang="fr-FR"/>
          </a:p>
        </p:txBody>
      </p:sp>
    </p:spTree>
    <p:extLst>
      <p:ext uri="{BB962C8B-B14F-4D97-AF65-F5344CB8AC3E}">
        <p14:creationId xmlns:p14="http://schemas.microsoft.com/office/powerpoint/2010/main" val="1539097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54</a:t>
            </a:fld>
            <a:endParaRPr lang="fr-FR"/>
          </a:p>
        </p:txBody>
      </p:sp>
    </p:spTree>
    <p:extLst>
      <p:ext uri="{BB962C8B-B14F-4D97-AF65-F5344CB8AC3E}">
        <p14:creationId xmlns:p14="http://schemas.microsoft.com/office/powerpoint/2010/main" val="391176008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4102D13E-027B-4957-B1F5-D3410A7A0F21}" type="slidenum">
              <a:rPr lang="fr-FR" smtClean="0"/>
              <a:t>55</a:t>
            </a:fld>
            <a:endParaRPr lang="fr-FR"/>
          </a:p>
        </p:txBody>
      </p:sp>
    </p:spTree>
    <p:extLst>
      <p:ext uri="{BB962C8B-B14F-4D97-AF65-F5344CB8AC3E}">
        <p14:creationId xmlns:p14="http://schemas.microsoft.com/office/powerpoint/2010/main" val="32862104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3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56</a:t>
            </a:fld>
            <a:endParaRPr kumimoji="0" lang="en-US" sz="13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0022226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3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57</a:t>
            </a:fld>
            <a:endParaRPr kumimoji="0" lang="en-US" sz="13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31063932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fr-FR"/>
              <a:t>https://www.bis.org/basel_framework/chapter/SRP/98.htm</a:t>
            </a:r>
          </a:p>
        </p:txBody>
      </p:sp>
      <p:sp>
        <p:nvSpPr>
          <p:cNvPr id="4" name="Espace réservé du numéro de diapositive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3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92</a:t>
            </a:fld>
            <a:endParaRPr kumimoji="0" lang="en-US" sz="13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210545797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fr-FR"/>
              <a:t>https://www.bis.org/basel_framework/chapter/SRP/98.htm</a:t>
            </a:r>
          </a:p>
        </p:txBody>
      </p:sp>
      <p:sp>
        <p:nvSpPr>
          <p:cNvPr id="4" name="Espace réservé du numéro de diapositive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3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95</a:t>
            </a:fld>
            <a:endParaRPr kumimoji="0" lang="en-US" sz="13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790893749"/>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3.xml"/><Relationship Id="rId5" Type="http://schemas.openxmlformats.org/officeDocument/2006/relationships/image" Target="../media/image4.png"/><Relationship Id="rId4" Type="http://schemas.openxmlformats.org/officeDocument/2006/relationships/image" Target="../media/image5.emf"/></Relationships>
</file>

<file path=ppt/slideLayouts/_rels/slideLayout4.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4.xml"/><Relationship Id="rId5" Type="http://schemas.openxmlformats.org/officeDocument/2006/relationships/image" Target="../media/image4.png"/><Relationship Id="rId4" Type="http://schemas.openxmlformats.org/officeDocument/2006/relationships/image" Target="../media/image5.emf"/></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jpe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2.xml"/><Relationship Id="rId1" Type="http://schemas.openxmlformats.org/officeDocument/2006/relationships/tags" Target="../tags/tag6.xml"/><Relationship Id="rId5" Type="http://schemas.openxmlformats.org/officeDocument/2006/relationships/image" Target="../media/image4.png"/><Relationship Id="rId4" Type="http://schemas.openxmlformats.org/officeDocument/2006/relationships/image" Target="../media/image5.emf"/></Relationships>
</file>

<file path=ppt/slideLayouts/_rels/slideLayout23.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2.xml"/><Relationship Id="rId1" Type="http://schemas.openxmlformats.org/officeDocument/2006/relationships/tags" Target="../tags/tag7.xml"/><Relationship Id="rId5" Type="http://schemas.openxmlformats.org/officeDocument/2006/relationships/image" Target="../media/image4.png"/><Relationship Id="rId4" Type="http://schemas.openxmlformats.org/officeDocument/2006/relationships/image" Target="../media/image5.emf"/></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2.xml"/><Relationship Id="rId1" Type="http://schemas.openxmlformats.org/officeDocument/2006/relationships/tags" Target="../tags/tag8.xml"/><Relationship Id="rId6" Type="http://schemas.microsoft.com/office/2007/relationships/hdphoto" Target="../media/hdphoto1.wdp"/><Relationship Id="rId5" Type="http://schemas.openxmlformats.org/officeDocument/2006/relationships/image" Target="../media/image11.png"/><Relationship Id="rId4" Type="http://schemas.openxmlformats.org/officeDocument/2006/relationships/image" Target="../media/image10.emf"/></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jpeg"/><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6.xml"/><Relationship Id="rId1" Type="http://schemas.openxmlformats.org/officeDocument/2006/relationships/tags" Target="../tags/tag13.xml"/><Relationship Id="rId5" Type="http://schemas.openxmlformats.org/officeDocument/2006/relationships/image" Target="../media/image4.png"/><Relationship Id="rId4" Type="http://schemas.openxmlformats.org/officeDocument/2006/relationships/image" Target="../media/image5.emf"/></Relationships>
</file>

<file path=ppt/slideLayouts/_rels/slideLayout73.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6.xml"/><Relationship Id="rId1" Type="http://schemas.openxmlformats.org/officeDocument/2006/relationships/tags" Target="../tags/tag14.xml"/><Relationship Id="rId5" Type="http://schemas.openxmlformats.org/officeDocument/2006/relationships/image" Target="../media/image4.png"/><Relationship Id="rId4" Type="http://schemas.openxmlformats.org/officeDocument/2006/relationships/image" Target="../media/image5.emf"/></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jpeg"/><Relationship Id="rId1" Type="http://schemas.openxmlformats.org/officeDocument/2006/relationships/slideMaster" Target="../slideMasters/slideMaster8.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149.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Master" Target="../slideMasters/slideMaster8.xml"/><Relationship Id="rId1" Type="http://schemas.openxmlformats.org/officeDocument/2006/relationships/tags" Target="../tags/tag16.xml"/><Relationship Id="rId5" Type="http://schemas.openxmlformats.org/officeDocument/2006/relationships/image" Target="../media/image4.png"/><Relationship Id="rId4" Type="http://schemas.openxmlformats.org/officeDocument/2006/relationships/image" Target="../media/image5.emf"/></Relationships>
</file>

<file path=ppt/slideLayouts/_rels/slideLayout150.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Master" Target="../slideMasters/slideMaster8.xml"/><Relationship Id="rId1" Type="http://schemas.openxmlformats.org/officeDocument/2006/relationships/tags" Target="../tags/tag17.xml"/><Relationship Id="rId5" Type="http://schemas.openxmlformats.org/officeDocument/2006/relationships/image" Target="../media/image4.png"/><Relationship Id="rId4" Type="http://schemas.openxmlformats.org/officeDocument/2006/relationships/image" Target="../media/image5.emf"/></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8.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uverture">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80193165-B3F4-3448-9E0C-34CDF99A4413}"/>
              </a:ext>
            </a:extLst>
          </p:cNvPr>
          <p:cNvSpPr/>
          <p:nvPr userDrawn="1"/>
        </p:nvSpPr>
        <p:spPr>
          <a:xfrm>
            <a:off x="4781883" y="-56787"/>
            <a:ext cx="5005423" cy="68579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 name="Picture 9">
            <a:extLst>
              <a:ext uri="{FF2B5EF4-FFF2-40B4-BE49-F238E27FC236}">
                <a16:creationId xmlns:a16="http://schemas.microsoft.com/office/drawing/2014/main" id="{5843A315-8FE4-3D4B-BFEF-286B904BDA61}"/>
              </a:ext>
            </a:extLst>
          </p:cNvPr>
          <p:cNvPicPr>
            <a:picLocks noChangeAspect="1"/>
          </p:cNvPicPr>
          <p:nvPr userDrawn="1"/>
        </p:nvPicPr>
        <p:blipFill rotWithShape="1">
          <a:blip r:embed="rId2" cstate="hqprint">
            <a:extLst>
              <a:ext uri="{28A0092B-C50C-407E-A947-70E740481C1C}">
                <a14:useLocalDpi xmlns:a14="http://schemas.microsoft.com/office/drawing/2010/main"/>
              </a:ext>
            </a:extLst>
          </a:blip>
          <a:srcRect/>
          <a:stretch/>
        </p:blipFill>
        <p:spPr>
          <a:xfrm>
            <a:off x="5005423" y="0"/>
            <a:ext cx="7186577" cy="6858000"/>
          </a:xfrm>
          <a:prstGeom prst="rect">
            <a:avLst/>
          </a:prstGeom>
          <a:effectLst/>
        </p:spPr>
      </p:pic>
      <p:sp>
        <p:nvSpPr>
          <p:cNvPr id="8" name="Title 12">
            <a:extLst>
              <a:ext uri="{FF2B5EF4-FFF2-40B4-BE49-F238E27FC236}">
                <a16:creationId xmlns:a16="http://schemas.microsoft.com/office/drawing/2014/main" id="{47248737-92C1-B44A-BE43-7C798FECF5E8}"/>
              </a:ext>
            </a:extLst>
          </p:cNvPr>
          <p:cNvSpPr txBox="1">
            <a:spLocks/>
          </p:cNvSpPr>
          <p:nvPr userDrawn="1"/>
        </p:nvSpPr>
        <p:spPr>
          <a:xfrm>
            <a:off x="5005423" y="0"/>
            <a:ext cx="7186577" cy="6878305"/>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grpSp>
        <p:nvGrpSpPr>
          <p:cNvPr id="12" name="Groupe 11">
            <a:extLst>
              <a:ext uri="{FF2B5EF4-FFF2-40B4-BE49-F238E27FC236}">
                <a16:creationId xmlns:a16="http://schemas.microsoft.com/office/drawing/2014/main" id="{6EA4AF5C-AA5E-8549-84A9-0E37F127B2AD}"/>
              </a:ext>
            </a:extLst>
          </p:cNvPr>
          <p:cNvGrpSpPr/>
          <p:nvPr userDrawn="1"/>
        </p:nvGrpSpPr>
        <p:grpSpPr>
          <a:xfrm>
            <a:off x="447079" y="4499811"/>
            <a:ext cx="1035293" cy="1896979"/>
            <a:chOff x="556126" y="3429000"/>
            <a:chExt cx="1035293" cy="1896979"/>
          </a:xfrm>
        </p:grpSpPr>
        <p:sp>
          <p:nvSpPr>
            <p:cNvPr id="13" name="Rectangle 12">
              <a:extLst>
                <a:ext uri="{FF2B5EF4-FFF2-40B4-BE49-F238E27FC236}">
                  <a16:creationId xmlns:a16="http://schemas.microsoft.com/office/drawing/2014/main" id="{187C5A64-78E3-2B49-9160-5FE072B117AF}"/>
                </a:ext>
              </a:extLst>
            </p:cNvPr>
            <p:cNvSpPr/>
            <p:nvPr/>
          </p:nvSpPr>
          <p:spPr>
            <a:xfrm>
              <a:off x="556126" y="3429000"/>
              <a:ext cx="294106" cy="1896979"/>
            </a:xfrm>
            <a:prstGeom prst="rect">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Rectangle 13">
              <a:extLst>
                <a:ext uri="{FF2B5EF4-FFF2-40B4-BE49-F238E27FC236}">
                  <a16:creationId xmlns:a16="http://schemas.microsoft.com/office/drawing/2014/main" id="{3A8E344C-20D0-AA4F-8DB3-C12A90BCF62F}"/>
                </a:ext>
              </a:extLst>
            </p:cNvPr>
            <p:cNvSpPr/>
            <p:nvPr/>
          </p:nvSpPr>
          <p:spPr>
            <a:xfrm rot="16200000">
              <a:off x="1071100" y="4805660"/>
              <a:ext cx="299453" cy="741184"/>
            </a:xfrm>
            <a:prstGeom prst="rect">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 name="Groupe 14">
            <a:extLst>
              <a:ext uri="{FF2B5EF4-FFF2-40B4-BE49-F238E27FC236}">
                <a16:creationId xmlns:a16="http://schemas.microsoft.com/office/drawing/2014/main" id="{A2511729-FE33-014B-B3E5-5E316468DDFC}"/>
              </a:ext>
            </a:extLst>
          </p:cNvPr>
          <p:cNvGrpSpPr/>
          <p:nvPr userDrawn="1"/>
        </p:nvGrpSpPr>
        <p:grpSpPr>
          <a:xfrm rot="10800000">
            <a:off x="10709627" y="461210"/>
            <a:ext cx="1035293" cy="1896979"/>
            <a:chOff x="556126" y="3429000"/>
            <a:chExt cx="1035293" cy="1896979"/>
          </a:xfrm>
          <a:solidFill>
            <a:schemeClr val="bg1"/>
          </a:solidFill>
        </p:grpSpPr>
        <p:sp>
          <p:nvSpPr>
            <p:cNvPr id="16" name="Rectangle 15">
              <a:extLst>
                <a:ext uri="{FF2B5EF4-FFF2-40B4-BE49-F238E27FC236}">
                  <a16:creationId xmlns:a16="http://schemas.microsoft.com/office/drawing/2014/main" id="{BB0DD731-032F-BB48-A139-2A192A9C386C}"/>
                </a:ext>
              </a:extLst>
            </p:cNvPr>
            <p:cNvSpPr/>
            <p:nvPr/>
          </p:nvSpPr>
          <p:spPr>
            <a:xfrm>
              <a:off x="556126" y="3429000"/>
              <a:ext cx="294106" cy="189697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Rectangle 16">
              <a:extLst>
                <a:ext uri="{FF2B5EF4-FFF2-40B4-BE49-F238E27FC236}">
                  <a16:creationId xmlns:a16="http://schemas.microsoft.com/office/drawing/2014/main" id="{2D2A9355-7C75-3245-A9A8-D0CD63649897}"/>
                </a:ext>
              </a:extLst>
            </p:cNvPr>
            <p:cNvSpPr/>
            <p:nvPr/>
          </p:nvSpPr>
          <p:spPr>
            <a:xfrm rot="16200000">
              <a:off x="1071100" y="4805660"/>
              <a:ext cx="299453" cy="74118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2" name="Espace réservé du texte 23">
            <a:extLst>
              <a:ext uri="{FF2B5EF4-FFF2-40B4-BE49-F238E27FC236}">
                <a16:creationId xmlns:a16="http://schemas.microsoft.com/office/drawing/2014/main" id="{064D5568-EDCB-1443-9480-BBB72E55B384}"/>
              </a:ext>
            </a:extLst>
          </p:cNvPr>
          <p:cNvSpPr>
            <a:spLocks noGrp="1"/>
          </p:cNvSpPr>
          <p:nvPr>
            <p:ph type="body" sz="quarter" idx="11" hasCustomPrompt="1"/>
          </p:nvPr>
        </p:nvSpPr>
        <p:spPr>
          <a:xfrm>
            <a:off x="587112" y="4377489"/>
            <a:ext cx="4558344" cy="2141621"/>
          </a:xfrm>
          <a:prstGeom prst="rect">
            <a:avLst/>
          </a:prstGeom>
        </p:spPr>
        <p:txBody>
          <a:bodyPr lIns="180000" rIns="180000" anchor="ctr"/>
          <a:lstStyle>
            <a:lvl1pPr marL="0" indent="0" algn="r">
              <a:buNone/>
              <a:defRPr sz="5400" b="1"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Cliquer pour modifier</a:t>
            </a:r>
          </a:p>
        </p:txBody>
      </p:sp>
      <p:sp>
        <p:nvSpPr>
          <p:cNvPr id="23" name="Espace réservé du texte 23">
            <a:extLst>
              <a:ext uri="{FF2B5EF4-FFF2-40B4-BE49-F238E27FC236}">
                <a16:creationId xmlns:a16="http://schemas.microsoft.com/office/drawing/2014/main" id="{FE4467EA-FF45-D349-AE7E-9D12174214AE}"/>
              </a:ext>
            </a:extLst>
          </p:cNvPr>
          <p:cNvSpPr>
            <a:spLocks noGrp="1"/>
          </p:cNvSpPr>
          <p:nvPr>
            <p:ph type="body" sz="quarter" idx="12" hasCustomPrompt="1"/>
          </p:nvPr>
        </p:nvSpPr>
        <p:spPr>
          <a:xfrm>
            <a:off x="2531508" y="2781147"/>
            <a:ext cx="6739497" cy="2141621"/>
          </a:xfrm>
          <a:prstGeom prst="rect">
            <a:avLst/>
          </a:prstGeom>
        </p:spPr>
        <p:txBody>
          <a:bodyPr lIns="180000" rIns="180000" anchor="ctr"/>
          <a:lstStyle>
            <a:lvl1pPr marL="0" indent="0" algn="l">
              <a:buNone/>
              <a:defRPr sz="54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Cliquer pour modifier le texte du titre</a:t>
            </a:r>
          </a:p>
        </p:txBody>
      </p:sp>
      <p:sp>
        <p:nvSpPr>
          <p:cNvPr id="25" name="Espace réservé du texte 23">
            <a:extLst>
              <a:ext uri="{FF2B5EF4-FFF2-40B4-BE49-F238E27FC236}">
                <a16:creationId xmlns:a16="http://schemas.microsoft.com/office/drawing/2014/main" id="{8E37D544-4142-144F-A5A1-C192DDE84169}"/>
              </a:ext>
            </a:extLst>
          </p:cNvPr>
          <p:cNvSpPr>
            <a:spLocks noGrp="1"/>
          </p:cNvSpPr>
          <p:nvPr>
            <p:ph type="body" sz="quarter" idx="13" hasCustomPrompt="1"/>
          </p:nvPr>
        </p:nvSpPr>
        <p:spPr>
          <a:xfrm>
            <a:off x="9060446" y="5894966"/>
            <a:ext cx="2684474" cy="501824"/>
          </a:xfrm>
          <a:prstGeom prst="rect">
            <a:avLst/>
          </a:prstGeom>
        </p:spPr>
        <p:txBody>
          <a:bodyPr lIns="0" tIns="0" rIns="0" bIns="0" anchor="b"/>
          <a:lstStyle>
            <a:lvl1pPr marL="0" indent="0" algn="r">
              <a:buNone/>
              <a:defRPr sz="18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Date</a:t>
            </a:r>
          </a:p>
        </p:txBody>
      </p:sp>
      <p:pic>
        <p:nvPicPr>
          <p:cNvPr id="3" name="Image 2" descr="Une image contenant texte&#10;&#10;Description générée automatiquement">
            <a:extLst>
              <a:ext uri="{FF2B5EF4-FFF2-40B4-BE49-F238E27FC236}">
                <a16:creationId xmlns:a16="http://schemas.microsoft.com/office/drawing/2014/main" id="{71E16D69-86E3-1E4B-FD4D-061037C55908}"/>
              </a:ext>
            </a:extLst>
          </p:cNvPr>
          <p:cNvPicPr>
            <a:picLocks noChangeAspect="1"/>
          </p:cNvPicPr>
          <p:nvPr userDrawn="1"/>
        </p:nvPicPr>
        <p:blipFill>
          <a:blip r:embed="rId3"/>
          <a:stretch>
            <a:fillRect/>
          </a:stretch>
        </p:blipFill>
        <p:spPr>
          <a:xfrm>
            <a:off x="452225" y="461210"/>
            <a:ext cx="4106118" cy="1123372"/>
          </a:xfrm>
          <a:prstGeom prst="rect">
            <a:avLst/>
          </a:prstGeom>
        </p:spPr>
      </p:pic>
    </p:spTree>
    <p:extLst>
      <p:ext uri="{BB962C8B-B14F-4D97-AF65-F5344CB8AC3E}">
        <p14:creationId xmlns:p14="http://schemas.microsoft.com/office/powerpoint/2010/main" val="4274402698"/>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ommaire en 3">
    <p:spTree>
      <p:nvGrpSpPr>
        <p:cNvPr id="1" name=""/>
        <p:cNvGrpSpPr/>
        <p:nvPr/>
      </p:nvGrpSpPr>
      <p:grpSpPr>
        <a:xfrm>
          <a:off x="0" y="0"/>
          <a:ext cx="0" cy="0"/>
          <a:chOff x="0" y="0"/>
          <a:chExt cx="0" cy="0"/>
        </a:xfrm>
      </p:grpSpPr>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1202"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74245"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245481" y="2132702"/>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488849" y="3103549"/>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748725" y="4074396"/>
            <a:ext cx="879944" cy="795890"/>
          </a:xfrm>
          <a:prstGeom prst="parallelogram">
            <a:avLst/>
          </a:prstGeom>
          <a:solidFill>
            <a:srgbClr val="41A4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36523"/>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315006" y="225327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911867" y="226228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532807" y="322074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781925" y="4179203"/>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911867" y="3220744"/>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911867" y="4173559"/>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Tree>
    <p:extLst>
      <p:ext uri="{BB962C8B-B14F-4D97-AF65-F5344CB8AC3E}">
        <p14:creationId xmlns:p14="http://schemas.microsoft.com/office/powerpoint/2010/main" val="388609786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Sommaire en 4">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DEDE16C2-F04B-5183-9F8C-CF77FAD5BA13}"/>
              </a:ext>
            </a:extLst>
          </p:cNvPr>
          <p:cNvGraphicFramePr>
            <a:graphicFrameLocks noChangeAspect="1"/>
          </p:cNvGraphicFramePr>
          <p:nvPr userDrawn="1">
            <p:custDataLst>
              <p:tags r:id="rId1"/>
            </p:custDataLst>
            <p:extLst>
              <p:ext uri="{D42A27DB-BD31-4B8C-83A1-F6EECF244321}">
                <p14:modId xmlns:p14="http://schemas.microsoft.com/office/powerpoint/2010/main" val="34964437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0" imgH="469" progId="TCLayout.ActiveDocument.1">
                  <p:embed/>
                </p:oleObj>
              </mc:Choice>
              <mc:Fallback>
                <p:oleObj name="think-cell Slide" r:id="rId3" imgW="470" imgH="469" progId="TCLayout.ActiveDocument.1">
                  <p:embed/>
                  <p:pic>
                    <p:nvPicPr>
                      <p:cNvPr id="4" name="Object 3" hidden="1">
                        <a:extLst>
                          <a:ext uri="{FF2B5EF4-FFF2-40B4-BE49-F238E27FC236}">
                            <a16:creationId xmlns:a16="http://schemas.microsoft.com/office/drawing/2014/main" id="{DEDE16C2-F04B-5183-9F8C-CF77FAD5BA1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24198"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56807"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119593" y="1461124"/>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362961" y="2431971"/>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622837" y="3402818"/>
            <a:ext cx="879944" cy="795890"/>
          </a:xfrm>
          <a:prstGeom prst="parallelogram">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867867" y="1590708"/>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867867" y="254916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867867" y="3501981"/>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11" name="Espace réservé du texte 23">
            <a:extLst>
              <a:ext uri="{FF2B5EF4-FFF2-40B4-BE49-F238E27FC236}">
                <a16:creationId xmlns:a16="http://schemas.microsoft.com/office/drawing/2014/main" id="{CEEA810F-4B6E-A222-DC3C-89AA31D68B4F}"/>
              </a:ext>
            </a:extLst>
          </p:cNvPr>
          <p:cNvSpPr>
            <a:spLocks noGrp="1"/>
          </p:cNvSpPr>
          <p:nvPr>
            <p:ph type="body" sz="quarter" idx="21" hasCustomPrompt="1"/>
          </p:nvPr>
        </p:nvSpPr>
        <p:spPr>
          <a:xfrm>
            <a:off x="10867867" y="4471707"/>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3" name="Rectangle : avec coin rogné 2">
            <a:extLst>
              <a:ext uri="{FF2B5EF4-FFF2-40B4-BE49-F238E27FC236}">
                <a16:creationId xmlns:a16="http://schemas.microsoft.com/office/drawing/2014/main" id="{3C35B311-8A5F-959D-911C-9BEE999E88D2}"/>
              </a:ext>
            </a:extLst>
          </p:cNvPr>
          <p:cNvSpPr/>
          <p:nvPr userDrawn="1"/>
        </p:nvSpPr>
        <p:spPr>
          <a:xfrm rot="10800000">
            <a:off x="4740622" y="19559"/>
            <a:ext cx="330925" cy="6818880"/>
          </a:xfrm>
          <a:prstGeom prst="snip1Rect">
            <a:avLst>
              <a:gd name="adj" fmla="val 1943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Parallélogramme 14">
            <a:extLst>
              <a:ext uri="{FF2B5EF4-FFF2-40B4-BE49-F238E27FC236}">
                <a16:creationId xmlns:a16="http://schemas.microsoft.com/office/drawing/2014/main" id="{28918D0A-2654-D1B8-EEA4-5D6B878D5DCB}"/>
              </a:ext>
            </a:extLst>
          </p:cNvPr>
          <p:cNvSpPr/>
          <p:nvPr userDrawn="1"/>
        </p:nvSpPr>
        <p:spPr>
          <a:xfrm flipH="1">
            <a:off x="3891607" y="4419314"/>
            <a:ext cx="879944" cy="795890"/>
          </a:xfrm>
          <a:prstGeom prst="parallelogram">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4</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9560"/>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189118" y="1581692"/>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406919" y="2549166"/>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656037" y="3507625"/>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0" name="Espace réservé du texte 23">
            <a:extLst>
              <a:ext uri="{FF2B5EF4-FFF2-40B4-BE49-F238E27FC236}">
                <a16:creationId xmlns:a16="http://schemas.microsoft.com/office/drawing/2014/main" id="{EA1EE1A5-0D86-465E-AD3C-B858516DEC1A}"/>
              </a:ext>
            </a:extLst>
          </p:cNvPr>
          <p:cNvSpPr>
            <a:spLocks noGrp="1"/>
          </p:cNvSpPr>
          <p:nvPr>
            <p:ph type="body" sz="quarter" idx="20" hasCustomPrompt="1"/>
          </p:nvPr>
        </p:nvSpPr>
        <p:spPr>
          <a:xfrm>
            <a:off x="4903971" y="4477351"/>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5" name="Rectangle : avec coin rogné 4">
            <a:extLst>
              <a:ext uri="{FF2B5EF4-FFF2-40B4-BE49-F238E27FC236}">
                <a16:creationId xmlns:a16="http://schemas.microsoft.com/office/drawing/2014/main" id="{8C4061DD-7074-FBF0-E861-3B9BC2821553}"/>
              </a:ext>
            </a:extLst>
          </p:cNvPr>
          <p:cNvSpPr/>
          <p:nvPr userDrawn="1"/>
        </p:nvSpPr>
        <p:spPr>
          <a:xfrm rot="10800000">
            <a:off x="4944324" y="6218623"/>
            <a:ext cx="4640540" cy="549523"/>
          </a:xfrm>
          <a:prstGeom prst="snip1Rect">
            <a:avLst>
              <a:gd name="adj" fmla="val 16453"/>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87662155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Sommaire en 4">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DEDE16C2-F04B-5183-9F8C-CF77FAD5BA13}"/>
              </a:ext>
            </a:extLst>
          </p:cNvPr>
          <p:cNvGraphicFramePr>
            <a:graphicFrameLocks noChangeAspect="1"/>
          </p:cNvGraphicFramePr>
          <p:nvPr userDrawn="1">
            <p:custDataLst>
              <p:tags r:id="rId1"/>
            </p:custDataLst>
            <p:extLst>
              <p:ext uri="{D42A27DB-BD31-4B8C-83A1-F6EECF244321}">
                <p14:modId xmlns:p14="http://schemas.microsoft.com/office/powerpoint/2010/main" val="34964437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0" imgH="469" progId="TCLayout.ActiveDocument.1">
                  <p:embed/>
                </p:oleObj>
              </mc:Choice>
              <mc:Fallback>
                <p:oleObj name="think-cell Slide" r:id="rId3" imgW="470" imgH="469" progId="TCLayout.ActiveDocument.1">
                  <p:embed/>
                  <p:pic>
                    <p:nvPicPr>
                      <p:cNvPr id="4" name="Object 3" hidden="1">
                        <a:extLst>
                          <a:ext uri="{FF2B5EF4-FFF2-40B4-BE49-F238E27FC236}">
                            <a16:creationId xmlns:a16="http://schemas.microsoft.com/office/drawing/2014/main" id="{DEDE16C2-F04B-5183-9F8C-CF77FAD5BA1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24198"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56807"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9560"/>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2" name="Rectangle 1">
            <a:extLst>
              <a:ext uri="{FF2B5EF4-FFF2-40B4-BE49-F238E27FC236}">
                <a16:creationId xmlns:a16="http://schemas.microsoft.com/office/drawing/2014/main" id="{7853081C-ABF7-0C0A-3FA3-F405C3260C00}"/>
              </a:ext>
            </a:extLst>
          </p:cNvPr>
          <p:cNvSpPr/>
          <p:nvPr userDrawn="1"/>
        </p:nvSpPr>
        <p:spPr>
          <a:xfrm>
            <a:off x="4738489" y="139700"/>
            <a:ext cx="585298" cy="6718299"/>
          </a:xfrm>
          <a:prstGeom prst="rect">
            <a:avLst/>
          </a:prstGeom>
          <a:solidFill>
            <a:srgbClr val="F2F2F2"/>
          </a:solidFill>
          <a:ln>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2909281" y="1159372"/>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152649" y="2130219"/>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412525" y="3101066"/>
            <a:ext cx="879944" cy="795890"/>
          </a:xfrm>
          <a:prstGeom prst="parallelogram">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3978806" y="127994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657555" y="128895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196607" y="224741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445725" y="3205873"/>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657555" y="2247414"/>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657555" y="3200229"/>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6" name="Parallélogramme 14">
            <a:extLst>
              <a:ext uri="{FF2B5EF4-FFF2-40B4-BE49-F238E27FC236}">
                <a16:creationId xmlns:a16="http://schemas.microsoft.com/office/drawing/2014/main" id="{28918D0A-2654-D1B8-EEA4-5D6B878D5DCB}"/>
              </a:ext>
            </a:extLst>
          </p:cNvPr>
          <p:cNvSpPr/>
          <p:nvPr userDrawn="1"/>
        </p:nvSpPr>
        <p:spPr>
          <a:xfrm flipH="1">
            <a:off x="3681295" y="4117562"/>
            <a:ext cx="879944" cy="795890"/>
          </a:xfrm>
          <a:prstGeom prst="parallelogram">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4</a:t>
            </a:r>
          </a:p>
        </p:txBody>
      </p:sp>
      <p:sp>
        <p:nvSpPr>
          <p:cNvPr id="7" name="Parallélogramme 14">
            <a:extLst>
              <a:ext uri="{FF2B5EF4-FFF2-40B4-BE49-F238E27FC236}">
                <a16:creationId xmlns:a16="http://schemas.microsoft.com/office/drawing/2014/main" id="{4BAA929F-8768-BC8D-540B-E108F3F96DF0}"/>
              </a:ext>
            </a:extLst>
          </p:cNvPr>
          <p:cNvSpPr/>
          <p:nvPr userDrawn="1"/>
        </p:nvSpPr>
        <p:spPr>
          <a:xfrm flipH="1">
            <a:off x="3956327" y="5134058"/>
            <a:ext cx="879944" cy="795890"/>
          </a:xfrm>
          <a:prstGeom prst="parallelogram">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5</a:t>
            </a:r>
          </a:p>
        </p:txBody>
      </p:sp>
      <p:sp>
        <p:nvSpPr>
          <p:cNvPr id="10" name="Espace réservé du texte 23">
            <a:extLst>
              <a:ext uri="{FF2B5EF4-FFF2-40B4-BE49-F238E27FC236}">
                <a16:creationId xmlns:a16="http://schemas.microsoft.com/office/drawing/2014/main" id="{EA1EE1A5-0D86-465E-AD3C-B858516DEC1A}"/>
              </a:ext>
            </a:extLst>
          </p:cNvPr>
          <p:cNvSpPr>
            <a:spLocks noGrp="1"/>
          </p:cNvSpPr>
          <p:nvPr>
            <p:ph type="body" sz="quarter" idx="20" hasCustomPrompt="1"/>
          </p:nvPr>
        </p:nvSpPr>
        <p:spPr>
          <a:xfrm>
            <a:off x="4693659" y="4175599"/>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1" name="Espace réservé du texte 23">
            <a:extLst>
              <a:ext uri="{FF2B5EF4-FFF2-40B4-BE49-F238E27FC236}">
                <a16:creationId xmlns:a16="http://schemas.microsoft.com/office/drawing/2014/main" id="{CEEA810F-4B6E-A222-DC3C-89AA31D68B4F}"/>
              </a:ext>
            </a:extLst>
          </p:cNvPr>
          <p:cNvSpPr>
            <a:spLocks noGrp="1"/>
          </p:cNvSpPr>
          <p:nvPr>
            <p:ph type="body" sz="quarter" idx="21" hasCustomPrompt="1"/>
          </p:nvPr>
        </p:nvSpPr>
        <p:spPr>
          <a:xfrm>
            <a:off x="10657555" y="4169955"/>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12" name="Espace réservé du texte 23">
            <a:extLst>
              <a:ext uri="{FF2B5EF4-FFF2-40B4-BE49-F238E27FC236}">
                <a16:creationId xmlns:a16="http://schemas.microsoft.com/office/drawing/2014/main" id="{B7B67D1E-A508-78C8-54AE-3108C86B1C40}"/>
              </a:ext>
            </a:extLst>
          </p:cNvPr>
          <p:cNvSpPr>
            <a:spLocks noGrp="1"/>
          </p:cNvSpPr>
          <p:nvPr>
            <p:ph type="body" sz="quarter" idx="22" hasCustomPrompt="1"/>
          </p:nvPr>
        </p:nvSpPr>
        <p:spPr>
          <a:xfrm>
            <a:off x="4976637" y="522699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3" name="Espace réservé du texte 23">
            <a:extLst>
              <a:ext uri="{FF2B5EF4-FFF2-40B4-BE49-F238E27FC236}">
                <a16:creationId xmlns:a16="http://schemas.microsoft.com/office/drawing/2014/main" id="{5424D280-A939-FED7-7C71-D98BBAF34542}"/>
              </a:ext>
            </a:extLst>
          </p:cNvPr>
          <p:cNvSpPr>
            <a:spLocks noGrp="1"/>
          </p:cNvSpPr>
          <p:nvPr>
            <p:ph type="body" sz="quarter" idx="23" hasCustomPrompt="1"/>
          </p:nvPr>
        </p:nvSpPr>
        <p:spPr>
          <a:xfrm>
            <a:off x="10657555" y="522134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Tree>
    <p:extLst>
      <p:ext uri="{BB962C8B-B14F-4D97-AF65-F5344CB8AC3E}">
        <p14:creationId xmlns:p14="http://schemas.microsoft.com/office/powerpoint/2010/main" val="323859543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Sommaire en 5">
    <p:spTree>
      <p:nvGrpSpPr>
        <p:cNvPr id="1" name=""/>
        <p:cNvGrpSpPr/>
        <p:nvPr/>
      </p:nvGrpSpPr>
      <p:grpSpPr>
        <a:xfrm>
          <a:off x="0" y="0"/>
          <a:ext cx="0" cy="0"/>
          <a:chOff x="0" y="0"/>
          <a:chExt cx="0" cy="0"/>
        </a:xfrm>
      </p:grpSpPr>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0" y="1657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74245"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236727" y="2080536"/>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541641" y="3534960"/>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36523"/>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306252" y="220110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903113" y="2210120"/>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585599" y="3652155"/>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964659" y="3652155"/>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Tree>
    <p:extLst>
      <p:ext uri="{BB962C8B-B14F-4D97-AF65-F5344CB8AC3E}">
        <p14:creationId xmlns:p14="http://schemas.microsoft.com/office/powerpoint/2010/main" val="50507773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exte seul">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7" name="Espace réservé du texte 23">
            <a:extLst>
              <a:ext uri="{FF2B5EF4-FFF2-40B4-BE49-F238E27FC236}">
                <a16:creationId xmlns:a16="http://schemas.microsoft.com/office/drawing/2014/main" id="{ACB70F44-1D99-394D-AB89-5318F00D0F5F}"/>
              </a:ext>
            </a:extLst>
          </p:cNvPr>
          <p:cNvSpPr>
            <a:spLocks noGrp="1"/>
          </p:cNvSpPr>
          <p:nvPr>
            <p:ph type="body" sz="quarter" idx="12" hasCustomPrompt="1"/>
          </p:nvPr>
        </p:nvSpPr>
        <p:spPr>
          <a:xfrm>
            <a:off x="685939" y="1241035"/>
            <a:ext cx="10820123"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Tree>
    <p:extLst>
      <p:ext uri="{BB962C8B-B14F-4D97-AF65-F5344CB8AC3E}">
        <p14:creationId xmlns:p14="http://schemas.microsoft.com/office/powerpoint/2010/main" val="365422902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 colonn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54" name="Espace réservé du texte 23">
            <a:extLst>
              <a:ext uri="{FF2B5EF4-FFF2-40B4-BE49-F238E27FC236}">
                <a16:creationId xmlns:a16="http://schemas.microsoft.com/office/drawing/2014/main" id="{6BEC00FC-5FD6-9747-A4F5-1BA0C868AE09}"/>
              </a:ext>
            </a:extLst>
          </p:cNvPr>
          <p:cNvSpPr>
            <a:spLocks noGrp="1"/>
          </p:cNvSpPr>
          <p:nvPr>
            <p:ph type="body" sz="quarter" idx="12" hasCustomPrompt="1"/>
          </p:nvPr>
        </p:nvSpPr>
        <p:spPr>
          <a:xfrm>
            <a:off x="685939" y="1241035"/>
            <a:ext cx="5096545"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gauche</a:t>
            </a:r>
          </a:p>
        </p:txBody>
      </p:sp>
      <p:sp>
        <p:nvSpPr>
          <p:cNvPr id="55" name="Espace réservé du texte 23">
            <a:extLst>
              <a:ext uri="{FF2B5EF4-FFF2-40B4-BE49-F238E27FC236}">
                <a16:creationId xmlns:a16="http://schemas.microsoft.com/office/drawing/2014/main" id="{C8D64181-356C-BF4B-AD7A-BF7600F64136}"/>
              </a:ext>
            </a:extLst>
          </p:cNvPr>
          <p:cNvSpPr>
            <a:spLocks noGrp="1"/>
          </p:cNvSpPr>
          <p:nvPr>
            <p:ph type="body" sz="quarter" idx="13" hasCustomPrompt="1"/>
          </p:nvPr>
        </p:nvSpPr>
        <p:spPr>
          <a:xfrm>
            <a:off x="6409517" y="1238735"/>
            <a:ext cx="5096545"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droite</a:t>
            </a:r>
          </a:p>
        </p:txBody>
      </p:sp>
    </p:spTree>
    <p:extLst>
      <p:ext uri="{BB962C8B-B14F-4D97-AF65-F5344CB8AC3E}">
        <p14:creationId xmlns:p14="http://schemas.microsoft.com/office/powerpoint/2010/main" val="121282208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exte et imag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54" name="Espace réservé du texte 23">
            <a:extLst>
              <a:ext uri="{FF2B5EF4-FFF2-40B4-BE49-F238E27FC236}">
                <a16:creationId xmlns:a16="http://schemas.microsoft.com/office/drawing/2014/main" id="{6BEC00FC-5FD6-9747-A4F5-1BA0C868AE09}"/>
              </a:ext>
            </a:extLst>
          </p:cNvPr>
          <p:cNvSpPr>
            <a:spLocks noGrp="1"/>
          </p:cNvSpPr>
          <p:nvPr>
            <p:ph type="body" sz="quarter" idx="12" hasCustomPrompt="1"/>
          </p:nvPr>
        </p:nvSpPr>
        <p:spPr>
          <a:xfrm>
            <a:off x="685939" y="1241035"/>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8" name="Espace réservé pour une image  2">
            <a:extLst>
              <a:ext uri="{FF2B5EF4-FFF2-40B4-BE49-F238E27FC236}">
                <a16:creationId xmlns:a16="http://schemas.microsoft.com/office/drawing/2014/main" id="{32B17CA0-7B4B-0249-8C01-D6A16678D57E}"/>
              </a:ext>
            </a:extLst>
          </p:cNvPr>
          <p:cNvSpPr>
            <a:spLocks noGrp="1"/>
          </p:cNvSpPr>
          <p:nvPr>
            <p:ph type="pic" sz="quarter" idx="14" hasCustomPrompt="1"/>
          </p:nvPr>
        </p:nvSpPr>
        <p:spPr>
          <a:xfrm>
            <a:off x="6409516" y="1238735"/>
            <a:ext cx="5096545"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une image</a:t>
            </a:r>
          </a:p>
        </p:txBody>
      </p:sp>
      <p:sp>
        <p:nvSpPr>
          <p:cNvPr id="15" name="Espace réservé du texte 23">
            <a:extLst>
              <a:ext uri="{FF2B5EF4-FFF2-40B4-BE49-F238E27FC236}">
                <a16:creationId xmlns:a16="http://schemas.microsoft.com/office/drawing/2014/main" id="{5CA10920-988C-8943-932E-EFAD26030E59}"/>
              </a:ext>
            </a:extLst>
          </p:cNvPr>
          <p:cNvSpPr>
            <a:spLocks noGrp="1"/>
          </p:cNvSpPr>
          <p:nvPr>
            <p:ph type="body" sz="quarter" idx="15" hasCustomPrompt="1"/>
          </p:nvPr>
        </p:nvSpPr>
        <p:spPr>
          <a:xfrm>
            <a:off x="685939" y="2896095"/>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17" name="Espace réservé du texte 23">
            <a:extLst>
              <a:ext uri="{FF2B5EF4-FFF2-40B4-BE49-F238E27FC236}">
                <a16:creationId xmlns:a16="http://schemas.microsoft.com/office/drawing/2014/main" id="{A59E213D-CFC8-474D-9D68-442A8AA0AC5E}"/>
              </a:ext>
            </a:extLst>
          </p:cNvPr>
          <p:cNvSpPr>
            <a:spLocks noGrp="1"/>
          </p:cNvSpPr>
          <p:nvPr>
            <p:ph type="body" sz="quarter" idx="16" hasCustomPrompt="1"/>
          </p:nvPr>
        </p:nvSpPr>
        <p:spPr>
          <a:xfrm>
            <a:off x="685939" y="4558180"/>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cxnSp>
        <p:nvCxnSpPr>
          <p:cNvPr id="13" name="Connecteur droit 12">
            <a:extLst>
              <a:ext uri="{FF2B5EF4-FFF2-40B4-BE49-F238E27FC236}">
                <a16:creationId xmlns:a16="http://schemas.microsoft.com/office/drawing/2014/main" id="{F2FEFD0B-339E-AF4F-9099-7AF059A6383B}"/>
              </a:ext>
            </a:extLst>
          </p:cNvPr>
          <p:cNvCxnSpPr>
            <a:cxnSpLocks/>
          </p:cNvCxnSpPr>
          <p:nvPr userDrawn="1"/>
        </p:nvCxnSpPr>
        <p:spPr>
          <a:xfrm>
            <a:off x="685939" y="2714288"/>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A63393BA-537A-DB4C-B8A2-6AC2973373F8}"/>
              </a:ext>
            </a:extLst>
          </p:cNvPr>
          <p:cNvCxnSpPr>
            <a:cxnSpLocks/>
          </p:cNvCxnSpPr>
          <p:nvPr userDrawn="1"/>
        </p:nvCxnSpPr>
        <p:spPr>
          <a:xfrm>
            <a:off x="685939" y="4371397"/>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194728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Graphique et text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13" name="Espace réservé du graphique 2">
            <a:extLst>
              <a:ext uri="{FF2B5EF4-FFF2-40B4-BE49-F238E27FC236}">
                <a16:creationId xmlns:a16="http://schemas.microsoft.com/office/drawing/2014/main" id="{5704F82A-C2B5-874E-A712-6595A2250A46}"/>
              </a:ext>
            </a:extLst>
          </p:cNvPr>
          <p:cNvSpPr>
            <a:spLocks noGrp="1"/>
          </p:cNvSpPr>
          <p:nvPr>
            <p:ph type="chart" sz="quarter" idx="17" hasCustomPrompt="1"/>
          </p:nvPr>
        </p:nvSpPr>
        <p:spPr>
          <a:xfrm>
            <a:off x="685939" y="1238735"/>
            <a:ext cx="5096545"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 graphique</a:t>
            </a:r>
          </a:p>
        </p:txBody>
      </p:sp>
      <p:sp>
        <p:nvSpPr>
          <p:cNvPr id="10" name="Espace réservé du texte 23">
            <a:extLst>
              <a:ext uri="{FF2B5EF4-FFF2-40B4-BE49-F238E27FC236}">
                <a16:creationId xmlns:a16="http://schemas.microsoft.com/office/drawing/2014/main" id="{BED7D098-872D-7E43-A7A0-D106FBF9EF2A}"/>
              </a:ext>
            </a:extLst>
          </p:cNvPr>
          <p:cNvSpPr>
            <a:spLocks noGrp="1"/>
          </p:cNvSpPr>
          <p:nvPr>
            <p:ph type="body" sz="quarter" idx="19" hasCustomPrompt="1"/>
          </p:nvPr>
        </p:nvSpPr>
        <p:spPr>
          <a:xfrm>
            <a:off x="6409518" y="1847497"/>
            <a:ext cx="5096542" cy="4004498"/>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14" name="Espace réservé du texte 23">
            <a:extLst>
              <a:ext uri="{FF2B5EF4-FFF2-40B4-BE49-F238E27FC236}">
                <a16:creationId xmlns:a16="http://schemas.microsoft.com/office/drawing/2014/main" id="{CC481238-980B-A040-8970-40E20FB94B38}"/>
              </a:ext>
            </a:extLst>
          </p:cNvPr>
          <p:cNvSpPr>
            <a:spLocks noGrp="1"/>
          </p:cNvSpPr>
          <p:nvPr>
            <p:ph type="body" sz="quarter" idx="12" hasCustomPrompt="1"/>
          </p:nvPr>
        </p:nvSpPr>
        <p:spPr>
          <a:xfrm>
            <a:off x="6409518" y="1241279"/>
            <a:ext cx="5096541" cy="267882"/>
          </a:xfrm>
          <a:prstGeom prst="rect">
            <a:avLst/>
          </a:prstGeom>
        </p:spPr>
        <p:txBody>
          <a:bodyPr lIns="0" tIns="0" rIns="0" bIns="0" anchor="t"/>
          <a:lstStyle>
            <a:lvl1pPr marL="0" indent="0" algn="ctr">
              <a:buNone/>
              <a:defRPr sz="18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a:t>
            </a:r>
          </a:p>
        </p:txBody>
      </p:sp>
      <p:cxnSp>
        <p:nvCxnSpPr>
          <p:cNvPr id="15" name="Connecteur droit 14">
            <a:extLst>
              <a:ext uri="{FF2B5EF4-FFF2-40B4-BE49-F238E27FC236}">
                <a16:creationId xmlns:a16="http://schemas.microsoft.com/office/drawing/2014/main" id="{F3A6E393-D242-BE43-9A85-E8BA60D2DFDD}"/>
              </a:ext>
            </a:extLst>
          </p:cNvPr>
          <p:cNvCxnSpPr>
            <a:cxnSpLocks/>
          </p:cNvCxnSpPr>
          <p:nvPr userDrawn="1"/>
        </p:nvCxnSpPr>
        <p:spPr>
          <a:xfrm>
            <a:off x="6409514" y="1689904"/>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688403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3 colonn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31" name="Espace réservé du texte 23">
            <a:extLst>
              <a:ext uri="{FF2B5EF4-FFF2-40B4-BE49-F238E27FC236}">
                <a16:creationId xmlns:a16="http://schemas.microsoft.com/office/drawing/2014/main" id="{150CB36B-953F-4148-9C63-CB1D5ECBE8E2}"/>
              </a:ext>
            </a:extLst>
          </p:cNvPr>
          <p:cNvSpPr>
            <a:spLocks noGrp="1"/>
          </p:cNvSpPr>
          <p:nvPr>
            <p:ph type="body" sz="quarter" idx="12" hasCustomPrompt="1"/>
          </p:nvPr>
        </p:nvSpPr>
        <p:spPr>
          <a:xfrm>
            <a:off x="685940" y="3414534"/>
            <a:ext cx="3330475" cy="24397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gauche</a:t>
            </a:r>
          </a:p>
        </p:txBody>
      </p:sp>
      <p:sp>
        <p:nvSpPr>
          <p:cNvPr id="32" name="Espace réservé du texte 23">
            <a:extLst>
              <a:ext uri="{FF2B5EF4-FFF2-40B4-BE49-F238E27FC236}">
                <a16:creationId xmlns:a16="http://schemas.microsoft.com/office/drawing/2014/main" id="{49BE225D-4587-F642-95AA-D4CB91345E7E}"/>
              </a:ext>
            </a:extLst>
          </p:cNvPr>
          <p:cNvSpPr>
            <a:spLocks noGrp="1"/>
          </p:cNvSpPr>
          <p:nvPr>
            <p:ph type="body" sz="quarter" idx="13" hasCustomPrompt="1"/>
          </p:nvPr>
        </p:nvSpPr>
        <p:spPr>
          <a:xfrm>
            <a:off x="8175586" y="3412232"/>
            <a:ext cx="3330475" cy="2439762"/>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droite</a:t>
            </a:r>
          </a:p>
        </p:txBody>
      </p:sp>
      <p:sp>
        <p:nvSpPr>
          <p:cNvPr id="33" name="Espace réservé du texte 23">
            <a:extLst>
              <a:ext uri="{FF2B5EF4-FFF2-40B4-BE49-F238E27FC236}">
                <a16:creationId xmlns:a16="http://schemas.microsoft.com/office/drawing/2014/main" id="{9D468986-6480-9346-9445-65F3C63C4DFC}"/>
              </a:ext>
            </a:extLst>
          </p:cNvPr>
          <p:cNvSpPr>
            <a:spLocks noGrp="1"/>
          </p:cNvSpPr>
          <p:nvPr>
            <p:ph type="body" sz="quarter" idx="14" hasCustomPrompt="1"/>
          </p:nvPr>
        </p:nvSpPr>
        <p:spPr>
          <a:xfrm>
            <a:off x="4430763" y="3412233"/>
            <a:ext cx="3330475" cy="2439761"/>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au milieu</a:t>
            </a:r>
          </a:p>
        </p:txBody>
      </p:sp>
      <p:sp>
        <p:nvSpPr>
          <p:cNvPr id="35" name="Espace réservé du texte 23">
            <a:extLst>
              <a:ext uri="{FF2B5EF4-FFF2-40B4-BE49-F238E27FC236}">
                <a16:creationId xmlns:a16="http://schemas.microsoft.com/office/drawing/2014/main" id="{4BE3EBCC-3F2C-974D-B7E0-4FE0FE2B6096}"/>
              </a:ext>
            </a:extLst>
          </p:cNvPr>
          <p:cNvSpPr>
            <a:spLocks noGrp="1"/>
          </p:cNvSpPr>
          <p:nvPr>
            <p:ph type="body" sz="quarter" idx="18" hasCustomPrompt="1"/>
          </p:nvPr>
        </p:nvSpPr>
        <p:spPr>
          <a:xfrm>
            <a:off x="685940" y="2522412"/>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gauche</a:t>
            </a:r>
          </a:p>
        </p:txBody>
      </p:sp>
      <p:sp>
        <p:nvSpPr>
          <p:cNvPr id="37" name="Espace réservé du texte 23">
            <a:extLst>
              <a:ext uri="{FF2B5EF4-FFF2-40B4-BE49-F238E27FC236}">
                <a16:creationId xmlns:a16="http://schemas.microsoft.com/office/drawing/2014/main" id="{4452D0F2-BBA8-C242-BEAE-6F55B6ABE7BB}"/>
              </a:ext>
            </a:extLst>
          </p:cNvPr>
          <p:cNvSpPr>
            <a:spLocks noGrp="1"/>
          </p:cNvSpPr>
          <p:nvPr>
            <p:ph type="body" sz="quarter" idx="22" hasCustomPrompt="1"/>
          </p:nvPr>
        </p:nvSpPr>
        <p:spPr>
          <a:xfrm>
            <a:off x="4430763" y="2520112"/>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du milieu</a:t>
            </a:r>
          </a:p>
        </p:txBody>
      </p:sp>
      <p:sp>
        <p:nvSpPr>
          <p:cNvPr id="39" name="Espace réservé du texte 23">
            <a:extLst>
              <a:ext uri="{FF2B5EF4-FFF2-40B4-BE49-F238E27FC236}">
                <a16:creationId xmlns:a16="http://schemas.microsoft.com/office/drawing/2014/main" id="{1CEDCE72-7B19-5841-83CE-CE44056B04AC}"/>
              </a:ext>
            </a:extLst>
          </p:cNvPr>
          <p:cNvSpPr>
            <a:spLocks noGrp="1"/>
          </p:cNvSpPr>
          <p:nvPr>
            <p:ph type="body" sz="quarter" idx="25" hasCustomPrompt="1"/>
          </p:nvPr>
        </p:nvSpPr>
        <p:spPr>
          <a:xfrm>
            <a:off x="8156711" y="2520111"/>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droite</a:t>
            </a:r>
          </a:p>
        </p:txBody>
      </p:sp>
      <p:sp>
        <p:nvSpPr>
          <p:cNvPr id="40" name="Espace réservé pour une image  4">
            <a:extLst>
              <a:ext uri="{FF2B5EF4-FFF2-40B4-BE49-F238E27FC236}">
                <a16:creationId xmlns:a16="http://schemas.microsoft.com/office/drawing/2014/main" id="{B2D07E5C-865B-8D41-9F3B-3922F4A09B7B}"/>
              </a:ext>
            </a:extLst>
          </p:cNvPr>
          <p:cNvSpPr>
            <a:spLocks noGrp="1"/>
          </p:cNvSpPr>
          <p:nvPr>
            <p:ph type="pic" sz="quarter" idx="17" hasCustomPrompt="1"/>
          </p:nvPr>
        </p:nvSpPr>
        <p:spPr>
          <a:xfrm>
            <a:off x="1840305" y="1254968"/>
            <a:ext cx="1021744" cy="1021565"/>
          </a:xfrm>
          <a:prstGeom prst="ellipse">
            <a:avLst/>
          </a:prstGeom>
          <a:ln w="63500">
            <a:solidFill>
              <a:srgbClr val="539DB1"/>
            </a:solidFill>
          </a:ln>
        </p:spPr>
        <p:txBody>
          <a:bodyPr/>
          <a:lstStyle>
            <a:lvl1pPr marL="0" indent="0">
              <a:buFontTx/>
              <a:buNone/>
              <a:defRPr sz="1200"/>
            </a:lvl1pPr>
          </a:lstStyle>
          <a:p>
            <a:r>
              <a:rPr lang="fr-FR" err="1"/>
              <a:t>Picto</a:t>
            </a:r>
            <a:endParaRPr lang="fr-FR"/>
          </a:p>
        </p:txBody>
      </p:sp>
      <p:sp>
        <p:nvSpPr>
          <p:cNvPr id="41" name="Espace réservé pour une image  4">
            <a:extLst>
              <a:ext uri="{FF2B5EF4-FFF2-40B4-BE49-F238E27FC236}">
                <a16:creationId xmlns:a16="http://schemas.microsoft.com/office/drawing/2014/main" id="{2527B583-B4FE-9542-A875-64D734CB266A}"/>
              </a:ext>
            </a:extLst>
          </p:cNvPr>
          <p:cNvSpPr>
            <a:spLocks noGrp="1"/>
          </p:cNvSpPr>
          <p:nvPr>
            <p:ph type="pic" sz="quarter" idx="26" hasCustomPrompt="1"/>
          </p:nvPr>
        </p:nvSpPr>
        <p:spPr>
          <a:xfrm>
            <a:off x="5585127" y="1254968"/>
            <a:ext cx="1021744" cy="1021565"/>
          </a:xfrm>
          <a:prstGeom prst="ellipse">
            <a:avLst/>
          </a:prstGeom>
          <a:ln w="63500">
            <a:solidFill>
              <a:srgbClr val="539DB1"/>
            </a:solidFill>
          </a:ln>
        </p:spPr>
        <p:txBody>
          <a:bodyPr/>
          <a:lstStyle>
            <a:lvl1pPr marL="0" indent="0">
              <a:buFontTx/>
              <a:buNone/>
              <a:defRPr sz="1200"/>
            </a:lvl1pPr>
          </a:lstStyle>
          <a:p>
            <a:r>
              <a:rPr lang="fr-FR"/>
              <a:t>Picto</a:t>
            </a:r>
          </a:p>
        </p:txBody>
      </p:sp>
      <p:sp>
        <p:nvSpPr>
          <p:cNvPr id="42" name="Espace réservé pour une image  4">
            <a:extLst>
              <a:ext uri="{FF2B5EF4-FFF2-40B4-BE49-F238E27FC236}">
                <a16:creationId xmlns:a16="http://schemas.microsoft.com/office/drawing/2014/main" id="{FBD705E3-DA7E-5442-ABB1-6B0FC65466C9}"/>
              </a:ext>
            </a:extLst>
          </p:cNvPr>
          <p:cNvSpPr>
            <a:spLocks noGrp="1"/>
          </p:cNvSpPr>
          <p:nvPr>
            <p:ph type="pic" sz="quarter" idx="27" hasCustomPrompt="1"/>
          </p:nvPr>
        </p:nvSpPr>
        <p:spPr>
          <a:xfrm>
            <a:off x="9311076" y="1254968"/>
            <a:ext cx="1021744" cy="1021565"/>
          </a:xfrm>
          <a:prstGeom prst="ellipse">
            <a:avLst/>
          </a:prstGeom>
          <a:ln w="63500">
            <a:solidFill>
              <a:srgbClr val="539DB1"/>
            </a:solidFill>
          </a:ln>
        </p:spPr>
        <p:txBody>
          <a:bodyPr/>
          <a:lstStyle>
            <a:lvl1pPr marL="0" indent="0">
              <a:buFontTx/>
              <a:buNone/>
              <a:defRPr sz="1200"/>
            </a:lvl1pPr>
          </a:lstStyle>
          <a:p>
            <a:r>
              <a:rPr lang="fr-FR"/>
              <a:t>Picto</a:t>
            </a:r>
          </a:p>
        </p:txBody>
      </p:sp>
      <p:cxnSp>
        <p:nvCxnSpPr>
          <p:cNvPr id="17" name="Connecteur droit 16">
            <a:extLst>
              <a:ext uri="{FF2B5EF4-FFF2-40B4-BE49-F238E27FC236}">
                <a16:creationId xmlns:a16="http://schemas.microsoft.com/office/drawing/2014/main" id="{7CD41F5D-74DD-704C-8A46-9725BB43295A}"/>
              </a:ext>
            </a:extLst>
          </p:cNvPr>
          <p:cNvCxnSpPr>
            <a:cxnSpLocks/>
          </p:cNvCxnSpPr>
          <p:nvPr userDrawn="1"/>
        </p:nvCxnSpPr>
        <p:spPr>
          <a:xfrm>
            <a:off x="685940"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5B42D3ED-071B-0E46-A282-B8EA4FDDF8FF}"/>
              </a:ext>
            </a:extLst>
          </p:cNvPr>
          <p:cNvCxnSpPr>
            <a:cxnSpLocks/>
          </p:cNvCxnSpPr>
          <p:nvPr userDrawn="1"/>
        </p:nvCxnSpPr>
        <p:spPr>
          <a:xfrm>
            <a:off x="4430763"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id="{64679DC9-8987-5F40-93DA-66DC3C80F643}"/>
              </a:ext>
            </a:extLst>
          </p:cNvPr>
          <p:cNvCxnSpPr>
            <a:cxnSpLocks/>
          </p:cNvCxnSpPr>
          <p:nvPr userDrawn="1"/>
        </p:nvCxnSpPr>
        <p:spPr>
          <a:xfrm>
            <a:off x="8175586"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696783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 rangé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45" name="Flèche vers la droite 44">
            <a:extLst>
              <a:ext uri="{FF2B5EF4-FFF2-40B4-BE49-F238E27FC236}">
                <a16:creationId xmlns:a16="http://schemas.microsoft.com/office/drawing/2014/main" id="{073CA8F5-692E-EE4A-859C-88F4900D6ABB}"/>
              </a:ext>
            </a:extLst>
          </p:cNvPr>
          <p:cNvSpPr/>
          <p:nvPr userDrawn="1"/>
        </p:nvSpPr>
        <p:spPr>
          <a:xfrm>
            <a:off x="6858201" y="2192317"/>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Espace réservé du texte 23">
            <a:extLst>
              <a:ext uri="{FF2B5EF4-FFF2-40B4-BE49-F238E27FC236}">
                <a16:creationId xmlns:a16="http://schemas.microsoft.com/office/drawing/2014/main" id="{87BBDDC8-1C19-1B48-8CD1-F89617ACE952}"/>
              </a:ext>
            </a:extLst>
          </p:cNvPr>
          <p:cNvSpPr>
            <a:spLocks noGrp="1"/>
          </p:cNvSpPr>
          <p:nvPr>
            <p:ph type="body" sz="quarter" idx="43" hasCustomPrompt="1"/>
          </p:nvPr>
        </p:nvSpPr>
        <p:spPr>
          <a:xfrm>
            <a:off x="685940" y="136067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3" name="Espace réservé du texte 2">
            <a:extLst>
              <a:ext uri="{FF2B5EF4-FFF2-40B4-BE49-F238E27FC236}">
                <a16:creationId xmlns:a16="http://schemas.microsoft.com/office/drawing/2014/main" id="{8B588310-7C04-FA47-876B-A52F0C438078}"/>
              </a:ext>
            </a:extLst>
          </p:cNvPr>
          <p:cNvSpPr>
            <a:spLocks noGrp="1"/>
          </p:cNvSpPr>
          <p:nvPr>
            <p:ph type="body" sz="quarter" idx="44" hasCustomPrompt="1"/>
          </p:nvPr>
        </p:nvSpPr>
        <p:spPr>
          <a:xfrm>
            <a:off x="1183929" y="149880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57" name="Espace réservé du texte 23">
            <a:extLst>
              <a:ext uri="{FF2B5EF4-FFF2-40B4-BE49-F238E27FC236}">
                <a16:creationId xmlns:a16="http://schemas.microsoft.com/office/drawing/2014/main" id="{3DA65E65-4FD3-8043-9BA3-ACEC849F4F5C}"/>
              </a:ext>
            </a:extLst>
          </p:cNvPr>
          <p:cNvSpPr>
            <a:spLocks noGrp="1"/>
          </p:cNvSpPr>
          <p:nvPr>
            <p:ph type="body" sz="quarter" idx="46" hasCustomPrompt="1"/>
          </p:nvPr>
        </p:nvSpPr>
        <p:spPr>
          <a:xfrm>
            <a:off x="685940" y="291173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58" name="Espace réservé du texte 2">
            <a:extLst>
              <a:ext uri="{FF2B5EF4-FFF2-40B4-BE49-F238E27FC236}">
                <a16:creationId xmlns:a16="http://schemas.microsoft.com/office/drawing/2014/main" id="{D83069BD-A53E-A348-84D5-0A24A9664289}"/>
              </a:ext>
            </a:extLst>
          </p:cNvPr>
          <p:cNvSpPr>
            <a:spLocks noGrp="1"/>
          </p:cNvSpPr>
          <p:nvPr>
            <p:ph type="body" sz="quarter" idx="47" hasCustomPrompt="1"/>
          </p:nvPr>
        </p:nvSpPr>
        <p:spPr>
          <a:xfrm>
            <a:off x="1183929" y="304986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59" name="Espace réservé du texte 23">
            <a:extLst>
              <a:ext uri="{FF2B5EF4-FFF2-40B4-BE49-F238E27FC236}">
                <a16:creationId xmlns:a16="http://schemas.microsoft.com/office/drawing/2014/main" id="{EC46E71F-5144-8F44-B9D5-9D84DAA45237}"/>
              </a:ext>
            </a:extLst>
          </p:cNvPr>
          <p:cNvSpPr>
            <a:spLocks noGrp="1"/>
          </p:cNvSpPr>
          <p:nvPr>
            <p:ph type="body" sz="quarter" idx="48" hasCustomPrompt="1"/>
          </p:nvPr>
        </p:nvSpPr>
        <p:spPr>
          <a:xfrm>
            <a:off x="685940" y="446279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60" name="Espace réservé du texte 2">
            <a:extLst>
              <a:ext uri="{FF2B5EF4-FFF2-40B4-BE49-F238E27FC236}">
                <a16:creationId xmlns:a16="http://schemas.microsoft.com/office/drawing/2014/main" id="{24C0B415-2568-0545-9429-F952CB47A605}"/>
              </a:ext>
            </a:extLst>
          </p:cNvPr>
          <p:cNvSpPr>
            <a:spLocks noGrp="1"/>
          </p:cNvSpPr>
          <p:nvPr>
            <p:ph type="body" sz="quarter" idx="49" hasCustomPrompt="1"/>
          </p:nvPr>
        </p:nvSpPr>
        <p:spPr>
          <a:xfrm>
            <a:off x="1183929" y="460092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61" name="Espace réservé du texte 23">
            <a:extLst>
              <a:ext uri="{FF2B5EF4-FFF2-40B4-BE49-F238E27FC236}">
                <a16:creationId xmlns:a16="http://schemas.microsoft.com/office/drawing/2014/main" id="{B4F766C0-256D-D042-830F-614269DF0181}"/>
              </a:ext>
            </a:extLst>
          </p:cNvPr>
          <p:cNvSpPr>
            <a:spLocks noGrp="1"/>
          </p:cNvSpPr>
          <p:nvPr>
            <p:ph type="body" sz="quarter" idx="12" hasCustomPrompt="1"/>
          </p:nvPr>
        </p:nvSpPr>
        <p:spPr>
          <a:xfrm>
            <a:off x="2623929" y="1863525"/>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62" name="Espace réservé du texte 23">
            <a:extLst>
              <a:ext uri="{FF2B5EF4-FFF2-40B4-BE49-F238E27FC236}">
                <a16:creationId xmlns:a16="http://schemas.microsoft.com/office/drawing/2014/main" id="{C757A226-440B-EF4B-9F88-75585B0C26FD}"/>
              </a:ext>
            </a:extLst>
          </p:cNvPr>
          <p:cNvSpPr>
            <a:spLocks noGrp="1"/>
          </p:cNvSpPr>
          <p:nvPr>
            <p:ph type="body" sz="quarter" idx="50" hasCustomPrompt="1"/>
          </p:nvPr>
        </p:nvSpPr>
        <p:spPr>
          <a:xfrm>
            <a:off x="7442522" y="1863525"/>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2" name="Flèche vers la droite 71">
            <a:extLst>
              <a:ext uri="{FF2B5EF4-FFF2-40B4-BE49-F238E27FC236}">
                <a16:creationId xmlns:a16="http://schemas.microsoft.com/office/drawing/2014/main" id="{7FDE90DB-FA27-F04A-84A7-4B3D563C9502}"/>
              </a:ext>
            </a:extLst>
          </p:cNvPr>
          <p:cNvSpPr/>
          <p:nvPr userDrawn="1"/>
        </p:nvSpPr>
        <p:spPr>
          <a:xfrm>
            <a:off x="6858201" y="3590409"/>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Espace réservé du texte 23">
            <a:extLst>
              <a:ext uri="{FF2B5EF4-FFF2-40B4-BE49-F238E27FC236}">
                <a16:creationId xmlns:a16="http://schemas.microsoft.com/office/drawing/2014/main" id="{A6692E30-33D1-504F-B0CB-D86F1EB98EF8}"/>
              </a:ext>
            </a:extLst>
          </p:cNvPr>
          <p:cNvSpPr>
            <a:spLocks noGrp="1"/>
          </p:cNvSpPr>
          <p:nvPr>
            <p:ph type="body" sz="quarter" idx="51" hasCustomPrompt="1"/>
          </p:nvPr>
        </p:nvSpPr>
        <p:spPr>
          <a:xfrm>
            <a:off x="2623929" y="3261617"/>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4" name="Espace réservé du texte 23">
            <a:extLst>
              <a:ext uri="{FF2B5EF4-FFF2-40B4-BE49-F238E27FC236}">
                <a16:creationId xmlns:a16="http://schemas.microsoft.com/office/drawing/2014/main" id="{35EF68A7-BA92-024E-A76C-6290D9F095DC}"/>
              </a:ext>
            </a:extLst>
          </p:cNvPr>
          <p:cNvSpPr>
            <a:spLocks noGrp="1"/>
          </p:cNvSpPr>
          <p:nvPr>
            <p:ph type="body" sz="quarter" idx="52" hasCustomPrompt="1"/>
          </p:nvPr>
        </p:nvSpPr>
        <p:spPr>
          <a:xfrm>
            <a:off x="7442522" y="3261617"/>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6" name="Flèche vers la droite 75">
            <a:extLst>
              <a:ext uri="{FF2B5EF4-FFF2-40B4-BE49-F238E27FC236}">
                <a16:creationId xmlns:a16="http://schemas.microsoft.com/office/drawing/2014/main" id="{084179CB-67CF-2B41-BD9E-81583A7C9857}"/>
              </a:ext>
            </a:extLst>
          </p:cNvPr>
          <p:cNvSpPr/>
          <p:nvPr userDrawn="1"/>
        </p:nvSpPr>
        <p:spPr>
          <a:xfrm>
            <a:off x="6847153" y="4988501"/>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Espace réservé du texte 23">
            <a:extLst>
              <a:ext uri="{FF2B5EF4-FFF2-40B4-BE49-F238E27FC236}">
                <a16:creationId xmlns:a16="http://schemas.microsoft.com/office/drawing/2014/main" id="{ECED7B8D-5808-BA4A-B728-678A97FE757B}"/>
              </a:ext>
            </a:extLst>
          </p:cNvPr>
          <p:cNvSpPr>
            <a:spLocks noGrp="1"/>
          </p:cNvSpPr>
          <p:nvPr>
            <p:ph type="body" sz="quarter" idx="53" hasCustomPrompt="1"/>
          </p:nvPr>
        </p:nvSpPr>
        <p:spPr>
          <a:xfrm>
            <a:off x="2623929" y="4659709"/>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8" name="Espace réservé du texte 23">
            <a:extLst>
              <a:ext uri="{FF2B5EF4-FFF2-40B4-BE49-F238E27FC236}">
                <a16:creationId xmlns:a16="http://schemas.microsoft.com/office/drawing/2014/main" id="{D98057D3-CED6-844F-A727-B5DF3F9EEC54}"/>
              </a:ext>
            </a:extLst>
          </p:cNvPr>
          <p:cNvSpPr>
            <a:spLocks noGrp="1"/>
          </p:cNvSpPr>
          <p:nvPr>
            <p:ph type="body" sz="quarter" idx="54" hasCustomPrompt="1"/>
          </p:nvPr>
        </p:nvSpPr>
        <p:spPr>
          <a:xfrm>
            <a:off x="7442522" y="4667481"/>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29" name="Espace réservé du texte 23">
            <a:extLst>
              <a:ext uri="{FF2B5EF4-FFF2-40B4-BE49-F238E27FC236}">
                <a16:creationId xmlns:a16="http://schemas.microsoft.com/office/drawing/2014/main" id="{E8F9E77E-9B08-2748-BA8C-1877E990BA82}"/>
              </a:ext>
            </a:extLst>
          </p:cNvPr>
          <p:cNvSpPr>
            <a:spLocks noGrp="1"/>
          </p:cNvSpPr>
          <p:nvPr>
            <p:ph type="body" sz="quarter" idx="18" hasCustomPrompt="1"/>
          </p:nvPr>
        </p:nvSpPr>
        <p:spPr>
          <a:xfrm>
            <a:off x="2623930" y="1298086"/>
            <a:ext cx="4063536" cy="342180"/>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gauche</a:t>
            </a:r>
          </a:p>
        </p:txBody>
      </p:sp>
      <p:sp>
        <p:nvSpPr>
          <p:cNvPr id="30" name="Espace réservé du texte 23">
            <a:extLst>
              <a:ext uri="{FF2B5EF4-FFF2-40B4-BE49-F238E27FC236}">
                <a16:creationId xmlns:a16="http://schemas.microsoft.com/office/drawing/2014/main" id="{ABFE6774-E465-CC44-A5B7-8A9023E7895D}"/>
              </a:ext>
            </a:extLst>
          </p:cNvPr>
          <p:cNvSpPr>
            <a:spLocks noGrp="1"/>
          </p:cNvSpPr>
          <p:nvPr>
            <p:ph type="body" sz="quarter" idx="45" hasCustomPrompt="1"/>
          </p:nvPr>
        </p:nvSpPr>
        <p:spPr>
          <a:xfrm>
            <a:off x="7442522" y="1311393"/>
            <a:ext cx="4063536" cy="342180"/>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droite</a:t>
            </a:r>
          </a:p>
        </p:txBody>
      </p:sp>
      <p:cxnSp>
        <p:nvCxnSpPr>
          <p:cNvPr id="31" name="Connecteur droit 30">
            <a:extLst>
              <a:ext uri="{FF2B5EF4-FFF2-40B4-BE49-F238E27FC236}">
                <a16:creationId xmlns:a16="http://schemas.microsoft.com/office/drawing/2014/main" id="{1BA8053A-F605-3E4C-BCAA-A462125DD707}"/>
              </a:ext>
            </a:extLst>
          </p:cNvPr>
          <p:cNvCxnSpPr>
            <a:cxnSpLocks/>
          </p:cNvCxnSpPr>
          <p:nvPr userDrawn="1"/>
        </p:nvCxnSpPr>
        <p:spPr>
          <a:xfrm>
            <a:off x="2621788" y="1759351"/>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5" name="Connecteur droit 34">
            <a:extLst>
              <a:ext uri="{FF2B5EF4-FFF2-40B4-BE49-F238E27FC236}">
                <a16:creationId xmlns:a16="http://schemas.microsoft.com/office/drawing/2014/main" id="{24308253-88C6-CC42-8669-C8E31D959CF5}"/>
              </a:ext>
            </a:extLst>
          </p:cNvPr>
          <p:cNvCxnSpPr>
            <a:cxnSpLocks/>
          </p:cNvCxnSpPr>
          <p:nvPr userDrawn="1"/>
        </p:nvCxnSpPr>
        <p:spPr>
          <a:xfrm>
            <a:off x="2621788" y="3115517"/>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6" name="Connecteur droit 35">
            <a:extLst>
              <a:ext uri="{FF2B5EF4-FFF2-40B4-BE49-F238E27FC236}">
                <a16:creationId xmlns:a16="http://schemas.microsoft.com/office/drawing/2014/main" id="{366C964C-6A11-F54A-91F4-BFA62F9C7059}"/>
              </a:ext>
            </a:extLst>
          </p:cNvPr>
          <p:cNvCxnSpPr>
            <a:cxnSpLocks/>
          </p:cNvCxnSpPr>
          <p:nvPr userDrawn="1"/>
        </p:nvCxnSpPr>
        <p:spPr>
          <a:xfrm>
            <a:off x="2621788" y="4508324"/>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7" name="Connecteur droit 36">
            <a:extLst>
              <a:ext uri="{FF2B5EF4-FFF2-40B4-BE49-F238E27FC236}">
                <a16:creationId xmlns:a16="http://schemas.microsoft.com/office/drawing/2014/main" id="{641D7C50-2D19-A54B-BDE6-BE45329F7F6F}"/>
              </a:ext>
            </a:extLst>
          </p:cNvPr>
          <p:cNvCxnSpPr>
            <a:cxnSpLocks/>
          </p:cNvCxnSpPr>
          <p:nvPr userDrawn="1"/>
        </p:nvCxnSpPr>
        <p:spPr>
          <a:xfrm>
            <a:off x="2621788" y="5898922"/>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161715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Équip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cxnSp>
        <p:nvCxnSpPr>
          <p:cNvPr id="54" name="Connecteur droit 53">
            <a:extLst>
              <a:ext uri="{FF2B5EF4-FFF2-40B4-BE49-F238E27FC236}">
                <a16:creationId xmlns:a16="http://schemas.microsoft.com/office/drawing/2014/main" id="{CBA568A4-37CD-CA45-8DCB-151D439348E1}"/>
              </a:ext>
            </a:extLst>
          </p:cNvPr>
          <p:cNvCxnSpPr>
            <a:cxnSpLocks/>
          </p:cNvCxnSpPr>
          <p:nvPr userDrawn="1"/>
        </p:nvCxnSpPr>
        <p:spPr>
          <a:xfrm>
            <a:off x="190063" y="3650477"/>
            <a:ext cx="11853802"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68" name="Espace réservé du texte 23">
            <a:extLst>
              <a:ext uri="{FF2B5EF4-FFF2-40B4-BE49-F238E27FC236}">
                <a16:creationId xmlns:a16="http://schemas.microsoft.com/office/drawing/2014/main" id="{9285F349-F057-E044-BA63-42802881E285}"/>
              </a:ext>
            </a:extLst>
          </p:cNvPr>
          <p:cNvSpPr>
            <a:spLocks noGrp="1"/>
          </p:cNvSpPr>
          <p:nvPr>
            <p:ph type="body" sz="quarter" idx="42" hasCustomPrompt="1"/>
          </p:nvPr>
        </p:nvSpPr>
        <p:spPr>
          <a:xfrm>
            <a:off x="9009369" y="1226703"/>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69" name="Espace réservé du texte 23">
            <a:extLst>
              <a:ext uri="{FF2B5EF4-FFF2-40B4-BE49-F238E27FC236}">
                <a16:creationId xmlns:a16="http://schemas.microsoft.com/office/drawing/2014/main" id="{6DA645EB-9B7E-B142-81B9-911160CC3BA6}"/>
              </a:ext>
            </a:extLst>
          </p:cNvPr>
          <p:cNvSpPr>
            <a:spLocks noGrp="1"/>
          </p:cNvSpPr>
          <p:nvPr>
            <p:ph type="body" sz="quarter" idx="43" hasCustomPrompt="1"/>
          </p:nvPr>
        </p:nvSpPr>
        <p:spPr>
          <a:xfrm>
            <a:off x="9009369" y="1634384"/>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0" name="Espace réservé du texte 23">
            <a:extLst>
              <a:ext uri="{FF2B5EF4-FFF2-40B4-BE49-F238E27FC236}">
                <a16:creationId xmlns:a16="http://schemas.microsoft.com/office/drawing/2014/main" id="{F8651C12-DE8D-CC4F-8CE2-5A8AE5B06FE0}"/>
              </a:ext>
            </a:extLst>
          </p:cNvPr>
          <p:cNvSpPr>
            <a:spLocks noGrp="1"/>
          </p:cNvSpPr>
          <p:nvPr>
            <p:ph type="body" sz="quarter" idx="44" hasCustomPrompt="1"/>
          </p:nvPr>
        </p:nvSpPr>
        <p:spPr>
          <a:xfrm>
            <a:off x="7779165" y="2410352"/>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1" name="Espace réservé pour une image  4">
            <a:extLst>
              <a:ext uri="{FF2B5EF4-FFF2-40B4-BE49-F238E27FC236}">
                <a16:creationId xmlns:a16="http://schemas.microsoft.com/office/drawing/2014/main" id="{923BD13F-6B3A-274E-BB1D-710DF4428967}"/>
              </a:ext>
            </a:extLst>
          </p:cNvPr>
          <p:cNvSpPr>
            <a:spLocks noGrp="1"/>
          </p:cNvSpPr>
          <p:nvPr>
            <p:ph type="pic" sz="quarter" idx="45" hasCustomPrompt="1"/>
          </p:nvPr>
        </p:nvSpPr>
        <p:spPr>
          <a:xfrm>
            <a:off x="7764559" y="122495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73" name="Espace réservé du texte 23">
            <a:extLst>
              <a:ext uri="{FF2B5EF4-FFF2-40B4-BE49-F238E27FC236}">
                <a16:creationId xmlns:a16="http://schemas.microsoft.com/office/drawing/2014/main" id="{EBB8FAA2-1466-4C4E-8F48-9D30F07F2B5C}"/>
              </a:ext>
            </a:extLst>
          </p:cNvPr>
          <p:cNvSpPr>
            <a:spLocks noGrp="1"/>
          </p:cNvSpPr>
          <p:nvPr>
            <p:ph type="body" sz="quarter" idx="47" hasCustomPrompt="1"/>
          </p:nvPr>
        </p:nvSpPr>
        <p:spPr>
          <a:xfrm>
            <a:off x="1412121" y="3926785"/>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74" name="Espace réservé du texte 23">
            <a:extLst>
              <a:ext uri="{FF2B5EF4-FFF2-40B4-BE49-F238E27FC236}">
                <a16:creationId xmlns:a16="http://schemas.microsoft.com/office/drawing/2014/main" id="{5DAE32A5-7F7F-CF42-8158-4D719435DFC6}"/>
              </a:ext>
            </a:extLst>
          </p:cNvPr>
          <p:cNvSpPr>
            <a:spLocks noGrp="1"/>
          </p:cNvSpPr>
          <p:nvPr>
            <p:ph type="body" sz="quarter" idx="48" hasCustomPrompt="1"/>
          </p:nvPr>
        </p:nvSpPr>
        <p:spPr>
          <a:xfrm>
            <a:off x="1412121" y="4320590"/>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5" name="Espace réservé du texte 23">
            <a:extLst>
              <a:ext uri="{FF2B5EF4-FFF2-40B4-BE49-F238E27FC236}">
                <a16:creationId xmlns:a16="http://schemas.microsoft.com/office/drawing/2014/main" id="{ACB44A5B-D369-5B4E-87EE-418603224C2F}"/>
              </a:ext>
            </a:extLst>
          </p:cNvPr>
          <p:cNvSpPr>
            <a:spLocks noGrp="1"/>
          </p:cNvSpPr>
          <p:nvPr>
            <p:ph type="body" sz="quarter" idx="49" hasCustomPrompt="1"/>
          </p:nvPr>
        </p:nvSpPr>
        <p:spPr>
          <a:xfrm>
            <a:off x="181917" y="5096556"/>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6" name="Espace réservé pour une image  4">
            <a:extLst>
              <a:ext uri="{FF2B5EF4-FFF2-40B4-BE49-F238E27FC236}">
                <a16:creationId xmlns:a16="http://schemas.microsoft.com/office/drawing/2014/main" id="{CD0B8505-EB75-BA48-A46A-885CB89DACB5}"/>
              </a:ext>
            </a:extLst>
          </p:cNvPr>
          <p:cNvSpPr>
            <a:spLocks noGrp="1"/>
          </p:cNvSpPr>
          <p:nvPr>
            <p:ph type="pic" sz="quarter" idx="50" hasCustomPrompt="1"/>
          </p:nvPr>
        </p:nvSpPr>
        <p:spPr>
          <a:xfrm>
            <a:off x="167311" y="3911158"/>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46" name="Espace réservé du texte 23">
            <a:extLst>
              <a:ext uri="{FF2B5EF4-FFF2-40B4-BE49-F238E27FC236}">
                <a16:creationId xmlns:a16="http://schemas.microsoft.com/office/drawing/2014/main" id="{702AFC75-5274-DA4D-A5BF-9B3AFB7488CC}"/>
              </a:ext>
            </a:extLst>
          </p:cNvPr>
          <p:cNvSpPr>
            <a:spLocks noGrp="1"/>
          </p:cNvSpPr>
          <p:nvPr>
            <p:ph type="body" sz="quarter" idx="51" hasCustomPrompt="1"/>
          </p:nvPr>
        </p:nvSpPr>
        <p:spPr>
          <a:xfrm>
            <a:off x="4478409" y="3943165"/>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47" name="Espace réservé du texte 23">
            <a:extLst>
              <a:ext uri="{FF2B5EF4-FFF2-40B4-BE49-F238E27FC236}">
                <a16:creationId xmlns:a16="http://schemas.microsoft.com/office/drawing/2014/main" id="{CFAB0BF0-BA0C-C544-BD92-BB8D69F6CAE1}"/>
              </a:ext>
            </a:extLst>
          </p:cNvPr>
          <p:cNvSpPr>
            <a:spLocks noGrp="1"/>
          </p:cNvSpPr>
          <p:nvPr>
            <p:ph type="body" sz="quarter" idx="52" hasCustomPrompt="1"/>
          </p:nvPr>
        </p:nvSpPr>
        <p:spPr>
          <a:xfrm>
            <a:off x="4478409" y="4336970"/>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48" name="Espace réservé du texte 23">
            <a:extLst>
              <a:ext uri="{FF2B5EF4-FFF2-40B4-BE49-F238E27FC236}">
                <a16:creationId xmlns:a16="http://schemas.microsoft.com/office/drawing/2014/main" id="{03788535-FDE8-6843-AD0A-A2D734E411AD}"/>
              </a:ext>
            </a:extLst>
          </p:cNvPr>
          <p:cNvSpPr>
            <a:spLocks noGrp="1"/>
          </p:cNvSpPr>
          <p:nvPr>
            <p:ph type="body" sz="quarter" idx="53" hasCustomPrompt="1"/>
          </p:nvPr>
        </p:nvSpPr>
        <p:spPr>
          <a:xfrm>
            <a:off x="3248205" y="5112936"/>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49" name="Espace réservé pour une image  4">
            <a:extLst>
              <a:ext uri="{FF2B5EF4-FFF2-40B4-BE49-F238E27FC236}">
                <a16:creationId xmlns:a16="http://schemas.microsoft.com/office/drawing/2014/main" id="{7F4AA648-DA73-1A49-B136-1632C96BA5C5}"/>
              </a:ext>
            </a:extLst>
          </p:cNvPr>
          <p:cNvSpPr>
            <a:spLocks noGrp="1"/>
          </p:cNvSpPr>
          <p:nvPr>
            <p:ph type="pic" sz="quarter" idx="54" hasCustomPrompt="1"/>
          </p:nvPr>
        </p:nvSpPr>
        <p:spPr>
          <a:xfrm>
            <a:off x="3233599" y="3927538"/>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0" name="Espace réservé du texte 23">
            <a:extLst>
              <a:ext uri="{FF2B5EF4-FFF2-40B4-BE49-F238E27FC236}">
                <a16:creationId xmlns:a16="http://schemas.microsoft.com/office/drawing/2014/main" id="{B32F9C20-21F3-E445-B8F1-AC78571F6E03}"/>
              </a:ext>
            </a:extLst>
          </p:cNvPr>
          <p:cNvSpPr>
            <a:spLocks noGrp="1"/>
          </p:cNvSpPr>
          <p:nvPr>
            <p:ph type="body" sz="quarter" idx="55" hasCustomPrompt="1"/>
          </p:nvPr>
        </p:nvSpPr>
        <p:spPr>
          <a:xfrm>
            <a:off x="7552734" y="3908072"/>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51" name="Espace réservé du texte 23">
            <a:extLst>
              <a:ext uri="{FF2B5EF4-FFF2-40B4-BE49-F238E27FC236}">
                <a16:creationId xmlns:a16="http://schemas.microsoft.com/office/drawing/2014/main" id="{2F5BC84D-BBB9-9A42-AB3F-98AB7978D424}"/>
              </a:ext>
            </a:extLst>
          </p:cNvPr>
          <p:cNvSpPr>
            <a:spLocks noGrp="1"/>
          </p:cNvSpPr>
          <p:nvPr>
            <p:ph type="body" sz="quarter" idx="56" hasCustomPrompt="1"/>
          </p:nvPr>
        </p:nvSpPr>
        <p:spPr>
          <a:xfrm>
            <a:off x="7552734" y="4301877"/>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55" name="Espace réservé du texte 23">
            <a:extLst>
              <a:ext uri="{FF2B5EF4-FFF2-40B4-BE49-F238E27FC236}">
                <a16:creationId xmlns:a16="http://schemas.microsoft.com/office/drawing/2014/main" id="{B4F0EAEB-1756-084F-B710-1F9E25AB5CC5}"/>
              </a:ext>
            </a:extLst>
          </p:cNvPr>
          <p:cNvSpPr>
            <a:spLocks noGrp="1"/>
          </p:cNvSpPr>
          <p:nvPr>
            <p:ph type="body" sz="quarter" idx="57" hasCustomPrompt="1"/>
          </p:nvPr>
        </p:nvSpPr>
        <p:spPr>
          <a:xfrm>
            <a:off x="6322530" y="5077843"/>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56" name="Espace réservé pour une image  4">
            <a:extLst>
              <a:ext uri="{FF2B5EF4-FFF2-40B4-BE49-F238E27FC236}">
                <a16:creationId xmlns:a16="http://schemas.microsoft.com/office/drawing/2014/main" id="{E08B2C3C-5F8E-014F-87B8-D46582E3EB0F}"/>
              </a:ext>
            </a:extLst>
          </p:cNvPr>
          <p:cNvSpPr>
            <a:spLocks noGrp="1"/>
          </p:cNvSpPr>
          <p:nvPr>
            <p:ph type="pic" sz="quarter" idx="58" hasCustomPrompt="1"/>
          </p:nvPr>
        </p:nvSpPr>
        <p:spPr>
          <a:xfrm>
            <a:off x="6307924" y="38924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7" name="Espace réservé du texte 23">
            <a:extLst>
              <a:ext uri="{FF2B5EF4-FFF2-40B4-BE49-F238E27FC236}">
                <a16:creationId xmlns:a16="http://schemas.microsoft.com/office/drawing/2014/main" id="{DFC4B421-BEBE-E54E-8A9C-827E6DF281ED}"/>
              </a:ext>
            </a:extLst>
          </p:cNvPr>
          <p:cNvSpPr>
            <a:spLocks noGrp="1"/>
          </p:cNvSpPr>
          <p:nvPr>
            <p:ph type="body" sz="quarter" idx="59" hasCustomPrompt="1"/>
          </p:nvPr>
        </p:nvSpPr>
        <p:spPr>
          <a:xfrm>
            <a:off x="10604642" y="3830584"/>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88" name="Espace réservé du texte 23">
            <a:extLst>
              <a:ext uri="{FF2B5EF4-FFF2-40B4-BE49-F238E27FC236}">
                <a16:creationId xmlns:a16="http://schemas.microsoft.com/office/drawing/2014/main" id="{FEA20074-0875-6344-91A1-E98FAA3A5FE1}"/>
              </a:ext>
            </a:extLst>
          </p:cNvPr>
          <p:cNvSpPr>
            <a:spLocks noGrp="1"/>
          </p:cNvSpPr>
          <p:nvPr>
            <p:ph type="body" sz="quarter" idx="60" hasCustomPrompt="1"/>
          </p:nvPr>
        </p:nvSpPr>
        <p:spPr>
          <a:xfrm>
            <a:off x="10604642" y="4224389"/>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89" name="Espace réservé du texte 23">
            <a:extLst>
              <a:ext uri="{FF2B5EF4-FFF2-40B4-BE49-F238E27FC236}">
                <a16:creationId xmlns:a16="http://schemas.microsoft.com/office/drawing/2014/main" id="{90CD6637-B776-3345-8328-36503E80870F}"/>
              </a:ext>
            </a:extLst>
          </p:cNvPr>
          <p:cNvSpPr>
            <a:spLocks noGrp="1"/>
          </p:cNvSpPr>
          <p:nvPr>
            <p:ph type="body" sz="quarter" idx="61" hasCustomPrompt="1"/>
          </p:nvPr>
        </p:nvSpPr>
        <p:spPr>
          <a:xfrm>
            <a:off x="9374438" y="5000355"/>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0" name="Espace réservé pour une image  4">
            <a:extLst>
              <a:ext uri="{FF2B5EF4-FFF2-40B4-BE49-F238E27FC236}">
                <a16:creationId xmlns:a16="http://schemas.microsoft.com/office/drawing/2014/main" id="{DA54D27D-6737-4147-9056-5C0961E9A3DD}"/>
              </a:ext>
            </a:extLst>
          </p:cNvPr>
          <p:cNvSpPr>
            <a:spLocks noGrp="1"/>
          </p:cNvSpPr>
          <p:nvPr>
            <p:ph type="pic" sz="quarter" idx="62" hasCustomPrompt="1"/>
          </p:nvPr>
        </p:nvSpPr>
        <p:spPr>
          <a:xfrm>
            <a:off x="9359832" y="3814957"/>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cxnSp>
        <p:nvCxnSpPr>
          <p:cNvPr id="91" name="Connecteur droit 90">
            <a:extLst>
              <a:ext uri="{FF2B5EF4-FFF2-40B4-BE49-F238E27FC236}">
                <a16:creationId xmlns:a16="http://schemas.microsoft.com/office/drawing/2014/main" id="{597A3344-E9EF-9F43-8BF6-8E4A4F97A8A7}"/>
              </a:ext>
            </a:extLst>
          </p:cNvPr>
          <p:cNvCxnSpPr>
            <a:cxnSpLocks/>
          </p:cNvCxnSpPr>
          <p:nvPr userDrawn="1"/>
        </p:nvCxnSpPr>
        <p:spPr>
          <a:xfrm flipV="1">
            <a:off x="6140805" y="366161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2" name="Connecteur droit 91">
            <a:extLst>
              <a:ext uri="{FF2B5EF4-FFF2-40B4-BE49-F238E27FC236}">
                <a16:creationId xmlns:a16="http://schemas.microsoft.com/office/drawing/2014/main" id="{326AE1F6-3523-D54D-9A4B-F1279A73519F}"/>
              </a:ext>
            </a:extLst>
          </p:cNvPr>
          <p:cNvCxnSpPr>
            <a:cxnSpLocks/>
          </p:cNvCxnSpPr>
          <p:nvPr userDrawn="1"/>
        </p:nvCxnSpPr>
        <p:spPr>
          <a:xfrm flipV="1">
            <a:off x="3086709" y="365047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3" name="Connecteur droit 92">
            <a:extLst>
              <a:ext uri="{FF2B5EF4-FFF2-40B4-BE49-F238E27FC236}">
                <a16:creationId xmlns:a16="http://schemas.microsoft.com/office/drawing/2014/main" id="{1F5924AF-27C0-6643-A8C2-9B3A8430792B}"/>
              </a:ext>
            </a:extLst>
          </p:cNvPr>
          <p:cNvCxnSpPr>
            <a:cxnSpLocks/>
          </p:cNvCxnSpPr>
          <p:nvPr userDrawn="1"/>
        </p:nvCxnSpPr>
        <p:spPr>
          <a:xfrm flipV="1">
            <a:off x="9182709" y="365047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4" name="Connecteur droit 93">
            <a:extLst>
              <a:ext uri="{FF2B5EF4-FFF2-40B4-BE49-F238E27FC236}">
                <a16:creationId xmlns:a16="http://schemas.microsoft.com/office/drawing/2014/main" id="{0921032E-D40D-C740-8C6A-FAF1B4676D85}"/>
              </a:ext>
            </a:extLst>
          </p:cNvPr>
          <p:cNvCxnSpPr>
            <a:cxnSpLocks/>
          </p:cNvCxnSpPr>
          <p:nvPr userDrawn="1"/>
        </p:nvCxnSpPr>
        <p:spPr>
          <a:xfrm flipV="1">
            <a:off x="4517118" y="1047204"/>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5" name="Connecteur droit 94">
            <a:extLst>
              <a:ext uri="{FF2B5EF4-FFF2-40B4-BE49-F238E27FC236}">
                <a16:creationId xmlns:a16="http://schemas.microsoft.com/office/drawing/2014/main" id="{8BBA6C04-D7A1-2D42-8AB6-AF487DD911EF}"/>
              </a:ext>
            </a:extLst>
          </p:cNvPr>
          <p:cNvCxnSpPr>
            <a:cxnSpLocks/>
          </p:cNvCxnSpPr>
          <p:nvPr userDrawn="1"/>
        </p:nvCxnSpPr>
        <p:spPr>
          <a:xfrm flipV="1">
            <a:off x="7577100" y="1047204"/>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96" name="Espace réservé du texte 23">
            <a:extLst>
              <a:ext uri="{FF2B5EF4-FFF2-40B4-BE49-F238E27FC236}">
                <a16:creationId xmlns:a16="http://schemas.microsoft.com/office/drawing/2014/main" id="{EFADFAC6-FFD9-3E46-9B84-064E3109D8EE}"/>
              </a:ext>
            </a:extLst>
          </p:cNvPr>
          <p:cNvSpPr>
            <a:spLocks noGrp="1"/>
          </p:cNvSpPr>
          <p:nvPr>
            <p:ph type="body" sz="quarter" idx="63" hasCustomPrompt="1"/>
          </p:nvPr>
        </p:nvSpPr>
        <p:spPr>
          <a:xfrm>
            <a:off x="5934040" y="1194995"/>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97" name="Espace réservé du texte 23">
            <a:extLst>
              <a:ext uri="{FF2B5EF4-FFF2-40B4-BE49-F238E27FC236}">
                <a16:creationId xmlns:a16="http://schemas.microsoft.com/office/drawing/2014/main" id="{A23DDE5E-765E-8646-AF52-103E6D7727CD}"/>
              </a:ext>
            </a:extLst>
          </p:cNvPr>
          <p:cNvSpPr>
            <a:spLocks noGrp="1"/>
          </p:cNvSpPr>
          <p:nvPr>
            <p:ph type="body" sz="quarter" idx="64" hasCustomPrompt="1"/>
          </p:nvPr>
        </p:nvSpPr>
        <p:spPr>
          <a:xfrm>
            <a:off x="5934040" y="1602676"/>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8" name="Espace réservé du texte 23">
            <a:extLst>
              <a:ext uri="{FF2B5EF4-FFF2-40B4-BE49-F238E27FC236}">
                <a16:creationId xmlns:a16="http://schemas.microsoft.com/office/drawing/2014/main" id="{55DFCCA3-2FA7-EF43-9261-E5472DDA4A09}"/>
              </a:ext>
            </a:extLst>
          </p:cNvPr>
          <p:cNvSpPr>
            <a:spLocks noGrp="1"/>
          </p:cNvSpPr>
          <p:nvPr>
            <p:ph type="body" sz="quarter" idx="65" hasCustomPrompt="1"/>
          </p:nvPr>
        </p:nvSpPr>
        <p:spPr>
          <a:xfrm>
            <a:off x="4703836" y="2378644"/>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9" name="Espace réservé pour une image  4">
            <a:extLst>
              <a:ext uri="{FF2B5EF4-FFF2-40B4-BE49-F238E27FC236}">
                <a16:creationId xmlns:a16="http://schemas.microsoft.com/office/drawing/2014/main" id="{39015A28-F0E8-184D-A77B-FE17868DA6E9}"/>
              </a:ext>
            </a:extLst>
          </p:cNvPr>
          <p:cNvSpPr>
            <a:spLocks noGrp="1"/>
          </p:cNvSpPr>
          <p:nvPr>
            <p:ph type="pic" sz="quarter" idx="66" hasCustomPrompt="1"/>
          </p:nvPr>
        </p:nvSpPr>
        <p:spPr>
          <a:xfrm>
            <a:off x="4689230" y="11932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100" name="Espace réservé du texte 23">
            <a:extLst>
              <a:ext uri="{FF2B5EF4-FFF2-40B4-BE49-F238E27FC236}">
                <a16:creationId xmlns:a16="http://schemas.microsoft.com/office/drawing/2014/main" id="{B5E81CF3-C567-5B45-8A47-62555B0F9354}"/>
              </a:ext>
            </a:extLst>
          </p:cNvPr>
          <p:cNvSpPr>
            <a:spLocks noGrp="1"/>
          </p:cNvSpPr>
          <p:nvPr>
            <p:ph type="body" sz="quarter" idx="67" hasCustomPrompt="1"/>
          </p:nvPr>
        </p:nvSpPr>
        <p:spPr>
          <a:xfrm>
            <a:off x="2874058" y="1197903"/>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101" name="Espace réservé du texte 23">
            <a:extLst>
              <a:ext uri="{FF2B5EF4-FFF2-40B4-BE49-F238E27FC236}">
                <a16:creationId xmlns:a16="http://schemas.microsoft.com/office/drawing/2014/main" id="{F5104BF3-562F-2742-A598-DD29624E9C42}"/>
              </a:ext>
            </a:extLst>
          </p:cNvPr>
          <p:cNvSpPr>
            <a:spLocks noGrp="1"/>
          </p:cNvSpPr>
          <p:nvPr>
            <p:ph type="body" sz="quarter" idx="68" hasCustomPrompt="1"/>
          </p:nvPr>
        </p:nvSpPr>
        <p:spPr>
          <a:xfrm>
            <a:off x="2874058" y="1605584"/>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02" name="Espace réservé du texte 23">
            <a:extLst>
              <a:ext uri="{FF2B5EF4-FFF2-40B4-BE49-F238E27FC236}">
                <a16:creationId xmlns:a16="http://schemas.microsoft.com/office/drawing/2014/main" id="{E7DAF3A5-3763-8C4B-8677-0F138AAC36D7}"/>
              </a:ext>
            </a:extLst>
          </p:cNvPr>
          <p:cNvSpPr>
            <a:spLocks noGrp="1"/>
          </p:cNvSpPr>
          <p:nvPr>
            <p:ph type="body" sz="quarter" idx="69" hasCustomPrompt="1"/>
          </p:nvPr>
        </p:nvSpPr>
        <p:spPr>
          <a:xfrm>
            <a:off x="1643854" y="2381552"/>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03" name="Espace réservé pour une image  4">
            <a:extLst>
              <a:ext uri="{FF2B5EF4-FFF2-40B4-BE49-F238E27FC236}">
                <a16:creationId xmlns:a16="http://schemas.microsoft.com/office/drawing/2014/main" id="{4BABB430-907D-C04B-A46C-E0CEB9E10509}"/>
              </a:ext>
            </a:extLst>
          </p:cNvPr>
          <p:cNvSpPr>
            <a:spLocks noGrp="1"/>
          </p:cNvSpPr>
          <p:nvPr>
            <p:ph type="pic" sz="quarter" idx="70" hasCustomPrompt="1"/>
          </p:nvPr>
        </p:nvSpPr>
        <p:spPr>
          <a:xfrm>
            <a:off x="1629248" y="119615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Tree>
    <p:extLst>
      <p:ext uri="{BB962C8B-B14F-4D97-AF65-F5344CB8AC3E}">
        <p14:creationId xmlns:p14="http://schemas.microsoft.com/office/powerpoint/2010/main" val="120333168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Schéma">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38" name="Espace réservé du texte 23">
            <a:extLst>
              <a:ext uri="{FF2B5EF4-FFF2-40B4-BE49-F238E27FC236}">
                <a16:creationId xmlns:a16="http://schemas.microsoft.com/office/drawing/2014/main" id="{1B69723A-750D-AF46-BD7B-DA5FC3C52AAC}"/>
              </a:ext>
            </a:extLst>
          </p:cNvPr>
          <p:cNvSpPr>
            <a:spLocks noGrp="1"/>
          </p:cNvSpPr>
          <p:nvPr>
            <p:ph type="body" sz="quarter" idx="36" hasCustomPrompt="1"/>
          </p:nvPr>
        </p:nvSpPr>
        <p:spPr>
          <a:xfrm>
            <a:off x="685939" y="1241035"/>
            <a:ext cx="2220601" cy="506379"/>
          </a:xfrm>
          <a:prstGeom prst="rect">
            <a:avLst/>
          </a:prstGeom>
          <a:solidFill>
            <a:srgbClr val="1B445F"/>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39" name="Espace réservé du texte 23">
            <a:extLst>
              <a:ext uri="{FF2B5EF4-FFF2-40B4-BE49-F238E27FC236}">
                <a16:creationId xmlns:a16="http://schemas.microsoft.com/office/drawing/2014/main" id="{CE7A6769-F238-FF4E-8F4E-FD06AA230284}"/>
              </a:ext>
            </a:extLst>
          </p:cNvPr>
          <p:cNvSpPr>
            <a:spLocks noGrp="1"/>
          </p:cNvSpPr>
          <p:nvPr>
            <p:ph type="body" sz="quarter" idx="37" hasCustomPrompt="1"/>
          </p:nvPr>
        </p:nvSpPr>
        <p:spPr>
          <a:xfrm>
            <a:off x="685941" y="1905196"/>
            <a:ext cx="2220601" cy="506379"/>
          </a:xfrm>
          <a:prstGeom prst="rect">
            <a:avLst/>
          </a:prstGeom>
          <a:solidFill>
            <a:srgbClr val="539DB1"/>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40" name="Espace réservé du texte 23">
            <a:extLst>
              <a:ext uri="{FF2B5EF4-FFF2-40B4-BE49-F238E27FC236}">
                <a16:creationId xmlns:a16="http://schemas.microsoft.com/office/drawing/2014/main" id="{8DAE4A22-9E53-9E44-B9C8-BEF40E18E53C}"/>
              </a:ext>
            </a:extLst>
          </p:cNvPr>
          <p:cNvSpPr>
            <a:spLocks noGrp="1"/>
          </p:cNvSpPr>
          <p:nvPr>
            <p:ph type="body" sz="quarter" idx="38" hasCustomPrompt="1"/>
          </p:nvPr>
        </p:nvSpPr>
        <p:spPr>
          <a:xfrm>
            <a:off x="685939" y="2569357"/>
            <a:ext cx="2220601" cy="506379"/>
          </a:xfrm>
          <a:prstGeom prst="rect">
            <a:avLst/>
          </a:prstGeom>
          <a:solidFill>
            <a:srgbClr val="90C9D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41" name="Espace réservé du texte 23">
            <a:extLst>
              <a:ext uri="{FF2B5EF4-FFF2-40B4-BE49-F238E27FC236}">
                <a16:creationId xmlns:a16="http://schemas.microsoft.com/office/drawing/2014/main" id="{F69CC65E-0416-8748-8D00-F93A2366C606}"/>
              </a:ext>
            </a:extLst>
          </p:cNvPr>
          <p:cNvSpPr>
            <a:spLocks noGrp="1"/>
          </p:cNvSpPr>
          <p:nvPr>
            <p:ph type="body" sz="quarter" idx="39" hasCustomPrompt="1"/>
          </p:nvPr>
        </p:nvSpPr>
        <p:spPr>
          <a:xfrm>
            <a:off x="685938" y="3233518"/>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51" name="Espace réservé du texte 23">
            <a:extLst>
              <a:ext uri="{FF2B5EF4-FFF2-40B4-BE49-F238E27FC236}">
                <a16:creationId xmlns:a16="http://schemas.microsoft.com/office/drawing/2014/main" id="{6A1E629E-1AE0-5147-9CD7-06329F571879}"/>
              </a:ext>
            </a:extLst>
          </p:cNvPr>
          <p:cNvSpPr>
            <a:spLocks noGrp="1"/>
          </p:cNvSpPr>
          <p:nvPr>
            <p:ph type="body" sz="quarter" idx="12" hasCustomPrompt="1"/>
          </p:nvPr>
        </p:nvSpPr>
        <p:spPr>
          <a:xfrm>
            <a:off x="685939" y="5347915"/>
            <a:ext cx="10820123" cy="50638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 de bas de page</a:t>
            </a:r>
          </a:p>
        </p:txBody>
      </p:sp>
      <p:sp>
        <p:nvSpPr>
          <p:cNvPr id="56" name="Espace réservé du texte 23">
            <a:extLst>
              <a:ext uri="{FF2B5EF4-FFF2-40B4-BE49-F238E27FC236}">
                <a16:creationId xmlns:a16="http://schemas.microsoft.com/office/drawing/2014/main" id="{680F8411-7B5B-D54F-8143-D243AC37E830}"/>
              </a:ext>
            </a:extLst>
          </p:cNvPr>
          <p:cNvSpPr>
            <a:spLocks noGrp="1"/>
          </p:cNvSpPr>
          <p:nvPr>
            <p:ph type="body" sz="quarter" idx="40" hasCustomPrompt="1"/>
          </p:nvPr>
        </p:nvSpPr>
        <p:spPr>
          <a:xfrm>
            <a:off x="685938" y="3897679"/>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88" name="Espace réservé du texte 23">
            <a:extLst>
              <a:ext uri="{FF2B5EF4-FFF2-40B4-BE49-F238E27FC236}">
                <a16:creationId xmlns:a16="http://schemas.microsoft.com/office/drawing/2014/main" id="{D4591BC7-2817-1F45-88D2-A34A3B65720A}"/>
              </a:ext>
            </a:extLst>
          </p:cNvPr>
          <p:cNvSpPr>
            <a:spLocks noGrp="1"/>
          </p:cNvSpPr>
          <p:nvPr>
            <p:ph type="body" sz="quarter" idx="41" hasCustomPrompt="1"/>
          </p:nvPr>
        </p:nvSpPr>
        <p:spPr>
          <a:xfrm>
            <a:off x="685938" y="4561840"/>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89" name="Espace réservé du texte 23">
            <a:extLst>
              <a:ext uri="{FF2B5EF4-FFF2-40B4-BE49-F238E27FC236}">
                <a16:creationId xmlns:a16="http://schemas.microsoft.com/office/drawing/2014/main" id="{5D7E2B6C-2C17-3645-B1C4-D3C5AC78A821}"/>
              </a:ext>
            </a:extLst>
          </p:cNvPr>
          <p:cNvSpPr>
            <a:spLocks noGrp="1"/>
          </p:cNvSpPr>
          <p:nvPr>
            <p:ph type="body" sz="quarter" idx="42" hasCustomPrompt="1"/>
          </p:nvPr>
        </p:nvSpPr>
        <p:spPr>
          <a:xfrm>
            <a:off x="3072253" y="1241035"/>
            <a:ext cx="2220601" cy="506379"/>
          </a:xfrm>
          <a:prstGeom prst="rect">
            <a:avLst/>
          </a:prstGeom>
          <a:solidFill>
            <a:srgbClr val="1B445F"/>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0" name="Espace réservé du texte 23">
            <a:extLst>
              <a:ext uri="{FF2B5EF4-FFF2-40B4-BE49-F238E27FC236}">
                <a16:creationId xmlns:a16="http://schemas.microsoft.com/office/drawing/2014/main" id="{BD3BAEEB-2D03-2944-80B0-7B19DE4CAB1D}"/>
              </a:ext>
            </a:extLst>
          </p:cNvPr>
          <p:cNvSpPr>
            <a:spLocks noGrp="1"/>
          </p:cNvSpPr>
          <p:nvPr>
            <p:ph type="body" sz="quarter" idx="43" hasCustomPrompt="1"/>
          </p:nvPr>
        </p:nvSpPr>
        <p:spPr>
          <a:xfrm>
            <a:off x="3072255" y="1905196"/>
            <a:ext cx="2220601" cy="506379"/>
          </a:xfrm>
          <a:prstGeom prst="rect">
            <a:avLst/>
          </a:prstGeom>
          <a:solidFill>
            <a:srgbClr val="539DB1"/>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1" name="Espace réservé du texte 23">
            <a:extLst>
              <a:ext uri="{FF2B5EF4-FFF2-40B4-BE49-F238E27FC236}">
                <a16:creationId xmlns:a16="http://schemas.microsoft.com/office/drawing/2014/main" id="{20789B73-2345-B344-89EC-9AFEC2CD70BF}"/>
              </a:ext>
            </a:extLst>
          </p:cNvPr>
          <p:cNvSpPr>
            <a:spLocks noGrp="1"/>
          </p:cNvSpPr>
          <p:nvPr>
            <p:ph type="body" sz="quarter" idx="44" hasCustomPrompt="1"/>
          </p:nvPr>
        </p:nvSpPr>
        <p:spPr>
          <a:xfrm>
            <a:off x="3072253" y="2569357"/>
            <a:ext cx="2220601" cy="506379"/>
          </a:xfrm>
          <a:prstGeom prst="rect">
            <a:avLst/>
          </a:prstGeom>
          <a:solidFill>
            <a:srgbClr val="90C9D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2" name="Espace réservé du texte 23">
            <a:extLst>
              <a:ext uri="{FF2B5EF4-FFF2-40B4-BE49-F238E27FC236}">
                <a16:creationId xmlns:a16="http://schemas.microsoft.com/office/drawing/2014/main" id="{115DA821-2917-754E-AAD9-01F3C9A43A5F}"/>
              </a:ext>
            </a:extLst>
          </p:cNvPr>
          <p:cNvSpPr>
            <a:spLocks noGrp="1"/>
          </p:cNvSpPr>
          <p:nvPr>
            <p:ph type="body" sz="quarter" idx="45" hasCustomPrompt="1"/>
          </p:nvPr>
        </p:nvSpPr>
        <p:spPr>
          <a:xfrm>
            <a:off x="3072252" y="3233518"/>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3" name="Espace réservé du texte 23">
            <a:extLst>
              <a:ext uri="{FF2B5EF4-FFF2-40B4-BE49-F238E27FC236}">
                <a16:creationId xmlns:a16="http://schemas.microsoft.com/office/drawing/2014/main" id="{C9EE8ECA-72D9-3F40-82BB-D2613EE18AF4}"/>
              </a:ext>
            </a:extLst>
          </p:cNvPr>
          <p:cNvSpPr>
            <a:spLocks noGrp="1"/>
          </p:cNvSpPr>
          <p:nvPr>
            <p:ph type="body" sz="quarter" idx="46" hasCustomPrompt="1"/>
          </p:nvPr>
        </p:nvSpPr>
        <p:spPr>
          <a:xfrm>
            <a:off x="3072252" y="3897679"/>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4" name="Espace réservé du texte 23">
            <a:extLst>
              <a:ext uri="{FF2B5EF4-FFF2-40B4-BE49-F238E27FC236}">
                <a16:creationId xmlns:a16="http://schemas.microsoft.com/office/drawing/2014/main" id="{C12537C3-55A7-F142-82FE-7D10176C9C51}"/>
              </a:ext>
            </a:extLst>
          </p:cNvPr>
          <p:cNvSpPr>
            <a:spLocks noGrp="1"/>
          </p:cNvSpPr>
          <p:nvPr>
            <p:ph type="body" sz="quarter" idx="47" hasCustomPrompt="1"/>
          </p:nvPr>
        </p:nvSpPr>
        <p:spPr>
          <a:xfrm>
            <a:off x="3072252" y="4561840"/>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Tree>
    <p:extLst>
      <p:ext uri="{BB962C8B-B14F-4D97-AF65-F5344CB8AC3E}">
        <p14:creationId xmlns:p14="http://schemas.microsoft.com/office/powerpoint/2010/main" val="302422537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Image seul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10" name="Espace réservé pour une image  2">
            <a:extLst>
              <a:ext uri="{FF2B5EF4-FFF2-40B4-BE49-F238E27FC236}">
                <a16:creationId xmlns:a16="http://schemas.microsoft.com/office/drawing/2014/main" id="{7D9C95A2-C8E2-DE45-A2FD-E16C973C27C5}"/>
              </a:ext>
            </a:extLst>
          </p:cNvPr>
          <p:cNvSpPr>
            <a:spLocks noGrp="1"/>
          </p:cNvSpPr>
          <p:nvPr>
            <p:ph type="pic" sz="quarter" idx="14" hasCustomPrompt="1"/>
          </p:nvPr>
        </p:nvSpPr>
        <p:spPr>
          <a:xfrm>
            <a:off x="685938" y="1238735"/>
            <a:ext cx="10820123"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une image</a:t>
            </a:r>
          </a:p>
        </p:txBody>
      </p:sp>
    </p:spTree>
    <p:extLst>
      <p:ext uri="{BB962C8B-B14F-4D97-AF65-F5344CB8AC3E}">
        <p14:creationId xmlns:p14="http://schemas.microsoft.com/office/powerpoint/2010/main" val="318734420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Vierg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Tree>
    <p:extLst>
      <p:ext uri="{BB962C8B-B14F-4D97-AF65-F5344CB8AC3E}">
        <p14:creationId xmlns:p14="http://schemas.microsoft.com/office/powerpoint/2010/main" val="193203841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_Contacts en 5">
    <p:bg>
      <p:bgPr>
        <a:solidFill>
          <a:srgbClr val="E1E6EB"/>
        </a:solidFill>
        <a:effectLst/>
      </p:bgPr>
    </p:bg>
    <p:spTree>
      <p:nvGrpSpPr>
        <p:cNvPr id="1" name=""/>
        <p:cNvGrpSpPr/>
        <p:nvPr/>
      </p:nvGrpSpPr>
      <p:grpSpPr>
        <a:xfrm>
          <a:off x="0" y="0"/>
          <a:ext cx="0" cy="0"/>
          <a:chOff x="0" y="0"/>
          <a:chExt cx="0" cy="0"/>
        </a:xfrm>
      </p:grpSpPr>
      <p:grpSp>
        <p:nvGrpSpPr>
          <p:cNvPr id="19" name="Groupe 18">
            <a:extLst>
              <a:ext uri="{FF2B5EF4-FFF2-40B4-BE49-F238E27FC236}">
                <a16:creationId xmlns:a16="http://schemas.microsoft.com/office/drawing/2014/main" id="{00E7E6CF-74B3-DA4E-8C67-8227EDDA7AAB}"/>
              </a:ext>
            </a:extLst>
          </p:cNvPr>
          <p:cNvGrpSpPr/>
          <p:nvPr userDrawn="1"/>
        </p:nvGrpSpPr>
        <p:grpSpPr>
          <a:xfrm>
            <a:off x="2943532" y="3394359"/>
            <a:ext cx="1035293" cy="1013989"/>
            <a:chOff x="556126" y="4311990"/>
            <a:chExt cx="1035293" cy="1013989"/>
          </a:xfrm>
        </p:grpSpPr>
        <p:sp>
          <p:nvSpPr>
            <p:cNvPr id="20" name="Rectangle 19">
              <a:extLst>
                <a:ext uri="{FF2B5EF4-FFF2-40B4-BE49-F238E27FC236}">
                  <a16:creationId xmlns:a16="http://schemas.microsoft.com/office/drawing/2014/main" id="{2773A585-9E83-DD4B-8D68-6A444547E8B8}"/>
                </a:ext>
              </a:extLst>
            </p:cNvPr>
            <p:cNvSpPr/>
            <p:nvPr/>
          </p:nvSpPr>
          <p:spPr>
            <a:xfrm>
              <a:off x="556126" y="4311990"/>
              <a:ext cx="294108" cy="1013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Rectangle 20">
              <a:extLst>
                <a:ext uri="{FF2B5EF4-FFF2-40B4-BE49-F238E27FC236}">
                  <a16:creationId xmlns:a16="http://schemas.microsoft.com/office/drawing/2014/main" id="{7360EE6C-98DC-D746-A335-B57A0B3ECC6F}"/>
                </a:ext>
              </a:extLst>
            </p:cNvPr>
            <p:cNvSpPr/>
            <p:nvPr/>
          </p:nvSpPr>
          <p:spPr>
            <a:xfrm rot="16200000">
              <a:off x="1071100" y="4805660"/>
              <a:ext cx="299453" cy="7411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2" name="Groupe 21">
            <a:extLst>
              <a:ext uri="{FF2B5EF4-FFF2-40B4-BE49-F238E27FC236}">
                <a16:creationId xmlns:a16="http://schemas.microsoft.com/office/drawing/2014/main" id="{6B913E42-0CA4-F740-8CF9-E221CF7EB0DD}"/>
              </a:ext>
            </a:extLst>
          </p:cNvPr>
          <p:cNvGrpSpPr/>
          <p:nvPr userDrawn="1"/>
        </p:nvGrpSpPr>
        <p:grpSpPr>
          <a:xfrm rot="10800000">
            <a:off x="8220858" y="2421946"/>
            <a:ext cx="1061675" cy="1007054"/>
            <a:chOff x="529744" y="4318924"/>
            <a:chExt cx="1061675" cy="1007054"/>
          </a:xfrm>
          <a:solidFill>
            <a:schemeClr val="bg1"/>
          </a:solidFill>
        </p:grpSpPr>
        <p:sp>
          <p:nvSpPr>
            <p:cNvPr id="23" name="Rectangle 22">
              <a:extLst>
                <a:ext uri="{FF2B5EF4-FFF2-40B4-BE49-F238E27FC236}">
                  <a16:creationId xmlns:a16="http://schemas.microsoft.com/office/drawing/2014/main" id="{9A582717-A057-C541-B69E-2DB4590C87F2}"/>
                </a:ext>
              </a:extLst>
            </p:cNvPr>
            <p:cNvSpPr/>
            <p:nvPr/>
          </p:nvSpPr>
          <p:spPr>
            <a:xfrm>
              <a:off x="529744" y="4318924"/>
              <a:ext cx="320490" cy="1000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Rectangle 23">
              <a:extLst>
                <a:ext uri="{FF2B5EF4-FFF2-40B4-BE49-F238E27FC236}">
                  <a16:creationId xmlns:a16="http://schemas.microsoft.com/office/drawing/2014/main" id="{3E5B0188-42B0-0E4B-BCD4-DE083C4842DC}"/>
                </a:ext>
              </a:extLst>
            </p:cNvPr>
            <p:cNvSpPr/>
            <p:nvPr/>
          </p:nvSpPr>
          <p:spPr>
            <a:xfrm rot="16200000">
              <a:off x="1071100" y="4805660"/>
              <a:ext cx="299453" cy="7411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5" name="Espace réservé du texte 23">
            <a:extLst>
              <a:ext uri="{FF2B5EF4-FFF2-40B4-BE49-F238E27FC236}">
                <a16:creationId xmlns:a16="http://schemas.microsoft.com/office/drawing/2014/main" id="{42C7297B-9020-DF4C-8BF0-A8B862F4FAAE}"/>
              </a:ext>
            </a:extLst>
          </p:cNvPr>
          <p:cNvSpPr>
            <a:spLocks noGrp="1"/>
          </p:cNvSpPr>
          <p:nvPr>
            <p:ph type="body" sz="quarter" idx="11" hasCustomPrompt="1"/>
          </p:nvPr>
        </p:nvSpPr>
        <p:spPr>
          <a:xfrm>
            <a:off x="3541642" y="3051701"/>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Tree>
    <p:extLst>
      <p:ext uri="{BB962C8B-B14F-4D97-AF65-F5344CB8AC3E}">
        <p14:creationId xmlns:p14="http://schemas.microsoft.com/office/powerpoint/2010/main" val="423485148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ontacts en 5">
    <p:bg>
      <p:bgPr>
        <a:solidFill>
          <a:srgbClr val="E1E6EB"/>
        </a:solidFill>
        <a:effectLst/>
      </p:bgPr>
    </p:bg>
    <p:spTree>
      <p:nvGrpSpPr>
        <p:cNvPr id="1" name=""/>
        <p:cNvGrpSpPr/>
        <p:nvPr/>
      </p:nvGrpSpPr>
      <p:grpSpPr>
        <a:xfrm>
          <a:off x="0" y="0"/>
          <a:ext cx="0" cy="0"/>
          <a:chOff x="0" y="0"/>
          <a:chExt cx="0" cy="0"/>
        </a:xfrm>
      </p:grpSpPr>
      <p:pic>
        <p:nvPicPr>
          <p:cNvPr id="10" name="Picture 4">
            <a:extLst>
              <a:ext uri="{FF2B5EF4-FFF2-40B4-BE49-F238E27FC236}">
                <a16:creationId xmlns:a16="http://schemas.microsoft.com/office/drawing/2014/main" id="{DE0B3A84-7641-E849-9F22-19BE3BFD8E6C}"/>
              </a:ext>
            </a:extLst>
          </p:cNvPr>
          <p:cNvPicPr>
            <a:picLocks noChangeAspect="1"/>
          </p:cNvPicPr>
          <p:nvPr userDrawn="1"/>
        </p:nvPicPr>
        <p:blipFill>
          <a:blip r:embed="rId2"/>
          <a:stretch>
            <a:fillRect/>
          </a:stretch>
        </p:blipFill>
        <p:spPr>
          <a:xfrm>
            <a:off x="4286451" y="530021"/>
            <a:ext cx="3619098" cy="792950"/>
          </a:xfrm>
          <a:prstGeom prst="rect">
            <a:avLst/>
          </a:prstGeom>
        </p:spPr>
      </p:pic>
      <p:sp>
        <p:nvSpPr>
          <p:cNvPr id="12" name="Rectangle 11">
            <a:extLst>
              <a:ext uri="{FF2B5EF4-FFF2-40B4-BE49-F238E27FC236}">
                <a16:creationId xmlns:a16="http://schemas.microsoft.com/office/drawing/2014/main" id="{C528CACF-90FE-2244-AF50-50352D75EEEC}"/>
              </a:ext>
            </a:extLst>
          </p:cNvPr>
          <p:cNvSpPr/>
          <p:nvPr userDrawn="1"/>
        </p:nvSpPr>
        <p:spPr>
          <a:xfrm>
            <a:off x="685939" y="5292106"/>
            <a:ext cx="10820121" cy="792950"/>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just">
              <a:spcAft>
                <a:spcPts val="600"/>
              </a:spcAft>
            </a:pPr>
            <a:r>
              <a:rPr lang="fr-FR" b="1">
                <a:solidFill>
                  <a:srgbClr val="1B445F"/>
                </a:solidFill>
                <a:latin typeface="Calibri" panose="020F0502020204030204" pitchFamily="34" charset="0"/>
                <a:cs typeface="Calibri" panose="020F0502020204030204" pitchFamily="34" charset="0"/>
              </a:rPr>
              <a:t>Disclaimer: </a:t>
            </a:r>
            <a:r>
              <a:rPr lang="fr-FR">
                <a:solidFill>
                  <a:srgbClr val="1B445F"/>
                </a:solidFill>
                <a:latin typeface="Calibri" panose="020F0502020204030204" pitchFamily="34" charset="0"/>
                <a:cs typeface="Calibri" panose="020F0502020204030204" pitchFamily="34" charset="0"/>
              </a:rPr>
              <a:t>The information contained here is of a general nature and is not intended to reflect the characteristics of a particular institution. Although we endeavor to provide accurate and timely information, there can be no guarantee that such information is accurate as of the date it is received or that will continue to be accurate in the future.</a:t>
            </a:r>
          </a:p>
        </p:txBody>
      </p:sp>
      <p:sp>
        <p:nvSpPr>
          <p:cNvPr id="4" name="Espace réservé pour une image  4">
            <a:extLst>
              <a:ext uri="{FF2B5EF4-FFF2-40B4-BE49-F238E27FC236}">
                <a16:creationId xmlns:a16="http://schemas.microsoft.com/office/drawing/2014/main" id="{346B39B8-F985-C24E-B036-CD09034F89B5}"/>
              </a:ext>
            </a:extLst>
          </p:cNvPr>
          <p:cNvSpPr>
            <a:spLocks noGrp="1"/>
          </p:cNvSpPr>
          <p:nvPr>
            <p:ph type="pic" sz="quarter" idx="17" hasCustomPrompt="1"/>
          </p:nvPr>
        </p:nvSpPr>
        <p:spPr>
          <a:xfrm>
            <a:off x="1268102" y="22700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 name="Espace réservé pour une image  4">
            <a:extLst>
              <a:ext uri="{FF2B5EF4-FFF2-40B4-BE49-F238E27FC236}">
                <a16:creationId xmlns:a16="http://schemas.microsoft.com/office/drawing/2014/main" id="{C471FAB8-DE9E-764F-A20B-6E1240636A51}"/>
              </a:ext>
            </a:extLst>
          </p:cNvPr>
          <p:cNvSpPr>
            <a:spLocks noGrp="1"/>
          </p:cNvSpPr>
          <p:nvPr>
            <p:ph type="pic" sz="quarter" idx="18" hasCustomPrompt="1"/>
          </p:nvPr>
        </p:nvSpPr>
        <p:spPr>
          <a:xfrm>
            <a:off x="3426614"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6" name="Espace réservé pour une image  4">
            <a:extLst>
              <a:ext uri="{FF2B5EF4-FFF2-40B4-BE49-F238E27FC236}">
                <a16:creationId xmlns:a16="http://schemas.microsoft.com/office/drawing/2014/main" id="{28A6D991-AFE3-3742-A641-D958134B3AD2}"/>
              </a:ext>
            </a:extLst>
          </p:cNvPr>
          <p:cNvSpPr>
            <a:spLocks noGrp="1"/>
          </p:cNvSpPr>
          <p:nvPr>
            <p:ph type="pic" sz="quarter" idx="19" hasCustomPrompt="1"/>
          </p:nvPr>
        </p:nvSpPr>
        <p:spPr>
          <a:xfrm>
            <a:off x="5585127"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7" name="Espace réservé pour une image  4">
            <a:extLst>
              <a:ext uri="{FF2B5EF4-FFF2-40B4-BE49-F238E27FC236}">
                <a16:creationId xmlns:a16="http://schemas.microsoft.com/office/drawing/2014/main" id="{2C845469-64D0-F149-93A9-7E82F0DFFF55}"/>
              </a:ext>
            </a:extLst>
          </p:cNvPr>
          <p:cNvSpPr>
            <a:spLocks noGrp="1"/>
          </p:cNvSpPr>
          <p:nvPr>
            <p:ph type="pic" sz="quarter" idx="20" hasCustomPrompt="1"/>
          </p:nvPr>
        </p:nvSpPr>
        <p:spPr>
          <a:xfrm>
            <a:off x="7743641"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8" name="Espace réservé pour une image  4">
            <a:extLst>
              <a:ext uri="{FF2B5EF4-FFF2-40B4-BE49-F238E27FC236}">
                <a16:creationId xmlns:a16="http://schemas.microsoft.com/office/drawing/2014/main" id="{5E7B4EF7-1E08-294C-9899-11C5C3AA4551}"/>
              </a:ext>
            </a:extLst>
          </p:cNvPr>
          <p:cNvSpPr>
            <a:spLocks noGrp="1"/>
          </p:cNvSpPr>
          <p:nvPr>
            <p:ph type="pic" sz="quarter" idx="21" hasCustomPrompt="1"/>
          </p:nvPr>
        </p:nvSpPr>
        <p:spPr>
          <a:xfrm>
            <a:off x="9902154"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9" name="Espace réservé du texte 23">
            <a:extLst>
              <a:ext uri="{FF2B5EF4-FFF2-40B4-BE49-F238E27FC236}">
                <a16:creationId xmlns:a16="http://schemas.microsoft.com/office/drawing/2014/main" id="{5B1D51E9-169E-3448-8456-4DA2F04B88A0}"/>
              </a:ext>
            </a:extLst>
          </p:cNvPr>
          <p:cNvSpPr>
            <a:spLocks noGrp="1"/>
          </p:cNvSpPr>
          <p:nvPr>
            <p:ph type="body" sz="quarter" idx="14" hasCustomPrompt="1"/>
          </p:nvPr>
        </p:nvSpPr>
        <p:spPr>
          <a:xfrm>
            <a:off x="725438"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1" name="Espace réservé du texte 23">
            <a:extLst>
              <a:ext uri="{FF2B5EF4-FFF2-40B4-BE49-F238E27FC236}">
                <a16:creationId xmlns:a16="http://schemas.microsoft.com/office/drawing/2014/main" id="{7278057E-1AA3-324B-AA0A-58D771966824}"/>
              </a:ext>
            </a:extLst>
          </p:cNvPr>
          <p:cNvSpPr>
            <a:spLocks noGrp="1"/>
          </p:cNvSpPr>
          <p:nvPr>
            <p:ph type="body" sz="quarter" idx="22" hasCustomPrompt="1"/>
          </p:nvPr>
        </p:nvSpPr>
        <p:spPr>
          <a:xfrm>
            <a:off x="2883950"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3" name="Espace réservé du texte 23">
            <a:extLst>
              <a:ext uri="{FF2B5EF4-FFF2-40B4-BE49-F238E27FC236}">
                <a16:creationId xmlns:a16="http://schemas.microsoft.com/office/drawing/2014/main" id="{1776C3AB-F8D6-ED46-8EE1-42B0DD1D714D}"/>
              </a:ext>
            </a:extLst>
          </p:cNvPr>
          <p:cNvSpPr>
            <a:spLocks noGrp="1"/>
          </p:cNvSpPr>
          <p:nvPr>
            <p:ph type="body" sz="quarter" idx="23" hasCustomPrompt="1"/>
          </p:nvPr>
        </p:nvSpPr>
        <p:spPr>
          <a:xfrm>
            <a:off x="5042462"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4" name="Espace réservé du texte 23">
            <a:extLst>
              <a:ext uri="{FF2B5EF4-FFF2-40B4-BE49-F238E27FC236}">
                <a16:creationId xmlns:a16="http://schemas.microsoft.com/office/drawing/2014/main" id="{80213029-391D-664E-8F79-8D7C4ED1237E}"/>
              </a:ext>
            </a:extLst>
          </p:cNvPr>
          <p:cNvSpPr>
            <a:spLocks noGrp="1"/>
          </p:cNvSpPr>
          <p:nvPr>
            <p:ph type="body" sz="quarter" idx="24" hasCustomPrompt="1"/>
          </p:nvPr>
        </p:nvSpPr>
        <p:spPr>
          <a:xfrm>
            <a:off x="7200978"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5" name="Espace réservé du texte 23">
            <a:extLst>
              <a:ext uri="{FF2B5EF4-FFF2-40B4-BE49-F238E27FC236}">
                <a16:creationId xmlns:a16="http://schemas.microsoft.com/office/drawing/2014/main" id="{93D5A8F6-C5B1-8247-B926-67F48D762A97}"/>
              </a:ext>
            </a:extLst>
          </p:cNvPr>
          <p:cNvSpPr>
            <a:spLocks noGrp="1"/>
          </p:cNvSpPr>
          <p:nvPr>
            <p:ph type="body" sz="quarter" idx="25" hasCustomPrompt="1"/>
          </p:nvPr>
        </p:nvSpPr>
        <p:spPr>
          <a:xfrm>
            <a:off x="9359494" y="3586169"/>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cxnSp>
        <p:nvCxnSpPr>
          <p:cNvPr id="16" name="Connecteur droit 15">
            <a:extLst>
              <a:ext uri="{FF2B5EF4-FFF2-40B4-BE49-F238E27FC236}">
                <a16:creationId xmlns:a16="http://schemas.microsoft.com/office/drawing/2014/main" id="{915C36DC-E286-5943-85D5-87CF475B44FC}"/>
              </a:ext>
            </a:extLst>
          </p:cNvPr>
          <p:cNvCxnSpPr>
            <a:cxnSpLocks/>
          </p:cNvCxnSpPr>
          <p:nvPr userDrawn="1"/>
        </p:nvCxnSpPr>
        <p:spPr>
          <a:xfrm>
            <a:off x="685940" y="1855907"/>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id="{13CC7F2B-C83E-8B4F-A5B8-59193414067D}"/>
              </a:ext>
            </a:extLst>
          </p:cNvPr>
          <p:cNvCxnSpPr>
            <a:cxnSpLocks/>
          </p:cNvCxnSpPr>
          <p:nvPr userDrawn="1"/>
        </p:nvCxnSpPr>
        <p:spPr>
          <a:xfrm>
            <a:off x="685939" y="4960054"/>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182230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Contacts en 6">
    <p:bg>
      <p:bgPr>
        <a:solidFill>
          <a:srgbClr val="E1E6EB"/>
        </a:solidFill>
        <a:effectLst/>
      </p:bgPr>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528CACF-90FE-2244-AF50-50352D75EEEC}"/>
              </a:ext>
            </a:extLst>
          </p:cNvPr>
          <p:cNvSpPr/>
          <p:nvPr userDrawn="1"/>
        </p:nvSpPr>
        <p:spPr>
          <a:xfrm>
            <a:off x="685939" y="5292106"/>
            <a:ext cx="10820121" cy="792950"/>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just">
              <a:spcAft>
                <a:spcPts val="600"/>
              </a:spcAft>
            </a:pPr>
            <a:r>
              <a:rPr lang="fr-FR" b="1">
                <a:solidFill>
                  <a:srgbClr val="1B445F"/>
                </a:solidFill>
                <a:latin typeface="Calibri" panose="020F0502020204030204" pitchFamily="34" charset="0"/>
                <a:cs typeface="Calibri" panose="020F0502020204030204" pitchFamily="34" charset="0"/>
              </a:rPr>
              <a:t>Disclaimer: </a:t>
            </a:r>
            <a:r>
              <a:rPr lang="fr-FR">
                <a:solidFill>
                  <a:srgbClr val="1B445F"/>
                </a:solidFill>
                <a:latin typeface="Calibri" panose="020F0502020204030204" pitchFamily="34" charset="0"/>
                <a:cs typeface="Calibri" panose="020F0502020204030204" pitchFamily="34" charset="0"/>
              </a:rPr>
              <a:t>The information </a:t>
            </a:r>
            <a:r>
              <a:rPr lang="fr-FR" err="1">
                <a:solidFill>
                  <a:srgbClr val="1B445F"/>
                </a:solidFill>
                <a:latin typeface="Calibri" panose="020F0502020204030204" pitchFamily="34" charset="0"/>
                <a:cs typeface="Calibri" panose="020F0502020204030204" pitchFamily="34" charset="0"/>
              </a:rPr>
              <a:t>contained</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here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of a </a:t>
            </a:r>
            <a:r>
              <a:rPr lang="fr-FR" err="1">
                <a:solidFill>
                  <a:srgbClr val="1B445F"/>
                </a:solidFill>
                <a:latin typeface="Calibri" panose="020F0502020204030204" pitchFamily="34" charset="0"/>
                <a:cs typeface="Calibri" panose="020F0502020204030204" pitchFamily="34" charset="0"/>
              </a:rPr>
              <a:t>general</a:t>
            </a:r>
            <a:r>
              <a:rPr lang="fr-FR">
                <a:solidFill>
                  <a:srgbClr val="1B445F"/>
                </a:solidFill>
                <a:latin typeface="Calibri" panose="020F0502020204030204" pitchFamily="34" charset="0"/>
                <a:cs typeface="Calibri" panose="020F0502020204030204" pitchFamily="34" charset="0"/>
              </a:rPr>
              <a:t> nature and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not </a:t>
            </a:r>
            <a:r>
              <a:rPr lang="fr-FR" err="1">
                <a:solidFill>
                  <a:srgbClr val="1B445F"/>
                </a:solidFill>
                <a:latin typeface="Calibri" panose="020F0502020204030204" pitchFamily="34" charset="0"/>
                <a:cs typeface="Calibri" panose="020F0502020204030204" pitchFamily="34" charset="0"/>
              </a:rPr>
              <a:t>intended</a:t>
            </a:r>
            <a:r>
              <a:rPr lang="fr-FR">
                <a:solidFill>
                  <a:srgbClr val="1B445F"/>
                </a:solidFill>
                <a:latin typeface="Calibri" panose="020F0502020204030204" pitchFamily="34" charset="0"/>
                <a:cs typeface="Calibri" panose="020F0502020204030204" pitchFamily="34" charset="0"/>
              </a:rPr>
              <a:t> to </a:t>
            </a:r>
            <a:r>
              <a:rPr lang="fr-FR" err="1">
                <a:solidFill>
                  <a:srgbClr val="1B445F"/>
                </a:solidFill>
                <a:latin typeface="Calibri" panose="020F0502020204030204" pitchFamily="34" charset="0"/>
                <a:cs typeface="Calibri" panose="020F0502020204030204" pitchFamily="34" charset="0"/>
              </a:rPr>
              <a:t>reflect</a:t>
            </a:r>
            <a:r>
              <a:rPr lang="fr-FR">
                <a:solidFill>
                  <a:srgbClr val="1B445F"/>
                </a:solidFill>
                <a:latin typeface="Calibri" panose="020F0502020204030204" pitchFamily="34" charset="0"/>
                <a:cs typeface="Calibri" panose="020F0502020204030204" pitchFamily="34" charset="0"/>
              </a:rPr>
              <a:t> the </a:t>
            </a:r>
            <a:r>
              <a:rPr lang="fr-FR" err="1">
                <a:solidFill>
                  <a:srgbClr val="1B445F"/>
                </a:solidFill>
                <a:latin typeface="Calibri" panose="020F0502020204030204" pitchFamily="34" charset="0"/>
                <a:cs typeface="Calibri" panose="020F0502020204030204" pitchFamily="34" charset="0"/>
              </a:rPr>
              <a:t>characteristics</a:t>
            </a:r>
            <a:r>
              <a:rPr lang="fr-FR">
                <a:solidFill>
                  <a:srgbClr val="1B445F"/>
                </a:solidFill>
                <a:latin typeface="Calibri" panose="020F0502020204030204" pitchFamily="34" charset="0"/>
                <a:cs typeface="Calibri" panose="020F0502020204030204" pitchFamily="34" charset="0"/>
              </a:rPr>
              <a:t> of a </a:t>
            </a:r>
            <a:r>
              <a:rPr lang="fr-FR" err="1">
                <a:solidFill>
                  <a:srgbClr val="1B445F"/>
                </a:solidFill>
                <a:latin typeface="Calibri" panose="020F0502020204030204" pitchFamily="34" charset="0"/>
                <a:cs typeface="Calibri" panose="020F0502020204030204" pitchFamily="34" charset="0"/>
              </a:rPr>
              <a:t>particular</a:t>
            </a:r>
            <a:r>
              <a:rPr lang="fr-FR">
                <a:solidFill>
                  <a:srgbClr val="1B445F"/>
                </a:solidFill>
                <a:latin typeface="Calibri" panose="020F0502020204030204" pitchFamily="34" charset="0"/>
                <a:cs typeface="Calibri" panose="020F0502020204030204" pitchFamily="34" charset="0"/>
              </a:rPr>
              <a:t> institution. </a:t>
            </a:r>
            <a:r>
              <a:rPr lang="fr-FR" err="1">
                <a:solidFill>
                  <a:srgbClr val="1B445F"/>
                </a:solidFill>
                <a:latin typeface="Calibri" panose="020F0502020204030204" pitchFamily="34" charset="0"/>
                <a:cs typeface="Calibri" panose="020F0502020204030204" pitchFamily="34" charset="0"/>
              </a:rPr>
              <a:t>Although</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we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endeavor</a:t>
            </a:r>
            <a:r>
              <a:rPr lang="fr-FR">
                <a:solidFill>
                  <a:srgbClr val="1B445F"/>
                </a:solidFill>
                <a:latin typeface="Calibri" panose="020F0502020204030204" pitchFamily="34" charset="0"/>
                <a:cs typeface="Calibri" panose="020F0502020204030204" pitchFamily="34" charset="0"/>
              </a:rPr>
              <a:t> to </a:t>
            </a:r>
            <a:r>
              <a:rPr lang="fr-FR" err="1">
                <a:solidFill>
                  <a:srgbClr val="1B445F"/>
                </a:solidFill>
                <a:latin typeface="Calibri" panose="020F0502020204030204" pitchFamily="34" charset="0"/>
                <a:cs typeface="Calibri" panose="020F0502020204030204" pitchFamily="34" charset="0"/>
              </a:rPr>
              <a:t>provide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and </a:t>
            </a:r>
            <a:r>
              <a:rPr lang="fr-FR" err="1">
                <a:solidFill>
                  <a:srgbClr val="1B445F"/>
                </a:solidFill>
                <a:latin typeface="Calibri" panose="020F0502020204030204" pitchFamily="34" charset="0"/>
                <a:cs typeface="Calibri" panose="020F0502020204030204" pitchFamily="34" charset="0"/>
              </a:rPr>
              <a:t>timely</a:t>
            </a:r>
            <a:r>
              <a:rPr lang="fr-FR">
                <a:solidFill>
                  <a:srgbClr val="1B445F"/>
                </a:solidFill>
                <a:latin typeface="Calibri" panose="020F0502020204030204" pitchFamily="34" charset="0"/>
                <a:cs typeface="Calibri" panose="020F0502020204030204" pitchFamily="34" charset="0"/>
              </a:rPr>
              <a:t> information, </a:t>
            </a:r>
            <a:r>
              <a:rPr lang="fr-FR" err="1">
                <a:solidFill>
                  <a:srgbClr val="1B445F"/>
                </a:solidFill>
                <a:latin typeface="Calibri" panose="020F0502020204030204" pitchFamily="34" charset="0"/>
                <a:cs typeface="Calibri" panose="020F0502020204030204" pitchFamily="34" charset="0"/>
              </a:rPr>
              <a:t>there</a:t>
            </a:r>
            <a:r>
              <a:rPr lang="fr-FR">
                <a:solidFill>
                  <a:srgbClr val="1B445F"/>
                </a:solidFill>
                <a:latin typeface="Calibri" panose="020F0502020204030204" pitchFamily="34" charset="0"/>
                <a:cs typeface="Calibri" panose="020F0502020204030204" pitchFamily="34" charset="0"/>
              </a:rPr>
              <a:t> can </a:t>
            </a:r>
            <a:r>
              <a:rPr lang="fr-FR" err="1">
                <a:solidFill>
                  <a:srgbClr val="1B445F"/>
                </a:solidFill>
                <a:latin typeface="Calibri" panose="020F0502020204030204" pitchFamily="34" charset="0"/>
                <a:cs typeface="Calibri" panose="020F0502020204030204" pitchFamily="34" charset="0"/>
              </a:rPr>
              <a:t>be</a:t>
            </a:r>
            <a:r>
              <a:rPr lang="fr-FR">
                <a:solidFill>
                  <a:srgbClr val="1B445F"/>
                </a:solidFill>
                <a:latin typeface="Calibri" panose="020F0502020204030204" pitchFamily="34" charset="0"/>
                <a:cs typeface="Calibri" panose="020F0502020204030204" pitchFamily="34" charset="0"/>
              </a:rPr>
              <a:t> no </a:t>
            </a:r>
            <a:r>
              <a:rPr lang="fr-FR" err="1">
                <a:solidFill>
                  <a:srgbClr val="1B445F"/>
                </a:solidFill>
                <a:latin typeface="Calibri" panose="020F0502020204030204" pitchFamily="34" charset="0"/>
                <a:cs typeface="Calibri" panose="020F0502020204030204" pitchFamily="34" charset="0"/>
              </a:rPr>
              <a:t>guarantee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that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such</a:t>
            </a:r>
            <a:r>
              <a:rPr lang="fr-FR">
                <a:solidFill>
                  <a:srgbClr val="1B445F"/>
                </a:solidFill>
                <a:latin typeface="Calibri" panose="020F0502020204030204" pitchFamily="34" charset="0"/>
                <a:cs typeface="Calibri" panose="020F0502020204030204" pitchFamily="34" charset="0"/>
              </a:rPr>
              <a:t> information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as of the date </a:t>
            </a:r>
            <a:r>
              <a:rPr lang="fr-FR" err="1">
                <a:solidFill>
                  <a:srgbClr val="1B445F"/>
                </a:solidFill>
                <a:latin typeface="Calibri" panose="020F0502020204030204" pitchFamily="34" charset="0"/>
                <a:cs typeface="Calibri" panose="020F0502020204030204" pitchFamily="34" charset="0"/>
              </a:rPr>
              <a:t>it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received</a:t>
            </a:r>
            <a:r>
              <a:rPr lang="fr-FR">
                <a:solidFill>
                  <a:srgbClr val="1B445F"/>
                </a:solidFill>
                <a:latin typeface="Calibri" panose="020F0502020204030204" pitchFamily="34" charset="0"/>
                <a:cs typeface="Calibri" panose="020F0502020204030204" pitchFamily="34" charset="0"/>
              </a:rPr>
              <a:t> or </a:t>
            </a:r>
            <a:r>
              <a:rPr lang="fr-FR" err="1">
                <a:solidFill>
                  <a:srgbClr val="1B445F"/>
                </a:solidFill>
                <a:latin typeface="Calibri" panose="020F0502020204030204" pitchFamily="34" charset="0"/>
                <a:cs typeface="Calibri" panose="020F0502020204030204" pitchFamily="34" charset="0"/>
              </a:rPr>
              <a:t>that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will</a:t>
            </a:r>
            <a:r>
              <a:rPr lang="fr-FR">
                <a:solidFill>
                  <a:srgbClr val="1B445F"/>
                </a:solidFill>
                <a:latin typeface="Calibri" panose="020F0502020204030204" pitchFamily="34" charset="0"/>
                <a:cs typeface="Calibri" panose="020F0502020204030204" pitchFamily="34" charset="0"/>
              </a:rPr>
              <a:t> continue to </a:t>
            </a:r>
            <a:r>
              <a:rPr lang="fr-FR" err="1">
                <a:solidFill>
                  <a:srgbClr val="1B445F"/>
                </a:solidFill>
                <a:latin typeface="Calibri" panose="020F0502020204030204" pitchFamily="34" charset="0"/>
                <a:cs typeface="Calibri" panose="020F0502020204030204" pitchFamily="34" charset="0"/>
              </a:rPr>
              <a:t>be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in the future.</a:t>
            </a:r>
          </a:p>
        </p:txBody>
      </p:sp>
      <p:sp>
        <p:nvSpPr>
          <p:cNvPr id="4" name="Espace réservé pour une image  4">
            <a:extLst>
              <a:ext uri="{FF2B5EF4-FFF2-40B4-BE49-F238E27FC236}">
                <a16:creationId xmlns:a16="http://schemas.microsoft.com/office/drawing/2014/main" id="{346B39B8-F985-C24E-B036-CD09034F89B5}"/>
              </a:ext>
            </a:extLst>
          </p:cNvPr>
          <p:cNvSpPr>
            <a:spLocks noGrp="1"/>
          </p:cNvSpPr>
          <p:nvPr>
            <p:ph type="pic" sz="quarter" idx="17" hasCustomPrompt="1"/>
          </p:nvPr>
        </p:nvSpPr>
        <p:spPr>
          <a:xfrm>
            <a:off x="1117037" y="2330409"/>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9" name="Espace réservé du texte 23">
            <a:extLst>
              <a:ext uri="{FF2B5EF4-FFF2-40B4-BE49-F238E27FC236}">
                <a16:creationId xmlns:a16="http://schemas.microsoft.com/office/drawing/2014/main" id="{5B1D51E9-169E-3448-8456-4DA2F04B88A0}"/>
              </a:ext>
            </a:extLst>
          </p:cNvPr>
          <p:cNvSpPr>
            <a:spLocks noGrp="1"/>
          </p:cNvSpPr>
          <p:nvPr>
            <p:ph type="body" sz="quarter" idx="14" hasCustomPrompt="1"/>
          </p:nvPr>
        </p:nvSpPr>
        <p:spPr>
          <a:xfrm>
            <a:off x="685939" y="3582110"/>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cxnSp>
        <p:nvCxnSpPr>
          <p:cNvPr id="16" name="Connecteur droit 15">
            <a:extLst>
              <a:ext uri="{FF2B5EF4-FFF2-40B4-BE49-F238E27FC236}">
                <a16:creationId xmlns:a16="http://schemas.microsoft.com/office/drawing/2014/main" id="{915C36DC-E286-5943-85D5-87CF475B44FC}"/>
              </a:ext>
            </a:extLst>
          </p:cNvPr>
          <p:cNvCxnSpPr>
            <a:cxnSpLocks/>
          </p:cNvCxnSpPr>
          <p:nvPr userDrawn="1"/>
        </p:nvCxnSpPr>
        <p:spPr>
          <a:xfrm>
            <a:off x="685940" y="1855907"/>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id="{13CC7F2B-C83E-8B4F-A5B8-59193414067D}"/>
              </a:ext>
            </a:extLst>
          </p:cNvPr>
          <p:cNvCxnSpPr>
            <a:cxnSpLocks/>
          </p:cNvCxnSpPr>
          <p:nvPr userDrawn="1"/>
        </p:nvCxnSpPr>
        <p:spPr>
          <a:xfrm>
            <a:off x="685939" y="4960054"/>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18" name="Espace réservé pour une image  4">
            <a:extLst>
              <a:ext uri="{FF2B5EF4-FFF2-40B4-BE49-F238E27FC236}">
                <a16:creationId xmlns:a16="http://schemas.microsoft.com/office/drawing/2014/main" id="{CE743C43-E5B3-FD43-ACEE-795FCAE1C407}"/>
              </a:ext>
            </a:extLst>
          </p:cNvPr>
          <p:cNvSpPr>
            <a:spLocks noGrp="1"/>
          </p:cNvSpPr>
          <p:nvPr>
            <p:ph type="pic" sz="quarter" idx="26" hasCustomPrompt="1"/>
          </p:nvPr>
        </p:nvSpPr>
        <p:spPr>
          <a:xfrm>
            <a:off x="2934211" y="2330412"/>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28" name="Espace réservé du texte 23">
            <a:extLst>
              <a:ext uri="{FF2B5EF4-FFF2-40B4-BE49-F238E27FC236}">
                <a16:creationId xmlns:a16="http://schemas.microsoft.com/office/drawing/2014/main" id="{87A26503-3DF3-D84D-8CA5-0C91E5C41175}"/>
              </a:ext>
            </a:extLst>
          </p:cNvPr>
          <p:cNvSpPr>
            <a:spLocks noGrp="1"/>
          </p:cNvSpPr>
          <p:nvPr>
            <p:ph type="body" sz="quarter" idx="31" hasCustomPrompt="1"/>
          </p:nvPr>
        </p:nvSpPr>
        <p:spPr>
          <a:xfrm>
            <a:off x="2503115" y="3582112"/>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3" name="Espace réservé du texte 23">
            <a:extLst>
              <a:ext uri="{FF2B5EF4-FFF2-40B4-BE49-F238E27FC236}">
                <a16:creationId xmlns:a16="http://schemas.microsoft.com/office/drawing/2014/main" id="{0A2ADEE0-807B-6141-B406-1CDF99F8A191}"/>
              </a:ext>
            </a:extLst>
          </p:cNvPr>
          <p:cNvSpPr>
            <a:spLocks noGrp="1"/>
          </p:cNvSpPr>
          <p:nvPr>
            <p:ph type="body" sz="quarter" idx="32" hasCustomPrompt="1"/>
          </p:nvPr>
        </p:nvSpPr>
        <p:spPr>
          <a:xfrm>
            <a:off x="4311814" y="3582112"/>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4" name="Espace réservé du texte 23">
            <a:extLst>
              <a:ext uri="{FF2B5EF4-FFF2-40B4-BE49-F238E27FC236}">
                <a16:creationId xmlns:a16="http://schemas.microsoft.com/office/drawing/2014/main" id="{48E4C2A0-F1A8-744E-87B1-19E361844B25}"/>
              </a:ext>
            </a:extLst>
          </p:cNvPr>
          <p:cNvSpPr>
            <a:spLocks noGrp="1"/>
          </p:cNvSpPr>
          <p:nvPr>
            <p:ph type="body" sz="quarter" idx="33" hasCustomPrompt="1"/>
          </p:nvPr>
        </p:nvSpPr>
        <p:spPr>
          <a:xfrm>
            <a:off x="6121472" y="3582111"/>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7" name="Espace réservé du texte 23">
            <a:extLst>
              <a:ext uri="{FF2B5EF4-FFF2-40B4-BE49-F238E27FC236}">
                <a16:creationId xmlns:a16="http://schemas.microsoft.com/office/drawing/2014/main" id="{C5541B0C-4423-FF45-8009-3BAC197DE6C9}"/>
              </a:ext>
            </a:extLst>
          </p:cNvPr>
          <p:cNvSpPr>
            <a:spLocks noGrp="1"/>
          </p:cNvSpPr>
          <p:nvPr>
            <p:ph type="body" sz="quarter" idx="34" hasCustomPrompt="1"/>
          </p:nvPr>
        </p:nvSpPr>
        <p:spPr>
          <a:xfrm>
            <a:off x="7932693" y="3582111"/>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8" name="Espace réservé du texte 23">
            <a:extLst>
              <a:ext uri="{FF2B5EF4-FFF2-40B4-BE49-F238E27FC236}">
                <a16:creationId xmlns:a16="http://schemas.microsoft.com/office/drawing/2014/main" id="{C048F24D-2DC8-5B4A-A354-0328B500B8A6}"/>
              </a:ext>
            </a:extLst>
          </p:cNvPr>
          <p:cNvSpPr>
            <a:spLocks noGrp="1"/>
          </p:cNvSpPr>
          <p:nvPr>
            <p:ph type="body" sz="quarter" idx="35" hasCustomPrompt="1"/>
          </p:nvPr>
        </p:nvSpPr>
        <p:spPr>
          <a:xfrm>
            <a:off x="9740271" y="3582110"/>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9" name="Espace réservé pour une image  4">
            <a:extLst>
              <a:ext uri="{FF2B5EF4-FFF2-40B4-BE49-F238E27FC236}">
                <a16:creationId xmlns:a16="http://schemas.microsoft.com/office/drawing/2014/main" id="{F7434E2E-7990-2F44-95C4-23B90179453C}"/>
              </a:ext>
            </a:extLst>
          </p:cNvPr>
          <p:cNvSpPr>
            <a:spLocks noGrp="1"/>
          </p:cNvSpPr>
          <p:nvPr>
            <p:ph type="pic" sz="quarter" idx="36" hasCustomPrompt="1"/>
          </p:nvPr>
        </p:nvSpPr>
        <p:spPr>
          <a:xfrm>
            <a:off x="4742910" y="2330412"/>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0" name="Espace réservé pour une image  4">
            <a:extLst>
              <a:ext uri="{FF2B5EF4-FFF2-40B4-BE49-F238E27FC236}">
                <a16:creationId xmlns:a16="http://schemas.microsoft.com/office/drawing/2014/main" id="{944E060F-F495-4843-B9C5-0500C18BFBF3}"/>
              </a:ext>
            </a:extLst>
          </p:cNvPr>
          <p:cNvSpPr>
            <a:spLocks noGrp="1"/>
          </p:cNvSpPr>
          <p:nvPr>
            <p:ph type="pic" sz="quarter" idx="37" hasCustomPrompt="1"/>
          </p:nvPr>
        </p:nvSpPr>
        <p:spPr>
          <a:xfrm>
            <a:off x="6552568"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1" name="Espace réservé pour une image  4">
            <a:extLst>
              <a:ext uri="{FF2B5EF4-FFF2-40B4-BE49-F238E27FC236}">
                <a16:creationId xmlns:a16="http://schemas.microsoft.com/office/drawing/2014/main" id="{E8C667B2-DF7B-A34B-9117-D884CDD3B6E8}"/>
              </a:ext>
            </a:extLst>
          </p:cNvPr>
          <p:cNvSpPr>
            <a:spLocks noGrp="1"/>
          </p:cNvSpPr>
          <p:nvPr>
            <p:ph type="pic" sz="quarter" idx="38" hasCustomPrompt="1"/>
          </p:nvPr>
        </p:nvSpPr>
        <p:spPr>
          <a:xfrm>
            <a:off x="8363789"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2" name="Espace réservé pour une image  4">
            <a:extLst>
              <a:ext uri="{FF2B5EF4-FFF2-40B4-BE49-F238E27FC236}">
                <a16:creationId xmlns:a16="http://schemas.microsoft.com/office/drawing/2014/main" id="{23675D11-CE12-B84E-A3E4-10E2DE2F3A16}"/>
              </a:ext>
            </a:extLst>
          </p:cNvPr>
          <p:cNvSpPr>
            <a:spLocks noGrp="1"/>
          </p:cNvSpPr>
          <p:nvPr>
            <p:ph type="pic" sz="quarter" idx="39" hasCustomPrompt="1"/>
          </p:nvPr>
        </p:nvSpPr>
        <p:spPr>
          <a:xfrm>
            <a:off x="10171367"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pic>
        <p:nvPicPr>
          <p:cNvPr id="6" name="Image 5" descr="Une image contenant texte&#10;&#10;Description générée automatiquement">
            <a:extLst>
              <a:ext uri="{FF2B5EF4-FFF2-40B4-BE49-F238E27FC236}">
                <a16:creationId xmlns:a16="http://schemas.microsoft.com/office/drawing/2014/main" id="{2E6B2E63-51C6-B65D-C59D-AA2456E0D149}"/>
              </a:ext>
            </a:extLst>
          </p:cNvPr>
          <p:cNvPicPr>
            <a:picLocks noChangeAspect="1"/>
          </p:cNvPicPr>
          <p:nvPr userDrawn="1"/>
        </p:nvPicPr>
        <p:blipFill>
          <a:blip r:embed="rId2"/>
          <a:stretch>
            <a:fillRect/>
          </a:stretch>
        </p:blipFill>
        <p:spPr>
          <a:xfrm>
            <a:off x="3292116" y="168968"/>
            <a:ext cx="5315171" cy="1077195"/>
          </a:xfrm>
          <a:prstGeom prst="rect">
            <a:avLst/>
          </a:prstGeom>
        </p:spPr>
      </p:pic>
    </p:spTree>
    <p:extLst>
      <p:ext uri="{BB962C8B-B14F-4D97-AF65-F5344CB8AC3E}">
        <p14:creationId xmlns:p14="http://schemas.microsoft.com/office/powerpoint/2010/main" val="365747062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_Vierge">
    <p:spTree>
      <p:nvGrpSpPr>
        <p:cNvPr id="1" name=""/>
        <p:cNvGrpSpPr/>
        <p:nvPr/>
      </p:nvGrpSpPr>
      <p:grpSpPr>
        <a:xfrm>
          <a:off x="0" y="0"/>
          <a:ext cx="0" cy="0"/>
          <a:chOff x="0" y="0"/>
          <a:chExt cx="0" cy="0"/>
        </a:xfrm>
      </p:grpSpPr>
      <p:pic>
        <p:nvPicPr>
          <p:cNvPr id="8" name="Espace réservé pour une image  19" descr="Une image contenant bâtiment, extérieur, ciel, grand&#10;&#10;Description générée automatiquement">
            <a:extLst>
              <a:ext uri="{FF2B5EF4-FFF2-40B4-BE49-F238E27FC236}">
                <a16:creationId xmlns:a16="http://schemas.microsoft.com/office/drawing/2014/main" id="{CD779B8A-CADE-4396-B8D8-A45C55B9D299}"/>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6" name="Espace réservé du texte 23">
            <a:extLst>
              <a:ext uri="{FF2B5EF4-FFF2-40B4-BE49-F238E27FC236}">
                <a16:creationId xmlns:a16="http://schemas.microsoft.com/office/drawing/2014/main" id="{EF8D8815-4EEC-844F-A9F2-12C869A26C95}"/>
              </a:ext>
            </a:extLst>
          </p:cNvPr>
          <p:cNvSpPr>
            <a:spLocks noGrp="1"/>
          </p:cNvSpPr>
          <p:nvPr>
            <p:ph type="body" sz="quarter" idx="11" hasCustomPrompt="1"/>
          </p:nvPr>
        </p:nvSpPr>
        <p:spPr>
          <a:xfrm>
            <a:off x="2" y="-20305"/>
            <a:ext cx="12191998" cy="754597"/>
          </a:xfrm>
          <a:prstGeom prst="rect">
            <a:avLst/>
          </a:prstGeom>
          <a:solidFill>
            <a:srgbClr val="1F5363">
              <a:alpha val="50000"/>
            </a:srgbClr>
          </a:solidFill>
        </p:spPr>
        <p:txBody>
          <a:bodyPr lIns="90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7" name="Espace réservé du texte 23">
            <a:extLst>
              <a:ext uri="{FF2B5EF4-FFF2-40B4-BE49-F238E27FC236}">
                <a16:creationId xmlns:a16="http://schemas.microsoft.com/office/drawing/2014/main" id="{C68E6838-74F8-244D-9463-8B6BB9DD377F}"/>
              </a:ext>
            </a:extLst>
          </p:cNvPr>
          <p:cNvSpPr>
            <a:spLocks noGrp="1"/>
          </p:cNvSpPr>
          <p:nvPr>
            <p:ph type="body" sz="quarter" idx="22" hasCustomPrompt="1"/>
          </p:nvPr>
        </p:nvSpPr>
        <p:spPr>
          <a:xfrm flipH="1">
            <a:off x="154398" y="100490"/>
            <a:ext cx="585329" cy="529417"/>
          </a:xfrm>
          <a:prstGeom prst="parallelogram">
            <a:avLst/>
          </a:prstGeom>
          <a:solidFill>
            <a:srgbClr val="1F5363"/>
          </a:solidFill>
        </p:spPr>
        <p:txBody>
          <a:bodyPr lIns="0" tIns="0" rIns="0" bIns="0" anchor="ctr"/>
          <a:lstStyle>
            <a:lvl1pPr marL="0" indent="0" algn="ctr">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X</a:t>
            </a:r>
          </a:p>
        </p:txBody>
      </p:sp>
    </p:spTree>
    <p:extLst>
      <p:ext uri="{BB962C8B-B14F-4D97-AF65-F5344CB8AC3E}">
        <p14:creationId xmlns:p14="http://schemas.microsoft.com/office/powerpoint/2010/main" val="1512222717"/>
      </p:ext>
    </p:extLst>
  </p:cSld>
  <p:clrMapOvr>
    <a:masterClrMapping/>
  </p:clrMapOvr>
  <p:hf hdr="0" dt="0"/>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ouverture">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80193165-B3F4-3448-9E0C-34CDF99A4413}"/>
              </a:ext>
            </a:extLst>
          </p:cNvPr>
          <p:cNvSpPr/>
          <p:nvPr userDrawn="1"/>
        </p:nvSpPr>
        <p:spPr>
          <a:xfrm>
            <a:off x="4781883" y="-56787"/>
            <a:ext cx="5005423" cy="68579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 name="Picture 9">
            <a:extLst>
              <a:ext uri="{FF2B5EF4-FFF2-40B4-BE49-F238E27FC236}">
                <a16:creationId xmlns:a16="http://schemas.microsoft.com/office/drawing/2014/main" id="{5843A315-8FE4-3D4B-BFEF-286B904BDA61}"/>
              </a:ext>
            </a:extLst>
          </p:cNvPr>
          <p:cNvPicPr>
            <a:picLocks noChangeAspect="1"/>
          </p:cNvPicPr>
          <p:nvPr userDrawn="1"/>
        </p:nvPicPr>
        <p:blipFill rotWithShape="1">
          <a:blip r:embed="rId2" cstate="hqprint">
            <a:extLst>
              <a:ext uri="{28A0092B-C50C-407E-A947-70E740481C1C}">
                <a14:useLocalDpi xmlns:a14="http://schemas.microsoft.com/office/drawing/2010/main"/>
              </a:ext>
            </a:extLst>
          </a:blip>
          <a:srcRect/>
          <a:stretch/>
        </p:blipFill>
        <p:spPr>
          <a:xfrm>
            <a:off x="5005423" y="0"/>
            <a:ext cx="7186577" cy="6858000"/>
          </a:xfrm>
          <a:prstGeom prst="rect">
            <a:avLst/>
          </a:prstGeom>
          <a:effectLst/>
        </p:spPr>
      </p:pic>
      <p:sp>
        <p:nvSpPr>
          <p:cNvPr id="8" name="Title 12">
            <a:extLst>
              <a:ext uri="{FF2B5EF4-FFF2-40B4-BE49-F238E27FC236}">
                <a16:creationId xmlns:a16="http://schemas.microsoft.com/office/drawing/2014/main" id="{47248737-92C1-B44A-BE43-7C798FECF5E8}"/>
              </a:ext>
            </a:extLst>
          </p:cNvPr>
          <p:cNvSpPr txBox="1">
            <a:spLocks/>
          </p:cNvSpPr>
          <p:nvPr userDrawn="1"/>
        </p:nvSpPr>
        <p:spPr>
          <a:xfrm>
            <a:off x="5005423" y="0"/>
            <a:ext cx="7186577" cy="6878305"/>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grpSp>
        <p:nvGrpSpPr>
          <p:cNvPr id="12" name="Groupe 11">
            <a:extLst>
              <a:ext uri="{FF2B5EF4-FFF2-40B4-BE49-F238E27FC236}">
                <a16:creationId xmlns:a16="http://schemas.microsoft.com/office/drawing/2014/main" id="{6EA4AF5C-AA5E-8549-84A9-0E37F127B2AD}"/>
              </a:ext>
            </a:extLst>
          </p:cNvPr>
          <p:cNvGrpSpPr/>
          <p:nvPr userDrawn="1"/>
        </p:nvGrpSpPr>
        <p:grpSpPr>
          <a:xfrm>
            <a:off x="447079" y="4499811"/>
            <a:ext cx="1035293" cy="1896979"/>
            <a:chOff x="556126" y="3429000"/>
            <a:chExt cx="1035293" cy="1896979"/>
          </a:xfrm>
        </p:grpSpPr>
        <p:sp>
          <p:nvSpPr>
            <p:cNvPr id="13" name="Rectangle 12">
              <a:extLst>
                <a:ext uri="{FF2B5EF4-FFF2-40B4-BE49-F238E27FC236}">
                  <a16:creationId xmlns:a16="http://schemas.microsoft.com/office/drawing/2014/main" id="{187C5A64-78E3-2B49-9160-5FE072B117AF}"/>
                </a:ext>
              </a:extLst>
            </p:cNvPr>
            <p:cNvSpPr/>
            <p:nvPr/>
          </p:nvSpPr>
          <p:spPr>
            <a:xfrm>
              <a:off x="556126" y="3429000"/>
              <a:ext cx="294106" cy="1896979"/>
            </a:xfrm>
            <a:prstGeom prst="rect">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Rectangle 13">
              <a:extLst>
                <a:ext uri="{FF2B5EF4-FFF2-40B4-BE49-F238E27FC236}">
                  <a16:creationId xmlns:a16="http://schemas.microsoft.com/office/drawing/2014/main" id="{3A8E344C-20D0-AA4F-8DB3-C12A90BCF62F}"/>
                </a:ext>
              </a:extLst>
            </p:cNvPr>
            <p:cNvSpPr/>
            <p:nvPr/>
          </p:nvSpPr>
          <p:spPr>
            <a:xfrm rot="16200000">
              <a:off x="1071100" y="4805660"/>
              <a:ext cx="299453" cy="741184"/>
            </a:xfrm>
            <a:prstGeom prst="rect">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 name="Groupe 14">
            <a:extLst>
              <a:ext uri="{FF2B5EF4-FFF2-40B4-BE49-F238E27FC236}">
                <a16:creationId xmlns:a16="http://schemas.microsoft.com/office/drawing/2014/main" id="{A2511729-FE33-014B-B3E5-5E316468DDFC}"/>
              </a:ext>
            </a:extLst>
          </p:cNvPr>
          <p:cNvGrpSpPr/>
          <p:nvPr userDrawn="1"/>
        </p:nvGrpSpPr>
        <p:grpSpPr>
          <a:xfrm rot="10800000">
            <a:off x="10709627" y="461210"/>
            <a:ext cx="1035293" cy="1896979"/>
            <a:chOff x="556126" y="3429000"/>
            <a:chExt cx="1035293" cy="1896979"/>
          </a:xfrm>
          <a:solidFill>
            <a:schemeClr val="bg1"/>
          </a:solidFill>
        </p:grpSpPr>
        <p:sp>
          <p:nvSpPr>
            <p:cNvPr id="16" name="Rectangle 15">
              <a:extLst>
                <a:ext uri="{FF2B5EF4-FFF2-40B4-BE49-F238E27FC236}">
                  <a16:creationId xmlns:a16="http://schemas.microsoft.com/office/drawing/2014/main" id="{BB0DD731-032F-BB48-A139-2A192A9C386C}"/>
                </a:ext>
              </a:extLst>
            </p:cNvPr>
            <p:cNvSpPr/>
            <p:nvPr/>
          </p:nvSpPr>
          <p:spPr>
            <a:xfrm>
              <a:off x="556126" y="3429000"/>
              <a:ext cx="294106" cy="189697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Rectangle 16">
              <a:extLst>
                <a:ext uri="{FF2B5EF4-FFF2-40B4-BE49-F238E27FC236}">
                  <a16:creationId xmlns:a16="http://schemas.microsoft.com/office/drawing/2014/main" id="{2D2A9355-7C75-3245-A9A8-D0CD63649897}"/>
                </a:ext>
              </a:extLst>
            </p:cNvPr>
            <p:cNvSpPr/>
            <p:nvPr/>
          </p:nvSpPr>
          <p:spPr>
            <a:xfrm rot="16200000">
              <a:off x="1071100" y="4805660"/>
              <a:ext cx="299453" cy="74118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2" name="Espace réservé du texte 23">
            <a:extLst>
              <a:ext uri="{FF2B5EF4-FFF2-40B4-BE49-F238E27FC236}">
                <a16:creationId xmlns:a16="http://schemas.microsoft.com/office/drawing/2014/main" id="{064D5568-EDCB-1443-9480-BBB72E55B384}"/>
              </a:ext>
            </a:extLst>
          </p:cNvPr>
          <p:cNvSpPr>
            <a:spLocks noGrp="1"/>
          </p:cNvSpPr>
          <p:nvPr>
            <p:ph type="body" sz="quarter" idx="11" hasCustomPrompt="1"/>
          </p:nvPr>
        </p:nvSpPr>
        <p:spPr>
          <a:xfrm>
            <a:off x="587112" y="4377489"/>
            <a:ext cx="4558344" cy="2141621"/>
          </a:xfrm>
          <a:prstGeom prst="rect">
            <a:avLst/>
          </a:prstGeom>
        </p:spPr>
        <p:txBody>
          <a:bodyPr lIns="180000" rIns="180000" anchor="ctr"/>
          <a:lstStyle>
            <a:lvl1pPr marL="0" indent="0" algn="r">
              <a:buNone/>
              <a:defRPr sz="5400" b="1"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Cliquer pour modifier</a:t>
            </a:r>
          </a:p>
        </p:txBody>
      </p:sp>
      <p:sp>
        <p:nvSpPr>
          <p:cNvPr id="23" name="Espace réservé du texte 23">
            <a:extLst>
              <a:ext uri="{FF2B5EF4-FFF2-40B4-BE49-F238E27FC236}">
                <a16:creationId xmlns:a16="http://schemas.microsoft.com/office/drawing/2014/main" id="{FE4467EA-FF45-D349-AE7E-9D12174214AE}"/>
              </a:ext>
            </a:extLst>
          </p:cNvPr>
          <p:cNvSpPr>
            <a:spLocks noGrp="1"/>
          </p:cNvSpPr>
          <p:nvPr>
            <p:ph type="body" sz="quarter" idx="12" hasCustomPrompt="1"/>
          </p:nvPr>
        </p:nvSpPr>
        <p:spPr>
          <a:xfrm>
            <a:off x="2531508" y="2781147"/>
            <a:ext cx="6739497" cy="2141621"/>
          </a:xfrm>
          <a:prstGeom prst="rect">
            <a:avLst/>
          </a:prstGeom>
        </p:spPr>
        <p:txBody>
          <a:bodyPr lIns="180000" rIns="180000" anchor="ctr"/>
          <a:lstStyle>
            <a:lvl1pPr marL="0" indent="0" algn="l">
              <a:buNone/>
              <a:defRPr sz="54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Cliquer pour modifier le texte du titre</a:t>
            </a:r>
          </a:p>
        </p:txBody>
      </p:sp>
      <p:sp>
        <p:nvSpPr>
          <p:cNvPr id="25" name="Espace réservé du texte 23">
            <a:extLst>
              <a:ext uri="{FF2B5EF4-FFF2-40B4-BE49-F238E27FC236}">
                <a16:creationId xmlns:a16="http://schemas.microsoft.com/office/drawing/2014/main" id="{8E37D544-4142-144F-A5A1-C192DDE84169}"/>
              </a:ext>
            </a:extLst>
          </p:cNvPr>
          <p:cNvSpPr>
            <a:spLocks noGrp="1"/>
          </p:cNvSpPr>
          <p:nvPr>
            <p:ph type="body" sz="quarter" idx="13" hasCustomPrompt="1"/>
          </p:nvPr>
        </p:nvSpPr>
        <p:spPr>
          <a:xfrm>
            <a:off x="9060446" y="5894966"/>
            <a:ext cx="2684474" cy="501824"/>
          </a:xfrm>
          <a:prstGeom prst="rect">
            <a:avLst/>
          </a:prstGeom>
        </p:spPr>
        <p:txBody>
          <a:bodyPr lIns="0" tIns="0" rIns="0" bIns="0" anchor="b"/>
          <a:lstStyle>
            <a:lvl1pPr marL="0" indent="0" algn="r">
              <a:buNone/>
              <a:defRPr sz="18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Date</a:t>
            </a:r>
          </a:p>
        </p:txBody>
      </p:sp>
      <p:pic>
        <p:nvPicPr>
          <p:cNvPr id="3" name="Image 2" descr="Une image contenant texte&#10;&#10;Description générée automatiquement">
            <a:extLst>
              <a:ext uri="{FF2B5EF4-FFF2-40B4-BE49-F238E27FC236}">
                <a16:creationId xmlns:a16="http://schemas.microsoft.com/office/drawing/2014/main" id="{71E16D69-86E3-1E4B-FD4D-061037C55908}"/>
              </a:ext>
            </a:extLst>
          </p:cNvPr>
          <p:cNvPicPr>
            <a:picLocks noChangeAspect="1"/>
          </p:cNvPicPr>
          <p:nvPr userDrawn="1"/>
        </p:nvPicPr>
        <p:blipFill>
          <a:blip r:embed="rId3"/>
          <a:stretch>
            <a:fillRect/>
          </a:stretch>
        </p:blipFill>
        <p:spPr>
          <a:xfrm>
            <a:off x="452225" y="461210"/>
            <a:ext cx="4106118" cy="1123372"/>
          </a:xfrm>
          <a:prstGeom prst="rect">
            <a:avLst/>
          </a:prstGeom>
        </p:spPr>
      </p:pic>
    </p:spTree>
    <p:extLst>
      <p:ext uri="{BB962C8B-B14F-4D97-AF65-F5344CB8AC3E}">
        <p14:creationId xmlns:p14="http://schemas.microsoft.com/office/powerpoint/2010/main" val="88517115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Sommaire en 3">
    <p:spTree>
      <p:nvGrpSpPr>
        <p:cNvPr id="1" name=""/>
        <p:cNvGrpSpPr/>
        <p:nvPr/>
      </p:nvGrpSpPr>
      <p:grpSpPr>
        <a:xfrm>
          <a:off x="0" y="0"/>
          <a:ext cx="0" cy="0"/>
          <a:chOff x="0" y="0"/>
          <a:chExt cx="0" cy="0"/>
        </a:xfrm>
      </p:grpSpPr>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1202"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74245"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245481" y="2132702"/>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488849" y="3103549"/>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748725" y="4074396"/>
            <a:ext cx="879944" cy="795890"/>
          </a:xfrm>
          <a:prstGeom prst="parallelogram">
            <a:avLst/>
          </a:prstGeom>
          <a:solidFill>
            <a:srgbClr val="41A4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36523"/>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315006" y="225327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911867" y="226228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532807" y="322074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781925" y="4179203"/>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911867" y="3220744"/>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911867" y="4173559"/>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Tree>
    <p:extLst>
      <p:ext uri="{BB962C8B-B14F-4D97-AF65-F5344CB8AC3E}">
        <p14:creationId xmlns:p14="http://schemas.microsoft.com/office/powerpoint/2010/main" val="391440299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Sommaire en 4">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DEDE16C2-F04B-5183-9F8C-CF77FAD5BA13}"/>
              </a:ext>
            </a:extLst>
          </p:cNvPr>
          <p:cNvGraphicFramePr>
            <a:graphicFrameLocks noChangeAspect="1"/>
          </p:cNvGraphicFramePr>
          <p:nvPr userDrawn="1">
            <p:custDataLst>
              <p:tags r:id="rId1"/>
            </p:custDataLst>
            <p:extLst>
              <p:ext uri="{D42A27DB-BD31-4B8C-83A1-F6EECF244321}">
                <p14:modId xmlns:p14="http://schemas.microsoft.com/office/powerpoint/2010/main" val="34964437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0" imgH="469" progId="TCLayout.ActiveDocument.1">
                  <p:embed/>
                </p:oleObj>
              </mc:Choice>
              <mc:Fallback>
                <p:oleObj name="think-cell Slide" r:id="rId3" imgW="470" imgH="469" progId="TCLayout.ActiveDocument.1">
                  <p:embed/>
                  <p:pic>
                    <p:nvPicPr>
                      <p:cNvPr id="4" name="Object 3" hidden="1">
                        <a:extLst>
                          <a:ext uri="{FF2B5EF4-FFF2-40B4-BE49-F238E27FC236}">
                            <a16:creationId xmlns:a16="http://schemas.microsoft.com/office/drawing/2014/main" id="{DEDE16C2-F04B-5183-9F8C-CF77FAD5BA1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24198"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56807"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119593" y="1461124"/>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362961" y="2431971"/>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622837" y="3402818"/>
            <a:ext cx="879944" cy="795890"/>
          </a:xfrm>
          <a:prstGeom prst="parallelogram">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867867" y="1590708"/>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867867" y="254916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867867" y="3501981"/>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11" name="Espace réservé du texte 23">
            <a:extLst>
              <a:ext uri="{FF2B5EF4-FFF2-40B4-BE49-F238E27FC236}">
                <a16:creationId xmlns:a16="http://schemas.microsoft.com/office/drawing/2014/main" id="{CEEA810F-4B6E-A222-DC3C-89AA31D68B4F}"/>
              </a:ext>
            </a:extLst>
          </p:cNvPr>
          <p:cNvSpPr>
            <a:spLocks noGrp="1"/>
          </p:cNvSpPr>
          <p:nvPr>
            <p:ph type="body" sz="quarter" idx="21" hasCustomPrompt="1"/>
          </p:nvPr>
        </p:nvSpPr>
        <p:spPr>
          <a:xfrm>
            <a:off x="10867867" y="4471707"/>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3" name="Rectangle : avec coin rogné 2">
            <a:extLst>
              <a:ext uri="{FF2B5EF4-FFF2-40B4-BE49-F238E27FC236}">
                <a16:creationId xmlns:a16="http://schemas.microsoft.com/office/drawing/2014/main" id="{3C35B311-8A5F-959D-911C-9BEE999E88D2}"/>
              </a:ext>
            </a:extLst>
          </p:cNvPr>
          <p:cNvSpPr/>
          <p:nvPr userDrawn="1"/>
        </p:nvSpPr>
        <p:spPr>
          <a:xfrm rot="10800000">
            <a:off x="4740622" y="19559"/>
            <a:ext cx="330925" cy="6818880"/>
          </a:xfrm>
          <a:prstGeom prst="snip1Rect">
            <a:avLst>
              <a:gd name="adj" fmla="val 1943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Parallélogramme 14">
            <a:extLst>
              <a:ext uri="{FF2B5EF4-FFF2-40B4-BE49-F238E27FC236}">
                <a16:creationId xmlns:a16="http://schemas.microsoft.com/office/drawing/2014/main" id="{28918D0A-2654-D1B8-EEA4-5D6B878D5DCB}"/>
              </a:ext>
            </a:extLst>
          </p:cNvPr>
          <p:cNvSpPr/>
          <p:nvPr userDrawn="1"/>
        </p:nvSpPr>
        <p:spPr>
          <a:xfrm flipH="1">
            <a:off x="3891607" y="4419314"/>
            <a:ext cx="879944" cy="795890"/>
          </a:xfrm>
          <a:prstGeom prst="parallelogram">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4</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9560"/>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189118" y="1581692"/>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406919" y="2549166"/>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656037" y="3507625"/>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0" name="Espace réservé du texte 23">
            <a:extLst>
              <a:ext uri="{FF2B5EF4-FFF2-40B4-BE49-F238E27FC236}">
                <a16:creationId xmlns:a16="http://schemas.microsoft.com/office/drawing/2014/main" id="{EA1EE1A5-0D86-465E-AD3C-B858516DEC1A}"/>
              </a:ext>
            </a:extLst>
          </p:cNvPr>
          <p:cNvSpPr>
            <a:spLocks noGrp="1"/>
          </p:cNvSpPr>
          <p:nvPr>
            <p:ph type="body" sz="quarter" idx="20" hasCustomPrompt="1"/>
          </p:nvPr>
        </p:nvSpPr>
        <p:spPr>
          <a:xfrm>
            <a:off x="4903971" y="4477351"/>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5" name="Rectangle : avec coin rogné 4">
            <a:extLst>
              <a:ext uri="{FF2B5EF4-FFF2-40B4-BE49-F238E27FC236}">
                <a16:creationId xmlns:a16="http://schemas.microsoft.com/office/drawing/2014/main" id="{8C4061DD-7074-FBF0-E861-3B9BC2821553}"/>
              </a:ext>
            </a:extLst>
          </p:cNvPr>
          <p:cNvSpPr/>
          <p:nvPr userDrawn="1"/>
        </p:nvSpPr>
        <p:spPr>
          <a:xfrm rot="10800000">
            <a:off x="4944324" y="6218623"/>
            <a:ext cx="4640540" cy="549523"/>
          </a:xfrm>
          <a:prstGeom prst="snip1Rect">
            <a:avLst>
              <a:gd name="adj" fmla="val 16453"/>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89689072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Sommaire en 4">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DEDE16C2-F04B-5183-9F8C-CF77FAD5BA13}"/>
              </a:ext>
            </a:extLst>
          </p:cNvPr>
          <p:cNvGraphicFramePr>
            <a:graphicFrameLocks noChangeAspect="1"/>
          </p:cNvGraphicFramePr>
          <p:nvPr userDrawn="1">
            <p:custDataLst>
              <p:tags r:id="rId1"/>
            </p:custDataLst>
            <p:extLst>
              <p:ext uri="{D42A27DB-BD31-4B8C-83A1-F6EECF244321}">
                <p14:modId xmlns:p14="http://schemas.microsoft.com/office/powerpoint/2010/main" val="34964437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0" imgH="469" progId="TCLayout.ActiveDocument.1">
                  <p:embed/>
                </p:oleObj>
              </mc:Choice>
              <mc:Fallback>
                <p:oleObj name="think-cell Slide" r:id="rId3" imgW="470" imgH="469" progId="TCLayout.ActiveDocument.1">
                  <p:embed/>
                  <p:pic>
                    <p:nvPicPr>
                      <p:cNvPr id="4" name="Object 3" hidden="1">
                        <a:extLst>
                          <a:ext uri="{FF2B5EF4-FFF2-40B4-BE49-F238E27FC236}">
                            <a16:creationId xmlns:a16="http://schemas.microsoft.com/office/drawing/2014/main" id="{DEDE16C2-F04B-5183-9F8C-CF77FAD5BA1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24198"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56807"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9560"/>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2" name="Rectangle 1">
            <a:extLst>
              <a:ext uri="{FF2B5EF4-FFF2-40B4-BE49-F238E27FC236}">
                <a16:creationId xmlns:a16="http://schemas.microsoft.com/office/drawing/2014/main" id="{7853081C-ABF7-0C0A-3FA3-F405C3260C00}"/>
              </a:ext>
            </a:extLst>
          </p:cNvPr>
          <p:cNvSpPr/>
          <p:nvPr userDrawn="1"/>
        </p:nvSpPr>
        <p:spPr>
          <a:xfrm>
            <a:off x="4738489" y="139700"/>
            <a:ext cx="585298" cy="6718299"/>
          </a:xfrm>
          <a:prstGeom prst="rect">
            <a:avLst/>
          </a:prstGeom>
          <a:solidFill>
            <a:srgbClr val="F2F2F2"/>
          </a:solidFill>
          <a:ln>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2909281" y="1159372"/>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152649" y="2130219"/>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412525" y="3101066"/>
            <a:ext cx="879944" cy="795890"/>
          </a:xfrm>
          <a:prstGeom prst="parallelogram">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3978806" y="127994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657555" y="128895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196607" y="224741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445725" y="3205873"/>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657555" y="2247414"/>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657555" y="3200229"/>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6" name="Parallélogramme 14">
            <a:extLst>
              <a:ext uri="{FF2B5EF4-FFF2-40B4-BE49-F238E27FC236}">
                <a16:creationId xmlns:a16="http://schemas.microsoft.com/office/drawing/2014/main" id="{28918D0A-2654-D1B8-EEA4-5D6B878D5DCB}"/>
              </a:ext>
            </a:extLst>
          </p:cNvPr>
          <p:cNvSpPr/>
          <p:nvPr userDrawn="1"/>
        </p:nvSpPr>
        <p:spPr>
          <a:xfrm flipH="1">
            <a:off x="3681295" y="4117562"/>
            <a:ext cx="879944" cy="795890"/>
          </a:xfrm>
          <a:prstGeom prst="parallelogram">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4</a:t>
            </a:r>
          </a:p>
        </p:txBody>
      </p:sp>
      <p:sp>
        <p:nvSpPr>
          <p:cNvPr id="7" name="Parallélogramme 14">
            <a:extLst>
              <a:ext uri="{FF2B5EF4-FFF2-40B4-BE49-F238E27FC236}">
                <a16:creationId xmlns:a16="http://schemas.microsoft.com/office/drawing/2014/main" id="{4BAA929F-8768-BC8D-540B-E108F3F96DF0}"/>
              </a:ext>
            </a:extLst>
          </p:cNvPr>
          <p:cNvSpPr/>
          <p:nvPr userDrawn="1"/>
        </p:nvSpPr>
        <p:spPr>
          <a:xfrm flipH="1">
            <a:off x="3956327" y="5134058"/>
            <a:ext cx="879944" cy="795890"/>
          </a:xfrm>
          <a:prstGeom prst="parallelogram">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5</a:t>
            </a:r>
          </a:p>
        </p:txBody>
      </p:sp>
      <p:sp>
        <p:nvSpPr>
          <p:cNvPr id="10" name="Espace réservé du texte 23">
            <a:extLst>
              <a:ext uri="{FF2B5EF4-FFF2-40B4-BE49-F238E27FC236}">
                <a16:creationId xmlns:a16="http://schemas.microsoft.com/office/drawing/2014/main" id="{EA1EE1A5-0D86-465E-AD3C-B858516DEC1A}"/>
              </a:ext>
            </a:extLst>
          </p:cNvPr>
          <p:cNvSpPr>
            <a:spLocks noGrp="1"/>
          </p:cNvSpPr>
          <p:nvPr>
            <p:ph type="body" sz="quarter" idx="20" hasCustomPrompt="1"/>
          </p:nvPr>
        </p:nvSpPr>
        <p:spPr>
          <a:xfrm>
            <a:off x="4693659" y="4175599"/>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1" name="Espace réservé du texte 23">
            <a:extLst>
              <a:ext uri="{FF2B5EF4-FFF2-40B4-BE49-F238E27FC236}">
                <a16:creationId xmlns:a16="http://schemas.microsoft.com/office/drawing/2014/main" id="{CEEA810F-4B6E-A222-DC3C-89AA31D68B4F}"/>
              </a:ext>
            </a:extLst>
          </p:cNvPr>
          <p:cNvSpPr>
            <a:spLocks noGrp="1"/>
          </p:cNvSpPr>
          <p:nvPr>
            <p:ph type="body" sz="quarter" idx="21" hasCustomPrompt="1"/>
          </p:nvPr>
        </p:nvSpPr>
        <p:spPr>
          <a:xfrm>
            <a:off x="10657555" y="4169955"/>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12" name="Espace réservé du texte 23">
            <a:extLst>
              <a:ext uri="{FF2B5EF4-FFF2-40B4-BE49-F238E27FC236}">
                <a16:creationId xmlns:a16="http://schemas.microsoft.com/office/drawing/2014/main" id="{B7B67D1E-A508-78C8-54AE-3108C86B1C40}"/>
              </a:ext>
            </a:extLst>
          </p:cNvPr>
          <p:cNvSpPr>
            <a:spLocks noGrp="1"/>
          </p:cNvSpPr>
          <p:nvPr>
            <p:ph type="body" sz="quarter" idx="22" hasCustomPrompt="1"/>
          </p:nvPr>
        </p:nvSpPr>
        <p:spPr>
          <a:xfrm>
            <a:off x="4976637" y="522699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3" name="Espace réservé du texte 23">
            <a:extLst>
              <a:ext uri="{FF2B5EF4-FFF2-40B4-BE49-F238E27FC236}">
                <a16:creationId xmlns:a16="http://schemas.microsoft.com/office/drawing/2014/main" id="{5424D280-A939-FED7-7C71-D98BBAF34542}"/>
              </a:ext>
            </a:extLst>
          </p:cNvPr>
          <p:cNvSpPr>
            <a:spLocks noGrp="1"/>
          </p:cNvSpPr>
          <p:nvPr>
            <p:ph type="body" sz="quarter" idx="23" hasCustomPrompt="1"/>
          </p:nvPr>
        </p:nvSpPr>
        <p:spPr>
          <a:xfrm>
            <a:off x="10657555" y="522134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Tree>
    <p:extLst>
      <p:ext uri="{BB962C8B-B14F-4D97-AF65-F5344CB8AC3E}">
        <p14:creationId xmlns:p14="http://schemas.microsoft.com/office/powerpoint/2010/main" val="184881505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Sommaire en 5">
    <p:spTree>
      <p:nvGrpSpPr>
        <p:cNvPr id="1" name=""/>
        <p:cNvGrpSpPr/>
        <p:nvPr/>
      </p:nvGrpSpPr>
      <p:grpSpPr>
        <a:xfrm>
          <a:off x="0" y="0"/>
          <a:ext cx="0" cy="0"/>
          <a:chOff x="0" y="0"/>
          <a:chExt cx="0" cy="0"/>
        </a:xfrm>
      </p:grpSpPr>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0" y="1657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74245"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236727" y="2080536"/>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541641" y="3534960"/>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36523"/>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306252" y="220110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903113" y="2210120"/>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585599" y="3652155"/>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964659" y="3652155"/>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Tree>
    <p:extLst>
      <p:ext uri="{BB962C8B-B14F-4D97-AF65-F5344CB8AC3E}">
        <p14:creationId xmlns:p14="http://schemas.microsoft.com/office/powerpoint/2010/main" val="118358316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exte seul">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7" name="Espace réservé du texte 23">
            <a:extLst>
              <a:ext uri="{FF2B5EF4-FFF2-40B4-BE49-F238E27FC236}">
                <a16:creationId xmlns:a16="http://schemas.microsoft.com/office/drawing/2014/main" id="{ACB70F44-1D99-394D-AB89-5318F00D0F5F}"/>
              </a:ext>
            </a:extLst>
          </p:cNvPr>
          <p:cNvSpPr>
            <a:spLocks noGrp="1"/>
          </p:cNvSpPr>
          <p:nvPr>
            <p:ph type="body" sz="quarter" idx="12" hasCustomPrompt="1"/>
          </p:nvPr>
        </p:nvSpPr>
        <p:spPr>
          <a:xfrm>
            <a:off x="685939" y="1241035"/>
            <a:ext cx="10820123"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Tree>
    <p:extLst>
      <p:ext uri="{BB962C8B-B14F-4D97-AF65-F5344CB8AC3E}">
        <p14:creationId xmlns:p14="http://schemas.microsoft.com/office/powerpoint/2010/main" val="370763983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2 colonn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54" name="Espace réservé du texte 23">
            <a:extLst>
              <a:ext uri="{FF2B5EF4-FFF2-40B4-BE49-F238E27FC236}">
                <a16:creationId xmlns:a16="http://schemas.microsoft.com/office/drawing/2014/main" id="{6BEC00FC-5FD6-9747-A4F5-1BA0C868AE09}"/>
              </a:ext>
            </a:extLst>
          </p:cNvPr>
          <p:cNvSpPr>
            <a:spLocks noGrp="1"/>
          </p:cNvSpPr>
          <p:nvPr>
            <p:ph type="body" sz="quarter" idx="12" hasCustomPrompt="1"/>
          </p:nvPr>
        </p:nvSpPr>
        <p:spPr>
          <a:xfrm>
            <a:off x="685939" y="1241035"/>
            <a:ext cx="5096545"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gauche</a:t>
            </a:r>
          </a:p>
        </p:txBody>
      </p:sp>
      <p:sp>
        <p:nvSpPr>
          <p:cNvPr id="55" name="Espace réservé du texte 23">
            <a:extLst>
              <a:ext uri="{FF2B5EF4-FFF2-40B4-BE49-F238E27FC236}">
                <a16:creationId xmlns:a16="http://schemas.microsoft.com/office/drawing/2014/main" id="{C8D64181-356C-BF4B-AD7A-BF7600F64136}"/>
              </a:ext>
            </a:extLst>
          </p:cNvPr>
          <p:cNvSpPr>
            <a:spLocks noGrp="1"/>
          </p:cNvSpPr>
          <p:nvPr>
            <p:ph type="body" sz="quarter" idx="13" hasCustomPrompt="1"/>
          </p:nvPr>
        </p:nvSpPr>
        <p:spPr>
          <a:xfrm>
            <a:off x="6409517" y="1238735"/>
            <a:ext cx="5096545"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droite</a:t>
            </a:r>
          </a:p>
        </p:txBody>
      </p:sp>
    </p:spTree>
    <p:extLst>
      <p:ext uri="{BB962C8B-B14F-4D97-AF65-F5344CB8AC3E}">
        <p14:creationId xmlns:p14="http://schemas.microsoft.com/office/powerpoint/2010/main" val="183809500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exte et imag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54" name="Espace réservé du texte 23">
            <a:extLst>
              <a:ext uri="{FF2B5EF4-FFF2-40B4-BE49-F238E27FC236}">
                <a16:creationId xmlns:a16="http://schemas.microsoft.com/office/drawing/2014/main" id="{6BEC00FC-5FD6-9747-A4F5-1BA0C868AE09}"/>
              </a:ext>
            </a:extLst>
          </p:cNvPr>
          <p:cNvSpPr>
            <a:spLocks noGrp="1"/>
          </p:cNvSpPr>
          <p:nvPr>
            <p:ph type="body" sz="quarter" idx="12" hasCustomPrompt="1"/>
          </p:nvPr>
        </p:nvSpPr>
        <p:spPr>
          <a:xfrm>
            <a:off x="685939" y="1241035"/>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8" name="Espace réservé pour une image  2">
            <a:extLst>
              <a:ext uri="{FF2B5EF4-FFF2-40B4-BE49-F238E27FC236}">
                <a16:creationId xmlns:a16="http://schemas.microsoft.com/office/drawing/2014/main" id="{32B17CA0-7B4B-0249-8C01-D6A16678D57E}"/>
              </a:ext>
            </a:extLst>
          </p:cNvPr>
          <p:cNvSpPr>
            <a:spLocks noGrp="1"/>
          </p:cNvSpPr>
          <p:nvPr>
            <p:ph type="pic" sz="quarter" idx="14" hasCustomPrompt="1"/>
          </p:nvPr>
        </p:nvSpPr>
        <p:spPr>
          <a:xfrm>
            <a:off x="6409516" y="1238735"/>
            <a:ext cx="5096545"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une image</a:t>
            </a:r>
          </a:p>
        </p:txBody>
      </p:sp>
      <p:sp>
        <p:nvSpPr>
          <p:cNvPr id="15" name="Espace réservé du texte 23">
            <a:extLst>
              <a:ext uri="{FF2B5EF4-FFF2-40B4-BE49-F238E27FC236}">
                <a16:creationId xmlns:a16="http://schemas.microsoft.com/office/drawing/2014/main" id="{5CA10920-988C-8943-932E-EFAD26030E59}"/>
              </a:ext>
            </a:extLst>
          </p:cNvPr>
          <p:cNvSpPr>
            <a:spLocks noGrp="1"/>
          </p:cNvSpPr>
          <p:nvPr>
            <p:ph type="body" sz="quarter" idx="15" hasCustomPrompt="1"/>
          </p:nvPr>
        </p:nvSpPr>
        <p:spPr>
          <a:xfrm>
            <a:off x="685939" y="2896095"/>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17" name="Espace réservé du texte 23">
            <a:extLst>
              <a:ext uri="{FF2B5EF4-FFF2-40B4-BE49-F238E27FC236}">
                <a16:creationId xmlns:a16="http://schemas.microsoft.com/office/drawing/2014/main" id="{A59E213D-CFC8-474D-9D68-442A8AA0AC5E}"/>
              </a:ext>
            </a:extLst>
          </p:cNvPr>
          <p:cNvSpPr>
            <a:spLocks noGrp="1"/>
          </p:cNvSpPr>
          <p:nvPr>
            <p:ph type="body" sz="quarter" idx="16" hasCustomPrompt="1"/>
          </p:nvPr>
        </p:nvSpPr>
        <p:spPr>
          <a:xfrm>
            <a:off x="685939" y="4558180"/>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cxnSp>
        <p:nvCxnSpPr>
          <p:cNvPr id="13" name="Connecteur droit 12">
            <a:extLst>
              <a:ext uri="{FF2B5EF4-FFF2-40B4-BE49-F238E27FC236}">
                <a16:creationId xmlns:a16="http://schemas.microsoft.com/office/drawing/2014/main" id="{F2FEFD0B-339E-AF4F-9099-7AF059A6383B}"/>
              </a:ext>
            </a:extLst>
          </p:cNvPr>
          <p:cNvCxnSpPr>
            <a:cxnSpLocks/>
          </p:cNvCxnSpPr>
          <p:nvPr userDrawn="1"/>
        </p:nvCxnSpPr>
        <p:spPr>
          <a:xfrm>
            <a:off x="685939" y="2714288"/>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A63393BA-537A-DB4C-B8A2-6AC2973373F8}"/>
              </a:ext>
            </a:extLst>
          </p:cNvPr>
          <p:cNvCxnSpPr>
            <a:cxnSpLocks/>
          </p:cNvCxnSpPr>
          <p:nvPr userDrawn="1"/>
        </p:nvCxnSpPr>
        <p:spPr>
          <a:xfrm>
            <a:off x="685939" y="4371397"/>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443963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Graphique et text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13" name="Espace réservé du graphique 2">
            <a:extLst>
              <a:ext uri="{FF2B5EF4-FFF2-40B4-BE49-F238E27FC236}">
                <a16:creationId xmlns:a16="http://schemas.microsoft.com/office/drawing/2014/main" id="{5704F82A-C2B5-874E-A712-6595A2250A46}"/>
              </a:ext>
            </a:extLst>
          </p:cNvPr>
          <p:cNvSpPr>
            <a:spLocks noGrp="1"/>
          </p:cNvSpPr>
          <p:nvPr>
            <p:ph type="chart" sz="quarter" idx="17" hasCustomPrompt="1"/>
          </p:nvPr>
        </p:nvSpPr>
        <p:spPr>
          <a:xfrm>
            <a:off x="685939" y="1238735"/>
            <a:ext cx="5096545"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 graphique</a:t>
            </a:r>
          </a:p>
        </p:txBody>
      </p:sp>
      <p:sp>
        <p:nvSpPr>
          <p:cNvPr id="10" name="Espace réservé du texte 23">
            <a:extLst>
              <a:ext uri="{FF2B5EF4-FFF2-40B4-BE49-F238E27FC236}">
                <a16:creationId xmlns:a16="http://schemas.microsoft.com/office/drawing/2014/main" id="{BED7D098-872D-7E43-A7A0-D106FBF9EF2A}"/>
              </a:ext>
            </a:extLst>
          </p:cNvPr>
          <p:cNvSpPr>
            <a:spLocks noGrp="1"/>
          </p:cNvSpPr>
          <p:nvPr>
            <p:ph type="body" sz="quarter" idx="19" hasCustomPrompt="1"/>
          </p:nvPr>
        </p:nvSpPr>
        <p:spPr>
          <a:xfrm>
            <a:off x="6409518" y="1847497"/>
            <a:ext cx="5096542" cy="4004498"/>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14" name="Espace réservé du texte 23">
            <a:extLst>
              <a:ext uri="{FF2B5EF4-FFF2-40B4-BE49-F238E27FC236}">
                <a16:creationId xmlns:a16="http://schemas.microsoft.com/office/drawing/2014/main" id="{CC481238-980B-A040-8970-40E20FB94B38}"/>
              </a:ext>
            </a:extLst>
          </p:cNvPr>
          <p:cNvSpPr>
            <a:spLocks noGrp="1"/>
          </p:cNvSpPr>
          <p:nvPr>
            <p:ph type="body" sz="quarter" idx="12" hasCustomPrompt="1"/>
          </p:nvPr>
        </p:nvSpPr>
        <p:spPr>
          <a:xfrm>
            <a:off x="6409518" y="1241279"/>
            <a:ext cx="5096541" cy="267882"/>
          </a:xfrm>
          <a:prstGeom prst="rect">
            <a:avLst/>
          </a:prstGeom>
        </p:spPr>
        <p:txBody>
          <a:bodyPr lIns="0" tIns="0" rIns="0" bIns="0" anchor="t"/>
          <a:lstStyle>
            <a:lvl1pPr marL="0" indent="0" algn="ctr">
              <a:buNone/>
              <a:defRPr sz="18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a:t>
            </a:r>
          </a:p>
        </p:txBody>
      </p:sp>
      <p:cxnSp>
        <p:nvCxnSpPr>
          <p:cNvPr id="15" name="Connecteur droit 14">
            <a:extLst>
              <a:ext uri="{FF2B5EF4-FFF2-40B4-BE49-F238E27FC236}">
                <a16:creationId xmlns:a16="http://schemas.microsoft.com/office/drawing/2014/main" id="{F3A6E393-D242-BE43-9A85-E8BA60D2DFDD}"/>
              </a:ext>
            </a:extLst>
          </p:cNvPr>
          <p:cNvCxnSpPr>
            <a:cxnSpLocks/>
          </p:cNvCxnSpPr>
          <p:nvPr userDrawn="1"/>
        </p:nvCxnSpPr>
        <p:spPr>
          <a:xfrm>
            <a:off x="6409514" y="1689904"/>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761924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3 colonn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31" name="Espace réservé du texte 23">
            <a:extLst>
              <a:ext uri="{FF2B5EF4-FFF2-40B4-BE49-F238E27FC236}">
                <a16:creationId xmlns:a16="http://schemas.microsoft.com/office/drawing/2014/main" id="{150CB36B-953F-4148-9C63-CB1D5ECBE8E2}"/>
              </a:ext>
            </a:extLst>
          </p:cNvPr>
          <p:cNvSpPr>
            <a:spLocks noGrp="1"/>
          </p:cNvSpPr>
          <p:nvPr>
            <p:ph type="body" sz="quarter" idx="12" hasCustomPrompt="1"/>
          </p:nvPr>
        </p:nvSpPr>
        <p:spPr>
          <a:xfrm>
            <a:off x="685940" y="3414534"/>
            <a:ext cx="3330475" cy="24397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gauche</a:t>
            </a:r>
          </a:p>
        </p:txBody>
      </p:sp>
      <p:sp>
        <p:nvSpPr>
          <p:cNvPr id="32" name="Espace réservé du texte 23">
            <a:extLst>
              <a:ext uri="{FF2B5EF4-FFF2-40B4-BE49-F238E27FC236}">
                <a16:creationId xmlns:a16="http://schemas.microsoft.com/office/drawing/2014/main" id="{49BE225D-4587-F642-95AA-D4CB91345E7E}"/>
              </a:ext>
            </a:extLst>
          </p:cNvPr>
          <p:cNvSpPr>
            <a:spLocks noGrp="1"/>
          </p:cNvSpPr>
          <p:nvPr>
            <p:ph type="body" sz="quarter" idx="13" hasCustomPrompt="1"/>
          </p:nvPr>
        </p:nvSpPr>
        <p:spPr>
          <a:xfrm>
            <a:off x="8175586" y="3412232"/>
            <a:ext cx="3330475" cy="2439762"/>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droite</a:t>
            </a:r>
          </a:p>
        </p:txBody>
      </p:sp>
      <p:sp>
        <p:nvSpPr>
          <p:cNvPr id="33" name="Espace réservé du texte 23">
            <a:extLst>
              <a:ext uri="{FF2B5EF4-FFF2-40B4-BE49-F238E27FC236}">
                <a16:creationId xmlns:a16="http://schemas.microsoft.com/office/drawing/2014/main" id="{9D468986-6480-9346-9445-65F3C63C4DFC}"/>
              </a:ext>
            </a:extLst>
          </p:cNvPr>
          <p:cNvSpPr>
            <a:spLocks noGrp="1"/>
          </p:cNvSpPr>
          <p:nvPr>
            <p:ph type="body" sz="quarter" idx="14" hasCustomPrompt="1"/>
          </p:nvPr>
        </p:nvSpPr>
        <p:spPr>
          <a:xfrm>
            <a:off x="4430763" y="3412233"/>
            <a:ext cx="3330475" cy="2439761"/>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au milieu</a:t>
            </a:r>
          </a:p>
        </p:txBody>
      </p:sp>
      <p:sp>
        <p:nvSpPr>
          <p:cNvPr id="35" name="Espace réservé du texte 23">
            <a:extLst>
              <a:ext uri="{FF2B5EF4-FFF2-40B4-BE49-F238E27FC236}">
                <a16:creationId xmlns:a16="http://schemas.microsoft.com/office/drawing/2014/main" id="{4BE3EBCC-3F2C-974D-B7E0-4FE0FE2B6096}"/>
              </a:ext>
            </a:extLst>
          </p:cNvPr>
          <p:cNvSpPr>
            <a:spLocks noGrp="1"/>
          </p:cNvSpPr>
          <p:nvPr>
            <p:ph type="body" sz="quarter" idx="18" hasCustomPrompt="1"/>
          </p:nvPr>
        </p:nvSpPr>
        <p:spPr>
          <a:xfrm>
            <a:off x="685940" y="2522412"/>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gauche</a:t>
            </a:r>
          </a:p>
        </p:txBody>
      </p:sp>
      <p:sp>
        <p:nvSpPr>
          <p:cNvPr id="37" name="Espace réservé du texte 23">
            <a:extLst>
              <a:ext uri="{FF2B5EF4-FFF2-40B4-BE49-F238E27FC236}">
                <a16:creationId xmlns:a16="http://schemas.microsoft.com/office/drawing/2014/main" id="{4452D0F2-BBA8-C242-BEAE-6F55B6ABE7BB}"/>
              </a:ext>
            </a:extLst>
          </p:cNvPr>
          <p:cNvSpPr>
            <a:spLocks noGrp="1"/>
          </p:cNvSpPr>
          <p:nvPr>
            <p:ph type="body" sz="quarter" idx="22" hasCustomPrompt="1"/>
          </p:nvPr>
        </p:nvSpPr>
        <p:spPr>
          <a:xfrm>
            <a:off x="4430763" y="2520112"/>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du milieu</a:t>
            </a:r>
          </a:p>
        </p:txBody>
      </p:sp>
      <p:sp>
        <p:nvSpPr>
          <p:cNvPr id="39" name="Espace réservé du texte 23">
            <a:extLst>
              <a:ext uri="{FF2B5EF4-FFF2-40B4-BE49-F238E27FC236}">
                <a16:creationId xmlns:a16="http://schemas.microsoft.com/office/drawing/2014/main" id="{1CEDCE72-7B19-5841-83CE-CE44056B04AC}"/>
              </a:ext>
            </a:extLst>
          </p:cNvPr>
          <p:cNvSpPr>
            <a:spLocks noGrp="1"/>
          </p:cNvSpPr>
          <p:nvPr>
            <p:ph type="body" sz="quarter" idx="25" hasCustomPrompt="1"/>
          </p:nvPr>
        </p:nvSpPr>
        <p:spPr>
          <a:xfrm>
            <a:off x="8156711" y="2520111"/>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droite</a:t>
            </a:r>
          </a:p>
        </p:txBody>
      </p:sp>
      <p:sp>
        <p:nvSpPr>
          <p:cNvPr id="40" name="Espace réservé pour une image  4">
            <a:extLst>
              <a:ext uri="{FF2B5EF4-FFF2-40B4-BE49-F238E27FC236}">
                <a16:creationId xmlns:a16="http://schemas.microsoft.com/office/drawing/2014/main" id="{B2D07E5C-865B-8D41-9F3B-3922F4A09B7B}"/>
              </a:ext>
            </a:extLst>
          </p:cNvPr>
          <p:cNvSpPr>
            <a:spLocks noGrp="1"/>
          </p:cNvSpPr>
          <p:nvPr>
            <p:ph type="pic" sz="quarter" idx="17" hasCustomPrompt="1"/>
          </p:nvPr>
        </p:nvSpPr>
        <p:spPr>
          <a:xfrm>
            <a:off x="1840305" y="1254968"/>
            <a:ext cx="1021744" cy="1021565"/>
          </a:xfrm>
          <a:prstGeom prst="ellipse">
            <a:avLst/>
          </a:prstGeom>
          <a:ln w="63500">
            <a:solidFill>
              <a:srgbClr val="539DB1"/>
            </a:solidFill>
          </a:ln>
        </p:spPr>
        <p:txBody>
          <a:bodyPr/>
          <a:lstStyle>
            <a:lvl1pPr marL="0" indent="0">
              <a:buFontTx/>
              <a:buNone/>
              <a:defRPr sz="1200"/>
            </a:lvl1pPr>
          </a:lstStyle>
          <a:p>
            <a:r>
              <a:rPr lang="fr-FR" err="1"/>
              <a:t>Picto</a:t>
            </a:r>
            <a:endParaRPr lang="fr-FR"/>
          </a:p>
        </p:txBody>
      </p:sp>
      <p:sp>
        <p:nvSpPr>
          <p:cNvPr id="41" name="Espace réservé pour une image  4">
            <a:extLst>
              <a:ext uri="{FF2B5EF4-FFF2-40B4-BE49-F238E27FC236}">
                <a16:creationId xmlns:a16="http://schemas.microsoft.com/office/drawing/2014/main" id="{2527B583-B4FE-9542-A875-64D734CB266A}"/>
              </a:ext>
            </a:extLst>
          </p:cNvPr>
          <p:cNvSpPr>
            <a:spLocks noGrp="1"/>
          </p:cNvSpPr>
          <p:nvPr>
            <p:ph type="pic" sz="quarter" idx="26" hasCustomPrompt="1"/>
          </p:nvPr>
        </p:nvSpPr>
        <p:spPr>
          <a:xfrm>
            <a:off x="5585127" y="1254968"/>
            <a:ext cx="1021744" cy="1021565"/>
          </a:xfrm>
          <a:prstGeom prst="ellipse">
            <a:avLst/>
          </a:prstGeom>
          <a:ln w="63500">
            <a:solidFill>
              <a:srgbClr val="539DB1"/>
            </a:solidFill>
          </a:ln>
        </p:spPr>
        <p:txBody>
          <a:bodyPr/>
          <a:lstStyle>
            <a:lvl1pPr marL="0" indent="0">
              <a:buFontTx/>
              <a:buNone/>
              <a:defRPr sz="1200"/>
            </a:lvl1pPr>
          </a:lstStyle>
          <a:p>
            <a:r>
              <a:rPr lang="fr-FR"/>
              <a:t>Picto</a:t>
            </a:r>
          </a:p>
        </p:txBody>
      </p:sp>
      <p:sp>
        <p:nvSpPr>
          <p:cNvPr id="42" name="Espace réservé pour une image  4">
            <a:extLst>
              <a:ext uri="{FF2B5EF4-FFF2-40B4-BE49-F238E27FC236}">
                <a16:creationId xmlns:a16="http://schemas.microsoft.com/office/drawing/2014/main" id="{FBD705E3-DA7E-5442-ABB1-6B0FC65466C9}"/>
              </a:ext>
            </a:extLst>
          </p:cNvPr>
          <p:cNvSpPr>
            <a:spLocks noGrp="1"/>
          </p:cNvSpPr>
          <p:nvPr>
            <p:ph type="pic" sz="quarter" idx="27" hasCustomPrompt="1"/>
          </p:nvPr>
        </p:nvSpPr>
        <p:spPr>
          <a:xfrm>
            <a:off x="9311076" y="1254968"/>
            <a:ext cx="1021744" cy="1021565"/>
          </a:xfrm>
          <a:prstGeom prst="ellipse">
            <a:avLst/>
          </a:prstGeom>
          <a:ln w="63500">
            <a:solidFill>
              <a:srgbClr val="539DB1"/>
            </a:solidFill>
          </a:ln>
        </p:spPr>
        <p:txBody>
          <a:bodyPr/>
          <a:lstStyle>
            <a:lvl1pPr marL="0" indent="0">
              <a:buFontTx/>
              <a:buNone/>
              <a:defRPr sz="1200"/>
            </a:lvl1pPr>
          </a:lstStyle>
          <a:p>
            <a:r>
              <a:rPr lang="fr-FR"/>
              <a:t>Picto</a:t>
            </a:r>
          </a:p>
        </p:txBody>
      </p:sp>
      <p:cxnSp>
        <p:nvCxnSpPr>
          <p:cNvPr id="17" name="Connecteur droit 16">
            <a:extLst>
              <a:ext uri="{FF2B5EF4-FFF2-40B4-BE49-F238E27FC236}">
                <a16:creationId xmlns:a16="http://schemas.microsoft.com/office/drawing/2014/main" id="{7CD41F5D-74DD-704C-8A46-9725BB43295A}"/>
              </a:ext>
            </a:extLst>
          </p:cNvPr>
          <p:cNvCxnSpPr>
            <a:cxnSpLocks/>
          </p:cNvCxnSpPr>
          <p:nvPr userDrawn="1"/>
        </p:nvCxnSpPr>
        <p:spPr>
          <a:xfrm>
            <a:off x="685940"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5B42D3ED-071B-0E46-A282-B8EA4FDDF8FF}"/>
              </a:ext>
            </a:extLst>
          </p:cNvPr>
          <p:cNvCxnSpPr>
            <a:cxnSpLocks/>
          </p:cNvCxnSpPr>
          <p:nvPr userDrawn="1"/>
        </p:nvCxnSpPr>
        <p:spPr>
          <a:xfrm>
            <a:off x="4430763"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id="{64679DC9-8987-5F40-93DA-66DC3C80F643}"/>
              </a:ext>
            </a:extLst>
          </p:cNvPr>
          <p:cNvCxnSpPr>
            <a:cxnSpLocks/>
          </p:cNvCxnSpPr>
          <p:nvPr userDrawn="1"/>
        </p:nvCxnSpPr>
        <p:spPr>
          <a:xfrm>
            <a:off x="8175586"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123514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3 rangé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45" name="Flèche vers la droite 44">
            <a:extLst>
              <a:ext uri="{FF2B5EF4-FFF2-40B4-BE49-F238E27FC236}">
                <a16:creationId xmlns:a16="http://schemas.microsoft.com/office/drawing/2014/main" id="{073CA8F5-692E-EE4A-859C-88F4900D6ABB}"/>
              </a:ext>
            </a:extLst>
          </p:cNvPr>
          <p:cNvSpPr/>
          <p:nvPr userDrawn="1"/>
        </p:nvSpPr>
        <p:spPr>
          <a:xfrm>
            <a:off x="6858201" y="2192317"/>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Espace réservé du texte 23">
            <a:extLst>
              <a:ext uri="{FF2B5EF4-FFF2-40B4-BE49-F238E27FC236}">
                <a16:creationId xmlns:a16="http://schemas.microsoft.com/office/drawing/2014/main" id="{87BBDDC8-1C19-1B48-8CD1-F89617ACE952}"/>
              </a:ext>
            </a:extLst>
          </p:cNvPr>
          <p:cNvSpPr>
            <a:spLocks noGrp="1"/>
          </p:cNvSpPr>
          <p:nvPr>
            <p:ph type="body" sz="quarter" idx="43" hasCustomPrompt="1"/>
          </p:nvPr>
        </p:nvSpPr>
        <p:spPr>
          <a:xfrm>
            <a:off x="685940" y="136067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3" name="Espace réservé du texte 2">
            <a:extLst>
              <a:ext uri="{FF2B5EF4-FFF2-40B4-BE49-F238E27FC236}">
                <a16:creationId xmlns:a16="http://schemas.microsoft.com/office/drawing/2014/main" id="{8B588310-7C04-FA47-876B-A52F0C438078}"/>
              </a:ext>
            </a:extLst>
          </p:cNvPr>
          <p:cNvSpPr>
            <a:spLocks noGrp="1"/>
          </p:cNvSpPr>
          <p:nvPr>
            <p:ph type="body" sz="quarter" idx="44" hasCustomPrompt="1"/>
          </p:nvPr>
        </p:nvSpPr>
        <p:spPr>
          <a:xfrm>
            <a:off x="1183929" y="149880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57" name="Espace réservé du texte 23">
            <a:extLst>
              <a:ext uri="{FF2B5EF4-FFF2-40B4-BE49-F238E27FC236}">
                <a16:creationId xmlns:a16="http://schemas.microsoft.com/office/drawing/2014/main" id="{3DA65E65-4FD3-8043-9BA3-ACEC849F4F5C}"/>
              </a:ext>
            </a:extLst>
          </p:cNvPr>
          <p:cNvSpPr>
            <a:spLocks noGrp="1"/>
          </p:cNvSpPr>
          <p:nvPr>
            <p:ph type="body" sz="quarter" idx="46" hasCustomPrompt="1"/>
          </p:nvPr>
        </p:nvSpPr>
        <p:spPr>
          <a:xfrm>
            <a:off x="685940" y="291173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58" name="Espace réservé du texte 2">
            <a:extLst>
              <a:ext uri="{FF2B5EF4-FFF2-40B4-BE49-F238E27FC236}">
                <a16:creationId xmlns:a16="http://schemas.microsoft.com/office/drawing/2014/main" id="{D83069BD-A53E-A348-84D5-0A24A9664289}"/>
              </a:ext>
            </a:extLst>
          </p:cNvPr>
          <p:cNvSpPr>
            <a:spLocks noGrp="1"/>
          </p:cNvSpPr>
          <p:nvPr>
            <p:ph type="body" sz="quarter" idx="47" hasCustomPrompt="1"/>
          </p:nvPr>
        </p:nvSpPr>
        <p:spPr>
          <a:xfrm>
            <a:off x="1183929" y="304986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59" name="Espace réservé du texte 23">
            <a:extLst>
              <a:ext uri="{FF2B5EF4-FFF2-40B4-BE49-F238E27FC236}">
                <a16:creationId xmlns:a16="http://schemas.microsoft.com/office/drawing/2014/main" id="{EC46E71F-5144-8F44-B9D5-9D84DAA45237}"/>
              </a:ext>
            </a:extLst>
          </p:cNvPr>
          <p:cNvSpPr>
            <a:spLocks noGrp="1"/>
          </p:cNvSpPr>
          <p:nvPr>
            <p:ph type="body" sz="quarter" idx="48" hasCustomPrompt="1"/>
          </p:nvPr>
        </p:nvSpPr>
        <p:spPr>
          <a:xfrm>
            <a:off x="685940" y="446279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60" name="Espace réservé du texte 2">
            <a:extLst>
              <a:ext uri="{FF2B5EF4-FFF2-40B4-BE49-F238E27FC236}">
                <a16:creationId xmlns:a16="http://schemas.microsoft.com/office/drawing/2014/main" id="{24C0B415-2568-0545-9429-F952CB47A605}"/>
              </a:ext>
            </a:extLst>
          </p:cNvPr>
          <p:cNvSpPr>
            <a:spLocks noGrp="1"/>
          </p:cNvSpPr>
          <p:nvPr>
            <p:ph type="body" sz="quarter" idx="49" hasCustomPrompt="1"/>
          </p:nvPr>
        </p:nvSpPr>
        <p:spPr>
          <a:xfrm>
            <a:off x="1183929" y="460092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61" name="Espace réservé du texte 23">
            <a:extLst>
              <a:ext uri="{FF2B5EF4-FFF2-40B4-BE49-F238E27FC236}">
                <a16:creationId xmlns:a16="http://schemas.microsoft.com/office/drawing/2014/main" id="{B4F766C0-256D-D042-830F-614269DF0181}"/>
              </a:ext>
            </a:extLst>
          </p:cNvPr>
          <p:cNvSpPr>
            <a:spLocks noGrp="1"/>
          </p:cNvSpPr>
          <p:nvPr>
            <p:ph type="body" sz="quarter" idx="12" hasCustomPrompt="1"/>
          </p:nvPr>
        </p:nvSpPr>
        <p:spPr>
          <a:xfrm>
            <a:off x="2623929" y="1863525"/>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62" name="Espace réservé du texte 23">
            <a:extLst>
              <a:ext uri="{FF2B5EF4-FFF2-40B4-BE49-F238E27FC236}">
                <a16:creationId xmlns:a16="http://schemas.microsoft.com/office/drawing/2014/main" id="{C757A226-440B-EF4B-9F88-75585B0C26FD}"/>
              </a:ext>
            </a:extLst>
          </p:cNvPr>
          <p:cNvSpPr>
            <a:spLocks noGrp="1"/>
          </p:cNvSpPr>
          <p:nvPr>
            <p:ph type="body" sz="quarter" idx="50" hasCustomPrompt="1"/>
          </p:nvPr>
        </p:nvSpPr>
        <p:spPr>
          <a:xfrm>
            <a:off x="7442522" y="1863525"/>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2" name="Flèche vers la droite 71">
            <a:extLst>
              <a:ext uri="{FF2B5EF4-FFF2-40B4-BE49-F238E27FC236}">
                <a16:creationId xmlns:a16="http://schemas.microsoft.com/office/drawing/2014/main" id="{7FDE90DB-FA27-F04A-84A7-4B3D563C9502}"/>
              </a:ext>
            </a:extLst>
          </p:cNvPr>
          <p:cNvSpPr/>
          <p:nvPr userDrawn="1"/>
        </p:nvSpPr>
        <p:spPr>
          <a:xfrm>
            <a:off x="6858201" y="3590409"/>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Espace réservé du texte 23">
            <a:extLst>
              <a:ext uri="{FF2B5EF4-FFF2-40B4-BE49-F238E27FC236}">
                <a16:creationId xmlns:a16="http://schemas.microsoft.com/office/drawing/2014/main" id="{A6692E30-33D1-504F-B0CB-D86F1EB98EF8}"/>
              </a:ext>
            </a:extLst>
          </p:cNvPr>
          <p:cNvSpPr>
            <a:spLocks noGrp="1"/>
          </p:cNvSpPr>
          <p:nvPr>
            <p:ph type="body" sz="quarter" idx="51" hasCustomPrompt="1"/>
          </p:nvPr>
        </p:nvSpPr>
        <p:spPr>
          <a:xfrm>
            <a:off x="2623929" y="3261617"/>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4" name="Espace réservé du texte 23">
            <a:extLst>
              <a:ext uri="{FF2B5EF4-FFF2-40B4-BE49-F238E27FC236}">
                <a16:creationId xmlns:a16="http://schemas.microsoft.com/office/drawing/2014/main" id="{35EF68A7-BA92-024E-A76C-6290D9F095DC}"/>
              </a:ext>
            </a:extLst>
          </p:cNvPr>
          <p:cNvSpPr>
            <a:spLocks noGrp="1"/>
          </p:cNvSpPr>
          <p:nvPr>
            <p:ph type="body" sz="quarter" idx="52" hasCustomPrompt="1"/>
          </p:nvPr>
        </p:nvSpPr>
        <p:spPr>
          <a:xfrm>
            <a:off x="7442522" y="3261617"/>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6" name="Flèche vers la droite 75">
            <a:extLst>
              <a:ext uri="{FF2B5EF4-FFF2-40B4-BE49-F238E27FC236}">
                <a16:creationId xmlns:a16="http://schemas.microsoft.com/office/drawing/2014/main" id="{084179CB-67CF-2B41-BD9E-81583A7C9857}"/>
              </a:ext>
            </a:extLst>
          </p:cNvPr>
          <p:cNvSpPr/>
          <p:nvPr userDrawn="1"/>
        </p:nvSpPr>
        <p:spPr>
          <a:xfrm>
            <a:off x="6847153" y="4988501"/>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Espace réservé du texte 23">
            <a:extLst>
              <a:ext uri="{FF2B5EF4-FFF2-40B4-BE49-F238E27FC236}">
                <a16:creationId xmlns:a16="http://schemas.microsoft.com/office/drawing/2014/main" id="{ECED7B8D-5808-BA4A-B728-678A97FE757B}"/>
              </a:ext>
            </a:extLst>
          </p:cNvPr>
          <p:cNvSpPr>
            <a:spLocks noGrp="1"/>
          </p:cNvSpPr>
          <p:nvPr>
            <p:ph type="body" sz="quarter" idx="53" hasCustomPrompt="1"/>
          </p:nvPr>
        </p:nvSpPr>
        <p:spPr>
          <a:xfrm>
            <a:off x="2623929" y="4659709"/>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8" name="Espace réservé du texte 23">
            <a:extLst>
              <a:ext uri="{FF2B5EF4-FFF2-40B4-BE49-F238E27FC236}">
                <a16:creationId xmlns:a16="http://schemas.microsoft.com/office/drawing/2014/main" id="{D98057D3-CED6-844F-A727-B5DF3F9EEC54}"/>
              </a:ext>
            </a:extLst>
          </p:cNvPr>
          <p:cNvSpPr>
            <a:spLocks noGrp="1"/>
          </p:cNvSpPr>
          <p:nvPr>
            <p:ph type="body" sz="quarter" idx="54" hasCustomPrompt="1"/>
          </p:nvPr>
        </p:nvSpPr>
        <p:spPr>
          <a:xfrm>
            <a:off x="7442522" y="4667481"/>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29" name="Espace réservé du texte 23">
            <a:extLst>
              <a:ext uri="{FF2B5EF4-FFF2-40B4-BE49-F238E27FC236}">
                <a16:creationId xmlns:a16="http://schemas.microsoft.com/office/drawing/2014/main" id="{E8F9E77E-9B08-2748-BA8C-1877E990BA82}"/>
              </a:ext>
            </a:extLst>
          </p:cNvPr>
          <p:cNvSpPr>
            <a:spLocks noGrp="1"/>
          </p:cNvSpPr>
          <p:nvPr>
            <p:ph type="body" sz="quarter" idx="18" hasCustomPrompt="1"/>
          </p:nvPr>
        </p:nvSpPr>
        <p:spPr>
          <a:xfrm>
            <a:off x="2623930" y="1298086"/>
            <a:ext cx="4063536" cy="342180"/>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gauche</a:t>
            </a:r>
          </a:p>
        </p:txBody>
      </p:sp>
      <p:sp>
        <p:nvSpPr>
          <p:cNvPr id="30" name="Espace réservé du texte 23">
            <a:extLst>
              <a:ext uri="{FF2B5EF4-FFF2-40B4-BE49-F238E27FC236}">
                <a16:creationId xmlns:a16="http://schemas.microsoft.com/office/drawing/2014/main" id="{ABFE6774-E465-CC44-A5B7-8A9023E7895D}"/>
              </a:ext>
            </a:extLst>
          </p:cNvPr>
          <p:cNvSpPr>
            <a:spLocks noGrp="1"/>
          </p:cNvSpPr>
          <p:nvPr>
            <p:ph type="body" sz="quarter" idx="45" hasCustomPrompt="1"/>
          </p:nvPr>
        </p:nvSpPr>
        <p:spPr>
          <a:xfrm>
            <a:off x="7442522" y="1311393"/>
            <a:ext cx="4063536" cy="342180"/>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droite</a:t>
            </a:r>
          </a:p>
        </p:txBody>
      </p:sp>
      <p:cxnSp>
        <p:nvCxnSpPr>
          <p:cNvPr id="31" name="Connecteur droit 30">
            <a:extLst>
              <a:ext uri="{FF2B5EF4-FFF2-40B4-BE49-F238E27FC236}">
                <a16:creationId xmlns:a16="http://schemas.microsoft.com/office/drawing/2014/main" id="{1BA8053A-F605-3E4C-BCAA-A462125DD707}"/>
              </a:ext>
            </a:extLst>
          </p:cNvPr>
          <p:cNvCxnSpPr>
            <a:cxnSpLocks/>
          </p:cNvCxnSpPr>
          <p:nvPr userDrawn="1"/>
        </p:nvCxnSpPr>
        <p:spPr>
          <a:xfrm>
            <a:off x="2621788" y="1759351"/>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5" name="Connecteur droit 34">
            <a:extLst>
              <a:ext uri="{FF2B5EF4-FFF2-40B4-BE49-F238E27FC236}">
                <a16:creationId xmlns:a16="http://schemas.microsoft.com/office/drawing/2014/main" id="{24308253-88C6-CC42-8669-C8E31D959CF5}"/>
              </a:ext>
            </a:extLst>
          </p:cNvPr>
          <p:cNvCxnSpPr>
            <a:cxnSpLocks/>
          </p:cNvCxnSpPr>
          <p:nvPr userDrawn="1"/>
        </p:nvCxnSpPr>
        <p:spPr>
          <a:xfrm>
            <a:off x="2621788" y="3115517"/>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6" name="Connecteur droit 35">
            <a:extLst>
              <a:ext uri="{FF2B5EF4-FFF2-40B4-BE49-F238E27FC236}">
                <a16:creationId xmlns:a16="http://schemas.microsoft.com/office/drawing/2014/main" id="{366C964C-6A11-F54A-91F4-BFA62F9C7059}"/>
              </a:ext>
            </a:extLst>
          </p:cNvPr>
          <p:cNvCxnSpPr>
            <a:cxnSpLocks/>
          </p:cNvCxnSpPr>
          <p:nvPr userDrawn="1"/>
        </p:nvCxnSpPr>
        <p:spPr>
          <a:xfrm>
            <a:off x="2621788" y="4508324"/>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7" name="Connecteur droit 36">
            <a:extLst>
              <a:ext uri="{FF2B5EF4-FFF2-40B4-BE49-F238E27FC236}">
                <a16:creationId xmlns:a16="http://schemas.microsoft.com/office/drawing/2014/main" id="{641D7C50-2D19-A54B-BDE6-BE45329F7F6F}"/>
              </a:ext>
            </a:extLst>
          </p:cNvPr>
          <p:cNvCxnSpPr>
            <a:cxnSpLocks/>
          </p:cNvCxnSpPr>
          <p:nvPr userDrawn="1"/>
        </p:nvCxnSpPr>
        <p:spPr>
          <a:xfrm>
            <a:off x="2621788" y="5898922"/>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018211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Équip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cxnSp>
        <p:nvCxnSpPr>
          <p:cNvPr id="54" name="Connecteur droit 53">
            <a:extLst>
              <a:ext uri="{FF2B5EF4-FFF2-40B4-BE49-F238E27FC236}">
                <a16:creationId xmlns:a16="http://schemas.microsoft.com/office/drawing/2014/main" id="{CBA568A4-37CD-CA45-8DCB-151D439348E1}"/>
              </a:ext>
            </a:extLst>
          </p:cNvPr>
          <p:cNvCxnSpPr>
            <a:cxnSpLocks/>
          </p:cNvCxnSpPr>
          <p:nvPr userDrawn="1"/>
        </p:nvCxnSpPr>
        <p:spPr>
          <a:xfrm>
            <a:off x="190063" y="3650477"/>
            <a:ext cx="11853802"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68" name="Espace réservé du texte 23">
            <a:extLst>
              <a:ext uri="{FF2B5EF4-FFF2-40B4-BE49-F238E27FC236}">
                <a16:creationId xmlns:a16="http://schemas.microsoft.com/office/drawing/2014/main" id="{9285F349-F057-E044-BA63-42802881E285}"/>
              </a:ext>
            </a:extLst>
          </p:cNvPr>
          <p:cNvSpPr>
            <a:spLocks noGrp="1"/>
          </p:cNvSpPr>
          <p:nvPr>
            <p:ph type="body" sz="quarter" idx="42" hasCustomPrompt="1"/>
          </p:nvPr>
        </p:nvSpPr>
        <p:spPr>
          <a:xfrm>
            <a:off x="9009369" y="1226703"/>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69" name="Espace réservé du texte 23">
            <a:extLst>
              <a:ext uri="{FF2B5EF4-FFF2-40B4-BE49-F238E27FC236}">
                <a16:creationId xmlns:a16="http://schemas.microsoft.com/office/drawing/2014/main" id="{6DA645EB-9B7E-B142-81B9-911160CC3BA6}"/>
              </a:ext>
            </a:extLst>
          </p:cNvPr>
          <p:cNvSpPr>
            <a:spLocks noGrp="1"/>
          </p:cNvSpPr>
          <p:nvPr>
            <p:ph type="body" sz="quarter" idx="43" hasCustomPrompt="1"/>
          </p:nvPr>
        </p:nvSpPr>
        <p:spPr>
          <a:xfrm>
            <a:off x="9009369" y="1634384"/>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0" name="Espace réservé du texte 23">
            <a:extLst>
              <a:ext uri="{FF2B5EF4-FFF2-40B4-BE49-F238E27FC236}">
                <a16:creationId xmlns:a16="http://schemas.microsoft.com/office/drawing/2014/main" id="{F8651C12-DE8D-CC4F-8CE2-5A8AE5B06FE0}"/>
              </a:ext>
            </a:extLst>
          </p:cNvPr>
          <p:cNvSpPr>
            <a:spLocks noGrp="1"/>
          </p:cNvSpPr>
          <p:nvPr>
            <p:ph type="body" sz="quarter" idx="44" hasCustomPrompt="1"/>
          </p:nvPr>
        </p:nvSpPr>
        <p:spPr>
          <a:xfrm>
            <a:off x="7779165" y="2410352"/>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1" name="Espace réservé pour une image  4">
            <a:extLst>
              <a:ext uri="{FF2B5EF4-FFF2-40B4-BE49-F238E27FC236}">
                <a16:creationId xmlns:a16="http://schemas.microsoft.com/office/drawing/2014/main" id="{923BD13F-6B3A-274E-BB1D-710DF4428967}"/>
              </a:ext>
            </a:extLst>
          </p:cNvPr>
          <p:cNvSpPr>
            <a:spLocks noGrp="1"/>
          </p:cNvSpPr>
          <p:nvPr>
            <p:ph type="pic" sz="quarter" idx="45" hasCustomPrompt="1"/>
          </p:nvPr>
        </p:nvSpPr>
        <p:spPr>
          <a:xfrm>
            <a:off x="7764559" y="122495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73" name="Espace réservé du texte 23">
            <a:extLst>
              <a:ext uri="{FF2B5EF4-FFF2-40B4-BE49-F238E27FC236}">
                <a16:creationId xmlns:a16="http://schemas.microsoft.com/office/drawing/2014/main" id="{EBB8FAA2-1466-4C4E-8F48-9D30F07F2B5C}"/>
              </a:ext>
            </a:extLst>
          </p:cNvPr>
          <p:cNvSpPr>
            <a:spLocks noGrp="1"/>
          </p:cNvSpPr>
          <p:nvPr>
            <p:ph type="body" sz="quarter" idx="47" hasCustomPrompt="1"/>
          </p:nvPr>
        </p:nvSpPr>
        <p:spPr>
          <a:xfrm>
            <a:off x="1412121" y="3926785"/>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74" name="Espace réservé du texte 23">
            <a:extLst>
              <a:ext uri="{FF2B5EF4-FFF2-40B4-BE49-F238E27FC236}">
                <a16:creationId xmlns:a16="http://schemas.microsoft.com/office/drawing/2014/main" id="{5DAE32A5-7F7F-CF42-8158-4D719435DFC6}"/>
              </a:ext>
            </a:extLst>
          </p:cNvPr>
          <p:cNvSpPr>
            <a:spLocks noGrp="1"/>
          </p:cNvSpPr>
          <p:nvPr>
            <p:ph type="body" sz="quarter" idx="48" hasCustomPrompt="1"/>
          </p:nvPr>
        </p:nvSpPr>
        <p:spPr>
          <a:xfrm>
            <a:off x="1412121" y="4320590"/>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5" name="Espace réservé du texte 23">
            <a:extLst>
              <a:ext uri="{FF2B5EF4-FFF2-40B4-BE49-F238E27FC236}">
                <a16:creationId xmlns:a16="http://schemas.microsoft.com/office/drawing/2014/main" id="{ACB44A5B-D369-5B4E-87EE-418603224C2F}"/>
              </a:ext>
            </a:extLst>
          </p:cNvPr>
          <p:cNvSpPr>
            <a:spLocks noGrp="1"/>
          </p:cNvSpPr>
          <p:nvPr>
            <p:ph type="body" sz="quarter" idx="49" hasCustomPrompt="1"/>
          </p:nvPr>
        </p:nvSpPr>
        <p:spPr>
          <a:xfrm>
            <a:off x="181917" y="5096556"/>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6" name="Espace réservé pour une image  4">
            <a:extLst>
              <a:ext uri="{FF2B5EF4-FFF2-40B4-BE49-F238E27FC236}">
                <a16:creationId xmlns:a16="http://schemas.microsoft.com/office/drawing/2014/main" id="{CD0B8505-EB75-BA48-A46A-885CB89DACB5}"/>
              </a:ext>
            </a:extLst>
          </p:cNvPr>
          <p:cNvSpPr>
            <a:spLocks noGrp="1"/>
          </p:cNvSpPr>
          <p:nvPr>
            <p:ph type="pic" sz="quarter" idx="50" hasCustomPrompt="1"/>
          </p:nvPr>
        </p:nvSpPr>
        <p:spPr>
          <a:xfrm>
            <a:off x="167311" y="3911158"/>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46" name="Espace réservé du texte 23">
            <a:extLst>
              <a:ext uri="{FF2B5EF4-FFF2-40B4-BE49-F238E27FC236}">
                <a16:creationId xmlns:a16="http://schemas.microsoft.com/office/drawing/2014/main" id="{702AFC75-5274-DA4D-A5BF-9B3AFB7488CC}"/>
              </a:ext>
            </a:extLst>
          </p:cNvPr>
          <p:cNvSpPr>
            <a:spLocks noGrp="1"/>
          </p:cNvSpPr>
          <p:nvPr>
            <p:ph type="body" sz="quarter" idx="51" hasCustomPrompt="1"/>
          </p:nvPr>
        </p:nvSpPr>
        <p:spPr>
          <a:xfrm>
            <a:off x="4478409" y="3943165"/>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47" name="Espace réservé du texte 23">
            <a:extLst>
              <a:ext uri="{FF2B5EF4-FFF2-40B4-BE49-F238E27FC236}">
                <a16:creationId xmlns:a16="http://schemas.microsoft.com/office/drawing/2014/main" id="{CFAB0BF0-BA0C-C544-BD92-BB8D69F6CAE1}"/>
              </a:ext>
            </a:extLst>
          </p:cNvPr>
          <p:cNvSpPr>
            <a:spLocks noGrp="1"/>
          </p:cNvSpPr>
          <p:nvPr>
            <p:ph type="body" sz="quarter" idx="52" hasCustomPrompt="1"/>
          </p:nvPr>
        </p:nvSpPr>
        <p:spPr>
          <a:xfrm>
            <a:off x="4478409" y="4336970"/>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48" name="Espace réservé du texte 23">
            <a:extLst>
              <a:ext uri="{FF2B5EF4-FFF2-40B4-BE49-F238E27FC236}">
                <a16:creationId xmlns:a16="http://schemas.microsoft.com/office/drawing/2014/main" id="{03788535-FDE8-6843-AD0A-A2D734E411AD}"/>
              </a:ext>
            </a:extLst>
          </p:cNvPr>
          <p:cNvSpPr>
            <a:spLocks noGrp="1"/>
          </p:cNvSpPr>
          <p:nvPr>
            <p:ph type="body" sz="quarter" idx="53" hasCustomPrompt="1"/>
          </p:nvPr>
        </p:nvSpPr>
        <p:spPr>
          <a:xfrm>
            <a:off x="3248205" y="5112936"/>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49" name="Espace réservé pour une image  4">
            <a:extLst>
              <a:ext uri="{FF2B5EF4-FFF2-40B4-BE49-F238E27FC236}">
                <a16:creationId xmlns:a16="http://schemas.microsoft.com/office/drawing/2014/main" id="{7F4AA648-DA73-1A49-B136-1632C96BA5C5}"/>
              </a:ext>
            </a:extLst>
          </p:cNvPr>
          <p:cNvSpPr>
            <a:spLocks noGrp="1"/>
          </p:cNvSpPr>
          <p:nvPr>
            <p:ph type="pic" sz="quarter" idx="54" hasCustomPrompt="1"/>
          </p:nvPr>
        </p:nvSpPr>
        <p:spPr>
          <a:xfrm>
            <a:off x="3233599" y="3927538"/>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0" name="Espace réservé du texte 23">
            <a:extLst>
              <a:ext uri="{FF2B5EF4-FFF2-40B4-BE49-F238E27FC236}">
                <a16:creationId xmlns:a16="http://schemas.microsoft.com/office/drawing/2014/main" id="{B32F9C20-21F3-E445-B8F1-AC78571F6E03}"/>
              </a:ext>
            </a:extLst>
          </p:cNvPr>
          <p:cNvSpPr>
            <a:spLocks noGrp="1"/>
          </p:cNvSpPr>
          <p:nvPr>
            <p:ph type="body" sz="quarter" idx="55" hasCustomPrompt="1"/>
          </p:nvPr>
        </p:nvSpPr>
        <p:spPr>
          <a:xfrm>
            <a:off x="7552734" y="3908072"/>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51" name="Espace réservé du texte 23">
            <a:extLst>
              <a:ext uri="{FF2B5EF4-FFF2-40B4-BE49-F238E27FC236}">
                <a16:creationId xmlns:a16="http://schemas.microsoft.com/office/drawing/2014/main" id="{2F5BC84D-BBB9-9A42-AB3F-98AB7978D424}"/>
              </a:ext>
            </a:extLst>
          </p:cNvPr>
          <p:cNvSpPr>
            <a:spLocks noGrp="1"/>
          </p:cNvSpPr>
          <p:nvPr>
            <p:ph type="body" sz="quarter" idx="56" hasCustomPrompt="1"/>
          </p:nvPr>
        </p:nvSpPr>
        <p:spPr>
          <a:xfrm>
            <a:off x="7552734" y="4301877"/>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55" name="Espace réservé du texte 23">
            <a:extLst>
              <a:ext uri="{FF2B5EF4-FFF2-40B4-BE49-F238E27FC236}">
                <a16:creationId xmlns:a16="http://schemas.microsoft.com/office/drawing/2014/main" id="{B4F0EAEB-1756-084F-B710-1F9E25AB5CC5}"/>
              </a:ext>
            </a:extLst>
          </p:cNvPr>
          <p:cNvSpPr>
            <a:spLocks noGrp="1"/>
          </p:cNvSpPr>
          <p:nvPr>
            <p:ph type="body" sz="quarter" idx="57" hasCustomPrompt="1"/>
          </p:nvPr>
        </p:nvSpPr>
        <p:spPr>
          <a:xfrm>
            <a:off x="6322530" y="5077843"/>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56" name="Espace réservé pour une image  4">
            <a:extLst>
              <a:ext uri="{FF2B5EF4-FFF2-40B4-BE49-F238E27FC236}">
                <a16:creationId xmlns:a16="http://schemas.microsoft.com/office/drawing/2014/main" id="{E08B2C3C-5F8E-014F-87B8-D46582E3EB0F}"/>
              </a:ext>
            </a:extLst>
          </p:cNvPr>
          <p:cNvSpPr>
            <a:spLocks noGrp="1"/>
          </p:cNvSpPr>
          <p:nvPr>
            <p:ph type="pic" sz="quarter" idx="58" hasCustomPrompt="1"/>
          </p:nvPr>
        </p:nvSpPr>
        <p:spPr>
          <a:xfrm>
            <a:off x="6307924" y="38924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7" name="Espace réservé du texte 23">
            <a:extLst>
              <a:ext uri="{FF2B5EF4-FFF2-40B4-BE49-F238E27FC236}">
                <a16:creationId xmlns:a16="http://schemas.microsoft.com/office/drawing/2014/main" id="{DFC4B421-BEBE-E54E-8A9C-827E6DF281ED}"/>
              </a:ext>
            </a:extLst>
          </p:cNvPr>
          <p:cNvSpPr>
            <a:spLocks noGrp="1"/>
          </p:cNvSpPr>
          <p:nvPr>
            <p:ph type="body" sz="quarter" idx="59" hasCustomPrompt="1"/>
          </p:nvPr>
        </p:nvSpPr>
        <p:spPr>
          <a:xfrm>
            <a:off x="10604642" y="3830584"/>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88" name="Espace réservé du texte 23">
            <a:extLst>
              <a:ext uri="{FF2B5EF4-FFF2-40B4-BE49-F238E27FC236}">
                <a16:creationId xmlns:a16="http://schemas.microsoft.com/office/drawing/2014/main" id="{FEA20074-0875-6344-91A1-E98FAA3A5FE1}"/>
              </a:ext>
            </a:extLst>
          </p:cNvPr>
          <p:cNvSpPr>
            <a:spLocks noGrp="1"/>
          </p:cNvSpPr>
          <p:nvPr>
            <p:ph type="body" sz="quarter" idx="60" hasCustomPrompt="1"/>
          </p:nvPr>
        </p:nvSpPr>
        <p:spPr>
          <a:xfrm>
            <a:off x="10604642" y="4224389"/>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89" name="Espace réservé du texte 23">
            <a:extLst>
              <a:ext uri="{FF2B5EF4-FFF2-40B4-BE49-F238E27FC236}">
                <a16:creationId xmlns:a16="http://schemas.microsoft.com/office/drawing/2014/main" id="{90CD6637-B776-3345-8328-36503E80870F}"/>
              </a:ext>
            </a:extLst>
          </p:cNvPr>
          <p:cNvSpPr>
            <a:spLocks noGrp="1"/>
          </p:cNvSpPr>
          <p:nvPr>
            <p:ph type="body" sz="quarter" idx="61" hasCustomPrompt="1"/>
          </p:nvPr>
        </p:nvSpPr>
        <p:spPr>
          <a:xfrm>
            <a:off x="9374438" y="5000355"/>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0" name="Espace réservé pour une image  4">
            <a:extLst>
              <a:ext uri="{FF2B5EF4-FFF2-40B4-BE49-F238E27FC236}">
                <a16:creationId xmlns:a16="http://schemas.microsoft.com/office/drawing/2014/main" id="{DA54D27D-6737-4147-9056-5C0961E9A3DD}"/>
              </a:ext>
            </a:extLst>
          </p:cNvPr>
          <p:cNvSpPr>
            <a:spLocks noGrp="1"/>
          </p:cNvSpPr>
          <p:nvPr>
            <p:ph type="pic" sz="quarter" idx="62" hasCustomPrompt="1"/>
          </p:nvPr>
        </p:nvSpPr>
        <p:spPr>
          <a:xfrm>
            <a:off x="9359832" y="3814957"/>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cxnSp>
        <p:nvCxnSpPr>
          <p:cNvPr id="91" name="Connecteur droit 90">
            <a:extLst>
              <a:ext uri="{FF2B5EF4-FFF2-40B4-BE49-F238E27FC236}">
                <a16:creationId xmlns:a16="http://schemas.microsoft.com/office/drawing/2014/main" id="{597A3344-E9EF-9F43-8BF6-8E4A4F97A8A7}"/>
              </a:ext>
            </a:extLst>
          </p:cNvPr>
          <p:cNvCxnSpPr>
            <a:cxnSpLocks/>
          </p:cNvCxnSpPr>
          <p:nvPr userDrawn="1"/>
        </p:nvCxnSpPr>
        <p:spPr>
          <a:xfrm flipV="1">
            <a:off x="6140805" y="366161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2" name="Connecteur droit 91">
            <a:extLst>
              <a:ext uri="{FF2B5EF4-FFF2-40B4-BE49-F238E27FC236}">
                <a16:creationId xmlns:a16="http://schemas.microsoft.com/office/drawing/2014/main" id="{326AE1F6-3523-D54D-9A4B-F1279A73519F}"/>
              </a:ext>
            </a:extLst>
          </p:cNvPr>
          <p:cNvCxnSpPr>
            <a:cxnSpLocks/>
          </p:cNvCxnSpPr>
          <p:nvPr userDrawn="1"/>
        </p:nvCxnSpPr>
        <p:spPr>
          <a:xfrm flipV="1">
            <a:off x="3086709" y="365047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3" name="Connecteur droit 92">
            <a:extLst>
              <a:ext uri="{FF2B5EF4-FFF2-40B4-BE49-F238E27FC236}">
                <a16:creationId xmlns:a16="http://schemas.microsoft.com/office/drawing/2014/main" id="{1F5924AF-27C0-6643-A8C2-9B3A8430792B}"/>
              </a:ext>
            </a:extLst>
          </p:cNvPr>
          <p:cNvCxnSpPr>
            <a:cxnSpLocks/>
          </p:cNvCxnSpPr>
          <p:nvPr userDrawn="1"/>
        </p:nvCxnSpPr>
        <p:spPr>
          <a:xfrm flipV="1">
            <a:off x="9182709" y="365047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4" name="Connecteur droit 93">
            <a:extLst>
              <a:ext uri="{FF2B5EF4-FFF2-40B4-BE49-F238E27FC236}">
                <a16:creationId xmlns:a16="http://schemas.microsoft.com/office/drawing/2014/main" id="{0921032E-D40D-C740-8C6A-FAF1B4676D85}"/>
              </a:ext>
            </a:extLst>
          </p:cNvPr>
          <p:cNvCxnSpPr>
            <a:cxnSpLocks/>
          </p:cNvCxnSpPr>
          <p:nvPr userDrawn="1"/>
        </p:nvCxnSpPr>
        <p:spPr>
          <a:xfrm flipV="1">
            <a:off x="4517118" y="1047204"/>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5" name="Connecteur droit 94">
            <a:extLst>
              <a:ext uri="{FF2B5EF4-FFF2-40B4-BE49-F238E27FC236}">
                <a16:creationId xmlns:a16="http://schemas.microsoft.com/office/drawing/2014/main" id="{8BBA6C04-D7A1-2D42-8AB6-AF487DD911EF}"/>
              </a:ext>
            </a:extLst>
          </p:cNvPr>
          <p:cNvCxnSpPr>
            <a:cxnSpLocks/>
          </p:cNvCxnSpPr>
          <p:nvPr userDrawn="1"/>
        </p:nvCxnSpPr>
        <p:spPr>
          <a:xfrm flipV="1">
            <a:off x="7577100" y="1047204"/>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96" name="Espace réservé du texte 23">
            <a:extLst>
              <a:ext uri="{FF2B5EF4-FFF2-40B4-BE49-F238E27FC236}">
                <a16:creationId xmlns:a16="http://schemas.microsoft.com/office/drawing/2014/main" id="{EFADFAC6-FFD9-3E46-9B84-064E3109D8EE}"/>
              </a:ext>
            </a:extLst>
          </p:cNvPr>
          <p:cNvSpPr>
            <a:spLocks noGrp="1"/>
          </p:cNvSpPr>
          <p:nvPr>
            <p:ph type="body" sz="quarter" idx="63" hasCustomPrompt="1"/>
          </p:nvPr>
        </p:nvSpPr>
        <p:spPr>
          <a:xfrm>
            <a:off x="5934040" y="1194995"/>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97" name="Espace réservé du texte 23">
            <a:extLst>
              <a:ext uri="{FF2B5EF4-FFF2-40B4-BE49-F238E27FC236}">
                <a16:creationId xmlns:a16="http://schemas.microsoft.com/office/drawing/2014/main" id="{A23DDE5E-765E-8646-AF52-103E6D7727CD}"/>
              </a:ext>
            </a:extLst>
          </p:cNvPr>
          <p:cNvSpPr>
            <a:spLocks noGrp="1"/>
          </p:cNvSpPr>
          <p:nvPr>
            <p:ph type="body" sz="quarter" idx="64" hasCustomPrompt="1"/>
          </p:nvPr>
        </p:nvSpPr>
        <p:spPr>
          <a:xfrm>
            <a:off x="5934040" y="1602676"/>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8" name="Espace réservé du texte 23">
            <a:extLst>
              <a:ext uri="{FF2B5EF4-FFF2-40B4-BE49-F238E27FC236}">
                <a16:creationId xmlns:a16="http://schemas.microsoft.com/office/drawing/2014/main" id="{55DFCCA3-2FA7-EF43-9261-E5472DDA4A09}"/>
              </a:ext>
            </a:extLst>
          </p:cNvPr>
          <p:cNvSpPr>
            <a:spLocks noGrp="1"/>
          </p:cNvSpPr>
          <p:nvPr>
            <p:ph type="body" sz="quarter" idx="65" hasCustomPrompt="1"/>
          </p:nvPr>
        </p:nvSpPr>
        <p:spPr>
          <a:xfrm>
            <a:off x="4703836" y="2378644"/>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9" name="Espace réservé pour une image  4">
            <a:extLst>
              <a:ext uri="{FF2B5EF4-FFF2-40B4-BE49-F238E27FC236}">
                <a16:creationId xmlns:a16="http://schemas.microsoft.com/office/drawing/2014/main" id="{39015A28-F0E8-184D-A77B-FE17868DA6E9}"/>
              </a:ext>
            </a:extLst>
          </p:cNvPr>
          <p:cNvSpPr>
            <a:spLocks noGrp="1"/>
          </p:cNvSpPr>
          <p:nvPr>
            <p:ph type="pic" sz="quarter" idx="66" hasCustomPrompt="1"/>
          </p:nvPr>
        </p:nvSpPr>
        <p:spPr>
          <a:xfrm>
            <a:off x="4689230" y="11932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100" name="Espace réservé du texte 23">
            <a:extLst>
              <a:ext uri="{FF2B5EF4-FFF2-40B4-BE49-F238E27FC236}">
                <a16:creationId xmlns:a16="http://schemas.microsoft.com/office/drawing/2014/main" id="{B5E81CF3-C567-5B45-8A47-62555B0F9354}"/>
              </a:ext>
            </a:extLst>
          </p:cNvPr>
          <p:cNvSpPr>
            <a:spLocks noGrp="1"/>
          </p:cNvSpPr>
          <p:nvPr>
            <p:ph type="body" sz="quarter" idx="67" hasCustomPrompt="1"/>
          </p:nvPr>
        </p:nvSpPr>
        <p:spPr>
          <a:xfrm>
            <a:off x="2874058" y="1197903"/>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101" name="Espace réservé du texte 23">
            <a:extLst>
              <a:ext uri="{FF2B5EF4-FFF2-40B4-BE49-F238E27FC236}">
                <a16:creationId xmlns:a16="http://schemas.microsoft.com/office/drawing/2014/main" id="{F5104BF3-562F-2742-A598-DD29624E9C42}"/>
              </a:ext>
            </a:extLst>
          </p:cNvPr>
          <p:cNvSpPr>
            <a:spLocks noGrp="1"/>
          </p:cNvSpPr>
          <p:nvPr>
            <p:ph type="body" sz="quarter" idx="68" hasCustomPrompt="1"/>
          </p:nvPr>
        </p:nvSpPr>
        <p:spPr>
          <a:xfrm>
            <a:off x="2874058" y="1605584"/>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02" name="Espace réservé du texte 23">
            <a:extLst>
              <a:ext uri="{FF2B5EF4-FFF2-40B4-BE49-F238E27FC236}">
                <a16:creationId xmlns:a16="http://schemas.microsoft.com/office/drawing/2014/main" id="{E7DAF3A5-3763-8C4B-8677-0F138AAC36D7}"/>
              </a:ext>
            </a:extLst>
          </p:cNvPr>
          <p:cNvSpPr>
            <a:spLocks noGrp="1"/>
          </p:cNvSpPr>
          <p:nvPr>
            <p:ph type="body" sz="quarter" idx="69" hasCustomPrompt="1"/>
          </p:nvPr>
        </p:nvSpPr>
        <p:spPr>
          <a:xfrm>
            <a:off x="1643854" y="2381552"/>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03" name="Espace réservé pour une image  4">
            <a:extLst>
              <a:ext uri="{FF2B5EF4-FFF2-40B4-BE49-F238E27FC236}">
                <a16:creationId xmlns:a16="http://schemas.microsoft.com/office/drawing/2014/main" id="{4BABB430-907D-C04B-A46C-E0CEB9E10509}"/>
              </a:ext>
            </a:extLst>
          </p:cNvPr>
          <p:cNvSpPr>
            <a:spLocks noGrp="1"/>
          </p:cNvSpPr>
          <p:nvPr>
            <p:ph type="pic" sz="quarter" idx="70" hasCustomPrompt="1"/>
          </p:nvPr>
        </p:nvSpPr>
        <p:spPr>
          <a:xfrm>
            <a:off x="1629248" y="119615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Tree>
    <p:extLst>
      <p:ext uri="{BB962C8B-B14F-4D97-AF65-F5344CB8AC3E}">
        <p14:creationId xmlns:p14="http://schemas.microsoft.com/office/powerpoint/2010/main" val="22414321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Schéma">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38" name="Espace réservé du texte 23">
            <a:extLst>
              <a:ext uri="{FF2B5EF4-FFF2-40B4-BE49-F238E27FC236}">
                <a16:creationId xmlns:a16="http://schemas.microsoft.com/office/drawing/2014/main" id="{1B69723A-750D-AF46-BD7B-DA5FC3C52AAC}"/>
              </a:ext>
            </a:extLst>
          </p:cNvPr>
          <p:cNvSpPr>
            <a:spLocks noGrp="1"/>
          </p:cNvSpPr>
          <p:nvPr>
            <p:ph type="body" sz="quarter" idx="36" hasCustomPrompt="1"/>
          </p:nvPr>
        </p:nvSpPr>
        <p:spPr>
          <a:xfrm>
            <a:off x="685939" y="1241035"/>
            <a:ext cx="2220601" cy="506379"/>
          </a:xfrm>
          <a:prstGeom prst="rect">
            <a:avLst/>
          </a:prstGeom>
          <a:solidFill>
            <a:srgbClr val="1B445F"/>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39" name="Espace réservé du texte 23">
            <a:extLst>
              <a:ext uri="{FF2B5EF4-FFF2-40B4-BE49-F238E27FC236}">
                <a16:creationId xmlns:a16="http://schemas.microsoft.com/office/drawing/2014/main" id="{CE7A6769-F238-FF4E-8F4E-FD06AA230284}"/>
              </a:ext>
            </a:extLst>
          </p:cNvPr>
          <p:cNvSpPr>
            <a:spLocks noGrp="1"/>
          </p:cNvSpPr>
          <p:nvPr>
            <p:ph type="body" sz="quarter" idx="37" hasCustomPrompt="1"/>
          </p:nvPr>
        </p:nvSpPr>
        <p:spPr>
          <a:xfrm>
            <a:off x="685941" y="1905196"/>
            <a:ext cx="2220601" cy="506379"/>
          </a:xfrm>
          <a:prstGeom prst="rect">
            <a:avLst/>
          </a:prstGeom>
          <a:solidFill>
            <a:srgbClr val="539DB1"/>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40" name="Espace réservé du texte 23">
            <a:extLst>
              <a:ext uri="{FF2B5EF4-FFF2-40B4-BE49-F238E27FC236}">
                <a16:creationId xmlns:a16="http://schemas.microsoft.com/office/drawing/2014/main" id="{8DAE4A22-9E53-9E44-B9C8-BEF40E18E53C}"/>
              </a:ext>
            </a:extLst>
          </p:cNvPr>
          <p:cNvSpPr>
            <a:spLocks noGrp="1"/>
          </p:cNvSpPr>
          <p:nvPr>
            <p:ph type="body" sz="quarter" idx="38" hasCustomPrompt="1"/>
          </p:nvPr>
        </p:nvSpPr>
        <p:spPr>
          <a:xfrm>
            <a:off x="685939" y="2569357"/>
            <a:ext cx="2220601" cy="506379"/>
          </a:xfrm>
          <a:prstGeom prst="rect">
            <a:avLst/>
          </a:prstGeom>
          <a:solidFill>
            <a:srgbClr val="90C9D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41" name="Espace réservé du texte 23">
            <a:extLst>
              <a:ext uri="{FF2B5EF4-FFF2-40B4-BE49-F238E27FC236}">
                <a16:creationId xmlns:a16="http://schemas.microsoft.com/office/drawing/2014/main" id="{F69CC65E-0416-8748-8D00-F93A2366C606}"/>
              </a:ext>
            </a:extLst>
          </p:cNvPr>
          <p:cNvSpPr>
            <a:spLocks noGrp="1"/>
          </p:cNvSpPr>
          <p:nvPr>
            <p:ph type="body" sz="quarter" idx="39" hasCustomPrompt="1"/>
          </p:nvPr>
        </p:nvSpPr>
        <p:spPr>
          <a:xfrm>
            <a:off x="685938" y="3233518"/>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51" name="Espace réservé du texte 23">
            <a:extLst>
              <a:ext uri="{FF2B5EF4-FFF2-40B4-BE49-F238E27FC236}">
                <a16:creationId xmlns:a16="http://schemas.microsoft.com/office/drawing/2014/main" id="{6A1E629E-1AE0-5147-9CD7-06329F571879}"/>
              </a:ext>
            </a:extLst>
          </p:cNvPr>
          <p:cNvSpPr>
            <a:spLocks noGrp="1"/>
          </p:cNvSpPr>
          <p:nvPr>
            <p:ph type="body" sz="quarter" idx="12" hasCustomPrompt="1"/>
          </p:nvPr>
        </p:nvSpPr>
        <p:spPr>
          <a:xfrm>
            <a:off x="685939" y="5347915"/>
            <a:ext cx="10820123" cy="50638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 de bas de page</a:t>
            </a:r>
          </a:p>
        </p:txBody>
      </p:sp>
      <p:sp>
        <p:nvSpPr>
          <p:cNvPr id="56" name="Espace réservé du texte 23">
            <a:extLst>
              <a:ext uri="{FF2B5EF4-FFF2-40B4-BE49-F238E27FC236}">
                <a16:creationId xmlns:a16="http://schemas.microsoft.com/office/drawing/2014/main" id="{680F8411-7B5B-D54F-8143-D243AC37E830}"/>
              </a:ext>
            </a:extLst>
          </p:cNvPr>
          <p:cNvSpPr>
            <a:spLocks noGrp="1"/>
          </p:cNvSpPr>
          <p:nvPr>
            <p:ph type="body" sz="quarter" idx="40" hasCustomPrompt="1"/>
          </p:nvPr>
        </p:nvSpPr>
        <p:spPr>
          <a:xfrm>
            <a:off x="685938" y="3897679"/>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88" name="Espace réservé du texte 23">
            <a:extLst>
              <a:ext uri="{FF2B5EF4-FFF2-40B4-BE49-F238E27FC236}">
                <a16:creationId xmlns:a16="http://schemas.microsoft.com/office/drawing/2014/main" id="{D4591BC7-2817-1F45-88D2-A34A3B65720A}"/>
              </a:ext>
            </a:extLst>
          </p:cNvPr>
          <p:cNvSpPr>
            <a:spLocks noGrp="1"/>
          </p:cNvSpPr>
          <p:nvPr>
            <p:ph type="body" sz="quarter" idx="41" hasCustomPrompt="1"/>
          </p:nvPr>
        </p:nvSpPr>
        <p:spPr>
          <a:xfrm>
            <a:off x="685938" y="4561840"/>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89" name="Espace réservé du texte 23">
            <a:extLst>
              <a:ext uri="{FF2B5EF4-FFF2-40B4-BE49-F238E27FC236}">
                <a16:creationId xmlns:a16="http://schemas.microsoft.com/office/drawing/2014/main" id="{5D7E2B6C-2C17-3645-B1C4-D3C5AC78A821}"/>
              </a:ext>
            </a:extLst>
          </p:cNvPr>
          <p:cNvSpPr>
            <a:spLocks noGrp="1"/>
          </p:cNvSpPr>
          <p:nvPr>
            <p:ph type="body" sz="quarter" idx="42" hasCustomPrompt="1"/>
          </p:nvPr>
        </p:nvSpPr>
        <p:spPr>
          <a:xfrm>
            <a:off x="3072253" y="1241035"/>
            <a:ext cx="2220601" cy="506379"/>
          </a:xfrm>
          <a:prstGeom prst="rect">
            <a:avLst/>
          </a:prstGeom>
          <a:solidFill>
            <a:srgbClr val="1B445F"/>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0" name="Espace réservé du texte 23">
            <a:extLst>
              <a:ext uri="{FF2B5EF4-FFF2-40B4-BE49-F238E27FC236}">
                <a16:creationId xmlns:a16="http://schemas.microsoft.com/office/drawing/2014/main" id="{BD3BAEEB-2D03-2944-80B0-7B19DE4CAB1D}"/>
              </a:ext>
            </a:extLst>
          </p:cNvPr>
          <p:cNvSpPr>
            <a:spLocks noGrp="1"/>
          </p:cNvSpPr>
          <p:nvPr>
            <p:ph type="body" sz="quarter" idx="43" hasCustomPrompt="1"/>
          </p:nvPr>
        </p:nvSpPr>
        <p:spPr>
          <a:xfrm>
            <a:off x="3072255" y="1905196"/>
            <a:ext cx="2220601" cy="506379"/>
          </a:xfrm>
          <a:prstGeom prst="rect">
            <a:avLst/>
          </a:prstGeom>
          <a:solidFill>
            <a:srgbClr val="539DB1"/>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1" name="Espace réservé du texte 23">
            <a:extLst>
              <a:ext uri="{FF2B5EF4-FFF2-40B4-BE49-F238E27FC236}">
                <a16:creationId xmlns:a16="http://schemas.microsoft.com/office/drawing/2014/main" id="{20789B73-2345-B344-89EC-9AFEC2CD70BF}"/>
              </a:ext>
            </a:extLst>
          </p:cNvPr>
          <p:cNvSpPr>
            <a:spLocks noGrp="1"/>
          </p:cNvSpPr>
          <p:nvPr>
            <p:ph type="body" sz="quarter" idx="44" hasCustomPrompt="1"/>
          </p:nvPr>
        </p:nvSpPr>
        <p:spPr>
          <a:xfrm>
            <a:off x="3072253" y="2569357"/>
            <a:ext cx="2220601" cy="506379"/>
          </a:xfrm>
          <a:prstGeom prst="rect">
            <a:avLst/>
          </a:prstGeom>
          <a:solidFill>
            <a:srgbClr val="90C9D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2" name="Espace réservé du texte 23">
            <a:extLst>
              <a:ext uri="{FF2B5EF4-FFF2-40B4-BE49-F238E27FC236}">
                <a16:creationId xmlns:a16="http://schemas.microsoft.com/office/drawing/2014/main" id="{115DA821-2917-754E-AAD9-01F3C9A43A5F}"/>
              </a:ext>
            </a:extLst>
          </p:cNvPr>
          <p:cNvSpPr>
            <a:spLocks noGrp="1"/>
          </p:cNvSpPr>
          <p:nvPr>
            <p:ph type="body" sz="quarter" idx="45" hasCustomPrompt="1"/>
          </p:nvPr>
        </p:nvSpPr>
        <p:spPr>
          <a:xfrm>
            <a:off x="3072252" y="3233518"/>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3" name="Espace réservé du texte 23">
            <a:extLst>
              <a:ext uri="{FF2B5EF4-FFF2-40B4-BE49-F238E27FC236}">
                <a16:creationId xmlns:a16="http://schemas.microsoft.com/office/drawing/2014/main" id="{C9EE8ECA-72D9-3F40-82BB-D2613EE18AF4}"/>
              </a:ext>
            </a:extLst>
          </p:cNvPr>
          <p:cNvSpPr>
            <a:spLocks noGrp="1"/>
          </p:cNvSpPr>
          <p:nvPr>
            <p:ph type="body" sz="quarter" idx="46" hasCustomPrompt="1"/>
          </p:nvPr>
        </p:nvSpPr>
        <p:spPr>
          <a:xfrm>
            <a:off x="3072252" y="3897679"/>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4" name="Espace réservé du texte 23">
            <a:extLst>
              <a:ext uri="{FF2B5EF4-FFF2-40B4-BE49-F238E27FC236}">
                <a16:creationId xmlns:a16="http://schemas.microsoft.com/office/drawing/2014/main" id="{C12537C3-55A7-F142-82FE-7D10176C9C51}"/>
              </a:ext>
            </a:extLst>
          </p:cNvPr>
          <p:cNvSpPr>
            <a:spLocks noGrp="1"/>
          </p:cNvSpPr>
          <p:nvPr>
            <p:ph type="body" sz="quarter" idx="47" hasCustomPrompt="1"/>
          </p:nvPr>
        </p:nvSpPr>
        <p:spPr>
          <a:xfrm>
            <a:off x="3072252" y="4561840"/>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Tree>
    <p:extLst>
      <p:ext uri="{BB962C8B-B14F-4D97-AF65-F5344CB8AC3E}">
        <p14:creationId xmlns:p14="http://schemas.microsoft.com/office/powerpoint/2010/main" val="425550167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Image seul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10" name="Espace réservé pour une image  2">
            <a:extLst>
              <a:ext uri="{FF2B5EF4-FFF2-40B4-BE49-F238E27FC236}">
                <a16:creationId xmlns:a16="http://schemas.microsoft.com/office/drawing/2014/main" id="{7D9C95A2-C8E2-DE45-A2FD-E16C973C27C5}"/>
              </a:ext>
            </a:extLst>
          </p:cNvPr>
          <p:cNvSpPr>
            <a:spLocks noGrp="1"/>
          </p:cNvSpPr>
          <p:nvPr>
            <p:ph type="pic" sz="quarter" idx="14" hasCustomPrompt="1"/>
          </p:nvPr>
        </p:nvSpPr>
        <p:spPr>
          <a:xfrm>
            <a:off x="685938" y="1238735"/>
            <a:ext cx="10820123"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une image</a:t>
            </a:r>
          </a:p>
        </p:txBody>
      </p:sp>
    </p:spTree>
    <p:extLst>
      <p:ext uri="{BB962C8B-B14F-4D97-AF65-F5344CB8AC3E}">
        <p14:creationId xmlns:p14="http://schemas.microsoft.com/office/powerpoint/2010/main" val="128350649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Vierg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Tree>
    <p:extLst>
      <p:ext uri="{BB962C8B-B14F-4D97-AF65-F5344CB8AC3E}">
        <p14:creationId xmlns:p14="http://schemas.microsoft.com/office/powerpoint/2010/main" val="130894862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_Contacts en 5">
    <p:spTree>
      <p:nvGrpSpPr>
        <p:cNvPr id="1" name=""/>
        <p:cNvGrpSpPr/>
        <p:nvPr/>
      </p:nvGrpSpPr>
      <p:grpSpPr>
        <a:xfrm>
          <a:off x="0" y="0"/>
          <a:ext cx="0" cy="0"/>
          <a:chOff x="0" y="0"/>
          <a:chExt cx="0" cy="0"/>
        </a:xfrm>
      </p:grpSpPr>
      <p:grpSp>
        <p:nvGrpSpPr>
          <p:cNvPr id="19" name="Groupe 18">
            <a:extLst>
              <a:ext uri="{FF2B5EF4-FFF2-40B4-BE49-F238E27FC236}">
                <a16:creationId xmlns:a16="http://schemas.microsoft.com/office/drawing/2014/main" id="{00E7E6CF-74B3-DA4E-8C67-8227EDDA7AAB}"/>
              </a:ext>
            </a:extLst>
          </p:cNvPr>
          <p:cNvGrpSpPr/>
          <p:nvPr userDrawn="1"/>
        </p:nvGrpSpPr>
        <p:grpSpPr>
          <a:xfrm>
            <a:off x="2943532" y="3394359"/>
            <a:ext cx="1035293" cy="1013989"/>
            <a:chOff x="556126" y="4311990"/>
            <a:chExt cx="1035293" cy="1013989"/>
          </a:xfrm>
        </p:grpSpPr>
        <p:sp>
          <p:nvSpPr>
            <p:cNvPr id="20" name="Rectangle 19">
              <a:extLst>
                <a:ext uri="{FF2B5EF4-FFF2-40B4-BE49-F238E27FC236}">
                  <a16:creationId xmlns:a16="http://schemas.microsoft.com/office/drawing/2014/main" id="{2773A585-9E83-DD4B-8D68-6A444547E8B8}"/>
                </a:ext>
              </a:extLst>
            </p:cNvPr>
            <p:cNvSpPr/>
            <p:nvPr/>
          </p:nvSpPr>
          <p:spPr>
            <a:xfrm>
              <a:off x="556126" y="4311990"/>
              <a:ext cx="294108" cy="1013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Rectangle 20">
              <a:extLst>
                <a:ext uri="{FF2B5EF4-FFF2-40B4-BE49-F238E27FC236}">
                  <a16:creationId xmlns:a16="http://schemas.microsoft.com/office/drawing/2014/main" id="{7360EE6C-98DC-D746-A335-B57A0B3ECC6F}"/>
                </a:ext>
              </a:extLst>
            </p:cNvPr>
            <p:cNvSpPr/>
            <p:nvPr/>
          </p:nvSpPr>
          <p:spPr>
            <a:xfrm rot="16200000">
              <a:off x="1071100" y="4805660"/>
              <a:ext cx="299453" cy="7411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2" name="Groupe 21">
            <a:extLst>
              <a:ext uri="{FF2B5EF4-FFF2-40B4-BE49-F238E27FC236}">
                <a16:creationId xmlns:a16="http://schemas.microsoft.com/office/drawing/2014/main" id="{6B913E42-0CA4-F740-8CF9-E221CF7EB0DD}"/>
              </a:ext>
            </a:extLst>
          </p:cNvPr>
          <p:cNvGrpSpPr/>
          <p:nvPr userDrawn="1"/>
        </p:nvGrpSpPr>
        <p:grpSpPr>
          <a:xfrm rot="10800000">
            <a:off x="8220858" y="2421946"/>
            <a:ext cx="1061675" cy="1007054"/>
            <a:chOff x="529744" y="4318924"/>
            <a:chExt cx="1061675" cy="1007054"/>
          </a:xfrm>
          <a:solidFill>
            <a:schemeClr val="bg1"/>
          </a:solidFill>
        </p:grpSpPr>
        <p:sp>
          <p:nvSpPr>
            <p:cNvPr id="23" name="Rectangle 22">
              <a:extLst>
                <a:ext uri="{FF2B5EF4-FFF2-40B4-BE49-F238E27FC236}">
                  <a16:creationId xmlns:a16="http://schemas.microsoft.com/office/drawing/2014/main" id="{9A582717-A057-C541-B69E-2DB4590C87F2}"/>
                </a:ext>
              </a:extLst>
            </p:cNvPr>
            <p:cNvSpPr/>
            <p:nvPr/>
          </p:nvSpPr>
          <p:spPr>
            <a:xfrm>
              <a:off x="529744" y="4318924"/>
              <a:ext cx="320490" cy="1000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Rectangle 23">
              <a:extLst>
                <a:ext uri="{FF2B5EF4-FFF2-40B4-BE49-F238E27FC236}">
                  <a16:creationId xmlns:a16="http://schemas.microsoft.com/office/drawing/2014/main" id="{3E5B0188-42B0-0E4B-BCD4-DE083C4842DC}"/>
                </a:ext>
              </a:extLst>
            </p:cNvPr>
            <p:cNvSpPr/>
            <p:nvPr/>
          </p:nvSpPr>
          <p:spPr>
            <a:xfrm rot="16200000">
              <a:off x="1071100" y="4805660"/>
              <a:ext cx="299453" cy="7411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5" name="Espace réservé du texte 23">
            <a:extLst>
              <a:ext uri="{FF2B5EF4-FFF2-40B4-BE49-F238E27FC236}">
                <a16:creationId xmlns:a16="http://schemas.microsoft.com/office/drawing/2014/main" id="{42C7297B-9020-DF4C-8BF0-A8B862F4FAAE}"/>
              </a:ext>
            </a:extLst>
          </p:cNvPr>
          <p:cNvSpPr>
            <a:spLocks noGrp="1"/>
          </p:cNvSpPr>
          <p:nvPr>
            <p:ph type="body" sz="quarter" idx="11" hasCustomPrompt="1"/>
          </p:nvPr>
        </p:nvSpPr>
        <p:spPr>
          <a:xfrm>
            <a:off x="3541642" y="3051701"/>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Tree>
    <p:extLst>
      <p:ext uri="{BB962C8B-B14F-4D97-AF65-F5344CB8AC3E}">
        <p14:creationId xmlns:p14="http://schemas.microsoft.com/office/powerpoint/2010/main" val="282016721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Contacts en 5">
    <p:spTree>
      <p:nvGrpSpPr>
        <p:cNvPr id="1" name=""/>
        <p:cNvGrpSpPr/>
        <p:nvPr/>
      </p:nvGrpSpPr>
      <p:grpSpPr>
        <a:xfrm>
          <a:off x="0" y="0"/>
          <a:ext cx="0" cy="0"/>
          <a:chOff x="0" y="0"/>
          <a:chExt cx="0" cy="0"/>
        </a:xfrm>
      </p:grpSpPr>
      <p:pic>
        <p:nvPicPr>
          <p:cNvPr id="10" name="Picture 4">
            <a:extLst>
              <a:ext uri="{FF2B5EF4-FFF2-40B4-BE49-F238E27FC236}">
                <a16:creationId xmlns:a16="http://schemas.microsoft.com/office/drawing/2014/main" id="{DE0B3A84-7641-E849-9F22-19BE3BFD8E6C}"/>
              </a:ext>
            </a:extLst>
          </p:cNvPr>
          <p:cNvPicPr>
            <a:picLocks noChangeAspect="1"/>
          </p:cNvPicPr>
          <p:nvPr userDrawn="1"/>
        </p:nvPicPr>
        <p:blipFill>
          <a:blip r:embed="rId2"/>
          <a:stretch>
            <a:fillRect/>
          </a:stretch>
        </p:blipFill>
        <p:spPr>
          <a:xfrm>
            <a:off x="4286451" y="530021"/>
            <a:ext cx="3619098" cy="792950"/>
          </a:xfrm>
          <a:prstGeom prst="rect">
            <a:avLst/>
          </a:prstGeom>
        </p:spPr>
      </p:pic>
      <p:sp>
        <p:nvSpPr>
          <p:cNvPr id="12" name="Rectangle 11">
            <a:extLst>
              <a:ext uri="{FF2B5EF4-FFF2-40B4-BE49-F238E27FC236}">
                <a16:creationId xmlns:a16="http://schemas.microsoft.com/office/drawing/2014/main" id="{C528CACF-90FE-2244-AF50-50352D75EEEC}"/>
              </a:ext>
            </a:extLst>
          </p:cNvPr>
          <p:cNvSpPr/>
          <p:nvPr userDrawn="1"/>
        </p:nvSpPr>
        <p:spPr>
          <a:xfrm>
            <a:off x="685939" y="5292106"/>
            <a:ext cx="10820121" cy="792950"/>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just">
              <a:spcAft>
                <a:spcPts val="600"/>
              </a:spcAft>
            </a:pPr>
            <a:r>
              <a:rPr lang="fr-FR" b="1">
                <a:solidFill>
                  <a:srgbClr val="1B445F"/>
                </a:solidFill>
                <a:latin typeface="Calibri" panose="020F0502020204030204" pitchFamily="34" charset="0"/>
                <a:cs typeface="Calibri" panose="020F0502020204030204" pitchFamily="34" charset="0"/>
              </a:rPr>
              <a:t>Disclaimer: </a:t>
            </a:r>
            <a:r>
              <a:rPr lang="fr-FR">
                <a:solidFill>
                  <a:srgbClr val="1B445F"/>
                </a:solidFill>
                <a:latin typeface="Calibri" panose="020F0502020204030204" pitchFamily="34" charset="0"/>
                <a:cs typeface="Calibri" panose="020F0502020204030204" pitchFamily="34" charset="0"/>
              </a:rPr>
              <a:t>The information contained here is of a general nature and is not intended to reflect the characteristics of a particular institution. Although we endeavor to provide accurate and timely information, there can be no guarantee that such information is accurate as of the date it is received or that will continue to be accurate in the future.</a:t>
            </a:r>
          </a:p>
        </p:txBody>
      </p:sp>
      <p:sp>
        <p:nvSpPr>
          <p:cNvPr id="4" name="Espace réservé pour une image  4">
            <a:extLst>
              <a:ext uri="{FF2B5EF4-FFF2-40B4-BE49-F238E27FC236}">
                <a16:creationId xmlns:a16="http://schemas.microsoft.com/office/drawing/2014/main" id="{346B39B8-F985-C24E-B036-CD09034F89B5}"/>
              </a:ext>
            </a:extLst>
          </p:cNvPr>
          <p:cNvSpPr>
            <a:spLocks noGrp="1"/>
          </p:cNvSpPr>
          <p:nvPr>
            <p:ph type="pic" sz="quarter" idx="17" hasCustomPrompt="1"/>
          </p:nvPr>
        </p:nvSpPr>
        <p:spPr>
          <a:xfrm>
            <a:off x="1268102" y="22700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 name="Espace réservé pour une image  4">
            <a:extLst>
              <a:ext uri="{FF2B5EF4-FFF2-40B4-BE49-F238E27FC236}">
                <a16:creationId xmlns:a16="http://schemas.microsoft.com/office/drawing/2014/main" id="{C471FAB8-DE9E-764F-A20B-6E1240636A51}"/>
              </a:ext>
            </a:extLst>
          </p:cNvPr>
          <p:cNvSpPr>
            <a:spLocks noGrp="1"/>
          </p:cNvSpPr>
          <p:nvPr>
            <p:ph type="pic" sz="quarter" idx="18" hasCustomPrompt="1"/>
          </p:nvPr>
        </p:nvSpPr>
        <p:spPr>
          <a:xfrm>
            <a:off x="3426614"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6" name="Espace réservé pour une image  4">
            <a:extLst>
              <a:ext uri="{FF2B5EF4-FFF2-40B4-BE49-F238E27FC236}">
                <a16:creationId xmlns:a16="http://schemas.microsoft.com/office/drawing/2014/main" id="{28A6D991-AFE3-3742-A641-D958134B3AD2}"/>
              </a:ext>
            </a:extLst>
          </p:cNvPr>
          <p:cNvSpPr>
            <a:spLocks noGrp="1"/>
          </p:cNvSpPr>
          <p:nvPr>
            <p:ph type="pic" sz="quarter" idx="19" hasCustomPrompt="1"/>
          </p:nvPr>
        </p:nvSpPr>
        <p:spPr>
          <a:xfrm>
            <a:off x="5585127"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7" name="Espace réservé pour une image  4">
            <a:extLst>
              <a:ext uri="{FF2B5EF4-FFF2-40B4-BE49-F238E27FC236}">
                <a16:creationId xmlns:a16="http://schemas.microsoft.com/office/drawing/2014/main" id="{2C845469-64D0-F149-93A9-7E82F0DFFF55}"/>
              </a:ext>
            </a:extLst>
          </p:cNvPr>
          <p:cNvSpPr>
            <a:spLocks noGrp="1"/>
          </p:cNvSpPr>
          <p:nvPr>
            <p:ph type="pic" sz="quarter" idx="20" hasCustomPrompt="1"/>
          </p:nvPr>
        </p:nvSpPr>
        <p:spPr>
          <a:xfrm>
            <a:off x="7743641"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8" name="Espace réservé pour une image  4">
            <a:extLst>
              <a:ext uri="{FF2B5EF4-FFF2-40B4-BE49-F238E27FC236}">
                <a16:creationId xmlns:a16="http://schemas.microsoft.com/office/drawing/2014/main" id="{5E7B4EF7-1E08-294C-9899-11C5C3AA4551}"/>
              </a:ext>
            </a:extLst>
          </p:cNvPr>
          <p:cNvSpPr>
            <a:spLocks noGrp="1"/>
          </p:cNvSpPr>
          <p:nvPr>
            <p:ph type="pic" sz="quarter" idx="21" hasCustomPrompt="1"/>
          </p:nvPr>
        </p:nvSpPr>
        <p:spPr>
          <a:xfrm>
            <a:off x="9902154"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9" name="Espace réservé du texte 23">
            <a:extLst>
              <a:ext uri="{FF2B5EF4-FFF2-40B4-BE49-F238E27FC236}">
                <a16:creationId xmlns:a16="http://schemas.microsoft.com/office/drawing/2014/main" id="{5B1D51E9-169E-3448-8456-4DA2F04B88A0}"/>
              </a:ext>
            </a:extLst>
          </p:cNvPr>
          <p:cNvSpPr>
            <a:spLocks noGrp="1"/>
          </p:cNvSpPr>
          <p:nvPr>
            <p:ph type="body" sz="quarter" idx="14" hasCustomPrompt="1"/>
          </p:nvPr>
        </p:nvSpPr>
        <p:spPr>
          <a:xfrm>
            <a:off x="725438"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1" name="Espace réservé du texte 23">
            <a:extLst>
              <a:ext uri="{FF2B5EF4-FFF2-40B4-BE49-F238E27FC236}">
                <a16:creationId xmlns:a16="http://schemas.microsoft.com/office/drawing/2014/main" id="{7278057E-1AA3-324B-AA0A-58D771966824}"/>
              </a:ext>
            </a:extLst>
          </p:cNvPr>
          <p:cNvSpPr>
            <a:spLocks noGrp="1"/>
          </p:cNvSpPr>
          <p:nvPr>
            <p:ph type="body" sz="quarter" idx="22" hasCustomPrompt="1"/>
          </p:nvPr>
        </p:nvSpPr>
        <p:spPr>
          <a:xfrm>
            <a:off x="2883950"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3" name="Espace réservé du texte 23">
            <a:extLst>
              <a:ext uri="{FF2B5EF4-FFF2-40B4-BE49-F238E27FC236}">
                <a16:creationId xmlns:a16="http://schemas.microsoft.com/office/drawing/2014/main" id="{1776C3AB-F8D6-ED46-8EE1-42B0DD1D714D}"/>
              </a:ext>
            </a:extLst>
          </p:cNvPr>
          <p:cNvSpPr>
            <a:spLocks noGrp="1"/>
          </p:cNvSpPr>
          <p:nvPr>
            <p:ph type="body" sz="quarter" idx="23" hasCustomPrompt="1"/>
          </p:nvPr>
        </p:nvSpPr>
        <p:spPr>
          <a:xfrm>
            <a:off x="5042462"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4" name="Espace réservé du texte 23">
            <a:extLst>
              <a:ext uri="{FF2B5EF4-FFF2-40B4-BE49-F238E27FC236}">
                <a16:creationId xmlns:a16="http://schemas.microsoft.com/office/drawing/2014/main" id="{80213029-391D-664E-8F79-8D7C4ED1237E}"/>
              </a:ext>
            </a:extLst>
          </p:cNvPr>
          <p:cNvSpPr>
            <a:spLocks noGrp="1"/>
          </p:cNvSpPr>
          <p:nvPr>
            <p:ph type="body" sz="quarter" idx="24" hasCustomPrompt="1"/>
          </p:nvPr>
        </p:nvSpPr>
        <p:spPr>
          <a:xfrm>
            <a:off x="7200978"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5" name="Espace réservé du texte 23">
            <a:extLst>
              <a:ext uri="{FF2B5EF4-FFF2-40B4-BE49-F238E27FC236}">
                <a16:creationId xmlns:a16="http://schemas.microsoft.com/office/drawing/2014/main" id="{93D5A8F6-C5B1-8247-B926-67F48D762A97}"/>
              </a:ext>
            </a:extLst>
          </p:cNvPr>
          <p:cNvSpPr>
            <a:spLocks noGrp="1"/>
          </p:cNvSpPr>
          <p:nvPr>
            <p:ph type="body" sz="quarter" idx="25" hasCustomPrompt="1"/>
          </p:nvPr>
        </p:nvSpPr>
        <p:spPr>
          <a:xfrm>
            <a:off x="9359494" y="3586169"/>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cxnSp>
        <p:nvCxnSpPr>
          <p:cNvPr id="16" name="Connecteur droit 15">
            <a:extLst>
              <a:ext uri="{FF2B5EF4-FFF2-40B4-BE49-F238E27FC236}">
                <a16:creationId xmlns:a16="http://schemas.microsoft.com/office/drawing/2014/main" id="{915C36DC-E286-5943-85D5-87CF475B44FC}"/>
              </a:ext>
            </a:extLst>
          </p:cNvPr>
          <p:cNvCxnSpPr>
            <a:cxnSpLocks/>
          </p:cNvCxnSpPr>
          <p:nvPr userDrawn="1"/>
        </p:nvCxnSpPr>
        <p:spPr>
          <a:xfrm>
            <a:off x="685940" y="1855907"/>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id="{13CC7F2B-C83E-8B4F-A5B8-59193414067D}"/>
              </a:ext>
            </a:extLst>
          </p:cNvPr>
          <p:cNvCxnSpPr>
            <a:cxnSpLocks/>
          </p:cNvCxnSpPr>
          <p:nvPr userDrawn="1"/>
        </p:nvCxnSpPr>
        <p:spPr>
          <a:xfrm>
            <a:off x="685939" y="4960054"/>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705573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Contacts en 6">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528CACF-90FE-2244-AF50-50352D75EEEC}"/>
              </a:ext>
            </a:extLst>
          </p:cNvPr>
          <p:cNvSpPr/>
          <p:nvPr userDrawn="1"/>
        </p:nvSpPr>
        <p:spPr>
          <a:xfrm>
            <a:off x="685939" y="5292106"/>
            <a:ext cx="10820121" cy="792950"/>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just">
              <a:spcAft>
                <a:spcPts val="600"/>
              </a:spcAft>
            </a:pPr>
            <a:r>
              <a:rPr lang="fr-FR" b="1">
                <a:solidFill>
                  <a:srgbClr val="1B445F"/>
                </a:solidFill>
                <a:latin typeface="Calibri" panose="020F0502020204030204" pitchFamily="34" charset="0"/>
                <a:cs typeface="Calibri" panose="020F0502020204030204" pitchFamily="34" charset="0"/>
              </a:rPr>
              <a:t>Disclaimer: </a:t>
            </a:r>
            <a:r>
              <a:rPr lang="fr-FR">
                <a:solidFill>
                  <a:srgbClr val="1B445F"/>
                </a:solidFill>
                <a:latin typeface="Calibri" panose="020F0502020204030204" pitchFamily="34" charset="0"/>
                <a:cs typeface="Calibri" panose="020F0502020204030204" pitchFamily="34" charset="0"/>
              </a:rPr>
              <a:t>The information </a:t>
            </a:r>
            <a:r>
              <a:rPr lang="fr-FR" err="1">
                <a:solidFill>
                  <a:srgbClr val="1B445F"/>
                </a:solidFill>
                <a:latin typeface="Calibri" panose="020F0502020204030204" pitchFamily="34" charset="0"/>
                <a:cs typeface="Calibri" panose="020F0502020204030204" pitchFamily="34" charset="0"/>
              </a:rPr>
              <a:t>contained</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here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of a </a:t>
            </a:r>
            <a:r>
              <a:rPr lang="fr-FR" err="1">
                <a:solidFill>
                  <a:srgbClr val="1B445F"/>
                </a:solidFill>
                <a:latin typeface="Calibri" panose="020F0502020204030204" pitchFamily="34" charset="0"/>
                <a:cs typeface="Calibri" panose="020F0502020204030204" pitchFamily="34" charset="0"/>
              </a:rPr>
              <a:t>general</a:t>
            </a:r>
            <a:r>
              <a:rPr lang="fr-FR">
                <a:solidFill>
                  <a:srgbClr val="1B445F"/>
                </a:solidFill>
                <a:latin typeface="Calibri" panose="020F0502020204030204" pitchFamily="34" charset="0"/>
                <a:cs typeface="Calibri" panose="020F0502020204030204" pitchFamily="34" charset="0"/>
              </a:rPr>
              <a:t> nature and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not </a:t>
            </a:r>
            <a:r>
              <a:rPr lang="fr-FR" err="1">
                <a:solidFill>
                  <a:srgbClr val="1B445F"/>
                </a:solidFill>
                <a:latin typeface="Calibri" panose="020F0502020204030204" pitchFamily="34" charset="0"/>
                <a:cs typeface="Calibri" panose="020F0502020204030204" pitchFamily="34" charset="0"/>
              </a:rPr>
              <a:t>intended</a:t>
            </a:r>
            <a:r>
              <a:rPr lang="fr-FR">
                <a:solidFill>
                  <a:srgbClr val="1B445F"/>
                </a:solidFill>
                <a:latin typeface="Calibri" panose="020F0502020204030204" pitchFamily="34" charset="0"/>
                <a:cs typeface="Calibri" panose="020F0502020204030204" pitchFamily="34" charset="0"/>
              </a:rPr>
              <a:t> to </a:t>
            </a:r>
            <a:r>
              <a:rPr lang="fr-FR" err="1">
                <a:solidFill>
                  <a:srgbClr val="1B445F"/>
                </a:solidFill>
                <a:latin typeface="Calibri" panose="020F0502020204030204" pitchFamily="34" charset="0"/>
                <a:cs typeface="Calibri" panose="020F0502020204030204" pitchFamily="34" charset="0"/>
              </a:rPr>
              <a:t>reflect</a:t>
            </a:r>
            <a:r>
              <a:rPr lang="fr-FR">
                <a:solidFill>
                  <a:srgbClr val="1B445F"/>
                </a:solidFill>
                <a:latin typeface="Calibri" panose="020F0502020204030204" pitchFamily="34" charset="0"/>
                <a:cs typeface="Calibri" panose="020F0502020204030204" pitchFamily="34" charset="0"/>
              </a:rPr>
              <a:t> the </a:t>
            </a:r>
            <a:r>
              <a:rPr lang="fr-FR" err="1">
                <a:solidFill>
                  <a:srgbClr val="1B445F"/>
                </a:solidFill>
                <a:latin typeface="Calibri" panose="020F0502020204030204" pitchFamily="34" charset="0"/>
                <a:cs typeface="Calibri" panose="020F0502020204030204" pitchFamily="34" charset="0"/>
              </a:rPr>
              <a:t>characteristics</a:t>
            </a:r>
            <a:r>
              <a:rPr lang="fr-FR">
                <a:solidFill>
                  <a:srgbClr val="1B445F"/>
                </a:solidFill>
                <a:latin typeface="Calibri" panose="020F0502020204030204" pitchFamily="34" charset="0"/>
                <a:cs typeface="Calibri" panose="020F0502020204030204" pitchFamily="34" charset="0"/>
              </a:rPr>
              <a:t> of a </a:t>
            </a:r>
            <a:r>
              <a:rPr lang="fr-FR" err="1">
                <a:solidFill>
                  <a:srgbClr val="1B445F"/>
                </a:solidFill>
                <a:latin typeface="Calibri" panose="020F0502020204030204" pitchFamily="34" charset="0"/>
                <a:cs typeface="Calibri" panose="020F0502020204030204" pitchFamily="34" charset="0"/>
              </a:rPr>
              <a:t>particular</a:t>
            </a:r>
            <a:r>
              <a:rPr lang="fr-FR">
                <a:solidFill>
                  <a:srgbClr val="1B445F"/>
                </a:solidFill>
                <a:latin typeface="Calibri" panose="020F0502020204030204" pitchFamily="34" charset="0"/>
                <a:cs typeface="Calibri" panose="020F0502020204030204" pitchFamily="34" charset="0"/>
              </a:rPr>
              <a:t> institution. </a:t>
            </a:r>
            <a:r>
              <a:rPr lang="fr-FR" err="1">
                <a:solidFill>
                  <a:srgbClr val="1B445F"/>
                </a:solidFill>
                <a:latin typeface="Calibri" panose="020F0502020204030204" pitchFamily="34" charset="0"/>
                <a:cs typeface="Calibri" panose="020F0502020204030204" pitchFamily="34" charset="0"/>
              </a:rPr>
              <a:t>Although</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we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endeavor</a:t>
            </a:r>
            <a:r>
              <a:rPr lang="fr-FR">
                <a:solidFill>
                  <a:srgbClr val="1B445F"/>
                </a:solidFill>
                <a:latin typeface="Calibri" panose="020F0502020204030204" pitchFamily="34" charset="0"/>
                <a:cs typeface="Calibri" panose="020F0502020204030204" pitchFamily="34" charset="0"/>
              </a:rPr>
              <a:t> to </a:t>
            </a:r>
            <a:r>
              <a:rPr lang="fr-FR" err="1">
                <a:solidFill>
                  <a:srgbClr val="1B445F"/>
                </a:solidFill>
                <a:latin typeface="Calibri" panose="020F0502020204030204" pitchFamily="34" charset="0"/>
                <a:cs typeface="Calibri" panose="020F0502020204030204" pitchFamily="34" charset="0"/>
              </a:rPr>
              <a:t>provide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and </a:t>
            </a:r>
            <a:r>
              <a:rPr lang="fr-FR" err="1">
                <a:solidFill>
                  <a:srgbClr val="1B445F"/>
                </a:solidFill>
                <a:latin typeface="Calibri" panose="020F0502020204030204" pitchFamily="34" charset="0"/>
                <a:cs typeface="Calibri" panose="020F0502020204030204" pitchFamily="34" charset="0"/>
              </a:rPr>
              <a:t>timely</a:t>
            </a:r>
            <a:r>
              <a:rPr lang="fr-FR">
                <a:solidFill>
                  <a:srgbClr val="1B445F"/>
                </a:solidFill>
                <a:latin typeface="Calibri" panose="020F0502020204030204" pitchFamily="34" charset="0"/>
                <a:cs typeface="Calibri" panose="020F0502020204030204" pitchFamily="34" charset="0"/>
              </a:rPr>
              <a:t> information, </a:t>
            </a:r>
            <a:r>
              <a:rPr lang="fr-FR" err="1">
                <a:solidFill>
                  <a:srgbClr val="1B445F"/>
                </a:solidFill>
                <a:latin typeface="Calibri" panose="020F0502020204030204" pitchFamily="34" charset="0"/>
                <a:cs typeface="Calibri" panose="020F0502020204030204" pitchFamily="34" charset="0"/>
              </a:rPr>
              <a:t>there</a:t>
            </a:r>
            <a:r>
              <a:rPr lang="fr-FR">
                <a:solidFill>
                  <a:srgbClr val="1B445F"/>
                </a:solidFill>
                <a:latin typeface="Calibri" panose="020F0502020204030204" pitchFamily="34" charset="0"/>
                <a:cs typeface="Calibri" panose="020F0502020204030204" pitchFamily="34" charset="0"/>
              </a:rPr>
              <a:t> can </a:t>
            </a:r>
            <a:r>
              <a:rPr lang="fr-FR" err="1">
                <a:solidFill>
                  <a:srgbClr val="1B445F"/>
                </a:solidFill>
                <a:latin typeface="Calibri" panose="020F0502020204030204" pitchFamily="34" charset="0"/>
                <a:cs typeface="Calibri" panose="020F0502020204030204" pitchFamily="34" charset="0"/>
              </a:rPr>
              <a:t>be</a:t>
            </a:r>
            <a:r>
              <a:rPr lang="fr-FR">
                <a:solidFill>
                  <a:srgbClr val="1B445F"/>
                </a:solidFill>
                <a:latin typeface="Calibri" panose="020F0502020204030204" pitchFamily="34" charset="0"/>
                <a:cs typeface="Calibri" panose="020F0502020204030204" pitchFamily="34" charset="0"/>
              </a:rPr>
              <a:t> no </a:t>
            </a:r>
            <a:r>
              <a:rPr lang="fr-FR" err="1">
                <a:solidFill>
                  <a:srgbClr val="1B445F"/>
                </a:solidFill>
                <a:latin typeface="Calibri" panose="020F0502020204030204" pitchFamily="34" charset="0"/>
                <a:cs typeface="Calibri" panose="020F0502020204030204" pitchFamily="34" charset="0"/>
              </a:rPr>
              <a:t>guarantee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that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such</a:t>
            </a:r>
            <a:r>
              <a:rPr lang="fr-FR">
                <a:solidFill>
                  <a:srgbClr val="1B445F"/>
                </a:solidFill>
                <a:latin typeface="Calibri" panose="020F0502020204030204" pitchFamily="34" charset="0"/>
                <a:cs typeface="Calibri" panose="020F0502020204030204" pitchFamily="34" charset="0"/>
              </a:rPr>
              <a:t> information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as of the date </a:t>
            </a:r>
            <a:r>
              <a:rPr lang="fr-FR" err="1">
                <a:solidFill>
                  <a:srgbClr val="1B445F"/>
                </a:solidFill>
                <a:latin typeface="Calibri" panose="020F0502020204030204" pitchFamily="34" charset="0"/>
                <a:cs typeface="Calibri" panose="020F0502020204030204" pitchFamily="34" charset="0"/>
              </a:rPr>
              <a:t>it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received</a:t>
            </a:r>
            <a:r>
              <a:rPr lang="fr-FR">
                <a:solidFill>
                  <a:srgbClr val="1B445F"/>
                </a:solidFill>
                <a:latin typeface="Calibri" panose="020F0502020204030204" pitchFamily="34" charset="0"/>
                <a:cs typeface="Calibri" panose="020F0502020204030204" pitchFamily="34" charset="0"/>
              </a:rPr>
              <a:t> or </a:t>
            </a:r>
            <a:r>
              <a:rPr lang="fr-FR" err="1">
                <a:solidFill>
                  <a:srgbClr val="1B445F"/>
                </a:solidFill>
                <a:latin typeface="Calibri" panose="020F0502020204030204" pitchFamily="34" charset="0"/>
                <a:cs typeface="Calibri" panose="020F0502020204030204" pitchFamily="34" charset="0"/>
              </a:rPr>
              <a:t>that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will</a:t>
            </a:r>
            <a:r>
              <a:rPr lang="fr-FR">
                <a:solidFill>
                  <a:srgbClr val="1B445F"/>
                </a:solidFill>
                <a:latin typeface="Calibri" panose="020F0502020204030204" pitchFamily="34" charset="0"/>
                <a:cs typeface="Calibri" panose="020F0502020204030204" pitchFamily="34" charset="0"/>
              </a:rPr>
              <a:t> continue to </a:t>
            </a:r>
            <a:r>
              <a:rPr lang="fr-FR" err="1">
                <a:solidFill>
                  <a:srgbClr val="1B445F"/>
                </a:solidFill>
                <a:latin typeface="Calibri" panose="020F0502020204030204" pitchFamily="34" charset="0"/>
                <a:cs typeface="Calibri" panose="020F0502020204030204" pitchFamily="34" charset="0"/>
              </a:rPr>
              <a:t>be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in the future.</a:t>
            </a:r>
          </a:p>
        </p:txBody>
      </p:sp>
      <p:sp>
        <p:nvSpPr>
          <p:cNvPr id="4" name="Espace réservé pour une image  4">
            <a:extLst>
              <a:ext uri="{FF2B5EF4-FFF2-40B4-BE49-F238E27FC236}">
                <a16:creationId xmlns:a16="http://schemas.microsoft.com/office/drawing/2014/main" id="{346B39B8-F985-C24E-B036-CD09034F89B5}"/>
              </a:ext>
            </a:extLst>
          </p:cNvPr>
          <p:cNvSpPr>
            <a:spLocks noGrp="1"/>
          </p:cNvSpPr>
          <p:nvPr>
            <p:ph type="pic" sz="quarter" idx="17" hasCustomPrompt="1"/>
          </p:nvPr>
        </p:nvSpPr>
        <p:spPr>
          <a:xfrm>
            <a:off x="1117037" y="2330409"/>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9" name="Espace réservé du texte 23">
            <a:extLst>
              <a:ext uri="{FF2B5EF4-FFF2-40B4-BE49-F238E27FC236}">
                <a16:creationId xmlns:a16="http://schemas.microsoft.com/office/drawing/2014/main" id="{5B1D51E9-169E-3448-8456-4DA2F04B88A0}"/>
              </a:ext>
            </a:extLst>
          </p:cNvPr>
          <p:cNvSpPr>
            <a:spLocks noGrp="1"/>
          </p:cNvSpPr>
          <p:nvPr>
            <p:ph type="body" sz="quarter" idx="14" hasCustomPrompt="1"/>
          </p:nvPr>
        </p:nvSpPr>
        <p:spPr>
          <a:xfrm>
            <a:off x="685939" y="3582110"/>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cxnSp>
        <p:nvCxnSpPr>
          <p:cNvPr id="16" name="Connecteur droit 15">
            <a:extLst>
              <a:ext uri="{FF2B5EF4-FFF2-40B4-BE49-F238E27FC236}">
                <a16:creationId xmlns:a16="http://schemas.microsoft.com/office/drawing/2014/main" id="{915C36DC-E286-5943-85D5-87CF475B44FC}"/>
              </a:ext>
            </a:extLst>
          </p:cNvPr>
          <p:cNvCxnSpPr>
            <a:cxnSpLocks/>
          </p:cNvCxnSpPr>
          <p:nvPr userDrawn="1"/>
        </p:nvCxnSpPr>
        <p:spPr>
          <a:xfrm>
            <a:off x="685940" y="1855907"/>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id="{13CC7F2B-C83E-8B4F-A5B8-59193414067D}"/>
              </a:ext>
            </a:extLst>
          </p:cNvPr>
          <p:cNvCxnSpPr>
            <a:cxnSpLocks/>
          </p:cNvCxnSpPr>
          <p:nvPr userDrawn="1"/>
        </p:nvCxnSpPr>
        <p:spPr>
          <a:xfrm>
            <a:off x="685939" y="4960054"/>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18" name="Espace réservé pour une image  4">
            <a:extLst>
              <a:ext uri="{FF2B5EF4-FFF2-40B4-BE49-F238E27FC236}">
                <a16:creationId xmlns:a16="http://schemas.microsoft.com/office/drawing/2014/main" id="{CE743C43-E5B3-FD43-ACEE-795FCAE1C407}"/>
              </a:ext>
            </a:extLst>
          </p:cNvPr>
          <p:cNvSpPr>
            <a:spLocks noGrp="1"/>
          </p:cNvSpPr>
          <p:nvPr>
            <p:ph type="pic" sz="quarter" idx="26" hasCustomPrompt="1"/>
          </p:nvPr>
        </p:nvSpPr>
        <p:spPr>
          <a:xfrm>
            <a:off x="2934211" y="2330412"/>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28" name="Espace réservé du texte 23">
            <a:extLst>
              <a:ext uri="{FF2B5EF4-FFF2-40B4-BE49-F238E27FC236}">
                <a16:creationId xmlns:a16="http://schemas.microsoft.com/office/drawing/2014/main" id="{87A26503-3DF3-D84D-8CA5-0C91E5C41175}"/>
              </a:ext>
            </a:extLst>
          </p:cNvPr>
          <p:cNvSpPr>
            <a:spLocks noGrp="1"/>
          </p:cNvSpPr>
          <p:nvPr>
            <p:ph type="body" sz="quarter" idx="31" hasCustomPrompt="1"/>
          </p:nvPr>
        </p:nvSpPr>
        <p:spPr>
          <a:xfrm>
            <a:off x="2503115" y="3582112"/>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3" name="Espace réservé du texte 23">
            <a:extLst>
              <a:ext uri="{FF2B5EF4-FFF2-40B4-BE49-F238E27FC236}">
                <a16:creationId xmlns:a16="http://schemas.microsoft.com/office/drawing/2014/main" id="{0A2ADEE0-807B-6141-B406-1CDF99F8A191}"/>
              </a:ext>
            </a:extLst>
          </p:cNvPr>
          <p:cNvSpPr>
            <a:spLocks noGrp="1"/>
          </p:cNvSpPr>
          <p:nvPr>
            <p:ph type="body" sz="quarter" idx="32" hasCustomPrompt="1"/>
          </p:nvPr>
        </p:nvSpPr>
        <p:spPr>
          <a:xfrm>
            <a:off x="4311814" y="3582112"/>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4" name="Espace réservé du texte 23">
            <a:extLst>
              <a:ext uri="{FF2B5EF4-FFF2-40B4-BE49-F238E27FC236}">
                <a16:creationId xmlns:a16="http://schemas.microsoft.com/office/drawing/2014/main" id="{48E4C2A0-F1A8-744E-87B1-19E361844B25}"/>
              </a:ext>
            </a:extLst>
          </p:cNvPr>
          <p:cNvSpPr>
            <a:spLocks noGrp="1"/>
          </p:cNvSpPr>
          <p:nvPr>
            <p:ph type="body" sz="quarter" idx="33" hasCustomPrompt="1"/>
          </p:nvPr>
        </p:nvSpPr>
        <p:spPr>
          <a:xfrm>
            <a:off x="6121472" y="3582111"/>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7" name="Espace réservé du texte 23">
            <a:extLst>
              <a:ext uri="{FF2B5EF4-FFF2-40B4-BE49-F238E27FC236}">
                <a16:creationId xmlns:a16="http://schemas.microsoft.com/office/drawing/2014/main" id="{C5541B0C-4423-FF45-8009-3BAC197DE6C9}"/>
              </a:ext>
            </a:extLst>
          </p:cNvPr>
          <p:cNvSpPr>
            <a:spLocks noGrp="1"/>
          </p:cNvSpPr>
          <p:nvPr>
            <p:ph type="body" sz="quarter" idx="34" hasCustomPrompt="1"/>
          </p:nvPr>
        </p:nvSpPr>
        <p:spPr>
          <a:xfrm>
            <a:off x="7932693" y="3582111"/>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8" name="Espace réservé du texte 23">
            <a:extLst>
              <a:ext uri="{FF2B5EF4-FFF2-40B4-BE49-F238E27FC236}">
                <a16:creationId xmlns:a16="http://schemas.microsoft.com/office/drawing/2014/main" id="{C048F24D-2DC8-5B4A-A354-0328B500B8A6}"/>
              </a:ext>
            </a:extLst>
          </p:cNvPr>
          <p:cNvSpPr>
            <a:spLocks noGrp="1"/>
          </p:cNvSpPr>
          <p:nvPr>
            <p:ph type="body" sz="quarter" idx="35" hasCustomPrompt="1"/>
          </p:nvPr>
        </p:nvSpPr>
        <p:spPr>
          <a:xfrm>
            <a:off x="9740271" y="3582110"/>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9" name="Espace réservé pour une image  4">
            <a:extLst>
              <a:ext uri="{FF2B5EF4-FFF2-40B4-BE49-F238E27FC236}">
                <a16:creationId xmlns:a16="http://schemas.microsoft.com/office/drawing/2014/main" id="{F7434E2E-7990-2F44-95C4-23B90179453C}"/>
              </a:ext>
            </a:extLst>
          </p:cNvPr>
          <p:cNvSpPr>
            <a:spLocks noGrp="1"/>
          </p:cNvSpPr>
          <p:nvPr>
            <p:ph type="pic" sz="quarter" idx="36" hasCustomPrompt="1"/>
          </p:nvPr>
        </p:nvSpPr>
        <p:spPr>
          <a:xfrm>
            <a:off x="4742910" y="2330412"/>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0" name="Espace réservé pour une image  4">
            <a:extLst>
              <a:ext uri="{FF2B5EF4-FFF2-40B4-BE49-F238E27FC236}">
                <a16:creationId xmlns:a16="http://schemas.microsoft.com/office/drawing/2014/main" id="{944E060F-F495-4843-B9C5-0500C18BFBF3}"/>
              </a:ext>
            </a:extLst>
          </p:cNvPr>
          <p:cNvSpPr>
            <a:spLocks noGrp="1"/>
          </p:cNvSpPr>
          <p:nvPr>
            <p:ph type="pic" sz="quarter" idx="37" hasCustomPrompt="1"/>
          </p:nvPr>
        </p:nvSpPr>
        <p:spPr>
          <a:xfrm>
            <a:off x="6552568"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1" name="Espace réservé pour une image  4">
            <a:extLst>
              <a:ext uri="{FF2B5EF4-FFF2-40B4-BE49-F238E27FC236}">
                <a16:creationId xmlns:a16="http://schemas.microsoft.com/office/drawing/2014/main" id="{E8C667B2-DF7B-A34B-9117-D884CDD3B6E8}"/>
              </a:ext>
            </a:extLst>
          </p:cNvPr>
          <p:cNvSpPr>
            <a:spLocks noGrp="1"/>
          </p:cNvSpPr>
          <p:nvPr>
            <p:ph type="pic" sz="quarter" idx="38" hasCustomPrompt="1"/>
          </p:nvPr>
        </p:nvSpPr>
        <p:spPr>
          <a:xfrm>
            <a:off x="8363789"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2" name="Espace réservé pour une image  4">
            <a:extLst>
              <a:ext uri="{FF2B5EF4-FFF2-40B4-BE49-F238E27FC236}">
                <a16:creationId xmlns:a16="http://schemas.microsoft.com/office/drawing/2014/main" id="{23675D11-CE12-B84E-A3E4-10E2DE2F3A16}"/>
              </a:ext>
            </a:extLst>
          </p:cNvPr>
          <p:cNvSpPr>
            <a:spLocks noGrp="1"/>
          </p:cNvSpPr>
          <p:nvPr>
            <p:ph type="pic" sz="quarter" idx="39" hasCustomPrompt="1"/>
          </p:nvPr>
        </p:nvSpPr>
        <p:spPr>
          <a:xfrm>
            <a:off x="10171367"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pic>
        <p:nvPicPr>
          <p:cNvPr id="6" name="Image 5" descr="Une image contenant texte&#10;&#10;Description générée automatiquement">
            <a:extLst>
              <a:ext uri="{FF2B5EF4-FFF2-40B4-BE49-F238E27FC236}">
                <a16:creationId xmlns:a16="http://schemas.microsoft.com/office/drawing/2014/main" id="{2E6B2E63-51C6-B65D-C59D-AA2456E0D149}"/>
              </a:ext>
            </a:extLst>
          </p:cNvPr>
          <p:cNvPicPr>
            <a:picLocks noChangeAspect="1"/>
          </p:cNvPicPr>
          <p:nvPr userDrawn="1"/>
        </p:nvPicPr>
        <p:blipFill>
          <a:blip r:embed="rId2"/>
          <a:stretch>
            <a:fillRect/>
          </a:stretch>
        </p:blipFill>
        <p:spPr>
          <a:xfrm>
            <a:off x="3292116" y="168968"/>
            <a:ext cx="5315171" cy="1077195"/>
          </a:xfrm>
          <a:prstGeom prst="rect">
            <a:avLst/>
          </a:prstGeom>
        </p:spPr>
      </p:pic>
    </p:spTree>
    <p:extLst>
      <p:ext uri="{BB962C8B-B14F-4D97-AF65-F5344CB8AC3E}">
        <p14:creationId xmlns:p14="http://schemas.microsoft.com/office/powerpoint/2010/main" val="224882216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p:cSld name="Section Header">
    <p:spTree>
      <p:nvGrpSpPr>
        <p:cNvPr id="1" name=""/>
        <p:cNvGrpSpPr/>
        <p:nvPr/>
      </p:nvGrpSpPr>
      <p:grpSpPr>
        <a:xfrm>
          <a:off x="0" y="0"/>
          <a:ext cx="0" cy="0"/>
          <a:chOff x="0" y="0"/>
          <a:chExt cx="0" cy="0"/>
        </a:xfrm>
      </p:grpSpPr>
      <p:graphicFrame>
        <p:nvGraphicFramePr>
          <p:cNvPr id="24" name="Object 23" hidden="1">
            <a:extLst>
              <a:ext uri="{FF2B5EF4-FFF2-40B4-BE49-F238E27FC236}">
                <a16:creationId xmlns:a16="http://schemas.microsoft.com/office/drawing/2014/main" id="{A5C740FC-591A-42AF-96EB-73317E41220B}"/>
              </a:ext>
            </a:extLst>
          </p:cNvPr>
          <p:cNvGraphicFramePr>
            <a:graphicFrameLocks noChangeAspect="1"/>
          </p:cNvGraphicFramePr>
          <p:nvPr>
            <p:custDataLst>
              <p:tags r:id="rId1"/>
            </p:custDataLst>
            <p:extLst>
              <p:ext uri="{D42A27DB-BD31-4B8C-83A1-F6EECF244321}">
                <p14:modId xmlns:p14="http://schemas.microsoft.com/office/powerpoint/2010/main" val="315936943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4" progId="TCLayout.ActiveDocument.1">
                  <p:embed/>
                </p:oleObj>
              </mc:Choice>
              <mc:Fallback>
                <p:oleObj name="think-cell Slide" r:id="rId3" imgW="425" imgH="424" progId="TCLayout.ActiveDocument.1">
                  <p:embed/>
                  <p:pic>
                    <p:nvPicPr>
                      <p:cNvPr id="24" name="Object 23" hidden="1">
                        <a:extLst>
                          <a:ext uri="{FF2B5EF4-FFF2-40B4-BE49-F238E27FC236}">
                            <a16:creationId xmlns:a16="http://schemas.microsoft.com/office/drawing/2014/main" id="{A5C740FC-591A-42AF-96EB-73317E41220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58" name="Picture 57">
            <a:extLst>
              <a:ext uri="{FF2B5EF4-FFF2-40B4-BE49-F238E27FC236}">
                <a16:creationId xmlns:a16="http://schemas.microsoft.com/office/drawing/2014/main" id="{39085BE3-AB0C-4120-81CD-4574DB1CDB48}"/>
              </a:ext>
            </a:extLst>
          </p:cNvPr>
          <p:cNvPicPr>
            <a:picLocks noChangeAspect="1"/>
          </p:cNvPicPr>
          <p:nvPr/>
        </p:nvPicPr>
        <p:blipFill rotWithShape="1">
          <a:blip r:embed="rId5">
            <a:extLst>
              <a:ext uri="{BEBA8EAE-BF5A-486C-A8C5-ECC9F3942E4B}">
                <a14:imgProps xmlns:a14="http://schemas.microsoft.com/office/drawing/2010/main">
                  <a14:imgLayer r:embed="rId6">
                    <a14:imgEffect>
                      <a14:artisticBlur radius="3"/>
                    </a14:imgEffect>
                  </a14:imgLayer>
                </a14:imgProps>
              </a:ext>
            </a:extLst>
          </a:blip>
          <a:srcRect b="79406"/>
          <a:stretch/>
        </p:blipFill>
        <p:spPr>
          <a:xfrm>
            <a:off x="0" y="0"/>
            <a:ext cx="12192000" cy="3600000"/>
          </a:xfrm>
          <a:custGeom>
            <a:avLst/>
            <a:gdLst>
              <a:gd name="connsiteX0" fmla="*/ 0 w 12192000"/>
              <a:gd name="connsiteY0" fmla="*/ 0 h 3600000"/>
              <a:gd name="connsiteX1" fmla="*/ 12192000 w 12192000"/>
              <a:gd name="connsiteY1" fmla="*/ 0 h 3600000"/>
              <a:gd name="connsiteX2" fmla="*/ 12192000 w 12192000"/>
              <a:gd name="connsiteY2" fmla="*/ 3600000 h 3600000"/>
              <a:gd name="connsiteX3" fmla="*/ 0 w 12192000"/>
              <a:gd name="connsiteY3" fmla="*/ 3600000 h 3600000"/>
            </a:gdLst>
            <a:ahLst/>
            <a:cxnLst>
              <a:cxn ang="0">
                <a:pos x="connsiteX0" y="connsiteY0"/>
              </a:cxn>
              <a:cxn ang="0">
                <a:pos x="connsiteX1" y="connsiteY1"/>
              </a:cxn>
              <a:cxn ang="0">
                <a:pos x="connsiteX2" y="connsiteY2"/>
              </a:cxn>
              <a:cxn ang="0">
                <a:pos x="connsiteX3" y="connsiteY3"/>
              </a:cxn>
            </a:cxnLst>
            <a:rect l="l" t="t" r="r" b="b"/>
            <a:pathLst>
              <a:path w="12192000" h="3600000">
                <a:moveTo>
                  <a:pt x="0" y="0"/>
                </a:moveTo>
                <a:lnTo>
                  <a:pt x="12192000" y="0"/>
                </a:lnTo>
                <a:lnTo>
                  <a:pt x="12192000" y="3600000"/>
                </a:lnTo>
                <a:lnTo>
                  <a:pt x="0" y="3600000"/>
                </a:lnTo>
                <a:close/>
              </a:path>
            </a:pathLst>
          </a:custGeom>
        </p:spPr>
      </p:pic>
      <p:sp>
        <p:nvSpPr>
          <p:cNvPr id="2" name="Title 1">
            <a:extLst>
              <a:ext uri="{FF2B5EF4-FFF2-40B4-BE49-F238E27FC236}">
                <a16:creationId xmlns:a16="http://schemas.microsoft.com/office/drawing/2014/main" id="{13AAB309-B0B4-4F99-8099-327E26A45C5B}"/>
              </a:ext>
            </a:extLst>
          </p:cNvPr>
          <p:cNvSpPr>
            <a:spLocks noGrp="1"/>
          </p:cNvSpPr>
          <p:nvPr>
            <p:ph type="title"/>
          </p:nvPr>
        </p:nvSpPr>
        <p:spPr>
          <a:xfrm>
            <a:off x="2530150" y="3851272"/>
            <a:ext cx="8823650" cy="577457"/>
          </a:xfrm>
        </p:spPr>
        <p:txBody>
          <a:bodyPr vert="horz" wrap="square" anchor="t" anchorCtr="0">
            <a:spAutoFit/>
          </a:bodyPr>
          <a:lstStyle>
            <a:lvl1pPr>
              <a:defRPr sz="4000">
                <a:solidFill>
                  <a:schemeClr val="accent1"/>
                </a:solidFill>
              </a:defRPr>
            </a:lvl1pPr>
          </a:lstStyle>
          <a:p>
            <a:r>
              <a:rPr lang="en-US"/>
              <a:t>Click to edit Master title style</a:t>
            </a:r>
            <a:endParaRPr lang="fr-FR"/>
          </a:p>
        </p:txBody>
      </p:sp>
      <p:sp>
        <p:nvSpPr>
          <p:cNvPr id="3" name="Text Placeholder 2">
            <a:extLst>
              <a:ext uri="{FF2B5EF4-FFF2-40B4-BE49-F238E27FC236}">
                <a16:creationId xmlns:a16="http://schemas.microsoft.com/office/drawing/2014/main" id="{51832195-8563-4853-9C97-4127A8F8E581}"/>
              </a:ext>
            </a:extLst>
          </p:cNvPr>
          <p:cNvSpPr>
            <a:spLocks noGrp="1"/>
          </p:cNvSpPr>
          <p:nvPr>
            <p:ph type="body" idx="1"/>
          </p:nvPr>
        </p:nvSpPr>
        <p:spPr>
          <a:xfrm>
            <a:off x="2530150" y="4443577"/>
            <a:ext cx="8823650" cy="514738"/>
          </a:xfrm>
        </p:spPr>
        <p:txBody>
          <a:bodyPr vert="horz" wrap="square" lIns="180000" tIns="72000" rIns="180000" bIns="72000" rtlCol="0" anchor="t" anchorCtr="0">
            <a:spAutoFit/>
          </a:bodyPr>
          <a:lstStyle>
            <a:lvl1pPr>
              <a:lnSpc>
                <a:spcPct val="100000"/>
              </a:lnSpc>
              <a:spcBef>
                <a:spcPts val="0"/>
              </a:spcBef>
              <a:defRPr lang="en-US" sz="2400" b="0" dirty="0" smtClean="0">
                <a:solidFill>
                  <a:schemeClr val="accent1"/>
                </a:solidFill>
                <a:effectLst/>
              </a:defRPr>
            </a:lvl1pPr>
          </a:lstStyle>
          <a:p>
            <a:pPr marL="228600" lvl="0" indent="-228600"/>
            <a:r>
              <a:rPr lang="en-US"/>
              <a:t>Click to edit Master text styles</a:t>
            </a:r>
          </a:p>
        </p:txBody>
      </p:sp>
      <p:sp>
        <p:nvSpPr>
          <p:cNvPr id="59" name="TextBox 58">
            <a:extLst>
              <a:ext uri="{FF2B5EF4-FFF2-40B4-BE49-F238E27FC236}">
                <a16:creationId xmlns:a16="http://schemas.microsoft.com/office/drawing/2014/main" id="{555D9C92-06DD-4E6D-9B3D-F7F799BC1F7C}"/>
              </a:ext>
            </a:extLst>
          </p:cNvPr>
          <p:cNvSpPr txBox="1">
            <a:spLocks/>
          </p:cNvSpPr>
          <p:nvPr/>
        </p:nvSpPr>
        <p:spPr>
          <a:xfrm>
            <a:off x="0" y="0"/>
            <a:ext cx="12192000" cy="3600000"/>
          </a:xfrm>
          <a:prstGeom prst="rect">
            <a:avLst/>
          </a:prstGeom>
          <a:gradFill>
            <a:gsLst>
              <a:gs pos="100000">
                <a:schemeClr val="accent1">
                  <a:alpha val="50000"/>
                </a:schemeClr>
              </a:gs>
              <a:gs pos="0">
                <a:schemeClr val="accent1">
                  <a:alpha val="80000"/>
                </a:schemeClr>
              </a:gs>
            </a:gsLst>
            <a:lin ang="5400000" scaled="1"/>
          </a:gradFill>
        </p:spPr>
        <p:txBody>
          <a:bodyPr wrap="square" anchor="ctr">
            <a:noAutofit/>
          </a:bodyP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46" name="Text Placeholder 29">
            <a:extLst>
              <a:ext uri="{FF2B5EF4-FFF2-40B4-BE49-F238E27FC236}">
                <a16:creationId xmlns:a16="http://schemas.microsoft.com/office/drawing/2014/main" id="{2F5B23EC-9797-4DE8-85DD-7DE5A0EFB3DD}"/>
              </a:ext>
            </a:extLst>
          </p:cNvPr>
          <p:cNvSpPr>
            <a:spLocks noGrp="1"/>
          </p:cNvSpPr>
          <p:nvPr>
            <p:ph type="body" sz="quarter" idx="23"/>
          </p:nvPr>
        </p:nvSpPr>
        <p:spPr>
          <a:xfrm flipH="1">
            <a:off x="838200" y="3240501"/>
            <a:ext cx="1440000" cy="1439500"/>
          </a:xfrm>
          <a:prstGeom prst="parallelogram">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lvl1pPr marL="0" indent="0" algn="ctr">
              <a:buNone/>
              <a:defRPr lang="fr-FR" sz="6600" b="1" dirty="0">
                <a:solidFill>
                  <a:schemeClr val="bg1"/>
                </a:solidFill>
                <a:latin typeface="Calibri" panose="020F0502020204030204" pitchFamily="34" charset="0"/>
                <a:ea typeface="Roboto" panose="02000000000000000000" pitchFamily="2" charset="0"/>
                <a:cs typeface="Calibri" panose="020F0502020204030204" pitchFamily="34" charset="0"/>
              </a:defRPr>
            </a:lvl1pPr>
          </a:lstStyle>
          <a:p>
            <a:pPr marL="0" lvl="0" algn="ctr"/>
            <a:endParaRPr lang="fr-FR"/>
          </a:p>
        </p:txBody>
      </p:sp>
    </p:spTree>
    <p:extLst>
      <p:ext uri="{BB962C8B-B14F-4D97-AF65-F5344CB8AC3E}">
        <p14:creationId xmlns:p14="http://schemas.microsoft.com/office/powerpoint/2010/main" val="68526813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D368521-B9CF-6ADC-043E-EDC8A4F911D8}"/>
              </a:ext>
            </a:extLst>
          </p:cNvPr>
          <p:cNvSpPr>
            <a:spLocks noGrp="1"/>
          </p:cNvSpPr>
          <p:nvPr>
            <p:ph type="ctrTitle"/>
          </p:nvPr>
        </p:nvSpPr>
        <p:spPr>
          <a:xfrm>
            <a:off x="1524000" y="1122363"/>
            <a:ext cx="9144000" cy="2387600"/>
          </a:xfrm>
        </p:spPr>
        <p:txBody>
          <a:bodyPr anchor="b"/>
          <a:lstStyle>
            <a:lvl1pPr algn="ctr">
              <a:defRPr sz="6000"/>
            </a:lvl1pPr>
          </a:lstStyle>
          <a:p>
            <a:r>
              <a:rPr lang="fr-FR"/>
              <a:t>Modifiez le style du titre</a:t>
            </a:r>
          </a:p>
        </p:txBody>
      </p:sp>
      <p:sp>
        <p:nvSpPr>
          <p:cNvPr id="3" name="Sous-titre 2">
            <a:extLst>
              <a:ext uri="{FF2B5EF4-FFF2-40B4-BE49-F238E27FC236}">
                <a16:creationId xmlns:a16="http://schemas.microsoft.com/office/drawing/2014/main" id="{358BDDBC-6FE5-7013-A9A8-13C357328D38}"/>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a:t>Modifiez le style des sous-titres du masque</a:t>
            </a:r>
          </a:p>
        </p:txBody>
      </p:sp>
      <p:sp>
        <p:nvSpPr>
          <p:cNvPr id="4" name="Espace réservé de la date 3">
            <a:extLst>
              <a:ext uri="{FF2B5EF4-FFF2-40B4-BE49-F238E27FC236}">
                <a16:creationId xmlns:a16="http://schemas.microsoft.com/office/drawing/2014/main" id="{C95FC9C6-11E3-EAC3-6ED2-9BD46A89BC48}"/>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323F709A-0BF2-5711-4B8D-F1A0A74E2AFB}"/>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DBE94745-D782-7C3D-E644-138F982828BE}"/>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23774703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5F2BB5C-E8E3-97CA-23A1-4ED7F43D091B}"/>
              </a:ext>
            </a:extLst>
          </p:cNvPr>
          <p:cNvSpPr>
            <a:spLocks noGrp="1"/>
          </p:cNvSpPr>
          <p:nvPr>
            <p:ph type="title"/>
          </p:nvPr>
        </p:nvSpPr>
        <p:spPr/>
        <p:txBody>
          <a:bodyPr/>
          <a:lstStyle/>
          <a:p>
            <a:r>
              <a:rPr lang="fr-FR"/>
              <a:t>Modifiez le style du titre</a:t>
            </a:r>
          </a:p>
        </p:txBody>
      </p:sp>
      <p:sp>
        <p:nvSpPr>
          <p:cNvPr id="3" name="Espace réservé du contenu 2">
            <a:extLst>
              <a:ext uri="{FF2B5EF4-FFF2-40B4-BE49-F238E27FC236}">
                <a16:creationId xmlns:a16="http://schemas.microsoft.com/office/drawing/2014/main" id="{9F78D4AE-765F-D2F8-CB34-F155A1D4C1DA}"/>
              </a:ext>
            </a:extLst>
          </p:cNvPr>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BFC786B5-0B8B-8F60-74F6-99406B6424DC}"/>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7C1DE122-3B59-03A5-58F9-ACE9BE064058}"/>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A8954A15-53E1-356E-6E98-E82C34F3E521}"/>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285645314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7B40B09-B201-5580-1967-1AA9378E5770}"/>
              </a:ext>
            </a:extLst>
          </p:cNvPr>
          <p:cNvSpPr>
            <a:spLocks noGrp="1"/>
          </p:cNvSpPr>
          <p:nvPr>
            <p:ph type="title"/>
          </p:nvPr>
        </p:nvSpPr>
        <p:spPr>
          <a:xfrm>
            <a:off x="831850" y="1709738"/>
            <a:ext cx="10515600" cy="2852737"/>
          </a:xfrm>
        </p:spPr>
        <p:txBody>
          <a:bodyPr anchor="b"/>
          <a:lstStyle>
            <a:lvl1pPr>
              <a:defRPr sz="6000"/>
            </a:lvl1pPr>
          </a:lstStyle>
          <a:p>
            <a:r>
              <a:rPr lang="fr-FR"/>
              <a:t>Modifiez le style du titre</a:t>
            </a:r>
          </a:p>
        </p:txBody>
      </p:sp>
      <p:sp>
        <p:nvSpPr>
          <p:cNvPr id="3" name="Espace réservé du texte 2">
            <a:extLst>
              <a:ext uri="{FF2B5EF4-FFF2-40B4-BE49-F238E27FC236}">
                <a16:creationId xmlns:a16="http://schemas.microsoft.com/office/drawing/2014/main" id="{FCE05A16-ADE6-EEAB-99E5-4450D9955E4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a:t>Cliquez pour modifier les styles du texte du masque</a:t>
            </a:r>
          </a:p>
        </p:txBody>
      </p:sp>
      <p:sp>
        <p:nvSpPr>
          <p:cNvPr id="4" name="Espace réservé de la date 3">
            <a:extLst>
              <a:ext uri="{FF2B5EF4-FFF2-40B4-BE49-F238E27FC236}">
                <a16:creationId xmlns:a16="http://schemas.microsoft.com/office/drawing/2014/main" id="{31C9385E-35B3-73F4-35C3-51E90131B183}"/>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F5B070CA-5A2F-6033-E497-C396608071C6}"/>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6B66DED0-A598-121B-D4C6-6EB7E693B13F}"/>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2627620667"/>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80015C4-E56E-0AF6-5925-E9C2BCDD502B}"/>
              </a:ext>
            </a:extLst>
          </p:cNvPr>
          <p:cNvSpPr>
            <a:spLocks noGrp="1"/>
          </p:cNvSpPr>
          <p:nvPr>
            <p:ph type="title"/>
          </p:nvPr>
        </p:nvSpPr>
        <p:spPr/>
        <p:txBody>
          <a:bodyPr/>
          <a:lstStyle/>
          <a:p>
            <a:r>
              <a:rPr lang="fr-FR"/>
              <a:t>Modifiez le style du titre</a:t>
            </a:r>
          </a:p>
        </p:txBody>
      </p:sp>
      <p:sp>
        <p:nvSpPr>
          <p:cNvPr id="3" name="Espace réservé du contenu 2">
            <a:extLst>
              <a:ext uri="{FF2B5EF4-FFF2-40B4-BE49-F238E27FC236}">
                <a16:creationId xmlns:a16="http://schemas.microsoft.com/office/drawing/2014/main" id="{66DF1BD7-A2A0-BC64-2A0A-B6A2E14BF271}"/>
              </a:ext>
            </a:extLst>
          </p:cNvPr>
          <p:cNvSpPr>
            <a:spLocks noGrp="1"/>
          </p:cNvSpPr>
          <p:nvPr>
            <p:ph sz="half" idx="1"/>
          </p:nvPr>
        </p:nvSpPr>
        <p:spPr>
          <a:xfrm>
            <a:off x="838200" y="1825625"/>
            <a:ext cx="5181600" cy="435133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a:extLst>
              <a:ext uri="{FF2B5EF4-FFF2-40B4-BE49-F238E27FC236}">
                <a16:creationId xmlns:a16="http://schemas.microsoft.com/office/drawing/2014/main" id="{92E20624-578C-6A97-D125-CFAB10C0B0D7}"/>
              </a:ext>
            </a:extLst>
          </p:cNvPr>
          <p:cNvSpPr>
            <a:spLocks noGrp="1"/>
          </p:cNvSpPr>
          <p:nvPr>
            <p:ph sz="half" idx="2"/>
          </p:nvPr>
        </p:nvSpPr>
        <p:spPr>
          <a:xfrm>
            <a:off x="6172200" y="1825625"/>
            <a:ext cx="5181600" cy="435133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a:extLst>
              <a:ext uri="{FF2B5EF4-FFF2-40B4-BE49-F238E27FC236}">
                <a16:creationId xmlns:a16="http://schemas.microsoft.com/office/drawing/2014/main" id="{C188EE99-6EC2-4C7A-3E3C-C6A8ABF11693}"/>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6" name="Espace réservé du pied de page 5">
            <a:extLst>
              <a:ext uri="{FF2B5EF4-FFF2-40B4-BE49-F238E27FC236}">
                <a16:creationId xmlns:a16="http://schemas.microsoft.com/office/drawing/2014/main" id="{EAECA79B-4712-D6E8-E174-C067D9920660}"/>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BF0AB6BF-E671-8271-A574-F51930D97A2C}"/>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320586344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4AAB8FB-5B5D-1B92-7118-63B9A12F4A1A}"/>
              </a:ext>
            </a:extLst>
          </p:cNvPr>
          <p:cNvSpPr>
            <a:spLocks noGrp="1"/>
          </p:cNvSpPr>
          <p:nvPr>
            <p:ph type="title"/>
          </p:nvPr>
        </p:nvSpPr>
        <p:spPr>
          <a:xfrm>
            <a:off x="839788" y="365125"/>
            <a:ext cx="10515600" cy="1325563"/>
          </a:xfrm>
        </p:spPr>
        <p:txBody>
          <a:bodyPr/>
          <a:lstStyle/>
          <a:p>
            <a:r>
              <a:rPr lang="fr-FR"/>
              <a:t>Modifiez le style du titre</a:t>
            </a:r>
          </a:p>
        </p:txBody>
      </p:sp>
      <p:sp>
        <p:nvSpPr>
          <p:cNvPr id="3" name="Espace réservé du texte 2">
            <a:extLst>
              <a:ext uri="{FF2B5EF4-FFF2-40B4-BE49-F238E27FC236}">
                <a16:creationId xmlns:a16="http://schemas.microsoft.com/office/drawing/2014/main" id="{D64F7016-9AEF-CE26-9F00-D6C7DD36A631}"/>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a:extLst>
              <a:ext uri="{FF2B5EF4-FFF2-40B4-BE49-F238E27FC236}">
                <a16:creationId xmlns:a16="http://schemas.microsoft.com/office/drawing/2014/main" id="{E92D3565-8754-7560-F0EC-A273141790DE}"/>
              </a:ext>
            </a:extLst>
          </p:cNvPr>
          <p:cNvSpPr>
            <a:spLocks noGrp="1"/>
          </p:cNvSpPr>
          <p:nvPr>
            <p:ph sz="half" idx="2"/>
          </p:nvPr>
        </p:nvSpPr>
        <p:spPr>
          <a:xfrm>
            <a:off x="839788" y="2505075"/>
            <a:ext cx="5157787" cy="368458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a:extLst>
              <a:ext uri="{FF2B5EF4-FFF2-40B4-BE49-F238E27FC236}">
                <a16:creationId xmlns:a16="http://schemas.microsoft.com/office/drawing/2014/main" id="{033651E8-AC30-E28F-94F5-40F579DC974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a:extLst>
              <a:ext uri="{FF2B5EF4-FFF2-40B4-BE49-F238E27FC236}">
                <a16:creationId xmlns:a16="http://schemas.microsoft.com/office/drawing/2014/main" id="{4B122846-4C26-D504-4BF4-56F4F891A08A}"/>
              </a:ext>
            </a:extLst>
          </p:cNvPr>
          <p:cNvSpPr>
            <a:spLocks noGrp="1"/>
          </p:cNvSpPr>
          <p:nvPr>
            <p:ph sz="quarter" idx="4"/>
          </p:nvPr>
        </p:nvSpPr>
        <p:spPr>
          <a:xfrm>
            <a:off x="6172200" y="2505075"/>
            <a:ext cx="5183188" cy="368458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a:extLst>
              <a:ext uri="{FF2B5EF4-FFF2-40B4-BE49-F238E27FC236}">
                <a16:creationId xmlns:a16="http://schemas.microsoft.com/office/drawing/2014/main" id="{2A6148FE-337F-C12D-7CDC-3DABB09B9449}"/>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8" name="Espace réservé du pied de page 7">
            <a:extLst>
              <a:ext uri="{FF2B5EF4-FFF2-40B4-BE49-F238E27FC236}">
                <a16:creationId xmlns:a16="http://schemas.microsoft.com/office/drawing/2014/main" id="{73CE25FB-2E38-862D-A43E-E7B5948190EF}"/>
              </a:ext>
            </a:extLst>
          </p:cNvPr>
          <p:cNvSpPr>
            <a:spLocks noGrp="1"/>
          </p:cNvSpPr>
          <p:nvPr>
            <p:ph type="ftr" sz="quarter" idx="11"/>
          </p:nvPr>
        </p:nvSpPr>
        <p:spPr/>
        <p:txBody>
          <a:bodyPr/>
          <a:lstStyle/>
          <a:p>
            <a:endParaRPr lang="fr-FR"/>
          </a:p>
        </p:txBody>
      </p:sp>
      <p:sp>
        <p:nvSpPr>
          <p:cNvPr id="9" name="Espace réservé du numéro de diapositive 8">
            <a:extLst>
              <a:ext uri="{FF2B5EF4-FFF2-40B4-BE49-F238E27FC236}">
                <a16:creationId xmlns:a16="http://schemas.microsoft.com/office/drawing/2014/main" id="{09BB43A2-83AA-D677-9C2A-DF3396612528}"/>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37204930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B9D5557-DF6A-8E9E-940E-EB7372496D59}"/>
              </a:ext>
            </a:extLst>
          </p:cNvPr>
          <p:cNvSpPr>
            <a:spLocks noGrp="1"/>
          </p:cNvSpPr>
          <p:nvPr>
            <p:ph type="title"/>
          </p:nvPr>
        </p:nvSpPr>
        <p:spPr/>
        <p:txBody>
          <a:bodyPr/>
          <a:lstStyle/>
          <a:p>
            <a:r>
              <a:rPr lang="fr-FR"/>
              <a:t>Modifiez le style du titre</a:t>
            </a:r>
          </a:p>
        </p:txBody>
      </p:sp>
      <p:sp>
        <p:nvSpPr>
          <p:cNvPr id="3" name="Espace réservé de la date 2">
            <a:extLst>
              <a:ext uri="{FF2B5EF4-FFF2-40B4-BE49-F238E27FC236}">
                <a16:creationId xmlns:a16="http://schemas.microsoft.com/office/drawing/2014/main" id="{16E0ED35-1952-4465-A5B7-227C660AAB26}"/>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4" name="Espace réservé du pied de page 3">
            <a:extLst>
              <a:ext uri="{FF2B5EF4-FFF2-40B4-BE49-F238E27FC236}">
                <a16:creationId xmlns:a16="http://schemas.microsoft.com/office/drawing/2014/main" id="{D543E64D-23E6-829E-D4C5-A216222767AB}"/>
              </a:ext>
            </a:extLst>
          </p:cNvPr>
          <p:cNvSpPr>
            <a:spLocks noGrp="1"/>
          </p:cNvSpPr>
          <p:nvPr>
            <p:ph type="ftr" sz="quarter" idx="11"/>
          </p:nvPr>
        </p:nvSpPr>
        <p:spPr/>
        <p:txBody>
          <a:bodyPr/>
          <a:lstStyle/>
          <a:p>
            <a:endParaRPr lang="fr-FR"/>
          </a:p>
        </p:txBody>
      </p:sp>
      <p:sp>
        <p:nvSpPr>
          <p:cNvPr id="5" name="Espace réservé du numéro de diapositive 4">
            <a:extLst>
              <a:ext uri="{FF2B5EF4-FFF2-40B4-BE49-F238E27FC236}">
                <a16:creationId xmlns:a16="http://schemas.microsoft.com/office/drawing/2014/main" id="{6F624049-44F4-4E6E-4AC1-49E94D83BEC5}"/>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35167398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a:extLst>
              <a:ext uri="{FF2B5EF4-FFF2-40B4-BE49-F238E27FC236}">
                <a16:creationId xmlns:a16="http://schemas.microsoft.com/office/drawing/2014/main" id="{DB39F248-2EDB-62C4-E818-8ACE4DC7CFA4}"/>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3" name="Espace réservé du pied de page 2">
            <a:extLst>
              <a:ext uri="{FF2B5EF4-FFF2-40B4-BE49-F238E27FC236}">
                <a16:creationId xmlns:a16="http://schemas.microsoft.com/office/drawing/2014/main" id="{78ECB497-C207-6DA6-8C21-384ED774ECEB}"/>
              </a:ext>
            </a:extLst>
          </p:cNvPr>
          <p:cNvSpPr>
            <a:spLocks noGrp="1"/>
          </p:cNvSpPr>
          <p:nvPr>
            <p:ph type="ftr" sz="quarter" idx="11"/>
          </p:nvPr>
        </p:nvSpPr>
        <p:spPr/>
        <p:txBody>
          <a:bodyPr/>
          <a:lstStyle/>
          <a:p>
            <a:endParaRPr lang="fr-FR"/>
          </a:p>
        </p:txBody>
      </p:sp>
      <p:sp>
        <p:nvSpPr>
          <p:cNvPr id="4" name="Espace réservé du numéro de diapositive 3">
            <a:extLst>
              <a:ext uri="{FF2B5EF4-FFF2-40B4-BE49-F238E27FC236}">
                <a16:creationId xmlns:a16="http://schemas.microsoft.com/office/drawing/2014/main" id="{C3C81901-B44F-33BA-3848-0F6C314A3C60}"/>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97416678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D511E8A-D84D-E961-4823-42AD8205F572}"/>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p>
        </p:txBody>
      </p:sp>
      <p:sp>
        <p:nvSpPr>
          <p:cNvPr id="3" name="Espace réservé du contenu 2">
            <a:extLst>
              <a:ext uri="{FF2B5EF4-FFF2-40B4-BE49-F238E27FC236}">
                <a16:creationId xmlns:a16="http://schemas.microsoft.com/office/drawing/2014/main" id="{042F4ABD-8B02-293B-63EE-6D73EE488BA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a:extLst>
              <a:ext uri="{FF2B5EF4-FFF2-40B4-BE49-F238E27FC236}">
                <a16:creationId xmlns:a16="http://schemas.microsoft.com/office/drawing/2014/main" id="{12AD371F-56AC-7AD9-CCAB-19A3AFC6DBF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D072476B-CF0A-8825-65C5-9AEBB6669152}"/>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6" name="Espace réservé du pied de page 5">
            <a:extLst>
              <a:ext uri="{FF2B5EF4-FFF2-40B4-BE49-F238E27FC236}">
                <a16:creationId xmlns:a16="http://schemas.microsoft.com/office/drawing/2014/main" id="{D0A7CB2E-28AB-D000-EF2E-B6D27EAC3B0D}"/>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372CF19E-0F6E-0424-1686-9F60E3102B82}"/>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160645665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79ECC3F-B339-062F-D740-635D892A3E66}"/>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p>
        </p:txBody>
      </p:sp>
      <p:sp>
        <p:nvSpPr>
          <p:cNvPr id="3" name="Espace réservé pour une image  2">
            <a:extLst>
              <a:ext uri="{FF2B5EF4-FFF2-40B4-BE49-F238E27FC236}">
                <a16:creationId xmlns:a16="http://schemas.microsoft.com/office/drawing/2014/main" id="{8814496C-4CFC-0AB4-D1E4-24066E24795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a:extLst>
              <a:ext uri="{FF2B5EF4-FFF2-40B4-BE49-F238E27FC236}">
                <a16:creationId xmlns:a16="http://schemas.microsoft.com/office/drawing/2014/main" id="{EAE72D2D-9B6A-39E6-65C1-A3B51107D36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EEF65658-7276-CB6B-62E8-F8EDE8C19CF7}"/>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6" name="Espace réservé du pied de page 5">
            <a:extLst>
              <a:ext uri="{FF2B5EF4-FFF2-40B4-BE49-F238E27FC236}">
                <a16:creationId xmlns:a16="http://schemas.microsoft.com/office/drawing/2014/main" id="{10F1E729-BB2C-7810-A8B6-DCE7E6FE2D7E}"/>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6D43CAB4-12B7-E2CD-5CF3-04A4DE0EC5D4}"/>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117236258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7AE53ED-2419-2D45-14F0-DE4D50A5646C}"/>
              </a:ext>
            </a:extLst>
          </p:cNvPr>
          <p:cNvSpPr>
            <a:spLocks noGrp="1"/>
          </p:cNvSpPr>
          <p:nvPr>
            <p:ph type="title"/>
          </p:nvPr>
        </p:nvSpPr>
        <p:spPr/>
        <p:txBody>
          <a:bodyPr/>
          <a:lstStyle/>
          <a:p>
            <a:r>
              <a:rPr lang="fr-FR"/>
              <a:t>Modifiez le style du titre</a:t>
            </a:r>
          </a:p>
        </p:txBody>
      </p:sp>
      <p:sp>
        <p:nvSpPr>
          <p:cNvPr id="3" name="Espace réservé du texte vertical 2">
            <a:extLst>
              <a:ext uri="{FF2B5EF4-FFF2-40B4-BE49-F238E27FC236}">
                <a16:creationId xmlns:a16="http://schemas.microsoft.com/office/drawing/2014/main" id="{BAD0F623-B74D-D044-3F52-00BA9D396251}"/>
              </a:ext>
            </a:extLst>
          </p:cNvPr>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65F90C07-7A3C-BEA6-9379-19CFC9AA7306}"/>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9BE29750-B403-624F-8F01-0749C3A3955A}"/>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FBCE97D3-8EE5-C5A6-4357-DABBF94922B1}"/>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2711897076"/>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a:extLst>
              <a:ext uri="{FF2B5EF4-FFF2-40B4-BE49-F238E27FC236}">
                <a16:creationId xmlns:a16="http://schemas.microsoft.com/office/drawing/2014/main" id="{B303D027-5983-C8CF-52D1-87AD637F3916}"/>
              </a:ext>
            </a:extLst>
          </p:cNvPr>
          <p:cNvSpPr>
            <a:spLocks noGrp="1"/>
          </p:cNvSpPr>
          <p:nvPr>
            <p:ph type="title" orient="vert"/>
          </p:nvPr>
        </p:nvSpPr>
        <p:spPr>
          <a:xfrm>
            <a:off x="8724900" y="365125"/>
            <a:ext cx="2628900" cy="5811838"/>
          </a:xfrm>
        </p:spPr>
        <p:txBody>
          <a:bodyPr vert="eaVert"/>
          <a:lstStyle/>
          <a:p>
            <a:r>
              <a:rPr lang="fr-FR"/>
              <a:t>Modifiez le style du titre</a:t>
            </a:r>
          </a:p>
        </p:txBody>
      </p:sp>
      <p:sp>
        <p:nvSpPr>
          <p:cNvPr id="3" name="Espace réservé du texte vertical 2">
            <a:extLst>
              <a:ext uri="{FF2B5EF4-FFF2-40B4-BE49-F238E27FC236}">
                <a16:creationId xmlns:a16="http://schemas.microsoft.com/office/drawing/2014/main" id="{0241674F-254A-5AC8-FC05-095F77214E10}"/>
              </a:ext>
            </a:extLst>
          </p:cNvPr>
          <p:cNvSpPr>
            <a:spLocks noGrp="1"/>
          </p:cNvSpPr>
          <p:nvPr>
            <p:ph type="body" orient="vert" idx="1"/>
          </p:nvPr>
        </p:nvSpPr>
        <p:spPr>
          <a:xfrm>
            <a:off x="838200" y="365125"/>
            <a:ext cx="7734300" cy="5811838"/>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61C5E186-5A26-0BFA-DD53-359FD1E2680C}"/>
              </a:ext>
            </a:extLst>
          </p:cNvPr>
          <p:cNvSpPr>
            <a:spLocks noGrp="1"/>
          </p:cNvSpPr>
          <p:nvPr>
            <p:ph type="dt" sz="half" idx="10"/>
          </p:nvPr>
        </p:nvSpPr>
        <p:spPr/>
        <p:txBody>
          <a:bodyPr/>
          <a:lstStyle/>
          <a:p>
            <a:fld id="{27804560-C4E2-4E38-B2E4-F793773D9972}"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736A6575-68BE-1FEC-DA22-20FB0475A4B1}"/>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9F22A346-44FC-EFF1-85B2-84B990BF91DF}"/>
              </a:ext>
            </a:extLst>
          </p:cNvPr>
          <p:cNvSpPr>
            <a:spLocks noGrp="1"/>
          </p:cNvSpPr>
          <p:nvPr>
            <p:ph type="sldNum" sz="quarter" idx="12"/>
          </p:nvPr>
        </p:nvSpPr>
        <p:spPr/>
        <p:txBody>
          <a:bodyPr/>
          <a:lstStyle/>
          <a:p>
            <a:fld id="{52278FE1-BAE5-40E1-9857-CFD5D86D2CAC}" type="slidenum">
              <a:rPr lang="fr-FR" smtClean="0"/>
              <a:t>‹N°›</a:t>
            </a:fld>
            <a:endParaRPr lang="fr-FR"/>
          </a:p>
        </p:txBody>
      </p:sp>
    </p:spTree>
    <p:extLst>
      <p:ext uri="{BB962C8B-B14F-4D97-AF65-F5344CB8AC3E}">
        <p14:creationId xmlns:p14="http://schemas.microsoft.com/office/powerpoint/2010/main" val="329881408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FBAA7D3-4169-6501-3044-93B40B81B75B}"/>
              </a:ext>
            </a:extLst>
          </p:cNvPr>
          <p:cNvSpPr>
            <a:spLocks noGrp="1"/>
          </p:cNvSpPr>
          <p:nvPr>
            <p:ph type="ctrTitle"/>
          </p:nvPr>
        </p:nvSpPr>
        <p:spPr>
          <a:xfrm>
            <a:off x="1524000" y="1122363"/>
            <a:ext cx="9144000" cy="2387600"/>
          </a:xfrm>
        </p:spPr>
        <p:txBody>
          <a:bodyPr anchor="b"/>
          <a:lstStyle>
            <a:lvl1pPr algn="ctr">
              <a:defRPr sz="6000"/>
            </a:lvl1pPr>
          </a:lstStyle>
          <a:p>
            <a:r>
              <a:rPr lang="fr-FR"/>
              <a:t>Modifiez le style du titre</a:t>
            </a:r>
          </a:p>
        </p:txBody>
      </p:sp>
      <p:sp>
        <p:nvSpPr>
          <p:cNvPr id="3" name="Sous-titre 2">
            <a:extLst>
              <a:ext uri="{FF2B5EF4-FFF2-40B4-BE49-F238E27FC236}">
                <a16:creationId xmlns:a16="http://schemas.microsoft.com/office/drawing/2014/main" id="{1865EFAB-7986-267B-1103-2F9EB41217AA}"/>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a:t>Modifiez le style des sous-titres du masque</a:t>
            </a:r>
          </a:p>
        </p:txBody>
      </p:sp>
      <p:sp>
        <p:nvSpPr>
          <p:cNvPr id="4" name="Espace réservé de la date 3">
            <a:extLst>
              <a:ext uri="{FF2B5EF4-FFF2-40B4-BE49-F238E27FC236}">
                <a16:creationId xmlns:a16="http://schemas.microsoft.com/office/drawing/2014/main" id="{1AD463EF-6F8E-AA6B-604A-699A8F58BCB6}"/>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DCEA638B-3395-DC65-457E-9BBE707D7FC1}"/>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A1810D21-91BB-E9EC-B8C3-79D5A1D40F1A}"/>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802818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9297A66-0955-8575-CA6D-D10FFE85D86D}"/>
              </a:ext>
            </a:extLst>
          </p:cNvPr>
          <p:cNvSpPr>
            <a:spLocks noGrp="1"/>
          </p:cNvSpPr>
          <p:nvPr>
            <p:ph type="title"/>
          </p:nvPr>
        </p:nvSpPr>
        <p:spPr/>
        <p:txBody>
          <a:bodyPr/>
          <a:lstStyle/>
          <a:p>
            <a:r>
              <a:rPr lang="fr-FR"/>
              <a:t>Modifiez le style du titre</a:t>
            </a:r>
          </a:p>
        </p:txBody>
      </p:sp>
      <p:sp>
        <p:nvSpPr>
          <p:cNvPr id="3" name="Espace réservé du contenu 2">
            <a:extLst>
              <a:ext uri="{FF2B5EF4-FFF2-40B4-BE49-F238E27FC236}">
                <a16:creationId xmlns:a16="http://schemas.microsoft.com/office/drawing/2014/main" id="{E29A1852-D83C-9ED7-E33B-2E29315954C8}"/>
              </a:ext>
            </a:extLst>
          </p:cNvPr>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2B465222-18A5-9A9C-093A-9F29342E2C4E}"/>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DD80A9A1-7E57-4461-69AF-AA13E0EE8D62}"/>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110948D3-882E-B88F-A85D-3E0A6F6A5724}"/>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209551723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0BE691C-AF8F-D12F-6BFA-666CBBE27FB7}"/>
              </a:ext>
            </a:extLst>
          </p:cNvPr>
          <p:cNvSpPr>
            <a:spLocks noGrp="1"/>
          </p:cNvSpPr>
          <p:nvPr>
            <p:ph type="title"/>
          </p:nvPr>
        </p:nvSpPr>
        <p:spPr>
          <a:xfrm>
            <a:off x="831850" y="1709738"/>
            <a:ext cx="10515600" cy="2852737"/>
          </a:xfrm>
        </p:spPr>
        <p:txBody>
          <a:bodyPr anchor="b"/>
          <a:lstStyle>
            <a:lvl1pPr>
              <a:defRPr sz="6000"/>
            </a:lvl1pPr>
          </a:lstStyle>
          <a:p>
            <a:r>
              <a:rPr lang="fr-FR"/>
              <a:t>Modifiez le style du titre</a:t>
            </a:r>
          </a:p>
        </p:txBody>
      </p:sp>
      <p:sp>
        <p:nvSpPr>
          <p:cNvPr id="3" name="Espace réservé du texte 2">
            <a:extLst>
              <a:ext uri="{FF2B5EF4-FFF2-40B4-BE49-F238E27FC236}">
                <a16:creationId xmlns:a16="http://schemas.microsoft.com/office/drawing/2014/main" id="{2CF57DE2-8DCA-CDF1-742C-D3964FEF363B}"/>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a:t>Cliquez pour modifier les styles du texte du masque</a:t>
            </a:r>
          </a:p>
        </p:txBody>
      </p:sp>
      <p:sp>
        <p:nvSpPr>
          <p:cNvPr id="4" name="Espace réservé de la date 3">
            <a:extLst>
              <a:ext uri="{FF2B5EF4-FFF2-40B4-BE49-F238E27FC236}">
                <a16:creationId xmlns:a16="http://schemas.microsoft.com/office/drawing/2014/main" id="{0D6A1B3A-2F0E-D529-B0DD-91C2EC910016}"/>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B13EEE63-03E5-0CAA-6C13-3D0ED14CB1BC}"/>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6D4B306D-4274-F9A4-B7DF-4D49F5DE8842}"/>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352812520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A199E1E-1E44-D351-0986-07AEF6FAB49F}"/>
              </a:ext>
            </a:extLst>
          </p:cNvPr>
          <p:cNvSpPr>
            <a:spLocks noGrp="1"/>
          </p:cNvSpPr>
          <p:nvPr>
            <p:ph type="title"/>
          </p:nvPr>
        </p:nvSpPr>
        <p:spPr/>
        <p:txBody>
          <a:bodyPr/>
          <a:lstStyle/>
          <a:p>
            <a:r>
              <a:rPr lang="fr-FR"/>
              <a:t>Modifiez le style du titre</a:t>
            </a:r>
          </a:p>
        </p:txBody>
      </p:sp>
      <p:sp>
        <p:nvSpPr>
          <p:cNvPr id="3" name="Espace réservé du contenu 2">
            <a:extLst>
              <a:ext uri="{FF2B5EF4-FFF2-40B4-BE49-F238E27FC236}">
                <a16:creationId xmlns:a16="http://schemas.microsoft.com/office/drawing/2014/main" id="{8F8549A8-F47A-AC3C-1A97-3FEDF75B2A72}"/>
              </a:ext>
            </a:extLst>
          </p:cNvPr>
          <p:cNvSpPr>
            <a:spLocks noGrp="1"/>
          </p:cNvSpPr>
          <p:nvPr>
            <p:ph sz="half" idx="1"/>
          </p:nvPr>
        </p:nvSpPr>
        <p:spPr>
          <a:xfrm>
            <a:off x="838200" y="1825625"/>
            <a:ext cx="5181600" cy="435133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a:extLst>
              <a:ext uri="{FF2B5EF4-FFF2-40B4-BE49-F238E27FC236}">
                <a16:creationId xmlns:a16="http://schemas.microsoft.com/office/drawing/2014/main" id="{C14E57D7-3E69-EFE0-7430-C80C2541A2C6}"/>
              </a:ext>
            </a:extLst>
          </p:cNvPr>
          <p:cNvSpPr>
            <a:spLocks noGrp="1"/>
          </p:cNvSpPr>
          <p:nvPr>
            <p:ph sz="half" idx="2"/>
          </p:nvPr>
        </p:nvSpPr>
        <p:spPr>
          <a:xfrm>
            <a:off x="6172200" y="1825625"/>
            <a:ext cx="5181600" cy="435133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a:extLst>
              <a:ext uri="{FF2B5EF4-FFF2-40B4-BE49-F238E27FC236}">
                <a16:creationId xmlns:a16="http://schemas.microsoft.com/office/drawing/2014/main" id="{4EBFD370-81D6-A368-C057-C4E192049F64}"/>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6" name="Espace réservé du pied de page 5">
            <a:extLst>
              <a:ext uri="{FF2B5EF4-FFF2-40B4-BE49-F238E27FC236}">
                <a16:creationId xmlns:a16="http://schemas.microsoft.com/office/drawing/2014/main" id="{CC859928-1EF6-3E93-7710-1F58098BC6C3}"/>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0E065D7A-CE24-2683-C748-5B269D051969}"/>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2729837076"/>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CE040BE-00F7-9E31-F5E9-26F784B72F7D}"/>
              </a:ext>
            </a:extLst>
          </p:cNvPr>
          <p:cNvSpPr>
            <a:spLocks noGrp="1"/>
          </p:cNvSpPr>
          <p:nvPr>
            <p:ph type="title"/>
          </p:nvPr>
        </p:nvSpPr>
        <p:spPr>
          <a:xfrm>
            <a:off x="839788" y="365125"/>
            <a:ext cx="10515600" cy="1325563"/>
          </a:xfrm>
        </p:spPr>
        <p:txBody>
          <a:bodyPr/>
          <a:lstStyle/>
          <a:p>
            <a:r>
              <a:rPr lang="fr-FR"/>
              <a:t>Modifiez le style du titre</a:t>
            </a:r>
          </a:p>
        </p:txBody>
      </p:sp>
      <p:sp>
        <p:nvSpPr>
          <p:cNvPr id="3" name="Espace réservé du texte 2">
            <a:extLst>
              <a:ext uri="{FF2B5EF4-FFF2-40B4-BE49-F238E27FC236}">
                <a16:creationId xmlns:a16="http://schemas.microsoft.com/office/drawing/2014/main" id="{017FB0D5-AC2C-B176-1B33-8736C018D9D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a:extLst>
              <a:ext uri="{FF2B5EF4-FFF2-40B4-BE49-F238E27FC236}">
                <a16:creationId xmlns:a16="http://schemas.microsoft.com/office/drawing/2014/main" id="{F696ADFA-75E5-F858-81C1-E1E22840E634}"/>
              </a:ext>
            </a:extLst>
          </p:cNvPr>
          <p:cNvSpPr>
            <a:spLocks noGrp="1"/>
          </p:cNvSpPr>
          <p:nvPr>
            <p:ph sz="half" idx="2"/>
          </p:nvPr>
        </p:nvSpPr>
        <p:spPr>
          <a:xfrm>
            <a:off x="839788" y="2505075"/>
            <a:ext cx="5157787" cy="368458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a:extLst>
              <a:ext uri="{FF2B5EF4-FFF2-40B4-BE49-F238E27FC236}">
                <a16:creationId xmlns:a16="http://schemas.microsoft.com/office/drawing/2014/main" id="{8F9665E7-E104-2455-1558-6F90DE9CFB8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a:extLst>
              <a:ext uri="{FF2B5EF4-FFF2-40B4-BE49-F238E27FC236}">
                <a16:creationId xmlns:a16="http://schemas.microsoft.com/office/drawing/2014/main" id="{0D75F985-F1E7-6DB6-AFFC-EB71236E3A45}"/>
              </a:ext>
            </a:extLst>
          </p:cNvPr>
          <p:cNvSpPr>
            <a:spLocks noGrp="1"/>
          </p:cNvSpPr>
          <p:nvPr>
            <p:ph sz="quarter" idx="4"/>
          </p:nvPr>
        </p:nvSpPr>
        <p:spPr>
          <a:xfrm>
            <a:off x="6172200" y="2505075"/>
            <a:ext cx="5183188" cy="368458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a:extLst>
              <a:ext uri="{FF2B5EF4-FFF2-40B4-BE49-F238E27FC236}">
                <a16:creationId xmlns:a16="http://schemas.microsoft.com/office/drawing/2014/main" id="{69C26C0C-7D6B-C756-F109-1E3FE7F633DF}"/>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8" name="Espace réservé du pied de page 7">
            <a:extLst>
              <a:ext uri="{FF2B5EF4-FFF2-40B4-BE49-F238E27FC236}">
                <a16:creationId xmlns:a16="http://schemas.microsoft.com/office/drawing/2014/main" id="{346930B0-97A6-74A9-5714-7045DE968D39}"/>
              </a:ext>
            </a:extLst>
          </p:cNvPr>
          <p:cNvSpPr>
            <a:spLocks noGrp="1"/>
          </p:cNvSpPr>
          <p:nvPr>
            <p:ph type="ftr" sz="quarter" idx="11"/>
          </p:nvPr>
        </p:nvSpPr>
        <p:spPr/>
        <p:txBody>
          <a:bodyPr/>
          <a:lstStyle/>
          <a:p>
            <a:endParaRPr lang="fr-FR"/>
          </a:p>
        </p:txBody>
      </p:sp>
      <p:sp>
        <p:nvSpPr>
          <p:cNvPr id="9" name="Espace réservé du numéro de diapositive 8">
            <a:extLst>
              <a:ext uri="{FF2B5EF4-FFF2-40B4-BE49-F238E27FC236}">
                <a16:creationId xmlns:a16="http://schemas.microsoft.com/office/drawing/2014/main" id="{18520ADE-9515-7B1A-342B-D647414D7BBD}"/>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351564819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5E615D5-D4CC-BA96-B5D9-64731D053C4B}"/>
              </a:ext>
            </a:extLst>
          </p:cNvPr>
          <p:cNvSpPr>
            <a:spLocks noGrp="1"/>
          </p:cNvSpPr>
          <p:nvPr>
            <p:ph type="title"/>
          </p:nvPr>
        </p:nvSpPr>
        <p:spPr/>
        <p:txBody>
          <a:bodyPr/>
          <a:lstStyle/>
          <a:p>
            <a:r>
              <a:rPr lang="fr-FR"/>
              <a:t>Modifiez le style du titre</a:t>
            </a:r>
          </a:p>
        </p:txBody>
      </p:sp>
      <p:sp>
        <p:nvSpPr>
          <p:cNvPr id="3" name="Espace réservé de la date 2">
            <a:extLst>
              <a:ext uri="{FF2B5EF4-FFF2-40B4-BE49-F238E27FC236}">
                <a16:creationId xmlns:a16="http://schemas.microsoft.com/office/drawing/2014/main" id="{F4D015CF-2189-922E-CD81-AFD329DA3F93}"/>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4" name="Espace réservé du pied de page 3">
            <a:extLst>
              <a:ext uri="{FF2B5EF4-FFF2-40B4-BE49-F238E27FC236}">
                <a16:creationId xmlns:a16="http://schemas.microsoft.com/office/drawing/2014/main" id="{75D54035-92EB-5DCD-A1D8-400B5C7C6070}"/>
              </a:ext>
            </a:extLst>
          </p:cNvPr>
          <p:cNvSpPr>
            <a:spLocks noGrp="1"/>
          </p:cNvSpPr>
          <p:nvPr>
            <p:ph type="ftr" sz="quarter" idx="11"/>
          </p:nvPr>
        </p:nvSpPr>
        <p:spPr/>
        <p:txBody>
          <a:bodyPr/>
          <a:lstStyle/>
          <a:p>
            <a:endParaRPr lang="fr-FR"/>
          </a:p>
        </p:txBody>
      </p:sp>
      <p:sp>
        <p:nvSpPr>
          <p:cNvPr id="5" name="Espace réservé du numéro de diapositive 4">
            <a:extLst>
              <a:ext uri="{FF2B5EF4-FFF2-40B4-BE49-F238E27FC236}">
                <a16:creationId xmlns:a16="http://schemas.microsoft.com/office/drawing/2014/main" id="{F7BA3D60-031E-2052-BF88-FC632639B6D0}"/>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152819548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a:extLst>
              <a:ext uri="{FF2B5EF4-FFF2-40B4-BE49-F238E27FC236}">
                <a16:creationId xmlns:a16="http://schemas.microsoft.com/office/drawing/2014/main" id="{D19992F4-9B7E-D807-9EDE-13082048EF51}"/>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3" name="Espace réservé du pied de page 2">
            <a:extLst>
              <a:ext uri="{FF2B5EF4-FFF2-40B4-BE49-F238E27FC236}">
                <a16:creationId xmlns:a16="http://schemas.microsoft.com/office/drawing/2014/main" id="{990E5C3C-49DB-9FDD-2772-95568DBDBBF0}"/>
              </a:ext>
            </a:extLst>
          </p:cNvPr>
          <p:cNvSpPr>
            <a:spLocks noGrp="1"/>
          </p:cNvSpPr>
          <p:nvPr>
            <p:ph type="ftr" sz="quarter" idx="11"/>
          </p:nvPr>
        </p:nvSpPr>
        <p:spPr/>
        <p:txBody>
          <a:bodyPr/>
          <a:lstStyle/>
          <a:p>
            <a:endParaRPr lang="fr-FR"/>
          </a:p>
        </p:txBody>
      </p:sp>
      <p:sp>
        <p:nvSpPr>
          <p:cNvPr id="4" name="Espace réservé du numéro de diapositive 3">
            <a:extLst>
              <a:ext uri="{FF2B5EF4-FFF2-40B4-BE49-F238E27FC236}">
                <a16:creationId xmlns:a16="http://schemas.microsoft.com/office/drawing/2014/main" id="{7F542B41-607E-9981-48E5-4333921DBE66}"/>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953234130"/>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380340A-27F3-F612-E0F0-BFB7F09B0644}"/>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p>
        </p:txBody>
      </p:sp>
      <p:sp>
        <p:nvSpPr>
          <p:cNvPr id="3" name="Espace réservé du contenu 2">
            <a:extLst>
              <a:ext uri="{FF2B5EF4-FFF2-40B4-BE49-F238E27FC236}">
                <a16:creationId xmlns:a16="http://schemas.microsoft.com/office/drawing/2014/main" id="{CF6AEA44-B402-493C-E2F9-5184FEE30DA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a:extLst>
              <a:ext uri="{FF2B5EF4-FFF2-40B4-BE49-F238E27FC236}">
                <a16:creationId xmlns:a16="http://schemas.microsoft.com/office/drawing/2014/main" id="{348FF152-A532-4DB4-E964-9CCEA22FF467}"/>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53F4EC60-7F9C-6300-24B6-DBC423FA654E}"/>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6" name="Espace réservé du pied de page 5">
            <a:extLst>
              <a:ext uri="{FF2B5EF4-FFF2-40B4-BE49-F238E27FC236}">
                <a16:creationId xmlns:a16="http://schemas.microsoft.com/office/drawing/2014/main" id="{77D9C8B6-68F3-C2FA-CADA-E9A31C717BC6}"/>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370EF918-038F-86AD-8976-8201D25519D9}"/>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133217945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DC0B246-D3F7-6C94-8A3A-94F72DA68A8A}"/>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p>
        </p:txBody>
      </p:sp>
      <p:sp>
        <p:nvSpPr>
          <p:cNvPr id="3" name="Espace réservé pour une image  2">
            <a:extLst>
              <a:ext uri="{FF2B5EF4-FFF2-40B4-BE49-F238E27FC236}">
                <a16:creationId xmlns:a16="http://schemas.microsoft.com/office/drawing/2014/main" id="{93B47D26-C40D-BEB0-6F26-229816811DAC}"/>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a:extLst>
              <a:ext uri="{FF2B5EF4-FFF2-40B4-BE49-F238E27FC236}">
                <a16:creationId xmlns:a16="http://schemas.microsoft.com/office/drawing/2014/main" id="{2C48FA61-B1B1-22B1-7C6E-5D33EB1ABC2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7AD83828-C537-4938-2194-A2C65B8F4398}"/>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6" name="Espace réservé du pied de page 5">
            <a:extLst>
              <a:ext uri="{FF2B5EF4-FFF2-40B4-BE49-F238E27FC236}">
                <a16:creationId xmlns:a16="http://schemas.microsoft.com/office/drawing/2014/main" id="{3535BAF3-E047-92C8-9CE9-2CDFA1BB3480}"/>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0975BE6B-8C55-3E2A-2AD4-31B5AC4A3DC0}"/>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49334473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BB6531B-A07D-3032-6BFE-96B411819A50}"/>
              </a:ext>
            </a:extLst>
          </p:cNvPr>
          <p:cNvSpPr>
            <a:spLocks noGrp="1"/>
          </p:cNvSpPr>
          <p:nvPr>
            <p:ph type="title"/>
          </p:nvPr>
        </p:nvSpPr>
        <p:spPr/>
        <p:txBody>
          <a:bodyPr/>
          <a:lstStyle/>
          <a:p>
            <a:r>
              <a:rPr lang="fr-FR"/>
              <a:t>Modifiez le style du titre</a:t>
            </a:r>
          </a:p>
        </p:txBody>
      </p:sp>
      <p:sp>
        <p:nvSpPr>
          <p:cNvPr id="3" name="Espace réservé du texte vertical 2">
            <a:extLst>
              <a:ext uri="{FF2B5EF4-FFF2-40B4-BE49-F238E27FC236}">
                <a16:creationId xmlns:a16="http://schemas.microsoft.com/office/drawing/2014/main" id="{7C35CFB8-CE96-93F3-BDD7-CD14204893C8}"/>
              </a:ext>
            </a:extLst>
          </p:cNvPr>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5B86D671-FE6A-F409-DAC7-DF7D8997E470}"/>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13F585DE-B02F-EED4-7A0E-DC110B36EB5C}"/>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2B3449A9-5B66-681E-81F2-76A5628AD8C0}"/>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192480058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a:extLst>
              <a:ext uri="{FF2B5EF4-FFF2-40B4-BE49-F238E27FC236}">
                <a16:creationId xmlns:a16="http://schemas.microsoft.com/office/drawing/2014/main" id="{EED047B3-DF7E-7E82-A046-0F65DB890C78}"/>
              </a:ext>
            </a:extLst>
          </p:cNvPr>
          <p:cNvSpPr>
            <a:spLocks noGrp="1"/>
          </p:cNvSpPr>
          <p:nvPr>
            <p:ph type="title" orient="vert"/>
          </p:nvPr>
        </p:nvSpPr>
        <p:spPr>
          <a:xfrm>
            <a:off x="8724900" y="365125"/>
            <a:ext cx="2628900" cy="5811838"/>
          </a:xfrm>
        </p:spPr>
        <p:txBody>
          <a:bodyPr vert="eaVert"/>
          <a:lstStyle/>
          <a:p>
            <a:r>
              <a:rPr lang="fr-FR"/>
              <a:t>Modifiez le style du titre</a:t>
            </a:r>
          </a:p>
        </p:txBody>
      </p:sp>
      <p:sp>
        <p:nvSpPr>
          <p:cNvPr id="3" name="Espace réservé du texte vertical 2">
            <a:extLst>
              <a:ext uri="{FF2B5EF4-FFF2-40B4-BE49-F238E27FC236}">
                <a16:creationId xmlns:a16="http://schemas.microsoft.com/office/drawing/2014/main" id="{3AA9F0B5-586C-AB27-5C59-E0BC59D71F6D}"/>
              </a:ext>
            </a:extLst>
          </p:cNvPr>
          <p:cNvSpPr>
            <a:spLocks noGrp="1"/>
          </p:cNvSpPr>
          <p:nvPr>
            <p:ph type="body" orient="vert" idx="1"/>
          </p:nvPr>
        </p:nvSpPr>
        <p:spPr>
          <a:xfrm>
            <a:off x="838200" y="365125"/>
            <a:ext cx="7734300" cy="5811838"/>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8F9C72A2-115E-C0AD-5536-139AC8ADEB22}"/>
              </a:ext>
            </a:extLst>
          </p:cNvPr>
          <p:cNvSpPr>
            <a:spLocks noGrp="1"/>
          </p:cNvSpPr>
          <p:nvPr>
            <p:ph type="dt" sz="half" idx="10"/>
          </p:nvPr>
        </p:nvSpPr>
        <p:spPr/>
        <p:txBody>
          <a:bodyPr/>
          <a:lstStyle/>
          <a:p>
            <a:fld id="{CF2E3FA7-314F-4555-90AC-9B6411DA3631}"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DC032650-DA31-DCED-1261-3F0E56641AF6}"/>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FC3ABDCB-7DE9-152A-BBC1-E2CEAC0828ED}"/>
              </a:ext>
            </a:extLst>
          </p:cNvPr>
          <p:cNvSpPr>
            <a:spLocks noGrp="1"/>
          </p:cNvSpPr>
          <p:nvPr>
            <p:ph type="sldNum" sz="quarter" idx="12"/>
          </p:nvPr>
        </p:nvSpPr>
        <p:spPr/>
        <p:txBody>
          <a:bodyPr/>
          <a:lstStyle/>
          <a:p>
            <a:fld id="{35C054BA-49B0-4935-8296-5DCDC3167D0F}" type="slidenum">
              <a:rPr lang="fr-FR" smtClean="0"/>
              <a:t>‹N°›</a:t>
            </a:fld>
            <a:endParaRPr lang="fr-FR"/>
          </a:p>
        </p:txBody>
      </p:sp>
    </p:spTree>
    <p:extLst>
      <p:ext uri="{BB962C8B-B14F-4D97-AF65-F5344CB8AC3E}">
        <p14:creationId xmlns:p14="http://schemas.microsoft.com/office/powerpoint/2010/main" val="71828114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45053F-98A8-5846-A197-7E2D481064B6}"/>
              </a:ext>
            </a:extLst>
          </p:cNvPr>
          <p:cNvSpPr>
            <a:spLocks noGrp="1"/>
          </p:cNvSpPr>
          <p:nvPr>
            <p:ph type="ctrTitle"/>
          </p:nvPr>
        </p:nvSpPr>
        <p:spPr>
          <a:xfrm>
            <a:off x="1524000" y="1122363"/>
            <a:ext cx="9144000" cy="2387600"/>
          </a:xfrm>
        </p:spPr>
        <p:txBody>
          <a:bodyPr anchor="b">
            <a:normAutofit/>
          </a:bodyPr>
          <a:lstStyle>
            <a:lvl1pPr algn="ctr">
              <a:defRPr sz="3200"/>
            </a:lvl1pPr>
          </a:lstStyle>
          <a:p>
            <a:r>
              <a:rPr lang="en-US"/>
              <a:t>Click to edit Master title style</a:t>
            </a:r>
          </a:p>
        </p:txBody>
      </p:sp>
      <p:sp>
        <p:nvSpPr>
          <p:cNvPr id="3" name="Subtitle 2">
            <a:extLst>
              <a:ext uri="{FF2B5EF4-FFF2-40B4-BE49-F238E27FC236}">
                <a16:creationId xmlns:a16="http://schemas.microsoft.com/office/drawing/2014/main" id="{4B33AEDB-189B-4C49-931F-F9A19511EAED}"/>
              </a:ext>
            </a:extLst>
          </p:cNvPr>
          <p:cNvSpPr>
            <a:spLocks noGrp="1"/>
          </p:cNvSpPr>
          <p:nvPr>
            <p:ph type="subTitle" idx="1"/>
          </p:nvPr>
        </p:nvSpPr>
        <p:spPr>
          <a:xfrm>
            <a:off x="1524000" y="3602038"/>
            <a:ext cx="9144000" cy="1655762"/>
          </a:xfrm>
        </p:spPr>
        <p:txBody>
          <a:bodyPr>
            <a:normAutofit/>
          </a:bodyPr>
          <a:lstStyle>
            <a:lvl1pPr marL="0" indent="0" algn="ctr">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4216282059"/>
      </p:ext>
    </p:extLst>
  </p:cSld>
  <p:clrMapOvr>
    <a:masterClrMapping/>
  </p:clrMapOvr>
  <p:extLst>
    <p:ext uri="{DCECCB84-F9BA-43D5-87BE-67443E8EF086}">
      <p15:sldGuideLst xmlns:p15="http://schemas.microsoft.com/office/powerpoint/2012/main"/>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E334D3-E780-498A-9B90-2DC13D2C131A}"/>
              </a:ext>
            </a:extLst>
          </p:cNvPr>
          <p:cNvSpPr>
            <a:spLocks noGrp="1"/>
          </p:cNvSpPr>
          <p:nvPr>
            <p:ph type="title"/>
          </p:nvPr>
        </p:nvSpPr>
        <p:spPr/>
        <p:txBody>
          <a:bodyPr/>
          <a:lstStyle/>
          <a:p>
            <a:r>
              <a:rPr lang="en-US"/>
              <a:t>Click to edit Master title style</a:t>
            </a:r>
            <a:endParaRPr lang="fr-FR"/>
          </a:p>
        </p:txBody>
      </p:sp>
      <p:sp>
        <p:nvSpPr>
          <p:cNvPr id="3" name="Slide Number Placeholder 2">
            <a:extLst>
              <a:ext uri="{FF2B5EF4-FFF2-40B4-BE49-F238E27FC236}">
                <a16:creationId xmlns:a16="http://schemas.microsoft.com/office/drawing/2014/main" id="{08362D69-10E6-434E-B7C5-232337D707D8}"/>
              </a:ext>
            </a:extLst>
          </p:cNvPr>
          <p:cNvSpPr>
            <a:spLocks noGrp="1"/>
          </p:cNvSpPr>
          <p:nvPr>
            <p:ph type="sldNum" idx="10"/>
          </p:nvPr>
        </p:nvSpPr>
        <p:spPr/>
        <p:txBody>
          <a:bodyPr/>
          <a:lstStyle/>
          <a:p>
            <a:fld id="{00000000-1234-1234-1234-123412341234}" type="slidenum">
              <a:rPr lang="en-US" smtClean="0"/>
              <a:pPr/>
              <a:t>‹N°›</a:t>
            </a:fld>
            <a:endParaRPr lang="en-US"/>
          </a:p>
        </p:txBody>
      </p:sp>
      <p:sp>
        <p:nvSpPr>
          <p:cNvPr id="4" name="Date Placeholder 3">
            <a:extLst>
              <a:ext uri="{FF2B5EF4-FFF2-40B4-BE49-F238E27FC236}">
                <a16:creationId xmlns:a16="http://schemas.microsoft.com/office/drawing/2014/main" id="{A5A95158-DFA6-43B9-B5CF-3A6EEDB48713}"/>
              </a:ext>
            </a:extLst>
          </p:cNvPr>
          <p:cNvSpPr>
            <a:spLocks noGrp="1"/>
          </p:cNvSpPr>
          <p:nvPr>
            <p:ph type="dt" idx="11"/>
          </p:nvPr>
        </p:nvSpPr>
        <p:spPr/>
        <p:txBody>
          <a:bodyPr/>
          <a:lstStyle/>
          <a:p>
            <a:fld id="{C09DE678-525D-4610-82FB-EC17EE63DFB5}" type="datetime1">
              <a:rPr lang="fr-FR" smtClean="0"/>
              <a:t>12/01/2026</a:t>
            </a:fld>
            <a:endParaRPr lang="fr-FR"/>
          </a:p>
        </p:txBody>
      </p:sp>
      <p:sp>
        <p:nvSpPr>
          <p:cNvPr id="5" name="Footer Placeholder 4">
            <a:extLst>
              <a:ext uri="{FF2B5EF4-FFF2-40B4-BE49-F238E27FC236}">
                <a16:creationId xmlns:a16="http://schemas.microsoft.com/office/drawing/2014/main" id="{5865FF67-2A23-429E-A994-A9BBB38711AB}"/>
              </a:ext>
            </a:extLst>
          </p:cNvPr>
          <p:cNvSpPr>
            <a:spLocks noGrp="1"/>
          </p:cNvSpPr>
          <p:nvPr>
            <p:ph type="ftr" idx="12"/>
          </p:nvPr>
        </p:nvSpPr>
        <p:spPr/>
        <p:txBody>
          <a:bodyPr/>
          <a:lstStyle/>
          <a:p>
            <a:r>
              <a:rPr lang="en-US"/>
              <a:t>Confidential</a:t>
            </a:r>
          </a:p>
        </p:txBody>
      </p:sp>
    </p:spTree>
    <p:extLst>
      <p:ext uri="{BB962C8B-B14F-4D97-AF65-F5344CB8AC3E}">
        <p14:creationId xmlns:p14="http://schemas.microsoft.com/office/powerpoint/2010/main" val="142551971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A755E3-32B1-6C4C-AE6B-147D73FCB3B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8B25260-9FB3-F04F-ADE4-AF4238E4BA43}"/>
              </a:ext>
            </a:extLst>
          </p:cNvPr>
          <p:cNvSpPr>
            <a:spLocks noGrp="1"/>
          </p:cNvSpPr>
          <p:nvPr>
            <p:ph idx="1"/>
          </p:nvPr>
        </p:nvSpPr>
        <p:spPr/>
        <p:txBody>
          <a:bodyPr/>
          <a:lstStyle>
            <a:lvl1pPr>
              <a:defRPr>
                <a:solidFill>
                  <a:srgbClr val="115264"/>
                </a:solidFill>
              </a:defRPr>
            </a:lvl1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Google Shape;20;p39">
            <a:extLst>
              <a:ext uri="{FF2B5EF4-FFF2-40B4-BE49-F238E27FC236}">
                <a16:creationId xmlns:a16="http://schemas.microsoft.com/office/drawing/2014/main" id="{4F3ACDB7-028A-C246-86E0-C0E84C26D808}"/>
              </a:ext>
            </a:extLst>
          </p:cNvPr>
          <p:cNvSpPr txBox="1">
            <a:spLocks noGrp="1"/>
          </p:cNvSpPr>
          <p:nvPr>
            <p:ph type="sldNum" idx="4"/>
          </p:nvPr>
        </p:nvSpPr>
        <p:spPr>
          <a:xfrm>
            <a:off x="391887" y="6373316"/>
            <a:ext cx="2743200" cy="365125"/>
          </a:xfrm>
          <a:prstGeom prst="rect">
            <a:avLst/>
          </a:prstGeom>
          <a:noFill/>
          <a:ln>
            <a:noFill/>
          </a:ln>
        </p:spPr>
        <p:txBody>
          <a:bodyPr spcFirstLastPara="1" wrap="square" lIns="91425" tIns="45700" rIns="91425" bIns="45700" anchor="ctr" anchorCtr="0">
            <a:noAutofit/>
          </a:bodyPr>
          <a:lstStyle>
            <a:lvl1pPr marL="0" marR="0" lvl="0" indent="0" algn="l" rtl="0">
              <a:spcBef>
                <a:spcPts val="0"/>
              </a:spcBef>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L="0" marR="0" lvl="1" indent="0" algn="l" rtl="0">
              <a:spcBef>
                <a:spcPts val="0"/>
              </a:spcBef>
              <a:buNone/>
              <a:defRPr sz="1200" b="0" i="0" u="none" strike="noStrike" cap="none">
                <a:solidFill>
                  <a:srgbClr val="888888"/>
                </a:solidFill>
                <a:latin typeface="Calibri"/>
                <a:ea typeface="Calibri"/>
                <a:cs typeface="Calibri"/>
                <a:sym typeface="Calibri"/>
              </a:defRPr>
            </a:lvl2pPr>
            <a:lvl3pPr marL="0" marR="0" lvl="2" indent="0" algn="l" rtl="0">
              <a:spcBef>
                <a:spcPts val="0"/>
              </a:spcBef>
              <a:buNone/>
              <a:defRPr sz="1200" b="0" i="0" u="none" strike="noStrike" cap="none">
                <a:solidFill>
                  <a:srgbClr val="888888"/>
                </a:solidFill>
                <a:latin typeface="Calibri"/>
                <a:ea typeface="Calibri"/>
                <a:cs typeface="Calibri"/>
                <a:sym typeface="Calibri"/>
              </a:defRPr>
            </a:lvl3pPr>
            <a:lvl4pPr marL="0" marR="0" lvl="3" indent="0" algn="l" rtl="0">
              <a:spcBef>
                <a:spcPts val="0"/>
              </a:spcBef>
              <a:buNone/>
              <a:defRPr sz="1200" b="0" i="0" u="none" strike="noStrike" cap="none">
                <a:solidFill>
                  <a:srgbClr val="888888"/>
                </a:solidFill>
                <a:latin typeface="Calibri"/>
                <a:ea typeface="Calibri"/>
                <a:cs typeface="Calibri"/>
                <a:sym typeface="Calibri"/>
              </a:defRPr>
            </a:lvl4pPr>
            <a:lvl5pPr marL="0" marR="0" lvl="4" indent="0" algn="l" rtl="0">
              <a:spcBef>
                <a:spcPts val="0"/>
              </a:spcBef>
              <a:buNone/>
              <a:defRPr sz="1200" b="0" i="0" u="none" strike="noStrike" cap="none">
                <a:solidFill>
                  <a:srgbClr val="888888"/>
                </a:solidFill>
                <a:latin typeface="Calibri"/>
                <a:ea typeface="Calibri"/>
                <a:cs typeface="Calibri"/>
                <a:sym typeface="Calibri"/>
              </a:defRPr>
            </a:lvl5pPr>
            <a:lvl6pPr marL="0" marR="0" lvl="5" indent="0" algn="l" rtl="0">
              <a:spcBef>
                <a:spcPts val="0"/>
              </a:spcBef>
              <a:buNone/>
              <a:defRPr sz="1200" b="0" i="0" u="none" strike="noStrike" cap="none">
                <a:solidFill>
                  <a:srgbClr val="888888"/>
                </a:solidFill>
                <a:latin typeface="Calibri"/>
                <a:ea typeface="Calibri"/>
                <a:cs typeface="Calibri"/>
                <a:sym typeface="Calibri"/>
              </a:defRPr>
            </a:lvl6pPr>
            <a:lvl7pPr marL="0" marR="0" lvl="6" indent="0" algn="l" rtl="0">
              <a:spcBef>
                <a:spcPts val="0"/>
              </a:spcBef>
              <a:buNone/>
              <a:defRPr sz="1200" b="0" i="0" u="none" strike="noStrike" cap="none">
                <a:solidFill>
                  <a:srgbClr val="888888"/>
                </a:solidFill>
                <a:latin typeface="Calibri"/>
                <a:ea typeface="Calibri"/>
                <a:cs typeface="Calibri"/>
                <a:sym typeface="Calibri"/>
              </a:defRPr>
            </a:lvl7pPr>
            <a:lvl8pPr marL="0" marR="0" lvl="7" indent="0" algn="l" rtl="0">
              <a:spcBef>
                <a:spcPts val="0"/>
              </a:spcBef>
              <a:buNone/>
              <a:defRPr sz="1200" b="0" i="0" u="none" strike="noStrike" cap="none">
                <a:solidFill>
                  <a:srgbClr val="888888"/>
                </a:solidFill>
                <a:latin typeface="Calibri"/>
                <a:ea typeface="Calibri"/>
                <a:cs typeface="Calibri"/>
                <a:sym typeface="Calibri"/>
              </a:defRPr>
            </a:lvl8pPr>
            <a:lvl9pPr marL="0" marR="0" lvl="8" indent="0" algn="l" rtl="0">
              <a:spcBef>
                <a:spcPts val="0"/>
              </a:spcBef>
              <a:buNone/>
              <a:defRPr sz="1200" b="0" i="0" u="none" strike="noStrike" cap="none">
                <a:solidFill>
                  <a:srgbClr val="888888"/>
                </a:solidFill>
                <a:latin typeface="Calibri"/>
                <a:ea typeface="Calibri"/>
                <a:cs typeface="Calibri"/>
                <a:sym typeface="Calibri"/>
              </a:defRPr>
            </a:lvl9pPr>
          </a:lstStyle>
          <a:p>
            <a:fld id="{00000000-1234-1234-1234-123412341234}" type="slidenum">
              <a:rPr lang="en-US" smtClean="0"/>
              <a:pPr/>
              <a:t>‹N°›</a:t>
            </a:fld>
            <a:endParaRPr lang="en-US"/>
          </a:p>
        </p:txBody>
      </p:sp>
      <p:pic>
        <p:nvPicPr>
          <p:cNvPr id="15" name="Google Shape;23;p39">
            <a:extLst>
              <a:ext uri="{FF2B5EF4-FFF2-40B4-BE49-F238E27FC236}">
                <a16:creationId xmlns:a16="http://schemas.microsoft.com/office/drawing/2014/main" id="{1AC0BDE7-06A7-514E-AAC6-3D3B7E3107E2}"/>
              </a:ext>
            </a:extLst>
          </p:cNvPr>
          <p:cNvPicPr preferRelativeResize="0"/>
          <p:nvPr userDrawn="1"/>
        </p:nvPicPr>
        <p:blipFill rotWithShape="1">
          <a:blip r:embed="rId2" cstate="screen">
            <a:alphaModFix/>
            <a:extLst>
              <a:ext uri="{28A0092B-C50C-407E-A947-70E740481C1C}">
                <a14:useLocalDpi xmlns:a14="http://schemas.microsoft.com/office/drawing/2010/main"/>
              </a:ext>
            </a:extLst>
          </a:blip>
          <a:srcRect/>
          <a:stretch/>
        </p:blipFill>
        <p:spPr>
          <a:xfrm>
            <a:off x="5870033" y="6322888"/>
            <a:ext cx="458433" cy="432051"/>
          </a:xfrm>
          <a:prstGeom prst="rect">
            <a:avLst/>
          </a:prstGeom>
          <a:noFill/>
          <a:ln>
            <a:noFill/>
          </a:ln>
        </p:spPr>
      </p:pic>
      <p:sp>
        <p:nvSpPr>
          <p:cNvPr id="17" name="Google Shape;18;p39">
            <a:extLst>
              <a:ext uri="{FF2B5EF4-FFF2-40B4-BE49-F238E27FC236}">
                <a16:creationId xmlns:a16="http://schemas.microsoft.com/office/drawing/2014/main" id="{DE3EF831-B174-BD40-84F6-E841F30D5514}"/>
              </a:ext>
            </a:extLst>
          </p:cNvPr>
          <p:cNvSpPr txBox="1">
            <a:spLocks noGrp="1"/>
          </p:cNvSpPr>
          <p:nvPr>
            <p:ph type="dt" idx="2"/>
          </p:nvPr>
        </p:nvSpPr>
        <p:spPr>
          <a:xfrm>
            <a:off x="8749293" y="6358895"/>
            <a:ext cx="1634833" cy="365125"/>
          </a:xfrm>
          <a:prstGeom prst="rect">
            <a:avLst/>
          </a:prstGeom>
          <a:noFill/>
          <a:ln>
            <a:noFill/>
          </a:ln>
        </p:spPr>
        <p:txBody>
          <a:bodyPr spcFirstLastPara="1" wrap="square" lIns="91425" tIns="45700" rIns="91425" bIns="45700" anchor="ctr" anchorCtr="0">
            <a:noAutofit/>
          </a:bodyPr>
          <a:lstStyle>
            <a:lvl1pPr marR="0" lvl="0" algn="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fld id="{2238D49E-8E25-4189-9AA0-DE557D2EAA50}" type="datetime1">
              <a:rPr lang="fr-FR" smtClean="0"/>
              <a:t>12/01/2026</a:t>
            </a:fld>
            <a:endParaRPr lang="fr-FR"/>
          </a:p>
        </p:txBody>
      </p:sp>
      <p:sp>
        <p:nvSpPr>
          <p:cNvPr id="18" name="Google Shape;19;p39">
            <a:extLst>
              <a:ext uri="{FF2B5EF4-FFF2-40B4-BE49-F238E27FC236}">
                <a16:creationId xmlns:a16="http://schemas.microsoft.com/office/drawing/2014/main" id="{E16D9B61-9DB7-FF45-B9DF-94CFB8C8F3FD}"/>
              </a:ext>
            </a:extLst>
          </p:cNvPr>
          <p:cNvSpPr txBox="1">
            <a:spLocks noGrp="1"/>
          </p:cNvSpPr>
          <p:nvPr>
            <p:ph type="ftr" idx="3"/>
          </p:nvPr>
        </p:nvSpPr>
        <p:spPr>
          <a:xfrm>
            <a:off x="10516530" y="6358895"/>
            <a:ext cx="1226974"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r>
              <a:rPr lang="en-US"/>
              <a:t>Confidential</a:t>
            </a:r>
          </a:p>
        </p:txBody>
      </p:sp>
      <p:cxnSp>
        <p:nvCxnSpPr>
          <p:cNvPr id="19" name="Straight Connector 18">
            <a:extLst>
              <a:ext uri="{FF2B5EF4-FFF2-40B4-BE49-F238E27FC236}">
                <a16:creationId xmlns:a16="http://schemas.microsoft.com/office/drawing/2014/main" id="{678B6A41-7E46-0E46-9B7E-D69069000CBA}"/>
              </a:ext>
            </a:extLst>
          </p:cNvPr>
          <p:cNvCxnSpPr/>
          <p:nvPr userDrawn="1"/>
        </p:nvCxnSpPr>
        <p:spPr>
          <a:xfrm>
            <a:off x="10465730" y="6364020"/>
            <a:ext cx="0" cy="360000"/>
          </a:xfrm>
          <a:prstGeom prst="line">
            <a:avLst/>
          </a:prstGeom>
          <a:ln>
            <a:solidFill>
              <a:srgbClr val="B9C1D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166428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AC8A58-8BCB-3045-AB73-DFCE788012B2}"/>
              </a:ext>
            </a:extLst>
          </p:cNvPr>
          <p:cNvSpPr>
            <a:spLocks noGrp="1"/>
          </p:cNvSpPr>
          <p:nvPr>
            <p:ph type="title"/>
          </p:nvPr>
        </p:nvSpPr>
        <p:spPr>
          <a:xfrm>
            <a:off x="831850" y="1709738"/>
            <a:ext cx="10515600" cy="2852737"/>
          </a:xfrm>
        </p:spPr>
        <p:txBody>
          <a:bodyPr anchor="b">
            <a:normAutofit/>
          </a:bodyPr>
          <a:lstStyle>
            <a:lvl1pPr>
              <a:defRPr sz="3200"/>
            </a:lvl1pPr>
          </a:lstStyle>
          <a:p>
            <a:r>
              <a:rPr lang="en-US"/>
              <a:t>Click to edit Master title style</a:t>
            </a:r>
          </a:p>
        </p:txBody>
      </p:sp>
      <p:sp>
        <p:nvSpPr>
          <p:cNvPr id="3" name="Text Placeholder 2">
            <a:extLst>
              <a:ext uri="{FF2B5EF4-FFF2-40B4-BE49-F238E27FC236}">
                <a16:creationId xmlns:a16="http://schemas.microsoft.com/office/drawing/2014/main" id="{F88D2769-9E77-1F43-B3CB-DF9CA60AA4EF}"/>
              </a:ext>
            </a:extLst>
          </p:cNvPr>
          <p:cNvSpPr>
            <a:spLocks noGrp="1"/>
          </p:cNvSpPr>
          <p:nvPr>
            <p:ph type="body" idx="1"/>
          </p:nvPr>
        </p:nvSpPr>
        <p:spPr>
          <a:xfrm>
            <a:off x="831850" y="4589463"/>
            <a:ext cx="10515600" cy="1500187"/>
          </a:xfrm>
        </p:spPr>
        <p:txBody>
          <a:bodyPr>
            <a:normAutofit/>
          </a:bodyPr>
          <a:lstStyle>
            <a:lvl1pPr marL="0" indent="0">
              <a:buNone/>
              <a:defRPr sz="20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Tree>
    <p:extLst>
      <p:ext uri="{BB962C8B-B14F-4D97-AF65-F5344CB8AC3E}">
        <p14:creationId xmlns:p14="http://schemas.microsoft.com/office/powerpoint/2010/main" val="230461491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2B7AF9-800F-5B4A-BDE9-2B5ECD128AC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DB645D4A-96C8-6942-B477-CE580C1B21CF}"/>
              </a:ext>
            </a:extLst>
          </p:cNvPr>
          <p:cNvSpPr>
            <a:spLocks noGrp="1"/>
          </p:cNvSpPr>
          <p:nvPr>
            <p:ph sz="half" idx="1"/>
          </p:nvPr>
        </p:nvSpPr>
        <p:spPr>
          <a:xfrm>
            <a:off x="391887" y="1072896"/>
            <a:ext cx="5627913" cy="5104067"/>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CBF5D26-A6CB-EE42-A0B3-6F03D4D0E3B6}"/>
              </a:ext>
            </a:extLst>
          </p:cNvPr>
          <p:cNvSpPr>
            <a:spLocks noGrp="1"/>
          </p:cNvSpPr>
          <p:nvPr>
            <p:ph sz="half" idx="2"/>
          </p:nvPr>
        </p:nvSpPr>
        <p:spPr>
          <a:xfrm>
            <a:off x="6172199" y="1072896"/>
            <a:ext cx="5571301" cy="5104067"/>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Google Shape;20;p39">
            <a:extLst>
              <a:ext uri="{FF2B5EF4-FFF2-40B4-BE49-F238E27FC236}">
                <a16:creationId xmlns:a16="http://schemas.microsoft.com/office/drawing/2014/main" id="{1F970E95-AF25-8E46-A3C6-F4A7C7ED9A76}"/>
              </a:ext>
            </a:extLst>
          </p:cNvPr>
          <p:cNvSpPr txBox="1">
            <a:spLocks noGrp="1"/>
          </p:cNvSpPr>
          <p:nvPr>
            <p:ph type="sldNum" idx="4"/>
          </p:nvPr>
        </p:nvSpPr>
        <p:spPr>
          <a:xfrm>
            <a:off x="391887" y="6338030"/>
            <a:ext cx="2743200" cy="365125"/>
          </a:xfrm>
          <a:prstGeom prst="rect">
            <a:avLst/>
          </a:prstGeom>
          <a:noFill/>
          <a:ln>
            <a:noFill/>
          </a:ln>
        </p:spPr>
        <p:txBody>
          <a:bodyPr spcFirstLastPara="1" wrap="square" lIns="91425" tIns="45700" rIns="91425" bIns="45700" anchor="ctr" anchorCtr="0">
            <a:noAutofit/>
          </a:bodyPr>
          <a:lstStyle>
            <a:lvl1pPr marL="0" marR="0" lvl="0" indent="0" algn="l" rtl="0">
              <a:spcBef>
                <a:spcPts val="0"/>
              </a:spcBef>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L="0" marR="0" lvl="1" indent="0" algn="l" rtl="0">
              <a:spcBef>
                <a:spcPts val="0"/>
              </a:spcBef>
              <a:buNone/>
              <a:defRPr sz="1200" b="0" i="0" u="none" strike="noStrike" cap="none">
                <a:solidFill>
                  <a:srgbClr val="888888"/>
                </a:solidFill>
                <a:latin typeface="Calibri"/>
                <a:ea typeface="Calibri"/>
                <a:cs typeface="Calibri"/>
                <a:sym typeface="Calibri"/>
              </a:defRPr>
            </a:lvl2pPr>
            <a:lvl3pPr marL="0" marR="0" lvl="2" indent="0" algn="l" rtl="0">
              <a:spcBef>
                <a:spcPts val="0"/>
              </a:spcBef>
              <a:buNone/>
              <a:defRPr sz="1200" b="0" i="0" u="none" strike="noStrike" cap="none">
                <a:solidFill>
                  <a:srgbClr val="888888"/>
                </a:solidFill>
                <a:latin typeface="Calibri"/>
                <a:ea typeface="Calibri"/>
                <a:cs typeface="Calibri"/>
                <a:sym typeface="Calibri"/>
              </a:defRPr>
            </a:lvl3pPr>
            <a:lvl4pPr marL="0" marR="0" lvl="3" indent="0" algn="l" rtl="0">
              <a:spcBef>
                <a:spcPts val="0"/>
              </a:spcBef>
              <a:buNone/>
              <a:defRPr sz="1200" b="0" i="0" u="none" strike="noStrike" cap="none">
                <a:solidFill>
                  <a:srgbClr val="888888"/>
                </a:solidFill>
                <a:latin typeface="Calibri"/>
                <a:ea typeface="Calibri"/>
                <a:cs typeface="Calibri"/>
                <a:sym typeface="Calibri"/>
              </a:defRPr>
            </a:lvl4pPr>
            <a:lvl5pPr marL="0" marR="0" lvl="4" indent="0" algn="l" rtl="0">
              <a:spcBef>
                <a:spcPts val="0"/>
              </a:spcBef>
              <a:buNone/>
              <a:defRPr sz="1200" b="0" i="0" u="none" strike="noStrike" cap="none">
                <a:solidFill>
                  <a:srgbClr val="888888"/>
                </a:solidFill>
                <a:latin typeface="Calibri"/>
                <a:ea typeface="Calibri"/>
                <a:cs typeface="Calibri"/>
                <a:sym typeface="Calibri"/>
              </a:defRPr>
            </a:lvl5pPr>
            <a:lvl6pPr marL="0" marR="0" lvl="5" indent="0" algn="l" rtl="0">
              <a:spcBef>
                <a:spcPts val="0"/>
              </a:spcBef>
              <a:buNone/>
              <a:defRPr sz="1200" b="0" i="0" u="none" strike="noStrike" cap="none">
                <a:solidFill>
                  <a:srgbClr val="888888"/>
                </a:solidFill>
                <a:latin typeface="Calibri"/>
                <a:ea typeface="Calibri"/>
                <a:cs typeface="Calibri"/>
                <a:sym typeface="Calibri"/>
              </a:defRPr>
            </a:lvl6pPr>
            <a:lvl7pPr marL="0" marR="0" lvl="6" indent="0" algn="l" rtl="0">
              <a:spcBef>
                <a:spcPts val="0"/>
              </a:spcBef>
              <a:buNone/>
              <a:defRPr sz="1200" b="0" i="0" u="none" strike="noStrike" cap="none">
                <a:solidFill>
                  <a:srgbClr val="888888"/>
                </a:solidFill>
                <a:latin typeface="Calibri"/>
                <a:ea typeface="Calibri"/>
                <a:cs typeface="Calibri"/>
                <a:sym typeface="Calibri"/>
              </a:defRPr>
            </a:lvl7pPr>
            <a:lvl8pPr marL="0" marR="0" lvl="7" indent="0" algn="l" rtl="0">
              <a:spcBef>
                <a:spcPts val="0"/>
              </a:spcBef>
              <a:buNone/>
              <a:defRPr sz="1200" b="0" i="0" u="none" strike="noStrike" cap="none">
                <a:solidFill>
                  <a:srgbClr val="888888"/>
                </a:solidFill>
                <a:latin typeface="Calibri"/>
                <a:ea typeface="Calibri"/>
                <a:cs typeface="Calibri"/>
                <a:sym typeface="Calibri"/>
              </a:defRPr>
            </a:lvl8pPr>
            <a:lvl9pPr marL="0" marR="0" lvl="8" indent="0" algn="l" rtl="0">
              <a:spcBef>
                <a:spcPts val="0"/>
              </a:spcBef>
              <a:buNone/>
              <a:defRPr sz="1200" b="0" i="0" u="none" strike="noStrike" cap="none">
                <a:solidFill>
                  <a:srgbClr val="888888"/>
                </a:solidFill>
                <a:latin typeface="Calibri"/>
                <a:ea typeface="Calibri"/>
                <a:cs typeface="Calibri"/>
                <a:sym typeface="Calibri"/>
              </a:defRPr>
            </a:lvl9pPr>
          </a:lstStyle>
          <a:p>
            <a:fld id="{00000000-1234-1234-1234-123412341234}" type="slidenum">
              <a:rPr lang="en-US" smtClean="0"/>
              <a:pPr/>
              <a:t>‹N°›</a:t>
            </a:fld>
            <a:endParaRPr lang="en-US"/>
          </a:p>
        </p:txBody>
      </p:sp>
      <p:pic>
        <p:nvPicPr>
          <p:cNvPr id="16" name="Google Shape;23;p39">
            <a:extLst>
              <a:ext uri="{FF2B5EF4-FFF2-40B4-BE49-F238E27FC236}">
                <a16:creationId xmlns:a16="http://schemas.microsoft.com/office/drawing/2014/main" id="{3FD6A89A-6340-C043-B7EA-56C334121F2A}"/>
              </a:ext>
            </a:extLst>
          </p:cNvPr>
          <p:cNvPicPr preferRelativeResize="0"/>
          <p:nvPr userDrawn="1"/>
        </p:nvPicPr>
        <p:blipFill rotWithShape="1">
          <a:blip r:embed="rId2" cstate="screen">
            <a:alphaModFix/>
            <a:extLst>
              <a:ext uri="{28A0092B-C50C-407E-A947-70E740481C1C}">
                <a14:useLocalDpi xmlns:a14="http://schemas.microsoft.com/office/drawing/2010/main"/>
              </a:ext>
            </a:extLst>
          </a:blip>
          <a:srcRect/>
          <a:stretch/>
        </p:blipFill>
        <p:spPr>
          <a:xfrm>
            <a:off x="5870033" y="6322888"/>
            <a:ext cx="458433" cy="432051"/>
          </a:xfrm>
          <a:prstGeom prst="rect">
            <a:avLst/>
          </a:prstGeom>
          <a:noFill/>
          <a:ln>
            <a:noFill/>
          </a:ln>
        </p:spPr>
      </p:pic>
      <p:sp>
        <p:nvSpPr>
          <p:cNvPr id="18" name="Google Shape;18;p39">
            <a:extLst>
              <a:ext uri="{FF2B5EF4-FFF2-40B4-BE49-F238E27FC236}">
                <a16:creationId xmlns:a16="http://schemas.microsoft.com/office/drawing/2014/main" id="{73EDF9D1-A64C-9F44-A0AB-7729BB22AE76}"/>
              </a:ext>
            </a:extLst>
          </p:cNvPr>
          <p:cNvSpPr txBox="1">
            <a:spLocks noGrp="1"/>
          </p:cNvSpPr>
          <p:nvPr>
            <p:ph type="dt" idx="10"/>
          </p:nvPr>
        </p:nvSpPr>
        <p:spPr>
          <a:xfrm>
            <a:off x="8749289" y="6378575"/>
            <a:ext cx="1634833" cy="365125"/>
          </a:xfrm>
          <a:prstGeom prst="rect">
            <a:avLst/>
          </a:prstGeom>
          <a:noFill/>
          <a:ln>
            <a:noFill/>
          </a:ln>
        </p:spPr>
        <p:txBody>
          <a:bodyPr spcFirstLastPara="1" wrap="square" lIns="91425" tIns="45700" rIns="91425" bIns="45700" anchor="ctr" anchorCtr="0">
            <a:noAutofit/>
          </a:bodyPr>
          <a:lstStyle>
            <a:lvl1pPr marR="0" lvl="0" algn="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fld id="{014541C3-8A06-4BED-BC41-3CCD2468E07F}" type="datetime1">
              <a:rPr lang="fr-FR" smtClean="0"/>
              <a:t>12/01/2026</a:t>
            </a:fld>
            <a:endParaRPr lang="fr-FR"/>
          </a:p>
        </p:txBody>
      </p:sp>
      <p:sp>
        <p:nvSpPr>
          <p:cNvPr id="19" name="Google Shape;19;p39">
            <a:extLst>
              <a:ext uri="{FF2B5EF4-FFF2-40B4-BE49-F238E27FC236}">
                <a16:creationId xmlns:a16="http://schemas.microsoft.com/office/drawing/2014/main" id="{18ABEE31-D489-AC4E-8181-F328397145CF}"/>
              </a:ext>
            </a:extLst>
          </p:cNvPr>
          <p:cNvSpPr txBox="1">
            <a:spLocks noGrp="1"/>
          </p:cNvSpPr>
          <p:nvPr>
            <p:ph type="ftr" idx="3"/>
          </p:nvPr>
        </p:nvSpPr>
        <p:spPr>
          <a:xfrm>
            <a:off x="10516526" y="6378575"/>
            <a:ext cx="1226974"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r>
              <a:rPr lang="en-US"/>
              <a:t>Confidential</a:t>
            </a:r>
          </a:p>
        </p:txBody>
      </p:sp>
      <p:cxnSp>
        <p:nvCxnSpPr>
          <p:cNvPr id="20" name="Straight Connector 19">
            <a:extLst>
              <a:ext uri="{FF2B5EF4-FFF2-40B4-BE49-F238E27FC236}">
                <a16:creationId xmlns:a16="http://schemas.microsoft.com/office/drawing/2014/main" id="{6213D977-D7BA-954E-8D4F-13F9785AE516}"/>
              </a:ext>
            </a:extLst>
          </p:cNvPr>
          <p:cNvCxnSpPr/>
          <p:nvPr userDrawn="1"/>
        </p:nvCxnSpPr>
        <p:spPr>
          <a:xfrm>
            <a:off x="10465726" y="6383700"/>
            <a:ext cx="0" cy="360000"/>
          </a:xfrm>
          <a:prstGeom prst="line">
            <a:avLst/>
          </a:prstGeom>
          <a:ln>
            <a:solidFill>
              <a:srgbClr val="B9C1D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4719868"/>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8A6E0C-9F71-B145-8EC9-39DD6089F5E0}"/>
              </a:ext>
            </a:extLst>
          </p:cNvPr>
          <p:cNvSpPr>
            <a:spLocks noGrp="1"/>
          </p:cNvSpPr>
          <p:nvPr>
            <p:ph type="title"/>
          </p:nvPr>
        </p:nvSpPr>
        <p:spPr/>
        <p:txBody>
          <a:bodyPr/>
          <a:lstStyle/>
          <a:p>
            <a:r>
              <a:rPr lang="en-US"/>
              <a:t>Click to edit Master title style</a:t>
            </a:r>
          </a:p>
        </p:txBody>
      </p:sp>
      <p:sp>
        <p:nvSpPr>
          <p:cNvPr id="13" name="Google Shape;20;p39">
            <a:extLst>
              <a:ext uri="{FF2B5EF4-FFF2-40B4-BE49-F238E27FC236}">
                <a16:creationId xmlns:a16="http://schemas.microsoft.com/office/drawing/2014/main" id="{73CBF40A-00C2-2343-A774-3A65371580F0}"/>
              </a:ext>
            </a:extLst>
          </p:cNvPr>
          <p:cNvSpPr txBox="1">
            <a:spLocks noGrp="1"/>
          </p:cNvSpPr>
          <p:nvPr>
            <p:ph type="sldNum" idx="4"/>
          </p:nvPr>
        </p:nvSpPr>
        <p:spPr>
          <a:xfrm>
            <a:off x="391887" y="6364155"/>
            <a:ext cx="2743200" cy="365125"/>
          </a:xfrm>
          <a:prstGeom prst="rect">
            <a:avLst/>
          </a:prstGeom>
          <a:noFill/>
          <a:ln>
            <a:noFill/>
          </a:ln>
        </p:spPr>
        <p:txBody>
          <a:bodyPr spcFirstLastPara="1" wrap="square" lIns="91425" tIns="45700" rIns="91425" bIns="45700" anchor="ctr" anchorCtr="0">
            <a:noAutofit/>
          </a:bodyPr>
          <a:lstStyle>
            <a:lvl1pPr marL="0" marR="0" lvl="0" indent="0" algn="l" rtl="0">
              <a:spcBef>
                <a:spcPts val="0"/>
              </a:spcBef>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L="0" marR="0" lvl="1" indent="0" algn="l" rtl="0">
              <a:spcBef>
                <a:spcPts val="0"/>
              </a:spcBef>
              <a:buNone/>
              <a:defRPr sz="1200" b="0" i="0" u="none" strike="noStrike" cap="none">
                <a:solidFill>
                  <a:srgbClr val="888888"/>
                </a:solidFill>
                <a:latin typeface="Calibri"/>
                <a:ea typeface="Calibri"/>
                <a:cs typeface="Calibri"/>
                <a:sym typeface="Calibri"/>
              </a:defRPr>
            </a:lvl2pPr>
            <a:lvl3pPr marL="0" marR="0" lvl="2" indent="0" algn="l" rtl="0">
              <a:spcBef>
                <a:spcPts val="0"/>
              </a:spcBef>
              <a:buNone/>
              <a:defRPr sz="1200" b="0" i="0" u="none" strike="noStrike" cap="none">
                <a:solidFill>
                  <a:srgbClr val="888888"/>
                </a:solidFill>
                <a:latin typeface="Calibri"/>
                <a:ea typeface="Calibri"/>
                <a:cs typeface="Calibri"/>
                <a:sym typeface="Calibri"/>
              </a:defRPr>
            </a:lvl3pPr>
            <a:lvl4pPr marL="0" marR="0" lvl="3" indent="0" algn="l" rtl="0">
              <a:spcBef>
                <a:spcPts val="0"/>
              </a:spcBef>
              <a:buNone/>
              <a:defRPr sz="1200" b="0" i="0" u="none" strike="noStrike" cap="none">
                <a:solidFill>
                  <a:srgbClr val="888888"/>
                </a:solidFill>
                <a:latin typeface="Calibri"/>
                <a:ea typeface="Calibri"/>
                <a:cs typeface="Calibri"/>
                <a:sym typeface="Calibri"/>
              </a:defRPr>
            </a:lvl4pPr>
            <a:lvl5pPr marL="0" marR="0" lvl="4" indent="0" algn="l" rtl="0">
              <a:spcBef>
                <a:spcPts val="0"/>
              </a:spcBef>
              <a:buNone/>
              <a:defRPr sz="1200" b="0" i="0" u="none" strike="noStrike" cap="none">
                <a:solidFill>
                  <a:srgbClr val="888888"/>
                </a:solidFill>
                <a:latin typeface="Calibri"/>
                <a:ea typeface="Calibri"/>
                <a:cs typeface="Calibri"/>
                <a:sym typeface="Calibri"/>
              </a:defRPr>
            </a:lvl5pPr>
            <a:lvl6pPr marL="0" marR="0" lvl="5" indent="0" algn="l" rtl="0">
              <a:spcBef>
                <a:spcPts val="0"/>
              </a:spcBef>
              <a:buNone/>
              <a:defRPr sz="1200" b="0" i="0" u="none" strike="noStrike" cap="none">
                <a:solidFill>
                  <a:srgbClr val="888888"/>
                </a:solidFill>
                <a:latin typeface="Calibri"/>
                <a:ea typeface="Calibri"/>
                <a:cs typeface="Calibri"/>
                <a:sym typeface="Calibri"/>
              </a:defRPr>
            </a:lvl6pPr>
            <a:lvl7pPr marL="0" marR="0" lvl="6" indent="0" algn="l" rtl="0">
              <a:spcBef>
                <a:spcPts val="0"/>
              </a:spcBef>
              <a:buNone/>
              <a:defRPr sz="1200" b="0" i="0" u="none" strike="noStrike" cap="none">
                <a:solidFill>
                  <a:srgbClr val="888888"/>
                </a:solidFill>
                <a:latin typeface="Calibri"/>
                <a:ea typeface="Calibri"/>
                <a:cs typeface="Calibri"/>
                <a:sym typeface="Calibri"/>
              </a:defRPr>
            </a:lvl7pPr>
            <a:lvl8pPr marL="0" marR="0" lvl="7" indent="0" algn="l" rtl="0">
              <a:spcBef>
                <a:spcPts val="0"/>
              </a:spcBef>
              <a:buNone/>
              <a:defRPr sz="1200" b="0" i="0" u="none" strike="noStrike" cap="none">
                <a:solidFill>
                  <a:srgbClr val="888888"/>
                </a:solidFill>
                <a:latin typeface="Calibri"/>
                <a:ea typeface="Calibri"/>
                <a:cs typeface="Calibri"/>
                <a:sym typeface="Calibri"/>
              </a:defRPr>
            </a:lvl8pPr>
            <a:lvl9pPr marL="0" marR="0" lvl="8" indent="0" algn="l" rtl="0">
              <a:spcBef>
                <a:spcPts val="0"/>
              </a:spcBef>
              <a:buNone/>
              <a:defRPr sz="1200" b="0" i="0" u="none" strike="noStrike" cap="none">
                <a:solidFill>
                  <a:srgbClr val="888888"/>
                </a:solidFill>
                <a:latin typeface="Calibri"/>
                <a:ea typeface="Calibri"/>
                <a:cs typeface="Calibri"/>
                <a:sym typeface="Calibri"/>
              </a:defRPr>
            </a:lvl9pPr>
          </a:lstStyle>
          <a:p>
            <a:fld id="{00000000-1234-1234-1234-123412341234}" type="slidenum">
              <a:rPr lang="en-US" smtClean="0"/>
              <a:pPr/>
              <a:t>‹N°›</a:t>
            </a:fld>
            <a:endParaRPr lang="en-US"/>
          </a:p>
        </p:txBody>
      </p:sp>
      <p:pic>
        <p:nvPicPr>
          <p:cNvPr id="14" name="Google Shape;23;p39">
            <a:extLst>
              <a:ext uri="{FF2B5EF4-FFF2-40B4-BE49-F238E27FC236}">
                <a16:creationId xmlns:a16="http://schemas.microsoft.com/office/drawing/2014/main" id="{F8CAEB94-DA96-3A47-8128-799FBD821D75}"/>
              </a:ext>
            </a:extLst>
          </p:cNvPr>
          <p:cNvPicPr preferRelativeResize="0"/>
          <p:nvPr userDrawn="1"/>
        </p:nvPicPr>
        <p:blipFill rotWithShape="1">
          <a:blip r:embed="rId2" cstate="screen">
            <a:alphaModFix/>
            <a:extLst>
              <a:ext uri="{28A0092B-C50C-407E-A947-70E740481C1C}">
                <a14:useLocalDpi xmlns:a14="http://schemas.microsoft.com/office/drawing/2010/main"/>
              </a:ext>
            </a:extLst>
          </a:blip>
          <a:srcRect/>
          <a:stretch/>
        </p:blipFill>
        <p:spPr>
          <a:xfrm>
            <a:off x="5870033" y="6322888"/>
            <a:ext cx="458433" cy="432051"/>
          </a:xfrm>
          <a:prstGeom prst="rect">
            <a:avLst/>
          </a:prstGeom>
          <a:noFill/>
          <a:ln>
            <a:noFill/>
          </a:ln>
        </p:spPr>
      </p:pic>
      <p:sp>
        <p:nvSpPr>
          <p:cNvPr id="16" name="Google Shape;18;p39">
            <a:extLst>
              <a:ext uri="{FF2B5EF4-FFF2-40B4-BE49-F238E27FC236}">
                <a16:creationId xmlns:a16="http://schemas.microsoft.com/office/drawing/2014/main" id="{4E053E99-5F32-9B43-8FDA-0AC52BBB371B}"/>
              </a:ext>
            </a:extLst>
          </p:cNvPr>
          <p:cNvSpPr txBox="1">
            <a:spLocks noGrp="1"/>
          </p:cNvSpPr>
          <p:nvPr>
            <p:ph type="dt" idx="2"/>
          </p:nvPr>
        </p:nvSpPr>
        <p:spPr>
          <a:xfrm>
            <a:off x="8749298" y="6322888"/>
            <a:ext cx="1634833" cy="365125"/>
          </a:xfrm>
          <a:prstGeom prst="rect">
            <a:avLst/>
          </a:prstGeom>
          <a:noFill/>
          <a:ln>
            <a:noFill/>
          </a:ln>
        </p:spPr>
        <p:txBody>
          <a:bodyPr spcFirstLastPara="1" wrap="square" lIns="91425" tIns="45700" rIns="91425" bIns="45700" anchor="ctr" anchorCtr="0">
            <a:noAutofit/>
          </a:bodyPr>
          <a:lstStyle>
            <a:lvl1pPr marR="0" lvl="0" algn="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fld id="{277C39C5-8AFB-4FD3-A498-37A950515FD8}" type="datetime1">
              <a:rPr lang="fr-FR" smtClean="0"/>
              <a:t>12/01/2026</a:t>
            </a:fld>
            <a:endParaRPr lang="fr-FR"/>
          </a:p>
        </p:txBody>
      </p:sp>
      <p:sp>
        <p:nvSpPr>
          <p:cNvPr id="17" name="Google Shape;19;p39">
            <a:extLst>
              <a:ext uri="{FF2B5EF4-FFF2-40B4-BE49-F238E27FC236}">
                <a16:creationId xmlns:a16="http://schemas.microsoft.com/office/drawing/2014/main" id="{20F00861-5B7E-B648-812B-A7975E5EB27C}"/>
              </a:ext>
            </a:extLst>
          </p:cNvPr>
          <p:cNvSpPr txBox="1">
            <a:spLocks noGrp="1"/>
          </p:cNvSpPr>
          <p:nvPr>
            <p:ph type="ftr" idx="3"/>
          </p:nvPr>
        </p:nvSpPr>
        <p:spPr>
          <a:xfrm>
            <a:off x="10516535" y="6322888"/>
            <a:ext cx="1226974"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r>
              <a:rPr lang="en-US"/>
              <a:t>Confidential</a:t>
            </a:r>
          </a:p>
        </p:txBody>
      </p:sp>
      <p:cxnSp>
        <p:nvCxnSpPr>
          <p:cNvPr id="18" name="Straight Connector 17">
            <a:extLst>
              <a:ext uri="{FF2B5EF4-FFF2-40B4-BE49-F238E27FC236}">
                <a16:creationId xmlns:a16="http://schemas.microsoft.com/office/drawing/2014/main" id="{697100B8-1492-9F44-B581-D40EE19B4A5B}"/>
              </a:ext>
            </a:extLst>
          </p:cNvPr>
          <p:cNvCxnSpPr/>
          <p:nvPr userDrawn="1"/>
        </p:nvCxnSpPr>
        <p:spPr>
          <a:xfrm>
            <a:off x="10465735" y="6328013"/>
            <a:ext cx="0" cy="360000"/>
          </a:xfrm>
          <a:prstGeom prst="line">
            <a:avLst/>
          </a:prstGeom>
          <a:ln>
            <a:solidFill>
              <a:srgbClr val="B9C1D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9266596"/>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12" name="Google Shape;20;p39">
            <a:extLst>
              <a:ext uri="{FF2B5EF4-FFF2-40B4-BE49-F238E27FC236}">
                <a16:creationId xmlns:a16="http://schemas.microsoft.com/office/drawing/2014/main" id="{C53B5952-C44A-F948-AC8E-A3D02878E1DF}"/>
              </a:ext>
            </a:extLst>
          </p:cNvPr>
          <p:cNvSpPr txBox="1">
            <a:spLocks noGrp="1"/>
          </p:cNvSpPr>
          <p:nvPr>
            <p:ph type="sldNum" idx="4"/>
          </p:nvPr>
        </p:nvSpPr>
        <p:spPr>
          <a:xfrm>
            <a:off x="472440" y="6304566"/>
            <a:ext cx="2743200" cy="365125"/>
          </a:xfrm>
          <a:prstGeom prst="rect">
            <a:avLst/>
          </a:prstGeom>
          <a:noFill/>
          <a:ln>
            <a:noFill/>
          </a:ln>
        </p:spPr>
        <p:txBody>
          <a:bodyPr spcFirstLastPara="1" wrap="square" lIns="91425" tIns="45700" rIns="91425" bIns="45700" anchor="ctr" anchorCtr="0">
            <a:noAutofit/>
          </a:bodyPr>
          <a:lstStyle>
            <a:lvl1pPr marL="0" marR="0" lvl="0" indent="0" algn="l" rtl="0">
              <a:spcBef>
                <a:spcPts val="0"/>
              </a:spcBef>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L="0" marR="0" lvl="1" indent="0" algn="l" rtl="0">
              <a:spcBef>
                <a:spcPts val="0"/>
              </a:spcBef>
              <a:buNone/>
              <a:defRPr sz="1200" b="0" i="0" u="none" strike="noStrike" cap="none">
                <a:solidFill>
                  <a:srgbClr val="888888"/>
                </a:solidFill>
                <a:latin typeface="Calibri"/>
                <a:ea typeface="Calibri"/>
                <a:cs typeface="Calibri"/>
                <a:sym typeface="Calibri"/>
              </a:defRPr>
            </a:lvl2pPr>
            <a:lvl3pPr marL="0" marR="0" lvl="2" indent="0" algn="l" rtl="0">
              <a:spcBef>
                <a:spcPts val="0"/>
              </a:spcBef>
              <a:buNone/>
              <a:defRPr sz="1200" b="0" i="0" u="none" strike="noStrike" cap="none">
                <a:solidFill>
                  <a:srgbClr val="888888"/>
                </a:solidFill>
                <a:latin typeface="Calibri"/>
                <a:ea typeface="Calibri"/>
                <a:cs typeface="Calibri"/>
                <a:sym typeface="Calibri"/>
              </a:defRPr>
            </a:lvl3pPr>
            <a:lvl4pPr marL="0" marR="0" lvl="3" indent="0" algn="l" rtl="0">
              <a:spcBef>
                <a:spcPts val="0"/>
              </a:spcBef>
              <a:buNone/>
              <a:defRPr sz="1200" b="0" i="0" u="none" strike="noStrike" cap="none">
                <a:solidFill>
                  <a:srgbClr val="888888"/>
                </a:solidFill>
                <a:latin typeface="Calibri"/>
                <a:ea typeface="Calibri"/>
                <a:cs typeface="Calibri"/>
                <a:sym typeface="Calibri"/>
              </a:defRPr>
            </a:lvl4pPr>
            <a:lvl5pPr marL="0" marR="0" lvl="4" indent="0" algn="l" rtl="0">
              <a:spcBef>
                <a:spcPts val="0"/>
              </a:spcBef>
              <a:buNone/>
              <a:defRPr sz="1200" b="0" i="0" u="none" strike="noStrike" cap="none">
                <a:solidFill>
                  <a:srgbClr val="888888"/>
                </a:solidFill>
                <a:latin typeface="Calibri"/>
                <a:ea typeface="Calibri"/>
                <a:cs typeface="Calibri"/>
                <a:sym typeface="Calibri"/>
              </a:defRPr>
            </a:lvl5pPr>
            <a:lvl6pPr marL="0" marR="0" lvl="5" indent="0" algn="l" rtl="0">
              <a:spcBef>
                <a:spcPts val="0"/>
              </a:spcBef>
              <a:buNone/>
              <a:defRPr sz="1200" b="0" i="0" u="none" strike="noStrike" cap="none">
                <a:solidFill>
                  <a:srgbClr val="888888"/>
                </a:solidFill>
                <a:latin typeface="Calibri"/>
                <a:ea typeface="Calibri"/>
                <a:cs typeface="Calibri"/>
                <a:sym typeface="Calibri"/>
              </a:defRPr>
            </a:lvl6pPr>
            <a:lvl7pPr marL="0" marR="0" lvl="6" indent="0" algn="l" rtl="0">
              <a:spcBef>
                <a:spcPts val="0"/>
              </a:spcBef>
              <a:buNone/>
              <a:defRPr sz="1200" b="0" i="0" u="none" strike="noStrike" cap="none">
                <a:solidFill>
                  <a:srgbClr val="888888"/>
                </a:solidFill>
                <a:latin typeface="Calibri"/>
                <a:ea typeface="Calibri"/>
                <a:cs typeface="Calibri"/>
                <a:sym typeface="Calibri"/>
              </a:defRPr>
            </a:lvl7pPr>
            <a:lvl8pPr marL="0" marR="0" lvl="7" indent="0" algn="l" rtl="0">
              <a:spcBef>
                <a:spcPts val="0"/>
              </a:spcBef>
              <a:buNone/>
              <a:defRPr sz="1200" b="0" i="0" u="none" strike="noStrike" cap="none">
                <a:solidFill>
                  <a:srgbClr val="888888"/>
                </a:solidFill>
                <a:latin typeface="Calibri"/>
                <a:ea typeface="Calibri"/>
                <a:cs typeface="Calibri"/>
                <a:sym typeface="Calibri"/>
              </a:defRPr>
            </a:lvl8pPr>
            <a:lvl9pPr marL="0" marR="0" lvl="8" indent="0" algn="l" rtl="0">
              <a:spcBef>
                <a:spcPts val="0"/>
              </a:spcBef>
              <a:buNone/>
              <a:defRPr sz="1200" b="0" i="0" u="none" strike="noStrike" cap="none">
                <a:solidFill>
                  <a:srgbClr val="888888"/>
                </a:solidFill>
                <a:latin typeface="Calibri"/>
                <a:ea typeface="Calibri"/>
                <a:cs typeface="Calibri"/>
                <a:sym typeface="Calibri"/>
              </a:defRPr>
            </a:lvl9pPr>
          </a:lstStyle>
          <a:p>
            <a:fld id="{00000000-1234-1234-1234-123412341234}" type="slidenum">
              <a:rPr lang="en-US" smtClean="0"/>
              <a:pPr/>
              <a:t>‹N°›</a:t>
            </a:fld>
            <a:endParaRPr lang="en-US"/>
          </a:p>
        </p:txBody>
      </p:sp>
      <p:pic>
        <p:nvPicPr>
          <p:cNvPr id="13" name="Google Shape;23;p39">
            <a:extLst>
              <a:ext uri="{FF2B5EF4-FFF2-40B4-BE49-F238E27FC236}">
                <a16:creationId xmlns:a16="http://schemas.microsoft.com/office/drawing/2014/main" id="{0FEFF821-0AA8-A041-A9CE-9B6BBB9A3065}"/>
              </a:ext>
            </a:extLst>
          </p:cNvPr>
          <p:cNvPicPr preferRelativeResize="0"/>
          <p:nvPr userDrawn="1"/>
        </p:nvPicPr>
        <p:blipFill rotWithShape="1">
          <a:blip r:embed="rId2" cstate="screen">
            <a:alphaModFix/>
            <a:extLst>
              <a:ext uri="{28A0092B-C50C-407E-A947-70E740481C1C}">
                <a14:useLocalDpi xmlns:a14="http://schemas.microsoft.com/office/drawing/2010/main"/>
              </a:ext>
            </a:extLst>
          </a:blip>
          <a:srcRect/>
          <a:stretch/>
        </p:blipFill>
        <p:spPr>
          <a:xfrm>
            <a:off x="5870033" y="6322888"/>
            <a:ext cx="458433" cy="432051"/>
          </a:xfrm>
          <a:prstGeom prst="rect">
            <a:avLst/>
          </a:prstGeom>
          <a:noFill/>
          <a:ln>
            <a:noFill/>
          </a:ln>
        </p:spPr>
      </p:pic>
      <p:sp>
        <p:nvSpPr>
          <p:cNvPr id="15" name="Google Shape;18;p39">
            <a:extLst>
              <a:ext uri="{FF2B5EF4-FFF2-40B4-BE49-F238E27FC236}">
                <a16:creationId xmlns:a16="http://schemas.microsoft.com/office/drawing/2014/main" id="{D7C1DE6E-055E-E24B-83BF-A6A682261926}"/>
              </a:ext>
            </a:extLst>
          </p:cNvPr>
          <p:cNvSpPr txBox="1">
            <a:spLocks noGrp="1"/>
          </p:cNvSpPr>
          <p:nvPr>
            <p:ph type="dt" idx="2"/>
          </p:nvPr>
        </p:nvSpPr>
        <p:spPr>
          <a:xfrm>
            <a:off x="8725349" y="6322888"/>
            <a:ext cx="1634833" cy="365125"/>
          </a:xfrm>
          <a:prstGeom prst="rect">
            <a:avLst/>
          </a:prstGeom>
          <a:noFill/>
          <a:ln>
            <a:noFill/>
          </a:ln>
        </p:spPr>
        <p:txBody>
          <a:bodyPr spcFirstLastPara="1" wrap="square" lIns="91425" tIns="45700" rIns="91425" bIns="45700" anchor="ctr" anchorCtr="0">
            <a:noAutofit/>
          </a:bodyPr>
          <a:lstStyle>
            <a:lvl1pPr marR="0" lvl="0" algn="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fld id="{5570F6FC-E79F-489A-940A-D426189C0669}" type="datetime1">
              <a:rPr lang="fr-FR" smtClean="0"/>
              <a:t>12/01/2026</a:t>
            </a:fld>
            <a:endParaRPr lang="fr-FR"/>
          </a:p>
        </p:txBody>
      </p:sp>
      <p:sp>
        <p:nvSpPr>
          <p:cNvPr id="16" name="Google Shape;19;p39">
            <a:extLst>
              <a:ext uri="{FF2B5EF4-FFF2-40B4-BE49-F238E27FC236}">
                <a16:creationId xmlns:a16="http://schemas.microsoft.com/office/drawing/2014/main" id="{0EA188BB-EBE1-BC4B-AAB2-8DD229787460}"/>
              </a:ext>
            </a:extLst>
          </p:cNvPr>
          <p:cNvSpPr txBox="1">
            <a:spLocks noGrp="1"/>
          </p:cNvSpPr>
          <p:nvPr>
            <p:ph type="ftr" idx="3"/>
          </p:nvPr>
        </p:nvSpPr>
        <p:spPr>
          <a:xfrm>
            <a:off x="10492586" y="6322888"/>
            <a:ext cx="1226974"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r>
              <a:rPr lang="en-US"/>
              <a:t>Confidential</a:t>
            </a:r>
          </a:p>
        </p:txBody>
      </p:sp>
      <p:cxnSp>
        <p:nvCxnSpPr>
          <p:cNvPr id="17" name="Straight Connector 16">
            <a:extLst>
              <a:ext uri="{FF2B5EF4-FFF2-40B4-BE49-F238E27FC236}">
                <a16:creationId xmlns:a16="http://schemas.microsoft.com/office/drawing/2014/main" id="{01E2378F-42E2-F24B-A5F4-FAE3D05DB50A}"/>
              </a:ext>
            </a:extLst>
          </p:cNvPr>
          <p:cNvCxnSpPr/>
          <p:nvPr userDrawn="1"/>
        </p:nvCxnSpPr>
        <p:spPr>
          <a:xfrm>
            <a:off x="10441786" y="6328013"/>
            <a:ext cx="0" cy="360000"/>
          </a:xfrm>
          <a:prstGeom prst="line">
            <a:avLst/>
          </a:prstGeom>
          <a:ln>
            <a:solidFill>
              <a:srgbClr val="B9C1D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159572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5A6D7F-0DA4-3C4E-BDC4-6C43CB05DA5E}"/>
              </a:ext>
            </a:extLst>
          </p:cNvPr>
          <p:cNvSpPr>
            <a:spLocks noGrp="1"/>
          </p:cNvSpPr>
          <p:nvPr>
            <p:ph type="title"/>
          </p:nvPr>
        </p:nvSpPr>
        <p:spPr>
          <a:xfrm>
            <a:off x="444138" y="457200"/>
            <a:ext cx="4327888" cy="1600200"/>
          </a:xfrm>
        </p:spPr>
        <p:txBody>
          <a:bodyPr anchor="b">
            <a:normAutofit/>
          </a:bodyPr>
          <a:lstStyle>
            <a:lvl1pPr>
              <a:defRPr sz="2800"/>
            </a:lvl1pPr>
          </a:lstStyle>
          <a:p>
            <a:r>
              <a:rPr lang="en-US"/>
              <a:t>Click to edit Master title style</a:t>
            </a:r>
          </a:p>
        </p:txBody>
      </p:sp>
      <p:sp>
        <p:nvSpPr>
          <p:cNvPr id="3" name="Content Placeholder 2">
            <a:extLst>
              <a:ext uri="{FF2B5EF4-FFF2-40B4-BE49-F238E27FC236}">
                <a16:creationId xmlns:a16="http://schemas.microsoft.com/office/drawing/2014/main" id="{6EA85C54-2E3C-5E41-8D3B-B759473F1B65}"/>
              </a:ext>
            </a:extLst>
          </p:cNvPr>
          <p:cNvSpPr>
            <a:spLocks noGrp="1"/>
          </p:cNvSpPr>
          <p:nvPr>
            <p:ph idx="1"/>
          </p:nvPr>
        </p:nvSpPr>
        <p:spPr>
          <a:xfrm>
            <a:off x="5183187" y="457201"/>
            <a:ext cx="6564661" cy="5403850"/>
          </a:xfrm>
        </p:spPr>
        <p:txBody>
          <a:bodyPr>
            <a:normAutofit/>
          </a:bodyPr>
          <a:lstStyle>
            <a:lvl1pPr>
              <a:defRPr sz="2400"/>
            </a:lvl1pPr>
            <a:lvl2pPr>
              <a:defRPr sz="2000"/>
            </a:lvl2pPr>
            <a:lvl3pPr>
              <a:defRPr sz="1800"/>
            </a:lvl3pPr>
            <a:lvl4pPr>
              <a:defRPr sz="1800"/>
            </a:lvl4pPr>
            <a:lvl5pPr>
              <a:defRPr sz="18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EE733277-A900-EC4D-B40C-AE0D6FEC96F5}"/>
              </a:ext>
            </a:extLst>
          </p:cNvPr>
          <p:cNvSpPr>
            <a:spLocks noGrp="1"/>
          </p:cNvSpPr>
          <p:nvPr>
            <p:ph type="body" sz="half" idx="2"/>
          </p:nvPr>
        </p:nvSpPr>
        <p:spPr>
          <a:xfrm>
            <a:off x="444138" y="2057400"/>
            <a:ext cx="432788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5" name="Google Shape;20;p39">
            <a:extLst>
              <a:ext uri="{FF2B5EF4-FFF2-40B4-BE49-F238E27FC236}">
                <a16:creationId xmlns:a16="http://schemas.microsoft.com/office/drawing/2014/main" id="{A6AF6B81-5D47-4847-AE4D-C3BC9D8F859C}"/>
              </a:ext>
            </a:extLst>
          </p:cNvPr>
          <p:cNvSpPr txBox="1">
            <a:spLocks noGrp="1"/>
          </p:cNvSpPr>
          <p:nvPr>
            <p:ph type="sldNum" idx="4"/>
          </p:nvPr>
        </p:nvSpPr>
        <p:spPr>
          <a:xfrm>
            <a:off x="431930" y="6378575"/>
            <a:ext cx="2743200" cy="365125"/>
          </a:xfrm>
          <a:prstGeom prst="rect">
            <a:avLst/>
          </a:prstGeom>
          <a:noFill/>
          <a:ln>
            <a:noFill/>
          </a:ln>
        </p:spPr>
        <p:txBody>
          <a:bodyPr spcFirstLastPara="1" wrap="square" lIns="91425" tIns="45700" rIns="91425" bIns="45700" anchor="ctr" anchorCtr="0">
            <a:noAutofit/>
          </a:bodyPr>
          <a:lstStyle>
            <a:lvl1pPr marL="0" marR="0" lvl="0" indent="0" algn="l" rtl="0">
              <a:spcBef>
                <a:spcPts val="0"/>
              </a:spcBef>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L="0" marR="0" lvl="1" indent="0" algn="l" rtl="0">
              <a:spcBef>
                <a:spcPts val="0"/>
              </a:spcBef>
              <a:buNone/>
              <a:defRPr sz="1200" b="0" i="0" u="none" strike="noStrike" cap="none">
                <a:solidFill>
                  <a:srgbClr val="888888"/>
                </a:solidFill>
                <a:latin typeface="Calibri"/>
                <a:ea typeface="Calibri"/>
                <a:cs typeface="Calibri"/>
                <a:sym typeface="Calibri"/>
              </a:defRPr>
            </a:lvl2pPr>
            <a:lvl3pPr marL="0" marR="0" lvl="2" indent="0" algn="l" rtl="0">
              <a:spcBef>
                <a:spcPts val="0"/>
              </a:spcBef>
              <a:buNone/>
              <a:defRPr sz="1200" b="0" i="0" u="none" strike="noStrike" cap="none">
                <a:solidFill>
                  <a:srgbClr val="888888"/>
                </a:solidFill>
                <a:latin typeface="Calibri"/>
                <a:ea typeface="Calibri"/>
                <a:cs typeface="Calibri"/>
                <a:sym typeface="Calibri"/>
              </a:defRPr>
            </a:lvl3pPr>
            <a:lvl4pPr marL="0" marR="0" lvl="3" indent="0" algn="l" rtl="0">
              <a:spcBef>
                <a:spcPts val="0"/>
              </a:spcBef>
              <a:buNone/>
              <a:defRPr sz="1200" b="0" i="0" u="none" strike="noStrike" cap="none">
                <a:solidFill>
                  <a:srgbClr val="888888"/>
                </a:solidFill>
                <a:latin typeface="Calibri"/>
                <a:ea typeface="Calibri"/>
                <a:cs typeface="Calibri"/>
                <a:sym typeface="Calibri"/>
              </a:defRPr>
            </a:lvl4pPr>
            <a:lvl5pPr marL="0" marR="0" lvl="4" indent="0" algn="l" rtl="0">
              <a:spcBef>
                <a:spcPts val="0"/>
              </a:spcBef>
              <a:buNone/>
              <a:defRPr sz="1200" b="0" i="0" u="none" strike="noStrike" cap="none">
                <a:solidFill>
                  <a:srgbClr val="888888"/>
                </a:solidFill>
                <a:latin typeface="Calibri"/>
                <a:ea typeface="Calibri"/>
                <a:cs typeface="Calibri"/>
                <a:sym typeface="Calibri"/>
              </a:defRPr>
            </a:lvl5pPr>
            <a:lvl6pPr marL="0" marR="0" lvl="5" indent="0" algn="l" rtl="0">
              <a:spcBef>
                <a:spcPts val="0"/>
              </a:spcBef>
              <a:buNone/>
              <a:defRPr sz="1200" b="0" i="0" u="none" strike="noStrike" cap="none">
                <a:solidFill>
                  <a:srgbClr val="888888"/>
                </a:solidFill>
                <a:latin typeface="Calibri"/>
                <a:ea typeface="Calibri"/>
                <a:cs typeface="Calibri"/>
                <a:sym typeface="Calibri"/>
              </a:defRPr>
            </a:lvl6pPr>
            <a:lvl7pPr marL="0" marR="0" lvl="6" indent="0" algn="l" rtl="0">
              <a:spcBef>
                <a:spcPts val="0"/>
              </a:spcBef>
              <a:buNone/>
              <a:defRPr sz="1200" b="0" i="0" u="none" strike="noStrike" cap="none">
                <a:solidFill>
                  <a:srgbClr val="888888"/>
                </a:solidFill>
                <a:latin typeface="Calibri"/>
                <a:ea typeface="Calibri"/>
                <a:cs typeface="Calibri"/>
                <a:sym typeface="Calibri"/>
              </a:defRPr>
            </a:lvl7pPr>
            <a:lvl8pPr marL="0" marR="0" lvl="7" indent="0" algn="l" rtl="0">
              <a:spcBef>
                <a:spcPts val="0"/>
              </a:spcBef>
              <a:buNone/>
              <a:defRPr sz="1200" b="0" i="0" u="none" strike="noStrike" cap="none">
                <a:solidFill>
                  <a:srgbClr val="888888"/>
                </a:solidFill>
                <a:latin typeface="Calibri"/>
                <a:ea typeface="Calibri"/>
                <a:cs typeface="Calibri"/>
                <a:sym typeface="Calibri"/>
              </a:defRPr>
            </a:lvl8pPr>
            <a:lvl9pPr marL="0" marR="0" lvl="8" indent="0" algn="l" rtl="0">
              <a:spcBef>
                <a:spcPts val="0"/>
              </a:spcBef>
              <a:buNone/>
              <a:defRPr sz="1200" b="0" i="0" u="none" strike="noStrike" cap="none">
                <a:solidFill>
                  <a:srgbClr val="888888"/>
                </a:solidFill>
                <a:latin typeface="Calibri"/>
                <a:ea typeface="Calibri"/>
                <a:cs typeface="Calibri"/>
                <a:sym typeface="Calibri"/>
              </a:defRPr>
            </a:lvl9pPr>
          </a:lstStyle>
          <a:p>
            <a:fld id="{00000000-1234-1234-1234-123412341234}" type="slidenum">
              <a:rPr lang="en-US" smtClean="0"/>
              <a:pPr/>
              <a:t>‹N°›</a:t>
            </a:fld>
            <a:endParaRPr lang="en-US"/>
          </a:p>
        </p:txBody>
      </p:sp>
      <p:pic>
        <p:nvPicPr>
          <p:cNvPr id="16" name="Google Shape;23;p39">
            <a:extLst>
              <a:ext uri="{FF2B5EF4-FFF2-40B4-BE49-F238E27FC236}">
                <a16:creationId xmlns:a16="http://schemas.microsoft.com/office/drawing/2014/main" id="{B2448CE5-F8A9-E047-8249-5A2EA27A74CE}"/>
              </a:ext>
            </a:extLst>
          </p:cNvPr>
          <p:cNvPicPr preferRelativeResize="0"/>
          <p:nvPr userDrawn="1"/>
        </p:nvPicPr>
        <p:blipFill rotWithShape="1">
          <a:blip r:embed="rId2" cstate="screen">
            <a:alphaModFix/>
            <a:extLst>
              <a:ext uri="{28A0092B-C50C-407E-A947-70E740481C1C}">
                <a14:useLocalDpi xmlns:a14="http://schemas.microsoft.com/office/drawing/2010/main"/>
              </a:ext>
            </a:extLst>
          </a:blip>
          <a:srcRect/>
          <a:stretch/>
        </p:blipFill>
        <p:spPr>
          <a:xfrm>
            <a:off x="5870033" y="6322888"/>
            <a:ext cx="458433" cy="432051"/>
          </a:xfrm>
          <a:prstGeom prst="rect">
            <a:avLst/>
          </a:prstGeom>
          <a:noFill/>
          <a:ln>
            <a:noFill/>
          </a:ln>
        </p:spPr>
      </p:pic>
      <p:sp>
        <p:nvSpPr>
          <p:cNvPr id="18" name="Google Shape;18;p39">
            <a:extLst>
              <a:ext uri="{FF2B5EF4-FFF2-40B4-BE49-F238E27FC236}">
                <a16:creationId xmlns:a16="http://schemas.microsoft.com/office/drawing/2014/main" id="{F89F0C33-0F3D-E547-93A4-B92360EACC41}"/>
              </a:ext>
            </a:extLst>
          </p:cNvPr>
          <p:cNvSpPr txBox="1">
            <a:spLocks noGrp="1"/>
          </p:cNvSpPr>
          <p:nvPr>
            <p:ph type="dt" idx="10"/>
          </p:nvPr>
        </p:nvSpPr>
        <p:spPr>
          <a:xfrm>
            <a:off x="8753637" y="6338030"/>
            <a:ext cx="1634833" cy="365125"/>
          </a:xfrm>
          <a:prstGeom prst="rect">
            <a:avLst/>
          </a:prstGeom>
          <a:noFill/>
          <a:ln>
            <a:noFill/>
          </a:ln>
        </p:spPr>
        <p:txBody>
          <a:bodyPr spcFirstLastPara="1" wrap="square" lIns="91425" tIns="45700" rIns="91425" bIns="45700" anchor="ctr" anchorCtr="0">
            <a:noAutofit/>
          </a:bodyPr>
          <a:lstStyle>
            <a:lvl1pPr marR="0" lvl="0" algn="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fld id="{DB5BD84F-3521-404C-9017-5AB0B5E0F536}" type="datetime1">
              <a:rPr lang="fr-FR" smtClean="0"/>
              <a:t>12/01/2026</a:t>
            </a:fld>
            <a:endParaRPr lang="fr-FR"/>
          </a:p>
        </p:txBody>
      </p:sp>
      <p:sp>
        <p:nvSpPr>
          <p:cNvPr id="19" name="Google Shape;19;p39">
            <a:extLst>
              <a:ext uri="{FF2B5EF4-FFF2-40B4-BE49-F238E27FC236}">
                <a16:creationId xmlns:a16="http://schemas.microsoft.com/office/drawing/2014/main" id="{10A2EF80-9591-0C40-962A-9217FD079395}"/>
              </a:ext>
            </a:extLst>
          </p:cNvPr>
          <p:cNvSpPr txBox="1">
            <a:spLocks noGrp="1"/>
          </p:cNvSpPr>
          <p:nvPr>
            <p:ph type="ftr" idx="3"/>
          </p:nvPr>
        </p:nvSpPr>
        <p:spPr>
          <a:xfrm>
            <a:off x="10520874" y="6338030"/>
            <a:ext cx="1226974"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r>
              <a:rPr lang="en-US"/>
              <a:t>Confidential</a:t>
            </a:r>
          </a:p>
        </p:txBody>
      </p:sp>
      <p:cxnSp>
        <p:nvCxnSpPr>
          <p:cNvPr id="20" name="Straight Connector 19">
            <a:extLst>
              <a:ext uri="{FF2B5EF4-FFF2-40B4-BE49-F238E27FC236}">
                <a16:creationId xmlns:a16="http://schemas.microsoft.com/office/drawing/2014/main" id="{F8C5AE59-C591-AE42-AACE-0723BB4DD85C}"/>
              </a:ext>
            </a:extLst>
          </p:cNvPr>
          <p:cNvCxnSpPr/>
          <p:nvPr userDrawn="1"/>
        </p:nvCxnSpPr>
        <p:spPr>
          <a:xfrm>
            <a:off x="10470074" y="6343155"/>
            <a:ext cx="0" cy="360000"/>
          </a:xfrm>
          <a:prstGeom prst="line">
            <a:avLst/>
          </a:prstGeom>
          <a:ln>
            <a:solidFill>
              <a:srgbClr val="B9C1D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551661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095108-C5F6-4B4B-8768-5232DBA9AC2C}"/>
              </a:ext>
            </a:extLst>
          </p:cNvPr>
          <p:cNvSpPr>
            <a:spLocks noGrp="1"/>
          </p:cNvSpPr>
          <p:nvPr>
            <p:ph type="title"/>
          </p:nvPr>
        </p:nvSpPr>
        <p:spPr>
          <a:xfrm>
            <a:off x="386352" y="457200"/>
            <a:ext cx="4385674" cy="1600200"/>
          </a:xfrm>
        </p:spPr>
        <p:txBody>
          <a:bodyPr anchor="b">
            <a:normAutofit/>
          </a:bodyPr>
          <a:lstStyle>
            <a:lvl1pPr>
              <a:defRPr sz="2800"/>
            </a:lvl1pPr>
          </a:lstStyle>
          <a:p>
            <a:r>
              <a:rPr lang="en-US"/>
              <a:t>Click to edit Master title style</a:t>
            </a:r>
          </a:p>
        </p:txBody>
      </p:sp>
      <p:sp>
        <p:nvSpPr>
          <p:cNvPr id="3" name="Picture Placeholder 2">
            <a:extLst>
              <a:ext uri="{FF2B5EF4-FFF2-40B4-BE49-F238E27FC236}">
                <a16:creationId xmlns:a16="http://schemas.microsoft.com/office/drawing/2014/main" id="{A2B81ADB-D920-8E4A-A2C1-BAD06DBDB86A}"/>
              </a:ext>
            </a:extLst>
          </p:cNvPr>
          <p:cNvSpPr>
            <a:spLocks noGrp="1"/>
          </p:cNvSpPr>
          <p:nvPr>
            <p:ph type="pic" idx="1"/>
          </p:nvPr>
        </p:nvSpPr>
        <p:spPr>
          <a:xfrm>
            <a:off x="5183187" y="457201"/>
            <a:ext cx="6589709" cy="5403850"/>
          </a:xfrm>
        </p:spPr>
        <p:txBody>
          <a:bodyPr>
            <a:normAutofit/>
          </a:bodyPr>
          <a:lstStyle>
            <a:lvl1pPr marL="0" indent="0">
              <a:buNone/>
              <a:defRPr sz="28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F615A34A-1394-754B-A011-8EAE97D81B16}"/>
              </a:ext>
            </a:extLst>
          </p:cNvPr>
          <p:cNvSpPr>
            <a:spLocks noGrp="1"/>
          </p:cNvSpPr>
          <p:nvPr>
            <p:ph type="body" sz="half" idx="2"/>
          </p:nvPr>
        </p:nvSpPr>
        <p:spPr>
          <a:xfrm>
            <a:off x="386352" y="2057400"/>
            <a:ext cx="4385674"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5" name="Google Shape;20;p39">
            <a:extLst>
              <a:ext uri="{FF2B5EF4-FFF2-40B4-BE49-F238E27FC236}">
                <a16:creationId xmlns:a16="http://schemas.microsoft.com/office/drawing/2014/main" id="{BA89BB48-30B2-F44E-8932-D39081239A58}"/>
              </a:ext>
            </a:extLst>
          </p:cNvPr>
          <p:cNvSpPr txBox="1">
            <a:spLocks noGrp="1"/>
          </p:cNvSpPr>
          <p:nvPr>
            <p:ph type="sldNum" idx="4"/>
          </p:nvPr>
        </p:nvSpPr>
        <p:spPr>
          <a:xfrm>
            <a:off x="386351" y="6354640"/>
            <a:ext cx="2743200" cy="365125"/>
          </a:xfrm>
          <a:prstGeom prst="rect">
            <a:avLst/>
          </a:prstGeom>
          <a:noFill/>
          <a:ln>
            <a:noFill/>
          </a:ln>
        </p:spPr>
        <p:txBody>
          <a:bodyPr spcFirstLastPara="1" wrap="square" lIns="91425" tIns="45700" rIns="91425" bIns="45700" anchor="ctr" anchorCtr="0">
            <a:noAutofit/>
          </a:bodyPr>
          <a:lstStyle>
            <a:lvl1pPr marL="0" marR="0" lvl="0" indent="0" algn="l" rtl="0">
              <a:spcBef>
                <a:spcPts val="0"/>
              </a:spcBef>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L="0" marR="0" lvl="1" indent="0" algn="l" rtl="0">
              <a:spcBef>
                <a:spcPts val="0"/>
              </a:spcBef>
              <a:buNone/>
              <a:defRPr sz="1200" b="0" i="0" u="none" strike="noStrike" cap="none">
                <a:solidFill>
                  <a:srgbClr val="888888"/>
                </a:solidFill>
                <a:latin typeface="Calibri"/>
                <a:ea typeface="Calibri"/>
                <a:cs typeface="Calibri"/>
                <a:sym typeface="Calibri"/>
              </a:defRPr>
            </a:lvl2pPr>
            <a:lvl3pPr marL="0" marR="0" lvl="2" indent="0" algn="l" rtl="0">
              <a:spcBef>
                <a:spcPts val="0"/>
              </a:spcBef>
              <a:buNone/>
              <a:defRPr sz="1200" b="0" i="0" u="none" strike="noStrike" cap="none">
                <a:solidFill>
                  <a:srgbClr val="888888"/>
                </a:solidFill>
                <a:latin typeface="Calibri"/>
                <a:ea typeface="Calibri"/>
                <a:cs typeface="Calibri"/>
                <a:sym typeface="Calibri"/>
              </a:defRPr>
            </a:lvl3pPr>
            <a:lvl4pPr marL="0" marR="0" lvl="3" indent="0" algn="l" rtl="0">
              <a:spcBef>
                <a:spcPts val="0"/>
              </a:spcBef>
              <a:buNone/>
              <a:defRPr sz="1200" b="0" i="0" u="none" strike="noStrike" cap="none">
                <a:solidFill>
                  <a:srgbClr val="888888"/>
                </a:solidFill>
                <a:latin typeface="Calibri"/>
                <a:ea typeface="Calibri"/>
                <a:cs typeface="Calibri"/>
                <a:sym typeface="Calibri"/>
              </a:defRPr>
            </a:lvl4pPr>
            <a:lvl5pPr marL="0" marR="0" lvl="4" indent="0" algn="l" rtl="0">
              <a:spcBef>
                <a:spcPts val="0"/>
              </a:spcBef>
              <a:buNone/>
              <a:defRPr sz="1200" b="0" i="0" u="none" strike="noStrike" cap="none">
                <a:solidFill>
                  <a:srgbClr val="888888"/>
                </a:solidFill>
                <a:latin typeface="Calibri"/>
                <a:ea typeface="Calibri"/>
                <a:cs typeface="Calibri"/>
                <a:sym typeface="Calibri"/>
              </a:defRPr>
            </a:lvl5pPr>
            <a:lvl6pPr marL="0" marR="0" lvl="5" indent="0" algn="l" rtl="0">
              <a:spcBef>
                <a:spcPts val="0"/>
              </a:spcBef>
              <a:buNone/>
              <a:defRPr sz="1200" b="0" i="0" u="none" strike="noStrike" cap="none">
                <a:solidFill>
                  <a:srgbClr val="888888"/>
                </a:solidFill>
                <a:latin typeface="Calibri"/>
                <a:ea typeface="Calibri"/>
                <a:cs typeface="Calibri"/>
                <a:sym typeface="Calibri"/>
              </a:defRPr>
            </a:lvl6pPr>
            <a:lvl7pPr marL="0" marR="0" lvl="6" indent="0" algn="l" rtl="0">
              <a:spcBef>
                <a:spcPts val="0"/>
              </a:spcBef>
              <a:buNone/>
              <a:defRPr sz="1200" b="0" i="0" u="none" strike="noStrike" cap="none">
                <a:solidFill>
                  <a:srgbClr val="888888"/>
                </a:solidFill>
                <a:latin typeface="Calibri"/>
                <a:ea typeface="Calibri"/>
                <a:cs typeface="Calibri"/>
                <a:sym typeface="Calibri"/>
              </a:defRPr>
            </a:lvl7pPr>
            <a:lvl8pPr marL="0" marR="0" lvl="7" indent="0" algn="l" rtl="0">
              <a:spcBef>
                <a:spcPts val="0"/>
              </a:spcBef>
              <a:buNone/>
              <a:defRPr sz="1200" b="0" i="0" u="none" strike="noStrike" cap="none">
                <a:solidFill>
                  <a:srgbClr val="888888"/>
                </a:solidFill>
                <a:latin typeface="Calibri"/>
                <a:ea typeface="Calibri"/>
                <a:cs typeface="Calibri"/>
                <a:sym typeface="Calibri"/>
              </a:defRPr>
            </a:lvl8pPr>
            <a:lvl9pPr marL="0" marR="0" lvl="8" indent="0" algn="l" rtl="0">
              <a:spcBef>
                <a:spcPts val="0"/>
              </a:spcBef>
              <a:buNone/>
              <a:defRPr sz="1200" b="0" i="0" u="none" strike="noStrike" cap="none">
                <a:solidFill>
                  <a:srgbClr val="888888"/>
                </a:solidFill>
                <a:latin typeface="Calibri"/>
                <a:ea typeface="Calibri"/>
                <a:cs typeface="Calibri"/>
                <a:sym typeface="Calibri"/>
              </a:defRPr>
            </a:lvl9pPr>
          </a:lstStyle>
          <a:p>
            <a:fld id="{00000000-1234-1234-1234-123412341234}" type="slidenum">
              <a:rPr lang="en-US" smtClean="0"/>
              <a:pPr/>
              <a:t>‹N°›</a:t>
            </a:fld>
            <a:endParaRPr lang="en-US"/>
          </a:p>
        </p:txBody>
      </p:sp>
      <p:pic>
        <p:nvPicPr>
          <p:cNvPr id="16" name="Google Shape;23;p39">
            <a:extLst>
              <a:ext uri="{FF2B5EF4-FFF2-40B4-BE49-F238E27FC236}">
                <a16:creationId xmlns:a16="http://schemas.microsoft.com/office/drawing/2014/main" id="{090704A3-CC04-4A45-A35C-51FEB3187267}"/>
              </a:ext>
            </a:extLst>
          </p:cNvPr>
          <p:cNvPicPr preferRelativeResize="0"/>
          <p:nvPr userDrawn="1"/>
        </p:nvPicPr>
        <p:blipFill rotWithShape="1">
          <a:blip r:embed="rId2" cstate="screen">
            <a:alphaModFix/>
            <a:extLst>
              <a:ext uri="{28A0092B-C50C-407E-A947-70E740481C1C}">
                <a14:useLocalDpi xmlns:a14="http://schemas.microsoft.com/office/drawing/2010/main"/>
              </a:ext>
            </a:extLst>
          </a:blip>
          <a:srcRect/>
          <a:stretch/>
        </p:blipFill>
        <p:spPr>
          <a:xfrm>
            <a:off x="5870033" y="6322888"/>
            <a:ext cx="458433" cy="432051"/>
          </a:xfrm>
          <a:prstGeom prst="rect">
            <a:avLst/>
          </a:prstGeom>
          <a:noFill/>
          <a:ln>
            <a:noFill/>
          </a:ln>
        </p:spPr>
      </p:pic>
      <p:sp>
        <p:nvSpPr>
          <p:cNvPr id="18" name="Google Shape;18;p39">
            <a:extLst>
              <a:ext uri="{FF2B5EF4-FFF2-40B4-BE49-F238E27FC236}">
                <a16:creationId xmlns:a16="http://schemas.microsoft.com/office/drawing/2014/main" id="{C8B32AD1-C8BE-E240-B0C2-32A619EB158A}"/>
              </a:ext>
            </a:extLst>
          </p:cNvPr>
          <p:cNvSpPr txBox="1">
            <a:spLocks noGrp="1"/>
          </p:cNvSpPr>
          <p:nvPr>
            <p:ph type="dt" idx="10"/>
          </p:nvPr>
        </p:nvSpPr>
        <p:spPr>
          <a:xfrm>
            <a:off x="8778689" y="6354640"/>
            <a:ext cx="1634833" cy="365125"/>
          </a:xfrm>
          <a:prstGeom prst="rect">
            <a:avLst/>
          </a:prstGeom>
          <a:noFill/>
          <a:ln>
            <a:noFill/>
          </a:ln>
        </p:spPr>
        <p:txBody>
          <a:bodyPr spcFirstLastPara="1" wrap="square" lIns="91425" tIns="45700" rIns="91425" bIns="45700" anchor="ctr" anchorCtr="0">
            <a:noAutofit/>
          </a:bodyPr>
          <a:lstStyle>
            <a:lvl1pPr marR="0" lvl="0" algn="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fld id="{6E5DAEE9-8CC8-435E-95B7-DB70B53BD4C6}" type="datetime1">
              <a:rPr lang="fr-FR" smtClean="0"/>
              <a:t>12/01/2026</a:t>
            </a:fld>
            <a:endParaRPr lang="fr-FR"/>
          </a:p>
        </p:txBody>
      </p:sp>
      <p:sp>
        <p:nvSpPr>
          <p:cNvPr id="19" name="Google Shape;19;p39">
            <a:extLst>
              <a:ext uri="{FF2B5EF4-FFF2-40B4-BE49-F238E27FC236}">
                <a16:creationId xmlns:a16="http://schemas.microsoft.com/office/drawing/2014/main" id="{4E6A7187-072E-8949-B6F5-9709D06D9B29}"/>
              </a:ext>
            </a:extLst>
          </p:cNvPr>
          <p:cNvSpPr txBox="1">
            <a:spLocks noGrp="1"/>
          </p:cNvSpPr>
          <p:nvPr>
            <p:ph type="ftr" idx="3"/>
          </p:nvPr>
        </p:nvSpPr>
        <p:spPr>
          <a:xfrm>
            <a:off x="10545926" y="6354640"/>
            <a:ext cx="1226974"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r>
              <a:rPr lang="en-US"/>
              <a:t>Confidential</a:t>
            </a:r>
          </a:p>
        </p:txBody>
      </p:sp>
      <p:cxnSp>
        <p:nvCxnSpPr>
          <p:cNvPr id="20" name="Straight Connector 19">
            <a:extLst>
              <a:ext uri="{FF2B5EF4-FFF2-40B4-BE49-F238E27FC236}">
                <a16:creationId xmlns:a16="http://schemas.microsoft.com/office/drawing/2014/main" id="{3A40E89E-C2F4-364F-9C2C-C7B799D7A16D}"/>
              </a:ext>
            </a:extLst>
          </p:cNvPr>
          <p:cNvCxnSpPr/>
          <p:nvPr userDrawn="1"/>
        </p:nvCxnSpPr>
        <p:spPr>
          <a:xfrm>
            <a:off x="10495126" y="6359765"/>
            <a:ext cx="0" cy="360000"/>
          </a:xfrm>
          <a:prstGeom prst="line">
            <a:avLst/>
          </a:prstGeom>
          <a:ln>
            <a:solidFill>
              <a:srgbClr val="B9C1D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186285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Couverture">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80193165-B3F4-3448-9E0C-34CDF99A4413}"/>
              </a:ext>
            </a:extLst>
          </p:cNvPr>
          <p:cNvSpPr/>
          <p:nvPr userDrawn="1"/>
        </p:nvSpPr>
        <p:spPr>
          <a:xfrm>
            <a:off x="4781883" y="-56787"/>
            <a:ext cx="5005423" cy="68579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 name="Picture 9">
            <a:extLst>
              <a:ext uri="{FF2B5EF4-FFF2-40B4-BE49-F238E27FC236}">
                <a16:creationId xmlns:a16="http://schemas.microsoft.com/office/drawing/2014/main" id="{5843A315-8FE4-3D4B-BFEF-286B904BDA61}"/>
              </a:ext>
            </a:extLst>
          </p:cNvPr>
          <p:cNvPicPr>
            <a:picLocks noChangeAspect="1"/>
          </p:cNvPicPr>
          <p:nvPr userDrawn="1"/>
        </p:nvPicPr>
        <p:blipFill rotWithShape="1">
          <a:blip r:embed="rId2" cstate="hqprint">
            <a:extLst>
              <a:ext uri="{28A0092B-C50C-407E-A947-70E740481C1C}">
                <a14:useLocalDpi xmlns:a14="http://schemas.microsoft.com/office/drawing/2010/main"/>
              </a:ext>
            </a:extLst>
          </a:blip>
          <a:srcRect/>
          <a:stretch/>
        </p:blipFill>
        <p:spPr>
          <a:xfrm>
            <a:off x="5005423" y="0"/>
            <a:ext cx="7186577" cy="6858000"/>
          </a:xfrm>
          <a:prstGeom prst="rect">
            <a:avLst/>
          </a:prstGeom>
          <a:effectLst/>
        </p:spPr>
      </p:pic>
      <p:sp>
        <p:nvSpPr>
          <p:cNvPr id="8" name="Title 12">
            <a:extLst>
              <a:ext uri="{FF2B5EF4-FFF2-40B4-BE49-F238E27FC236}">
                <a16:creationId xmlns:a16="http://schemas.microsoft.com/office/drawing/2014/main" id="{47248737-92C1-B44A-BE43-7C798FECF5E8}"/>
              </a:ext>
            </a:extLst>
          </p:cNvPr>
          <p:cNvSpPr txBox="1">
            <a:spLocks/>
          </p:cNvSpPr>
          <p:nvPr userDrawn="1"/>
        </p:nvSpPr>
        <p:spPr>
          <a:xfrm>
            <a:off x="5005423" y="0"/>
            <a:ext cx="7186577" cy="6878305"/>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grpSp>
        <p:nvGrpSpPr>
          <p:cNvPr id="12" name="Groupe 11">
            <a:extLst>
              <a:ext uri="{FF2B5EF4-FFF2-40B4-BE49-F238E27FC236}">
                <a16:creationId xmlns:a16="http://schemas.microsoft.com/office/drawing/2014/main" id="{6EA4AF5C-AA5E-8549-84A9-0E37F127B2AD}"/>
              </a:ext>
            </a:extLst>
          </p:cNvPr>
          <p:cNvGrpSpPr/>
          <p:nvPr userDrawn="1"/>
        </p:nvGrpSpPr>
        <p:grpSpPr>
          <a:xfrm>
            <a:off x="447079" y="4499811"/>
            <a:ext cx="1035293" cy="1896979"/>
            <a:chOff x="556126" y="3429000"/>
            <a:chExt cx="1035293" cy="1896979"/>
          </a:xfrm>
        </p:grpSpPr>
        <p:sp>
          <p:nvSpPr>
            <p:cNvPr id="13" name="Rectangle 12">
              <a:extLst>
                <a:ext uri="{FF2B5EF4-FFF2-40B4-BE49-F238E27FC236}">
                  <a16:creationId xmlns:a16="http://schemas.microsoft.com/office/drawing/2014/main" id="{187C5A64-78E3-2B49-9160-5FE072B117AF}"/>
                </a:ext>
              </a:extLst>
            </p:cNvPr>
            <p:cNvSpPr/>
            <p:nvPr/>
          </p:nvSpPr>
          <p:spPr>
            <a:xfrm>
              <a:off x="556126" y="3429000"/>
              <a:ext cx="294106" cy="1896979"/>
            </a:xfrm>
            <a:prstGeom prst="rect">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Rectangle 13">
              <a:extLst>
                <a:ext uri="{FF2B5EF4-FFF2-40B4-BE49-F238E27FC236}">
                  <a16:creationId xmlns:a16="http://schemas.microsoft.com/office/drawing/2014/main" id="{3A8E344C-20D0-AA4F-8DB3-C12A90BCF62F}"/>
                </a:ext>
              </a:extLst>
            </p:cNvPr>
            <p:cNvSpPr/>
            <p:nvPr/>
          </p:nvSpPr>
          <p:spPr>
            <a:xfrm rot="16200000">
              <a:off x="1071100" y="4805660"/>
              <a:ext cx="299453" cy="741184"/>
            </a:xfrm>
            <a:prstGeom prst="rect">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 name="Groupe 14">
            <a:extLst>
              <a:ext uri="{FF2B5EF4-FFF2-40B4-BE49-F238E27FC236}">
                <a16:creationId xmlns:a16="http://schemas.microsoft.com/office/drawing/2014/main" id="{A2511729-FE33-014B-B3E5-5E316468DDFC}"/>
              </a:ext>
            </a:extLst>
          </p:cNvPr>
          <p:cNvGrpSpPr/>
          <p:nvPr userDrawn="1"/>
        </p:nvGrpSpPr>
        <p:grpSpPr>
          <a:xfrm rot="10800000">
            <a:off x="10709627" y="461210"/>
            <a:ext cx="1035293" cy="1896979"/>
            <a:chOff x="556126" y="3429000"/>
            <a:chExt cx="1035293" cy="1896979"/>
          </a:xfrm>
          <a:solidFill>
            <a:schemeClr val="bg1"/>
          </a:solidFill>
        </p:grpSpPr>
        <p:sp>
          <p:nvSpPr>
            <p:cNvPr id="16" name="Rectangle 15">
              <a:extLst>
                <a:ext uri="{FF2B5EF4-FFF2-40B4-BE49-F238E27FC236}">
                  <a16:creationId xmlns:a16="http://schemas.microsoft.com/office/drawing/2014/main" id="{BB0DD731-032F-BB48-A139-2A192A9C386C}"/>
                </a:ext>
              </a:extLst>
            </p:cNvPr>
            <p:cNvSpPr/>
            <p:nvPr/>
          </p:nvSpPr>
          <p:spPr>
            <a:xfrm>
              <a:off x="556126" y="3429000"/>
              <a:ext cx="294106" cy="189697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Rectangle 16">
              <a:extLst>
                <a:ext uri="{FF2B5EF4-FFF2-40B4-BE49-F238E27FC236}">
                  <a16:creationId xmlns:a16="http://schemas.microsoft.com/office/drawing/2014/main" id="{2D2A9355-7C75-3245-A9A8-D0CD63649897}"/>
                </a:ext>
              </a:extLst>
            </p:cNvPr>
            <p:cNvSpPr/>
            <p:nvPr/>
          </p:nvSpPr>
          <p:spPr>
            <a:xfrm rot="16200000">
              <a:off x="1071100" y="4805660"/>
              <a:ext cx="299453" cy="74118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2" name="Espace réservé du texte 23">
            <a:extLst>
              <a:ext uri="{FF2B5EF4-FFF2-40B4-BE49-F238E27FC236}">
                <a16:creationId xmlns:a16="http://schemas.microsoft.com/office/drawing/2014/main" id="{064D5568-EDCB-1443-9480-BBB72E55B384}"/>
              </a:ext>
            </a:extLst>
          </p:cNvPr>
          <p:cNvSpPr>
            <a:spLocks noGrp="1"/>
          </p:cNvSpPr>
          <p:nvPr>
            <p:ph type="body" sz="quarter" idx="11" hasCustomPrompt="1"/>
          </p:nvPr>
        </p:nvSpPr>
        <p:spPr>
          <a:xfrm>
            <a:off x="587112" y="4377489"/>
            <a:ext cx="4558344" cy="2141621"/>
          </a:xfrm>
          <a:prstGeom prst="rect">
            <a:avLst/>
          </a:prstGeom>
        </p:spPr>
        <p:txBody>
          <a:bodyPr lIns="180000" rIns="180000" anchor="ctr"/>
          <a:lstStyle>
            <a:lvl1pPr marL="0" indent="0" algn="r">
              <a:buNone/>
              <a:defRPr sz="5400" b="1"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Cliquer pour modifier</a:t>
            </a:r>
          </a:p>
        </p:txBody>
      </p:sp>
      <p:sp>
        <p:nvSpPr>
          <p:cNvPr id="23" name="Espace réservé du texte 23">
            <a:extLst>
              <a:ext uri="{FF2B5EF4-FFF2-40B4-BE49-F238E27FC236}">
                <a16:creationId xmlns:a16="http://schemas.microsoft.com/office/drawing/2014/main" id="{FE4467EA-FF45-D349-AE7E-9D12174214AE}"/>
              </a:ext>
            </a:extLst>
          </p:cNvPr>
          <p:cNvSpPr>
            <a:spLocks noGrp="1"/>
          </p:cNvSpPr>
          <p:nvPr>
            <p:ph type="body" sz="quarter" idx="12" hasCustomPrompt="1"/>
          </p:nvPr>
        </p:nvSpPr>
        <p:spPr>
          <a:xfrm>
            <a:off x="2531508" y="2781147"/>
            <a:ext cx="6739497" cy="2141621"/>
          </a:xfrm>
          <a:prstGeom prst="rect">
            <a:avLst/>
          </a:prstGeom>
        </p:spPr>
        <p:txBody>
          <a:bodyPr lIns="180000" rIns="180000" anchor="ctr"/>
          <a:lstStyle>
            <a:lvl1pPr marL="0" indent="0" algn="l">
              <a:buNone/>
              <a:defRPr sz="54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Cliquer pour modifier le texte du titre</a:t>
            </a:r>
          </a:p>
        </p:txBody>
      </p:sp>
      <p:sp>
        <p:nvSpPr>
          <p:cNvPr id="25" name="Espace réservé du texte 23">
            <a:extLst>
              <a:ext uri="{FF2B5EF4-FFF2-40B4-BE49-F238E27FC236}">
                <a16:creationId xmlns:a16="http://schemas.microsoft.com/office/drawing/2014/main" id="{8E37D544-4142-144F-A5A1-C192DDE84169}"/>
              </a:ext>
            </a:extLst>
          </p:cNvPr>
          <p:cNvSpPr>
            <a:spLocks noGrp="1"/>
          </p:cNvSpPr>
          <p:nvPr>
            <p:ph type="body" sz="quarter" idx="13" hasCustomPrompt="1"/>
          </p:nvPr>
        </p:nvSpPr>
        <p:spPr>
          <a:xfrm>
            <a:off x="9060446" y="5894966"/>
            <a:ext cx="2684474" cy="501824"/>
          </a:xfrm>
          <a:prstGeom prst="rect">
            <a:avLst/>
          </a:prstGeom>
        </p:spPr>
        <p:txBody>
          <a:bodyPr lIns="0" tIns="0" rIns="0" bIns="0" anchor="b"/>
          <a:lstStyle>
            <a:lvl1pPr marL="0" indent="0" algn="r">
              <a:buNone/>
              <a:defRPr sz="18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Date</a:t>
            </a:r>
          </a:p>
        </p:txBody>
      </p:sp>
      <p:pic>
        <p:nvPicPr>
          <p:cNvPr id="3" name="Image 2" descr="Une image contenant texte&#10;&#10;Description générée automatiquement">
            <a:extLst>
              <a:ext uri="{FF2B5EF4-FFF2-40B4-BE49-F238E27FC236}">
                <a16:creationId xmlns:a16="http://schemas.microsoft.com/office/drawing/2014/main" id="{71E16D69-86E3-1E4B-FD4D-061037C55908}"/>
              </a:ext>
            </a:extLst>
          </p:cNvPr>
          <p:cNvPicPr>
            <a:picLocks noChangeAspect="1"/>
          </p:cNvPicPr>
          <p:nvPr userDrawn="1"/>
        </p:nvPicPr>
        <p:blipFill>
          <a:blip r:embed="rId3"/>
          <a:stretch>
            <a:fillRect/>
          </a:stretch>
        </p:blipFill>
        <p:spPr>
          <a:xfrm>
            <a:off x="452225" y="461210"/>
            <a:ext cx="4106118" cy="1123372"/>
          </a:xfrm>
          <a:prstGeom prst="rect">
            <a:avLst/>
          </a:prstGeom>
        </p:spPr>
      </p:pic>
    </p:spTree>
    <p:extLst>
      <p:ext uri="{BB962C8B-B14F-4D97-AF65-F5344CB8AC3E}">
        <p14:creationId xmlns:p14="http://schemas.microsoft.com/office/powerpoint/2010/main" val="293275729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Sommaire en 3">
    <p:spTree>
      <p:nvGrpSpPr>
        <p:cNvPr id="1" name=""/>
        <p:cNvGrpSpPr/>
        <p:nvPr/>
      </p:nvGrpSpPr>
      <p:grpSpPr>
        <a:xfrm>
          <a:off x="0" y="0"/>
          <a:ext cx="0" cy="0"/>
          <a:chOff x="0" y="0"/>
          <a:chExt cx="0" cy="0"/>
        </a:xfrm>
      </p:grpSpPr>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1202"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74245"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245481" y="2132702"/>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488849" y="3103549"/>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748725" y="4074396"/>
            <a:ext cx="879944" cy="795890"/>
          </a:xfrm>
          <a:prstGeom prst="parallelogram">
            <a:avLst/>
          </a:prstGeom>
          <a:solidFill>
            <a:srgbClr val="41A4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36523"/>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315006" y="225327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911867" y="226228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532807" y="322074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781925" y="4179203"/>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911867" y="3220744"/>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911867" y="4173559"/>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Tree>
    <p:extLst>
      <p:ext uri="{BB962C8B-B14F-4D97-AF65-F5344CB8AC3E}">
        <p14:creationId xmlns:p14="http://schemas.microsoft.com/office/powerpoint/2010/main" val="368399074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_Sommaire en 4">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DEDE16C2-F04B-5183-9F8C-CF77FAD5BA13}"/>
              </a:ext>
            </a:extLst>
          </p:cNvPr>
          <p:cNvGraphicFramePr>
            <a:graphicFrameLocks noChangeAspect="1"/>
          </p:cNvGraphicFramePr>
          <p:nvPr userDrawn="1">
            <p:custDataLst>
              <p:tags r:id="rId1"/>
            </p:custDataLst>
            <p:extLst>
              <p:ext uri="{D42A27DB-BD31-4B8C-83A1-F6EECF244321}">
                <p14:modId xmlns:p14="http://schemas.microsoft.com/office/powerpoint/2010/main" val="34964437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0" imgH="469" progId="TCLayout.ActiveDocument.1">
                  <p:embed/>
                </p:oleObj>
              </mc:Choice>
              <mc:Fallback>
                <p:oleObj name="think-cell Slide" r:id="rId3" imgW="470" imgH="469" progId="TCLayout.ActiveDocument.1">
                  <p:embed/>
                  <p:pic>
                    <p:nvPicPr>
                      <p:cNvPr id="4" name="Object 3" hidden="1">
                        <a:extLst>
                          <a:ext uri="{FF2B5EF4-FFF2-40B4-BE49-F238E27FC236}">
                            <a16:creationId xmlns:a16="http://schemas.microsoft.com/office/drawing/2014/main" id="{DEDE16C2-F04B-5183-9F8C-CF77FAD5BA1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24198"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56807"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119593" y="1461124"/>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362961" y="2431971"/>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622837" y="3402818"/>
            <a:ext cx="879944" cy="795890"/>
          </a:xfrm>
          <a:prstGeom prst="parallelogram">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867867" y="1590708"/>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867867" y="254916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867867" y="3501981"/>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11" name="Espace réservé du texte 23">
            <a:extLst>
              <a:ext uri="{FF2B5EF4-FFF2-40B4-BE49-F238E27FC236}">
                <a16:creationId xmlns:a16="http://schemas.microsoft.com/office/drawing/2014/main" id="{CEEA810F-4B6E-A222-DC3C-89AA31D68B4F}"/>
              </a:ext>
            </a:extLst>
          </p:cNvPr>
          <p:cNvSpPr>
            <a:spLocks noGrp="1"/>
          </p:cNvSpPr>
          <p:nvPr>
            <p:ph type="body" sz="quarter" idx="21" hasCustomPrompt="1"/>
          </p:nvPr>
        </p:nvSpPr>
        <p:spPr>
          <a:xfrm>
            <a:off x="10867867" y="4471707"/>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3" name="Rectangle : avec coin rogné 2">
            <a:extLst>
              <a:ext uri="{FF2B5EF4-FFF2-40B4-BE49-F238E27FC236}">
                <a16:creationId xmlns:a16="http://schemas.microsoft.com/office/drawing/2014/main" id="{3C35B311-8A5F-959D-911C-9BEE999E88D2}"/>
              </a:ext>
            </a:extLst>
          </p:cNvPr>
          <p:cNvSpPr/>
          <p:nvPr userDrawn="1"/>
        </p:nvSpPr>
        <p:spPr>
          <a:xfrm rot="10800000">
            <a:off x="4740622" y="19559"/>
            <a:ext cx="330925" cy="6818880"/>
          </a:xfrm>
          <a:prstGeom prst="snip1Rect">
            <a:avLst>
              <a:gd name="adj" fmla="val 1943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Parallélogramme 14">
            <a:extLst>
              <a:ext uri="{FF2B5EF4-FFF2-40B4-BE49-F238E27FC236}">
                <a16:creationId xmlns:a16="http://schemas.microsoft.com/office/drawing/2014/main" id="{28918D0A-2654-D1B8-EEA4-5D6B878D5DCB}"/>
              </a:ext>
            </a:extLst>
          </p:cNvPr>
          <p:cNvSpPr/>
          <p:nvPr userDrawn="1"/>
        </p:nvSpPr>
        <p:spPr>
          <a:xfrm flipH="1">
            <a:off x="3891607" y="4419314"/>
            <a:ext cx="879944" cy="795890"/>
          </a:xfrm>
          <a:prstGeom prst="parallelogram">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4</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9560"/>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189118" y="1581692"/>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406919" y="2549166"/>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656037" y="3507625"/>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0" name="Espace réservé du texte 23">
            <a:extLst>
              <a:ext uri="{FF2B5EF4-FFF2-40B4-BE49-F238E27FC236}">
                <a16:creationId xmlns:a16="http://schemas.microsoft.com/office/drawing/2014/main" id="{EA1EE1A5-0D86-465E-AD3C-B858516DEC1A}"/>
              </a:ext>
            </a:extLst>
          </p:cNvPr>
          <p:cNvSpPr>
            <a:spLocks noGrp="1"/>
          </p:cNvSpPr>
          <p:nvPr>
            <p:ph type="body" sz="quarter" idx="20" hasCustomPrompt="1"/>
          </p:nvPr>
        </p:nvSpPr>
        <p:spPr>
          <a:xfrm>
            <a:off x="4903971" y="4477351"/>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5" name="Rectangle : avec coin rogné 4">
            <a:extLst>
              <a:ext uri="{FF2B5EF4-FFF2-40B4-BE49-F238E27FC236}">
                <a16:creationId xmlns:a16="http://schemas.microsoft.com/office/drawing/2014/main" id="{8C4061DD-7074-FBF0-E861-3B9BC2821553}"/>
              </a:ext>
            </a:extLst>
          </p:cNvPr>
          <p:cNvSpPr/>
          <p:nvPr userDrawn="1"/>
        </p:nvSpPr>
        <p:spPr>
          <a:xfrm rot="10800000">
            <a:off x="4944324" y="6218623"/>
            <a:ext cx="4640540" cy="549523"/>
          </a:xfrm>
          <a:prstGeom prst="snip1Rect">
            <a:avLst>
              <a:gd name="adj" fmla="val 16453"/>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4263458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Sommaire en 4">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DEDE16C2-F04B-5183-9F8C-CF77FAD5BA13}"/>
              </a:ext>
            </a:extLst>
          </p:cNvPr>
          <p:cNvGraphicFramePr>
            <a:graphicFrameLocks noChangeAspect="1"/>
          </p:cNvGraphicFramePr>
          <p:nvPr userDrawn="1">
            <p:custDataLst>
              <p:tags r:id="rId1"/>
            </p:custDataLst>
            <p:extLst>
              <p:ext uri="{D42A27DB-BD31-4B8C-83A1-F6EECF244321}">
                <p14:modId xmlns:p14="http://schemas.microsoft.com/office/powerpoint/2010/main" val="34964437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0" imgH="469" progId="TCLayout.ActiveDocument.1">
                  <p:embed/>
                </p:oleObj>
              </mc:Choice>
              <mc:Fallback>
                <p:oleObj name="think-cell Slide" r:id="rId3" imgW="470" imgH="469" progId="TCLayout.ActiveDocument.1">
                  <p:embed/>
                  <p:pic>
                    <p:nvPicPr>
                      <p:cNvPr id="4" name="Object 3" hidden="1">
                        <a:extLst>
                          <a:ext uri="{FF2B5EF4-FFF2-40B4-BE49-F238E27FC236}">
                            <a16:creationId xmlns:a16="http://schemas.microsoft.com/office/drawing/2014/main" id="{DEDE16C2-F04B-5183-9F8C-CF77FAD5BA1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24198"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87905"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9560"/>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2909281" y="1159372"/>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152649" y="2130219"/>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412525" y="3101066"/>
            <a:ext cx="879944" cy="795890"/>
          </a:xfrm>
          <a:prstGeom prst="parallelogram">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3978806" y="127994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657555" y="128895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196607" y="224741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445725" y="3205873"/>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657555" y="2247414"/>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657555" y="3200229"/>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6" name="Parallélogramme 14">
            <a:extLst>
              <a:ext uri="{FF2B5EF4-FFF2-40B4-BE49-F238E27FC236}">
                <a16:creationId xmlns:a16="http://schemas.microsoft.com/office/drawing/2014/main" id="{28918D0A-2654-D1B8-EEA4-5D6B878D5DCB}"/>
              </a:ext>
            </a:extLst>
          </p:cNvPr>
          <p:cNvSpPr/>
          <p:nvPr userDrawn="1"/>
        </p:nvSpPr>
        <p:spPr>
          <a:xfrm flipH="1">
            <a:off x="3681295" y="4117562"/>
            <a:ext cx="879944" cy="795890"/>
          </a:xfrm>
          <a:prstGeom prst="parallelogram">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4</a:t>
            </a:r>
          </a:p>
        </p:txBody>
      </p:sp>
      <p:sp>
        <p:nvSpPr>
          <p:cNvPr id="7" name="Parallélogramme 14">
            <a:extLst>
              <a:ext uri="{FF2B5EF4-FFF2-40B4-BE49-F238E27FC236}">
                <a16:creationId xmlns:a16="http://schemas.microsoft.com/office/drawing/2014/main" id="{4BAA929F-8768-BC8D-540B-E108F3F96DF0}"/>
              </a:ext>
            </a:extLst>
          </p:cNvPr>
          <p:cNvSpPr/>
          <p:nvPr userDrawn="1"/>
        </p:nvSpPr>
        <p:spPr>
          <a:xfrm flipH="1">
            <a:off x="3956327" y="5134058"/>
            <a:ext cx="879944" cy="795890"/>
          </a:xfrm>
          <a:prstGeom prst="parallelogram">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5</a:t>
            </a:r>
          </a:p>
        </p:txBody>
      </p:sp>
      <p:sp>
        <p:nvSpPr>
          <p:cNvPr id="10" name="Espace réservé du texte 23">
            <a:extLst>
              <a:ext uri="{FF2B5EF4-FFF2-40B4-BE49-F238E27FC236}">
                <a16:creationId xmlns:a16="http://schemas.microsoft.com/office/drawing/2014/main" id="{EA1EE1A5-0D86-465E-AD3C-B858516DEC1A}"/>
              </a:ext>
            </a:extLst>
          </p:cNvPr>
          <p:cNvSpPr>
            <a:spLocks noGrp="1"/>
          </p:cNvSpPr>
          <p:nvPr>
            <p:ph type="body" sz="quarter" idx="20" hasCustomPrompt="1"/>
          </p:nvPr>
        </p:nvSpPr>
        <p:spPr>
          <a:xfrm>
            <a:off x="4693659" y="4175599"/>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1" name="Espace réservé du texte 23">
            <a:extLst>
              <a:ext uri="{FF2B5EF4-FFF2-40B4-BE49-F238E27FC236}">
                <a16:creationId xmlns:a16="http://schemas.microsoft.com/office/drawing/2014/main" id="{CEEA810F-4B6E-A222-DC3C-89AA31D68B4F}"/>
              </a:ext>
            </a:extLst>
          </p:cNvPr>
          <p:cNvSpPr>
            <a:spLocks noGrp="1"/>
          </p:cNvSpPr>
          <p:nvPr>
            <p:ph type="body" sz="quarter" idx="21" hasCustomPrompt="1"/>
          </p:nvPr>
        </p:nvSpPr>
        <p:spPr>
          <a:xfrm>
            <a:off x="10657555" y="4169955"/>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12" name="Espace réservé du texte 23">
            <a:extLst>
              <a:ext uri="{FF2B5EF4-FFF2-40B4-BE49-F238E27FC236}">
                <a16:creationId xmlns:a16="http://schemas.microsoft.com/office/drawing/2014/main" id="{B7B67D1E-A508-78C8-54AE-3108C86B1C40}"/>
              </a:ext>
            </a:extLst>
          </p:cNvPr>
          <p:cNvSpPr>
            <a:spLocks noGrp="1"/>
          </p:cNvSpPr>
          <p:nvPr>
            <p:ph type="body" sz="quarter" idx="22" hasCustomPrompt="1"/>
          </p:nvPr>
        </p:nvSpPr>
        <p:spPr>
          <a:xfrm>
            <a:off x="4976637" y="522699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3" name="Espace réservé du texte 23">
            <a:extLst>
              <a:ext uri="{FF2B5EF4-FFF2-40B4-BE49-F238E27FC236}">
                <a16:creationId xmlns:a16="http://schemas.microsoft.com/office/drawing/2014/main" id="{5424D280-A939-FED7-7C71-D98BBAF34542}"/>
              </a:ext>
            </a:extLst>
          </p:cNvPr>
          <p:cNvSpPr>
            <a:spLocks noGrp="1"/>
          </p:cNvSpPr>
          <p:nvPr>
            <p:ph type="body" sz="quarter" idx="23" hasCustomPrompt="1"/>
          </p:nvPr>
        </p:nvSpPr>
        <p:spPr>
          <a:xfrm>
            <a:off x="10657555" y="522134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Tree>
    <p:extLst>
      <p:ext uri="{BB962C8B-B14F-4D97-AF65-F5344CB8AC3E}">
        <p14:creationId xmlns:p14="http://schemas.microsoft.com/office/powerpoint/2010/main" val="322682046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Sommaire en 5">
    <p:spTree>
      <p:nvGrpSpPr>
        <p:cNvPr id="1" name=""/>
        <p:cNvGrpSpPr/>
        <p:nvPr/>
      </p:nvGrpSpPr>
      <p:grpSpPr>
        <a:xfrm>
          <a:off x="0" y="0"/>
          <a:ext cx="0" cy="0"/>
          <a:chOff x="0" y="0"/>
          <a:chExt cx="0" cy="0"/>
        </a:xfrm>
      </p:grpSpPr>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0" y="1657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74245"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236727" y="2080536"/>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541641" y="3534960"/>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36523"/>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306252" y="220110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903113" y="2210120"/>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585599" y="3652155"/>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964659" y="3652155"/>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Tree>
    <p:extLst>
      <p:ext uri="{BB962C8B-B14F-4D97-AF65-F5344CB8AC3E}">
        <p14:creationId xmlns:p14="http://schemas.microsoft.com/office/powerpoint/2010/main" val="112880480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Texte seul">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7" name="Espace réservé du texte 23">
            <a:extLst>
              <a:ext uri="{FF2B5EF4-FFF2-40B4-BE49-F238E27FC236}">
                <a16:creationId xmlns:a16="http://schemas.microsoft.com/office/drawing/2014/main" id="{ACB70F44-1D99-394D-AB89-5318F00D0F5F}"/>
              </a:ext>
            </a:extLst>
          </p:cNvPr>
          <p:cNvSpPr>
            <a:spLocks noGrp="1"/>
          </p:cNvSpPr>
          <p:nvPr>
            <p:ph type="body" sz="quarter" idx="12" hasCustomPrompt="1"/>
          </p:nvPr>
        </p:nvSpPr>
        <p:spPr>
          <a:xfrm>
            <a:off x="685939" y="1241035"/>
            <a:ext cx="10820123"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Tree>
    <p:extLst>
      <p:ext uri="{BB962C8B-B14F-4D97-AF65-F5344CB8AC3E}">
        <p14:creationId xmlns:p14="http://schemas.microsoft.com/office/powerpoint/2010/main" val="69663673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2 colonn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54" name="Espace réservé du texte 23">
            <a:extLst>
              <a:ext uri="{FF2B5EF4-FFF2-40B4-BE49-F238E27FC236}">
                <a16:creationId xmlns:a16="http://schemas.microsoft.com/office/drawing/2014/main" id="{6BEC00FC-5FD6-9747-A4F5-1BA0C868AE09}"/>
              </a:ext>
            </a:extLst>
          </p:cNvPr>
          <p:cNvSpPr>
            <a:spLocks noGrp="1"/>
          </p:cNvSpPr>
          <p:nvPr>
            <p:ph type="body" sz="quarter" idx="12" hasCustomPrompt="1"/>
          </p:nvPr>
        </p:nvSpPr>
        <p:spPr>
          <a:xfrm>
            <a:off x="685939" y="1241035"/>
            <a:ext cx="5096545"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gauche</a:t>
            </a:r>
          </a:p>
        </p:txBody>
      </p:sp>
      <p:sp>
        <p:nvSpPr>
          <p:cNvPr id="55" name="Espace réservé du texte 23">
            <a:extLst>
              <a:ext uri="{FF2B5EF4-FFF2-40B4-BE49-F238E27FC236}">
                <a16:creationId xmlns:a16="http://schemas.microsoft.com/office/drawing/2014/main" id="{C8D64181-356C-BF4B-AD7A-BF7600F64136}"/>
              </a:ext>
            </a:extLst>
          </p:cNvPr>
          <p:cNvSpPr>
            <a:spLocks noGrp="1"/>
          </p:cNvSpPr>
          <p:nvPr>
            <p:ph type="body" sz="quarter" idx="13" hasCustomPrompt="1"/>
          </p:nvPr>
        </p:nvSpPr>
        <p:spPr>
          <a:xfrm>
            <a:off x="6409517" y="1238735"/>
            <a:ext cx="5096545"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droite</a:t>
            </a:r>
          </a:p>
        </p:txBody>
      </p:sp>
    </p:spTree>
    <p:extLst>
      <p:ext uri="{BB962C8B-B14F-4D97-AF65-F5344CB8AC3E}">
        <p14:creationId xmlns:p14="http://schemas.microsoft.com/office/powerpoint/2010/main" val="2848539931"/>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Texte et imag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54" name="Espace réservé du texte 23">
            <a:extLst>
              <a:ext uri="{FF2B5EF4-FFF2-40B4-BE49-F238E27FC236}">
                <a16:creationId xmlns:a16="http://schemas.microsoft.com/office/drawing/2014/main" id="{6BEC00FC-5FD6-9747-A4F5-1BA0C868AE09}"/>
              </a:ext>
            </a:extLst>
          </p:cNvPr>
          <p:cNvSpPr>
            <a:spLocks noGrp="1"/>
          </p:cNvSpPr>
          <p:nvPr>
            <p:ph type="body" sz="quarter" idx="12" hasCustomPrompt="1"/>
          </p:nvPr>
        </p:nvSpPr>
        <p:spPr>
          <a:xfrm>
            <a:off x="685939" y="1241035"/>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8" name="Espace réservé pour une image  2">
            <a:extLst>
              <a:ext uri="{FF2B5EF4-FFF2-40B4-BE49-F238E27FC236}">
                <a16:creationId xmlns:a16="http://schemas.microsoft.com/office/drawing/2014/main" id="{32B17CA0-7B4B-0249-8C01-D6A16678D57E}"/>
              </a:ext>
            </a:extLst>
          </p:cNvPr>
          <p:cNvSpPr>
            <a:spLocks noGrp="1"/>
          </p:cNvSpPr>
          <p:nvPr>
            <p:ph type="pic" sz="quarter" idx="14" hasCustomPrompt="1"/>
          </p:nvPr>
        </p:nvSpPr>
        <p:spPr>
          <a:xfrm>
            <a:off x="6409516" y="1238735"/>
            <a:ext cx="5096545"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une image</a:t>
            </a:r>
          </a:p>
        </p:txBody>
      </p:sp>
      <p:sp>
        <p:nvSpPr>
          <p:cNvPr id="15" name="Espace réservé du texte 23">
            <a:extLst>
              <a:ext uri="{FF2B5EF4-FFF2-40B4-BE49-F238E27FC236}">
                <a16:creationId xmlns:a16="http://schemas.microsoft.com/office/drawing/2014/main" id="{5CA10920-988C-8943-932E-EFAD26030E59}"/>
              </a:ext>
            </a:extLst>
          </p:cNvPr>
          <p:cNvSpPr>
            <a:spLocks noGrp="1"/>
          </p:cNvSpPr>
          <p:nvPr>
            <p:ph type="body" sz="quarter" idx="15" hasCustomPrompt="1"/>
          </p:nvPr>
        </p:nvSpPr>
        <p:spPr>
          <a:xfrm>
            <a:off x="685939" y="2896095"/>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17" name="Espace réservé du texte 23">
            <a:extLst>
              <a:ext uri="{FF2B5EF4-FFF2-40B4-BE49-F238E27FC236}">
                <a16:creationId xmlns:a16="http://schemas.microsoft.com/office/drawing/2014/main" id="{A59E213D-CFC8-474D-9D68-442A8AA0AC5E}"/>
              </a:ext>
            </a:extLst>
          </p:cNvPr>
          <p:cNvSpPr>
            <a:spLocks noGrp="1"/>
          </p:cNvSpPr>
          <p:nvPr>
            <p:ph type="body" sz="quarter" idx="16" hasCustomPrompt="1"/>
          </p:nvPr>
        </p:nvSpPr>
        <p:spPr>
          <a:xfrm>
            <a:off x="685939" y="4558180"/>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cxnSp>
        <p:nvCxnSpPr>
          <p:cNvPr id="13" name="Connecteur droit 12">
            <a:extLst>
              <a:ext uri="{FF2B5EF4-FFF2-40B4-BE49-F238E27FC236}">
                <a16:creationId xmlns:a16="http://schemas.microsoft.com/office/drawing/2014/main" id="{F2FEFD0B-339E-AF4F-9099-7AF059A6383B}"/>
              </a:ext>
            </a:extLst>
          </p:cNvPr>
          <p:cNvCxnSpPr>
            <a:cxnSpLocks/>
          </p:cNvCxnSpPr>
          <p:nvPr userDrawn="1"/>
        </p:nvCxnSpPr>
        <p:spPr>
          <a:xfrm>
            <a:off x="685939" y="2714288"/>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A63393BA-537A-DB4C-B8A2-6AC2973373F8}"/>
              </a:ext>
            </a:extLst>
          </p:cNvPr>
          <p:cNvCxnSpPr>
            <a:cxnSpLocks/>
          </p:cNvCxnSpPr>
          <p:nvPr userDrawn="1"/>
        </p:nvCxnSpPr>
        <p:spPr>
          <a:xfrm>
            <a:off x="685939" y="4371397"/>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0305689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Graphique et text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13" name="Espace réservé du graphique 2">
            <a:extLst>
              <a:ext uri="{FF2B5EF4-FFF2-40B4-BE49-F238E27FC236}">
                <a16:creationId xmlns:a16="http://schemas.microsoft.com/office/drawing/2014/main" id="{5704F82A-C2B5-874E-A712-6595A2250A46}"/>
              </a:ext>
            </a:extLst>
          </p:cNvPr>
          <p:cNvSpPr>
            <a:spLocks noGrp="1"/>
          </p:cNvSpPr>
          <p:nvPr>
            <p:ph type="chart" sz="quarter" idx="17" hasCustomPrompt="1"/>
          </p:nvPr>
        </p:nvSpPr>
        <p:spPr>
          <a:xfrm>
            <a:off x="685939" y="1238735"/>
            <a:ext cx="5096545"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 graphique</a:t>
            </a:r>
          </a:p>
        </p:txBody>
      </p:sp>
      <p:sp>
        <p:nvSpPr>
          <p:cNvPr id="10" name="Espace réservé du texte 23">
            <a:extLst>
              <a:ext uri="{FF2B5EF4-FFF2-40B4-BE49-F238E27FC236}">
                <a16:creationId xmlns:a16="http://schemas.microsoft.com/office/drawing/2014/main" id="{BED7D098-872D-7E43-A7A0-D106FBF9EF2A}"/>
              </a:ext>
            </a:extLst>
          </p:cNvPr>
          <p:cNvSpPr>
            <a:spLocks noGrp="1"/>
          </p:cNvSpPr>
          <p:nvPr>
            <p:ph type="body" sz="quarter" idx="19" hasCustomPrompt="1"/>
          </p:nvPr>
        </p:nvSpPr>
        <p:spPr>
          <a:xfrm>
            <a:off x="6409518" y="1847497"/>
            <a:ext cx="5096542" cy="4004498"/>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14" name="Espace réservé du texte 23">
            <a:extLst>
              <a:ext uri="{FF2B5EF4-FFF2-40B4-BE49-F238E27FC236}">
                <a16:creationId xmlns:a16="http://schemas.microsoft.com/office/drawing/2014/main" id="{CC481238-980B-A040-8970-40E20FB94B38}"/>
              </a:ext>
            </a:extLst>
          </p:cNvPr>
          <p:cNvSpPr>
            <a:spLocks noGrp="1"/>
          </p:cNvSpPr>
          <p:nvPr>
            <p:ph type="body" sz="quarter" idx="12" hasCustomPrompt="1"/>
          </p:nvPr>
        </p:nvSpPr>
        <p:spPr>
          <a:xfrm>
            <a:off x="6409518" y="1241279"/>
            <a:ext cx="5096541" cy="267882"/>
          </a:xfrm>
          <a:prstGeom prst="rect">
            <a:avLst/>
          </a:prstGeom>
        </p:spPr>
        <p:txBody>
          <a:bodyPr lIns="0" tIns="0" rIns="0" bIns="0" anchor="t"/>
          <a:lstStyle>
            <a:lvl1pPr marL="0" indent="0" algn="ctr">
              <a:buNone/>
              <a:defRPr sz="18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a:t>
            </a:r>
          </a:p>
        </p:txBody>
      </p:sp>
      <p:cxnSp>
        <p:nvCxnSpPr>
          <p:cNvPr id="15" name="Connecteur droit 14">
            <a:extLst>
              <a:ext uri="{FF2B5EF4-FFF2-40B4-BE49-F238E27FC236}">
                <a16:creationId xmlns:a16="http://schemas.microsoft.com/office/drawing/2014/main" id="{F3A6E393-D242-BE43-9A85-E8BA60D2DFDD}"/>
              </a:ext>
            </a:extLst>
          </p:cNvPr>
          <p:cNvCxnSpPr>
            <a:cxnSpLocks/>
          </p:cNvCxnSpPr>
          <p:nvPr userDrawn="1"/>
        </p:nvCxnSpPr>
        <p:spPr>
          <a:xfrm>
            <a:off x="6409514" y="1689904"/>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388179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3 colonn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31" name="Espace réservé du texte 23">
            <a:extLst>
              <a:ext uri="{FF2B5EF4-FFF2-40B4-BE49-F238E27FC236}">
                <a16:creationId xmlns:a16="http://schemas.microsoft.com/office/drawing/2014/main" id="{150CB36B-953F-4148-9C63-CB1D5ECBE8E2}"/>
              </a:ext>
            </a:extLst>
          </p:cNvPr>
          <p:cNvSpPr>
            <a:spLocks noGrp="1"/>
          </p:cNvSpPr>
          <p:nvPr>
            <p:ph type="body" sz="quarter" idx="12" hasCustomPrompt="1"/>
          </p:nvPr>
        </p:nvSpPr>
        <p:spPr>
          <a:xfrm>
            <a:off x="685940" y="3414534"/>
            <a:ext cx="3330475" cy="24397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gauche</a:t>
            </a:r>
          </a:p>
        </p:txBody>
      </p:sp>
      <p:sp>
        <p:nvSpPr>
          <p:cNvPr id="32" name="Espace réservé du texte 23">
            <a:extLst>
              <a:ext uri="{FF2B5EF4-FFF2-40B4-BE49-F238E27FC236}">
                <a16:creationId xmlns:a16="http://schemas.microsoft.com/office/drawing/2014/main" id="{49BE225D-4587-F642-95AA-D4CB91345E7E}"/>
              </a:ext>
            </a:extLst>
          </p:cNvPr>
          <p:cNvSpPr>
            <a:spLocks noGrp="1"/>
          </p:cNvSpPr>
          <p:nvPr>
            <p:ph type="body" sz="quarter" idx="13" hasCustomPrompt="1"/>
          </p:nvPr>
        </p:nvSpPr>
        <p:spPr>
          <a:xfrm>
            <a:off x="8175586" y="3412232"/>
            <a:ext cx="3330475" cy="2439762"/>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droite</a:t>
            </a:r>
          </a:p>
        </p:txBody>
      </p:sp>
      <p:sp>
        <p:nvSpPr>
          <p:cNvPr id="33" name="Espace réservé du texte 23">
            <a:extLst>
              <a:ext uri="{FF2B5EF4-FFF2-40B4-BE49-F238E27FC236}">
                <a16:creationId xmlns:a16="http://schemas.microsoft.com/office/drawing/2014/main" id="{9D468986-6480-9346-9445-65F3C63C4DFC}"/>
              </a:ext>
            </a:extLst>
          </p:cNvPr>
          <p:cNvSpPr>
            <a:spLocks noGrp="1"/>
          </p:cNvSpPr>
          <p:nvPr>
            <p:ph type="body" sz="quarter" idx="14" hasCustomPrompt="1"/>
          </p:nvPr>
        </p:nvSpPr>
        <p:spPr>
          <a:xfrm>
            <a:off x="4430763" y="3412233"/>
            <a:ext cx="3330475" cy="2439761"/>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au milieu</a:t>
            </a:r>
          </a:p>
        </p:txBody>
      </p:sp>
      <p:sp>
        <p:nvSpPr>
          <p:cNvPr id="35" name="Espace réservé du texte 23">
            <a:extLst>
              <a:ext uri="{FF2B5EF4-FFF2-40B4-BE49-F238E27FC236}">
                <a16:creationId xmlns:a16="http://schemas.microsoft.com/office/drawing/2014/main" id="{4BE3EBCC-3F2C-974D-B7E0-4FE0FE2B6096}"/>
              </a:ext>
            </a:extLst>
          </p:cNvPr>
          <p:cNvSpPr>
            <a:spLocks noGrp="1"/>
          </p:cNvSpPr>
          <p:nvPr>
            <p:ph type="body" sz="quarter" idx="18" hasCustomPrompt="1"/>
          </p:nvPr>
        </p:nvSpPr>
        <p:spPr>
          <a:xfrm>
            <a:off x="685940" y="2522412"/>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gauche</a:t>
            </a:r>
          </a:p>
        </p:txBody>
      </p:sp>
      <p:sp>
        <p:nvSpPr>
          <p:cNvPr id="37" name="Espace réservé du texte 23">
            <a:extLst>
              <a:ext uri="{FF2B5EF4-FFF2-40B4-BE49-F238E27FC236}">
                <a16:creationId xmlns:a16="http://schemas.microsoft.com/office/drawing/2014/main" id="{4452D0F2-BBA8-C242-BEAE-6F55B6ABE7BB}"/>
              </a:ext>
            </a:extLst>
          </p:cNvPr>
          <p:cNvSpPr>
            <a:spLocks noGrp="1"/>
          </p:cNvSpPr>
          <p:nvPr>
            <p:ph type="body" sz="quarter" idx="22" hasCustomPrompt="1"/>
          </p:nvPr>
        </p:nvSpPr>
        <p:spPr>
          <a:xfrm>
            <a:off x="4430763" y="2520112"/>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du milieu</a:t>
            </a:r>
          </a:p>
        </p:txBody>
      </p:sp>
      <p:sp>
        <p:nvSpPr>
          <p:cNvPr id="39" name="Espace réservé du texte 23">
            <a:extLst>
              <a:ext uri="{FF2B5EF4-FFF2-40B4-BE49-F238E27FC236}">
                <a16:creationId xmlns:a16="http://schemas.microsoft.com/office/drawing/2014/main" id="{1CEDCE72-7B19-5841-83CE-CE44056B04AC}"/>
              </a:ext>
            </a:extLst>
          </p:cNvPr>
          <p:cNvSpPr>
            <a:spLocks noGrp="1"/>
          </p:cNvSpPr>
          <p:nvPr>
            <p:ph type="body" sz="quarter" idx="25" hasCustomPrompt="1"/>
          </p:nvPr>
        </p:nvSpPr>
        <p:spPr>
          <a:xfrm>
            <a:off x="8156711" y="2520111"/>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droite</a:t>
            </a:r>
          </a:p>
        </p:txBody>
      </p:sp>
      <p:sp>
        <p:nvSpPr>
          <p:cNvPr id="40" name="Espace réservé pour une image  4">
            <a:extLst>
              <a:ext uri="{FF2B5EF4-FFF2-40B4-BE49-F238E27FC236}">
                <a16:creationId xmlns:a16="http://schemas.microsoft.com/office/drawing/2014/main" id="{B2D07E5C-865B-8D41-9F3B-3922F4A09B7B}"/>
              </a:ext>
            </a:extLst>
          </p:cNvPr>
          <p:cNvSpPr>
            <a:spLocks noGrp="1"/>
          </p:cNvSpPr>
          <p:nvPr>
            <p:ph type="pic" sz="quarter" idx="17" hasCustomPrompt="1"/>
          </p:nvPr>
        </p:nvSpPr>
        <p:spPr>
          <a:xfrm>
            <a:off x="1840305" y="1254968"/>
            <a:ext cx="1021744" cy="1021565"/>
          </a:xfrm>
          <a:prstGeom prst="ellipse">
            <a:avLst/>
          </a:prstGeom>
          <a:ln w="63500">
            <a:solidFill>
              <a:srgbClr val="539DB1"/>
            </a:solidFill>
          </a:ln>
        </p:spPr>
        <p:txBody>
          <a:bodyPr/>
          <a:lstStyle>
            <a:lvl1pPr marL="0" indent="0">
              <a:buFontTx/>
              <a:buNone/>
              <a:defRPr sz="1200"/>
            </a:lvl1pPr>
          </a:lstStyle>
          <a:p>
            <a:r>
              <a:rPr lang="fr-FR" err="1"/>
              <a:t>Picto</a:t>
            </a:r>
            <a:endParaRPr lang="fr-FR"/>
          </a:p>
        </p:txBody>
      </p:sp>
      <p:sp>
        <p:nvSpPr>
          <p:cNvPr id="41" name="Espace réservé pour une image  4">
            <a:extLst>
              <a:ext uri="{FF2B5EF4-FFF2-40B4-BE49-F238E27FC236}">
                <a16:creationId xmlns:a16="http://schemas.microsoft.com/office/drawing/2014/main" id="{2527B583-B4FE-9542-A875-64D734CB266A}"/>
              </a:ext>
            </a:extLst>
          </p:cNvPr>
          <p:cNvSpPr>
            <a:spLocks noGrp="1"/>
          </p:cNvSpPr>
          <p:nvPr>
            <p:ph type="pic" sz="quarter" idx="26" hasCustomPrompt="1"/>
          </p:nvPr>
        </p:nvSpPr>
        <p:spPr>
          <a:xfrm>
            <a:off x="5585127" y="1254968"/>
            <a:ext cx="1021744" cy="1021565"/>
          </a:xfrm>
          <a:prstGeom prst="ellipse">
            <a:avLst/>
          </a:prstGeom>
          <a:ln w="63500">
            <a:solidFill>
              <a:srgbClr val="539DB1"/>
            </a:solidFill>
          </a:ln>
        </p:spPr>
        <p:txBody>
          <a:bodyPr/>
          <a:lstStyle>
            <a:lvl1pPr marL="0" indent="0">
              <a:buFontTx/>
              <a:buNone/>
              <a:defRPr sz="1200"/>
            </a:lvl1pPr>
          </a:lstStyle>
          <a:p>
            <a:r>
              <a:rPr lang="fr-FR"/>
              <a:t>Picto</a:t>
            </a:r>
          </a:p>
        </p:txBody>
      </p:sp>
      <p:sp>
        <p:nvSpPr>
          <p:cNvPr id="42" name="Espace réservé pour une image  4">
            <a:extLst>
              <a:ext uri="{FF2B5EF4-FFF2-40B4-BE49-F238E27FC236}">
                <a16:creationId xmlns:a16="http://schemas.microsoft.com/office/drawing/2014/main" id="{FBD705E3-DA7E-5442-ABB1-6B0FC65466C9}"/>
              </a:ext>
            </a:extLst>
          </p:cNvPr>
          <p:cNvSpPr>
            <a:spLocks noGrp="1"/>
          </p:cNvSpPr>
          <p:nvPr>
            <p:ph type="pic" sz="quarter" idx="27" hasCustomPrompt="1"/>
          </p:nvPr>
        </p:nvSpPr>
        <p:spPr>
          <a:xfrm>
            <a:off x="9311076" y="1254968"/>
            <a:ext cx="1021744" cy="1021565"/>
          </a:xfrm>
          <a:prstGeom prst="ellipse">
            <a:avLst/>
          </a:prstGeom>
          <a:ln w="63500">
            <a:solidFill>
              <a:srgbClr val="539DB1"/>
            </a:solidFill>
          </a:ln>
        </p:spPr>
        <p:txBody>
          <a:bodyPr/>
          <a:lstStyle>
            <a:lvl1pPr marL="0" indent="0">
              <a:buFontTx/>
              <a:buNone/>
              <a:defRPr sz="1200"/>
            </a:lvl1pPr>
          </a:lstStyle>
          <a:p>
            <a:r>
              <a:rPr lang="fr-FR"/>
              <a:t>Picto</a:t>
            </a:r>
          </a:p>
        </p:txBody>
      </p:sp>
      <p:cxnSp>
        <p:nvCxnSpPr>
          <p:cNvPr id="17" name="Connecteur droit 16">
            <a:extLst>
              <a:ext uri="{FF2B5EF4-FFF2-40B4-BE49-F238E27FC236}">
                <a16:creationId xmlns:a16="http://schemas.microsoft.com/office/drawing/2014/main" id="{7CD41F5D-74DD-704C-8A46-9725BB43295A}"/>
              </a:ext>
            </a:extLst>
          </p:cNvPr>
          <p:cNvCxnSpPr>
            <a:cxnSpLocks/>
          </p:cNvCxnSpPr>
          <p:nvPr userDrawn="1"/>
        </p:nvCxnSpPr>
        <p:spPr>
          <a:xfrm>
            <a:off x="685940"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5B42D3ED-071B-0E46-A282-B8EA4FDDF8FF}"/>
              </a:ext>
            </a:extLst>
          </p:cNvPr>
          <p:cNvCxnSpPr>
            <a:cxnSpLocks/>
          </p:cNvCxnSpPr>
          <p:nvPr userDrawn="1"/>
        </p:nvCxnSpPr>
        <p:spPr>
          <a:xfrm>
            <a:off x="4430763"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id="{64679DC9-8987-5F40-93DA-66DC3C80F643}"/>
              </a:ext>
            </a:extLst>
          </p:cNvPr>
          <p:cNvCxnSpPr>
            <a:cxnSpLocks/>
          </p:cNvCxnSpPr>
          <p:nvPr userDrawn="1"/>
        </p:nvCxnSpPr>
        <p:spPr>
          <a:xfrm>
            <a:off x="8175586"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427769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3 rangé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45" name="Flèche vers la droite 44">
            <a:extLst>
              <a:ext uri="{FF2B5EF4-FFF2-40B4-BE49-F238E27FC236}">
                <a16:creationId xmlns:a16="http://schemas.microsoft.com/office/drawing/2014/main" id="{073CA8F5-692E-EE4A-859C-88F4900D6ABB}"/>
              </a:ext>
            </a:extLst>
          </p:cNvPr>
          <p:cNvSpPr/>
          <p:nvPr userDrawn="1"/>
        </p:nvSpPr>
        <p:spPr>
          <a:xfrm>
            <a:off x="6858201" y="2192317"/>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Espace réservé du texte 23">
            <a:extLst>
              <a:ext uri="{FF2B5EF4-FFF2-40B4-BE49-F238E27FC236}">
                <a16:creationId xmlns:a16="http://schemas.microsoft.com/office/drawing/2014/main" id="{87BBDDC8-1C19-1B48-8CD1-F89617ACE952}"/>
              </a:ext>
            </a:extLst>
          </p:cNvPr>
          <p:cNvSpPr>
            <a:spLocks noGrp="1"/>
          </p:cNvSpPr>
          <p:nvPr>
            <p:ph type="body" sz="quarter" idx="43" hasCustomPrompt="1"/>
          </p:nvPr>
        </p:nvSpPr>
        <p:spPr>
          <a:xfrm>
            <a:off x="685940" y="136067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3" name="Espace réservé du texte 2">
            <a:extLst>
              <a:ext uri="{FF2B5EF4-FFF2-40B4-BE49-F238E27FC236}">
                <a16:creationId xmlns:a16="http://schemas.microsoft.com/office/drawing/2014/main" id="{8B588310-7C04-FA47-876B-A52F0C438078}"/>
              </a:ext>
            </a:extLst>
          </p:cNvPr>
          <p:cNvSpPr>
            <a:spLocks noGrp="1"/>
          </p:cNvSpPr>
          <p:nvPr>
            <p:ph type="body" sz="quarter" idx="44" hasCustomPrompt="1"/>
          </p:nvPr>
        </p:nvSpPr>
        <p:spPr>
          <a:xfrm>
            <a:off x="1183929" y="149880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57" name="Espace réservé du texte 23">
            <a:extLst>
              <a:ext uri="{FF2B5EF4-FFF2-40B4-BE49-F238E27FC236}">
                <a16:creationId xmlns:a16="http://schemas.microsoft.com/office/drawing/2014/main" id="{3DA65E65-4FD3-8043-9BA3-ACEC849F4F5C}"/>
              </a:ext>
            </a:extLst>
          </p:cNvPr>
          <p:cNvSpPr>
            <a:spLocks noGrp="1"/>
          </p:cNvSpPr>
          <p:nvPr>
            <p:ph type="body" sz="quarter" idx="46" hasCustomPrompt="1"/>
          </p:nvPr>
        </p:nvSpPr>
        <p:spPr>
          <a:xfrm>
            <a:off x="685940" y="291173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58" name="Espace réservé du texte 2">
            <a:extLst>
              <a:ext uri="{FF2B5EF4-FFF2-40B4-BE49-F238E27FC236}">
                <a16:creationId xmlns:a16="http://schemas.microsoft.com/office/drawing/2014/main" id="{D83069BD-A53E-A348-84D5-0A24A9664289}"/>
              </a:ext>
            </a:extLst>
          </p:cNvPr>
          <p:cNvSpPr>
            <a:spLocks noGrp="1"/>
          </p:cNvSpPr>
          <p:nvPr>
            <p:ph type="body" sz="quarter" idx="47" hasCustomPrompt="1"/>
          </p:nvPr>
        </p:nvSpPr>
        <p:spPr>
          <a:xfrm>
            <a:off x="1183929" y="304986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59" name="Espace réservé du texte 23">
            <a:extLst>
              <a:ext uri="{FF2B5EF4-FFF2-40B4-BE49-F238E27FC236}">
                <a16:creationId xmlns:a16="http://schemas.microsoft.com/office/drawing/2014/main" id="{EC46E71F-5144-8F44-B9D5-9D84DAA45237}"/>
              </a:ext>
            </a:extLst>
          </p:cNvPr>
          <p:cNvSpPr>
            <a:spLocks noGrp="1"/>
          </p:cNvSpPr>
          <p:nvPr>
            <p:ph type="body" sz="quarter" idx="48" hasCustomPrompt="1"/>
          </p:nvPr>
        </p:nvSpPr>
        <p:spPr>
          <a:xfrm>
            <a:off x="685940" y="446279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60" name="Espace réservé du texte 2">
            <a:extLst>
              <a:ext uri="{FF2B5EF4-FFF2-40B4-BE49-F238E27FC236}">
                <a16:creationId xmlns:a16="http://schemas.microsoft.com/office/drawing/2014/main" id="{24C0B415-2568-0545-9429-F952CB47A605}"/>
              </a:ext>
            </a:extLst>
          </p:cNvPr>
          <p:cNvSpPr>
            <a:spLocks noGrp="1"/>
          </p:cNvSpPr>
          <p:nvPr>
            <p:ph type="body" sz="quarter" idx="49" hasCustomPrompt="1"/>
          </p:nvPr>
        </p:nvSpPr>
        <p:spPr>
          <a:xfrm>
            <a:off x="1183929" y="460092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61" name="Espace réservé du texte 23">
            <a:extLst>
              <a:ext uri="{FF2B5EF4-FFF2-40B4-BE49-F238E27FC236}">
                <a16:creationId xmlns:a16="http://schemas.microsoft.com/office/drawing/2014/main" id="{B4F766C0-256D-D042-830F-614269DF0181}"/>
              </a:ext>
            </a:extLst>
          </p:cNvPr>
          <p:cNvSpPr>
            <a:spLocks noGrp="1"/>
          </p:cNvSpPr>
          <p:nvPr>
            <p:ph type="body" sz="quarter" idx="12" hasCustomPrompt="1"/>
          </p:nvPr>
        </p:nvSpPr>
        <p:spPr>
          <a:xfrm>
            <a:off x="2623929" y="1863525"/>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62" name="Espace réservé du texte 23">
            <a:extLst>
              <a:ext uri="{FF2B5EF4-FFF2-40B4-BE49-F238E27FC236}">
                <a16:creationId xmlns:a16="http://schemas.microsoft.com/office/drawing/2014/main" id="{C757A226-440B-EF4B-9F88-75585B0C26FD}"/>
              </a:ext>
            </a:extLst>
          </p:cNvPr>
          <p:cNvSpPr>
            <a:spLocks noGrp="1"/>
          </p:cNvSpPr>
          <p:nvPr>
            <p:ph type="body" sz="quarter" idx="50" hasCustomPrompt="1"/>
          </p:nvPr>
        </p:nvSpPr>
        <p:spPr>
          <a:xfrm>
            <a:off x="7442522" y="1863525"/>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2" name="Flèche vers la droite 71">
            <a:extLst>
              <a:ext uri="{FF2B5EF4-FFF2-40B4-BE49-F238E27FC236}">
                <a16:creationId xmlns:a16="http://schemas.microsoft.com/office/drawing/2014/main" id="{7FDE90DB-FA27-F04A-84A7-4B3D563C9502}"/>
              </a:ext>
            </a:extLst>
          </p:cNvPr>
          <p:cNvSpPr/>
          <p:nvPr userDrawn="1"/>
        </p:nvSpPr>
        <p:spPr>
          <a:xfrm>
            <a:off x="6858201" y="3590409"/>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Espace réservé du texte 23">
            <a:extLst>
              <a:ext uri="{FF2B5EF4-FFF2-40B4-BE49-F238E27FC236}">
                <a16:creationId xmlns:a16="http://schemas.microsoft.com/office/drawing/2014/main" id="{A6692E30-33D1-504F-B0CB-D86F1EB98EF8}"/>
              </a:ext>
            </a:extLst>
          </p:cNvPr>
          <p:cNvSpPr>
            <a:spLocks noGrp="1"/>
          </p:cNvSpPr>
          <p:nvPr>
            <p:ph type="body" sz="quarter" idx="51" hasCustomPrompt="1"/>
          </p:nvPr>
        </p:nvSpPr>
        <p:spPr>
          <a:xfrm>
            <a:off x="2623929" y="3261617"/>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4" name="Espace réservé du texte 23">
            <a:extLst>
              <a:ext uri="{FF2B5EF4-FFF2-40B4-BE49-F238E27FC236}">
                <a16:creationId xmlns:a16="http://schemas.microsoft.com/office/drawing/2014/main" id="{35EF68A7-BA92-024E-A76C-6290D9F095DC}"/>
              </a:ext>
            </a:extLst>
          </p:cNvPr>
          <p:cNvSpPr>
            <a:spLocks noGrp="1"/>
          </p:cNvSpPr>
          <p:nvPr>
            <p:ph type="body" sz="quarter" idx="52" hasCustomPrompt="1"/>
          </p:nvPr>
        </p:nvSpPr>
        <p:spPr>
          <a:xfrm>
            <a:off x="7442522" y="3261617"/>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6" name="Flèche vers la droite 75">
            <a:extLst>
              <a:ext uri="{FF2B5EF4-FFF2-40B4-BE49-F238E27FC236}">
                <a16:creationId xmlns:a16="http://schemas.microsoft.com/office/drawing/2014/main" id="{084179CB-67CF-2B41-BD9E-81583A7C9857}"/>
              </a:ext>
            </a:extLst>
          </p:cNvPr>
          <p:cNvSpPr/>
          <p:nvPr userDrawn="1"/>
        </p:nvSpPr>
        <p:spPr>
          <a:xfrm>
            <a:off x="6847153" y="4988501"/>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Espace réservé du texte 23">
            <a:extLst>
              <a:ext uri="{FF2B5EF4-FFF2-40B4-BE49-F238E27FC236}">
                <a16:creationId xmlns:a16="http://schemas.microsoft.com/office/drawing/2014/main" id="{ECED7B8D-5808-BA4A-B728-678A97FE757B}"/>
              </a:ext>
            </a:extLst>
          </p:cNvPr>
          <p:cNvSpPr>
            <a:spLocks noGrp="1"/>
          </p:cNvSpPr>
          <p:nvPr>
            <p:ph type="body" sz="quarter" idx="53" hasCustomPrompt="1"/>
          </p:nvPr>
        </p:nvSpPr>
        <p:spPr>
          <a:xfrm>
            <a:off x="2623929" y="4659709"/>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8" name="Espace réservé du texte 23">
            <a:extLst>
              <a:ext uri="{FF2B5EF4-FFF2-40B4-BE49-F238E27FC236}">
                <a16:creationId xmlns:a16="http://schemas.microsoft.com/office/drawing/2014/main" id="{D98057D3-CED6-844F-A727-B5DF3F9EEC54}"/>
              </a:ext>
            </a:extLst>
          </p:cNvPr>
          <p:cNvSpPr>
            <a:spLocks noGrp="1"/>
          </p:cNvSpPr>
          <p:nvPr>
            <p:ph type="body" sz="quarter" idx="54" hasCustomPrompt="1"/>
          </p:nvPr>
        </p:nvSpPr>
        <p:spPr>
          <a:xfrm>
            <a:off x="7442522" y="4667481"/>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29" name="Espace réservé du texte 23">
            <a:extLst>
              <a:ext uri="{FF2B5EF4-FFF2-40B4-BE49-F238E27FC236}">
                <a16:creationId xmlns:a16="http://schemas.microsoft.com/office/drawing/2014/main" id="{E8F9E77E-9B08-2748-BA8C-1877E990BA82}"/>
              </a:ext>
            </a:extLst>
          </p:cNvPr>
          <p:cNvSpPr>
            <a:spLocks noGrp="1"/>
          </p:cNvSpPr>
          <p:nvPr>
            <p:ph type="body" sz="quarter" idx="18" hasCustomPrompt="1"/>
          </p:nvPr>
        </p:nvSpPr>
        <p:spPr>
          <a:xfrm>
            <a:off x="2623930" y="1298086"/>
            <a:ext cx="4063536" cy="342180"/>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gauche</a:t>
            </a:r>
          </a:p>
        </p:txBody>
      </p:sp>
      <p:sp>
        <p:nvSpPr>
          <p:cNvPr id="30" name="Espace réservé du texte 23">
            <a:extLst>
              <a:ext uri="{FF2B5EF4-FFF2-40B4-BE49-F238E27FC236}">
                <a16:creationId xmlns:a16="http://schemas.microsoft.com/office/drawing/2014/main" id="{ABFE6774-E465-CC44-A5B7-8A9023E7895D}"/>
              </a:ext>
            </a:extLst>
          </p:cNvPr>
          <p:cNvSpPr>
            <a:spLocks noGrp="1"/>
          </p:cNvSpPr>
          <p:nvPr>
            <p:ph type="body" sz="quarter" idx="45" hasCustomPrompt="1"/>
          </p:nvPr>
        </p:nvSpPr>
        <p:spPr>
          <a:xfrm>
            <a:off x="7442522" y="1311393"/>
            <a:ext cx="4063536" cy="342180"/>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droite</a:t>
            </a:r>
          </a:p>
        </p:txBody>
      </p:sp>
      <p:cxnSp>
        <p:nvCxnSpPr>
          <p:cNvPr id="31" name="Connecteur droit 30">
            <a:extLst>
              <a:ext uri="{FF2B5EF4-FFF2-40B4-BE49-F238E27FC236}">
                <a16:creationId xmlns:a16="http://schemas.microsoft.com/office/drawing/2014/main" id="{1BA8053A-F605-3E4C-BCAA-A462125DD707}"/>
              </a:ext>
            </a:extLst>
          </p:cNvPr>
          <p:cNvCxnSpPr>
            <a:cxnSpLocks/>
          </p:cNvCxnSpPr>
          <p:nvPr userDrawn="1"/>
        </p:nvCxnSpPr>
        <p:spPr>
          <a:xfrm>
            <a:off x="2621788" y="1759351"/>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5" name="Connecteur droit 34">
            <a:extLst>
              <a:ext uri="{FF2B5EF4-FFF2-40B4-BE49-F238E27FC236}">
                <a16:creationId xmlns:a16="http://schemas.microsoft.com/office/drawing/2014/main" id="{24308253-88C6-CC42-8669-C8E31D959CF5}"/>
              </a:ext>
            </a:extLst>
          </p:cNvPr>
          <p:cNvCxnSpPr>
            <a:cxnSpLocks/>
          </p:cNvCxnSpPr>
          <p:nvPr userDrawn="1"/>
        </p:nvCxnSpPr>
        <p:spPr>
          <a:xfrm>
            <a:off x="2621788" y="3115517"/>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6" name="Connecteur droit 35">
            <a:extLst>
              <a:ext uri="{FF2B5EF4-FFF2-40B4-BE49-F238E27FC236}">
                <a16:creationId xmlns:a16="http://schemas.microsoft.com/office/drawing/2014/main" id="{366C964C-6A11-F54A-91F4-BFA62F9C7059}"/>
              </a:ext>
            </a:extLst>
          </p:cNvPr>
          <p:cNvCxnSpPr>
            <a:cxnSpLocks/>
          </p:cNvCxnSpPr>
          <p:nvPr userDrawn="1"/>
        </p:nvCxnSpPr>
        <p:spPr>
          <a:xfrm>
            <a:off x="2621788" y="4508324"/>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7" name="Connecteur droit 36">
            <a:extLst>
              <a:ext uri="{FF2B5EF4-FFF2-40B4-BE49-F238E27FC236}">
                <a16:creationId xmlns:a16="http://schemas.microsoft.com/office/drawing/2014/main" id="{641D7C50-2D19-A54B-BDE6-BE45329F7F6F}"/>
              </a:ext>
            </a:extLst>
          </p:cNvPr>
          <p:cNvCxnSpPr>
            <a:cxnSpLocks/>
          </p:cNvCxnSpPr>
          <p:nvPr userDrawn="1"/>
        </p:nvCxnSpPr>
        <p:spPr>
          <a:xfrm>
            <a:off x="2621788" y="5898922"/>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098956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Équip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cxnSp>
        <p:nvCxnSpPr>
          <p:cNvPr id="54" name="Connecteur droit 53">
            <a:extLst>
              <a:ext uri="{FF2B5EF4-FFF2-40B4-BE49-F238E27FC236}">
                <a16:creationId xmlns:a16="http://schemas.microsoft.com/office/drawing/2014/main" id="{CBA568A4-37CD-CA45-8DCB-151D439348E1}"/>
              </a:ext>
            </a:extLst>
          </p:cNvPr>
          <p:cNvCxnSpPr>
            <a:cxnSpLocks/>
          </p:cNvCxnSpPr>
          <p:nvPr userDrawn="1"/>
        </p:nvCxnSpPr>
        <p:spPr>
          <a:xfrm>
            <a:off x="190063" y="3650477"/>
            <a:ext cx="11853802"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68" name="Espace réservé du texte 23">
            <a:extLst>
              <a:ext uri="{FF2B5EF4-FFF2-40B4-BE49-F238E27FC236}">
                <a16:creationId xmlns:a16="http://schemas.microsoft.com/office/drawing/2014/main" id="{9285F349-F057-E044-BA63-42802881E285}"/>
              </a:ext>
            </a:extLst>
          </p:cNvPr>
          <p:cNvSpPr>
            <a:spLocks noGrp="1"/>
          </p:cNvSpPr>
          <p:nvPr>
            <p:ph type="body" sz="quarter" idx="42" hasCustomPrompt="1"/>
          </p:nvPr>
        </p:nvSpPr>
        <p:spPr>
          <a:xfrm>
            <a:off x="9009369" y="1226703"/>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69" name="Espace réservé du texte 23">
            <a:extLst>
              <a:ext uri="{FF2B5EF4-FFF2-40B4-BE49-F238E27FC236}">
                <a16:creationId xmlns:a16="http://schemas.microsoft.com/office/drawing/2014/main" id="{6DA645EB-9B7E-B142-81B9-911160CC3BA6}"/>
              </a:ext>
            </a:extLst>
          </p:cNvPr>
          <p:cNvSpPr>
            <a:spLocks noGrp="1"/>
          </p:cNvSpPr>
          <p:nvPr>
            <p:ph type="body" sz="quarter" idx="43" hasCustomPrompt="1"/>
          </p:nvPr>
        </p:nvSpPr>
        <p:spPr>
          <a:xfrm>
            <a:off x="9009369" y="1634384"/>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0" name="Espace réservé du texte 23">
            <a:extLst>
              <a:ext uri="{FF2B5EF4-FFF2-40B4-BE49-F238E27FC236}">
                <a16:creationId xmlns:a16="http://schemas.microsoft.com/office/drawing/2014/main" id="{F8651C12-DE8D-CC4F-8CE2-5A8AE5B06FE0}"/>
              </a:ext>
            </a:extLst>
          </p:cNvPr>
          <p:cNvSpPr>
            <a:spLocks noGrp="1"/>
          </p:cNvSpPr>
          <p:nvPr>
            <p:ph type="body" sz="quarter" idx="44" hasCustomPrompt="1"/>
          </p:nvPr>
        </p:nvSpPr>
        <p:spPr>
          <a:xfrm>
            <a:off x="7779165" y="2410352"/>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1" name="Espace réservé pour une image  4">
            <a:extLst>
              <a:ext uri="{FF2B5EF4-FFF2-40B4-BE49-F238E27FC236}">
                <a16:creationId xmlns:a16="http://schemas.microsoft.com/office/drawing/2014/main" id="{923BD13F-6B3A-274E-BB1D-710DF4428967}"/>
              </a:ext>
            </a:extLst>
          </p:cNvPr>
          <p:cNvSpPr>
            <a:spLocks noGrp="1"/>
          </p:cNvSpPr>
          <p:nvPr>
            <p:ph type="pic" sz="quarter" idx="45" hasCustomPrompt="1"/>
          </p:nvPr>
        </p:nvSpPr>
        <p:spPr>
          <a:xfrm>
            <a:off x="7764559" y="122495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73" name="Espace réservé du texte 23">
            <a:extLst>
              <a:ext uri="{FF2B5EF4-FFF2-40B4-BE49-F238E27FC236}">
                <a16:creationId xmlns:a16="http://schemas.microsoft.com/office/drawing/2014/main" id="{EBB8FAA2-1466-4C4E-8F48-9D30F07F2B5C}"/>
              </a:ext>
            </a:extLst>
          </p:cNvPr>
          <p:cNvSpPr>
            <a:spLocks noGrp="1"/>
          </p:cNvSpPr>
          <p:nvPr>
            <p:ph type="body" sz="quarter" idx="47" hasCustomPrompt="1"/>
          </p:nvPr>
        </p:nvSpPr>
        <p:spPr>
          <a:xfrm>
            <a:off x="1412121" y="3926785"/>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74" name="Espace réservé du texte 23">
            <a:extLst>
              <a:ext uri="{FF2B5EF4-FFF2-40B4-BE49-F238E27FC236}">
                <a16:creationId xmlns:a16="http://schemas.microsoft.com/office/drawing/2014/main" id="{5DAE32A5-7F7F-CF42-8158-4D719435DFC6}"/>
              </a:ext>
            </a:extLst>
          </p:cNvPr>
          <p:cNvSpPr>
            <a:spLocks noGrp="1"/>
          </p:cNvSpPr>
          <p:nvPr>
            <p:ph type="body" sz="quarter" idx="48" hasCustomPrompt="1"/>
          </p:nvPr>
        </p:nvSpPr>
        <p:spPr>
          <a:xfrm>
            <a:off x="1412121" y="4320590"/>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5" name="Espace réservé du texte 23">
            <a:extLst>
              <a:ext uri="{FF2B5EF4-FFF2-40B4-BE49-F238E27FC236}">
                <a16:creationId xmlns:a16="http://schemas.microsoft.com/office/drawing/2014/main" id="{ACB44A5B-D369-5B4E-87EE-418603224C2F}"/>
              </a:ext>
            </a:extLst>
          </p:cNvPr>
          <p:cNvSpPr>
            <a:spLocks noGrp="1"/>
          </p:cNvSpPr>
          <p:nvPr>
            <p:ph type="body" sz="quarter" idx="49" hasCustomPrompt="1"/>
          </p:nvPr>
        </p:nvSpPr>
        <p:spPr>
          <a:xfrm>
            <a:off x="181917" y="5096556"/>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6" name="Espace réservé pour une image  4">
            <a:extLst>
              <a:ext uri="{FF2B5EF4-FFF2-40B4-BE49-F238E27FC236}">
                <a16:creationId xmlns:a16="http://schemas.microsoft.com/office/drawing/2014/main" id="{CD0B8505-EB75-BA48-A46A-885CB89DACB5}"/>
              </a:ext>
            </a:extLst>
          </p:cNvPr>
          <p:cNvSpPr>
            <a:spLocks noGrp="1"/>
          </p:cNvSpPr>
          <p:nvPr>
            <p:ph type="pic" sz="quarter" idx="50" hasCustomPrompt="1"/>
          </p:nvPr>
        </p:nvSpPr>
        <p:spPr>
          <a:xfrm>
            <a:off x="167311" y="3911158"/>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46" name="Espace réservé du texte 23">
            <a:extLst>
              <a:ext uri="{FF2B5EF4-FFF2-40B4-BE49-F238E27FC236}">
                <a16:creationId xmlns:a16="http://schemas.microsoft.com/office/drawing/2014/main" id="{702AFC75-5274-DA4D-A5BF-9B3AFB7488CC}"/>
              </a:ext>
            </a:extLst>
          </p:cNvPr>
          <p:cNvSpPr>
            <a:spLocks noGrp="1"/>
          </p:cNvSpPr>
          <p:nvPr>
            <p:ph type="body" sz="quarter" idx="51" hasCustomPrompt="1"/>
          </p:nvPr>
        </p:nvSpPr>
        <p:spPr>
          <a:xfrm>
            <a:off x="4478409" y="3943165"/>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47" name="Espace réservé du texte 23">
            <a:extLst>
              <a:ext uri="{FF2B5EF4-FFF2-40B4-BE49-F238E27FC236}">
                <a16:creationId xmlns:a16="http://schemas.microsoft.com/office/drawing/2014/main" id="{CFAB0BF0-BA0C-C544-BD92-BB8D69F6CAE1}"/>
              </a:ext>
            </a:extLst>
          </p:cNvPr>
          <p:cNvSpPr>
            <a:spLocks noGrp="1"/>
          </p:cNvSpPr>
          <p:nvPr>
            <p:ph type="body" sz="quarter" idx="52" hasCustomPrompt="1"/>
          </p:nvPr>
        </p:nvSpPr>
        <p:spPr>
          <a:xfrm>
            <a:off x="4478409" y="4336970"/>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48" name="Espace réservé du texte 23">
            <a:extLst>
              <a:ext uri="{FF2B5EF4-FFF2-40B4-BE49-F238E27FC236}">
                <a16:creationId xmlns:a16="http://schemas.microsoft.com/office/drawing/2014/main" id="{03788535-FDE8-6843-AD0A-A2D734E411AD}"/>
              </a:ext>
            </a:extLst>
          </p:cNvPr>
          <p:cNvSpPr>
            <a:spLocks noGrp="1"/>
          </p:cNvSpPr>
          <p:nvPr>
            <p:ph type="body" sz="quarter" idx="53" hasCustomPrompt="1"/>
          </p:nvPr>
        </p:nvSpPr>
        <p:spPr>
          <a:xfrm>
            <a:off x="3248205" y="5112936"/>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49" name="Espace réservé pour une image  4">
            <a:extLst>
              <a:ext uri="{FF2B5EF4-FFF2-40B4-BE49-F238E27FC236}">
                <a16:creationId xmlns:a16="http://schemas.microsoft.com/office/drawing/2014/main" id="{7F4AA648-DA73-1A49-B136-1632C96BA5C5}"/>
              </a:ext>
            </a:extLst>
          </p:cNvPr>
          <p:cNvSpPr>
            <a:spLocks noGrp="1"/>
          </p:cNvSpPr>
          <p:nvPr>
            <p:ph type="pic" sz="quarter" idx="54" hasCustomPrompt="1"/>
          </p:nvPr>
        </p:nvSpPr>
        <p:spPr>
          <a:xfrm>
            <a:off x="3233599" y="3927538"/>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0" name="Espace réservé du texte 23">
            <a:extLst>
              <a:ext uri="{FF2B5EF4-FFF2-40B4-BE49-F238E27FC236}">
                <a16:creationId xmlns:a16="http://schemas.microsoft.com/office/drawing/2014/main" id="{B32F9C20-21F3-E445-B8F1-AC78571F6E03}"/>
              </a:ext>
            </a:extLst>
          </p:cNvPr>
          <p:cNvSpPr>
            <a:spLocks noGrp="1"/>
          </p:cNvSpPr>
          <p:nvPr>
            <p:ph type="body" sz="quarter" idx="55" hasCustomPrompt="1"/>
          </p:nvPr>
        </p:nvSpPr>
        <p:spPr>
          <a:xfrm>
            <a:off x="7552734" y="3908072"/>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51" name="Espace réservé du texte 23">
            <a:extLst>
              <a:ext uri="{FF2B5EF4-FFF2-40B4-BE49-F238E27FC236}">
                <a16:creationId xmlns:a16="http://schemas.microsoft.com/office/drawing/2014/main" id="{2F5BC84D-BBB9-9A42-AB3F-98AB7978D424}"/>
              </a:ext>
            </a:extLst>
          </p:cNvPr>
          <p:cNvSpPr>
            <a:spLocks noGrp="1"/>
          </p:cNvSpPr>
          <p:nvPr>
            <p:ph type="body" sz="quarter" idx="56" hasCustomPrompt="1"/>
          </p:nvPr>
        </p:nvSpPr>
        <p:spPr>
          <a:xfrm>
            <a:off x="7552734" y="4301877"/>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55" name="Espace réservé du texte 23">
            <a:extLst>
              <a:ext uri="{FF2B5EF4-FFF2-40B4-BE49-F238E27FC236}">
                <a16:creationId xmlns:a16="http://schemas.microsoft.com/office/drawing/2014/main" id="{B4F0EAEB-1756-084F-B710-1F9E25AB5CC5}"/>
              </a:ext>
            </a:extLst>
          </p:cNvPr>
          <p:cNvSpPr>
            <a:spLocks noGrp="1"/>
          </p:cNvSpPr>
          <p:nvPr>
            <p:ph type="body" sz="quarter" idx="57" hasCustomPrompt="1"/>
          </p:nvPr>
        </p:nvSpPr>
        <p:spPr>
          <a:xfrm>
            <a:off x="6322530" y="5077843"/>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56" name="Espace réservé pour une image  4">
            <a:extLst>
              <a:ext uri="{FF2B5EF4-FFF2-40B4-BE49-F238E27FC236}">
                <a16:creationId xmlns:a16="http://schemas.microsoft.com/office/drawing/2014/main" id="{E08B2C3C-5F8E-014F-87B8-D46582E3EB0F}"/>
              </a:ext>
            </a:extLst>
          </p:cNvPr>
          <p:cNvSpPr>
            <a:spLocks noGrp="1"/>
          </p:cNvSpPr>
          <p:nvPr>
            <p:ph type="pic" sz="quarter" idx="58" hasCustomPrompt="1"/>
          </p:nvPr>
        </p:nvSpPr>
        <p:spPr>
          <a:xfrm>
            <a:off x="6307924" y="38924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7" name="Espace réservé du texte 23">
            <a:extLst>
              <a:ext uri="{FF2B5EF4-FFF2-40B4-BE49-F238E27FC236}">
                <a16:creationId xmlns:a16="http://schemas.microsoft.com/office/drawing/2014/main" id="{DFC4B421-BEBE-E54E-8A9C-827E6DF281ED}"/>
              </a:ext>
            </a:extLst>
          </p:cNvPr>
          <p:cNvSpPr>
            <a:spLocks noGrp="1"/>
          </p:cNvSpPr>
          <p:nvPr>
            <p:ph type="body" sz="quarter" idx="59" hasCustomPrompt="1"/>
          </p:nvPr>
        </p:nvSpPr>
        <p:spPr>
          <a:xfrm>
            <a:off x="10604642" y="3830584"/>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88" name="Espace réservé du texte 23">
            <a:extLst>
              <a:ext uri="{FF2B5EF4-FFF2-40B4-BE49-F238E27FC236}">
                <a16:creationId xmlns:a16="http://schemas.microsoft.com/office/drawing/2014/main" id="{FEA20074-0875-6344-91A1-E98FAA3A5FE1}"/>
              </a:ext>
            </a:extLst>
          </p:cNvPr>
          <p:cNvSpPr>
            <a:spLocks noGrp="1"/>
          </p:cNvSpPr>
          <p:nvPr>
            <p:ph type="body" sz="quarter" idx="60" hasCustomPrompt="1"/>
          </p:nvPr>
        </p:nvSpPr>
        <p:spPr>
          <a:xfrm>
            <a:off x="10604642" y="4224389"/>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89" name="Espace réservé du texte 23">
            <a:extLst>
              <a:ext uri="{FF2B5EF4-FFF2-40B4-BE49-F238E27FC236}">
                <a16:creationId xmlns:a16="http://schemas.microsoft.com/office/drawing/2014/main" id="{90CD6637-B776-3345-8328-36503E80870F}"/>
              </a:ext>
            </a:extLst>
          </p:cNvPr>
          <p:cNvSpPr>
            <a:spLocks noGrp="1"/>
          </p:cNvSpPr>
          <p:nvPr>
            <p:ph type="body" sz="quarter" idx="61" hasCustomPrompt="1"/>
          </p:nvPr>
        </p:nvSpPr>
        <p:spPr>
          <a:xfrm>
            <a:off x="9374438" y="5000355"/>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0" name="Espace réservé pour une image  4">
            <a:extLst>
              <a:ext uri="{FF2B5EF4-FFF2-40B4-BE49-F238E27FC236}">
                <a16:creationId xmlns:a16="http://schemas.microsoft.com/office/drawing/2014/main" id="{DA54D27D-6737-4147-9056-5C0961E9A3DD}"/>
              </a:ext>
            </a:extLst>
          </p:cNvPr>
          <p:cNvSpPr>
            <a:spLocks noGrp="1"/>
          </p:cNvSpPr>
          <p:nvPr>
            <p:ph type="pic" sz="quarter" idx="62" hasCustomPrompt="1"/>
          </p:nvPr>
        </p:nvSpPr>
        <p:spPr>
          <a:xfrm>
            <a:off x="9359832" y="3814957"/>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cxnSp>
        <p:nvCxnSpPr>
          <p:cNvPr id="91" name="Connecteur droit 90">
            <a:extLst>
              <a:ext uri="{FF2B5EF4-FFF2-40B4-BE49-F238E27FC236}">
                <a16:creationId xmlns:a16="http://schemas.microsoft.com/office/drawing/2014/main" id="{597A3344-E9EF-9F43-8BF6-8E4A4F97A8A7}"/>
              </a:ext>
            </a:extLst>
          </p:cNvPr>
          <p:cNvCxnSpPr>
            <a:cxnSpLocks/>
          </p:cNvCxnSpPr>
          <p:nvPr userDrawn="1"/>
        </p:nvCxnSpPr>
        <p:spPr>
          <a:xfrm flipV="1">
            <a:off x="6140805" y="366161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2" name="Connecteur droit 91">
            <a:extLst>
              <a:ext uri="{FF2B5EF4-FFF2-40B4-BE49-F238E27FC236}">
                <a16:creationId xmlns:a16="http://schemas.microsoft.com/office/drawing/2014/main" id="{326AE1F6-3523-D54D-9A4B-F1279A73519F}"/>
              </a:ext>
            </a:extLst>
          </p:cNvPr>
          <p:cNvCxnSpPr>
            <a:cxnSpLocks/>
          </p:cNvCxnSpPr>
          <p:nvPr userDrawn="1"/>
        </p:nvCxnSpPr>
        <p:spPr>
          <a:xfrm flipV="1">
            <a:off x="3086709" y="365047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3" name="Connecteur droit 92">
            <a:extLst>
              <a:ext uri="{FF2B5EF4-FFF2-40B4-BE49-F238E27FC236}">
                <a16:creationId xmlns:a16="http://schemas.microsoft.com/office/drawing/2014/main" id="{1F5924AF-27C0-6643-A8C2-9B3A8430792B}"/>
              </a:ext>
            </a:extLst>
          </p:cNvPr>
          <p:cNvCxnSpPr>
            <a:cxnSpLocks/>
          </p:cNvCxnSpPr>
          <p:nvPr userDrawn="1"/>
        </p:nvCxnSpPr>
        <p:spPr>
          <a:xfrm flipV="1">
            <a:off x="9182709" y="365047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4" name="Connecteur droit 93">
            <a:extLst>
              <a:ext uri="{FF2B5EF4-FFF2-40B4-BE49-F238E27FC236}">
                <a16:creationId xmlns:a16="http://schemas.microsoft.com/office/drawing/2014/main" id="{0921032E-D40D-C740-8C6A-FAF1B4676D85}"/>
              </a:ext>
            </a:extLst>
          </p:cNvPr>
          <p:cNvCxnSpPr>
            <a:cxnSpLocks/>
          </p:cNvCxnSpPr>
          <p:nvPr userDrawn="1"/>
        </p:nvCxnSpPr>
        <p:spPr>
          <a:xfrm flipV="1">
            <a:off x="4517118" y="1047204"/>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5" name="Connecteur droit 94">
            <a:extLst>
              <a:ext uri="{FF2B5EF4-FFF2-40B4-BE49-F238E27FC236}">
                <a16:creationId xmlns:a16="http://schemas.microsoft.com/office/drawing/2014/main" id="{8BBA6C04-D7A1-2D42-8AB6-AF487DD911EF}"/>
              </a:ext>
            </a:extLst>
          </p:cNvPr>
          <p:cNvCxnSpPr>
            <a:cxnSpLocks/>
          </p:cNvCxnSpPr>
          <p:nvPr userDrawn="1"/>
        </p:nvCxnSpPr>
        <p:spPr>
          <a:xfrm flipV="1">
            <a:off x="7577100" y="1047204"/>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96" name="Espace réservé du texte 23">
            <a:extLst>
              <a:ext uri="{FF2B5EF4-FFF2-40B4-BE49-F238E27FC236}">
                <a16:creationId xmlns:a16="http://schemas.microsoft.com/office/drawing/2014/main" id="{EFADFAC6-FFD9-3E46-9B84-064E3109D8EE}"/>
              </a:ext>
            </a:extLst>
          </p:cNvPr>
          <p:cNvSpPr>
            <a:spLocks noGrp="1"/>
          </p:cNvSpPr>
          <p:nvPr>
            <p:ph type="body" sz="quarter" idx="63" hasCustomPrompt="1"/>
          </p:nvPr>
        </p:nvSpPr>
        <p:spPr>
          <a:xfrm>
            <a:off x="5934040" y="1194995"/>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97" name="Espace réservé du texte 23">
            <a:extLst>
              <a:ext uri="{FF2B5EF4-FFF2-40B4-BE49-F238E27FC236}">
                <a16:creationId xmlns:a16="http://schemas.microsoft.com/office/drawing/2014/main" id="{A23DDE5E-765E-8646-AF52-103E6D7727CD}"/>
              </a:ext>
            </a:extLst>
          </p:cNvPr>
          <p:cNvSpPr>
            <a:spLocks noGrp="1"/>
          </p:cNvSpPr>
          <p:nvPr>
            <p:ph type="body" sz="quarter" idx="64" hasCustomPrompt="1"/>
          </p:nvPr>
        </p:nvSpPr>
        <p:spPr>
          <a:xfrm>
            <a:off x="5934040" y="1602676"/>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8" name="Espace réservé du texte 23">
            <a:extLst>
              <a:ext uri="{FF2B5EF4-FFF2-40B4-BE49-F238E27FC236}">
                <a16:creationId xmlns:a16="http://schemas.microsoft.com/office/drawing/2014/main" id="{55DFCCA3-2FA7-EF43-9261-E5472DDA4A09}"/>
              </a:ext>
            </a:extLst>
          </p:cNvPr>
          <p:cNvSpPr>
            <a:spLocks noGrp="1"/>
          </p:cNvSpPr>
          <p:nvPr>
            <p:ph type="body" sz="quarter" idx="65" hasCustomPrompt="1"/>
          </p:nvPr>
        </p:nvSpPr>
        <p:spPr>
          <a:xfrm>
            <a:off x="4703836" y="2378644"/>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9" name="Espace réservé pour une image  4">
            <a:extLst>
              <a:ext uri="{FF2B5EF4-FFF2-40B4-BE49-F238E27FC236}">
                <a16:creationId xmlns:a16="http://schemas.microsoft.com/office/drawing/2014/main" id="{39015A28-F0E8-184D-A77B-FE17868DA6E9}"/>
              </a:ext>
            </a:extLst>
          </p:cNvPr>
          <p:cNvSpPr>
            <a:spLocks noGrp="1"/>
          </p:cNvSpPr>
          <p:nvPr>
            <p:ph type="pic" sz="quarter" idx="66" hasCustomPrompt="1"/>
          </p:nvPr>
        </p:nvSpPr>
        <p:spPr>
          <a:xfrm>
            <a:off x="4689230" y="11932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100" name="Espace réservé du texte 23">
            <a:extLst>
              <a:ext uri="{FF2B5EF4-FFF2-40B4-BE49-F238E27FC236}">
                <a16:creationId xmlns:a16="http://schemas.microsoft.com/office/drawing/2014/main" id="{B5E81CF3-C567-5B45-8A47-62555B0F9354}"/>
              </a:ext>
            </a:extLst>
          </p:cNvPr>
          <p:cNvSpPr>
            <a:spLocks noGrp="1"/>
          </p:cNvSpPr>
          <p:nvPr>
            <p:ph type="body" sz="quarter" idx="67" hasCustomPrompt="1"/>
          </p:nvPr>
        </p:nvSpPr>
        <p:spPr>
          <a:xfrm>
            <a:off x="2874058" y="1197903"/>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101" name="Espace réservé du texte 23">
            <a:extLst>
              <a:ext uri="{FF2B5EF4-FFF2-40B4-BE49-F238E27FC236}">
                <a16:creationId xmlns:a16="http://schemas.microsoft.com/office/drawing/2014/main" id="{F5104BF3-562F-2742-A598-DD29624E9C42}"/>
              </a:ext>
            </a:extLst>
          </p:cNvPr>
          <p:cNvSpPr>
            <a:spLocks noGrp="1"/>
          </p:cNvSpPr>
          <p:nvPr>
            <p:ph type="body" sz="quarter" idx="68" hasCustomPrompt="1"/>
          </p:nvPr>
        </p:nvSpPr>
        <p:spPr>
          <a:xfrm>
            <a:off x="2874058" y="1605584"/>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02" name="Espace réservé du texte 23">
            <a:extLst>
              <a:ext uri="{FF2B5EF4-FFF2-40B4-BE49-F238E27FC236}">
                <a16:creationId xmlns:a16="http://schemas.microsoft.com/office/drawing/2014/main" id="{E7DAF3A5-3763-8C4B-8677-0F138AAC36D7}"/>
              </a:ext>
            </a:extLst>
          </p:cNvPr>
          <p:cNvSpPr>
            <a:spLocks noGrp="1"/>
          </p:cNvSpPr>
          <p:nvPr>
            <p:ph type="body" sz="quarter" idx="69" hasCustomPrompt="1"/>
          </p:nvPr>
        </p:nvSpPr>
        <p:spPr>
          <a:xfrm>
            <a:off x="1643854" y="2381552"/>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03" name="Espace réservé pour une image  4">
            <a:extLst>
              <a:ext uri="{FF2B5EF4-FFF2-40B4-BE49-F238E27FC236}">
                <a16:creationId xmlns:a16="http://schemas.microsoft.com/office/drawing/2014/main" id="{4BABB430-907D-C04B-A46C-E0CEB9E10509}"/>
              </a:ext>
            </a:extLst>
          </p:cNvPr>
          <p:cNvSpPr>
            <a:spLocks noGrp="1"/>
          </p:cNvSpPr>
          <p:nvPr>
            <p:ph type="pic" sz="quarter" idx="70" hasCustomPrompt="1"/>
          </p:nvPr>
        </p:nvSpPr>
        <p:spPr>
          <a:xfrm>
            <a:off x="1629248" y="119615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Tree>
    <p:extLst>
      <p:ext uri="{BB962C8B-B14F-4D97-AF65-F5344CB8AC3E}">
        <p14:creationId xmlns:p14="http://schemas.microsoft.com/office/powerpoint/2010/main" val="2351948707"/>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Schéma">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38" name="Espace réservé du texte 23">
            <a:extLst>
              <a:ext uri="{FF2B5EF4-FFF2-40B4-BE49-F238E27FC236}">
                <a16:creationId xmlns:a16="http://schemas.microsoft.com/office/drawing/2014/main" id="{1B69723A-750D-AF46-BD7B-DA5FC3C52AAC}"/>
              </a:ext>
            </a:extLst>
          </p:cNvPr>
          <p:cNvSpPr>
            <a:spLocks noGrp="1"/>
          </p:cNvSpPr>
          <p:nvPr>
            <p:ph type="body" sz="quarter" idx="36" hasCustomPrompt="1"/>
          </p:nvPr>
        </p:nvSpPr>
        <p:spPr>
          <a:xfrm>
            <a:off x="685939" y="1241035"/>
            <a:ext cx="2220601" cy="506379"/>
          </a:xfrm>
          <a:prstGeom prst="rect">
            <a:avLst/>
          </a:prstGeom>
          <a:solidFill>
            <a:srgbClr val="1B445F"/>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39" name="Espace réservé du texte 23">
            <a:extLst>
              <a:ext uri="{FF2B5EF4-FFF2-40B4-BE49-F238E27FC236}">
                <a16:creationId xmlns:a16="http://schemas.microsoft.com/office/drawing/2014/main" id="{CE7A6769-F238-FF4E-8F4E-FD06AA230284}"/>
              </a:ext>
            </a:extLst>
          </p:cNvPr>
          <p:cNvSpPr>
            <a:spLocks noGrp="1"/>
          </p:cNvSpPr>
          <p:nvPr>
            <p:ph type="body" sz="quarter" idx="37" hasCustomPrompt="1"/>
          </p:nvPr>
        </p:nvSpPr>
        <p:spPr>
          <a:xfrm>
            <a:off x="685941" y="1905196"/>
            <a:ext cx="2220601" cy="506379"/>
          </a:xfrm>
          <a:prstGeom prst="rect">
            <a:avLst/>
          </a:prstGeom>
          <a:solidFill>
            <a:srgbClr val="539DB1"/>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40" name="Espace réservé du texte 23">
            <a:extLst>
              <a:ext uri="{FF2B5EF4-FFF2-40B4-BE49-F238E27FC236}">
                <a16:creationId xmlns:a16="http://schemas.microsoft.com/office/drawing/2014/main" id="{8DAE4A22-9E53-9E44-B9C8-BEF40E18E53C}"/>
              </a:ext>
            </a:extLst>
          </p:cNvPr>
          <p:cNvSpPr>
            <a:spLocks noGrp="1"/>
          </p:cNvSpPr>
          <p:nvPr>
            <p:ph type="body" sz="quarter" idx="38" hasCustomPrompt="1"/>
          </p:nvPr>
        </p:nvSpPr>
        <p:spPr>
          <a:xfrm>
            <a:off x="685939" y="2569357"/>
            <a:ext cx="2220601" cy="506379"/>
          </a:xfrm>
          <a:prstGeom prst="rect">
            <a:avLst/>
          </a:prstGeom>
          <a:solidFill>
            <a:srgbClr val="90C9D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41" name="Espace réservé du texte 23">
            <a:extLst>
              <a:ext uri="{FF2B5EF4-FFF2-40B4-BE49-F238E27FC236}">
                <a16:creationId xmlns:a16="http://schemas.microsoft.com/office/drawing/2014/main" id="{F69CC65E-0416-8748-8D00-F93A2366C606}"/>
              </a:ext>
            </a:extLst>
          </p:cNvPr>
          <p:cNvSpPr>
            <a:spLocks noGrp="1"/>
          </p:cNvSpPr>
          <p:nvPr>
            <p:ph type="body" sz="quarter" idx="39" hasCustomPrompt="1"/>
          </p:nvPr>
        </p:nvSpPr>
        <p:spPr>
          <a:xfrm>
            <a:off x="685938" y="3233518"/>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51" name="Espace réservé du texte 23">
            <a:extLst>
              <a:ext uri="{FF2B5EF4-FFF2-40B4-BE49-F238E27FC236}">
                <a16:creationId xmlns:a16="http://schemas.microsoft.com/office/drawing/2014/main" id="{6A1E629E-1AE0-5147-9CD7-06329F571879}"/>
              </a:ext>
            </a:extLst>
          </p:cNvPr>
          <p:cNvSpPr>
            <a:spLocks noGrp="1"/>
          </p:cNvSpPr>
          <p:nvPr>
            <p:ph type="body" sz="quarter" idx="12" hasCustomPrompt="1"/>
          </p:nvPr>
        </p:nvSpPr>
        <p:spPr>
          <a:xfrm>
            <a:off x="685939" y="5347915"/>
            <a:ext cx="10820123" cy="50638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 de bas de page</a:t>
            </a:r>
          </a:p>
        </p:txBody>
      </p:sp>
      <p:sp>
        <p:nvSpPr>
          <p:cNvPr id="56" name="Espace réservé du texte 23">
            <a:extLst>
              <a:ext uri="{FF2B5EF4-FFF2-40B4-BE49-F238E27FC236}">
                <a16:creationId xmlns:a16="http://schemas.microsoft.com/office/drawing/2014/main" id="{680F8411-7B5B-D54F-8143-D243AC37E830}"/>
              </a:ext>
            </a:extLst>
          </p:cNvPr>
          <p:cNvSpPr>
            <a:spLocks noGrp="1"/>
          </p:cNvSpPr>
          <p:nvPr>
            <p:ph type="body" sz="quarter" idx="40" hasCustomPrompt="1"/>
          </p:nvPr>
        </p:nvSpPr>
        <p:spPr>
          <a:xfrm>
            <a:off x="685938" y="3897679"/>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88" name="Espace réservé du texte 23">
            <a:extLst>
              <a:ext uri="{FF2B5EF4-FFF2-40B4-BE49-F238E27FC236}">
                <a16:creationId xmlns:a16="http://schemas.microsoft.com/office/drawing/2014/main" id="{D4591BC7-2817-1F45-88D2-A34A3B65720A}"/>
              </a:ext>
            </a:extLst>
          </p:cNvPr>
          <p:cNvSpPr>
            <a:spLocks noGrp="1"/>
          </p:cNvSpPr>
          <p:nvPr>
            <p:ph type="body" sz="quarter" idx="41" hasCustomPrompt="1"/>
          </p:nvPr>
        </p:nvSpPr>
        <p:spPr>
          <a:xfrm>
            <a:off x="685938" y="4561840"/>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89" name="Espace réservé du texte 23">
            <a:extLst>
              <a:ext uri="{FF2B5EF4-FFF2-40B4-BE49-F238E27FC236}">
                <a16:creationId xmlns:a16="http://schemas.microsoft.com/office/drawing/2014/main" id="{5D7E2B6C-2C17-3645-B1C4-D3C5AC78A821}"/>
              </a:ext>
            </a:extLst>
          </p:cNvPr>
          <p:cNvSpPr>
            <a:spLocks noGrp="1"/>
          </p:cNvSpPr>
          <p:nvPr>
            <p:ph type="body" sz="quarter" idx="42" hasCustomPrompt="1"/>
          </p:nvPr>
        </p:nvSpPr>
        <p:spPr>
          <a:xfrm>
            <a:off x="3072253" y="1241035"/>
            <a:ext cx="2220601" cy="506379"/>
          </a:xfrm>
          <a:prstGeom prst="rect">
            <a:avLst/>
          </a:prstGeom>
          <a:solidFill>
            <a:srgbClr val="1B445F"/>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0" name="Espace réservé du texte 23">
            <a:extLst>
              <a:ext uri="{FF2B5EF4-FFF2-40B4-BE49-F238E27FC236}">
                <a16:creationId xmlns:a16="http://schemas.microsoft.com/office/drawing/2014/main" id="{BD3BAEEB-2D03-2944-80B0-7B19DE4CAB1D}"/>
              </a:ext>
            </a:extLst>
          </p:cNvPr>
          <p:cNvSpPr>
            <a:spLocks noGrp="1"/>
          </p:cNvSpPr>
          <p:nvPr>
            <p:ph type="body" sz="quarter" idx="43" hasCustomPrompt="1"/>
          </p:nvPr>
        </p:nvSpPr>
        <p:spPr>
          <a:xfrm>
            <a:off x="3072255" y="1905196"/>
            <a:ext cx="2220601" cy="506379"/>
          </a:xfrm>
          <a:prstGeom prst="rect">
            <a:avLst/>
          </a:prstGeom>
          <a:solidFill>
            <a:srgbClr val="539DB1"/>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1" name="Espace réservé du texte 23">
            <a:extLst>
              <a:ext uri="{FF2B5EF4-FFF2-40B4-BE49-F238E27FC236}">
                <a16:creationId xmlns:a16="http://schemas.microsoft.com/office/drawing/2014/main" id="{20789B73-2345-B344-89EC-9AFEC2CD70BF}"/>
              </a:ext>
            </a:extLst>
          </p:cNvPr>
          <p:cNvSpPr>
            <a:spLocks noGrp="1"/>
          </p:cNvSpPr>
          <p:nvPr>
            <p:ph type="body" sz="quarter" idx="44" hasCustomPrompt="1"/>
          </p:nvPr>
        </p:nvSpPr>
        <p:spPr>
          <a:xfrm>
            <a:off x="3072253" y="2569357"/>
            <a:ext cx="2220601" cy="506379"/>
          </a:xfrm>
          <a:prstGeom prst="rect">
            <a:avLst/>
          </a:prstGeom>
          <a:solidFill>
            <a:srgbClr val="90C9D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2" name="Espace réservé du texte 23">
            <a:extLst>
              <a:ext uri="{FF2B5EF4-FFF2-40B4-BE49-F238E27FC236}">
                <a16:creationId xmlns:a16="http://schemas.microsoft.com/office/drawing/2014/main" id="{115DA821-2917-754E-AAD9-01F3C9A43A5F}"/>
              </a:ext>
            </a:extLst>
          </p:cNvPr>
          <p:cNvSpPr>
            <a:spLocks noGrp="1"/>
          </p:cNvSpPr>
          <p:nvPr>
            <p:ph type="body" sz="quarter" idx="45" hasCustomPrompt="1"/>
          </p:nvPr>
        </p:nvSpPr>
        <p:spPr>
          <a:xfrm>
            <a:off x="3072252" y="3233518"/>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3" name="Espace réservé du texte 23">
            <a:extLst>
              <a:ext uri="{FF2B5EF4-FFF2-40B4-BE49-F238E27FC236}">
                <a16:creationId xmlns:a16="http://schemas.microsoft.com/office/drawing/2014/main" id="{C9EE8ECA-72D9-3F40-82BB-D2613EE18AF4}"/>
              </a:ext>
            </a:extLst>
          </p:cNvPr>
          <p:cNvSpPr>
            <a:spLocks noGrp="1"/>
          </p:cNvSpPr>
          <p:nvPr>
            <p:ph type="body" sz="quarter" idx="46" hasCustomPrompt="1"/>
          </p:nvPr>
        </p:nvSpPr>
        <p:spPr>
          <a:xfrm>
            <a:off x="3072252" y="3897679"/>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4" name="Espace réservé du texte 23">
            <a:extLst>
              <a:ext uri="{FF2B5EF4-FFF2-40B4-BE49-F238E27FC236}">
                <a16:creationId xmlns:a16="http://schemas.microsoft.com/office/drawing/2014/main" id="{C12537C3-55A7-F142-82FE-7D10176C9C51}"/>
              </a:ext>
            </a:extLst>
          </p:cNvPr>
          <p:cNvSpPr>
            <a:spLocks noGrp="1"/>
          </p:cNvSpPr>
          <p:nvPr>
            <p:ph type="body" sz="quarter" idx="47" hasCustomPrompt="1"/>
          </p:nvPr>
        </p:nvSpPr>
        <p:spPr>
          <a:xfrm>
            <a:off x="3072252" y="4561840"/>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Tree>
    <p:extLst>
      <p:ext uri="{BB962C8B-B14F-4D97-AF65-F5344CB8AC3E}">
        <p14:creationId xmlns:p14="http://schemas.microsoft.com/office/powerpoint/2010/main" val="177388709"/>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Image seul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10" name="Espace réservé pour une image  2">
            <a:extLst>
              <a:ext uri="{FF2B5EF4-FFF2-40B4-BE49-F238E27FC236}">
                <a16:creationId xmlns:a16="http://schemas.microsoft.com/office/drawing/2014/main" id="{7D9C95A2-C8E2-DE45-A2FD-E16C973C27C5}"/>
              </a:ext>
            </a:extLst>
          </p:cNvPr>
          <p:cNvSpPr>
            <a:spLocks noGrp="1"/>
          </p:cNvSpPr>
          <p:nvPr>
            <p:ph type="pic" sz="quarter" idx="14" hasCustomPrompt="1"/>
          </p:nvPr>
        </p:nvSpPr>
        <p:spPr>
          <a:xfrm>
            <a:off x="685938" y="1238735"/>
            <a:ext cx="10820123"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une image</a:t>
            </a:r>
          </a:p>
        </p:txBody>
      </p:sp>
    </p:spTree>
    <p:extLst>
      <p:ext uri="{BB962C8B-B14F-4D97-AF65-F5344CB8AC3E}">
        <p14:creationId xmlns:p14="http://schemas.microsoft.com/office/powerpoint/2010/main" val="259807943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Vierg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Tree>
    <p:extLst>
      <p:ext uri="{BB962C8B-B14F-4D97-AF65-F5344CB8AC3E}">
        <p14:creationId xmlns:p14="http://schemas.microsoft.com/office/powerpoint/2010/main" val="3320053305"/>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Contacts en 5">
    <p:bg>
      <p:bgPr>
        <a:solidFill>
          <a:srgbClr val="E1E6EB"/>
        </a:solidFill>
        <a:effectLst/>
      </p:bgPr>
    </p:bg>
    <p:spTree>
      <p:nvGrpSpPr>
        <p:cNvPr id="1" name=""/>
        <p:cNvGrpSpPr/>
        <p:nvPr/>
      </p:nvGrpSpPr>
      <p:grpSpPr>
        <a:xfrm>
          <a:off x="0" y="0"/>
          <a:ext cx="0" cy="0"/>
          <a:chOff x="0" y="0"/>
          <a:chExt cx="0" cy="0"/>
        </a:xfrm>
      </p:grpSpPr>
      <p:grpSp>
        <p:nvGrpSpPr>
          <p:cNvPr id="19" name="Groupe 18">
            <a:extLst>
              <a:ext uri="{FF2B5EF4-FFF2-40B4-BE49-F238E27FC236}">
                <a16:creationId xmlns:a16="http://schemas.microsoft.com/office/drawing/2014/main" id="{00E7E6CF-74B3-DA4E-8C67-8227EDDA7AAB}"/>
              </a:ext>
            </a:extLst>
          </p:cNvPr>
          <p:cNvGrpSpPr/>
          <p:nvPr userDrawn="1"/>
        </p:nvGrpSpPr>
        <p:grpSpPr>
          <a:xfrm>
            <a:off x="2943532" y="3394359"/>
            <a:ext cx="1035293" cy="1013989"/>
            <a:chOff x="556126" y="4311990"/>
            <a:chExt cx="1035293" cy="1013989"/>
          </a:xfrm>
        </p:grpSpPr>
        <p:sp>
          <p:nvSpPr>
            <p:cNvPr id="20" name="Rectangle 19">
              <a:extLst>
                <a:ext uri="{FF2B5EF4-FFF2-40B4-BE49-F238E27FC236}">
                  <a16:creationId xmlns:a16="http://schemas.microsoft.com/office/drawing/2014/main" id="{2773A585-9E83-DD4B-8D68-6A444547E8B8}"/>
                </a:ext>
              </a:extLst>
            </p:cNvPr>
            <p:cNvSpPr/>
            <p:nvPr/>
          </p:nvSpPr>
          <p:spPr>
            <a:xfrm>
              <a:off x="556126" y="4311990"/>
              <a:ext cx="294108" cy="1013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Rectangle 20">
              <a:extLst>
                <a:ext uri="{FF2B5EF4-FFF2-40B4-BE49-F238E27FC236}">
                  <a16:creationId xmlns:a16="http://schemas.microsoft.com/office/drawing/2014/main" id="{7360EE6C-98DC-D746-A335-B57A0B3ECC6F}"/>
                </a:ext>
              </a:extLst>
            </p:cNvPr>
            <p:cNvSpPr/>
            <p:nvPr/>
          </p:nvSpPr>
          <p:spPr>
            <a:xfrm rot="16200000">
              <a:off x="1071100" y="4805660"/>
              <a:ext cx="299453" cy="7411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2" name="Groupe 21">
            <a:extLst>
              <a:ext uri="{FF2B5EF4-FFF2-40B4-BE49-F238E27FC236}">
                <a16:creationId xmlns:a16="http://schemas.microsoft.com/office/drawing/2014/main" id="{6B913E42-0CA4-F740-8CF9-E221CF7EB0DD}"/>
              </a:ext>
            </a:extLst>
          </p:cNvPr>
          <p:cNvGrpSpPr/>
          <p:nvPr userDrawn="1"/>
        </p:nvGrpSpPr>
        <p:grpSpPr>
          <a:xfrm rot="10800000">
            <a:off x="8220858" y="2421946"/>
            <a:ext cx="1061675" cy="1007054"/>
            <a:chOff x="529744" y="4318924"/>
            <a:chExt cx="1061675" cy="1007054"/>
          </a:xfrm>
          <a:solidFill>
            <a:schemeClr val="bg1"/>
          </a:solidFill>
        </p:grpSpPr>
        <p:sp>
          <p:nvSpPr>
            <p:cNvPr id="23" name="Rectangle 22">
              <a:extLst>
                <a:ext uri="{FF2B5EF4-FFF2-40B4-BE49-F238E27FC236}">
                  <a16:creationId xmlns:a16="http://schemas.microsoft.com/office/drawing/2014/main" id="{9A582717-A057-C541-B69E-2DB4590C87F2}"/>
                </a:ext>
              </a:extLst>
            </p:cNvPr>
            <p:cNvSpPr/>
            <p:nvPr/>
          </p:nvSpPr>
          <p:spPr>
            <a:xfrm>
              <a:off x="529744" y="4318924"/>
              <a:ext cx="320490" cy="1000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Rectangle 23">
              <a:extLst>
                <a:ext uri="{FF2B5EF4-FFF2-40B4-BE49-F238E27FC236}">
                  <a16:creationId xmlns:a16="http://schemas.microsoft.com/office/drawing/2014/main" id="{3E5B0188-42B0-0E4B-BCD4-DE083C4842DC}"/>
                </a:ext>
              </a:extLst>
            </p:cNvPr>
            <p:cNvSpPr/>
            <p:nvPr/>
          </p:nvSpPr>
          <p:spPr>
            <a:xfrm rot="16200000">
              <a:off x="1071100" y="4805660"/>
              <a:ext cx="299453" cy="7411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5" name="Espace réservé du texte 23">
            <a:extLst>
              <a:ext uri="{FF2B5EF4-FFF2-40B4-BE49-F238E27FC236}">
                <a16:creationId xmlns:a16="http://schemas.microsoft.com/office/drawing/2014/main" id="{42C7297B-9020-DF4C-8BF0-A8B862F4FAAE}"/>
              </a:ext>
            </a:extLst>
          </p:cNvPr>
          <p:cNvSpPr>
            <a:spLocks noGrp="1"/>
          </p:cNvSpPr>
          <p:nvPr>
            <p:ph type="body" sz="quarter" idx="11" hasCustomPrompt="1"/>
          </p:nvPr>
        </p:nvSpPr>
        <p:spPr>
          <a:xfrm>
            <a:off x="3541642" y="3051701"/>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Tree>
    <p:extLst>
      <p:ext uri="{BB962C8B-B14F-4D97-AF65-F5344CB8AC3E}">
        <p14:creationId xmlns:p14="http://schemas.microsoft.com/office/powerpoint/2010/main" val="116246729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Contacts en 5">
    <p:bg>
      <p:bgPr>
        <a:solidFill>
          <a:srgbClr val="E1E6EB"/>
        </a:solidFill>
        <a:effectLst/>
      </p:bgPr>
    </p:bg>
    <p:spTree>
      <p:nvGrpSpPr>
        <p:cNvPr id="1" name=""/>
        <p:cNvGrpSpPr/>
        <p:nvPr/>
      </p:nvGrpSpPr>
      <p:grpSpPr>
        <a:xfrm>
          <a:off x="0" y="0"/>
          <a:ext cx="0" cy="0"/>
          <a:chOff x="0" y="0"/>
          <a:chExt cx="0" cy="0"/>
        </a:xfrm>
      </p:grpSpPr>
      <p:pic>
        <p:nvPicPr>
          <p:cNvPr id="10" name="Picture 4">
            <a:extLst>
              <a:ext uri="{FF2B5EF4-FFF2-40B4-BE49-F238E27FC236}">
                <a16:creationId xmlns:a16="http://schemas.microsoft.com/office/drawing/2014/main" id="{DE0B3A84-7641-E849-9F22-19BE3BFD8E6C}"/>
              </a:ext>
            </a:extLst>
          </p:cNvPr>
          <p:cNvPicPr>
            <a:picLocks noChangeAspect="1"/>
          </p:cNvPicPr>
          <p:nvPr userDrawn="1"/>
        </p:nvPicPr>
        <p:blipFill>
          <a:blip r:embed="rId2"/>
          <a:stretch>
            <a:fillRect/>
          </a:stretch>
        </p:blipFill>
        <p:spPr>
          <a:xfrm>
            <a:off x="4286451" y="530021"/>
            <a:ext cx="3619098" cy="792950"/>
          </a:xfrm>
          <a:prstGeom prst="rect">
            <a:avLst/>
          </a:prstGeom>
        </p:spPr>
      </p:pic>
      <p:sp>
        <p:nvSpPr>
          <p:cNvPr id="12" name="Rectangle 11">
            <a:extLst>
              <a:ext uri="{FF2B5EF4-FFF2-40B4-BE49-F238E27FC236}">
                <a16:creationId xmlns:a16="http://schemas.microsoft.com/office/drawing/2014/main" id="{C528CACF-90FE-2244-AF50-50352D75EEEC}"/>
              </a:ext>
            </a:extLst>
          </p:cNvPr>
          <p:cNvSpPr/>
          <p:nvPr userDrawn="1"/>
        </p:nvSpPr>
        <p:spPr>
          <a:xfrm>
            <a:off x="685939" y="5292106"/>
            <a:ext cx="10820121" cy="792950"/>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just">
              <a:spcAft>
                <a:spcPts val="600"/>
              </a:spcAft>
            </a:pPr>
            <a:r>
              <a:rPr lang="fr-FR" b="1">
                <a:solidFill>
                  <a:srgbClr val="1B445F"/>
                </a:solidFill>
                <a:latin typeface="Calibri" panose="020F0502020204030204" pitchFamily="34" charset="0"/>
                <a:cs typeface="Calibri" panose="020F0502020204030204" pitchFamily="34" charset="0"/>
              </a:rPr>
              <a:t>Disclaimer: </a:t>
            </a:r>
            <a:r>
              <a:rPr lang="fr-FR">
                <a:solidFill>
                  <a:srgbClr val="1B445F"/>
                </a:solidFill>
                <a:latin typeface="Calibri" panose="020F0502020204030204" pitchFamily="34" charset="0"/>
                <a:cs typeface="Calibri" panose="020F0502020204030204" pitchFamily="34" charset="0"/>
              </a:rPr>
              <a:t>The information contained here is of a general nature and is not intended to reflect the characteristics of a particular institution. Although we endeavor to provide accurate and timely information, there can be no guarantee that such information is accurate as of the date it is received or that will continue to be accurate in the future.</a:t>
            </a:r>
          </a:p>
        </p:txBody>
      </p:sp>
      <p:sp>
        <p:nvSpPr>
          <p:cNvPr id="4" name="Espace réservé pour une image  4">
            <a:extLst>
              <a:ext uri="{FF2B5EF4-FFF2-40B4-BE49-F238E27FC236}">
                <a16:creationId xmlns:a16="http://schemas.microsoft.com/office/drawing/2014/main" id="{346B39B8-F985-C24E-B036-CD09034F89B5}"/>
              </a:ext>
            </a:extLst>
          </p:cNvPr>
          <p:cNvSpPr>
            <a:spLocks noGrp="1"/>
          </p:cNvSpPr>
          <p:nvPr>
            <p:ph type="pic" sz="quarter" idx="17" hasCustomPrompt="1"/>
          </p:nvPr>
        </p:nvSpPr>
        <p:spPr>
          <a:xfrm>
            <a:off x="1268102" y="22700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 name="Espace réservé pour une image  4">
            <a:extLst>
              <a:ext uri="{FF2B5EF4-FFF2-40B4-BE49-F238E27FC236}">
                <a16:creationId xmlns:a16="http://schemas.microsoft.com/office/drawing/2014/main" id="{C471FAB8-DE9E-764F-A20B-6E1240636A51}"/>
              </a:ext>
            </a:extLst>
          </p:cNvPr>
          <p:cNvSpPr>
            <a:spLocks noGrp="1"/>
          </p:cNvSpPr>
          <p:nvPr>
            <p:ph type="pic" sz="quarter" idx="18" hasCustomPrompt="1"/>
          </p:nvPr>
        </p:nvSpPr>
        <p:spPr>
          <a:xfrm>
            <a:off x="3426614"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6" name="Espace réservé pour une image  4">
            <a:extLst>
              <a:ext uri="{FF2B5EF4-FFF2-40B4-BE49-F238E27FC236}">
                <a16:creationId xmlns:a16="http://schemas.microsoft.com/office/drawing/2014/main" id="{28A6D991-AFE3-3742-A641-D958134B3AD2}"/>
              </a:ext>
            </a:extLst>
          </p:cNvPr>
          <p:cNvSpPr>
            <a:spLocks noGrp="1"/>
          </p:cNvSpPr>
          <p:nvPr>
            <p:ph type="pic" sz="quarter" idx="19" hasCustomPrompt="1"/>
          </p:nvPr>
        </p:nvSpPr>
        <p:spPr>
          <a:xfrm>
            <a:off x="5585127"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7" name="Espace réservé pour une image  4">
            <a:extLst>
              <a:ext uri="{FF2B5EF4-FFF2-40B4-BE49-F238E27FC236}">
                <a16:creationId xmlns:a16="http://schemas.microsoft.com/office/drawing/2014/main" id="{2C845469-64D0-F149-93A9-7E82F0DFFF55}"/>
              </a:ext>
            </a:extLst>
          </p:cNvPr>
          <p:cNvSpPr>
            <a:spLocks noGrp="1"/>
          </p:cNvSpPr>
          <p:nvPr>
            <p:ph type="pic" sz="quarter" idx="20" hasCustomPrompt="1"/>
          </p:nvPr>
        </p:nvSpPr>
        <p:spPr>
          <a:xfrm>
            <a:off x="7743641"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8" name="Espace réservé pour une image  4">
            <a:extLst>
              <a:ext uri="{FF2B5EF4-FFF2-40B4-BE49-F238E27FC236}">
                <a16:creationId xmlns:a16="http://schemas.microsoft.com/office/drawing/2014/main" id="{5E7B4EF7-1E08-294C-9899-11C5C3AA4551}"/>
              </a:ext>
            </a:extLst>
          </p:cNvPr>
          <p:cNvSpPr>
            <a:spLocks noGrp="1"/>
          </p:cNvSpPr>
          <p:nvPr>
            <p:ph type="pic" sz="quarter" idx="21" hasCustomPrompt="1"/>
          </p:nvPr>
        </p:nvSpPr>
        <p:spPr>
          <a:xfrm>
            <a:off x="9902154"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9" name="Espace réservé du texte 23">
            <a:extLst>
              <a:ext uri="{FF2B5EF4-FFF2-40B4-BE49-F238E27FC236}">
                <a16:creationId xmlns:a16="http://schemas.microsoft.com/office/drawing/2014/main" id="{5B1D51E9-169E-3448-8456-4DA2F04B88A0}"/>
              </a:ext>
            </a:extLst>
          </p:cNvPr>
          <p:cNvSpPr>
            <a:spLocks noGrp="1"/>
          </p:cNvSpPr>
          <p:nvPr>
            <p:ph type="body" sz="quarter" idx="14" hasCustomPrompt="1"/>
          </p:nvPr>
        </p:nvSpPr>
        <p:spPr>
          <a:xfrm>
            <a:off x="725438"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1" name="Espace réservé du texte 23">
            <a:extLst>
              <a:ext uri="{FF2B5EF4-FFF2-40B4-BE49-F238E27FC236}">
                <a16:creationId xmlns:a16="http://schemas.microsoft.com/office/drawing/2014/main" id="{7278057E-1AA3-324B-AA0A-58D771966824}"/>
              </a:ext>
            </a:extLst>
          </p:cNvPr>
          <p:cNvSpPr>
            <a:spLocks noGrp="1"/>
          </p:cNvSpPr>
          <p:nvPr>
            <p:ph type="body" sz="quarter" idx="22" hasCustomPrompt="1"/>
          </p:nvPr>
        </p:nvSpPr>
        <p:spPr>
          <a:xfrm>
            <a:off x="2883950"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3" name="Espace réservé du texte 23">
            <a:extLst>
              <a:ext uri="{FF2B5EF4-FFF2-40B4-BE49-F238E27FC236}">
                <a16:creationId xmlns:a16="http://schemas.microsoft.com/office/drawing/2014/main" id="{1776C3AB-F8D6-ED46-8EE1-42B0DD1D714D}"/>
              </a:ext>
            </a:extLst>
          </p:cNvPr>
          <p:cNvSpPr>
            <a:spLocks noGrp="1"/>
          </p:cNvSpPr>
          <p:nvPr>
            <p:ph type="body" sz="quarter" idx="23" hasCustomPrompt="1"/>
          </p:nvPr>
        </p:nvSpPr>
        <p:spPr>
          <a:xfrm>
            <a:off x="5042462"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4" name="Espace réservé du texte 23">
            <a:extLst>
              <a:ext uri="{FF2B5EF4-FFF2-40B4-BE49-F238E27FC236}">
                <a16:creationId xmlns:a16="http://schemas.microsoft.com/office/drawing/2014/main" id="{80213029-391D-664E-8F79-8D7C4ED1237E}"/>
              </a:ext>
            </a:extLst>
          </p:cNvPr>
          <p:cNvSpPr>
            <a:spLocks noGrp="1"/>
          </p:cNvSpPr>
          <p:nvPr>
            <p:ph type="body" sz="quarter" idx="24" hasCustomPrompt="1"/>
          </p:nvPr>
        </p:nvSpPr>
        <p:spPr>
          <a:xfrm>
            <a:off x="7200978"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5" name="Espace réservé du texte 23">
            <a:extLst>
              <a:ext uri="{FF2B5EF4-FFF2-40B4-BE49-F238E27FC236}">
                <a16:creationId xmlns:a16="http://schemas.microsoft.com/office/drawing/2014/main" id="{93D5A8F6-C5B1-8247-B926-67F48D762A97}"/>
              </a:ext>
            </a:extLst>
          </p:cNvPr>
          <p:cNvSpPr>
            <a:spLocks noGrp="1"/>
          </p:cNvSpPr>
          <p:nvPr>
            <p:ph type="body" sz="quarter" idx="25" hasCustomPrompt="1"/>
          </p:nvPr>
        </p:nvSpPr>
        <p:spPr>
          <a:xfrm>
            <a:off x="9359494" y="3586169"/>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cxnSp>
        <p:nvCxnSpPr>
          <p:cNvPr id="16" name="Connecteur droit 15">
            <a:extLst>
              <a:ext uri="{FF2B5EF4-FFF2-40B4-BE49-F238E27FC236}">
                <a16:creationId xmlns:a16="http://schemas.microsoft.com/office/drawing/2014/main" id="{915C36DC-E286-5943-85D5-87CF475B44FC}"/>
              </a:ext>
            </a:extLst>
          </p:cNvPr>
          <p:cNvCxnSpPr>
            <a:cxnSpLocks/>
          </p:cNvCxnSpPr>
          <p:nvPr userDrawn="1"/>
        </p:nvCxnSpPr>
        <p:spPr>
          <a:xfrm>
            <a:off x="685940" y="1855907"/>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id="{13CC7F2B-C83E-8B4F-A5B8-59193414067D}"/>
              </a:ext>
            </a:extLst>
          </p:cNvPr>
          <p:cNvCxnSpPr>
            <a:cxnSpLocks/>
          </p:cNvCxnSpPr>
          <p:nvPr userDrawn="1"/>
        </p:nvCxnSpPr>
        <p:spPr>
          <a:xfrm>
            <a:off x="685939" y="4960054"/>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221869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Contacts en 6">
    <p:bg>
      <p:bgPr>
        <a:solidFill>
          <a:srgbClr val="E1E6EB"/>
        </a:solidFill>
        <a:effectLst/>
      </p:bgPr>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528CACF-90FE-2244-AF50-50352D75EEEC}"/>
              </a:ext>
            </a:extLst>
          </p:cNvPr>
          <p:cNvSpPr/>
          <p:nvPr userDrawn="1"/>
        </p:nvSpPr>
        <p:spPr>
          <a:xfrm>
            <a:off x="685939" y="5292106"/>
            <a:ext cx="10820121" cy="792950"/>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just">
              <a:spcAft>
                <a:spcPts val="600"/>
              </a:spcAft>
            </a:pPr>
            <a:r>
              <a:rPr lang="fr-FR" b="1">
                <a:solidFill>
                  <a:srgbClr val="1B445F"/>
                </a:solidFill>
                <a:latin typeface="Calibri" panose="020F0502020204030204" pitchFamily="34" charset="0"/>
                <a:cs typeface="Calibri" panose="020F0502020204030204" pitchFamily="34" charset="0"/>
              </a:rPr>
              <a:t>Disclaimer: </a:t>
            </a:r>
            <a:r>
              <a:rPr lang="fr-FR">
                <a:solidFill>
                  <a:srgbClr val="1B445F"/>
                </a:solidFill>
                <a:latin typeface="Calibri" panose="020F0502020204030204" pitchFamily="34" charset="0"/>
                <a:cs typeface="Calibri" panose="020F0502020204030204" pitchFamily="34" charset="0"/>
              </a:rPr>
              <a:t>The information </a:t>
            </a:r>
            <a:r>
              <a:rPr lang="fr-FR" err="1">
                <a:solidFill>
                  <a:srgbClr val="1B445F"/>
                </a:solidFill>
                <a:latin typeface="Calibri" panose="020F0502020204030204" pitchFamily="34" charset="0"/>
                <a:cs typeface="Calibri" panose="020F0502020204030204" pitchFamily="34" charset="0"/>
              </a:rPr>
              <a:t>contained</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here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of a </a:t>
            </a:r>
            <a:r>
              <a:rPr lang="fr-FR" err="1">
                <a:solidFill>
                  <a:srgbClr val="1B445F"/>
                </a:solidFill>
                <a:latin typeface="Calibri" panose="020F0502020204030204" pitchFamily="34" charset="0"/>
                <a:cs typeface="Calibri" panose="020F0502020204030204" pitchFamily="34" charset="0"/>
              </a:rPr>
              <a:t>general</a:t>
            </a:r>
            <a:r>
              <a:rPr lang="fr-FR">
                <a:solidFill>
                  <a:srgbClr val="1B445F"/>
                </a:solidFill>
                <a:latin typeface="Calibri" panose="020F0502020204030204" pitchFamily="34" charset="0"/>
                <a:cs typeface="Calibri" panose="020F0502020204030204" pitchFamily="34" charset="0"/>
              </a:rPr>
              <a:t> nature and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not </a:t>
            </a:r>
            <a:r>
              <a:rPr lang="fr-FR" err="1">
                <a:solidFill>
                  <a:srgbClr val="1B445F"/>
                </a:solidFill>
                <a:latin typeface="Calibri" panose="020F0502020204030204" pitchFamily="34" charset="0"/>
                <a:cs typeface="Calibri" panose="020F0502020204030204" pitchFamily="34" charset="0"/>
              </a:rPr>
              <a:t>intended</a:t>
            </a:r>
            <a:r>
              <a:rPr lang="fr-FR">
                <a:solidFill>
                  <a:srgbClr val="1B445F"/>
                </a:solidFill>
                <a:latin typeface="Calibri" panose="020F0502020204030204" pitchFamily="34" charset="0"/>
                <a:cs typeface="Calibri" panose="020F0502020204030204" pitchFamily="34" charset="0"/>
              </a:rPr>
              <a:t> to </a:t>
            </a:r>
            <a:r>
              <a:rPr lang="fr-FR" err="1">
                <a:solidFill>
                  <a:srgbClr val="1B445F"/>
                </a:solidFill>
                <a:latin typeface="Calibri" panose="020F0502020204030204" pitchFamily="34" charset="0"/>
                <a:cs typeface="Calibri" panose="020F0502020204030204" pitchFamily="34" charset="0"/>
              </a:rPr>
              <a:t>reflect</a:t>
            </a:r>
            <a:r>
              <a:rPr lang="fr-FR">
                <a:solidFill>
                  <a:srgbClr val="1B445F"/>
                </a:solidFill>
                <a:latin typeface="Calibri" panose="020F0502020204030204" pitchFamily="34" charset="0"/>
                <a:cs typeface="Calibri" panose="020F0502020204030204" pitchFamily="34" charset="0"/>
              </a:rPr>
              <a:t> the </a:t>
            </a:r>
            <a:r>
              <a:rPr lang="fr-FR" err="1">
                <a:solidFill>
                  <a:srgbClr val="1B445F"/>
                </a:solidFill>
                <a:latin typeface="Calibri" panose="020F0502020204030204" pitchFamily="34" charset="0"/>
                <a:cs typeface="Calibri" panose="020F0502020204030204" pitchFamily="34" charset="0"/>
              </a:rPr>
              <a:t>characteristics</a:t>
            </a:r>
            <a:r>
              <a:rPr lang="fr-FR">
                <a:solidFill>
                  <a:srgbClr val="1B445F"/>
                </a:solidFill>
                <a:latin typeface="Calibri" panose="020F0502020204030204" pitchFamily="34" charset="0"/>
                <a:cs typeface="Calibri" panose="020F0502020204030204" pitchFamily="34" charset="0"/>
              </a:rPr>
              <a:t> of a </a:t>
            </a:r>
            <a:r>
              <a:rPr lang="fr-FR" err="1">
                <a:solidFill>
                  <a:srgbClr val="1B445F"/>
                </a:solidFill>
                <a:latin typeface="Calibri" panose="020F0502020204030204" pitchFamily="34" charset="0"/>
                <a:cs typeface="Calibri" panose="020F0502020204030204" pitchFamily="34" charset="0"/>
              </a:rPr>
              <a:t>particular</a:t>
            </a:r>
            <a:r>
              <a:rPr lang="fr-FR">
                <a:solidFill>
                  <a:srgbClr val="1B445F"/>
                </a:solidFill>
                <a:latin typeface="Calibri" panose="020F0502020204030204" pitchFamily="34" charset="0"/>
                <a:cs typeface="Calibri" panose="020F0502020204030204" pitchFamily="34" charset="0"/>
              </a:rPr>
              <a:t> institution. </a:t>
            </a:r>
            <a:r>
              <a:rPr lang="fr-FR" err="1">
                <a:solidFill>
                  <a:srgbClr val="1B445F"/>
                </a:solidFill>
                <a:latin typeface="Calibri" panose="020F0502020204030204" pitchFamily="34" charset="0"/>
                <a:cs typeface="Calibri" panose="020F0502020204030204" pitchFamily="34" charset="0"/>
              </a:rPr>
              <a:t>Although</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we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endeavor</a:t>
            </a:r>
            <a:r>
              <a:rPr lang="fr-FR">
                <a:solidFill>
                  <a:srgbClr val="1B445F"/>
                </a:solidFill>
                <a:latin typeface="Calibri" panose="020F0502020204030204" pitchFamily="34" charset="0"/>
                <a:cs typeface="Calibri" panose="020F0502020204030204" pitchFamily="34" charset="0"/>
              </a:rPr>
              <a:t> to </a:t>
            </a:r>
            <a:r>
              <a:rPr lang="fr-FR" err="1">
                <a:solidFill>
                  <a:srgbClr val="1B445F"/>
                </a:solidFill>
                <a:latin typeface="Calibri" panose="020F0502020204030204" pitchFamily="34" charset="0"/>
                <a:cs typeface="Calibri" panose="020F0502020204030204" pitchFamily="34" charset="0"/>
              </a:rPr>
              <a:t>provide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and </a:t>
            </a:r>
            <a:r>
              <a:rPr lang="fr-FR" err="1">
                <a:solidFill>
                  <a:srgbClr val="1B445F"/>
                </a:solidFill>
                <a:latin typeface="Calibri" panose="020F0502020204030204" pitchFamily="34" charset="0"/>
                <a:cs typeface="Calibri" panose="020F0502020204030204" pitchFamily="34" charset="0"/>
              </a:rPr>
              <a:t>timely</a:t>
            </a:r>
            <a:r>
              <a:rPr lang="fr-FR">
                <a:solidFill>
                  <a:srgbClr val="1B445F"/>
                </a:solidFill>
                <a:latin typeface="Calibri" panose="020F0502020204030204" pitchFamily="34" charset="0"/>
                <a:cs typeface="Calibri" panose="020F0502020204030204" pitchFamily="34" charset="0"/>
              </a:rPr>
              <a:t> information, </a:t>
            </a:r>
            <a:r>
              <a:rPr lang="fr-FR" err="1">
                <a:solidFill>
                  <a:srgbClr val="1B445F"/>
                </a:solidFill>
                <a:latin typeface="Calibri" panose="020F0502020204030204" pitchFamily="34" charset="0"/>
                <a:cs typeface="Calibri" panose="020F0502020204030204" pitchFamily="34" charset="0"/>
              </a:rPr>
              <a:t>there</a:t>
            </a:r>
            <a:r>
              <a:rPr lang="fr-FR">
                <a:solidFill>
                  <a:srgbClr val="1B445F"/>
                </a:solidFill>
                <a:latin typeface="Calibri" panose="020F0502020204030204" pitchFamily="34" charset="0"/>
                <a:cs typeface="Calibri" panose="020F0502020204030204" pitchFamily="34" charset="0"/>
              </a:rPr>
              <a:t> can </a:t>
            </a:r>
            <a:r>
              <a:rPr lang="fr-FR" err="1">
                <a:solidFill>
                  <a:srgbClr val="1B445F"/>
                </a:solidFill>
                <a:latin typeface="Calibri" panose="020F0502020204030204" pitchFamily="34" charset="0"/>
                <a:cs typeface="Calibri" panose="020F0502020204030204" pitchFamily="34" charset="0"/>
              </a:rPr>
              <a:t>be</a:t>
            </a:r>
            <a:r>
              <a:rPr lang="fr-FR">
                <a:solidFill>
                  <a:srgbClr val="1B445F"/>
                </a:solidFill>
                <a:latin typeface="Calibri" panose="020F0502020204030204" pitchFamily="34" charset="0"/>
                <a:cs typeface="Calibri" panose="020F0502020204030204" pitchFamily="34" charset="0"/>
              </a:rPr>
              <a:t> no </a:t>
            </a:r>
            <a:r>
              <a:rPr lang="fr-FR" err="1">
                <a:solidFill>
                  <a:srgbClr val="1B445F"/>
                </a:solidFill>
                <a:latin typeface="Calibri" panose="020F0502020204030204" pitchFamily="34" charset="0"/>
                <a:cs typeface="Calibri" panose="020F0502020204030204" pitchFamily="34" charset="0"/>
              </a:rPr>
              <a:t>guarantee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that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such</a:t>
            </a:r>
            <a:r>
              <a:rPr lang="fr-FR">
                <a:solidFill>
                  <a:srgbClr val="1B445F"/>
                </a:solidFill>
                <a:latin typeface="Calibri" panose="020F0502020204030204" pitchFamily="34" charset="0"/>
                <a:cs typeface="Calibri" panose="020F0502020204030204" pitchFamily="34" charset="0"/>
              </a:rPr>
              <a:t> information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as of the date </a:t>
            </a:r>
            <a:r>
              <a:rPr lang="fr-FR" err="1">
                <a:solidFill>
                  <a:srgbClr val="1B445F"/>
                </a:solidFill>
                <a:latin typeface="Calibri" panose="020F0502020204030204" pitchFamily="34" charset="0"/>
                <a:cs typeface="Calibri" panose="020F0502020204030204" pitchFamily="34" charset="0"/>
              </a:rPr>
              <a:t>it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received</a:t>
            </a:r>
            <a:r>
              <a:rPr lang="fr-FR">
                <a:solidFill>
                  <a:srgbClr val="1B445F"/>
                </a:solidFill>
                <a:latin typeface="Calibri" panose="020F0502020204030204" pitchFamily="34" charset="0"/>
                <a:cs typeface="Calibri" panose="020F0502020204030204" pitchFamily="34" charset="0"/>
              </a:rPr>
              <a:t> or </a:t>
            </a:r>
            <a:r>
              <a:rPr lang="fr-FR" err="1">
                <a:solidFill>
                  <a:srgbClr val="1B445F"/>
                </a:solidFill>
                <a:latin typeface="Calibri" panose="020F0502020204030204" pitchFamily="34" charset="0"/>
                <a:cs typeface="Calibri" panose="020F0502020204030204" pitchFamily="34" charset="0"/>
              </a:rPr>
              <a:t>that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will</a:t>
            </a:r>
            <a:r>
              <a:rPr lang="fr-FR">
                <a:solidFill>
                  <a:srgbClr val="1B445F"/>
                </a:solidFill>
                <a:latin typeface="Calibri" panose="020F0502020204030204" pitchFamily="34" charset="0"/>
                <a:cs typeface="Calibri" panose="020F0502020204030204" pitchFamily="34" charset="0"/>
              </a:rPr>
              <a:t> continue to </a:t>
            </a:r>
            <a:r>
              <a:rPr lang="fr-FR" err="1">
                <a:solidFill>
                  <a:srgbClr val="1B445F"/>
                </a:solidFill>
                <a:latin typeface="Calibri" panose="020F0502020204030204" pitchFamily="34" charset="0"/>
                <a:cs typeface="Calibri" panose="020F0502020204030204" pitchFamily="34" charset="0"/>
              </a:rPr>
              <a:t>be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in the future.</a:t>
            </a:r>
          </a:p>
        </p:txBody>
      </p:sp>
      <p:sp>
        <p:nvSpPr>
          <p:cNvPr id="4" name="Espace réservé pour une image  4">
            <a:extLst>
              <a:ext uri="{FF2B5EF4-FFF2-40B4-BE49-F238E27FC236}">
                <a16:creationId xmlns:a16="http://schemas.microsoft.com/office/drawing/2014/main" id="{346B39B8-F985-C24E-B036-CD09034F89B5}"/>
              </a:ext>
            </a:extLst>
          </p:cNvPr>
          <p:cNvSpPr>
            <a:spLocks noGrp="1"/>
          </p:cNvSpPr>
          <p:nvPr>
            <p:ph type="pic" sz="quarter" idx="17" hasCustomPrompt="1"/>
          </p:nvPr>
        </p:nvSpPr>
        <p:spPr>
          <a:xfrm>
            <a:off x="1117037" y="2330409"/>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9" name="Espace réservé du texte 23">
            <a:extLst>
              <a:ext uri="{FF2B5EF4-FFF2-40B4-BE49-F238E27FC236}">
                <a16:creationId xmlns:a16="http://schemas.microsoft.com/office/drawing/2014/main" id="{5B1D51E9-169E-3448-8456-4DA2F04B88A0}"/>
              </a:ext>
            </a:extLst>
          </p:cNvPr>
          <p:cNvSpPr>
            <a:spLocks noGrp="1"/>
          </p:cNvSpPr>
          <p:nvPr>
            <p:ph type="body" sz="quarter" idx="14" hasCustomPrompt="1"/>
          </p:nvPr>
        </p:nvSpPr>
        <p:spPr>
          <a:xfrm>
            <a:off x="685939" y="3582110"/>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cxnSp>
        <p:nvCxnSpPr>
          <p:cNvPr id="16" name="Connecteur droit 15">
            <a:extLst>
              <a:ext uri="{FF2B5EF4-FFF2-40B4-BE49-F238E27FC236}">
                <a16:creationId xmlns:a16="http://schemas.microsoft.com/office/drawing/2014/main" id="{915C36DC-E286-5943-85D5-87CF475B44FC}"/>
              </a:ext>
            </a:extLst>
          </p:cNvPr>
          <p:cNvCxnSpPr>
            <a:cxnSpLocks/>
          </p:cNvCxnSpPr>
          <p:nvPr userDrawn="1"/>
        </p:nvCxnSpPr>
        <p:spPr>
          <a:xfrm>
            <a:off x="685940" y="1855907"/>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id="{13CC7F2B-C83E-8B4F-A5B8-59193414067D}"/>
              </a:ext>
            </a:extLst>
          </p:cNvPr>
          <p:cNvCxnSpPr>
            <a:cxnSpLocks/>
          </p:cNvCxnSpPr>
          <p:nvPr userDrawn="1"/>
        </p:nvCxnSpPr>
        <p:spPr>
          <a:xfrm>
            <a:off x="685939" y="4960054"/>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18" name="Espace réservé pour une image  4">
            <a:extLst>
              <a:ext uri="{FF2B5EF4-FFF2-40B4-BE49-F238E27FC236}">
                <a16:creationId xmlns:a16="http://schemas.microsoft.com/office/drawing/2014/main" id="{CE743C43-E5B3-FD43-ACEE-795FCAE1C407}"/>
              </a:ext>
            </a:extLst>
          </p:cNvPr>
          <p:cNvSpPr>
            <a:spLocks noGrp="1"/>
          </p:cNvSpPr>
          <p:nvPr>
            <p:ph type="pic" sz="quarter" idx="26" hasCustomPrompt="1"/>
          </p:nvPr>
        </p:nvSpPr>
        <p:spPr>
          <a:xfrm>
            <a:off x="2934211" y="2330412"/>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28" name="Espace réservé du texte 23">
            <a:extLst>
              <a:ext uri="{FF2B5EF4-FFF2-40B4-BE49-F238E27FC236}">
                <a16:creationId xmlns:a16="http://schemas.microsoft.com/office/drawing/2014/main" id="{87A26503-3DF3-D84D-8CA5-0C91E5C41175}"/>
              </a:ext>
            </a:extLst>
          </p:cNvPr>
          <p:cNvSpPr>
            <a:spLocks noGrp="1"/>
          </p:cNvSpPr>
          <p:nvPr>
            <p:ph type="body" sz="quarter" idx="31" hasCustomPrompt="1"/>
          </p:nvPr>
        </p:nvSpPr>
        <p:spPr>
          <a:xfrm>
            <a:off x="2503115" y="3582112"/>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3" name="Espace réservé du texte 23">
            <a:extLst>
              <a:ext uri="{FF2B5EF4-FFF2-40B4-BE49-F238E27FC236}">
                <a16:creationId xmlns:a16="http://schemas.microsoft.com/office/drawing/2014/main" id="{0A2ADEE0-807B-6141-B406-1CDF99F8A191}"/>
              </a:ext>
            </a:extLst>
          </p:cNvPr>
          <p:cNvSpPr>
            <a:spLocks noGrp="1"/>
          </p:cNvSpPr>
          <p:nvPr>
            <p:ph type="body" sz="quarter" idx="32" hasCustomPrompt="1"/>
          </p:nvPr>
        </p:nvSpPr>
        <p:spPr>
          <a:xfrm>
            <a:off x="4311814" y="3582112"/>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4" name="Espace réservé du texte 23">
            <a:extLst>
              <a:ext uri="{FF2B5EF4-FFF2-40B4-BE49-F238E27FC236}">
                <a16:creationId xmlns:a16="http://schemas.microsoft.com/office/drawing/2014/main" id="{48E4C2A0-F1A8-744E-87B1-19E361844B25}"/>
              </a:ext>
            </a:extLst>
          </p:cNvPr>
          <p:cNvSpPr>
            <a:spLocks noGrp="1"/>
          </p:cNvSpPr>
          <p:nvPr>
            <p:ph type="body" sz="quarter" idx="33" hasCustomPrompt="1"/>
          </p:nvPr>
        </p:nvSpPr>
        <p:spPr>
          <a:xfrm>
            <a:off x="6121472" y="3582111"/>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7" name="Espace réservé du texte 23">
            <a:extLst>
              <a:ext uri="{FF2B5EF4-FFF2-40B4-BE49-F238E27FC236}">
                <a16:creationId xmlns:a16="http://schemas.microsoft.com/office/drawing/2014/main" id="{C5541B0C-4423-FF45-8009-3BAC197DE6C9}"/>
              </a:ext>
            </a:extLst>
          </p:cNvPr>
          <p:cNvSpPr>
            <a:spLocks noGrp="1"/>
          </p:cNvSpPr>
          <p:nvPr>
            <p:ph type="body" sz="quarter" idx="34" hasCustomPrompt="1"/>
          </p:nvPr>
        </p:nvSpPr>
        <p:spPr>
          <a:xfrm>
            <a:off x="7932693" y="3582111"/>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8" name="Espace réservé du texte 23">
            <a:extLst>
              <a:ext uri="{FF2B5EF4-FFF2-40B4-BE49-F238E27FC236}">
                <a16:creationId xmlns:a16="http://schemas.microsoft.com/office/drawing/2014/main" id="{C048F24D-2DC8-5B4A-A354-0328B500B8A6}"/>
              </a:ext>
            </a:extLst>
          </p:cNvPr>
          <p:cNvSpPr>
            <a:spLocks noGrp="1"/>
          </p:cNvSpPr>
          <p:nvPr>
            <p:ph type="body" sz="quarter" idx="35" hasCustomPrompt="1"/>
          </p:nvPr>
        </p:nvSpPr>
        <p:spPr>
          <a:xfrm>
            <a:off x="9740271" y="3582110"/>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9" name="Espace réservé pour une image  4">
            <a:extLst>
              <a:ext uri="{FF2B5EF4-FFF2-40B4-BE49-F238E27FC236}">
                <a16:creationId xmlns:a16="http://schemas.microsoft.com/office/drawing/2014/main" id="{F7434E2E-7990-2F44-95C4-23B90179453C}"/>
              </a:ext>
            </a:extLst>
          </p:cNvPr>
          <p:cNvSpPr>
            <a:spLocks noGrp="1"/>
          </p:cNvSpPr>
          <p:nvPr>
            <p:ph type="pic" sz="quarter" idx="36" hasCustomPrompt="1"/>
          </p:nvPr>
        </p:nvSpPr>
        <p:spPr>
          <a:xfrm>
            <a:off x="4742910" y="2330412"/>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0" name="Espace réservé pour une image  4">
            <a:extLst>
              <a:ext uri="{FF2B5EF4-FFF2-40B4-BE49-F238E27FC236}">
                <a16:creationId xmlns:a16="http://schemas.microsoft.com/office/drawing/2014/main" id="{944E060F-F495-4843-B9C5-0500C18BFBF3}"/>
              </a:ext>
            </a:extLst>
          </p:cNvPr>
          <p:cNvSpPr>
            <a:spLocks noGrp="1"/>
          </p:cNvSpPr>
          <p:nvPr>
            <p:ph type="pic" sz="quarter" idx="37" hasCustomPrompt="1"/>
          </p:nvPr>
        </p:nvSpPr>
        <p:spPr>
          <a:xfrm>
            <a:off x="6552568"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1" name="Espace réservé pour une image  4">
            <a:extLst>
              <a:ext uri="{FF2B5EF4-FFF2-40B4-BE49-F238E27FC236}">
                <a16:creationId xmlns:a16="http://schemas.microsoft.com/office/drawing/2014/main" id="{E8C667B2-DF7B-A34B-9117-D884CDD3B6E8}"/>
              </a:ext>
            </a:extLst>
          </p:cNvPr>
          <p:cNvSpPr>
            <a:spLocks noGrp="1"/>
          </p:cNvSpPr>
          <p:nvPr>
            <p:ph type="pic" sz="quarter" idx="38" hasCustomPrompt="1"/>
          </p:nvPr>
        </p:nvSpPr>
        <p:spPr>
          <a:xfrm>
            <a:off x="8363789"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2" name="Espace réservé pour une image  4">
            <a:extLst>
              <a:ext uri="{FF2B5EF4-FFF2-40B4-BE49-F238E27FC236}">
                <a16:creationId xmlns:a16="http://schemas.microsoft.com/office/drawing/2014/main" id="{23675D11-CE12-B84E-A3E4-10E2DE2F3A16}"/>
              </a:ext>
            </a:extLst>
          </p:cNvPr>
          <p:cNvSpPr>
            <a:spLocks noGrp="1"/>
          </p:cNvSpPr>
          <p:nvPr>
            <p:ph type="pic" sz="quarter" idx="39" hasCustomPrompt="1"/>
          </p:nvPr>
        </p:nvSpPr>
        <p:spPr>
          <a:xfrm>
            <a:off x="10171367"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pic>
        <p:nvPicPr>
          <p:cNvPr id="6" name="Image 5" descr="Une image contenant texte&#10;&#10;Description générée automatiquement">
            <a:extLst>
              <a:ext uri="{FF2B5EF4-FFF2-40B4-BE49-F238E27FC236}">
                <a16:creationId xmlns:a16="http://schemas.microsoft.com/office/drawing/2014/main" id="{2E6B2E63-51C6-B65D-C59D-AA2456E0D149}"/>
              </a:ext>
            </a:extLst>
          </p:cNvPr>
          <p:cNvPicPr>
            <a:picLocks noChangeAspect="1"/>
          </p:cNvPicPr>
          <p:nvPr userDrawn="1"/>
        </p:nvPicPr>
        <p:blipFill>
          <a:blip r:embed="rId2"/>
          <a:stretch>
            <a:fillRect/>
          </a:stretch>
        </p:blipFill>
        <p:spPr>
          <a:xfrm>
            <a:off x="3292116" y="168968"/>
            <a:ext cx="5315171" cy="1077195"/>
          </a:xfrm>
          <a:prstGeom prst="rect">
            <a:avLst/>
          </a:prstGeom>
        </p:spPr>
      </p:pic>
    </p:spTree>
    <p:extLst>
      <p:ext uri="{BB962C8B-B14F-4D97-AF65-F5344CB8AC3E}">
        <p14:creationId xmlns:p14="http://schemas.microsoft.com/office/powerpoint/2010/main" val="731384935"/>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p:cSld name="Couverture_image">
    <p:spTree>
      <p:nvGrpSpPr>
        <p:cNvPr id="1" name=""/>
        <p:cNvGrpSpPr/>
        <p:nvPr/>
      </p:nvGrpSpPr>
      <p:grpSpPr>
        <a:xfrm>
          <a:off x="0" y="0"/>
          <a:ext cx="0" cy="0"/>
          <a:chOff x="0" y="0"/>
          <a:chExt cx="0" cy="0"/>
        </a:xfrm>
      </p:grpSpPr>
      <p:sp>
        <p:nvSpPr>
          <p:cNvPr id="20" name="Espace réservé du texte 19">
            <a:extLst>
              <a:ext uri="{FF2B5EF4-FFF2-40B4-BE49-F238E27FC236}">
                <a16:creationId xmlns:a16="http://schemas.microsoft.com/office/drawing/2014/main" id="{30ED6013-6A9C-7B0B-4E01-8A667F3009D2}"/>
              </a:ext>
            </a:extLst>
          </p:cNvPr>
          <p:cNvSpPr>
            <a:spLocks noGrp="1"/>
          </p:cNvSpPr>
          <p:nvPr>
            <p:ph type="body" sz="quarter" idx="15"/>
          </p:nvPr>
        </p:nvSpPr>
        <p:spPr bwMode="gray">
          <a:xfrm>
            <a:off x="0" y="3444008"/>
            <a:ext cx="12192000" cy="3413992"/>
          </a:xfrm>
          <a:custGeom>
            <a:avLst/>
            <a:gdLst>
              <a:gd name="connsiteX0" fmla="*/ 2463430 w 12192000"/>
              <a:gd name="connsiteY0" fmla="*/ 0 h 3413992"/>
              <a:gd name="connsiteX1" fmla="*/ 12192000 w 12192000"/>
              <a:gd name="connsiteY1" fmla="*/ 0 h 3413992"/>
              <a:gd name="connsiteX2" fmla="*/ 12192000 w 12192000"/>
              <a:gd name="connsiteY2" fmla="*/ 3413992 h 3413992"/>
              <a:gd name="connsiteX3" fmla="*/ 0 w 12192000"/>
              <a:gd name="connsiteY3" fmla="*/ 3413992 h 3413992"/>
              <a:gd name="connsiteX4" fmla="*/ 0 w 12192000"/>
              <a:gd name="connsiteY4" fmla="*/ 1676403 h 3413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0" h="3413992">
                <a:moveTo>
                  <a:pt x="2463430" y="0"/>
                </a:moveTo>
                <a:lnTo>
                  <a:pt x="12192000" y="0"/>
                </a:lnTo>
                <a:lnTo>
                  <a:pt x="12192000" y="3413992"/>
                </a:lnTo>
                <a:lnTo>
                  <a:pt x="0" y="3413992"/>
                </a:lnTo>
                <a:lnTo>
                  <a:pt x="0" y="1676403"/>
                </a:lnTo>
                <a:close/>
              </a:path>
            </a:pathLst>
          </a:custGeom>
          <a:solidFill>
            <a:schemeClr val="tx2"/>
          </a:solidFill>
        </p:spPr>
        <p:txBody>
          <a:bodyPr wrap="square" anchor="ctr" anchorCtr="0">
            <a:noAutofit/>
          </a:bodyPr>
          <a:lstStyle>
            <a:lvl1pPr marL="0" indent="0" algn="ctr">
              <a:buNone/>
              <a:defRPr sz="100">
                <a:solidFill>
                  <a:schemeClr val="tx2">
                    <a:alpha val="0"/>
                  </a:schemeClr>
                </a:solidFill>
              </a:defRPr>
            </a:lvl1pPr>
            <a:lvl2pPr marL="0" indent="0" algn="ctr">
              <a:buNone/>
              <a:defRPr sz="100">
                <a:solidFill>
                  <a:schemeClr val="tx2">
                    <a:alpha val="0"/>
                  </a:schemeClr>
                </a:solidFill>
              </a:defRPr>
            </a:lvl2pPr>
            <a:lvl3pPr marL="0" indent="0" algn="ctr">
              <a:buNone/>
              <a:defRPr sz="100">
                <a:solidFill>
                  <a:schemeClr val="tx2">
                    <a:alpha val="0"/>
                  </a:schemeClr>
                </a:solidFill>
              </a:defRPr>
            </a:lvl3pPr>
            <a:lvl4pPr marL="0" indent="0" algn="ctr">
              <a:buNone/>
              <a:defRPr sz="100">
                <a:solidFill>
                  <a:schemeClr val="tx2">
                    <a:alpha val="0"/>
                  </a:schemeClr>
                </a:solidFill>
              </a:defRPr>
            </a:lvl4pPr>
            <a:lvl5pPr marL="0" indent="0" algn="ctr">
              <a:buFont typeface="Arial" panose="020B0604020202020204" pitchFamily="34" charset="0"/>
              <a:buNone/>
              <a:defRPr sz="100">
                <a:solidFill>
                  <a:schemeClr val="tx2">
                    <a:alpha val="0"/>
                  </a:schemeClr>
                </a:solidFill>
              </a:defRPr>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929588DF-C903-4271-B5D6-E8C55837D023}" type="datetime3">
              <a:rPr lang="fr-FR" smtClean="0"/>
              <a:pPr/>
              <a:t>12.01.26</a:t>
            </a:fld>
            <a:endParaRPr lang="fr-FR"/>
          </a:p>
        </p:txBody>
      </p:sp>
      <p:sp>
        <p:nvSpPr>
          <p:cNvPr id="5" name="Espace réservé du pied de page 4"/>
          <p:cNvSpPr>
            <a:spLocks noGrp="1"/>
          </p:cNvSpPr>
          <p:nvPr>
            <p:ph type="ftr" sz="quarter" idx="11"/>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r>
              <a:rPr lang="fr-FR"/>
              <a:t>Kickoff Exercice STEBA 2025</a:t>
            </a:r>
          </a:p>
        </p:txBody>
      </p:sp>
      <p:sp>
        <p:nvSpPr>
          <p:cNvPr id="6" name="Espace réservé du numéro de diapositive 5"/>
          <p:cNvSpPr>
            <a:spLocks noGrp="1"/>
          </p:cNvSpPr>
          <p:nvPr>
            <p:ph type="sldNum" sz="quarter" idx="12"/>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10C140CD-8AED-46FF-A9A2-77308F3F39AE}" type="slidenum">
              <a:rPr lang="fr-FR" smtClean="0"/>
              <a:pPr/>
              <a:t>‹N°›</a:t>
            </a:fld>
            <a:endParaRPr lang="fr-FR"/>
          </a:p>
        </p:txBody>
      </p:sp>
      <p:sp>
        <p:nvSpPr>
          <p:cNvPr id="12" name="Espace réservé pour une image  11">
            <a:extLst>
              <a:ext uri="{FF2B5EF4-FFF2-40B4-BE49-F238E27FC236}">
                <a16:creationId xmlns:a16="http://schemas.microsoft.com/office/drawing/2014/main" id="{F3EFE8F6-908F-AD04-D552-BB94A1890467}"/>
              </a:ext>
            </a:extLst>
          </p:cNvPr>
          <p:cNvSpPr>
            <a:spLocks noGrp="1"/>
          </p:cNvSpPr>
          <p:nvPr>
            <p:ph type="pic" sz="quarter" idx="13" hasCustomPrompt="1"/>
          </p:nvPr>
        </p:nvSpPr>
        <p:spPr bwMode="gray">
          <a:xfrm>
            <a:off x="0" y="0"/>
            <a:ext cx="12192000" cy="6858000"/>
          </a:xfrm>
          <a:prstGeom prst="rect">
            <a:avLst/>
          </a:prstGeom>
          <a:solidFill>
            <a:schemeClr val="bg1">
              <a:lumMod val="85000"/>
            </a:schemeClr>
          </a:solidFill>
        </p:spPr>
        <p:txBody>
          <a:bodyPr wrap="square" tIns="0" bIns="2088000" anchor="ctr" anchorCtr="0">
            <a:noAutofit/>
          </a:bodyPr>
          <a:lstStyle>
            <a:lvl1pPr marL="0" marR="0" indent="0" algn="ctr" defTabSz="1219170" rtl="0" eaLnBrk="1" fontAlgn="auto" latinLnBrk="0" hangingPunct="1">
              <a:lnSpc>
                <a:spcPct val="100000"/>
              </a:lnSpc>
              <a:spcBef>
                <a:spcPts val="0"/>
              </a:spcBef>
              <a:spcAft>
                <a:spcPts val="0"/>
              </a:spcAft>
              <a:buClrTx/>
              <a:buSzTx/>
              <a:buFont typeface="Arial" pitchFamily="34" charset="0"/>
              <a:buNone/>
              <a:tabLst/>
              <a:defRPr sz="1000">
                <a:solidFill>
                  <a:schemeClr val="tx1"/>
                </a:solidFill>
                <a:latin typeface="+mj-lt"/>
              </a:defRPr>
            </a:lvl1pPr>
          </a:lstStyle>
          <a:p>
            <a:r>
              <a:rPr lang="fr-FR" noProof="0"/>
              <a:t>Sélectionner l’icône pour insérer une image, </a:t>
            </a:r>
            <a:br>
              <a:rPr lang="fr-FR" noProof="0"/>
            </a:br>
            <a:r>
              <a:rPr lang="fr-FR" noProof="0"/>
              <a:t>puis disposer l’image en arrière plan </a:t>
            </a:r>
            <a:br>
              <a:rPr lang="fr-FR" noProof="0"/>
            </a:br>
            <a:r>
              <a:rPr lang="fr-FR" noProof="0"/>
              <a:t>(Sélectionner l’image avec le bouton droit de la souris / </a:t>
            </a:r>
            <a:br>
              <a:rPr lang="fr-FR" noProof="0"/>
            </a:br>
            <a:r>
              <a:rPr lang="fr-FR" noProof="0"/>
              <a:t>Mettre à l’arrière plan)</a:t>
            </a:r>
          </a:p>
        </p:txBody>
      </p:sp>
      <p:sp>
        <p:nvSpPr>
          <p:cNvPr id="3" name="Sous-titre 2"/>
          <p:cNvSpPr>
            <a:spLocks noGrp="1"/>
          </p:cNvSpPr>
          <p:nvPr>
            <p:ph type="subTitle" idx="1" hasCustomPrompt="1"/>
          </p:nvPr>
        </p:nvSpPr>
        <p:spPr bwMode="gray">
          <a:xfrm>
            <a:off x="2465388" y="5157192"/>
            <a:ext cx="9421811" cy="828092"/>
          </a:xfrm>
        </p:spPr>
        <p:txBody>
          <a:bodyPr/>
          <a:lstStyle>
            <a:lvl1pPr marL="0" indent="0" algn="l">
              <a:buNone/>
              <a:defRPr sz="2500">
                <a:solidFill>
                  <a:schemeClr val="bg1"/>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fr-FR"/>
              <a:t>Sous-titre</a:t>
            </a:r>
          </a:p>
        </p:txBody>
      </p:sp>
      <p:sp>
        <p:nvSpPr>
          <p:cNvPr id="7" name="Titre 6"/>
          <p:cNvSpPr>
            <a:spLocks noGrp="1"/>
          </p:cNvSpPr>
          <p:nvPr>
            <p:ph type="title" hasCustomPrompt="1"/>
          </p:nvPr>
        </p:nvSpPr>
        <p:spPr bwMode="gray">
          <a:xfrm>
            <a:off x="2465388" y="3541850"/>
            <a:ext cx="9421811" cy="1548171"/>
          </a:xfrm>
        </p:spPr>
        <p:txBody>
          <a:bodyPr anchor="b" anchorCtr="0"/>
          <a:lstStyle>
            <a:lvl1pPr>
              <a:defRPr sz="4800">
                <a:solidFill>
                  <a:schemeClr val="bg1"/>
                </a:solidFill>
                <a:latin typeface="+mn-lt"/>
              </a:defRPr>
            </a:lvl1pPr>
          </a:lstStyle>
          <a:p>
            <a:r>
              <a:rPr lang="fr-FR"/>
              <a:t>Kick off</a:t>
            </a:r>
          </a:p>
        </p:txBody>
      </p:sp>
      <p:pic>
        <p:nvPicPr>
          <p:cNvPr id="2" name="Image 1" descr="Une image contenant Police, Graphique, capture d’écran, logo&#10;&#10;Description générée automatiquement">
            <a:extLst>
              <a:ext uri="{FF2B5EF4-FFF2-40B4-BE49-F238E27FC236}">
                <a16:creationId xmlns:a16="http://schemas.microsoft.com/office/drawing/2014/main" id="{4B52FA68-95C6-2BCE-1F9A-E69BF6F7A18E}"/>
              </a:ext>
            </a:extLst>
          </p:cNvPr>
          <p:cNvPicPr>
            <a:picLocks noChangeAspect="1"/>
          </p:cNvPicPr>
          <p:nvPr/>
        </p:nvPicPr>
        <p:blipFill>
          <a:blip r:embed="rId2"/>
          <a:stretch>
            <a:fillRect/>
          </a:stretch>
        </p:blipFill>
        <p:spPr>
          <a:xfrm>
            <a:off x="191344" y="6157729"/>
            <a:ext cx="2253137" cy="700271"/>
          </a:xfrm>
          <a:prstGeom prst="rect">
            <a:avLst/>
          </a:prstGeom>
        </p:spPr>
      </p:pic>
      <p:pic>
        <p:nvPicPr>
          <p:cNvPr id="8" name="Image 7" descr="Une image contenant Police, Graphique, capture d’écran, logo&#10;&#10;Description générée automatiquement">
            <a:extLst>
              <a:ext uri="{FF2B5EF4-FFF2-40B4-BE49-F238E27FC236}">
                <a16:creationId xmlns:a16="http://schemas.microsoft.com/office/drawing/2014/main" id="{6AD48206-0DEC-AE5F-8747-4CFC5F008518}"/>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189526217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553">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p:cSld name="Couverture_blanche">
    <p:spTree>
      <p:nvGrpSpPr>
        <p:cNvPr id="1" name=""/>
        <p:cNvGrpSpPr/>
        <p:nvPr/>
      </p:nvGrpSpPr>
      <p:grpSpPr>
        <a:xfrm>
          <a:off x="0" y="0"/>
          <a:ext cx="0" cy="0"/>
          <a:chOff x="0" y="0"/>
          <a:chExt cx="0" cy="0"/>
        </a:xfrm>
      </p:grpSpPr>
      <p:sp>
        <p:nvSpPr>
          <p:cNvPr id="8" name="Forme libre : forme 7">
            <a:extLst>
              <a:ext uri="{FF2B5EF4-FFF2-40B4-BE49-F238E27FC236}">
                <a16:creationId xmlns:a16="http://schemas.microsoft.com/office/drawing/2014/main" id="{C72FA600-477D-9DA8-E597-75D1F7B6FC73}"/>
              </a:ext>
            </a:extLst>
          </p:cNvPr>
          <p:cNvSpPr/>
          <p:nvPr/>
        </p:nvSpPr>
        <p:spPr bwMode="gray">
          <a:xfrm>
            <a:off x="0" y="4038389"/>
            <a:ext cx="12192000" cy="2819611"/>
          </a:xfrm>
          <a:custGeom>
            <a:avLst/>
            <a:gdLst>
              <a:gd name="connsiteX0" fmla="*/ 2463430 w 12192000"/>
              <a:gd name="connsiteY0" fmla="*/ 0 h 2819611"/>
              <a:gd name="connsiteX1" fmla="*/ 12192000 w 12192000"/>
              <a:gd name="connsiteY1" fmla="*/ 0 h 2819611"/>
              <a:gd name="connsiteX2" fmla="*/ 12192000 w 12192000"/>
              <a:gd name="connsiteY2" fmla="*/ 2819611 h 2819611"/>
              <a:gd name="connsiteX3" fmla="*/ 0 w 12192000"/>
              <a:gd name="connsiteY3" fmla="*/ 2819611 h 2819611"/>
              <a:gd name="connsiteX4" fmla="*/ 0 w 12192000"/>
              <a:gd name="connsiteY4" fmla="*/ 1675192 h 2819611"/>
              <a:gd name="connsiteX5" fmla="*/ 1780 w 12192000"/>
              <a:gd name="connsiteY5" fmla="*/ 1675192 h 2819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2819611">
                <a:moveTo>
                  <a:pt x="2463430" y="0"/>
                </a:moveTo>
                <a:lnTo>
                  <a:pt x="12192000" y="0"/>
                </a:lnTo>
                <a:lnTo>
                  <a:pt x="12192000" y="2819611"/>
                </a:lnTo>
                <a:lnTo>
                  <a:pt x="0" y="2819611"/>
                </a:lnTo>
                <a:lnTo>
                  <a:pt x="0" y="1675192"/>
                </a:lnTo>
                <a:lnTo>
                  <a:pt x="1780" y="1675192"/>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3" name="Sous-titre 2"/>
          <p:cNvSpPr>
            <a:spLocks noGrp="1"/>
          </p:cNvSpPr>
          <p:nvPr>
            <p:ph type="subTitle" idx="1" hasCustomPrompt="1"/>
          </p:nvPr>
        </p:nvSpPr>
        <p:spPr bwMode="gray">
          <a:xfrm>
            <a:off x="2466000" y="2707671"/>
            <a:ext cx="9421200" cy="828000"/>
          </a:xfrm>
        </p:spPr>
        <p:txBody>
          <a:bodyPr/>
          <a:lstStyle>
            <a:lvl1pPr marL="0" indent="0" algn="l">
              <a:buNone/>
              <a:defRPr sz="2500">
                <a:solidFill>
                  <a:schemeClr val="tx2"/>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fr-FR"/>
              <a:t>Sous-titre</a:t>
            </a:r>
          </a:p>
        </p:txBody>
      </p:sp>
      <p:sp>
        <p:nvSpPr>
          <p:cNvPr id="4" name="Espace réservé de la date 3"/>
          <p:cNvSpPr>
            <a:spLocks noGrp="1"/>
          </p:cNvSpPr>
          <p:nvPr>
            <p:ph type="dt" sz="half" idx="10"/>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929588DF-C903-4271-B5D6-E8C55837D023}" type="datetime3">
              <a:rPr lang="fr-FR" smtClean="0"/>
              <a:pPr/>
              <a:t>12.01.26</a:t>
            </a:fld>
            <a:endParaRPr lang="fr-FR"/>
          </a:p>
        </p:txBody>
      </p:sp>
      <p:sp>
        <p:nvSpPr>
          <p:cNvPr id="5" name="Espace réservé du pied de page 4"/>
          <p:cNvSpPr>
            <a:spLocks noGrp="1"/>
          </p:cNvSpPr>
          <p:nvPr>
            <p:ph type="ftr" sz="quarter" idx="11"/>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6" name="Espace réservé du numéro de diapositive 5"/>
          <p:cNvSpPr>
            <a:spLocks noGrp="1"/>
          </p:cNvSpPr>
          <p:nvPr>
            <p:ph type="sldNum" sz="quarter" idx="12"/>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10C140CD-8AED-46FF-A9A2-77308F3F39AE}" type="slidenum">
              <a:rPr lang="fr-FR" smtClean="0"/>
              <a:pPr/>
              <a:t>‹N°›</a:t>
            </a:fld>
            <a:endParaRPr lang="fr-FR"/>
          </a:p>
        </p:txBody>
      </p:sp>
      <p:sp>
        <p:nvSpPr>
          <p:cNvPr id="7" name="Titre 6"/>
          <p:cNvSpPr>
            <a:spLocks noGrp="1"/>
          </p:cNvSpPr>
          <p:nvPr>
            <p:ph type="title" hasCustomPrompt="1"/>
          </p:nvPr>
        </p:nvSpPr>
        <p:spPr bwMode="gray">
          <a:xfrm>
            <a:off x="2466000" y="1092329"/>
            <a:ext cx="9421200" cy="1548171"/>
          </a:xfrm>
        </p:spPr>
        <p:txBody>
          <a:bodyPr anchor="b" anchorCtr="0"/>
          <a:lstStyle>
            <a:lvl1pPr>
              <a:defRPr sz="4800">
                <a:solidFill>
                  <a:schemeClr val="tx2"/>
                </a:solidFill>
                <a:latin typeface="+mn-lt"/>
              </a:defRPr>
            </a:lvl1pPr>
          </a:lstStyle>
          <a:p>
            <a:r>
              <a:rPr lang="fr-FR"/>
              <a:t>Titre de la présentation </a:t>
            </a:r>
          </a:p>
        </p:txBody>
      </p:sp>
      <p:pic>
        <p:nvPicPr>
          <p:cNvPr id="9" name="Image 8">
            <a:extLst>
              <a:ext uri="{FF2B5EF4-FFF2-40B4-BE49-F238E27FC236}">
                <a16:creationId xmlns:a16="http://schemas.microsoft.com/office/drawing/2014/main" id="{7C981B81-1928-CD35-0708-D1221C2A0078}"/>
              </a:ext>
            </a:extLst>
          </p:cNvPr>
          <p:cNvPicPr>
            <a:picLocks noChangeAspect="1"/>
          </p:cNvPicPr>
          <p:nvPr/>
        </p:nvPicPr>
        <p:blipFill>
          <a:blip r:embed="rId2"/>
          <a:stretch>
            <a:fillRect/>
          </a:stretch>
        </p:blipFill>
        <p:spPr>
          <a:xfrm>
            <a:off x="2567608" y="4596813"/>
            <a:ext cx="3771064" cy="327625"/>
          </a:xfrm>
          <a:prstGeom prst="rect">
            <a:avLst/>
          </a:prstGeom>
        </p:spPr>
      </p:pic>
      <p:sp>
        <p:nvSpPr>
          <p:cNvPr id="2" name="Forme libre : forme 1">
            <a:extLst>
              <a:ext uri="{FF2B5EF4-FFF2-40B4-BE49-F238E27FC236}">
                <a16:creationId xmlns:a16="http://schemas.microsoft.com/office/drawing/2014/main" id="{2499C8EE-694E-AE6E-453F-828EAB6A7CA6}"/>
              </a:ext>
            </a:extLst>
          </p:cNvPr>
          <p:cNvSpPr/>
          <p:nvPr userDrawn="1"/>
        </p:nvSpPr>
        <p:spPr bwMode="gray">
          <a:xfrm>
            <a:off x="0" y="4038389"/>
            <a:ext cx="12192000" cy="2819611"/>
          </a:xfrm>
          <a:custGeom>
            <a:avLst/>
            <a:gdLst>
              <a:gd name="connsiteX0" fmla="*/ 2463430 w 12192000"/>
              <a:gd name="connsiteY0" fmla="*/ 0 h 2819611"/>
              <a:gd name="connsiteX1" fmla="*/ 12192000 w 12192000"/>
              <a:gd name="connsiteY1" fmla="*/ 0 h 2819611"/>
              <a:gd name="connsiteX2" fmla="*/ 12192000 w 12192000"/>
              <a:gd name="connsiteY2" fmla="*/ 2819611 h 2819611"/>
              <a:gd name="connsiteX3" fmla="*/ 0 w 12192000"/>
              <a:gd name="connsiteY3" fmla="*/ 2819611 h 2819611"/>
              <a:gd name="connsiteX4" fmla="*/ 0 w 12192000"/>
              <a:gd name="connsiteY4" fmla="*/ 1675192 h 2819611"/>
              <a:gd name="connsiteX5" fmla="*/ 1780 w 12192000"/>
              <a:gd name="connsiteY5" fmla="*/ 1675192 h 2819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2819611">
                <a:moveTo>
                  <a:pt x="2463430" y="0"/>
                </a:moveTo>
                <a:lnTo>
                  <a:pt x="12192000" y="0"/>
                </a:lnTo>
                <a:lnTo>
                  <a:pt x="12192000" y="2819611"/>
                </a:lnTo>
                <a:lnTo>
                  <a:pt x="0" y="2819611"/>
                </a:lnTo>
                <a:lnTo>
                  <a:pt x="0" y="1675192"/>
                </a:lnTo>
                <a:lnTo>
                  <a:pt x="1780" y="1675192"/>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933C2B9C-A845-C134-C830-45456D9E924A}"/>
              </a:ext>
            </a:extLst>
          </p:cNvPr>
          <p:cNvPicPr>
            <a:picLocks noChangeAspect="1"/>
          </p:cNvPicPr>
          <p:nvPr userDrawn="1"/>
        </p:nvPicPr>
        <p:blipFill>
          <a:blip r:embed="rId2"/>
          <a:stretch>
            <a:fillRect/>
          </a:stretch>
        </p:blipFill>
        <p:spPr>
          <a:xfrm>
            <a:off x="2567608" y="4596813"/>
            <a:ext cx="3771064" cy="327625"/>
          </a:xfrm>
          <a:prstGeom prst="rect">
            <a:avLst/>
          </a:prstGeom>
        </p:spPr>
      </p:pic>
    </p:spTree>
    <p:extLst>
      <p:ext uri="{BB962C8B-B14F-4D97-AF65-F5344CB8AC3E}">
        <p14:creationId xmlns:p14="http://schemas.microsoft.com/office/powerpoint/2010/main" val="37238344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549">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p:cSld name="Couverture_bleu">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D8818AE-EE7D-434F-97DA-B3B818051609}"/>
              </a:ext>
            </a:extLst>
          </p:cNvPr>
          <p:cNvSpPr/>
          <p:nvPr/>
        </p:nvSpPr>
        <p:spPr bwMode="gray">
          <a:xfrm>
            <a:off x="0" y="0"/>
            <a:ext cx="12192000" cy="6858000"/>
          </a:xfrm>
          <a:prstGeom prst="rect">
            <a:avLst/>
          </a:prstGeom>
          <a:solidFill>
            <a:srgbClr val="00193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2A1C1CF4-7E4B-B28F-5E8A-09B38D67B819}"/>
              </a:ext>
            </a:extLst>
          </p:cNvPr>
          <p:cNvSpPr/>
          <p:nvPr/>
        </p:nvSpPr>
        <p:spPr bwMode="gray">
          <a:xfrm>
            <a:off x="0" y="4038390"/>
            <a:ext cx="12192000" cy="2819611"/>
          </a:xfrm>
          <a:custGeom>
            <a:avLst/>
            <a:gdLst>
              <a:gd name="connsiteX0" fmla="*/ 2463430 w 12192000"/>
              <a:gd name="connsiteY0" fmla="*/ 0 h 2819611"/>
              <a:gd name="connsiteX1" fmla="*/ 12192000 w 12192000"/>
              <a:gd name="connsiteY1" fmla="*/ 0 h 2819611"/>
              <a:gd name="connsiteX2" fmla="*/ 12192000 w 12192000"/>
              <a:gd name="connsiteY2" fmla="*/ 2819611 h 2819611"/>
              <a:gd name="connsiteX3" fmla="*/ 0 w 12192000"/>
              <a:gd name="connsiteY3" fmla="*/ 2819611 h 2819611"/>
              <a:gd name="connsiteX4" fmla="*/ 0 w 12192000"/>
              <a:gd name="connsiteY4" fmla="*/ 1675192 h 2819611"/>
              <a:gd name="connsiteX5" fmla="*/ 1780 w 12192000"/>
              <a:gd name="connsiteY5" fmla="*/ 1675192 h 2819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2819611">
                <a:moveTo>
                  <a:pt x="2463430" y="0"/>
                </a:moveTo>
                <a:lnTo>
                  <a:pt x="12192000" y="0"/>
                </a:lnTo>
                <a:lnTo>
                  <a:pt x="12192000" y="2819611"/>
                </a:lnTo>
                <a:lnTo>
                  <a:pt x="0" y="2819611"/>
                </a:lnTo>
                <a:lnTo>
                  <a:pt x="0" y="1675192"/>
                </a:lnTo>
                <a:lnTo>
                  <a:pt x="1780" y="1675192"/>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3" name="Sous-titre 2"/>
          <p:cNvSpPr>
            <a:spLocks noGrp="1"/>
          </p:cNvSpPr>
          <p:nvPr>
            <p:ph type="subTitle" idx="1" hasCustomPrompt="1"/>
          </p:nvPr>
        </p:nvSpPr>
        <p:spPr bwMode="gray">
          <a:xfrm>
            <a:off x="2466000" y="2707671"/>
            <a:ext cx="9421200" cy="828000"/>
          </a:xfrm>
        </p:spPr>
        <p:txBody>
          <a:bodyPr/>
          <a:lstStyle>
            <a:lvl1pPr marL="0" indent="0" algn="l">
              <a:buNone/>
              <a:defRPr sz="2500">
                <a:solidFill>
                  <a:schemeClr val="bg1"/>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fr-FR"/>
              <a:t>Sous-titre</a:t>
            </a:r>
          </a:p>
        </p:txBody>
      </p:sp>
      <p:sp>
        <p:nvSpPr>
          <p:cNvPr id="4" name="Espace réservé de la date 3"/>
          <p:cNvSpPr>
            <a:spLocks noGrp="1"/>
          </p:cNvSpPr>
          <p:nvPr>
            <p:ph type="dt" sz="half" idx="10"/>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929588DF-C903-4271-B5D6-E8C55837D023}" type="datetime3">
              <a:rPr lang="fr-FR" smtClean="0"/>
              <a:pPr/>
              <a:t>12.01.26</a:t>
            </a:fld>
            <a:endParaRPr lang="fr-FR"/>
          </a:p>
        </p:txBody>
      </p:sp>
      <p:sp>
        <p:nvSpPr>
          <p:cNvPr id="5" name="Espace réservé du pied de page 4"/>
          <p:cNvSpPr>
            <a:spLocks noGrp="1"/>
          </p:cNvSpPr>
          <p:nvPr>
            <p:ph type="ftr" sz="quarter" idx="11"/>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6" name="Espace réservé du numéro de diapositive 5"/>
          <p:cNvSpPr>
            <a:spLocks noGrp="1"/>
          </p:cNvSpPr>
          <p:nvPr>
            <p:ph type="sldNum" sz="quarter" idx="12"/>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10C140CD-8AED-46FF-A9A2-77308F3F39AE}" type="slidenum">
              <a:rPr lang="fr-FR" smtClean="0"/>
              <a:pPr/>
              <a:t>‹N°›</a:t>
            </a:fld>
            <a:endParaRPr lang="fr-FR"/>
          </a:p>
        </p:txBody>
      </p:sp>
      <p:sp>
        <p:nvSpPr>
          <p:cNvPr id="7" name="Titre 6"/>
          <p:cNvSpPr>
            <a:spLocks noGrp="1"/>
          </p:cNvSpPr>
          <p:nvPr>
            <p:ph type="title" hasCustomPrompt="1"/>
          </p:nvPr>
        </p:nvSpPr>
        <p:spPr bwMode="gray">
          <a:xfrm>
            <a:off x="2466000" y="1092329"/>
            <a:ext cx="9421200" cy="1548171"/>
          </a:xfrm>
        </p:spPr>
        <p:txBody>
          <a:bodyPr anchor="b" anchorCtr="0"/>
          <a:lstStyle>
            <a:lvl1pPr>
              <a:defRPr sz="4800">
                <a:solidFill>
                  <a:schemeClr val="bg1"/>
                </a:solidFill>
                <a:latin typeface="+mn-lt"/>
              </a:defRPr>
            </a:lvl1pPr>
          </a:lstStyle>
          <a:p>
            <a:r>
              <a:rPr lang="fr-FR"/>
              <a:t>Titre de la présentation </a:t>
            </a:r>
          </a:p>
        </p:txBody>
      </p:sp>
      <p:pic>
        <p:nvPicPr>
          <p:cNvPr id="11" name="Image 10">
            <a:extLst>
              <a:ext uri="{FF2B5EF4-FFF2-40B4-BE49-F238E27FC236}">
                <a16:creationId xmlns:a16="http://schemas.microsoft.com/office/drawing/2014/main" id="{49C51ED0-2DA5-B09F-88EA-CAE5E2427628}"/>
              </a:ext>
            </a:extLst>
          </p:cNvPr>
          <p:cNvPicPr>
            <a:picLocks noChangeAspect="1"/>
          </p:cNvPicPr>
          <p:nvPr/>
        </p:nvPicPr>
        <p:blipFill>
          <a:blip r:embed="rId2"/>
          <a:stretch>
            <a:fillRect/>
          </a:stretch>
        </p:blipFill>
        <p:spPr>
          <a:xfrm>
            <a:off x="2567608" y="4596813"/>
            <a:ext cx="3771064" cy="327625"/>
          </a:xfrm>
          <a:prstGeom prst="rect">
            <a:avLst/>
          </a:prstGeom>
        </p:spPr>
      </p:pic>
      <p:sp>
        <p:nvSpPr>
          <p:cNvPr id="2" name="Rectangle 1">
            <a:extLst>
              <a:ext uri="{FF2B5EF4-FFF2-40B4-BE49-F238E27FC236}">
                <a16:creationId xmlns:a16="http://schemas.microsoft.com/office/drawing/2014/main" id="{89BC0F1E-9EFC-13BC-D538-DE4FC7F5D36C}"/>
              </a:ext>
            </a:extLst>
          </p:cNvPr>
          <p:cNvSpPr/>
          <p:nvPr userDrawn="1"/>
        </p:nvSpPr>
        <p:spPr bwMode="gray">
          <a:xfrm>
            <a:off x="0" y="0"/>
            <a:ext cx="12192000" cy="6858000"/>
          </a:xfrm>
          <a:prstGeom prst="rect">
            <a:avLst/>
          </a:prstGeom>
          <a:solidFill>
            <a:srgbClr val="00193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0" name="Forme libre : forme 9">
            <a:extLst>
              <a:ext uri="{FF2B5EF4-FFF2-40B4-BE49-F238E27FC236}">
                <a16:creationId xmlns:a16="http://schemas.microsoft.com/office/drawing/2014/main" id="{60D9073D-2080-2785-C844-61D7000175A1}"/>
              </a:ext>
            </a:extLst>
          </p:cNvPr>
          <p:cNvSpPr/>
          <p:nvPr userDrawn="1"/>
        </p:nvSpPr>
        <p:spPr bwMode="gray">
          <a:xfrm>
            <a:off x="0" y="4038390"/>
            <a:ext cx="12192000" cy="2819611"/>
          </a:xfrm>
          <a:custGeom>
            <a:avLst/>
            <a:gdLst>
              <a:gd name="connsiteX0" fmla="*/ 2463430 w 12192000"/>
              <a:gd name="connsiteY0" fmla="*/ 0 h 2819611"/>
              <a:gd name="connsiteX1" fmla="*/ 12192000 w 12192000"/>
              <a:gd name="connsiteY1" fmla="*/ 0 h 2819611"/>
              <a:gd name="connsiteX2" fmla="*/ 12192000 w 12192000"/>
              <a:gd name="connsiteY2" fmla="*/ 2819611 h 2819611"/>
              <a:gd name="connsiteX3" fmla="*/ 0 w 12192000"/>
              <a:gd name="connsiteY3" fmla="*/ 2819611 h 2819611"/>
              <a:gd name="connsiteX4" fmla="*/ 0 w 12192000"/>
              <a:gd name="connsiteY4" fmla="*/ 1675192 h 2819611"/>
              <a:gd name="connsiteX5" fmla="*/ 1780 w 12192000"/>
              <a:gd name="connsiteY5" fmla="*/ 1675192 h 2819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2819611">
                <a:moveTo>
                  <a:pt x="2463430" y="0"/>
                </a:moveTo>
                <a:lnTo>
                  <a:pt x="12192000" y="0"/>
                </a:lnTo>
                <a:lnTo>
                  <a:pt x="12192000" y="2819611"/>
                </a:lnTo>
                <a:lnTo>
                  <a:pt x="0" y="2819611"/>
                </a:lnTo>
                <a:lnTo>
                  <a:pt x="0" y="1675192"/>
                </a:lnTo>
                <a:lnTo>
                  <a:pt x="1780" y="1675192"/>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Image 11">
            <a:extLst>
              <a:ext uri="{FF2B5EF4-FFF2-40B4-BE49-F238E27FC236}">
                <a16:creationId xmlns:a16="http://schemas.microsoft.com/office/drawing/2014/main" id="{9C86A122-BCAC-819C-715A-2D13F87C0ADD}"/>
              </a:ext>
            </a:extLst>
          </p:cNvPr>
          <p:cNvPicPr>
            <a:picLocks noChangeAspect="1"/>
          </p:cNvPicPr>
          <p:nvPr userDrawn="1"/>
        </p:nvPicPr>
        <p:blipFill>
          <a:blip r:embed="rId2"/>
          <a:stretch>
            <a:fillRect/>
          </a:stretch>
        </p:blipFill>
        <p:spPr>
          <a:xfrm>
            <a:off x="2567608" y="4596813"/>
            <a:ext cx="3771064" cy="327625"/>
          </a:xfrm>
          <a:prstGeom prst="rect">
            <a:avLst/>
          </a:prstGeom>
        </p:spPr>
      </p:pic>
    </p:spTree>
    <p:extLst>
      <p:ext uri="{BB962C8B-B14F-4D97-AF65-F5344CB8AC3E}">
        <p14:creationId xmlns:p14="http://schemas.microsoft.com/office/powerpoint/2010/main" val="1385591260"/>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p:cSld name="Sommair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5CAD8035-B4FD-DC29-463B-13706C1A040E}"/>
              </a:ext>
            </a:extLst>
          </p:cNvPr>
          <p:cNvSpPr/>
          <p:nvPr/>
        </p:nvSpPr>
        <p:spPr bwMode="gray">
          <a:xfrm>
            <a:off x="0" y="0"/>
            <a:ext cx="12192000"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0" name="Forme libre : forme 9">
            <a:extLst>
              <a:ext uri="{FF2B5EF4-FFF2-40B4-BE49-F238E27FC236}">
                <a16:creationId xmlns:a16="http://schemas.microsoft.com/office/drawing/2014/main" id="{CF83F4C1-B9CC-983A-87E2-C1B98A3D183C}"/>
              </a:ext>
            </a:extLst>
          </p:cNvPr>
          <p:cNvSpPr/>
          <p:nvPr/>
        </p:nvSpPr>
        <p:spPr bwMode="gray">
          <a:xfrm>
            <a:off x="0" y="5900738"/>
            <a:ext cx="12192000" cy="957262"/>
          </a:xfrm>
          <a:custGeom>
            <a:avLst/>
            <a:gdLst>
              <a:gd name="connsiteX0" fmla="*/ 496367 w 12192000"/>
              <a:gd name="connsiteY0" fmla="*/ 0 h 957262"/>
              <a:gd name="connsiteX1" fmla="*/ 12192000 w 12192000"/>
              <a:gd name="connsiteY1" fmla="*/ 0 h 957262"/>
              <a:gd name="connsiteX2" fmla="*/ 12192000 w 12192000"/>
              <a:gd name="connsiteY2" fmla="*/ 957262 h 957262"/>
              <a:gd name="connsiteX3" fmla="*/ 0 w 12192000"/>
              <a:gd name="connsiteY3" fmla="*/ 957262 h 957262"/>
              <a:gd name="connsiteX4" fmla="*/ 0 w 12192000"/>
              <a:gd name="connsiteY4" fmla="*/ 336574 h 957262"/>
              <a:gd name="connsiteX5" fmla="*/ 1780 w 12192000"/>
              <a:gd name="connsiteY5" fmla="*/ 336574 h 957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57262">
                <a:moveTo>
                  <a:pt x="496367" y="0"/>
                </a:moveTo>
                <a:lnTo>
                  <a:pt x="12192000" y="0"/>
                </a:lnTo>
                <a:lnTo>
                  <a:pt x="12192000" y="957262"/>
                </a:lnTo>
                <a:lnTo>
                  <a:pt x="0" y="957262"/>
                </a:lnTo>
                <a:lnTo>
                  <a:pt x="0" y="336574"/>
                </a:lnTo>
                <a:lnTo>
                  <a:pt x="1780" y="336574"/>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2C044A65-6B74-E2BA-A3BF-5A6EC0146C3D}"/>
              </a:ext>
            </a:extLst>
          </p:cNvPr>
          <p:cNvSpPr>
            <a:spLocks noGrp="1"/>
          </p:cNvSpPr>
          <p:nvPr>
            <p:ph type="title" hasCustomPrompt="1"/>
          </p:nvPr>
        </p:nvSpPr>
        <p:spPr bwMode="gray">
          <a:xfrm>
            <a:off x="463551" y="680357"/>
            <a:ext cx="11157828" cy="516396"/>
          </a:xfrm>
        </p:spPr>
        <p:txBody>
          <a:bodyPr/>
          <a:lstStyle>
            <a:lvl1pPr>
              <a:defRPr/>
            </a:lvl1pPr>
          </a:lstStyle>
          <a:p>
            <a:r>
              <a:rPr lang="fr-FR"/>
              <a:t>Sommaire</a:t>
            </a:r>
          </a:p>
        </p:txBody>
      </p:sp>
      <p:sp>
        <p:nvSpPr>
          <p:cNvPr id="3" name="Espace réservé de la date 2">
            <a:extLst>
              <a:ext uri="{FF2B5EF4-FFF2-40B4-BE49-F238E27FC236}">
                <a16:creationId xmlns:a16="http://schemas.microsoft.com/office/drawing/2014/main" id="{2EBD6A5D-3E9E-7C29-9B1A-4AF311C18165}"/>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FF336620-0E66-B067-96ED-4933C90F7CDF}"/>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D4AABB4D-3980-DDE5-07D2-9AB530B106DF}"/>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13" name="Espace réservé du texte 12">
            <a:extLst>
              <a:ext uri="{FF2B5EF4-FFF2-40B4-BE49-F238E27FC236}">
                <a16:creationId xmlns:a16="http://schemas.microsoft.com/office/drawing/2014/main" id="{D187E8B9-C2A3-8206-4A1E-5035DA01DA3D}"/>
              </a:ext>
            </a:extLst>
          </p:cNvPr>
          <p:cNvSpPr>
            <a:spLocks noGrp="1"/>
          </p:cNvSpPr>
          <p:nvPr>
            <p:ph type="body" sz="quarter" idx="13" hasCustomPrompt="1"/>
          </p:nvPr>
        </p:nvSpPr>
        <p:spPr bwMode="gray">
          <a:xfrm>
            <a:off x="0" y="1825149"/>
            <a:ext cx="833974" cy="631743"/>
          </a:xfrm>
        </p:spPr>
        <p:txBody>
          <a:bodyPr anchor="ctr" anchorCtr="0"/>
          <a:lstStyle>
            <a:lvl1pPr marL="0" indent="0" algn="r">
              <a:spcAft>
                <a:spcPts val="0"/>
              </a:spcAft>
              <a:buNone/>
              <a:defRPr sz="4100"/>
            </a:lvl1pPr>
          </a:lstStyle>
          <a:p>
            <a:pPr lvl="0"/>
            <a:r>
              <a:rPr lang="fr-FR"/>
              <a:t>1</a:t>
            </a:r>
          </a:p>
        </p:txBody>
      </p:sp>
      <p:sp>
        <p:nvSpPr>
          <p:cNvPr id="14" name="Espace réservé du texte 12">
            <a:extLst>
              <a:ext uri="{FF2B5EF4-FFF2-40B4-BE49-F238E27FC236}">
                <a16:creationId xmlns:a16="http://schemas.microsoft.com/office/drawing/2014/main" id="{7E64F1E5-B8EF-C1E1-FA81-D5F504E3B7F8}"/>
              </a:ext>
            </a:extLst>
          </p:cNvPr>
          <p:cNvSpPr>
            <a:spLocks noGrp="1"/>
          </p:cNvSpPr>
          <p:nvPr>
            <p:ph type="body" sz="quarter" idx="14" hasCustomPrompt="1"/>
          </p:nvPr>
        </p:nvSpPr>
        <p:spPr bwMode="gray">
          <a:xfrm>
            <a:off x="997664" y="1825149"/>
            <a:ext cx="2664296" cy="633600"/>
          </a:xfrm>
        </p:spPr>
        <p:txBody>
          <a:bodyPr anchor="ctr" anchorCtr="0">
            <a:normAutofit/>
          </a:bodyPr>
          <a:lstStyle>
            <a:lvl1pPr marL="0" indent="0" algn="l">
              <a:spcAft>
                <a:spcPts val="0"/>
              </a:spcAft>
              <a:buNone/>
              <a:defRPr sz="1600"/>
            </a:lvl1pPr>
          </a:lstStyle>
          <a:p>
            <a:pPr lvl="0"/>
            <a:r>
              <a:rPr lang="fr-FR"/>
              <a:t>Titre du chapitre 1</a:t>
            </a:r>
          </a:p>
        </p:txBody>
      </p:sp>
      <p:sp>
        <p:nvSpPr>
          <p:cNvPr id="15" name="Espace réservé du texte 12">
            <a:extLst>
              <a:ext uri="{FF2B5EF4-FFF2-40B4-BE49-F238E27FC236}">
                <a16:creationId xmlns:a16="http://schemas.microsoft.com/office/drawing/2014/main" id="{749458D7-9FD9-2985-F79A-C2465C958DE0}"/>
              </a:ext>
            </a:extLst>
          </p:cNvPr>
          <p:cNvSpPr>
            <a:spLocks noGrp="1"/>
          </p:cNvSpPr>
          <p:nvPr>
            <p:ph type="body" sz="quarter" idx="15" hasCustomPrompt="1"/>
          </p:nvPr>
        </p:nvSpPr>
        <p:spPr bwMode="gray">
          <a:xfrm>
            <a:off x="3979710" y="1825149"/>
            <a:ext cx="833974" cy="631743"/>
          </a:xfrm>
        </p:spPr>
        <p:txBody>
          <a:bodyPr anchor="ctr" anchorCtr="0"/>
          <a:lstStyle>
            <a:lvl1pPr marL="0" indent="0" algn="r">
              <a:spcAft>
                <a:spcPts val="0"/>
              </a:spcAft>
              <a:buNone/>
              <a:defRPr sz="4100"/>
            </a:lvl1pPr>
          </a:lstStyle>
          <a:p>
            <a:pPr lvl="0"/>
            <a:r>
              <a:rPr lang="fr-FR"/>
              <a:t>2</a:t>
            </a:r>
          </a:p>
        </p:txBody>
      </p:sp>
      <p:sp>
        <p:nvSpPr>
          <p:cNvPr id="16" name="Espace réservé du texte 12">
            <a:extLst>
              <a:ext uri="{FF2B5EF4-FFF2-40B4-BE49-F238E27FC236}">
                <a16:creationId xmlns:a16="http://schemas.microsoft.com/office/drawing/2014/main" id="{DFAD66BF-CD90-A6E1-BB56-5B2F1835C50E}"/>
              </a:ext>
            </a:extLst>
          </p:cNvPr>
          <p:cNvSpPr>
            <a:spLocks noGrp="1"/>
          </p:cNvSpPr>
          <p:nvPr>
            <p:ph type="body" sz="quarter" idx="16" hasCustomPrompt="1"/>
          </p:nvPr>
        </p:nvSpPr>
        <p:spPr bwMode="gray">
          <a:xfrm>
            <a:off x="4977374" y="1825149"/>
            <a:ext cx="2664296" cy="633600"/>
          </a:xfrm>
        </p:spPr>
        <p:txBody>
          <a:bodyPr anchor="ctr" anchorCtr="0">
            <a:normAutofit/>
          </a:bodyPr>
          <a:lstStyle>
            <a:lvl1pPr marL="0" indent="0" algn="l">
              <a:spcAft>
                <a:spcPts val="0"/>
              </a:spcAft>
              <a:buNone/>
              <a:defRPr sz="1600"/>
            </a:lvl1pPr>
          </a:lstStyle>
          <a:p>
            <a:pPr lvl="0"/>
            <a:r>
              <a:rPr lang="fr-FR"/>
              <a:t>Titre du chapitre 2</a:t>
            </a:r>
          </a:p>
        </p:txBody>
      </p:sp>
      <p:sp>
        <p:nvSpPr>
          <p:cNvPr id="17" name="Espace réservé du texte 12">
            <a:extLst>
              <a:ext uri="{FF2B5EF4-FFF2-40B4-BE49-F238E27FC236}">
                <a16:creationId xmlns:a16="http://schemas.microsoft.com/office/drawing/2014/main" id="{FCB57F38-5018-2158-5147-994ED29AE9A9}"/>
              </a:ext>
            </a:extLst>
          </p:cNvPr>
          <p:cNvSpPr>
            <a:spLocks noGrp="1"/>
          </p:cNvSpPr>
          <p:nvPr>
            <p:ph type="body" sz="quarter" idx="17" hasCustomPrompt="1"/>
          </p:nvPr>
        </p:nvSpPr>
        <p:spPr bwMode="gray">
          <a:xfrm>
            <a:off x="7959419" y="1825149"/>
            <a:ext cx="833974" cy="631743"/>
          </a:xfrm>
        </p:spPr>
        <p:txBody>
          <a:bodyPr anchor="ctr" anchorCtr="0"/>
          <a:lstStyle>
            <a:lvl1pPr marL="0" indent="0" algn="r">
              <a:spcAft>
                <a:spcPts val="0"/>
              </a:spcAft>
              <a:buNone/>
              <a:defRPr sz="4100"/>
            </a:lvl1pPr>
          </a:lstStyle>
          <a:p>
            <a:pPr lvl="0"/>
            <a:r>
              <a:rPr lang="fr-FR"/>
              <a:t>3</a:t>
            </a:r>
          </a:p>
        </p:txBody>
      </p:sp>
      <p:sp>
        <p:nvSpPr>
          <p:cNvPr id="18" name="Espace réservé du texte 12">
            <a:extLst>
              <a:ext uri="{FF2B5EF4-FFF2-40B4-BE49-F238E27FC236}">
                <a16:creationId xmlns:a16="http://schemas.microsoft.com/office/drawing/2014/main" id="{A5B81591-82E0-FDB0-FAEE-3C1D7AB6A3B9}"/>
              </a:ext>
            </a:extLst>
          </p:cNvPr>
          <p:cNvSpPr>
            <a:spLocks noGrp="1"/>
          </p:cNvSpPr>
          <p:nvPr>
            <p:ph type="body" sz="quarter" idx="18" hasCustomPrompt="1"/>
          </p:nvPr>
        </p:nvSpPr>
        <p:spPr bwMode="gray">
          <a:xfrm>
            <a:off x="8957083" y="1825149"/>
            <a:ext cx="2664296" cy="633600"/>
          </a:xfrm>
        </p:spPr>
        <p:txBody>
          <a:bodyPr anchor="ctr" anchorCtr="0">
            <a:normAutofit/>
          </a:bodyPr>
          <a:lstStyle>
            <a:lvl1pPr marL="0" indent="0" algn="l">
              <a:spcAft>
                <a:spcPts val="0"/>
              </a:spcAft>
              <a:buNone/>
              <a:defRPr sz="1600"/>
            </a:lvl1pPr>
          </a:lstStyle>
          <a:p>
            <a:pPr lvl="0"/>
            <a:r>
              <a:rPr lang="fr-FR"/>
              <a:t>Titre du chapitre 3</a:t>
            </a:r>
          </a:p>
        </p:txBody>
      </p:sp>
      <p:sp>
        <p:nvSpPr>
          <p:cNvPr id="31" name="Espace réservé du texte 12">
            <a:extLst>
              <a:ext uri="{FF2B5EF4-FFF2-40B4-BE49-F238E27FC236}">
                <a16:creationId xmlns:a16="http://schemas.microsoft.com/office/drawing/2014/main" id="{A35329AE-422E-2F51-AFEC-BD09F50F2AAF}"/>
              </a:ext>
            </a:extLst>
          </p:cNvPr>
          <p:cNvSpPr>
            <a:spLocks noGrp="1"/>
          </p:cNvSpPr>
          <p:nvPr>
            <p:ph type="body" sz="quarter" idx="19" hasCustomPrompt="1"/>
          </p:nvPr>
        </p:nvSpPr>
        <p:spPr bwMode="gray">
          <a:xfrm>
            <a:off x="0" y="2988163"/>
            <a:ext cx="833974" cy="631743"/>
          </a:xfrm>
        </p:spPr>
        <p:txBody>
          <a:bodyPr anchor="ctr" anchorCtr="0"/>
          <a:lstStyle>
            <a:lvl1pPr marL="0" indent="0" algn="r">
              <a:spcAft>
                <a:spcPts val="0"/>
              </a:spcAft>
              <a:buNone/>
              <a:defRPr sz="4100"/>
            </a:lvl1pPr>
          </a:lstStyle>
          <a:p>
            <a:pPr lvl="0"/>
            <a:r>
              <a:rPr lang="fr-FR"/>
              <a:t>4</a:t>
            </a:r>
          </a:p>
        </p:txBody>
      </p:sp>
      <p:sp>
        <p:nvSpPr>
          <p:cNvPr id="32" name="Espace réservé du texte 12">
            <a:extLst>
              <a:ext uri="{FF2B5EF4-FFF2-40B4-BE49-F238E27FC236}">
                <a16:creationId xmlns:a16="http://schemas.microsoft.com/office/drawing/2014/main" id="{5334826E-F255-4CF6-09F8-121E33976819}"/>
              </a:ext>
            </a:extLst>
          </p:cNvPr>
          <p:cNvSpPr>
            <a:spLocks noGrp="1"/>
          </p:cNvSpPr>
          <p:nvPr>
            <p:ph type="body" sz="quarter" idx="20" hasCustomPrompt="1"/>
          </p:nvPr>
        </p:nvSpPr>
        <p:spPr bwMode="gray">
          <a:xfrm>
            <a:off x="997664" y="2988163"/>
            <a:ext cx="2664296" cy="633600"/>
          </a:xfrm>
        </p:spPr>
        <p:txBody>
          <a:bodyPr anchor="ctr" anchorCtr="0">
            <a:normAutofit/>
          </a:bodyPr>
          <a:lstStyle>
            <a:lvl1pPr marL="0" indent="0" algn="l">
              <a:spcAft>
                <a:spcPts val="0"/>
              </a:spcAft>
              <a:buNone/>
              <a:defRPr sz="1600"/>
            </a:lvl1pPr>
          </a:lstStyle>
          <a:p>
            <a:pPr lvl="0"/>
            <a:r>
              <a:rPr lang="fr-FR"/>
              <a:t>Titre du chapitre 4</a:t>
            </a:r>
          </a:p>
        </p:txBody>
      </p:sp>
      <p:sp>
        <p:nvSpPr>
          <p:cNvPr id="33" name="Espace réservé du texte 12">
            <a:extLst>
              <a:ext uri="{FF2B5EF4-FFF2-40B4-BE49-F238E27FC236}">
                <a16:creationId xmlns:a16="http://schemas.microsoft.com/office/drawing/2014/main" id="{1C67376D-E5C5-5C51-594B-396F0BFD6D07}"/>
              </a:ext>
            </a:extLst>
          </p:cNvPr>
          <p:cNvSpPr>
            <a:spLocks noGrp="1"/>
          </p:cNvSpPr>
          <p:nvPr>
            <p:ph type="body" sz="quarter" idx="21" hasCustomPrompt="1"/>
          </p:nvPr>
        </p:nvSpPr>
        <p:spPr bwMode="gray">
          <a:xfrm>
            <a:off x="3979710" y="2988163"/>
            <a:ext cx="833974" cy="631743"/>
          </a:xfrm>
        </p:spPr>
        <p:txBody>
          <a:bodyPr anchor="ctr" anchorCtr="0"/>
          <a:lstStyle>
            <a:lvl1pPr marL="0" indent="0" algn="r">
              <a:spcAft>
                <a:spcPts val="0"/>
              </a:spcAft>
              <a:buNone/>
              <a:defRPr sz="4100"/>
            </a:lvl1pPr>
          </a:lstStyle>
          <a:p>
            <a:pPr lvl="0"/>
            <a:r>
              <a:rPr lang="fr-FR"/>
              <a:t>5</a:t>
            </a:r>
          </a:p>
        </p:txBody>
      </p:sp>
      <p:sp>
        <p:nvSpPr>
          <p:cNvPr id="34" name="Espace réservé du texte 12">
            <a:extLst>
              <a:ext uri="{FF2B5EF4-FFF2-40B4-BE49-F238E27FC236}">
                <a16:creationId xmlns:a16="http://schemas.microsoft.com/office/drawing/2014/main" id="{1252BC21-F6BF-B062-ACAE-1AF9181C748D}"/>
              </a:ext>
            </a:extLst>
          </p:cNvPr>
          <p:cNvSpPr>
            <a:spLocks noGrp="1"/>
          </p:cNvSpPr>
          <p:nvPr>
            <p:ph type="body" sz="quarter" idx="22" hasCustomPrompt="1"/>
          </p:nvPr>
        </p:nvSpPr>
        <p:spPr bwMode="gray">
          <a:xfrm>
            <a:off x="4977374" y="2988163"/>
            <a:ext cx="2664296" cy="633600"/>
          </a:xfrm>
        </p:spPr>
        <p:txBody>
          <a:bodyPr anchor="ctr" anchorCtr="0">
            <a:normAutofit/>
          </a:bodyPr>
          <a:lstStyle>
            <a:lvl1pPr marL="0" indent="0" algn="l">
              <a:spcAft>
                <a:spcPts val="0"/>
              </a:spcAft>
              <a:buNone/>
              <a:defRPr sz="1600"/>
            </a:lvl1pPr>
          </a:lstStyle>
          <a:p>
            <a:pPr lvl="0"/>
            <a:r>
              <a:rPr lang="fr-FR"/>
              <a:t>Titre du chapitre 5</a:t>
            </a:r>
          </a:p>
        </p:txBody>
      </p:sp>
      <p:sp>
        <p:nvSpPr>
          <p:cNvPr id="35" name="Espace réservé du texte 12">
            <a:extLst>
              <a:ext uri="{FF2B5EF4-FFF2-40B4-BE49-F238E27FC236}">
                <a16:creationId xmlns:a16="http://schemas.microsoft.com/office/drawing/2014/main" id="{C2A5E203-4CA2-28B6-0BFF-31E7813FC7A0}"/>
              </a:ext>
            </a:extLst>
          </p:cNvPr>
          <p:cNvSpPr>
            <a:spLocks noGrp="1"/>
          </p:cNvSpPr>
          <p:nvPr>
            <p:ph type="body" sz="quarter" idx="23" hasCustomPrompt="1"/>
          </p:nvPr>
        </p:nvSpPr>
        <p:spPr bwMode="gray">
          <a:xfrm>
            <a:off x="7959419" y="2988163"/>
            <a:ext cx="833974" cy="631743"/>
          </a:xfrm>
        </p:spPr>
        <p:txBody>
          <a:bodyPr anchor="ctr" anchorCtr="0"/>
          <a:lstStyle>
            <a:lvl1pPr marL="0" indent="0" algn="r">
              <a:spcAft>
                <a:spcPts val="0"/>
              </a:spcAft>
              <a:buNone/>
              <a:defRPr sz="4100"/>
            </a:lvl1pPr>
          </a:lstStyle>
          <a:p>
            <a:pPr lvl="0"/>
            <a:r>
              <a:rPr lang="fr-FR"/>
              <a:t>6</a:t>
            </a:r>
          </a:p>
        </p:txBody>
      </p:sp>
      <p:sp>
        <p:nvSpPr>
          <p:cNvPr id="36" name="Espace réservé du texte 12">
            <a:extLst>
              <a:ext uri="{FF2B5EF4-FFF2-40B4-BE49-F238E27FC236}">
                <a16:creationId xmlns:a16="http://schemas.microsoft.com/office/drawing/2014/main" id="{BEEF4643-DE29-0C96-9514-B1943B09B5CB}"/>
              </a:ext>
            </a:extLst>
          </p:cNvPr>
          <p:cNvSpPr>
            <a:spLocks noGrp="1"/>
          </p:cNvSpPr>
          <p:nvPr>
            <p:ph type="body" sz="quarter" idx="24" hasCustomPrompt="1"/>
          </p:nvPr>
        </p:nvSpPr>
        <p:spPr bwMode="gray">
          <a:xfrm>
            <a:off x="8957083" y="2988163"/>
            <a:ext cx="2664296" cy="633600"/>
          </a:xfrm>
        </p:spPr>
        <p:txBody>
          <a:bodyPr anchor="ctr" anchorCtr="0">
            <a:normAutofit/>
          </a:bodyPr>
          <a:lstStyle>
            <a:lvl1pPr marL="0" indent="0" algn="l">
              <a:spcAft>
                <a:spcPts val="0"/>
              </a:spcAft>
              <a:buNone/>
              <a:defRPr sz="1600"/>
            </a:lvl1pPr>
          </a:lstStyle>
          <a:p>
            <a:pPr lvl="0"/>
            <a:r>
              <a:rPr lang="fr-FR"/>
              <a:t>Titre du chapitre 6</a:t>
            </a:r>
          </a:p>
        </p:txBody>
      </p:sp>
      <p:sp>
        <p:nvSpPr>
          <p:cNvPr id="37" name="Espace réservé du texte 12">
            <a:extLst>
              <a:ext uri="{FF2B5EF4-FFF2-40B4-BE49-F238E27FC236}">
                <a16:creationId xmlns:a16="http://schemas.microsoft.com/office/drawing/2014/main" id="{0E4F6493-DE3D-BC71-4A40-ED125FB23DAD}"/>
              </a:ext>
            </a:extLst>
          </p:cNvPr>
          <p:cNvSpPr>
            <a:spLocks noGrp="1"/>
          </p:cNvSpPr>
          <p:nvPr>
            <p:ph type="body" sz="quarter" idx="25" hasCustomPrompt="1"/>
          </p:nvPr>
        </p:nvSpPr>
        <p:spPr bwMode="gray">
          <a:xfrm>
            <a:off x="0" y="4151177"/>
            <a:ext cx="833974" cy="631743"/>
          </a:xfrm>
        </p:spPr>
        <p:txBody>
          <a:bodyPr anchor="ctr" anchorCtr="0"/>
          <a:lstStyle>
            <a:lvl1pPr marL="0" indent="0" algn="r">
              <a:spcAft>
                <a:spcPts val="0"/>
              </a:spcAft>
              <a:buNone/>
              <a:defRPr sz="4100"/>
            </a:lvl1pPr>
          </a:lstStyle>
          <a:p>
            <a:pPr lvl="0"/>
            <a:r>
              <a:rPr lang="fr-FR"/>
              <a:t>7</a:t>
            </a:r>
          </a:p>
        </p:txBody>
      </p:sp>
      <p:sp>
        <p:nvSpPr>
          <p:cNvPr id="38" name="Espace réservé du texte 12">
            <a:extLst>
              <a:ext uri="{FF2B5EF4-FFF2-40B4-BE49-F238E27FC236}">
                <a16:creationId xmlns:a16="http://schemas.microsoft.com/office/drawing/2014/main" id="{8581EDC0-2EE6-C1AE-5A76-E3758A9AEF5F}"/>
              </a:ext>
            </a:extLst>
          </p:cNvPr>
          <p:cNvSpPr>
            <a:spLocks noGrp="1"/>
          </p:cNvSpPr>
          <p:nvPr>
            <p:ph type="body" sz="quarter" idx="26" hasCustomPrompt="1"/>
          </p:nvPr>
        </p:nvSpPr>
        <p:spPr bwMode="gray">
          <a:xfrm>
            <a:off x="997664" y="4151177"/>
            <a:ext cx="2664296" cy="633600"/>
          </a:xfrm>
        </p:spPr>
        <p:txBody>
          <a:bodyPr anchor="ctr" anchorCtr="0">
            <a:normAutofit/>
          </a:bodyPr>
          <a:lstStyle>
            <a:lvl1pPr marL="0" indent="0" algn="l">
              <a:spcAft>
                <a:spcPts val="0"/>
              </a:spcAft>
              <a:buNone/>
              <a:defRPr sz="1600"/>
            </a:lvl1pPr>
          </a:lstStyle>
          <a:p>
            <a:pPr lvl="0"/>
            <a:r>
              <a:rPr lang="fr-FR"/>
              <a:t>Titre du chapitre 7</a:t>
            </a:r>
          </a:p>
        </p:txBody>
      </p:sp>
      <p:sp>
        <p:nvSpPr>
          <p:cNvPr id="39" name="Espace réservé du texte 12">
            <a:extLst>
              <a:ext uri="{FF2B5EF4-FFF2-40B4-BE49-F238E27FC236}">
                <a16:creationId xmlns:a16="http://schemas.microsoft.com/office/drawing/2014/main" id="{78DCEB05-0E58-5C05-692F-DDF19736E6BB}"/>
              </a:ext>
            </a:extLst>
          </p:cNvPr>
          <p:cNvSpPr>
            <a:spLocks noGrp="1"/>
          </p:cNvSpPr>
          <p:nvPr>
            <p:ph type="body" sz="quarter" idx="27" hasCustomPrompt="1"/>
          </p:nvPr>
        </p:nvSpPr>
        <p:spPr bwMode="gray">
          <a:xfrm>
            <a:off x="3979710" y="4151177"/>
            <a:ext cx="833974" cy="631743"/>
          </a:xfrm>
        </p:spPr>
        <p:txBody>
          <a:bodyPr anchor="ctr" anchorCtr="0"/>
          <a:lstStyle>
            <a:lvl1pPr marL="0" indent="0" algn="r">
              <a:spcAft>
                <a:spcPts val="0"/>
              </a:spcAft>
              <a:buNone/>
              <a:defRPr sz="4100"/>
            </a:lvl1pPr>
          </a:lstStyle>
          <a:p>
            <a:pPr lvl="0"/>
            <a:r>
              <a:rPr lang="fr-FR"/>
              <a:t>8</a:t>
            </a:r>
          </a:p>
        </p:txBody>
      </p:sp>
      <p:sp>
        <p:nvSpPr>
          <p:cNvPr id="40" name="Espace réservé du texte 12">
            <a:extLst>
              <a:ext uri="{FF2B5EF4-FFF2-40B4-BE49-F238E27FC236}">
                <a16:creationId xmlns:a16="http://schemas.microsoft.com/office/drawing/2014/main" id="{05C0254B-F1B8-C018-D39C-B977F2677D81}"/>
              </a:ext>
            </a:extLst>
          </p:cNvPr>
          <p:cNvSpPr>
            <a:spLocks noGrp="1"/>
          </p:cNvSpPr>
          <p:nvPr>
            <p:ph type="body" sz="quarter" idx="28" hasCustomPrompt="1"/>
          </p:nvPr>
        </p:nvSpPr>
        <p:spPr bwMode="gray">
          <a:xfrm>
            <a:off x="4977374" y="4151177"/>
            <a:ext cx="2664296" cy="633600"/>
          </a:xfrm>
        </p:spPr>
        <p:txBody>
          <a:bodyPr anchor="ctr" anchorCtr="0">
            <a:normAutofit/>
          </a:bodyPr>
          <a:lstStyle>
            <a:lvl1pPr marL="0" indent="0" algn="l">
              <a:spcAft>
                <a:spcPts val="0"/>
              </a:spcAft>
              <a:buNone/>
              <a:defRPr sz="1600"/>
            </a:lvl1pPr>
          </a:lstStyle>
          <a:p>
            <a:pPr lvl="0"/>
            <a:r>
              <a:rPr lang="fr-FR"/>
              <a:t>Titre du chapitre 8</a:t>
            </a:r>
          </a:p>
        </p:txBody>
      </p:sp>
      <p:sp>
        <p:nvSpPr>
          <p:cNvPr id="41" name="Espace réservé du texte 12">
            <a:extLst>
              <a:ext uri="{FF2B5EF4-FFF2-40B4-BE49-F238E27FC236}">
                <a16:creationId xmlns:a16="http://schemas.microsoft.com/office/drawing/2014/main" id="{E1292463-C6F8-4DCE-7A63-A6FD3353A3C0}"/>
              </a:ext>
            </a:extLst>
          </p:cNvPr>
          <p:cNvSpPr>
            <a:spLocks noGrp="1"/>
          </p:cNvSpPr>
          <p:nvPr>
            <p:ph type="body" sz="quarter" idx="29" hasCustomPrompt="1"/>
          </p:nvPr>
        </p:nvSpPr>
        <p:spPr bwMode="gray">
          <a:xfrm>
            <a:off x="7959419" y="4151177"/>
            <a:ext cx="833974" cy="631743"/>
          </a:xfrm>
        </p:spPr>
        <p:txBody>
          <a:bodyPr anchor="ctr" anchorCtr="0"/>
          <a:lstStyle>
            <a:lvl1pPr marL="0" indent="0" algn="r">
              <a:spcAft>
                <a:spcPts val="0"/>
              </a:spcAft>
              <a:buNone/>
              <a:defRPr sz="4100"/>
            </a:lvl1pPr>
          </a:lstStyle>
          <a:p>
            <a:pPr lvl="0"/>
            <a:r>
              <a:rPr lang="fr-FR"/>
              <a:t>9</a:t>
            </a:r>
          </a:p>
        </p:txBody>
      </p:sp>
      <p:sp>
        <p:nvSpPr>
          <p:cNvPr id="42" name="Espace réservé du texte 12">
            <a:extLst>
              <a:ext uri="{FF2B5EF4-FFF2-40B4-BE49-F238E27FC236}">
                <a16:creationId xmlns:a16="http://schemas.microsoft.com/office/drawing/2014/main" id="{84F4A02A-C952-D752-68A4-9AB933608CDC}"/>
              </a:ext>
            </a:extLst>
          </p:cNvPr>
          <p:cNvSpPr>
            <a:spLocks noGrp="1"/>
          </p:cNvSpPr>
          <p:nvPr>
            <p:ph type="body" sz="quarter" idx="30" hasCustomPrompt="1"/>
          </p:nvPr>
        </p:nvSpPr>
        <p:spPr bwMode="gray">
          <a:xfrm>
            <a:off x="8957083" y="4151177"/>
            <a:ext cx="2664296" cy="633600"/>
          </a:xfrm>
        </p:spPr>
        <p:txBody>
          <a:bodyPr anchor="ctr" anchorCtr="0">
            <a:normAutofit/>
          </a:bodyPr>
          <a:lstStyle>
            <a:lvl1pPr marL="0" indent="0" algn="l">
              <a:spcAft>
                <a:spcPts val="0"/>
              </a:spcAft>
              <a:buNone/>
              <a:defRPr sz="1600"/>
            </a:lvl1pPr>
          </a:lstStyle>
          <a:p>
            <a:pPr lvl="0"/>
            <a:r>
              <a:rPr lang="fr-FR"/>
              <a:t>Titre du chapitre 9</a:t>
            </a:r>
          </a:p>
        </p:txBody>
      </p:sp>
      <p:pic>
        <p:nvPicPr>
          <p:cNvPr id="6" name="Image 5" descr="Une image contenant Police, Graphique, capture d’écran, logo&#10;&#10;Description générée automatiquement">
            <a:extLst>
              <a:ext uri="{FF2B5EF4-FFF2-40B4-BE49-F238E27FC236}">
                <a16:creationId xmlns:a16="http://schemas.microsoft.com/office/drawing/2014/main" id="{0BE79121-0100-D2DC-F22C-D3F5B1A5A877}"/>
              </a:ext>
            </a:extLst>
          </p:cNvPr>
          <p:cNvPicPr>
            <a:picLocks noChangeAspect="1"/>
          </p:cNvPicPr>
          <p:nvPr/>
        </p:nvPicPr>
        <p:blipFill>
          <a:blip r:embed="rId2"/>
          <a:stretch>
            <a:fillRect/>
          </a:stretch>
        </p:blipFill>
        <p:spPr>
          <a:xfrm>
            <a:off x="191344" y="6157729"/>
            <a:ext cx="2253137" cy="700271"/>
          </a:xfrm>
          <a:prstGeom prst="rect">
            <a:avLst/>
          </a:prstGeom>
        </p:spPr>
      </p:pic>
      <p:sp>
        <p:nvSpPr>
          <p:cNvPr id="7" name="Rectangle 6">
            <a:extLst>
              <a:ext uri="{FF2B5EF4-FFF2-40B4-BE49-F238E27FC236}">
                <a16:creationId xmlns:a16="http://schemas.microsoft.com/office/drawing/2014/main" id="{F3D5131F-5248-AA01-1886-94E04525F40E}"/>
              </a:ext>
            </a:extLst>
          </p:cNvPr>
          <p:cNvSpPr/>
          <p:nvPr userDrawn="1"/>
        </p:nvSpPr>
        <p:spPr bwMode="gray">
          <a:xfrm>
            <a:off x="0" y="0"/>
            <a:ext cx="12192000"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Forme libre : forme 7">
            <a:extLst>
              <a:ext uri="{FF2B5EF4-FFF2-40B4-BE49-F238E27FC236}">
                <a16:creationId xmlns:a16="http://schemas.microsoft.com/office/drawing/2014/main" id="{F340B14D-FA54-4E89-D4B4-D6F854CBFC0A}"/>
              </a:ext>
            </a:extLst>
          </p:cNvPr>
          <p:cNvSpPr/>
          <p:nvPr userDrawn="1"/>
        </p:nvSpPr>
        <p:spPr bwMode="gray">
          <a:xfrm>
            <a:off x="0" y="5900738"/>
            <a:ext cx="12192000" cy="957262"/>
          </a:xfrm>
          <a:custGeom>
            <a:avLst/>
            <a:gdLst>
              <a:gd name="connsiteX0" fmla="*/ 496367 w 12192000"/>
              <a:gd name="connsiteY0" fmla="*/ 0 h 957262"/>
              <a:gd name="connsiteX1" fmla="*/ 12192000 w 12192000"/>
              <a:gd name="connsiteY1" fmla="*/ 0 h 957262"/>
              <a:gd name="connsiteX2" fmla="*/ 12192000 w 12192000"/>
              <a:gd name="connsiteY2" fmla="*/ 957262 h 957262"/>
              <a:gd name="connsiteX3" fmla="*/ 0 w 12192000"/>
              <a:gd name="connsiteY3" fmla="*/ 957262 h 957262"/>
              <a:gd name="connsiteX4" fmla="*/ 0 w 12192000"/>
              <a:gd name="connsiteY4" fmla="*/ 336574 h 957262"/>
              <a:gd name="connsiteX5" fmla="*/ 1780 w 12192000"/>
              <a:gd name="connsiteY5" fmla="*/ 336574 h 957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57262">
                <a:moveTo>
                  <a:pt x="496367" y="0"/>
                </a:moveTo>
                <a:lnTo>
                  <a:pt x="12192000" y="0"/>
                </a:lnTo>
                <a:lnTo>
                  <a:pt x="12192000" y="957262"/>
                </a:lnTo>
                <a:lnTo>
                  <a:pt x="0" y="957262"/>
                </a:lnTo>
                <a:lnTo>
                  <a:pt x="0" y="336574"/>
                </a:lnTo>
                <a:lnTo>
                  <a:pt x="1780" y="336574"/>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9" name="Image 8" descr="Une image contenant Police, Graphique, capture d’écran, logo&#10;&#10;Description générée automatiquement">
            <a:extLst>
              <a:ext uri="{FF2B5EF4-FFF2-40B4-BE49-F238E27FC236}">
                <a16:creationId xmlns:a16="http://schemas.microsoft.com/office/drawing/2014/main" id="{91FA3895-924C-BE10-2E56-2F63225CA4EC}"/>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385865873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orient="horz" pos="3717">
          <p15:clr>
            <a:srgbClr val="FBAE40"/>
          </p15:clr>
        </p15:guide>
        <p15:guide id="4" pos="292">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p:cSld name="Intercalaire_bleu_clair">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7323CCC4-8679-C2AD-3A24-B72A3734C225}"/>
              </a:ext>
            </a:extLst>
          </p:cNvPr>
          <p:cNvSpPr/>
          <p:nvPr/>
        </p:nvSpPr>
        <p:spPr bwMode="gray">
          <a:xfrm>
            <a:off x="0" y="0"/>
            <a:ext cx="12192000" cy="6858000"/>
          </a:xfrm>
          <a:prstGeom prst="rect">
            <a:avLst/>
          </a:prstGeom>
          <a:solidFill>
            <a:srgbClr val="93B9C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CAA4DAEA-970D-8876-C9DC-932391652B5D}"/>
              </a:ext>
            </a:extLst>
          </p:cNvPr>
          <p:cNvSpPr/>
          <p:nvPr/>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e la date 7"/>
          <p:cNvSpPr>
            <a:spLocks noGrp="1"/>
          </p:cNvSpPr>
          <p:nvPr>
            <p:ph type="dt" sz="half" idx="10"/>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6EF6EC3F-7A12-4C3C-9012-F0C7A5EB5702}" type="datetime3">
              <a:rPr lang="fr-FR" smtClean="0"/>
              <a:pPr/>
              <a:t>12.01.26</a:t>
            </a:fld>
            <a:endParaRPr lang="fr-FR"/>
          </a:p>
        </p:txBody>
      </p:sp>
      <p:sp>
        <p:nvSpPr>
          <p:cNvPr id="11" name="Espace réservé du numéro de diapositive 10"/>
          <p:cNvSpPr>
            <a:spLocks noGrp="1"/>
          </p:cNvSpPr>
          <p:nvPr>
            <p:ph type="sldNum" sz="quarter" idx="11"/>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733122C9-A0B9-462F-8757-0847AD287B63}" type="slidenum">
              <a:rPr lang="fr-FR" smtClean="0"/>
              <a:pPr/>
              <a:t>‹N°›</a:t>
            </a:fld>
            <a:endParaRPr lang="fr-FR"/>
          </a:p>
        </p:txBody>
      </p:sp>
      <p:sp>
        <p:nvSpPr>
          <p:cNvPr id="12" name="Espace réservé du pied de page 11"/>
          <p:cNvSpPr>
            <a:spLocks noGrp="1"/>
          </p:cNvSpPr>
          <p:nvPr>
            <p:ph type="ftr" sz="quarter" idx="12"/>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3" name="Titre 2"/>
          <p:cNvSpPr>
            <a:spLocks noGrp="1"/>
          </p:cNvSpPr>
          <p:nvPr>
            <p:ph type="title" hasCustomPrompt="1"/>
          </p:nvPr>
        </p:nvSpPr>
        <p:spPr bwMode="gray">
          <a:xfrm>
            <a:off x="1055440" y="260648"/>
            <a:ext cx="1692188" cy="1260139"/>
          </a:xfrm>
        </p:spPr>
        <p:txBody>
          <a:bodyPr anchor="b" anchorCtr="0"/>
          <a:lstStyle>
            <a:lvl1pPr>
              <a:defRPr sz="8250">
                <a:solidFill>
                  <a:schemeClr val="tx2"/>
                </a:solidFill>
              </a:defRPr>
            </a:lvl1pPr>
          </a:lstStyle>
          <a:p>
            <a:r>
              <a:rPr lang="fr-FR" noProof="0"/>
              <a:t>0</a:t>
            </a:r>
            <a:endParaRPr lang="fr-FR"/>
          </a:p>
        </p:txBody>
      </p:sp>
      <p:sp>
        <p:nvSpPr>
          <p:cNvPr id="10" name="Espace réservé du texte 3">
            <a:extLst>
              <a:ext uri="{FF2B5EF4-FFF2-40B4-BE49-F238E27FC236}">
                <a16:creationId xmlns:a16="http://schemas.microsoft.com/office/drawing/2014/main" id="{DF42B46E-2400-032F-4FF8-C6F08F4EBDF7}"/>
              </a:ext>
            </a:extLst>
          </p:cNvPr>
          <p:cNvSpPr>
            <a:spLocks noGrp="1"/>
          </p:cNvSpPr>
          <p:nvPr>
            <p:ph type="body" sz="quarter" idx="14" hasCustomPrompt="1"/>
          </p:nvPr>
        </p:nvSpPr>
        <p:spPr bwMode="gray">
          <a:xfrm>
            <a:off x="1055440" y="1679036"/>
            <a:ext cx="10801200" cy="2758076"/>
          </a:xfrm>
          <a:prstGeom prst="rect">
            <a:avLst/>
          </a:prstGeom>
          <a:noFill/>
        </p:spPr>
        <p:txBody>
          <a:bodyPr wrap="square" lIns="0" tIns="0" rIns="0">
            <a:normAutofit/>
          </a:bodyPr>
          <a:lstStyle>
            <a:lvl1pPr marL="0" indent="0">
              <a:spcAft>
                <a:spcPts val="0"/>
              </a:spcAft>
              <a:buNone/>
              <a:defRPr sz="4800">
                <a:solidFill>
                  <a:schemeClr val="tx2"/>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r-FR" noProof="0"/>
              <a:t>Titre</a:t>
            </a:r>
          </a:p>
        </p:txBody>
      </p:sp>
      <p:pic>
        <p:nvPicPr>
          <p:cNvPr id="2" name="Image 1">
            <a:extLst>
              <a:ext uri="{FF2B5EF4-FFF2-40B4-BE49-F238E27FC236}">
                <a16:creationId xmlns:a16="http://schemas.microsoft.com/office/drawing/2014/main" id="{E1AF512C-1B86-0240-449E-5C1B42F6723D}"/>
              </a:ext>
            </a:extLst>
          </p:cNvPr>
          <p:cNvPicPr>
            <a:picLocks noChangeAspect="1"/>
          </p:cNvPicPr>
          <p:nvPr/>
        </p:nvPicPr>
        <p:blipFill>
          <a:blip r:embed="rId2"/>
          <a:stretch>
            <a:fillRect/>
          </a:stretch>
        </p:blipFill>
        <p:spPr>
          <a:xfrm>
            <a:off x="1055440" y="6008136"/>
            <a:ext cx="2486502" cy="216024"/>
          </a:xfrm>
          <a:prstGeom prst="rect">
            <a:avLst/>
          </a:prstGeom>
        </p:spPr>
      </p:pic>
      <p:sp>
        <p:nvSpPr>
          <p:cNvPr id="4" name="Rectangle 3">
            <a:extLst>
              <a:ext uri="{FF2B5EF4-FFF2-40B4-BE49-F238E27FC236}">
                <a16:creationId xmlns:a16="http://schemas.microsoft.com/office/drawing/2014/main" id="{D29C0AF1-2EF2-6FCB-E422-BC4DA2767EE6}"/>
              </a:ext>
            </a:extLst>
          </p:cNvPr>
          <p:cNvSpPr/>
          <p:nvPr userDrawn="1"/>
        </p:nvSpPr>
        <p:spPr bwMode="gray">
          <a:xfrm>
            <a:off x="0" y="0"/>
            <a:ext cx="12192000" cy="6858000"/>
          </a:xfrm>
          <a:prstGeom prst="rect">
            <a:avLst/>
          </a:prstGeom>
          <a:solidFill>
            <a:srgbClr val="93B9C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5" name="Forme libre : forme 4">
            <a:extLst>
              <a:ext uri="{FF2B5EF4-FFF2-40B4-BE49-F238E27FC236}">
                <a16:creationId xmlns:a16="http://schemas.microsoft.com/office/drawing/2014/main" id="{84F022C5-80A4-F73D-3975-761EBC44E19A}"/>
              </a:ext>
            </a:extLst>
          </p:cNvPr>
          <p:cNvSpPr/>
          <p:nvPr userDrawn="1"/>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6" name="Image 5">
            <a:extLst>
              <a:ext uri="{FF2B5EF4-FFF2-40B4-BE49-F238E27FC236}">
                <a16:creationId xmlns:a16="http://schemas.microsoft.com/office/drawing/2014/main" id="{EE4700A7-9EC8-86F1-E5AA-B1C931FDE500}"/>
              </a:ext>
            </a:extLst>
          </p:cNvPr>
          <p:cNvPicPr>
            <a:picLocks noChangeAspect="1"/>
          </p:cNvPicPr>
          <p:nvPr userDrawn="1"/>
        </p:nvPicPr>
        <p:blipFill>
          <a:blip r:embed="rId2"/>
          <a:stretch>
            <a:fillRect/>
          </a:stretch>
        </p:blipFill>
        <p:spPr>
          <a:xfrm>
            <a:off x="1055440" y="6008136"/>
            <a:ext cx="2486502" cy="216024"/>
          </a:xfrm>
          <a:prstGeom prst="rect">
            <a:avLst/>
          </a:prstGeom>
        </p:spPr>
      </p:pic>
    </p:spTree>
    <p:extLst>
      <p:ext uri="{BB962C8B-B14F-4D97-AF65-F5344CB8AC3E}">
        <p14:creationId xmlns:p14="http://schemas.microsoft.com/office/powerpoint/2010/main" val="2063805726"/>
      </p:ext>
    </p:extLst>
  </p:cSld>
  <p:clrMapOvr>
    <a:masterClrMapping/>
  </p:clrMapOvr>
  <p:hf sldNum="0"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698">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p:cSld name="Diptyque_bleu_clair">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BC517D08-A7C5-B248-731F-D8AE78AF6AD5}"/>
              </a:ext>
            </a:extLst>
          </p:cNvPr>
          <p:cNvSpPr/>
          <p:nvPr/>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Rectangle 19">
            <a:extLst>
              <a:ext uri="{FF2B5EF4-FFF2-40B4-BE49-F238E27FC236}">
                <a16:creationId xmlns:a16="http://schemas.microsoft.com/office/drawing/2014/main" id="{8BD239C2-24FF-78DB-1368-3659B94844BF}"/>
              </a:ext>
            </a:extLst>
          </p:cNvPr>
          <p:cNvSpPr/>
          <p:nvPr/>
        </p:nvSpPr>
        <p:spPr bwMode="gray">
          <a:xfrm>
            <a:off x="6096000" y="0"/>
            <a:ext cx="6096000" cy="6858000"/>
          </a:xfrm>
          <a:prstGeom prst="rect">
            <a:avLst/>
          </a:prstGeom>
          <a:solidFill>
            <a:srgbClr val="93B9C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3" name="Forme libre : forme 12">
            <a:extLst>
              <a:ext uri="{FF2B5EF4-FFF2-40B4-BE49-F238E27FC236}">
                <a16:creationId xmlns:a16="http://schemas.microsoft.com/office/drawing/2014/main" id="{15E8C0C3-BA99-8DDA-4C72-C4AD3C25E72D}"/>
              </a:ext>
            </a:extLst>
          </p:cNvPr>
          <p:cNvSpPr/>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24A4B7A5-4796-DDF3-D5EA-CA514233A100}"/>
              </a:ext>
            </a:extLst>
          </p:cNvPr>
          <p:cNvSpPr>
            <a:spLocks noGrp="1"/>
          </p:cNvSpPr>
          <p:nvPr>
            <p:ph type="title" hasCustomPrompt="1"/>
          </p:nvPr>
        </p:nvSpPr>
        <p:spPr bwMode="gray">
          <a:xfrm>
            <a:off x="558800" y="410107"/>
            <a:ext cx="5141156" cy="936104"/>
          </a:xfrm>
        </p:spPr>
        <p:txBody>
          <a:bodyPr/>
          <a:lstStyle>
            <a:lvl1pPr>
              <a:defRPr>
                <a:solidFill>
                  <a:srgbClr val="93B9CC"/>
                </a:solidFill>
              </a:defRPr>
            </a:lvl1pPr>
          </a:lstStyle>
          <a:p>
            <a:r>
              <a:rPr lang="fr-FR"/>
              <a:t>Titre de la slide</a:t>
            </a:r>
          </a:p>
        </p:txBody>
      </p:sp>
      <p:sp>
        <p:nvSpPr>
          <p:cNvPr id="3" name="Espace réservé de la date 2">
            <a:extLst>
              <a:ext uri="{FF2B5EF4-FFF2-40B4-BE49-F238E27FC236}">
                <a16:creationId xmlns:a16="http://schemas.microsoft.com/office/drawing/2014/main" id="{AB780E7C-6F1F-25F3-02AB-3466F56B1F07}"/>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CD75CE2-C48E-C7E6-194C-60A7394FE5D2}"/>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DC025D0F-DF5A-7E91-F4B9-92DC3571B3D8}"/>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5F3C6EE9-F33A-C402-E3FD-E4DB8D537106}"/>
              </a:ext>
            </a:extLst>
          </p:cNvPr>
          <p:cNvSpPr>
            <a:spLocks noGrp="1"/>
          </p:cNvSpPr>
          <p:nvPr>
            <p:ph type="body" sz="quarter" idx="14" hasCustomPrompt="1"/>
          </p:nvPr>
        </p:nvSpPr>
        <p:spPr bwMode="gray">
          <a:xfrm>
            <a:off x="1019437" y="2005169"/>
            <a:ext cx="4716468" cy="3708412"/>
          </a:xfrm>
        </p:spPr>
        <p:txBody>
          <a:bodyPr/>
          <a:lstStyle>
            <a:lvl1pPr marL="0" indent="0">
              <a:spcAft>
                <a:spcPts val="0"/>
              </a:spcAft>
              <a:buNone/>
              <a:defRPr sz="2700">
                <a:solidFill>
                  <a:srgbClr val="93B9CC"/>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sp>
        <p:nvSpPr>
          <p:cNvPr id="19" name="Espace réservé du texte 18">
            <a:extLst>
              <a:ext uri="{FF2B5EF4-FFF2-40B4-BE49-F238E27FC236}">
                <a16:creationId xmlns:a16="http://schemas.microsoft.com/office/drawing/2014/main" id="{70F73260-667B-8ABB-D758-D2BE39806107}"/>
              </a:ext>
            </a:extLst>
          </p:cNvPr>
          <p:cNvSpPr>
            <a:spLocks noGrp="1"/>
          </p:cNvSpPr>
          <p:nvPr>
            <p:ph type="body" sz="quarter" idx="16" hasCustomPrompt="1"/>
          </p:nvPr>
        </p:nvSpPr>
        <p:spPr bwMode="gray">
          <a:xfrm>
            <a:off x="7327112" y="1909575"/>
            <a:ext cx="4559488" cy="3804006"/>
          </a:xfrm>
          <a:custGeom>
            <a:avLst/>
            <a:gdLst>
              <a:gd name="connsiteX0" fmla="*/ 0 w 6084000"/>
              <a:gd name="connsiteY0" fmla="*/ 0 h 5914428"/>
              <a:gd name="connsiteX1" fmla="*/ 6084000 w 6084000"/>
              <a:gd name="connsiteY1" fmla="*/ 0 h 5914428"/>
              <a:gd name="connsiteX2" fmla="*/ 6084000 w 6084000"/>
              <a:gd name="connsiteY2" fmla="*/ 5914428 h 5914428"/>
              <a:gd name="connsiteX3" fmla="*/ 0 w 6084000"/>
              <a:gd name="connsiteY3" fmla="*/ 5914428 h 5914428"/>
            </a:gdLst>
            <a:ahLst/>
            <a:cxnLst>
              <a:cxn ang="0">
                <a:pos x="connsiteX0" y="connsiteY0"/>
              </a:cxn>
              <a:cxn ang="0">
                <a:pos x="connsiteX1" y="connsiteY1"/>
              </a:cxn>
              <a:cxn ang="0">
                <a:pos x="connsiteX2" y="connsiteY2"/>
              </a:cxn>
              <a:cxn ang="0">
                <a:pos x="connsiteX3" y="connsiteY3"/>
              </a:cxn>
            </a:cxnLst>
            <a:rect l="l" t="t" r="r" b="b"/>
            <a:pathLst>
              <a:path w="6084000" h="5914428">
                <a:moveTo>
                  <a:pt x="0" y="0"/>
                </a:moveTo>
                <a:lnTo>
                  <a:pt x="6084000" y="0"/>
                </a:lnTo>
                <a:lnTo>
                  <a:pt x="6084000" y="5914428"/>
                </a:lnTo>
                <a:lnTo>
                  <a:pt x="0" y="5914428"/>
                </a:lnTo>
                <a:close/>
              </a:path>
            </a:pathLst>
          </a:custGeom>
          <a:noFill/>
        </p:spPr>
        <p:txBody>
          <a:bodyPr wrap="square" lIns="0" tIns="0">
            <a:normAutofit/>
          </a:bodyPr>
          <a:lstStyle>
            <a:lvl1pPr marL="0" indent="0">
              <a:spcAft>
                <a:spcPts val="0"/>
              </a:spcAft>
              <a:buNone/>
              <a:defRPr sz="41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pic>
        <p:nvPicPr>
          <p:cNvPr id="7" name="Image 6" descr="Une image contenant Police, Graphique, capture d’écran, logo&#10;&#10;Description générée automatiquement">
            <a:extLst>
              <a:ext uri="{FF2B5EF4-FFF2-40B4-BE49-F238E27FC236}">
                <a16:creationId xmlns:a16="http://schemas.microsoft.com/office/drawing/2014/main" id="{1E9EA48C-6787-2E1F-9706-9308BF964E3D}"/>
              </a:ext>
            </a:extLst>
          </p:cNvPr>
          <p:cNvPicPr>
            <a:picLocks noChangeAspect="1"/>
          </p:cNvPicPr>
          <p:nvPr/>
        </p:nvPicPr>
        <p:blipFill>
          <a:blip r:embed="rId2"/>
          <a:stretch>
            <a:fillRect/>
          </a:stretch>
        </p:blipFill>
        <p:spPr>
          <a:xfrm>
            <a:off x="191344" y="6157729"/>
            <a:ext cx="2253137" cy="700271"/>
          </a:xfrm>
          <a:prstGeom prst="rect">
            <a:avLst/>
          </a:prstGeom>
        </p:spPr>
      </p:pic>
      <p:sp>
        <p:nvSpPr>
          <p:cNvPr id="6" name="Rectangle 5">
            <a:extLst>
              <a:ext uri="{FF2B5EF4-FFF2-40B4-BE49-F238E27FC236}">
                <a16:creationId xmlns:a16="http://schemas.microsoft.com/office/drawing/2014/main" id="{F437475A-A198-A350-07D5-DEE6AF8FAAEC}"/>
              </a:ext>
            </a:extLst>
          </p:cNvPr>
          <p:cNvSpPr/>
          <p:nvPr userDrawn="1"/>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Rectangle 8">
            <a:extLst>
              <a:ext uri="{FF2B5EF4-FFF2-40B4-BE49-F238E27FC236}">
                <a16:creationId xmlns:a16="http://schemas.microsoft.com/office/drawing/2014/main" id="{65BBFF73-CAF7-48FA-C555-2E39240FABD8}"/>
              </a:ext>
            </a:extLst>
          </p:cNvPr>
          <p:cNvSpPr/>
          <p:nvPr userDrawn="1"/>
        </p:nvSpPr>
        <p:spPr bwMode="gray">
          <a:xfrm>
            <a:off x="6096000" y="0"/>
            <a:ext cx="6096000" cy="6858000"/>
          </a:xfrm>
          <a:prstGeom prst="rect">
            <a:avLst/>
          </a:prstGeom>
          <a:solidFill>
            <a:srgbClr val="93B9C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0" name="Forme libre : forme 9">
            <a:extLst>
              <a:ext uri="{FF2B5EF4-FFF2-40B4-BE49-F238E27FC236}">
                <a16:creationId xmlns:a16="http://schemas.microsoft.com/office/drawing/2014/main" id="{D6C3EDA0-A012-CB0C-9C04-81708E15C26D}"/>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descr="Une image contenant Police, Graphique, capture d’écran, logo&#10;&#10;Description générée automatiquement">
            <a:extLst>
              <a:ext uri="{FF2B5EF4-FFF2-40B4-BE49-F238E27FC236}">
                <a16:creationId xmlns:a16="http://schemas.microsoft.com/office/drawing/2014/main" id="{4517ECC7-C272-9662-0DA5-8E5473FB1EBC}"/>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53850273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2">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p:cSld name="Graphique+texte_diptyque_bleu_clair">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D8A0BBC-87C1-9EAA-905D-667B3503DD01}"/>
              </a:ext>
            </a:extLst>
          </p:cNvPr>
          <p:cNvSpPr/>
          <p:nvPr/>
        </p:nvSpPr>
        <p:spPr bwMode="gray">
          <a:xfrm>
            <a:off x="6108000" y="327095"/>
            <a:ext cx="5731200" cy="5914800"/>
          </a:xfrm>
          <a:prstGeom prst="rect">
            <a:avLst/>
          </a:prstGeom>
          <a:solidFill>
            <a:srgbClr val="93B9C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FD768BBB-4837-52E2-7BD0-7D518CA47FF7}"/>
              </a:ext>
            </a:extLst>
          </p:cNvPr>
          <p:cNvSpPr>
            <a:spLocks noGrp="1"/>
          </p:cNvSpPr>
          <p:nvPr>
            <p:ph type="title" hasCustomPrompt="1"/>
          </p:nvPr>
        </p:nvSpPr>
        <p:spPr bwMode="gray">
          <a:xfrm>
            <a:off x="305400" y="410400"/>
            <a:ext cx="51876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90D741DC-727E-13C0-2600-FC0CD0B38D22}"/>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5084F18-B1B3-6A44-A46D-453F1D1896EB}"/>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E7C62B9-E5CF-FEC3-B21C-266ACBD20537}"/>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graphique 16">
            <a:extLst>
              <a:ext uri="{FF2B5EF4-FFF2-40B4-BE49-F238E27FC236}">
                <a16:creationId xmlns:a16="http://schemas.microsoft.com/office/drawing/2014/main" id="{28EEB7A5-AFA7-58FC-32DE-2F2F2254BB13}"/>
              </a:ext>
            </a:extLst>
          </p:cNvPr>
          <p:cNvSpPr>
            <a:spLocks noGrp="1"/>
          </p:cNvSpPr>
          <p:nvPr>
            <p:ph type="chart" sz="quarter" idx="18" hasCustomPrompt="1"/>
          </p:nvPr>
        </p:nvSpPr>
        <p:spPr bwMode="gray">
          <a:xfrm>
            <a:off x="989833" y="1783603"/>
            <a:ext cx="4096371" cy="4392408"/>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9" name="Espace réservé du texte 8">
            <a:extLst>
              <a:ext uri="{FF2B5EF4-FFF2-40B4-BE49-F238E27FC236}">
                <a16:creationId xmlns:a16="http://schemas.microsoft.com/office/drawing/2014/main" id="{3964A26B-A8B3-B604-E0F1-3B018D194BE3}"/>
              </a:ext>
            </a:extLst>
          </p:cNvPr>
          <p:cNvSpPr>
            <a:spLocks noGrp="1"/>
          </p:cNvSpPr>
          <p:nvPr>
            <p:ph type="body" sz="quarter" idx="19" hasCustomPrompt="1"/>
          </p:nvPr>
        </p:nvSpPr>
        <p:spPr bwMode="gray">
          <a:xfrm>
            <a:off x="532006" y="1346504"/>
            <a:ext cx="4653968" cy="377146"/>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7" name="Espace réservé du texte 8">
            <a:extLst>
              <a:ext uri="{FF2B5EF4-FFF2-40B4-BE49-F238E27FC236}">
                <a16:creationId xmlns:a16="http://schemas.microsoft.com/office/drawing/2014/main" id="{E506AE39-A715-C12E-4D9F-7A3455AB88B3}"/>
              </a:ext>
            </a:extLst>
          </p:cNvPr>
          <p:cNvSpPr>
            <a:spLocks noGrp="1"/>
          </p:cNvSpPr>
          <p:nvPr>
            <p:ph type="body" sz="quarter" idx="20" hasCustomPrompt="1"/>
          </p:nvPr>
        </p:nvSpPr>
        <p:spPr bwMode="gray">
          <a:xfrm>
            <a:off x="6648830" y="1118619"/>
            <a:ext cx="4386281" cy="1626305"/>
          </a:xfrm>
          <a:noFill/>
        </p:spPr>
        <p:txBody>
          <a:bodyPr lIns="0" tIns="0" rIns="0"/>
          <a:lstStyle>
            <a:lvl1pPr marL="0" indent="0" algn="r">
              <a:lnSpc>
                <a:spcPct val="100000"/>
              </a:lnSpc>
              <a:spcAft>
                <a:spcPts val="0"/>
              </a:spcAft>
              <a:buNone/>
              <a:defRPr sz="11100">
                <a:solidFill>
                  <a:schemeClr val="tx2"/>
                </a:solidFill>
                <a:latin typeface="+mj-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00%</a:t>
            </a:r>
          </a:p>
        </p:txBody>
      </p:sp>
      <p:sp>
        <p:nvSpPr>
          <p:cNvPr id="11" name="Espace réservé du texte 8">
            <a:extLst>
              <a:ext uri="{FF2B5EF4-FFF2-40B4-BE49-F238E27FC236}">
                <a16:creationId xmlns:a16="http://schemas.microsoft.com/office/drawing/2014/main" id="{463598C1-64BB-D489-C803-1BC4F7604BAE}"/>
              </a:ext>
            </a:extLst>
          </p:cNvPr>
          <p:cNvSpPr>
            <a:spLocks noGrp="1"/>
          </p:cNvSpPr>
          <p:nvPr>
            <p:ph type="body" sz="quarter" idx="21" hasCustomPrompt="1"/>
          </p:nvPr>
        </p:nvSpPr>
        <p:spPr bwMode="gray">
          <a:xfrm>
            <a:off x="6648830" y="2554860"/>
            <a:ext cx="4386281" cy="683741"/>
          </a:xfrm>
          <a:noFill/>
        </p:spPr>
        <p:txBody>
          <a:bodyPr lIns="0" tIns="0" rIns="0">
            <a:normAutofit/>
          </a:bodyPr>
          <a:lstStyle>
            <a:lvl1pPr marL="0" indent="0" algn="r">
              <a:lnSpc>
                <a:spcPct val="100000"/>
              </a:lnSpc>
              <a:spcAft>
                <a:spcPts val="0"/>
              </a:spcAft>
              <a:buNone/>
              <a:defRPr sz="250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en 2021</a:t>
            </a:r>
          </a:p>
        </p:txBody>
      </p:sp>
      <p:sp>
        <p:nvSpPr>
          <p:cNvPr id="12" name="Espace réservé du texte 8">
            <a:extLst>
              <a:ext uri="{FF2B5EF4-FFF2-40B4-BE49-F238E27FC236}">
                <a16:creationId xmlns:a16="http://schemas.microsoft.com/office/drawing/2014/main" id="{0610C7A3-659A-6DD6-34B9-1A56568C39D3}"/>
              </a:ext>
            </a:extLst>
          </p:cNvPr>
          <p:cNvSpPr>
            <a:spLocks noGrp="1"/>
          </p:cNvSpPr>
          <p:nvPr>
            <p:ph type="body" sz="quarter" idx="22" hasCustomPrompt="1"/>
          </p:nvPr>
        </p:nvSpPr>
        <p:spPr bwMode="gray">
          <a:xfrm>
            <a:off x="6648830" y="2930796"/>
            <a:ext cx="4386281" cy="876185"/>
          </a:xfrm>
          <a:noFill/>
        </p:spPr>
        <p:txBody>
          <a:bodyPr lIns="0" tIns="0" rIns="0">
            <a:normAutofit/>
          </a:bodyPr>
          <a:lstStyle>
            <a:lvl1pPr marL="0" indent="0" algn="r">
              <a:lnSpc>
                <a:spcPct val="100000"/>
              </a:lnSpc>
              <a:spcAft>
                <a:spcPts val="0"/>
              </a:spcAft>
              <a:buNone/>
              <a:defRPr sz="4500" b="1"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+34%</a:t>
            </a:r>
          </a:p>
        </p:txBody>
      </p:sp>
      <p:sp>
        <p:nvSpPr>
          <p:cNvPr id="13" name="Espace réservé du texte 8">
            <a:extLst>
              <a:ext uri="{FF2B5EF4-FFF2-40B4-BE49-F238E27FC236}">
                <a16:creationId xmlns:a16="http://schemas.microsoft.com/office/drawing/2014/main" id="{90F8CC21-ACE8-81BE-9270-CE3B0787E14E}"/>
              </a:ext>
            </a:extLst>
          </p:cNvPr>
          <p:cNvSpPr>
            <a:spLocks noGrp="1"/>
          </p:cNvSpPr>
          <p:nvPr>
            <p:ph type="body" sz="quarter" idx="23" hasCustomPrompt="1"/>
          </p:nvPr>
        </p:nvSpPr>
        <p:spPr bwMode="gray">
          <a:xfrm>
            <a:off x="6648832" y="4401108"/>
            <a:ext cx="4739756" cy="1548172"/>
          </a:xfrm>
          <a:noFill/>
        </p:spPr>
        <p:txBody>
          <a:bodyPr lIns="0" tIns="0" rIns="0">
            <a:normAutofit/>
          </a:bodyPr>
          <a:lstStyle>
            <a:lvl1pPr marL="0" indent="0" algn="l">
              <a:lnSpc>
                <a:spcPct val="100000"/>
              </a:lnSpc>
              <a:spcAft>
                <a:spcPts val="0"/>
              </a:spcAft>
              <a:buNone/>
              <a:defRPr sz="2700"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Lorem</a:t>
            </a:r>
          </a:p>
        </p:txBody>
      </p:sp>
      <p:sp>
        <p:nvSpPr>
          <p:cNvPr id="6" name="Rectangle 5">
            <a:extLst>
              <a:ext uri="{FF2B5EF4-FFF2-40B4-BE49-F238E27FC236}">
                <a16:creationId xmlns:a16="http://schemas.microsoft.com/office/drawing/2014/main" id="{2B635CEC-0334-CE11-2A7D-19FD86762A02}"/>
              </a:ext>
            </a:extLst>
          </p:cNvPr>
          <p:cNvSpPr/>
          <p:nvPr userDrawn="1"/>
        </p:nvSpPr>
        <p:spPr bwMode="gray">
          <a:xfrm>
            <a:off x="6108000" y="327095"/>
            <a:ext cx="5731200" cy="5914800"/>
          </a:xfrm>
          <a:prstGeom prst="rect">
            <a:avLst/>
          </a:prstGeom>
          <a:solidFill>
            <a:srgbClr val="93B9C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2374260361"/>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p:cSld name="Intercalaire_jaun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7323CCC4-8679-C2AD-3A24-B72A3734C225}"/>
              </a:ext>
            </a:extLst>
          </p:cNvPr>
          <p:cNvSpPr/>
          <p:nvPr/>
        </p:nvSpPr>
        <p:spPr bwMode="gray">
          <a:xfrm>
            <a:off x="0" y="0"/>
            <a:ext cx="12192000" cy="6858000"/>
          </a:xfrm>
          <a:prstGeom prst="rect">
            <a:avLst/>
          </a:prstGeom>
          <a:solidFill>
            <a:srgbClr val="E1C86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CAA4DAEA-970D-8876-C9DC-932391652B5D}"/>
              </a:ext>
            </a:extLst>
          </p:cNvPr>
          <p:cNvSpPr/>
          <p:nvPr/>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e la date 7"/>
          <p:cNvSpPr>
            <a:spLocks noGrp="1"/>
          </p:cNvSpPr>
          <p:nvPr>
            <p:ph type="dt" sz="half" idx="10"/>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6EF6EC3F-7A12-4C3C-9012-F0C7A5EB5702}" type="datetime3">
              <a:rPr lang="fr-FR" smtClean="0"/>
              <a:pPr/>
              <a:t>12.01.26</a:t>
            </a:fld>
            <a:endParaRPr lang="fr-FR"/>
          </a:p>
        </p:txBody>
      </p:sp>
      <p:sp>
        <p:nvSpPr>
          <p:cNvPr id="11" name="Espace réservé du numéro de diapositive 10"/>
          <p:cNvSpPr>
            <a:spLocks noGrp="1"/>
          </p:cNvSpPr>
          <p:nvPr>
            <p:ph type="sldNum" sz="quarter" idx="11"/>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733122C9-A0B9-462F-8757-0847AD287B63}" type="slidenum">
              <a:rPr lang="fr-FR" smtClean="0"/>
              <a:pPr/>
              <a:t>‹N°›</a:t>
            </a:fld>
            <a:endParaRPr lang="fr-FR"/>
          </a:p>
        </p:txBody>
      </p:sp>
      <p:sp>
        <p:nvSpPr>
          <p:cNvPr id="12" name="Espace réservé du pied de page 11"/>
          <p:cNvSpPr>
            <a:spLocks noGrp="1"/>
          </p:cNvSpPr>
          <p:nvPr>
            <p:ph type="ftr" sz="quarter" idx="12"/>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3" name="Titre 2"/>
          <p:cNvSpPr>
            <a:spLocks noGrp="1"/>
          </p:cNvSpPr>
          <p:nvPr>
            <p:ph type="title" hasCustomPrompt="1"/>
          </p:nvPr>
        </p:nvSpPr>
        <p:spPr bwMode="gray">
          <a:xfrm>
            <a:off x="1055440" y="260648"/>
            <a:ext cx="1692188" cy="1260139"/>
          </a:xfrm>
        </p:spPr>
        <p:txBody>
          <a:bodyPr anchor="b" anchorCtr="0"/>
          <a:lstStyle>
            <a:lvl1pPr>
              <a:defRPr sz="8250">
                <a:solidFill>
                  <a:schemeClr val="tx2"/>
                </a:solidFill>
              </a:defRPr>
            </a:lvl1pPr>
          </a:lstStyle>
          <a:p>
            <a:r>
              <a:rPr lang="fr-FR" noProof="0"/>
              <a:t>0</a:t>
            </a:r>
            <a:endParaRPr lang="fr-FR"/>
          </a:p>
        </p:txBody>
      </p:sp>
      <p:sp>
        <p:nvSpPr>
          <p:cNvPr id="10" name="Espace réservé du texte 3">
            <a:extLst>
              <a:ext uri="{FF2B5EF4-FFF2-40B4-BE49-F238E27FC236}">
                <a16:creationId xmlns:a16="http://schemas.microsoft.com/office/drawing/2014/main" id="{DF42B46E-2400-032F-4FF8-C6F08F4EBDF7}"/>
              </a:ext>
            </a:extLst>
          </p:cNvPr>
          <p:cNvSpPr>
            <a:spLocks noGrp="1"/>
          </p:cNvSpPr>
          <p:nvPr>
            <p:ph type="body" sz="quarter" idx="14" hasCustomPrompt="1"/>
          </p:nvPr>
        </p:nvSpPr>
        <p:spPr bwMode="gray">
          <a:xfrm>
            <a:off x="1055440" y="1679036"/>
            <a:ext cx="10801200" cy="2758076"/>
          </a:xfrm>
          <a:prstGeom prst="rect">
            <a:avLst/>
          </a:prstGeom>
          <a:noFill/>
        </p:spPr>
        <p:txBody>
          <a:bodyPr wrap="square" lIns="0" tIns="0" rIns="0">
            <a:normAutofit/>
          </a:bodyPr>
          <a:lstStyle>
            <a:lvl1pPr marL="0" indent="0">
              <a:spcAft>
                <a:spcPts val="0"/>
              </a:spcAft>
              <a:buNone/>
              <a:defRPr sz="4800">
                <a:solidFill>
                  <a:schemeClr val="tx2"/>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r-FR" noProof="0"/>
              <a:t>Titre</a:t>
            </a:r>
          </a:p>
        </p:txBody>
      </p:sp>
      <p:pic>
        <p:nvPicPr>
          <p:cNvPr id="2" name="Image 1">
            <a:extLst>
              <a:ext uri="{FF2B5EF4-FFF2-40B4-BE49-F238E27FC236}">
                <a16:creationId xmlns:a16="http://schemas.microsoft.com/office/drawing/2014/main" id="{41940FC0-1E33-79E6-8E25-8CDC4FD6458B}"/>
              </a:ext>
            </a:extLst>
          </p:cNvPr>
          <p:cNvPicPr>
            <a:picLocks noChangeAspect="1"/>
          </p:cNvPicPr>
          <p:nvPr/>
        </p:nvPicPr>
        <p:blipFill>
          <a:blip r:embed="rId2"/>
          <a:stretch>
            <a:fillRect/>
          </a:stretch>
        </p:blipFill>
        <p:spPr>
          <a:xfrm>
            <a:off x="1066488" y="6008136"/>
            <a:ext cx="2486502" cy="216024"/>
          </a:xfrm>
          <a:prstGeom prst="rect">
            <a:avLst/>
          </a:prstGeom>
        </p:spPr>
      </p:pic>
      <p:sp>
        <p:nvSpPr>
          <p:cNvPr id="4" name="Rectangle 3">
            <a:extLst>
              <a:ext uri="{FF2B5EF4-FFF2-40B4-BE49-F238E27FC236}">
                <a16:creationId xmlns:a16="http://schemas.microsoft.com/office/drawing/2014/main" id="{31500E6E-5583-9BD3-DAC0-53C44C956EDB}"/>
              </a:ext>
            </a:extLst>
          </p:cNvPr>
          <p:cNvSpPr/>
          <p:nvPr userDrawn="1"/>
        </p:nvSpPr>
        <p:spPr bwMode="gray">
          <a:xfrm>
            <a:off x="0" y="0"/>
            <a:ext cx="12192000" cy="6858000"/>
          </a:xfrm>
          <a:prstGeom prst="rect">
            <a:avLst/>
          </a:prstGeom>
          <a:solidFill>
            <a:srgbClr val="E1C86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5" name="Forme libre : forme 4">
            <a:extLst>
              <a:ext uri="{FF2B5EF4-FFF2-40B4-BE49-F238E27FC236}">
                <a16:creationId xmlns:a16="http://schemas.microsoft.com/office/drawing/2014/main" id="{CFB35238-79AB-D39A-51FE-516B6380FC7A}"/>
              </a:ext>
            </a:extLst>
          </p:cNvPr>
          <p:cNvSpPr/>
          <p:nvPr userDrawn="1"/>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6" name="Image 5">
            <a:extLst>
              <a:ext uri="{FF2B5EF4-FFF2-40B4-BE49-F238E27FC236}">
                <a16:creationId xmlns:a16="http://schemas.microsoft.com/office/drawing/2014/main" id="{2616FFD4-DB7F-6047-48D4-1F2C812093DD}"/>
              </a:ext>
            </a:extLst>
          </p:cNvPr>
          <p:cNvPicPr>
            <a:picLocks noChangeAspect="1"/>
          </p:cNvPicPr>
          <p:nvPr userDrawn="1"/>
        </p:nvPicPr>
        <p:blipFill>
          <a:blip r:embed="rId2"/>
          <a:stretch>
            <a:fillRect/>
          </a:stretch>
        </p:blipFill>
        <p:spPr>
          <a:xfrm>
            <a:off x="1066488" y="6008136"/>
            <a:ext cx="2486502" cy="216024"/>
          </a:xfrm>
          <a:prstGeom prst="rect">
            <a:avLst/>
          </a:prstGeom>
        </p:spPr>
      </p:pic>
    </p:spTree>
    <p:extLst>
      <p:ext uri="{BB962C8B-B14F-4D97-AF65-F5344CB8AC3E}">
        <p14:creationId xmlns:p14="http://schemas.microsoft.com/office/powerpoint/2010/main" val="566385525"/>
      </p:ext>
    </p:extLst>
  </p:cSld>
  <p:clrMapOvr>
    <a:masterClrMapping/>
  </p:clrMapOvr>
  <p:hf sldNum="0"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698">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p:cSld name="Diptyque_jaun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BC517D08-A7C5-B248-731F-D8AE78AF6AD5}"/>
              </a:ext>
            </a:extLst>
          </p:cNvPr>
          <p:cNvSpPr/>
          <p:nvPr/>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Rectangle 19">
            <a:extLst>
              <a:ext uri="{FF2B5EF4-FFF2-40B4-BE49-F238E27FC236}">
                <a16:creationId xmlns:a16="http://schemas.microsoft.com/office/drawing/2014/main" id="{8BD239C2-24FF-78DB-1368-3659B94844BF}"/>
              </a:ext>
            </a:extLst>
          </p:cNvPr>
          <p:cNvSpPr/>
          <p:nvPr/>
        </p:nvSpPr>
        <p:spPr bwMode="gray">
          <a:xfrm>
            <a:off x="6096000" y="0"/>
            <a:ext cx="6096000" cy="6858000"/>
          </a:xfrm>
          <a:prstGeom prst="rect">
            <a:avLst/>
          </a:prstGeom>
          <a:solidFill>
            <a:srgbClr val="E1C86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3" name="Forme libre : forme 12">
            <a:extLst>
              <a:ext uri="{FF2B5EF4-FFF2-40B4-BE49-F238E27FC236}">
                <a16:creationId xmlns:a16="http://schemas.microsoft.com/office/drawing/2014/main" id="{15E8C0C3-BA99-8DDA-4C72-C4AD3C25E72D}"/>
              </a:ext>
            </a:extLst>
          </p:cNvPr>
          <p:cNvSpPr/>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24A4B7A5-4796-DDF3-D5EA-CA514233A100}"/>
              </a:ext>
            </a:extLst>
          </p:cNvPr>
          <p:cNvSpPr>
            <a:spLocks noGrp="1"/>
          </p:cNvSpPr>
          <p:nvPr>
            <p:ph type="title" hasCustomPrompt="1"/>
          </p:nvPr>
        </p:nvSpPr>
        <p:spPr bwMode="gray">
          <a:xfrm>
            <a:off x="558800" y="410107"/>
            <a:ext cx="5141156" cy="936104"/>
          </a:xfrm>
        </p:spPr>
        <p:txBody>
          <a:bodyPr/>
          <a:lstStyle>
            <a:lvl1pPr>
              <a:defRPr>
                <a:solidFill>
                  <a:srgbClr val="E1C86E"/>
                </a:solidFill>
              </a:defRPr>
            </a:lvl1pPr>
          </a:lstStyle>
          <a:p>
            <a:r>
              <a:rPr lang="fr-FR"/>
              <a:t>Titre de la slide</a:t>
            </a:r>
          </a:p>
        </p:txBody>
      </p:sp>
      <p:sp>
        <p:nvSpPr>
          <p:cNvPr id="3" name="Espace réservé de la date 2">
            <a:extLst>
              <a:ext uri="{FF2B5EF4-FFF2-40B4-BE49-F238E27FC236}">
                <a16:creationId xmlns:a16="http://schemas.microsoft.com/office/drawing/2014/main" id="{AB780E7C-6F1F-25F3-02AB-3466F56B1F07}"/>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CD75CE2-C48E-C7E6-194C-60A7394FE5D2}"/>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DC025D0F-DF5A-7E91-F4B9-92DC3571B3D8}"/>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5F3C6EE9-F33A-C402-E3FD-E4DB8D537106}"/>
              </a:ext>
            </a:extLst>
          </p:cNvPr>
          <p:cNvSpPr>
            <a:spLocks noGrp="1"/>
          </p:cNvSpPr>
          <p:nvPr>
            <p:ph type="body" sz="quarter" idx="14" hasCustomPrompt="1"/>
          </p:nvPr>
        </p:nvSpPr>
        <p:spPr bwMode="gray">
          <a:xfrm>
            <a:off x="1019437" y="2005169"/>
            <a:ext cx="4716468" cy="3708412"/>
          </a:xfrm>
        </p:spPr>
        <p:txBody>
          <a:bodyPr/>
          <a:lstStyle>
            <a:lvl1pPr marL="0" indent="0">
              <a:spcAft>
                <a:spcPts val="0"/>
              </a:spcAft>
              <a:buNone/>
              <a:defRPr sz="2700">
                <a:solidFill>
                  <a:srgbClr val="E1C86E"/>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sp>
        <p:nvSpPr>
          <p:cNvPr id="19" name="Espace réservé du texte 18">
            <a:extLst>
              <a:ext uri="{FF2B5EF4-FFF2-40B4-BE49-F238E27FC236}">
                <a16:creationId xmlns:a16="http://schemas.microsoft.com/office/drawing/2014/main" id="{70F73260-667B-8ABB-D758-D2BE39806107}"/>
              </a:ext>
            </a:extLst>
          </p:cNvPr>
          <p:cNvSpPr>
            <a:spLocks noGrp="1"/>
          </p:cNvSpPr>
          <p:nvPr>
            <p:ph type="body" sz="quarter" idx="16" hasCustomPrompt="1"/>
          </p:nvPr>
        </p:nvSpPr>
        <p:spPr bwMode="gray">
          <a:xfrm>
            <a:off x="7327112" y="1909575"/>
            <a:ext cx="4559488" cy="3804006"/>
          </a:xfrm>
          <a:custGeom>
            <a:avLst/>
            <a:gdLst>
              <a:gd name="connsiteX0" fmla="*/ 0 w 6084000"/>
              <a:gd name="connsiteY0" fmla="*/ 0 h 5914428"/>
              <a:gd name="connsiteX1" fmla="*/ 6084000 w 6084000"/>
              <a:gd name="connsiteY1" fmla="*/ 0 h 5914428"/>
              <a:gd name="connsiteX2" fmla="*/ 6084000 w 6084000"/>
              <a:gd name="connsiteY2" fmla="*/ 5914428 h 5914428"/>
              <a:gd name="connsiteX3" fmla="*/ 0 w 6084000"/>
              <a:gd name="connsiteY3" fmla="*/ 5914428 h 5914428"/>
            </a:gdLst>
            <a:ahLst/>
            <a:cxnLst>
              <a:cxn ang="0">
                <a:pos x="connsiteX0" y="connsiteY0"/>
              </a:cxn>
              <a:cxn ang="0">
                <a:pos x="connsiteX1" y="connsiteY1"/>
              </a:cxn>
              <a:cxn ang="0">
                <a:pos x="connsiteX2" y="connsiteY2"/>
              </a:cxn>
              <a:cxn ang="0">
                <a:pos x="connsiteX3" y="connsiteY3"/>
              </a:cxn>
            </a:cxnLst>
            <a:rect l="l" t="t" r="r" b="b"/>
            <a:pathLst>
              <a:path w="6084000" h="5914428">
                <a:moveTo>
                  <a:pt x="0" y="0"/>
                </a:moveTo>
                <a:lnTo>
                  <a:pt x="6084000" y="0"/>
                </a:lnTo>
                <a:lnTo>
                  <a:pt x="6084000" y="5914428"/>
                </a:lnTo>
                <a:lnTo>
                  <a:pt x="0" y="5914428"/>
                </a:lnTo>
                <a:close/>
              </a:path>
            </a:pathLst>
          </a:custGeom>
          <a:noFill/>
        </p:spPr>
        <p:txBody>
          <a:bodyPr wrap="square" lIns="0" tIns="0">
            <a:normAutofit/>
          </a:bodyPr>
          <a:lstStyle>
            <a:lvl1pPr marL="0" indent="0">
              <a:spcAft>
                <a:spcPts val="0"/>
              </a:spcAft>
              <a:buNone/>
              <a:defRPr sz="41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pic>
        <p:nvPicPr>
          <p:cNvPr id="7" name="Image 6" descr="Une image contenant Police, Graphique, capture d’écran, logo&#10;&#10;Description générée automatiquement">
            <a:extLst>
              <a:ext uri="{FF2B5EF4-FFF2-40B4-BE49-F238E27FC236}">
                <a16:creationId xmlns:a16="http://schemas.microsoft.com/office/drawing/2014/main" id="{E68F538A-66B9-5143-3B46-D95FB5AEFCBA}"/>
              </a:ext>
            </a:extLst>
          </p:cNvPr>
          <p:cNvPicPr>
            <a:picLocks noChangeAspect="1"/>
          </p:cNvPicPr>
          <p:nvPr/>
        </p:nvPicPr>
        <p:blipFill>
          <a:blip r:embed="rId2"/>
          <a:stretch>
            <a:fillRect/>
          </a:stretch>
        </p:blipFill>
        <p:spPr>
          <a:xfrm>
            <a:off x="191344" y="6157729"/>
            <a:ext cx="2253137" cy="700271"/>
          </a:xfrm>
          <a:prstGeom prst="rect">
            <a:avLst/>
          </a:prstGeom>
        </p:spPr>
      </p:pic>
      <p:sp>
        <p:nvSpPr>
          <p:cNvPr id="6" name="Rectangle 5">
            <a:extLst>
              <a:ext uri="{FF2B5EF4-FFF2-40B4-BE49-F238E27FC236}">
                <a16:creationId xmlns:a16="http://schemas.microsoft.com/office/drawing/2014/main" id="{FBD566D5-3C38-7884-9D9D-4C1F838A06A1}"/>
              </a:ext>
            </a:extLst>
          </p:cNvPr>
          <p:cNvSpPr/>
          <p:nvPr userDrawn="1"/>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Rectangle 8">
            <a:extLst>
              <a:ext uri="{FF2B5EF4-FFF2-40B4-BE49-F238E27FC236}">
                <a16:creationId xmlns:a16="http://schemas.microsoft.com/office/drawing/2014/main" id="{86B36100-959B-AA87-8436-7F0C1E35ACA5}"/>
              </a:ext>
            </a:extLst>
          </p:cNvPr>
          <p:cNvSpPr/>
          <p:nvPr userDrawn="1"/>
        </p:nvSpPr>
        <p:spPr bwMode="gray">
          <a:xfrm>
            <a:off x="6096000" y="0"/>
            <a:ext cx="6096000" cy="6858000"/>
          </a:xfrm>
          <a:prstGeom prst="rect">
            <a:avLst/>
          </a:prstGeom>
          <a:solidFill>
            <a:srgbClr val="E1C86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0" name="Forme libre : forme 9">
            <a:extLst>
              <a:ext uri="{FF2B5EF4-FFF2-40B4-BE49-F238E27FC236}">
                <a16:creationId xmlns:a16="http://schemas.microsoft.com/office/drawing/2014/main" id="{4F0CAF77-B9E9-4FF1-0D56-430D3C54070A}"/>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descr="Une image contenant Police, Graphique, capture d’écran, logo&#10;&#10;Description générée automatiquement">
            <a:extLst>
              <a:ext uri="{FF2B5EF4-FFF2-40B4-BE49-F238E27FC236}">
                <a16:creationId xmlns:a16="http://schemas.microsoft.com/office/drawing/2014/main" id="{A426F4FB-C9D2-E033-5E75-2E2B26BFF593}"/>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275936390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2">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p:cSld name="Graphique+texte_diptyque_jaun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D8A0BBC-87C1-9EAA-905D-667B3503DD01}"/>
              </a:ext>
            </a:extLst>
          </p:cNvPr>
          <p:cNvSpPr/>
          <p:nvPr/>
        </p:nvSpPr>
        <p:spPr bwMode="gray">
          <a:xfrm>
            <a:off x="6108000" y="327095"/>
            <a:ext cx="5731200" cy="5914800"/>
          </a:xfrm>
          <a:prstGeom prst="rect">
            <a:avLst/>
          </a:prstGeom>
          <a:solidFill>
            <a:srgbClr val="E1C86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FD768BBB-4837-52E2-7BD0-7D518CA47FF7}"/>
              </a:ext>
            </a:extLst>
          </p:cNvPr>
          <p:cNvSpPr>
            <a:spLocks noGrp="1"/>
          </p:cNvSpPr>
          <p:nvPr>
            <p:ph type="title" hasCustomPrompt="1"/>
          </p:nvPr>
        </p:nvSpPr>
        <p:spPr bwMode="gray">
          <a:xfrm>
            <a:off x="305400" y="410400"/>
            <a:ext cx="51876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90D741DC-727E-13C0-2600-FC0CD0B38D22}"/>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5084F18-B1B3-6A44-A46D-453F1D1896EB}"/>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E7C62B9-E5CF-FEC3-B21C-266ACBD20537}"/>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graphique 16">
            <a:extLst>
              <a:ext uri="{FF2B5EF4-FFF2-40B4-BE49-F238E27FC236}">
                <a16:creationId xmlns:a16="http://schemas.microsoft.com/office/drawing/2014/main" id="{28EEB7A5-AFA7-58FC-32DE-2F2F2254BB13}"/>
              </a:ext>
            </a:extLst>
          </p:cNvPr>
          <p:cNvSpPr>
            <a:spLocks noGrp="1"/>
          </p:cNvSpPr>
          <p:nvPr>
            <p:ph type="chart" sz="quarter" idx="18" hasCustomPrompt="1"/>
          </p:nvPr>
        </p:nvSpPr>
        <p:spPr bwMode="gray">
          <a:xfrm>
            <a:off x="989833" y="1783603"/>
            <a:ext cx="4096371" cy="4392408"/>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9" name="Espace réservé du texte 8">
            <a:extLst>
              <a:ext uri="{FF2B5EF4-FFF2-40B4-BE49-F238E27FC236}">
                <a16:creationId xmlns:a16="http://schemas.microsoft.com/office/drawing/2014/main" id="{3964A26B-A8B3-B604-E0F1-3B018D194BE3}"/>
              </a:ext>
            </a:extLst>
          </p:cNvPr>
          <p:cNvSpPr>
            <a:spLocks noGrp="1"/>
          </p:cNvSpPr>
          <p:nvPr>
            <p:ph type="body" sz="quarter" idx="19" hasCustomPrompt="1"/>
          </p:nvPr>
        </p:nvSpPr>
        <p:spPr bwMode="gray">
          <a:xfrm>
            <a:off x="532006" y="1346504"/>
            <a:ext cx="4653968" cy="377146"/>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7" name="Espace réservé du texte 8">
            <a:extLst>
              <a:ext uri="{FF2B5EF4-FFF2-40B4-BE49-F238E27FC236}">
                <a16:creationId xmlns:a16="http://schemas.microsoft.com/office/drawing/2014/main" id="{E506AE39-A715-C12E-4D9F-7A3455AB88B3}"/>
              </a:ext>
            </a:extLst>
          </p:cNvPr>
          <p:cNvSpPr>
            <a:spLocks noGrp="1"/>
          </p:cNvSpPr>
          <p:nvPr>
            <p:ph type="body" sz="quarter" idx="20" hasCustomPrompt="1"/>
          </p:nvPr>
        </p:nvSpPr>
        <p:spPr bwMode="gray">
          <a:xfrm>
            <a:off x="6648830" y="1118619"/>
            <a:ext cx="4386281" cy="1626305"/>
          </a:xfrm>
          <a:noFill/>
        </p:spPr>
        <p:txBody>
          <a:bodyPr lIns="0" tIns="0" rIns="0"/>
          <a:lstStyle>
            <a:lvl1pPr marL="0" indent="0" algn="r">
              <a:lnSpc>
                <a:spcPct val="100000"/>
              </a:lnSpc>
              <a:spcAft>
                <a:spcPts val="0"/>
              </a:spcAft>
              <a:buNone/>
              <a:defRPr sz="11100">
                <a:solidFill>
                  <a:schemeClr val="tx2"/>
                </a:solidFill>
                <a:latin typeface="+mj-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00%</a:t>
            </a:r>
          </a:p>
        </p:txBody>
      </p:sp>
      <p:sp>
        <p:nvSpPr>
          <p:cNvPr id="11" name="Espace réservé du texte 8">
            <a:extLst>
              <a:ext uri="{FF2B5EF4-FFF2-40B4-BE49-F238E27FC236}">
                <a16:creationId xmlns:a16="http://schemas.microsoft.com/office/drawing/2014/main" id="{463598C1-64BB-D489-C803-1BC4F7604BAE}"/>
              </a:ext>
            </a:extLst>
          </p:cNvPr>
          <p:cNvSpPr>
            <a:spLocks noGrp="1"/>
          </p:cNvSpPr>
          <p:nvPr>
            <p:ph type="body" sz="quarter" idx="21" hasCustomPrompt="1"/>
          </p:nvPr>
        </p:nvSpPr>
        <p:spPr bwMode="gray">
          <a:xfrm>
            <a:off x="6648830" y="2554860"/>
            <a:ext cx="4386281" cy="683741"/>
          </a:xfrm>
          <a:noFill/>
        </p:spPr>
        <p:txBody>
          <a:bodyPr lIns="0" tIns="0" rIns="0">
            <a:normAutofit/>
          </a:bodyPr>
          <a:lstStyle>
            <a:lvl1pPr marL="0" indent="0" algn="r">
              <a:lnSpc>
                <a:spcPct val="100000"/>
              </a:lnSpc>
              <a:spcAft>
                <a:spcPts val="0"/>
              </a:spcAft>
              <a:buNone/>
              <a:defRPr sz="250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en 2021</a:t>
            </a:r>
          </a:p>
        </p:txBody>
      </p:sp>
      <p:sp>
        <p:nvSpPr>
          <p:cNvPr id="12" name="Espace réservé du texte 8">
            <a:extLst>
              <a:ext uri="{FF2B5EF4-FFF2-40B4-BE49-F238E27FC236}">
                <a16:creationId xmlns:a16="http://schemas.microsoft.com/office/drawing/2014/main" id="{0610C7A3-659A-6DD6-34B9-1A56568C39D3}"/>
              </a:ext>
            </a:extLst>
          </p:cNvPr>
          <p:cNvSpPr>
            <a:spLocks noGrp="1"/>
          </p:cNvSpPr>
          <p:nvPr>
            <p:ph type="body" sz="quarter" idx="22" hasCustomPrompt="1"/>
          </p:nvPr>
        </p:nvSpPr>
        <p:spPr bwMode="gray">
          <a:xfrm>
            <a:off x="6648830" y="2930796"/>
            <a:ext cx="4386281" cy="876185"/>
          </a:xfrm>
          <a:noFill/>
        </p:spPr>
        <p:txBody>
          <a:bodyPr lIns="0" tIns="0" rIns="0">
            <a:normAutofit/>
          </a:bodyPr>
          <a:lstStyle>
            <a:lvl1pPr marL="0" indent="0" algn="r">
              <a:lnSpc>
                <a:spcPct val="100000"/>
              </a:lnSpc>
              <a:spcAft>
                <a:spcPts val="0"/>
              </a:spcAft>
              <a:buNone/>
              <a:defRPr sz="4500" b="1"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+34%</a:t>
            </a:r>
          </a:p>
        </p:txBody>
      </p:sp>
      <p:sp>
        <p:nvSpPr>
          <p:cNvPr id="13" name="Espace réservé du texte 8">
            <a:extLst>
              <a:ext uri="{FF2B5EF4-FFF2-40B4-BE49-F238E27FC236}">
                <a16:creationId xmlns:a16="http://schemas.microsoft.com/office/drawing/2014/main" id="{90F8CC21-ACE8-81BE-9270-CE3B0787E14E}"/>
              </a:ext>
            </a:extLst>
          </p:cNvPr>
          <p:cNvSpPr>
            <a:spLocks noGrp="1"/>
          </p:cNvSpPr>
          <p:nvPr>
            <p:ph type="body" sz="quarter" idx="23" hasCustomPrompt="1"/>
          </p:nvPr>
        </p:nvSpPr>
        <p:spPr bwMode="gray">
          <a:xfrm>
            <a:off x="6648832" y="4401108"/>
            <a:ext cx="4739756" cy="1548172"/>
          </a:xfrm>
          <a:noFill/>
        </p:spPr>
        <p:txBody>
          <a:bodyPr lIns="0" tIns="0" rIns="0">
            <a:normAutofit/>
          </a:bodyPr>
          <a:lstStyle>
            <a:lvl1pPr marL="0" indent="0" algn="l">
              <a:lnSpc>
                <a:spcPct val="100000"/>
              </a:lnSpc>
              <a:spcAft>
                <a:spcPts val="0"/>
              </a:spcAft>
              <a:buNone/>
              <a:defRPr sz="2700"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Lorem</a:t>
            </a:r>
          </a:p>
        </p:txBody>
      </p:sp>
      <p:sp>
        <p:nvSpPr>
          <p:cNvPr id="6" name="Rectangle 5">
            <a:extLst>
              <a:ext uri="{FF2B5EF4-FFF2-40B4-BE49-F238E27FC236}">
                <a16:creationId xmlns:a16="http://schemas.microsoft.com/office/drawing/2014/main" id="{FD199249-CF1E-A8BB-C123-6AB4B3A5E36C}"/>
              </a:ext>
            </a:extLst>
          </p:cNvPr>
          <p:cNvSpPr/>
          <p:nvPr userDrawn="1"/>
        </p:nvSpPr>
        <p:spPr bwMode="gray">
          <a:xfrm>
            <a:off x="6108000" y="327095"/>
            <a:ext cx="5731200" cy="5914800"/>
          </a:xfrm>
          <a:prstGeom prst="rect">
            <a:avLst/>
          </a:prstGeom>
          <a:solidFill>
            <a:srgbClr val="E1C86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2417052027"/>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p:cSld name="Intercalaire_vert">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7323CCC4-8679-C2AD-3A24-B72A3734C225}"/>
              </a:ext>
            </a:extLst>
          </p:cNvPr>
          <p:cNvSpPr/>
          <p:nvPr/>
        </p:nvSpPr>
        <p:spPr bwMode="gray">
          <a:xfrm>
            <a:off x="0" y="0"/>
            <a:ext cx="12192000" cy="6858000"/>
          </a:xfrm>
          <a:prstGeom prst="rect">
            <a:avLst/>
          </a:prstGeom>
          <a:solidFill>
            <a:srgbClr val="97B28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CAA4DAEA-970D-8876-C9DC-932391652B5D}"/>
              </a:ext>
            </a:extLst>
          </p:cNvPr>
          <p:cNvSpPr/>
          <p:nvPr/>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e la date 7"/>
          <p:cNvSpPr>
            <a:spLocks noGrp="1"/>
          </p:cNvSpPr>
          <p:nvPr>
            <p:ph type="dt" sz="half" idx="10"/>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6EF6EC3F-7A12-4C3C-9012-F0C7A5EB5702}" type="datetime3">
              <a:rPr lang="fr-FR" smtClean="0"/>
              <a:pPr/>
              <a:t>12.01.26</a:t>
            </a:fld>
            <a:endParaRPr lang="fr-FR"/>
          </a:p>
        </p:txBody>
      </p:sp>
      <p:sp>
        <p:nvSpPr>
          <p:cNvPr id="11" name="Espace réservé du numéro de diapositive 10"/>
          <p:cNvSpPr>
            <a:spLocks noGrp="1"/>
          </p:cNvSpPr>
          <p:nvPr>
            <p:ph type="sldNum" sz="quarter" idx="11"/>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733122C9-A0B9-462F-8757-0847AD287B63}" type="slidenum">
              <a:rPr lang="fr-FR" smtClean="0"/>
              <a:pPr/>
              <a:t>‹N°›</a:t>
            </a:fld>
            <a:endParaRPr lang="fr-FR"/>
          </a:p>
        </p:txBody>
      </p:sp>
      <p:sp>
        <p:nvSpPr>
          <p:cNvPr id="12" name="Espace réservé du pied de page 11"/>
          <p:cNvSpPr>
            <a:spLocks noGrp="1"/>
          </p:cNvSpPr>
          <p:nvPr>
            <p:ph type="ftr" sz="quarter" idx="12"/>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3" name="Titre 2"/>
          <p:cNvSpPr>
            <a:spLocks noGrp="1"/>
          </p:cNvSpPr>
          <p:nvPr>
            <p:ph type="title" hasCustomPrompt="1"/>
          </p:nvPr>
        </p:nvSpPr>
        <p:spPr bwMode="gray">
          <a:xfrm>
            <a:off x="1055440" y="260648"/>
            <a:ext cx="1692188" cy="1260139"/>
          </a:xfrm>
        </p:spPr>
        <p:txBody>
          <a:bodyPr anchor="b" anchorCtr="0"/>
          <a:lstStyle>
            <a:lvl1pPr>
              <a:defRPr sz="8250">
                <a:solidFill>
                  <a:schemeClr val="tx2"/>
                </a:solidFill>
              </a:defRPr>
            </a:lvl1pPr>
          </a:lstStyle>
          <a:p>
            <a:r>
              <a:rPr lang="fr-FR" noProof="0"/>
              <a:t>0</a:t>
            </a:r>
            <a:endParaRPr lang="fr-FR"/>
          </a:p>
        </p:txBody>
      </p:sp>
      <p:sp>
        <p:nvSpPr>
          <p:cNvPr id="10" name="Espace réservé du texte 3">
            <a:extLst>
              <a:ext uri="{FF2B5EF4-FFF2-40B4-BE49-F238E27FC236}">
                <a16:creationId xmlns:a16="http://schemas.microsoft.com/office/drawing/2014/main" id="{DF42B46E-2400-032F-4FF8-C6F08F4EBDF7}"/>
              </a:ext>
            </a:extLst>
          </p:cNvPr>
          <p:cNvSpPr>
            <a:spLocks noGrp="1"/>
          </p:cNvSpPr>
          <p:nvPr>
            <p:ph type="body" sz="quarter" idx="14" hasCustomPrompt="1"/>
          </p:nvPr>
        </p:nvSpPr>
        <p:spPr bwMode="gray">
          <a:xfrm>
            <a:off x="1055440" y="1679036"/>
            <a:ext cx="10801200" cy="2758076"/>
          </a:xfrm>
          <a:prstGeom prst="rect">
            <a:avLst/>
          </a:prstGeom>
          <a:noFill/>
        </p:spPr>
        <p:txBody>
          <a:bodyPr wrap="square" lIns="0" tIns="0" rIns="0">
            <a:normAutofit/>
          </a:bodyPr>
          <a:lstStyle>
            <a:lvl1pPr marL="0" indent="0">
              <a:spcAft>
                <a:spcPts val="0"/>
              </a:spcAft>
              <a:buNone/>
              <a:defRPr sz="4800">
                <a:solidFill>
                  <a:schemeClr val="tx2"/>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r-FR" noProof="0"/>
              <a:t>Titre</a:t>
            </a:r>
          </a:p>
        </p:txBody>
      </p:sp>
      <p:pic>
        <p:nvPicPr>
          <p:cNvPr id="2" name="Image 1">
            <a:extLst>
              <a:ext uri="{FF2B5EF4-FFF2-40B4-BE49-F238E27FC236}">
                <a16:creationId xmlns:a16="http://schemas.microsoft.com/office/drawing/2014/main" id="{BC54C0D9-84B5-F348-F906-18FD0BAFEAD2}"/>
              </a:ext>
            </a:extLst>
          </p:cNvPr>
          <p:cNvPicPr>
            <a:picLocks noChangeAspect="1"/>
          </p:cNvPicPr>
          <p:nvPr/>
        </p:nvPicPr>
        <p:blipFill>
          <a:blip r:embed="rId2"/>
          <a:stretch>
            <a:fillRect/>
          </a:stretch>
        </p:blipFill>
        <p:spPr>
          <a:xfrm>
            <a:off x="1066488" y="6008136"/>
            <a:ext cx="2486502" cy="216024"/>
          </a:xfrm>
          <a:prstGeom prst="rect">
            <a:avLst/>
          </a:prstGeom>
        </p:spPr>
      </p:pic>
      <p:sp>
        <p:nvSpPr>
          <p:cNvPr id="4" name="Rectangle 3">
            <a:extLst>
              <a:ext uri="{FF2B5EF4-FFF2-40B4-BE49-F238E27FC236}">
                <a16:creationId xmlns:a16="http://schemas.microsoft.com/office/drawing/2014/main" id="{66C153B0-3739-14B8-3660-62BEAE2B9104}"/>
              </a:ext>
            </a:extLst>
          </p:cNvPr>
          <p:cNvSpPr/>
          <p:nvPr userDrawn="1"/>
        </p:nvSpPr>
        <p:spPr bwMode="gray">
          <a:xfrm>
            <a:off x="0" y="0"/>
            <a:ext cx="12192000" cy="6858000"/>
          </a:xfrm>
          <a:prstGeom prst="rect">
            <a:avLst/>
          </a:prstGeom>
          <a:solidFill>
            <a:srgbClr val="97B28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5" name="Forme libre : forme 4">
            <a:extLst>
              <a:ext uri="{FF2B5EF4-FFF2-40B4-BE49-F238E27FC236}">
                <a16:creationId xmlns:a16="http://schemas.microsoft.com/office/drawing/2014/main" id="{192E269B-0683-6437-EAB6-56C6FD2FA14F}"/>
              </a:ext>
            </a:extLst>
          </p:cNvPr>
          <p:cNvSpPr/>
          <p:nvPr userDrawn="1"/>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6" name="Image 5">
            <a:extLst>
              <a:ext uri="{FF2B5EF4-FFF2-40B4-BE49-F238E27FC236}">
                <a16:creationId xmlns:a16="http://schemas.microsoft.com/office/drawing/2014/main" id="{EFA4E099-AC8A-13F8-868E-A404C3B27240}"/>
              </a:ext>
            </a:extLst>
          </p:cNvPr>
          <p:cNvPicPr>
            <a:picLocks noChangeAspect="1"/>
          </p:cNvPicPr>
          <p:nvPr userDrawn="1"/>
        </p:nvPicPr>
        <p:blipFill>
          <a:blip r:embed="rId2"/>
          <a:stretch>
            <a:fillRect/>
          </a:stretch>
        </p:blipFill>
        <p:spPr>
          <a:xfrm>
            <a:off x="1066488" y="6008136"/>
            <a:ext cx="2486502" cy="216024"/>
          </a:xfrm>
          <a:prstGeom prst="rect">
            <a:avLst/>
          </a:prstGeom>
        </p:spPr>
      </p:pic>
    </p:spTree>
    <p:extLst>
      <p:ext uri="{BB962C8B-B14F-4D97-AF65-F5344CB8AC3E}">
        <p14:creationId xmlns:p14="http://schemas.microsoft.com/office/powerpoint/2010/main" val="3670788348"/>
      </p:ext>
    </p:extLst>
  </p:cSld>
  <p:clrMapOvr>
    <a:masterClrMapping/>
  </p:clrMapOvr>
  <p:hf sldNum="0"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698">
          <p15:clr>
            <a:srgbClr val="FBAE40"/>
          </p15:clr>
        </p15:guide>
      </p15:sldGuideLst>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p:cSld name="Diptyque_vert">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BC517D08-A7C5-B248-731F-D8AE78AF6AD5}"/>
              </a:ext>
            </a:extLst>
          </p:cNvPr>
          <p:cNvSpPr/>
          <p:nvPr/>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Rectangle 19">
            <a:extLst>
              <a:ext uri="{FF2B5EF4-FFF2-40B4-BE49-F238E27FC236}">
                <a16:creationId xmlns:a16="http://schemas.microsoft.com/office/drawing/2014/main" id="{8BD239C2-24FF-78DB-1368-3659B94844BF}"/>
              </a:ext>
            </a:extLst>
          </p:cNvPr>
          <p:cNvSpPr/>
          <p:nvPr/>
        </p:nvSpPr>
        <p:spPr bwMode="gray">
          <a:xfrm>
            <a:off x="6096000" y="0"/>
            <a:ext cx="6096000" cy="6858000"/>
          </a:xfrm>
          <a:prstGeom prst="rect">
            <a:avLst/>
          </a:prstGeom>
          <a:solidFill>
            <a:srgbClr val="97B28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3" name="Forme libre : forme 12">
            <a:extLst>
              <a:ext uri="{FF2B5EF4-FFF2-40B4-BE49-F238E27FC236}">
                <a16:creationId xmlns:a16="http://schemas.microsoft.com/office/drawing/2014/main" id="{15E8C0C3-BA99-8DDA-4C72-C4AD3C25E72D}"/>
              </a:ext>
            </a:extLst>
          </p:cNvPr>
          <p:cNvSpPr/>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24A4B7A5-4796-DDF3-D5EA-CA514233A100}"/>
              </a:ext>
            </a:extLst>
          </p:cNvPr>
          <p:cNvSpPr>
            <a:spLocks noGrp="1"/>
          </p:cNvSpPr>
          <p:nvPr>
            <p:ph type="title" hasCustomPrompt="1"/>
          </p:nvPr>
        </p:nvSpPr>
        <p:spPr bwMode="gray">
          <a:xfrm>
            <a:off x="558800" y="410107"/>
            <a:ext cx="5141156" cy="936104"/>
          </a:xfrm>
        </p:spPr>
        <p:txBody>
          <a:bodyPr/>
          <a:lstStyle>
            <a:lvl1pPr>
              <a:defRPr>
                <a:solidFill>
                  <a:srgbClr val="97B280"/>
                </a:solidFill>
              </a:defRPr>
            </a:lvl1pPr>
          </a:lstStyle>
          <a:p>
            <a:r>
              <a:rPr lang="fr-FR"/>
              <a:t>Titre de la slide</a:t>
            </a:r>
          </a:p>
        </p:txBody>
      </p:sp>
      <p:sp>
        <p:nvSpPr>
          <p:cNvPr id="3" name="Espace réservé de la date 2">
            <a:extLst>
              <a:ext uri="{FF2B5EF4-FFF2-40B4-BE49-F238E27FC236}">
                <a16:creationId xmlns:a16="http://schemas.microsoft.com/office/drawing/2014/main" id="{AB780E7C-6F1F-25F3-02AB-3466F56B1F07}"/>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CD75CE2-C48E-C7E6-194C-60A7394FE5D2}"/>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DC025D0F-DF5A-7E91-F4B9-92DC3571B3D8}"/>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5F3C6EE9-F33A-C402-E3FD-E4DB8D537106}"/>
              </a:ext>
            </a:extLst>
          </p:cNvPr>
          <p:cNvSpPr>
            <a:spLocks noGrp="1"/>
          </p:cNvSpPr>
          <p:nvPr>
            <p:ph type="body" sz="quarter" idx="14" hasCustomPrompt="1"/>
          </p:nvPr>
        </p:nvSpPr>
        <p:spPr bwMode="gray">
          <a:xfrm>
            <a:off x="1019437" y="2005169"/>
            <a:ext cx="4716468" cy="3708412"/>
          </a:xfrm>
        </p:spPr>
        <p:txBody>
          <a:bodyPr/>
          <a:lstStyle>
            <a:lvl1pPr marL="0" indent="0">
              <a:spcAft>
                <a:spcPts val="0"/>
              </a:spcAft>
              <a:buNone/>
              <a:defRPr sz="2700">
                <a:solidFill>
                  <a:srgbClr val="97B280"/>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sp>
        <p:nvSpPr>
          <p:cNvPr id="19" name="Espace réservé du texte 18">
            <a:extLst>
              <a:ext uri="{FF2B5EF4-FFF2-40B4-BE49-F238E27FC236}">
                <a16:creationId xmlns:a16="http://schemas.microsoft.com/office/drawing/2014/main" id="{70F73260-667B-8ABB-D758-D2BE39806107}"/>
              </a:ext>
            </a:extLst>
          </p:cNvPr>
          <p:cNvSpPr>
            <a:spLocks noGrp="1"/>
          </p:cNvSpPr>
          <p:nvPr>
            <p:ph type="body" sz="quarter" idx="16" hasCustomPrompt="1"/>
          </p:nvPr>
        </p:nvSpPr>
        <p:spPr bwMode="gray">
          <a:xfrm>
            <a:off x="7327112" y="1909575"/>
            <a:ext cx="4559488" cy="3804006"/>
          </a:xfrm>
          <a:custGeom>
            <a:avLst/>
            <a:gdLst>
              <a:gd name="connsiteX0" fmla="*/ 0 w 6084000"/>
              <a:gd name="connsiteY0" fmla="*/ 0 h 5914428"/>
              <a:gd name="connsiteX1" fmla="*/ 6084000 w 6084000"/>
              <a:gd name="connsiteY1" fmla="*/ 0 h 5914428"/>
              <a:gd name="connsiteX2" fmla="*/ 6084000 w 6084000"/>
              <a:gd name="connsiteY2" fmla="*/ 5914428 h 5914428"/>
              <a:gd name="connsiteX3" fmla="*/ 0 w 6084000"/>
              <a:gd name="connsiteY3" fmla="*/ 5914428 h 5914428"/>
            </a:gdLst>
            <a:ahLst/>
            <a:cxnLst>
              <a:cxn ang="0">
                <a:pos x="connsiteX0" y="connsiteY0"/>
              </a:cxn>
              <a:cxn ang="0">
                <a:pos x="connsiteX1" y="connsiteY1"/>
              </a:cxn>
              <a:cxn ang="0">
                <a:pos x="connsiteX2" y="connsiteY2"/>
              </a:cxn>
              <a:cxn ang="0">
                <a:pos x="connsiteX3" y="connsiteY3"/>
              </a:cxn>
            </a:cxnLst>
            <a:rect l="l" t="t" r="r" b="b"/>
            <a:pathLst>
              <a:path w="6084000" h="5914428">
                <a:moveTo>
                  <a:pt x="0" y="0"/>
                </a:moveTo>
                <a:lnTo>
                  <a:pt x="6084000" y="0"/>
                </a:lnTo>
                <a:lnTo>
                  <a:pt x="6084000" y="5914428"/>
                </a:lnTo>
                <a:lnTo>
                  <a:pt x="0" y="5914428"/>
                </a:lnTo>
                <a:close/>
              </a:path>
            </a:pathLst>
          </a:custGeom>
          <a:noFill/>
        </p:spPr>
        <p:txBody>
          <a:bodyPr wrap="square" lIns="0" tIns="0">
            <a:normAutofit/>
          </a:bodyPr>
          <a:lstStyle>
            <a:lvl1pPr marL="0" indent="0">
              <a:spcAft>
                <a:spcPts val="0"/>
              </a:spcAft>
              <a:buNone/>
              <a:defRPr sz="41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pic>
        <p:nvPicPr>
          <p:cNvPr id="7" name="Image 6" descr="Une image contenant Police, Graphique, capture d’écran, logo&#10;&#10;Description générée automatiquement">
            <a:extLst>
              <a:ext uri="{FF2B5EF4-FFF2-40B4-BE49-F238E27FC236}">
                <a16:creationId xmlns:a16="http://schemas.microsoft.com/office/drawing/2014/main" id="{267EBFAF-C41A-A427-4F75-A536624C8790}"/>
              </a:ext>
            </a:extLst>
          </p:cNvPr>
          <p:cNvPicPr>
            <a:picLocks noChangeAspect="1"/>
          </p:cNvPicPr>
          <p:nvPr/>
        </p:nvPicPr>
        <p:blipFill>
          <a:blip r:embed="rId2"/>
          <a:stretch>
            <a:fillRect/>
          </a:stretch>
        </p:blipFill>
        <p:spPr>
          <a:xfrm>
            <a:off x="191344" y="6157729"/>
            <a:ext cx="2253137" cy="700271"/>
          </a:xfrm>
          <a:prstGeom prst="rect">
            <a:avLst/>
          </a:prstGeom>
        </p:spPr>
      </p:pic>
      <p:sp>
        <p:nvSpPr>
          <p:cNvPr id="6" name="Rectangle 5">
            <a:extLst>
              <a:ext uri="{FF2B5EF4-FFF2-40B4-BE49-F238E27FC236}">
                <a16:creationId xmlns:a16="http://schemas.microsoft.com/office/drawing/2014/main" id="{5CB349DA-E59C-8C7F-4DFD-A87DA6246B6C}"/>
              </a:ext>
            </a:extLst>
          </p:cNvPr>
          <p:cNvSpPr/>
          <p:nvPr userDrawn="1"/>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Rectangle 8">
            <a:extLst>
              <a:ext uri="{FF2B5EF4-FFF2-40B4-BE49-F238E27FC236}">
                <a16:creationId xmlns:a16="http://schemas.microsoft.com/office/drawing/2014/main" id="{9E41934F-FA83-61D6-58ED-88347D262ACB}"/>
              </a:ext>
            </a:extLst>
          </p:cNvPr>
          <p:cNvSpPr/>
          <p:nvPr userDrawn="1"/>
        </p:nvSpPr>
        <p:spPr bwMode="gray">
          <a:xfrm>
            <a:off x="6096000" y="0"/>
            <a:ext cx="6096000" cy="6858000"/>
          </a:xfrm>
          <a:prstGeom prst="rect">
            <a:avLst/>
          </a:prstGeom>
          <a:solidFill>
            <a:srgbClr val="97B28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0" name="Forme libre : forme 9">
            <a:extLst>
              <a:ext uri="{FF2B5EF4-FFF2-40B4-BE49-F238E27FC236}">
                <a16:creationId xmlns:a16="http://schemas.microsoft.com/office/drawing/2014/main" id="{C61C1B72-04F3-BD9C-BAB4-FD32C8934E90}"/>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descr="Une image contenant Police, Graphique, capture d’écran, logo&#10;&#10;Description générée automatiquement">
            <a:extLst>
              <a:ext uri="{FF2B5EF4-FFF2-40B4-BE49-F238E27FC236}">
                <a16:creationId xmlns:a16="http://schemas.microsoft.com/office/drawing/2014/main" id="{3C5C71A8-DD3E-E1D5-A230-BF1462C1E4A5}"/>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244609837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2">
          <p15:clr>
            <a:srgbClr val="FBAE4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p:cSld name="Graphique+texte_diptyque_vert">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D8A0BBC-87C1-9EAA-905D-667B3503DD01}"/>
              </a:ext>
            </a:extLst>
          </p:cNvPr>
          <p:cNvSpPr/>
          <p:nvPr/>
        </p:nvSpPr>
        <p:spPr bwMode="gray">
          <a:xfrm>
            <a:off x="6108000" y="327095"/>
            <a:ext cx="5731200" cy="5914800"/>
          </a:xfrm>
          <a:prstGeom prst="rect">
            <a:avLst/>
          </a:prstGeom>
          <a:solidFill>
            <a:srgbClr val="97B28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FD768BBB-4837-52E2-7BD0-7D518CA47FF7}"/>
              </a:ext>
            </a:extLst>
          </p:cNvPr>
          <p:cNvSpPr>
            <a:spLocks noGrp="1"/>
          </p:cNvSpPr>
          <p:nvPr>
            <p:ph type="title" hasCustomPrompt="1"/>
          </p:nvPr>
        </p:nvSpPr>
        <p:spPr bwMode="gray">
          <a:xfrm>
            <a:off x="305400" y="410400"/>
            <a:ext cx="51876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90D741DC-727E-13C0-2600-FC0CD0B38D22}"/>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5084F18-B1B3-6A44-A46D-453F1D1896EB}"/>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E7C62B9-E5CF-FEC3-B21C-266ACBD20537}"/>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graphique 16">
            <a:extLst>
              <a:ext uri="{FF2B5EF4-FFF2-40B4-BE49-F238E27FC236}">
                <a16:creationId xmlns:a16="http://schemas.microsoft.com/office/drawing/2014/main" id="{28EEB7A5-AFA7-58FC-32DE-2F2F2254BB13}"/>
              </a:ext>
            </a:extLst>
          </p:cNvPr>
          <p:cNvSpPr>
            <a:spLocks noGrp="1"/>
          </p:cNvSpPr>
          <p:nvPr>
            <p:ph type="chart" sz="quarter" idx="18" hasCustomPrompt="1"/>
          </p:nvPr>
        </p:nvSpPr>
        <p:spPr bwMode="gray">
          <a:xfrm>
            <a:off x="989833" y="1783603"/>
            <a:ext cx="4096371" cy="4392408"/>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9" name="Espace réservé du texte 8">
            <a:extLst>
              <a:ext uri="{FF2B5EF4-FFF2-40B4-BE49-F238E27FC236}">
                <a16:creationId xmlns:a16="http://schemas.microsoft.com/office/drawing/2014/main" id="{3964A26B-A8B3-B604-E0F1-3B018D194BE3}"/>
              </a:ext>
            </a:extLst>
          </p:cNvPr>
          <p:cNvSpPr>
            <a:spLocks noGrp="1"/>
          </p:cNvSpPr>
          <p:nvPr>
            <p:ph type="body" sz="quarter" idx="19" hasCustomPrompt="1"/>
          </p:nvPr>
        </p:nvSpPr>
        <p:spPr bwMode="gray">
          <a:xfrm>
            <a:off x="532006" y="1346504"/>
            <a:ext cx="4653968" cy="377146"/>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7" name="Espace réservé du texte 8">
            <a:extLst>
              <a:ext uri="{FF2B5EF4-FFF2-40B4-BE49-F238E27FC236}">
                <a16:creationId xmlns:a16="http://schemas.microsoft.com/office/drawing/2014/main" id="{E506AE39-A715-C12E-4D9F-7A3455AB88B3}"/>
              </a:ext>
            </a:extLst>
          </p:cNvPr>
          <p:cNvSpPr>
            <a:spLocks noGrp="1"/>
          </p:cNvSpPr>
          <p:nvPr>
            <p:ph type="body" sz="quarter" idx="20" hasCustomPrompt="1"/>
          </p:nvPr>
        </p:nvSpPr>
        <p:spPr bwMode="gray">
          <a:xfrm>
            <a:off x="6648830" y="1118619"/>
            <a:ext cx="4386281" cy="1626305"/>
          </a:xfrm>
          <a:noFill/>
        </p:spPr>
        <p:txBody>
          <a:bodyPr lIns="0" tIns="0" rIns="0"/>
          <a:lstStyle>
            <a:lvl1pPr marL="0" indent="0" algn="r">
              <a:lnSpc>
                <a:spcPct val="100000"/>
              </a:lnSpc>
              <a:spcAft>
                <a:spcPts val="0"/>
              </a:spcAft>
              <a:buNone/>
              <a:defRPr sz="11100">
                <a:solidFill>
                  <a:schemeClr val="tx2"/>
                </a:solidFill>
                <a:latin typeface="+mj-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00%</a:t>
            </a:r>
          </a:p>
        </p:txBody>
      </p:sp>
      <p:sp>
        <p:nvSpPr>
          <p:cNvPr id="11" name="Espace réservé du texte 8">
            <a:extLst>
              <a:ext uri="{FF2B5EF4-FFF2-40B4-BE49-F238E27FC236}">
                <a16:creationId xmlns:a16="http://schemas.microsoft.com/office/drawing/2014/main" id="{463598C1-64BB-D489-C803-1BC4F7604BAE}"/>
              </a:ext>
            </a:extLst>
          </p:cNvPr>
          <p:cNvSpPr>
            <a:spLocks noGrp="1"/>
          </p:cNvSpPr>
          <p:nvPr>
            <p:ph type="body" sz="quarter" idx="21" hasCustomPrompt="1"/>
          </p:nvPr>
        </p:nvSpPr>
        <p:spPr bwMode="gray">
          <a:xfrm>
            <a:off x="6648830" y="2554860"/>
            <a:ext cx="4386281" cy="683741"/>
          </a:xfrm>
          <a:noFill/>
        </p:spPr>
        <p:txBody>
          <a:bodyPr lIns="0" tIns="0" rIns="0">
            <a:normAutofit/>
          </a:bodyPr>
          <a:lstStyle>
            <a:lvl1pPr marL="0" indent="0" algn="r">
              <a:lnSpc>
                <a:spcPct val="100000"/>
              </a:lnSpc>
              <a:spcAft>
                <a:spcPts val="0"/>
              </a:spcAft>
              <a:buNone/>
              <a:defRPr sz="250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en 2021</a:t>
            </a:r>
          </a:p>
        </p:txBody>
      </p:sp>
      <p:sp>
        <p:nvSpPr>
          <p:cNvPr id="12" name="Espace réservé du texte 8">
            <a:extLst>
              <a:ext uri="{FF2B5EF4-FFF2-40B4-BE49-F238E27FC236}">
                <a16:creationId xmlns:a16="http://schemas.microsoft.com/office/drawing/2014/main" id="{0610C7A3-659A-6DD6-34B9-1A56568C39D3}"/>
              </a:ext>
            </a:extLst>
          </p:cNvPr>
          <p:cNvSpPr>
            <a:spLocks noGrp="1"/>
          </p:cNvSpPr>
          <p:nvPr>
            <p:ph type="body" sz="quarter" idx="22" hasCustomPrompt="1"/>
          </p:nvPr>
        </p:nvSpPr>
        <p:spPr bwMode="gray">
          <a:xfrm>
            <a:off x="6648830" y="2930796"/>
            <a:ext cx="4386281" cy="876185"/>
          </a:xfrm>
          <a:noFill/>
        </p:spPr>
        <p:txBody>
          <a:bodyPr lIns="0" tIns="0" rIns="0">
            <a:normAutofit/>
          </a:bodyPr>
          <a:lstStyle>
            <a:lvl1pPr marL="0" indent="0" algn="r">
              <a:lnSpc>
                <a:spcPct val="100000"/>
              </a:lnSpc>
              <a:spcAft>
                <a:spcPts val="0"/>
              </a:spcAft>
              <a:buNone/>
              <a:defRPr sz="4500" b="1"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+34%</a:t>
            </a:r>
          </a:p>
        </p:txBody>
      </p:sp>
      <p:sp>
        <p:nvSpPr>
          <p:cNvPr id="13" name="Espace réservé du texte 8">
            <a:extLst>
              <a:ext uri="{FF2B5EF4-FFF2-40B4-BE49-F238E27FC236}">
                <a16:creationId xmlns:a16="http://schemas.microsoft.com/office/drawing/2014/main" id="{90F8CC21-ACE8-81BE-9270-CE3B0787E14E}"/>
              </a:ext>
            </a:extLst>
          </p:cNvPr>
          <p:cNvSpPr>
            <a:spLocks noGrp="1"/>
          </p:cNvSpPr>
          <p:nvPr>
            <p:ph type="body" sz="quarter" idx="23" hasCustomPrompt="1"/>
          </p:nvPr>
        </p:nvSpPr>
        <p:spPr bwMode="gray">
          <a:xfrm>
            <a:off x="6648832" y="4401108"/>
            <a:ext cx="4739756" cy="1548172"/>
          </a:xfrm>
          <a:noFill/>
        </p:spPr>
        <p:txBody>
          <a:bodyPr lIns="0" tIns="0" rIns="0">
            <a:normAutofit/>
          </a:bodyPr>
          <a:lstStyle>
            <a:lvl1pPr marL="0" indent="0" algn="l">
              <a:lnSpc>
                <a:spcPct val="100000"/>
              </a:lnSpc>
              <a:spcAft>
                <a:spcPts val="0"/>
              </a:spcAft>
              <a:buNone/>
              <a:defRPr sz="2700"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Lorem</a:t>
            </a:r>
          </a:p>
        </p:txBody>
      </p:sp>
      <p:sp>
        <p:nvSpPr>
          <p:cNvPr id="6" name="Rectangle 5">
            <a:extLst>
              <a:ext uri="{FF2B5EF4-FFF2-40B4-BE49-F238E27FC236}">
                <a16:creationId xmlns:a16="http://schemas.microsoft.com/office/drawing/2014/main" id="{80FE2AAB-1950-8684-DC67-D800B2C1C821}"/>
              </a:ext>
            </a:extLst>
          </p:cNvPr>
          <p:cNvSpPr/>
          <p:nvPr userDrawn="1"/>
        </p:nvSpPr>
        <p:spPr bwMode="gray">
          <a:xfrm>
            <a:off x="6108000" y="327095"/>
            <a:ext cx="5731200" cy="5914800"/>
          </a:xfrm>
          <a:prstGeom prst="rect">
            <a:avLst/>
          </a:prstGeom>
          <a:solidFill>
            <a:srgbClr val="97B28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210482492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p:cSld name="Intercalaire_ros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7323CCC4-8679-C2AD-3A24-B72A3734C225}"/>
              </a:ext>
            </a:extLst>
          </p:cNvPr>
          <p:cNvSpPr/>
          <p:nvPr/>
        </p:nvSpPr>
        <p:spPr bwMode="gray">
          <a:xfrm>
            <a:off x="0" y="0"/>
            <a:ext cx="12192000" cy="6858000"/>
          </a:xfrm>
          <a:prstGeom prst="rect">
            <a:avLst/>
          </a:prstGeom>
          <a:solidFill>
            <a:srgbClr val="CFA59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CAA4DAEA-970D-8876-C9DC-932391652B5D}"/>
              </a:ext>
            </a:extLst>
          </p:cNvPr>
          <p:cNvSpPr/>
          <p:nvPr/>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e la date 7"/>
          <p:cNvSpPr>
            <a:spLocks noGrp="1"/>
          </p:cNvSpPr>
          <p:nvPr>
            <p:ph type="dt" sz="half" idx="10"/>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6EF6EC3F-7A12-4C3C-9012-F0C7A5EB5702}" type="datetime3">
              <a:rPr lang="fr-FR" smtClean="0"/>
              <a:pPr/>
              <a:t>12.01.26</a:t>
            </a:fld>
            <a:endParaRPr lang="fr-FR"/>
          </a:p>
        </p:txBody>
      </p:sp>
      <p:sp>
        <p:nvSpPr>
          <p:cNvPr id="11" name="Espace réservé du numéro de diapositive 10"/>
          <p:cNvSpPr>
            <a:spLocks noGrp="1"/>
          </p:cNvSpPr>
          <p:nvPr>
            <p:ph type="sldNum" sz="quarter" idx="11"/>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733122C9-A0B9-462F-8757-0847AD287B63}" type="slidenum">
              <a:rPr lang="fr-FR" smtClean="0"/>
              <a:pPr/>
              <a:t>‹N°›</a:t>
            </a:fld>
            <a:endParaRPr lang="fr-FR"/>
          </a:p>
        </p:txBody>
      </p:sp>
      <p:sp>
        <p:nvSpPr>
          <p:cNvPr id="12" name="Espace réservé du pied de page 11"/>
          <p:cNvSpPr>
            <a:spLocks noGrp="1"/>
          </p:cNvSpPr>
          <p:nvPr>
            <p:ph type="ftr" sz="quarter" idx="12"/>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3" name="Titre 2"/>
          <p:cNvSpPr>
            <a:spLocks noGrp="1"/>
          </p:cNvSpPr>
          <p:nvPr>
            <p:ph type="title" hasCustomPrompt="1"/>
          </p:nvPr>
        </p:nvSpPr>
        <p:spPr bwMode="gray">
          <a:xfrm>
            <a:off x="1055440" y="260648"/>
            <a:ext cx="1692188" cy="1260139"/>
          </a:xfrm>
        </p:spPr>
        <p:txBody>
          <a:bodyPr anchor="b" anchorCtr="0"/>
          <a:lstStyle>
            <a:lvl1pPr>
              <a:defRPr sz="8250">
                <a:solidFill>
                  <a:schemeClr val="tx2"/>
                </a:solidFill>
              </a:defRPr>
            </a:lvl1pPr>
          </a:lstStyle>
          <a:p>
            <a:r>
              <a:rPr lang="fr-FR" noProof="0"/>
              <a:t>0</a:t>
            </a:r>
            <a:endParaRPr lang="fr-FR"/>
          </a:p>
        </p:txBody>
      </p:sp>
      <p:sp>
        <p:nvSpPr>
          <p:cNvPr id="10" name="Espace réservé du texte 3">
            <a:extLst>
              <a:ext uri="{FF2B5EF4-FFF2-40B4-BE49-F238E27FC236}">
                <a16:creationId xmlns:a16="http://schemas.microsoft.com/office/drawing/2014/main" id="{DF42B46E-2400-032F-4FF8-C6F08F4EBDF7}"/>
              </a:ext>
            </a:extLst>
          </p:cNvPr>
          <p:cNvSpPr>
            <a:spLocks noGrp="1"/>
          </p:cNvSpPr>
          <p:nvPr>
            <p:ph type="body" sz="quarter" idx="14" hasCustomPrompt="1"/>
          </p:nvPr>
        </p:nvSpPr>
        <p:spPr bwMode="gray">
          <a:xfrm>
            <a:off x="1055440" y="1679036"/>
            <a:ext cx="10801200" cy="2758076"/>
          </a:xfrm>
          <a:prstGeom prst="rect">
            <a:avLst/>
          </a:prstGeom>
          <a:noFill/>
        </p:spPr>
        <p:txBody>
          <a:bodyPr wrap="square" lIns="0" tIns="0" rIns="0">
            <a:normAutofit/>
          </a:bodyPr>
          <a:lstStyle>
            <a:lvl1pPr marL="0" indent="0">
              <a:spcAft>
                <a:spcPts val="0"/>
              </a:spcAft>
              <a:buNone/>
              <a:defRPr sz="4800">
                <a:solidFill>
                  <a:schemeClr val="tx2"/>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r-FR" noProof="0"/>
              <a:t>Titre</a:t>
            </a:r>
          </a:p>
        </p:txBody>
      </p:sp>
      <p:pic>
        <p:nvPicPr>
          <p:cNvPr id="16" name="Image 15">
            <a:extLst>
              <a:ext uri="{FF2B5EF4-FFF2-40B4-BE49-F238E27FC236}">
                <a16:creationId xmlns:a16="http://schemas.microsoft.com/office/drawing/2014/main" id="{C8BA0784-796E-5358-950F-D050C8CCB95E}"/>
              </a:ext>
            </a:extLst>
          </p:cNvPr>
          <p:cNvPicPr>
            <a:picLocks noChangeAspect="1"/>
          </p:cNvPicPr>
          <p:nvPr/>
        </p:nvPicPr>
        <p:blipFill>
          <a:blip r:embed="rId2"/>
          <a:stretch>
            <a:fillRect/>
          </a:stretch>
        </p:blipFill>
        <p:spPr>
          <a:xfrm>
            <a:off x="1066488" y="6008136"/>
            <a:ext cx="2486502" cy="216024"/>
          </a:xfrm>
          <a:prstGeom prst="rect">
            <a:avLst/>
          </a:prstGeom>
        </p:spPr>
      </p:pic>
      <p:sp>
        <p:nvSpPr>
          <p:cNvPr id="2" name="Rectangle 1">
            <a:extLst>
              <a:ext uri="{FF2B5EF4-FFF2-40B4-BE49-F238E27FC236}">
                <a16:creationId xmlns:a16="http://schemas.microsoft.com/office/drawing/2014/main" id="{F996655D-68C8-29BA-E627-B25DEE83143F}"/>
              </a:ext>
            </a:extLst>
          </p:cNvPr>
          <p:cNvSpPr/>
          <p:nvPr userDrawn="1"/>
        </p:nvSpPr>
        <p:spPr bwMode="gray">
          <a:xfrm>
            <a:off x="0" y="0"/>
            <a:ext cx="12192000" cy="6858000"/>
          </a:xfrm>
          <a:prstGeom prst="rect">
            <a:avLst/>
          </a:prstGeom>
          <a:solidFill>
            <a:srgbClr val="CFA59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 name="Forme libre : forme 3">
            <a:extLst>
              <a:ext uri="{FF2B5EF4-FFF2-40B4-BE49-F238E27FC236}">
                <a16:creationId xmlns:a16="http://schemas.microsoft.com/office/drawing/2014/main" id="{D8E775BF-4311-3937-259B-2B9CA88F213A}"/>
              </a:ext>
            </a:extLst>
          </p:cNvPr>
          <p:cNvSpPr/>
          <p:nvPr userDrawn="1"/>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Image 4">
            <a:extLst>
              <a:ext uri="{FF2B5EF4-FFF2-40B4-BE49-F238E27FC236}">
                <a16:creationId xmlns:a16="http://schemas.microsoft.com/office/drawing/2014/main" id="{90407E73-81A4-FDF7-09F4-CC7A3D7D0D9F}"/>
              </a:ext>
            </a:extLst>
          </p:cNvPr>
          <p:cNvPicPr>
            <a:picLocks noChangeAspect="1"/>
          </p:cNvPicPr>
          <p:nvPr userDrawn="1"/>
        </p:nvPicPr>
        <p:blipFill>
          <a:blip r:embed="rId2"/>
          <a:stretch>
            <a:fillRect/>
          </a:stretch>
        </p:blipFill>
        <p:spPr>
          <a:xfrm>
            <a:off x="1066488" y="6008136"/>
            <a:ext cx="2486502" cy="216024"/>
          </a:xfrm>
          <a:prstGeom prst="rect">
            <a:avLst/>
          </a:prstGeom>
        </p:spPr>
      </p:pic>
    </p:spTree>
    <p:extLst>
      <p:ext uri="{BB962C8B-B14F-4D97-AF65-F5344CB8AC3E}">
        <p14:creationId xmlns:p14="http://schemas.microsoft.com/office/powerpoint/2010/main" val="1047070911"/>
      </p:ext>
    </p:extLst>
  </p:cSld>
  <p:clrMapOvr>
    <a:masterClrMapping/>
  </p:clrMapOvr>
  <p:hf sldNum="0"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698">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p:cSld name="Diptyque_ros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BC517D08-A7C5-B248-731F-D8AE78AF6AD5}"/>
              </a:ext>
            </a:extLst>
          </p:cNvPr>
          <p:cNvSpPr/>
          <p:nvPr/>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Rectangle 19">
            <a:extLst>
              <a:ext uri="{FF2B5EF4-FFF2-40B4-BE49-F238E27FC236}">
                <a16:creationId xmlns:a16="http://schemas.microsoft.com/office/drawing/2014/main" id="{8BD239C2-24FF-78DB-1368-3659B94844BF}"/>
              </a:ext>
            </a:extLst>
          </p:cNvPr>
          <p:cNvSpPr/>
          <p:nvPr/>
        </p:nvSpPr>
        <p:spPr bwMode="gray">
          <a:xfrm>
            <a:off x="6096000" y="0"/>
            <a:ext cx="6096000" cy="6858000"/>
          </a:xfrm>
          <a:prstGeom prst="rect">
            <a:avLst/>
          </a:prstGeom>
          <a:solidFill>
            <a:srgbClr val="CFA59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3" name="Forme libre : forme 12">
            <a:extLst>
              <a:ext uri="{FF2B5EF4-FFF2-40B4-BE49-F238E27FC236}">
                <a16:creationId xmlns:a16="http://schemas.microsoft.com/office/drawing/2014/main" id="{15E8C0C3-BA99-8DDA-4C72-C4AD3C25E72D}"/>
              </a:ext>
            </a:extLst>
          </p:cNvPr>
          <p:cNvSpPr/>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24A4B7A5-4796-DDF3-D5EA-CA514233A100}"/>
              </a:ext>
            </a:extLst>
          </p:cNvPr>
          <p:cNvSpPr>
            <a:spLocks noGrp="1"/>
          </p:cNvSpPr>
          <p:nvPr>
            <p:ph type="title" hasCustomPrompt="1"/>
          </p:nvPr>
        </p:nvSpPr>
        <p:spPr bwMode="gray">
          <a:xfrm>
            <a:off x="558800" y="410107"/>
            <a:ext cx="5141156" cy="936104"/>
          </a:xfrm>
        </p:spPr>
        <p:txBody>
          <a:bodyPr/>
          <a:lstStyle>
            <a:lvl1pPr>
              <a:defRPr>
                <a:solidFill>
                  <a:srgbClr val="CFA595"/>
                </a:solidFill>
              </a:defRPr>
            </a:lvl1pPr>
          </a:lstStyle>
          <a:p>
            <a:r>
              <a:rPr lang="fr-FR"/>
              <a:t>Titre de la slide</a:t>
            </a:r>
          </a:p>
        </p:txBody>
      </p:sp>
      <p:sp>
        <p:nvSpPr>
          <p:cNvPr id="3" name="Espace réservé de la date 2">
            <a:extLst>
              <a:ext uri="{FF2B5EF4-FFF2-40B4-BE49-F238E27FC236}">
                <a16:creationId xmlns:a16="http://schemas.microsoft.com/office/drawing/2014/main" id="{AB780E7C-6F1F-25F3-02AB-3466F56B1F07}"/>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CD75CE2-C48E-C7E6-194C-60A7394FE5D2}"/>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DC025D0F-DF5A-7E91-F4B9-92DC3571B3D8}"/>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5F3C6EE9-F33A-C402-E3FD-E4DB8D537106}"/>
              </a:ext>
            </a:extLst>
          </p:cNvPr>
          <p:cNvSpPr>
            <a:spLocks noGrp="1"/>
          </p:cNvSpPr>
          <p:nvPr>
            <p:ph type="body" sz="quarter" idx="14" hasCustomPrompt="1"/>
          </p:nvPr>
        </p:nvSpPr>
        <p:spPr bwMode="gray">
          <a:xfrm>
            <a:off x="1019437" y="2005169"/>
            <a:ext cx="4716468" cy="3708412"/>
          </a:xfrm>
        </p:spPr>
        <p:txBody>
          <a:bodyPr/>
          <a:lstStyle>
            <a:lvl1pPr marL="0" indent="0">
              <a:spcAft>
                <a:spcPts val="0"/>
              </a:spcAft>
              <a:buNone/>
              <a:defRPr sz="2700">
                <a:solidFill>
                  <a:srgbClr val="CFA595"/>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sp>
        <p:nvSpPr>
          <p:cNvPr id="19" name="Espace réservé du texte 18">
            <a:extLst>
              <a:ext uri="{FF2B5EF4-FFF2-40B4-BE49-F238E27FC236}">
                <a16:creationId xmlns:a16="http://schemas.microsoft.com/office/drawing/2014/main" id="{70F73260-667B-8ABB-D758-D2BE39806107}"/>
              </a:ext>
            </a:extLst>
          </p:cNvPr>
          <p:cNvSpPr>
            <a:spLocks noGrp="1"/>
          </p:cNvSpPr>
          <p:nvPr>
            <p:ph type="body" sz="quarter" idx="16" hasCustomPrompt="1"/>
          </p:nvPr>
        </p:nvSpPr>
        <p:spPr bwMode="gray">
          <a:xfrm>
            <a:off x="7327112" y="1909575"/>
            <a:ext cx="4559488" cy="3804006"/>
          </a:xfrm>
          <a:custGeom>
            <a:avLst/>
            <a:gdLst>
              <a:gd name="connsiteX0" fmla="*/ 0 w 6084000"/>
              <a:gd name="connsiteY0" fmla="*/ 0 h 5914428"/>
              <a:gd name="connsiteX1" fmla="*/ 6084000 w 6084000"/>
              <a:gd name="connsiteY1" fmla="*/ 0 h 5914428"/>
              <a:gd name="connsiteX2" fmla="*/ 6084000 w 6084000"/>
              <a:gd name="connsiteY2" fmla="*/ 5914428 h 5914428"/>
              <a:gd name="connsiteX3" fmla="*/ 0 w 6084000"/>
              <a:gd name="connsiteY3" fmla="*/ 5914428 h 5914428"/>
            </a:gdLst>
            <a:ahLst/>
            <a:cxnLst>
              <a:cxn ang="0">
                <a:pos x="connsiteX0" y="connsiteY0"/>
              </a:cxn>
              <a:cxn ang="0">
                <a:pos x="connsiteX1" y="connsiteY1"/>
              </a:cxn>
              <a:cxn ang="0">
                <a:pos x="connsiteX2" y="connsiteY2"/>
              </a:cxn>
              <a:cxn ang="0">
                <a:pos x="connsiteX3" y="connsiteY3"/>
              </a:cxn>
            </a:cxnLst>
            <a:rect l="l" t="t" r="r" b="b"/>
            <a:pathLst>
              <a:path w="6084000" h="5914428">
                <a:moveTo>
                  <a:pt x="0" y="0"/>
                </a:moveTo>
                <a:lnTo>
                  <a:pt x="6084000" y="0"/>
                </a:lnTo>
                <a:lnTo>
                  <a:pt x="6084000" y="5914428"/>
                </a:lnTo>
                <a:lnTo>
                  <a:pt x="0" y="5914428"/>
                </a:lnTo>
                <a:close/>
              </a:path>
            </a:pathLst>
          </a:custGeom>
          <a:noFill/>
        </p:spPr>
        <p:txBody>
          <a:bodyPr wrap="square" lIns="0" tIns="0">
            <a:normAutofit/>
          </a:bodyPr>
          <a:lstStyle>
            <a:lvl1pPr marL="0" indent="0">
              <a:spcAft>
                <a:spcPts val="0"/>
              </a:spcAft>
              <a:buNone/>
              <a:defRPr sz="41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pic>
        <p:nvPicPr>
          <p:cNvPr id="7" name="Image 6" descr="Une image contenant Police, Graphique, capture d’écran, logo&#10;&#10;Description générée automatiquement">
            <a:extLst>
              <a:ext uri="{FF2B5EF4-FFF2-40B4-BE49-F238E27FC236}">
                <a16:creationId xmlns:a16="http://schemas.microsoft.com/office/drawing/2014/main" id="{8483B3F0-F057-B7D4-DD9C-CDC9B00E35FC}"/>
              </a:ext>
            </a:extLst>
          </p:cNvPr>
          <p:cNvPicPr>
            <a:picLocks noChangeAspect="1"/>
          </p:cNvPicPr>
          <p:nvPr/>
        </p:nvPicPr>
        <p:blipFill>
          <a:blip r:embed="rId2"/>
          <a:stretch>
            <a:fillRect/>
          </a:stretch>
        </p:blipFill>
        <p:spPr>
          <a:xfrm>
            <a:off x="191344" y="6157729"/>
            <a:ext cx="2253137" cy="700271"/>
          </a:xfrm>
          <a:prstGeom prst="rect">
            <a:avLst/>
          </a:prstGeom>
        </p:spPr>
      </p:pic>
      <p:sp>
        <p:nvSpPr>
          <p:cNvPr id="6" name="Rectangle 5">
            <a:extLst>
              <a:ext uri="{FF2B5EF4-FFF2-40B4-BE49-F238E27FC236}">
                <a16:creationId xmlns:a16="http://schemas.microsoft.com/office/drawing/2014/main" id="{EBE18318-D5D8-B0A2-F068-4902738EB309}"/>
              </a:ext>
            </a:extLst>
          </p:cNvPr>
          <p:cNvSpPr/>
          <p:nvPr userDrawn="1"/>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Rectangle 8">
            <a:extLst>
              <a:ext uri="{FF2B5EF4-FFF2-40B4-BE49-F238E27FC236}">
                <a16:creationId xmlns:a16="http://schemas.microsoft.com/office/drawing/2014/main" id="{1F30D938-ACF4-90AC-66B0-DA70BD90A6FF}"/>
              </a:ext>
            </a:extLst>
          </p:cNvPr>
          <p:cNvSpPr/>
          <p:nvPr userDrawn="1"/>
        </p:nvSpPr>
        <p:spPr bwMode="gray">
          <a:xfrm>
            <a:off x="6096000" y="0"/>
            <a:ext cx="6096000" cy="6858000"/>
          </a:xfrm>
          <a:prstGeom prst="rect">
            <a:avLst/>
          </a:prstGeom>
          <a:solidFill>
            <a:srgbClr val="CFA59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0" name="Forme libre : forme 9">
            <a:extLst>
              <a:ext uri="{FF2B5EF4-FFF2-40B4-BE49-F238E27FC236}">
                <a16:creationId xmlns:a16="http://schemas.microsoft.com/office/drawing/2014/main" id="{2CC9654E-AC3D-6AE2-C154-74E110394361}"/>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descr="Une image contenant Police, Graphique, capture d’écran, logo&#10;&#10;Description générée automatiquement">
            <a:extLst>
              <a:ext uri="{FF2B5EF4-FFF2-40B4-BE49-F238E27FC236}">
                <a16:creationId xmlns:a16="http://schemas.microsoft.com/office/drawing/2014/main" id="{A504CCF8-F9D0-9DF6-BEA5-08B45FB09F48}"/>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47594511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2">
          <p15:clr>
            <a:srgbClr val="FBAE4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p:cSld name="Graphique+texte_diptyque_ros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D8A0BBC-87C1-9EAA-905D-667B3503DD01}"/>
              </a:ext>
            </a:extLst>
          </p:cNvPr>
          <p:cNvSpPr/>
          <p:nvPr/>
        </p:nvSpPr>
        <p:spPr bwMode="gray">
          <a:xfrm>
            <a:off x="6108000" y="327095"/>
            <a:ext cx="5731200" cy="5914800"/>
          </a:xfrm>
          <a:prstGeom prst="rect">
            <a:avLst/>
          </a:prstGeom>
          <a:solidFill>
            <a:srgbClr val="CFA59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FD768BBB-4837-52E2-7BD0-7D518CA47FF7}"/>
              </a:ext>
            </a:extLst>
          </p:cNvPr>
          <p:cNvSpPr>
            <a:spLocks noGrp="1"/>
          </p:cNvSpPr>
          <p:nvPr>
            <p:ph type="title" hasCustomPrompt="1"/>
          </p:nvPr>
        </p:nvSpPr>
        <p:spPr bwMode="gray">
          <a:xfrm>
            <a:off x="305400" y="410400"/>
            <a:ext cx="51876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90D741DC-727E-13C0-2600-FC0CD0B38D22}"/>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5084F18-B1B3-6A44-A46D-453F1D1896EB}"/>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E7C62B9-E5CF-FEC3-B21C-266ACBD20537}"/>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graphique 16">
            <a:extLst>
              <a:ext uri="{FF2B5EF4-FFF2-40B4-BE49-F238E27FC236}">
                <a16:creationId xmlns:a16="http://schemas.microsoft.com/office/drawing/2014/main" id="{28EEB7A5-AFA7-58FC-32DE-2F2F2254BB13}"/>
              </a:ext>
            </a:extLst>
          </p:cNvPr>
          <p:cNvSpPr>
            <a:spLocks noGrp="1"/>
          </p:cNvSpPr>
          <p:nvPr>
            <p:ph type="chart" sz="quarter" idx="18" hasCustomPrompt="1"/>
          </p:nvPr>
        </p:nvSpPr>
        <p:spPr bwMode="gray">
          <a:xfrm>
            <a:off x="989833" y="1783603"/>
            <a:ext cx="4096371" cy="4392408"/>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9" name="Espace réservé du texte 8">
            <a:extLst>
              <a:ext uri="{FF2B5EF4-FFF2-40B4-BE49-F238E27FC236}">
                <a16:creationId xmlns:a16="http://schemas.microsoft.com/office/drawing/2014/main" id="{3964A26B-A8B3-B604-E0F1-3B018D194BE3}"/>
              </a:ext>
            </a:extLst>
          </p:cNvPr>
          <p:cNvSpPr>
            <a:spLocks noGrp="1"/>
          </p:cNvSpPr>
          <p:nvPr>
            <p:ph type="body" sz="quarter" idx="19" hasCustomPrompt="1"/>
          </p:nvPr>
        </p:nvSpPr>
        <p:spPr bwMode="gray">
          <a:xfrm>
            <a:off x="532006" y="1346504"/>
            <a:ext cx="4653968" cy="377146"/>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7" name="Espace réservé du texte 8">
            <a:extLst>
              <a:ext uri="{FF2B5EF4-FFF2-40B4-BE49-F238E27FC236}">
                <a16:creationId xmlns:a16="http://schemas.microsoft.com/office/drawing/2014/main" id="{E506AE39-A715-C12E-4D9F-7A3455AB88B3}"/>
              </a:ext>
            </a:extLst>
          </p:cNvPr>
          <p:cNvSpPr>
            <a:spLocks noGrp="1"/>
          </p:cNvSpPr>
          <p:nvPr>
            <p:ph type="body" sz="quarter" idx="20" hasCustomPrompt="1"/>
          </p:nvPr>
        </p:nvSpPr>
        <p:spPr bwMode="gray">
          <a:xfrm>
            <a:off x="6648830" y="1118619"/>
            <a:ext cx="4386281" cy="1626305"/>
          </a:xfrm>
          <a:noFill/>
        </p:spPr>
        <p:txBody>
          <a:bodyPr lIns="0" tIns="0" rIns="0"/>
          <a:lstStyle>
            <a:lvl1pPr marL="0" indent="0" algn="r">
              <a:lnSpc>
                <a:spcPct val="100000"/>
              </a:lnSpc>
              <a:spcAft>
                <a:spcPts val="0"/>
              </a:spcAft>
              <a:buNone/>
              <a:defRPr sz="11100">
                <a:solidFill>
                  <a:schemeClr val="tx2"/>
                </a:solidFill>
                <a:latin typeface="+mj-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00%</a:t>
            </a:r>
          </a:p>
        </p:txBody>
      </p:sp>
      <p:sp>
        <p:nvSpPr>
          <p:cNvPr id="11" name="Espace réservé du texte 8">
            <a:extLst>
              <a:ext uri="{FF2B5EF4-FFF2-40B4-BE49-F238E27FC236}">
                <a16:creationId xmlns:a16="http://schemas.microsoft.com/office/drawing/2014/main" id="{463598C1-64BB-D489-C803-1BC4F7604BAE}"/>
              </a:ext>
            </a:extLst>
          </p:cNvPr>
          <p:cNvSpPr>
            <a:spLocks noGrp="1"/>
          </p:cNvSpPr>
          <p:nvPr>
            <p:ph type="body" sz="quarter" idx="21" hasCustomPrompt="1"/>
          </p:nvPr>
        </p:nvSpPr>
        <p:spPr bwMode="gray">
          <a:xfrm>
            <a:off x="6648830" y="2554860"/>
            <a:ext cx="4386281" cy="683741"/>
          </a:xfrm>
          <a:noFill/>
        </p:spPr>
        <p:txBody>
          <a:bodyPr lIns="0" tIns="0" rIns="0">
            <a:normAutofit/>
          </a:bodyPr>
          <a:lstStyle>
            <a:lvl1pPr marL="0" indent="0" algn="r">
              <a:lnSpc>
                <a:spcPct val="100000"/>
              </a:lnSpc>
              <a:spcAft>
                <a:spcPts val="0"/>
              </a:spcAft>
              <a:buNone/>
              <a:defRPr sz="250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en 2021</a:t>
            </a:r>
          </a:p>
        </p:txBody>
      </p:sp>
      <p:sp>
        <p:nvSpPr>
          <p:cNvPr id="12" name="Espace réservé du texte 8">
            <a:extLst>
              <a:ext uri="{FF2B5EF4-FFF2-40B4-BE49-F238E27FC236}">
                <a16:creationId xmlns:a16="http://schemas.microsoft.com/office/drawing/2014/main" id="{0610C7A3-659A-6DD6-34B9-1A56568C39D3}"/>
              </a:ext>
            </a:extLst>
          </p:cNvPr>
          <p:cNvSpPr>
            <a:spLocks noGrp="1"/>
          </p:cNvSpPr>
          <p:nvPr>
            <p:ph type="body" sz="quarter" idx="22" hasCustomPrompt="1"/>
          </p:nvPr>
        </p:nvSpPr>
        <p:spPr bwMode="gray">
          <a:xfrm>
            <a:off x="6648830" y="2930796"/>
            <a:ext cx="4386281" cy="876185"/>
          </a:xfrm>
          <a:noFill/>
        </p:spPr>
        <p:txBody>
          <a:bodyPr lIns="0" tIns="0" rIns="0">
            <a:normAutofit/>
          </a:bodyPr>
          <a:lstStyle>
            <a:lvl1pPr marL="0" indent="0" algn="r">
              <a:lnSpc>
                <a:spcPct val="100000"/>
              </a:lnSpc>
              <a:spcAft>
                <a:spcPts val="0"/>
              </a:spcAft>
              <a:buNone/>
              <a:defRPr sz="4500" b="1"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+34%</a:t>
            </a:r>
          </a:p>
        </p:txBody>
      </p:sp>
      <p:sp>
        <p:nvSpPr>
          <p:cNvPr id="13" name="Espace réservé du texte 8">
            <a:extLst>
              <a:ext uri="{FF2B5EF4-FFF2-40B4-BE49-F238E27FC236}">
                <a16:creationId xmlns:a16="http://schemas.microsoft.com/office/drawing/2014/main" id="{90F8CC21-ACE8-81BE-9270-CE3B0787E14E}"/>
              </a:ext>
            </a:extLst>
          </p:cNvPr>
          <p:cNvSpPr>
            <a:spLocks noGrp="1"/>
          </p:cNvSpPr>
          <p:nvPr>
            <p:ph type="body" sz="quarter" idx="23" hasCustomPrompt="1"/>
          </p:nvPr>
        </p:nvSpPr>
        <p:spPr bwMode="gray">
          <a:xfrm>
            <a:off x="6648832" y="4401108"/>
            <a:ext cx="4739756" cy="1548172"/>
          </a:xfrm>
          <a:noFill/>
        </p:spPr>
        <p:txBody>
          <a:bodyPr lIns="0" tIns="0" rIns="0">
            <a:normAutofit/>
          </a:bodyPr>
          <a:lstStyle>
            <a:lvl1pPr marL="0" indent="0" algn="l">
              <a:lnSpc>
                <a:spcPct val="100000"/>
              </a:lnSpc>
              <a:spcAft>
                <a:spcPts val="0"/>
              </a:spcAft>
              <a:buNone/>
              <a:defRPr sz="2700"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Lorem</a:t>
            </a:r>
          </a:p>
        </p:txBody>
      </p:sp>
      <p:sp>
        <p:nvSpPr>
          <p:cNvPr id="6" name="Rectangle 5">
            <a:extLst>
              <a:ext uri="{FF2B5EF4-FFF2-40B4-BE49-F238E27FC236}">
                <a16:creationId xmlns:a16="http://schemas.microsoft.com/office/drawing/2014/main" id="{0515738D-4F22-D8AB-A438-8A04902249BA}"/>
              </a:ext>
            </a:extLst>
          </p:cNvPr>
          <p:cNvSpPr/>
          <p:nvPr userDrawn="1"/>
        </p:nvSpPr>
        <p:spPr bwMode="gray">
          <a:xfrm>
            <a:off x="6108000" y="327095"/>
            <a:ext cx="5731200" cy="5914800"/>
          </a:xfrm>
          <a:prstGeom prst="rect">
            <a:avLst/>
          </a:prstGeom>
          <a:solidFill>
            <a:srgbClr val="CFA59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4056418356"/>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p:cSld name="Texte_fond_bleu">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533FD1FC-57C3-511B-C3F2-5AE5EF02655F}"/>
              </a:ext>
            </a:extLst>
          </p:cNvPr>
          <p:cNvSpPr/>
          <p:nvPr/>
        </p:nvSpPr>
        <p:spPr bwMode="gray">
          <a:xfrm>
            <a:off x="0" y="-3"/>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6" name="Forme libre : forme 5">
            <a:extLst>
              <a:ext uri="{FF2B5EF4-FFF2-40B4-BE49-F238E27FC236}">
                <a16:creationId xmlns:a16="http://schemas.microsoft.com/office/drawing/2014/main" id="{011B3D30-DC43-374E-5535-CB1320298A91}"/>
              </a:ext>
            </a:extLst>
          </p:cNvPr>
          <p:cNvSpPr/>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780BF2C2-E91E-A9A1-4E1F-8898AE3B9BDA}"/>
              </a:ext>
            </a:extLst>
          </p:cNvPr>
          <p:cNvSpPr>
            <a:spLocks noGrp="1"/>
          </p:cNvSpPr>
          <p:nvPr>
            <p:ph type="title" hasCustomPrompt="1"/>
          </p:nvPr>
        </p:nvSpPr>
        <p:spPr bwMode="gray">
          <a:xfrm>
            <a:off x="558000" y="260649"/>
            <a:ext cx="11336337" cy="936104"/>
          </a:xfrm>
        </p:spPr>
        <p:txBody>
          <a:bodyPr/>
          <a:lstStyle>
            <a:lvl1pPr>
              <a:defRPr>
                <a:solidFill>
                  <a:schemeClr val="bg1"/>
                </a:solidFill>
              </a:defRPr>
            </a:lvl1pPr>
          </a:lstStyle>
          <a:p>
            <a:r>
              <a:rPr lang="fr-FR"/>
              <a:t>Titre de la slide</a:t>
            </a:r>
          </a:p>
        </p:txBody>
      </p:sp>
      <p:sp>
        <p:nvSpPr>
          <p:cNvPr id="3" name="Espace réservé de la date 2">
            <a:extLst>
              <a:ext uri="{FF2B5EF4-FFF2-40B4-BE49-F238E27FC236}">
                <a16:creationId xmlns:a16="http://schemas.microsoft.com/office/drawing/2014/main" id="{F371A5EF-FC56-4AE7-8438-57101A95FF46}"/>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D5445277-D3A3-375F-5FBF-1D7B3355615C}"/>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60F0743D-B1AB-4C4D-CAB1-BFEC14D9F758}"/>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14" name="Espace réservé du texte 13">
            <a:extLst>
              <a:ext uri="{FF2B5EF4-FFF2-40B4-BE49-F238E27FC236}">
                <a16:creationId xmlns:a16="http://schemas.microsoft.com/office/drawing/2014/main" id="{33C1D83F-4518-0F1F-5C94-91CF98C439E2}"/>
              </a:ext>
            </a:extLst>
          </p:cNvPr>
          <p:cNvSpPr>
            <a:spLocks noGrp="1"/>
          </p:cNvSpPr>
          <p:nvPr>
            <p:ph type="body" sz="quarter" idx="13" hasCustomPrompt="1"/>
          </p:nvPr>
        </p:nvSpPr>
        <p:spPr bwMode="gray">
          <a:xfrm>
            <a:off x="558000" y="1843087"/>
            <a:ext cx="11336337" cy="3419475"/>
          </a:xfrm>
        </p:spPr>
        <p:txBody>
          <a:bodyPr/>
          <a:lstStyle>
            <a:lvl1pPr marL="0" indent="0">
              <a:spcAft>
                <a:spcPts val="0"/>
              </a:spcAft>
              <a:buNone/>
              <a:defRPr sz="2800" b="0">
                <a:solidFill>
                  <a:schemeClr val="bg1"/>
                </a:solidFill>
                <a:latin typeface="+mn-lt"/>
              </a:defRPr>
            </a:lvl1pPr>
          </a:lstStyle>
          <a:p>
            <a:pPr lvl="0"/>
            <a:r>
              <a:rPr lang="fr-FR"/>
              <a:t>Texte</a:t>
            </a:r>
          </a:p>
        </p:txBody>
      </p:sp>
      <p:pic>
        <p:nvPicPr>
          <p:cNvPr id="8" name="Image 7" descr="Une image contenant Police, Graphique, capture d’écran, logo&#10;&#10;Description générée automatiquement">
            <a:extLst>
              <a:ext uri="{FF2B5EF4-FFF2-40B4-BE49-F238E27FC236}">
                <a16:creationId xmlns:a16="http://schemas.microsoft.com/office/drawing/2014/main" id="{11C34A29-1B60-68E5-9EC9-3AE10F50BDDF}"/>
              </a:ext>
            </a:extLst>
          </p:cNvPr>
          <p:cNvPicPr>
            <a:picLocks noChangeAspect="1"/>
          </p:cNvPicPr>
          <p:nvPr/>
        </p:nvPicPr>
        <p:blipFill>
          <a:blip r:embed="rId2"/>
          <a:stretch>
            <a:fillRect/>
          </a:stretch>
        </p:blipFill>
        <p:spPr>
          <a:xfrm>
            <a:off x="191344" y="6157729"/>
            <a:ext cx="2253137" cy="700271"/>
          </a:xfrm>
          <a:prstGeom prst="rect">
            <a:avLst/>
          </a:prstGeom>
        </p:spPr>
      </p:pic>
      <p:sp>
        <p:nvSpPr>
          <p:cNvPr id="7" name="Rectangle 6">
            <a:extLst>
              <a:ext uri="{FF2B5EF4-FFF2-40B4-BE49-F238E27FC236}">
                <a16:creationId xmlns:a16="http://schemas.microsoft.com/office/drawing/2014/main" id="{7569A3A6-BE3C-4E88-2806-F5F0F7518D65}"/>
              </a:ext>
            </a:extLst>
          </p:cNvPr>
          <p:cNvSpPr/>
          <p:nvPr userDrawn="1"/>
        </p:nvSpPr>
        <p:spPr bwMode="gray">
          <a:xfrm>
            <a:off x="0" y="-3"/>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D051A1A2-7944-5D80-7F44-11168D5AC809}"/>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descr="Une image contenant Police, Graphique, capture d’écran, logo&#10;&#10;Description générée automatiquement">
            <a:extLst>
              <a:ext uri="{FF2B5EF4-FFF2-40B4-BE49-F238E27FC236}">
                <a16:creationId xmlns:a16="http://schemas.microsoft.com/office/drawing/2014/main" id="{EFB8BCC7-5CEC-86BC-ADDC-B48E246B49E3}"/>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239494920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46">
          <p15:clr>
            <a:srgbClr val="FBAE4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p:cSld name="Texte_fond_blanc">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760A746-E0A6-44D2-C50C-D02E4455DA1B}"/>
              </a:ext>
            </a:extLst>
          </p:cNvPr>
          <p:cNvSpPr>
            <a:spLocks noGrp="1"/>
          </p:cNvSpPr>
          <p:nvPr>
            <p:ph type="title" hasCustomPrompt="1"/>
          </p:nvPr>
        </p:nvSpPr>
        <p:spPr bwMode="gray">
          <a:xfrm>
            <a:off x="305400" y="260649"/>
            <a:ext cx="11581200" cy="936104"/>
          </a:xfrm>
        </p:spPr>
        <p:txBody>
          <a:bodyPr>
            <a:normAutofit/>
          </a:bodyPr>
          <a:lstStyle>
            <a:lvl1pPr>
              <a:defRPr/>
            </a:lvl1pPr>
          </a:lstStyle>
          <a:p>
            <a:r>
              <a:rPr lang="fr-FR"/>
              <a:t>Titre de la slide</a:t>
            </a:r>
          </a:p>
        </p:txBody>
      </p:sp>
      <p:sp>
        <p:nvSpPr>
          <p:cNvPr id="3" name="Espace réservé de la date 2">
            <a:extLst>
              <a:ext uri="{FF2B5EF4-FFF2-40B4-BE49-F238E27FC236}">
                <a16:creationId xmlns:a16="http://schemas.microsoft.com/office/drawing/2014/main" id="{09E2B994-E135-ABD3-7815-FF8E1864C812}"/>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3D49135A-F415-F2D4-4CD4-6BBE0CD3D339}"/>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6E3DB2ED-E53E-7341-1FB6-D6AE671F170A}"/>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9" name="Espace réservé du texte 8">
            <a:extLst>
              <a:ext uri="{FF2B5EF4-FFF2-40B4-BE49-F238E27FC236}">
                <a16:creationId xmlns:a16="http://schemas.microsoft.com/office/drawing/2014/main" id="{306B787A-7AA2-EC46-08DC-A23B0C015094}"/>
              </a:ext>
            </a:extLst>
          </p:cNvPr>
          <p:cNvSpPr>
            <a:spLocks noGrp="1"/>
          </p:cNvSpPr>
          <p:nvPr>
            <p:ph type="body" sz="quarter" idx="13" hasCustomPrompt="1"/>
          </p:nvPr>
        </p:nvSpPr>
        <p:spPr bwMode="gray">
          <a:xfrm>
            <a:off x="305400" y="1160749"/>
            <a:ext cx="11581200" cy="576064"/>
          </a:xfrm>
        </p:spPr>
        <p:txBody>
          <a:bodyPr>
            <a:normAutofit/>
          </a:bodyPr>
          <a:lstStyle>
            <a:lvl1pPr marL="0" indent="0">
              <a:spcAft>
                <a:spcPts val="0"/>
              </a:spcAft>
              <a:buNone/>
              <a:defRPr sz="2400"/>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Sous-titre de la slide</a:t>
            </a:r>
          </a:p>
        </p:txBody>
      </p:sp>
      <p:sp>
        <p:nvSpPr>
          <p:cNvPr id="11" name="Espace réservé du texte 10">
            <a:extLst>
              <a:ext uri="{FF2B5EF4-FFF2-40B4-BE49-F238E27FC236}">
                <a16:creationId xmlns:a16="http://schemas.microsoft.com/office/drawing/2014/main" id="{3AA63BAE-A860-377A-D5CD-9A06DDABF7AE}"/>
              </a:ext>
            </a:extLst>
          </p:cNvPr>
          <p:cNvSpPr>
            <a:spLocks noGrp="1"/>
          </p:cNvSpPr>
          <p:nvPr>
            <p:ph type="body" sz="quarter" idx="14" hasCustomPrompt="1"/>
          </p:nvPr>
        </p:nvSpPr>
        <p:spPr bwMode="gray">
          <a:xfrm>
            <a:off x="305399" y="1818000"/>
            <a:ext cx="11581200" cy="4320000"/>
          </a:xfrm>
        </p:spPr>
        <p:txBody>
          <a:bodyPr>
            <a:normAutofit/>
          </a:bodyPr>
          <a:lstStyle/>
          <a:p>
            <a:pPr lvl="0"/>
            <a:r>
              <a:rPr lang="fr-FR" noProof="0"/>
              <a:t>Texte de niveau 1</a:t>
            </a:r>
          </a:p>
          <a:p>
            <a:pPr lvl="1"/>
            <a:r>
              <a:rPr lang="fr-FR" noProof="0"/>
              <a:t>Texte de niveau 2</a:t>
            </a:r>
          </a:p>
          <a:p>
            <a:pPr lvl="2"/>
            <a:r>
              <a:rPr lang="fr-FR" noProof="0"/>
              <a:t>Texte de niveau 3</a:t>
            </a:r>
          </a:p>
          <a:p>
            <a:pPr lvl="3"/>
            <a:r>
              <a:rPr lang="fr-FR" noProof="0"/>
              <a:t>Texte de niveau 4</a:t>
            </a:r>
          </a:p>
        </p:txBody>
      </p:sp>
    </p:spTree>
    <p:extLst>
      <p:ext uri="{BB962C8B-B14F-4D97-AF65-F5344CB8AC3E}">
        <p14:creationId xmlns:p14="http://schemas.microsoft.com/office/powerpoint/2010/main" val="17288936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p:cSld name="4_colonnes_blanc">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207C38-CFF2-B60A-8583-AE7851E43C9C}"/>
              </a:ext>
            </a:extLst>
          </p:cNvPr>
          <p:cNvSpPr>
            <a:spLocks noGrp="1"/>
          </p:cNvSpPr>
          <p:nvPr>
            <p:ph type="title" hasCustomPrompt="1"/>
          </p:nvPr>
        </p:nvSpPr>
        <p:spPr bwMode="gray">
          <a:xfrm>
            <a:off x="305400" y="175128"/>
            <a:ext cx="11581200" cy="936104"/>
          </a:xfrm>
        </p:spPr>
        <p:txBody>
          <a:bodyPr anchor="b" anchorCtr="0"/>
          <a:lstStyle/>
          <a:p>
            <a:r>
              <a:rPr lang="fr-FR"/>
              <a:t>Titre de la slide</a:t>
            </a:r>
          </a:p>
        </p:txBody>
      </p:sp>
      <p:sp>
        <p:nvSpPr>
          <p:cNvPr id="3" name="Espace réservé de la date 2">
            <a:extLst>
              <a:ext uri="{FF2B5EF4-FFF2-40B4-BE49-F238E27FC236}">
                <a16:creationId xmlns:a16="http://schemas.microsoft.com/office/drawing/2014/main" id="{897A21F7-80E6-3A11-B563-C2AF08C02A2B}"/>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81342479-20D3-5B6C-320C-D2408C58639D}"/>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BBBF0267-7683-C493-0935-F86241AE0274}"/>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8C06A395-38C2-EA98-FD0F-1F08DC005BD8}"/>
              </a:ext>
            </a:extLst>
          </p:cNvPr>
          <p:cNvSpPr>
            <a:spLocks noGrp="1"/>
          </p:cNvSpPr>
          <p:nvPr>
            <p:ph type="body" sz="quarter" idx="13" hasCustomPrompt="1"/>
          </p:nvPr>
        </p:nvSpPr>
        <p:spPr bwMode="gray">
          <a:xfrm>
            <a:off x="305400" y="1160749"/>
            <a:ext cx="11581200" cy="576064"/>
          </a:xfrm>
        </p:spPr>
        <p:txBody>
          <a:bodyPr/>
          <a:lstStyle>
            <a:lvl1pPr marL="0" indent="0">
              <a:spcAft>
                <a:spcPts val="0"/>
              </a:spcAft>
              <a:buNone/>
              <a:defRPr sz="2400"/>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Sous-titre de la slide</a:t>
            </a:r>
          </a:p>
        </p:txBody>
      </p:sp>
      <p:sp>
        <p:nvSpPr>
          <p:cNvPr id="22" name="Espace réservé du texte 8">
            <a:extLst>
              <a:ext uri="{FF2B5EF4-FFF2-40B4-BE49-F238E27FC236}">
                <a16:creationId xmlns:a16="http://schemas.microsoft.com/office/drawing/2014/main" id="{330A8D6A-6321-9B6E-83E3-A3B0A5529263}"/>
              </a:ext>
            </a:extLst>
          </p:cNvPr>
          <p:cNvSpPr>
            <a:spLocks noGrp="1"/>
          </p:cNvSpPr>
          <p:nvPr>
            <p:ph type="body" sz="quarter" idx="15" hasCustomPrompt="1"/>
          </p:nvPr>
        </p:nvSpPr>
        <p:spPr bwMode="gray">
          <a:xfrm>
            <a:off x="305400" y="1736812"/>
            <a:ext cx="2772308" cy="4536503"/>
          </a:xfrm>
          <a:no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23" name="Espace réservé du texte 8">
            <a:extLst>
              <a:ext uri="{FF2B5EF4-FFF2-40B4-BE49-F238E27FC236}">
                <a16:creationId xmlns:a16="http://schemas.microsoft.com/office/drawing/2014/main" id="{B19C11CB-69C2-8F9D-7684-0E6C67433358}"/>
              </a:ext>
            </a:extLst>
          </p:cNvPr>
          <p:cNvSpPr>
            <a:spLocks noGrp="1"/>
          </p:cNvSpPr>
          <p:nvPr>
            <p:ph type="body" sz="quarter" idx="14" hasCustomPrompt="1"/>
          </p:nvPr>
        </p:nvSpPr>
        <p:spPr bwMode="gray">
          <a:xfrm>
            <a:off x="557553"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cxnSp>
        <p:nvCxnSpPr>
          <p:cNvPr id="24" name="Connecteur droit 23">
            <a:extLst>
              <a:ext uri="{FF2B5EF4-FFF2-40B4-BE49-F238E27FC236}">
                <a16:creationId xmlns:a16="http://schemas.microsoft.com/office/drawing/2014/main" id="{04606956-3A50-31D6-7C39-AA1EE273AA0B}"/>
              </a:ext>
            </a:extLst>
          </p:cNvPr>
          <p:cNvCxnSpPr>
            <a:cxnSpLocks/>
          </p:cNvCxnSpPr>
          <p:nvPr/>
        </p:nvCxnSpPr>
        <p:spPr bwMode="gray">
          <a:xfrm>
            <a:off x="557554"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25" name="Espace réservé du texte 8">
            <a:extLst>
              <a:ext uri="{FF2B5EF4-FFF2-40B4-BE49-F238E27FC236}">
                <a16:creationId xmlns:a16="http://schemas.microsoft.com/office/drawing/2014/main" id="{056B041E-2CC3-FF99-087D-DFEB3DD1F69B}"/>
              </a:ext>
            </a:extLst>
          </p:cNvPr>
          <p:cNvSpPr>
            <a:spLocks noGrp="1"/>
          </p:cNvSpPr>
          <p:nvPr>
            <p:ph type="body" sz="quarter" idx="16" hasCustomPrompt="1"/>
          </p:nvPr>
        </p:nvSpPr>
        <p:spPr bwMode="gray">
          <a:xfrm>
            <a:off x="3241697" y="1736812"/>
            <a:ext cx="2772308" cy="4536503"/>
          </a:xfrm>
          <a:no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26" name="Espace réservé du texte 8">
            <a:extLst>
              <a:ext uri="{FF2B5EF4-FFF2-40B4-BE49-F238E27FC236}">
                <a16:creationId xmlns:a16="http://schemas.microsoft.com/office/drawing/2014/main" id="{459E6B6A-CBF2-0181-D963-41346F1C0C33}"/>
              </a:ext>
            </a:extLst>
          </p:cNvPr>
          <p:cNvSpPr>
            <a:spLocks noGrp="1"/>
          </p:cNvSpPr>
          <p:nvPr>
            <p:ph type="body" sz="quarter" idx="17" hasCustomPrompt="1"/>
          </p:nvPr>
        </p:nvSpPr>
        <p:spPr bwMode="gray">
          <a:xfrm>
            <a:off x="3493850"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cxnSp>
        <p:nvCxnSpPr>
          <p:cNvPr id="27" name="Connecteur droit 26">
            <a:extLst>
              <a:ext uri="{FF2B5EF4-FFF2-40B4-BE49-F238E27FC236}">
                <a16:creationId xmlns:a16="http://schemas.microsoft.com/office/drawing/2014/main" id="{FDAD54A6-5B39-30D1-9281-17FD26A21E3B}"/>
              </a:ext>
            </a:extLst>
          </p:cNvPr>
          <p:cNvCxnSpPr>
            <a:cxnSpLocks/>
          </p:cNvCxnSpPr>
          <p:nvPr/>
        </p:nvCxnSpPr>
        <p:spPr bwMode="gray">
          <a:xfrm>
            <a:off x="3493851"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28" name="Espace réservé du texte 8">
            <a:extLst>
              <a:ext uri="{FF2B5EF4-FFF2-40B4-BE49-F238E27FC236}">
                <a16:creationId xmlns:a16="http://schemas.microsoft.com/office/drawing/2014/main" id="{2FC025D6-9EFC-E637-07DB-03F1725D8D79}"/>
              </a:ext>
            </a:extLst>
          </p:cNvPr>
          <p:cNvSpPr>
            <a:spLocks noGrp="1"/>
          </p:cNvSpPr>
          <p:nvPr>
            <p:ph type="body" sz="quarter" idx="18" hasCustomPrompt="1"/>
          </p:nvPr>
        </p:nvSpPr>
        <p:spPr bwMode="gray">
          <a:xfrm>
            <a:off x="6177994" y="1736812"/>
            <a:ext cx="2772308" cy="4536503"/>
          </a:xfrm>
          <a:no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29" name="Espace réservé du texte 8">
            <a:extLst>
              <a:ext uri="{FF2B5EF4-FFF2-40B4-BE49-F238E27FC236}">
                <a16:creationId xmlns:a16="http://schemas.microsoft.com/office/drawing/2014/main" id="{A4BC17A6-B8B0-EC2C-7593-01839A167B3F}"/>
              </a:ext>
            </a:extLst>
          </p:cNvPr>
          <p:cNvSpPr>
            <a:spLocks noGrp="1"/>
          </p:cNvSpPr>
          <p:nvPr>
            <p:ph type="body" sz="quarter" idx="19" hasCustomPrompt="1"/>
          </p:nvPr>
        </p:nvSpPr>
        <p:spPr bwMode="gray">
          <a:xfrm>
            <a:off x="6430147"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cxnSp>
        <p:nvCxnSpPr>
          <p:cNvPr id="30" name="Connecteur droit 29">
            <a:extLst>
              <a:ext uri="{FF2B5EF4-FFF2-40B4-BE49-F238E27FC236}">
                <a16:creationId xmlns:a16="http://schemas.microsoft.com/office/drawing/2014/main" id="{DAD01ABD-5713-8ABA-80B6-CBC3467239A7}"/>
              </a:ext>
            </a:extLst>
          </p:cNvPr>
          <p:cNvCxnSpPr>
            <a:cxnSpLocks/>
          </p:cNvCxnSpPr>
          <p:nvPr/>
        </p:nvCxnSpPr>
        <p:spPr bwMode="gray">
          <a:xfrm>
            <a:off x="6430148"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31" name="Espace réservé du texte 8">
            <a:extLst>
              <a:ext uri="{FF2B5EF4-FFF2-40B4-BE49-F238E27FC236}">
                <a16:creationId xmlns:a16="http://schemas.microsoft.com/office/drawing/2014/main" id="{2D46E0CA-C26B-A542-2C15-2F7960F97DC7}"/>
              </a:ext>
            </a:extLst>
          </p:cNvPr>
          <p:cNvSpPr>
            <a:spLocks noGrp="1"/>
          </p:cNvSpPr>
          <p:nvPr>
            <p:ph type="body" sz="quarter" idx="20" hasCustomPrompt="1"/>
          </p:nvPr>
        </p:nvSpPr>
        <p:spPr bwMode="gray">
          <a:xfrm>
            <a:off x="9114292" y="1736812"/>
            <a:ext cx="2772308" cy="4536503"/>
          </a:xfrm>
          <a:no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32" name="Espace réservé du texte 8">
            <a:extLst>
              <a:ext uri="{FF2B5EF4-FFF2-40B4-BE49-F238E27FC236}">
                <a16:creationId xmlns:a16="http://schemas.microsoft.com/office/drawing/2014/main" id="{F3E697B4-76C4-0EE1-3DF5-5E26B99C565B}"/>
              </a:ext>
            </a:extLst>
          </p:cNvPr>
          <p:cNvSpPr>
            <a:spLocks noGrp="1"/>
          </p:cNvSpPr>
          <p:nvPr>
            <p:ph type="body" sz="quarter" idx="21" hasCustomPrompt="1"/>
          </p:nvPr>
        </p:nvSpPr>
        <p:spPr bwMode="gray">
          <a:xfrm>
            <a:off x="9366445"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cxnSp>
        <p:nvCxnSpPr>
          <p:cNvPr id="33" name="Connecteur droit 32">
            <a:extLst>
              <a:ext uri="{FF2B5EF4-FFF2-40B4-BE49-F238E27FC236}">
                <a16:creationId xmlns:a16="http://schemas.microsoft.com/office/drawing/2014/main" id="{8D63F7E6-A751-29BC-A9F6-C884923CFFD3}"/>
              </a:ext>
            </a:extLst>
          </p:cNvPr>
          <p:cNvCxnSpPr>
            <a:cxnSpLocks/>
          </p:cNvCxnSpPr>
          <p:nvPr/>
        </p:nvCxnSpPr>
        <p:spPr bwMode="gray">
          <a:xfrm>
            <a:off x="9366446"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6" name="Connecteur droit 5">
            <a:extLst>
              <a:ext uri="{FF2B5EF4-FFF2-40B4-BE49-F238E27FC236}">
                <a16:creationId xmlns:a16="http://schemas.microsoft.com/office/drawing/2014/main" id="{7F12C272-9154-4DF0-7B2D-35D6A727AFE7}"/>
              </a:ext>
            </a:extLst>
          </p:cNvPr>
          <p:cNvCxnSpPr>
            <a:cxnSpLocks/>
          </p:cNvCxnSpPr>
          <p:nvPr userDrawn="1"/>
        </p:nvCxnSpPr>
        <p:spPr bwMode="gray">
          <a:xfrm>
            <a:off x="557554"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76606FE7-7378-B09D-2E6A-CFCE08991375}"/>
              </a:ext>
            </a:extLst>
          </p:cNvPr>
          <p:cNvCxnSpPr>
            <a:cxnSpLocks/>
          </p:cNvCxnSpPr>
          <p:nvPr userDrawn="1"/>
        </p:nvCxnSpPr>
        <p:spPr bwMode="gray">
          <a:xfrm>
            <a:off x="3493851"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9" name="Connecteur droit 8">
            <a:extLst>
              <a:ext uri="{FF2B5EF4-FFF2-40B4-BE49-F238E27FC236}">
                <a16:creationId xmlns:a16="http://schemas.microsoft.com/office/drawing/2014/main" id="{C5E97635-D65E-6BCA-6DFF-AE071CDDAFB2}"/>
              </a:ext>
            </a:extLst>
          </p:cNvPr>
          <p:cNvCxnSpPr>
            <a:cxnSpLocks/>
          </p:cNvCxnSpPr>
          <p:nvPr userDrawn="1"/>
        </p:nvCxnSpPr>
        <p:spPr bwMode="gray">
          <a:xfrm>
            <a:off x="6430148"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 name="Connecteur droit 9">
            <a:extLst>
              <a:ext uri="{FF2B5EF4-FFF2-40B4-BE49-F238E27FC236}">
                <a16:creationId xmlns:a16="http://schemas.microsoft.com/office/drawing/2014/main" id="{C78DCA74-EF9C-19F1-9E83-25E91FF3750E}"/>
              </a:ext>
            </a:extLst>
          </p:cNvPr>
          <p:cNvCxnSpPr>
            <a:cxnSpLocks/>
          </p:cNvCxnSpPr>
          <p:nvPr userDrawn="1"/>
        </p:nvCxnSpPr>
        <p:spPr bwMode="gray">
          <a:xfrm>
            <a:off x="9366446"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79195378"/>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p:cSld name="4_colonnes_bleu">
    <p:spTree>
      <p:nvGrpSpPr>
        <p:cNvPr id="1" name=""/>
        <p:cNvGrpSpPr/>
        <p:nvPr/>
      </p:nvGrpSpPr>
      <p:grpSpPr>
        <a:xfrm>
          <a:off x="0" y="0"/>
          <a:ext cx="0" cy="0"/>
          <a:chOff x="0" y="0"/>
          <a:chExt cx="0" cy="0"/>
        </a:xfrm>
      </p:grpSpPr>
      <p:sp>
        <p:nvSpPr>
          <p:cNvPr id="12" name="Espace réservé du texte 8">
            <a:extLst>
              <a:ext uri="{FF2B5EF4-FFF2-40B4-BE49-F238E27FC236}">
                <a16:creationId xmlns:a16="http://schemas.microsoft.com/office/drawing/2014/main" id="{F327BF43-AC48-31E3-9E6A-D9EC75453071}"/>
              </a:ext>
            </a:extLst>
          </p:cNvPr>
          <p:cNvSpPr>
            <a:spLocks noGrp="1"/>
          </p:cNvSpPr>
          <p:nvPr>
            <p:ph type="body" sz="quarter" idx="15" hasCustomPrompt="1"/>
          </p:nvPr>
        </p:nvSpPr>
        <p:spPr bwMode="gray">
          <a:xfrm>
            <a:off x="305400" y="1736812"/>
            <a:ext cx="2772308" cy="4536503"/>
          </a:xfrm>
          <a:solidFill>
            <a:schemeClr val="tx2"/>
          </a:solidFill>
        </p:spPr>
        <p:txBody>
          <a:bodyPr lIns="252000" tIns="720000" rIns="144000">
            <a:normAutofit/>
          </a:bodyPr>
          <a:lstStyle>
            <a:lvl1pPr marL="0" indent="0">
              <a:spcAft>
                <a:spcPts val="0"/>
              </a:spcAft>
              <a:buNone/>
              <a:defRPr sz="1800">
                <a:solidFill>
                  <a:schemeClr val="bg1"/>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9" name="Espace réservé du texte 8">
            <a:extLst>
              <a:ext uri="{FF2B5EF4-FFF2-40B4-BE49-F238E27FC236}">
                <a16:creationId xmlns:a16="http://schemas.microsoft.com/office/drawing/2014/main" id="{6771B9D8-F0BE-03C2-EDE7-B430BF1FEA87}"/>
              </a:ext>
            </a:extLst>
          </p:cNvPr>
          <p:cNvSpPr>
            <a:spLocks noGrp="1"/>
          </p:cNvSpPr>
          <p:nvPr>
            <p:ph type="body" sz="quarter" idx="14" hasCustomPrompt="1"/>
          </p:nvPr>
        </p:nvSpPr>
        <p:spPr bwMode="gray">
          <a:xfrm>
            <a:off x="557553" y="1898844"/>
            <a:ext cx="2268000" cy="432048"/>
          </a:xfrm>
        </p:spPr>
        <p:txBody>
          <a:bodyPr/>
          <a:lstStyle>
            <a:lvl1pPr marL="0" indent="0">
              <a:spcAft>
                <a:spcPts val="0"/>
              </a:spcAft>
              <a:buNone/>
              <a:defRPr sz="20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30" name="Espace réservé du texte 8">
            <a:extLst>
              <a:ext uri="{FF2B5EF4-FFF2-40B4-BE49-F238E27FC236}">
                <a16:creationId xmlns:a16="http://schemas.microsoft.com/office/drawing/2014/main" id="{88A7F435-77BB-361B-E73B-62C5FDE97DE0}"/>
              </a:ext>
            </a:extLst>
          </p:cNvPr>
          <p:cNvSpPr>
            <a:spLocks noGrp="1"/>
          </p:cNvSpPr>
          <p:nvPr>
            <p:ph type="body" sz="quarter" idx="16" hasCustomPrompt="1"/>
          </p:nvPr>
        </p:nvSpPr>
        <p:spPr bwMode="gray">
          <a:xfrm>
            <a:off x="3241697" y="1736812"/>
            <a:ext cx="2772308" cy="4536503"/>
          </a:xfrm>
          <a:solidFill>
            <a:schemeClr val="tx2"/>
          </a:solidFill>
        </p:spPr>
        <p:txBody>
          <a:bodyPr lIns="252000" tIns="720000" rIns="144000">
            <a:normAutofit/>
          </a:bodyPr>
          <a:lstStyle>
            <a:lvl1pPr marL="0" indent="0">
              <a:spcAft>
                <a:spcPts val="0"/>
              </a:spcAft>
              <a:buNone/>
              <a:defRPr sz="1800">
                <a:solidFill>
                  <a:schemeClr val="bg1"/>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31" name="Espace réservé du texte 8">
            <a:extLst>
              <a:ext uri="{FF2B5EF4-FFF2-40B4-BE49-F238E27FC236}">
                <a16:creationId xmlns:a16="http://schemas.microsoft.com/office/drawing/2014/main" id="{EA4B6A06-4602-C0AB-A474-DE085D7252AA}"/>
              </a:ext>
            </a:extLst>
          </p:cNvPr>
          <p:cNvSpPr>
            <a:spLocks noGrp="1"/>
          </p:cNvSpPr>
          <p:nvPr>
            <p:ph type="body" sz="quarter" idx="17" hasCustomPrompt="1"/>
          </p:nvPr>
        </p:nvSpPr>
        <p:spPr bwMode="gray">
          <a:xfrm>
            <a:off x="3493850" y="1898844"/>
            <a:ext cx="2268000" cy="432048"/>
          </a:xfrm>
        </p:spPr>
        <p:txBody>
          <a:bodyPr/>
          <a:lstStyle>
            <a:lvl1pPr marL="0" indent="0">
              <a:spcAft>
                <a:spcPts val="0"/>
              </a:spcAft>
              <a:buNone/>
              <a:defRPr sz="20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33" name="Espace réservé du texte 8">
            <a:extLst>
              <a:ext uri="{FF2B5EF4-FFF2-40B4-BE49-F238E27FC236}">
                <a16:creationId xmlns:a16="http://schemas.microsoft.com/office/drawing/2014/main" id="{0A1A308E-7764-0810-D5DA-FDEFA1074996}"/>
              </a:ext>
            </a:extLst>
          </p:cNvPr>
          <p:cNvSpPr>
            <a:spLocks noGrp="1"/>
          </p:cNvSpPr>
          <p:nvPr>
            <p:ph type="body" sz="quarter" idx="18" hasCustomPrompt="1"/>
          </p:nvPr>
        </p:nvSpPr>
        <p:spPr bwMode="gray">
          <a:xfrm>
            <a:off x="6177994" y="1736812"/>
            <a:ext cx="2772308" cy="4536503"/>
          </a:xfrm>
          <a:solidFill>
            <a:schemeClr val="tx2"/>
          </a:solidFill>
        </p:spPr>
        <p:txBody>
          <a:bodyPr lIns="252000" tIns="720000" rIns="144000">
            <a:normAutofit/>
          </a:bodyPr>
          <a:lstStyle>
            <a:lvl1pPr marL="0" indent="0">
              <a:spcAft>
                <a:spcPts val="0"/>
              </a:spcAft>
              <a:buNone/>
              <a:defRPr sz="1800">
                <a:solidFill>
                  <a:schemeClr val="bg1"/>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34" name="Espace réservé du texte 8">
            <a:extLst>
              <a:ext uri="{FF2B5EF4-FFF2-40B4-BE49-F238E27FC236}">
                <a16:creationId xmlns:a16="http://schemas.microsoft.com/office/drawing/2014/main" id="{D6F43A86-430D-ED4A-EA97-B8442CA59967}"/>
              </a:ext>
            </a:extLst>
          </p:cNvPr>
          <p:cNvSpPr>
            <a:spLocks noGrp="1"/>
          </p:cNvSpPr>
          <p:nvPr>
            <p:ph type="body" sz="quarter" idx="19" hasCustomPrompt="1"/>
          </p:nvPr>
        </p:nvSpPr>
        <p:spPr bwMode="gray">
          <a:xfrm>
            <a:off x="6430147" y="1898844"/>
            <a:ext cx="2268000" cy="432048"/>
          </a:xfrm>
        </p:spPr>
        <p:txBody>
          <a:bodyPr/>
          <a:lstStyle>
            <a:lvl1pPr marL="0" indent="0">
              <a:spcAft>
                <a:spcPts val="0"/>
              </a:spcAft>
              <a:buNone/>
              <a:defRPr sz="20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36" name="Espace réservé du texte 8">
            <a:extLst>
              <a:ext uri="{FF2B5EF4-FFF2-40B4-BE49-F238E27FC236}">
                <a16:creationId xmlns:a16="http://schemas.microsoft.com/office/drawing/2014/main" id="{0FA30F8C-77E0-AFD0-6739-517C2BBC544A}"/>
              </a:ext>
            </a:extLst>
          </p:cNvPr>
          <p:cNvSpPr>
            <a:spLocks noGrp="1"/>
          </p:cNvSpPr>
          <p:nvPr>
            <p:ph type="body" sz="quarter" idx="20" hasCustomPrompt="1"/>
          </p:nvPr>
        </p:nvSpPr>
        <p:spPr bwMode="gray">
          <a:xfrm>
            <a:off x="9114292" y="1736812"/>
            <a:ext cx="2772308" cy="4536503"/>
          </a:xfrm>
          <a:solidFill>
            <a:schemeClr val="tx2"/>
          </a:solidFill>
        </p:spPr>
        <p:txBody>
          <a:bodyPr lIns="252000" tIns="720000" rIns="144000">
            <a:normAutofit/>
          </a:bodyPr>
          <a:lstStyle>
            <a:lvl1pPr marL="0" indent="0">
              <a:spcAft>
                <a:spcPts val="0"/>
              </a:spcAft>
              <a:buNone/>
              <a:defRPr sz="1800">
                <a:solidFill>
                  <a:schemeClr val="bg1"/>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37" name="Espace réservé du texte 8">
            <a:extLst>
              <a:ext uri="{FF2B5EF4-FFF2-40B4-BE49-F238E27FC236}">
                <a16:creationId xmlns:a16="http://schemas.microsoft.com/office/drawing/2014/main" id="{EBD7BEFD-C681-0237-7AE5-888066AD8CEC}"/>
              </a:ext>
            </a:extLst>
          </p:cNvPr>
          <p:cNvSpPr>
            <a:spLocks noGrp="1"/>
          </p:cNvSpPr>
          <p:nvPr>
            <p:ph type="body" sz="quarter" idx="21" hasCustomPrompt="1"/>
          </p:nvPr>
        </p:nvSpPr>
        <p:spPr bwMode="gray">
          <a:xfrm>
            <a:off x="9366445" y="1898844"/>
            <a:ext cx="2268000" cy="432048"/>
          </a:xfrm>
        </p:spPr>
        <p:txBody>
          <a:bodyPr/>
          <a:lstStyle>
            <a:lvl1pPr marL="0" indent="0">
              <a:spcAft>
                <a:spcPts val="0"/>
              </a:spcAft>
              <a:buNone/>
              <a:defRPr sz="20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2" name="Titre 1">
            <a:extLst>
              <a:ext uri="{FF2B5EF4-FFF2-40B4-BE49-F238E27FC236}">
                <a16:creationId xmlns:a16="http://schemas.microsoft.com/office/drawing/2014/main" id="{AB207C38-CFF2-B60A-8583-AE7851E43C9C}"/>
              </a:ext>
            </a:extLst>
          </p:cNvPr>
          <p:cNvSpPr>
            <a:spLocks noGrp="1"/>
          </p:cNvSpPr>
          <p:nvPr>
            <p:ph type="title" hasCustomPrompt="1"/>
          </p:nvPr>
        </p:nvSpPr>
        <p:spPr bwMode="gray">
          <a:xfrm>
            <a:off x="305400" y="175128"/>
            <a:ext cx="11581200" cy="936104"/>
          </a:xfrm>
        </p:spPr>
        <p:txBody>
          <a:bodyPr anchor="b" anchorCtr="0"/>
          <a:lstStyle/>
          <a:p>
            <a:r>
              <a:rPr lang="fr-FR"/>
              <a:t>Titre de la slide</a:t>
            </a:r>
          </a:p>
        </p:txBody>
      </p:sp>
      <p:sp>
        <p:nvSpPr>
          <p:cNvPr id="3" name="Espace réservé de la date 2">
            <a:extLst>
              <a:ext uri="{FF2B5EF4-FFF2-40B4-BE49-F238E27FC236}">
                <a16:creationId xmlns:a16="http://schemas.microsoft.com/office/drawing/2014/main" id="{897A21F7-80E6-3A11-B563-C2AF08C02A2B}"/>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81342479-20D3-5B6C-320C-D2408C58639D}"/>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BBBF0267-7683-C493-0935-F86241AE0274}"/>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8C06A395-38C2-EA98-FD0F-1F08DC005BD8}"/>
              </a:ext>
            </a:extLst>
          </p:cNvPr>
          <p:cNvSpPr>
            <a:spLocks noGrp="1"/>
          </p:cNvSpPr>
          <p:nvPr>
            <p:ph type="body" sz="quarter" idx="13" hasCustomPrompt="1"/>
          </p:nvPr>
        </p:nvSpPr>
        <p:spPr bwMode="gray">
          <a:xfrm>
            <a:off x="305400" y="1160749"/>
            <a:ext cx="11581200" cy="576064"/>
          </a:xfrm>
        </p:spPr>
        <p:txBody>
          <a:bodyPr/>
          <a:lstStyle>
            <a:lvl1pPr marL="0" indent="0">
              <a:spcAft>
                <a:spcPts val="0"/>
              </a:spcAft>
              <a:buNone/>
              <a:defRPr sz="2400"/>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Sous-titre de la slide</a:t>
            </a:r>
          </a:p>
        </p:txBody>
      </p:sp>
      <p:sp>
        <p:nvSpPr>
          <p:cNvPr id="39" name="Espace réservé du texte 8">
            <a:extLst>
              <a:ext uri="{FF2B5EF4-FFF2-40B4-BE49-F238E27FC236}">
                <a16:creationId xmlns:a16="http://schemas.microsoft.com/office/drawing/2014/main" id="{A452904B-6730-2ACA-FEB0-85AC2C314D46}"/>
              </a:ext>
            </a:extLst>
          </p:cNvPr>
          <p:cNvSpPr>
            <a:spLocks noGrp="1"/>
          </p:cNvSpPr>
          <p:nvPr>
            <p:ph type="body" sz="quarter" idx="22" hasCustomPrompt="1"/>
          </p:nvPr>
        </p:nvSpPr>
        <p:spPr bwMode="gray">
          <a:xfrm>
            <a:off x="557554" y="2320890"/>
            <a:ext cx="2268000" cy="0"/>
          </a:xfrm>
          <a:ln w="12700">
            <a:solidFill>
              <a:schemeClr val="bg1"/>
            </a:solidFill>
          </a:ln>
        </p:spPr>
        <p:txBody>
          <a:bodyPr/>
          <a:lstStyle>
            <a:lvl1pPr marL="0" indent="0" algn="ctr">
              <a:spcAft>
                <a:spcPts val="0"/>
              </a:spcAft>
              <a:buNone/>
              <a:defRPr sz="100">
                <a:solidFill>
                  <a:schemeClr val="bg1">
                    <a:alpha val="0"/>
                  </a:schemeClr>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 </a:t>
            </a:r>
          </a:p>
        </p:txBody>
      </p:sp>
      <p:sp>
        <p:nvSpPr>
          <p:cNvPr id="40" name="Espace réservé du texte 8">
            <a:extLst>
              <a:ext uri="{FF2B5EF4-FFF2-40B4-BE49-F238E27FC236}">
                <a16:creationId xmlns:a16="http://schemas.microsoft.com/office/drawing/2014/main" id="{A25874E7-55DB-4BDF-C8C4-3857E1F1258C}"/>
              </a:ext>
            </a:extLst>
          </p:cNvPr>
          <p:cNvSpPr>
            <a:spLocks noGrp="1"/>
          </p:cNvSpPr>
          <p:nvPr>
            <p:ph type="body" sz="quarter" idx="23" hasCustomPrompt="1"/>
          </p:nvPr>
        </p:nvSpPr>
        <p:spPr bwMode="gray">
          <a:xfrm>
            <a:off x="3493851" y="2320890"/>
            <a:ext cx="2268000" cy="0"/>
          </a:xfrm>
          <a:ln w="12700">
            <a:solidFill>
              <a:schemeClr val="bg1"/>
            </a:solidFill>
          </a:ln>
        </p:spPr>
        <p:txBody>
          <a:bodyPr/>
          <a:lstStyle>
            <a:lvl1pPr marL="0" indent="0" algn="ctr">
              <a:spcAft>
                <a:spcPts val="0"/>
              </a:spcAft>
              <a:buNone/>
              <a:defRPr sz="100">
                <a:solidFill>
                  <a:schemeClr val="bg1">
                    <a:alpha val="0"/>
                  </a:schemeClr>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 </a:t>
            </a:r>
          </a:p>
        </p:txBody>
      </p:sp>
      <p:sp>
        <p:nvSpPr>
          <p:cNvPr id="41" name="Espace réservé du texte 8">
            <a:extLst>
              <a:ext uri="{FF2B5EF4-FFF2-40B4-BE49-F238E27FC236}">
                <a16:creationId xmlns:a16="http://schemas.microsoft.com/office/drawing/2014/main" id="{1D5D5488-6822-1B02-F219-2FB4583464E6}"/>
              </a:ext>
            </a:extLst>
          </p:cNvPr>
          <p:cNvSpPr>
            <a:spLocks noGrp="1"/>
          </p:cNvSpPr>
          <p:nvPr>
            <p:ph type="body" sz="quarter" idx="24" hasCustomPrompt="1"/>
          </p:nvPr>
        </p:nvSpPr>
        <p:spPr bwMode="gray">
          <a:xfrm>
            <a:off x="6430148" y="2320890"/>
            <a:ext cx="2268000" cy="0"/>
          </a:xfrm>
          <a:ln w="12700">
            <a:solidFill>
              <a:schemeClr val="bg1"/>
            </a:solidFill>
          </a:ln>
        </p:spPr>
        <p:txBody>
          <a:bodyPr/>
          <a:lstStyle>
            <a:lvl1pPr marL="0" indent="0" algn="ctr">
              <a:spcAft>
                <a:spcPts val="0"/>
              </a:spcAft>
              <a:buNone/>
              <a:defRPr sz="100">
                <a:solidFill>
                  <a:schemeClr val="bg1">
                    <a:alpha val="0"/>
                  </a:schemeClr>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 </a:t>
            </a:r>
          </a:p>
        </p:txBody>
      </p:sp>
      <p:sp>
        <p:nvSpPr>
          <p:cNvPr id="42" name="Espace réservé du texte 8">
            <a:extLst>
              <a:ext uri="{FF2B5EF4-FFF2-40B4-BE49-F238E27FC236}">
                <a16:creationId xmlns:a16="http://schemas.microsoft.com/office/drawing/2014/main" id="{4F0332BB-F39B-FE73-2CD0-5885508407A9}"/>
              </a:ext>
            </a:extLst>
          </p:cNvPr>
          <p:cNvSpPr>
            <a:spLocks noGrp="1"/>
          </p:cNvSpPr>
          <p:nvPr>
            <p:ph type="body" sz="quarter" idx="25" hasCustomPrompt="1"/>
          </p:nvPr>
        </p:nvSpPr>
        <p:spPr bwMode="gray">
          <a:xfrm>
            <a:off x="9366446" y="2320890"/>
            <a:ext cx="2268000" cy="0"/>
          </a:xfrm>
          <a:ln w="12700">
            <a:solidFill>
              <a:schemeClr val="bg1"/>
            </a:solidFill>
          </a:ln>
        </p:spPr>
        <p:txBody>
          <a:bodyPr/>
          <a:lstStyle>
            <a:lvl1pPr marL="0" indent="0" algn="ctr">
              <a:spcAft>
                <a:spcPts val="0"/>
              </a:spcAft>
              <a:buNone/>
              <a:defRPr sz="100">
                <a:solidFill>
                  <a:schemeClr val="bg1">
                    <a:alpha val="0"/>
                  </a:schemeClr>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 </a:t>
            </a:r>
          </a:p>
        </p:txBody>
      </p:sp>
    </p:spTree>
    <p:extLst>
      <p:ext uri="{BB962C8B-B14F-4D97-AF65-F5344CB8AC3E}">
        <p14:creationId xmlns:p14="http://schemas.microsoft.com/office/powerpoint/2010/main" val="439309929"/>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p:cSld name="4_colonnes_couleurs">
    <p:spTree>
      <p:nvGrpSpPr>
        <p:cNvPr id="1" name=""/>
        <p:cNvGrpSpPr/>
        <p:nvPr/>
      </p:nvGrpSpPr>
      <p:grpSpPr>
        <a:xfrm>
          <a:off x="0" y="0"/>
          <a:ext cx="0" cy="0"/>
          <a:chOff x="0" y="0"/>
          <a:chExt cx="0" cy="0"/>
        </a:xfrm>
      </p:grpSpPr>
      <p:sp>
        <p:nvSpPr>
          <p:cNvPr id="12" name="Espace réservé du texte 8">
            <a:extLst>
              <a:ext uri="{FF2B5EF4-FFF2-40B4-BE49-F238E27FC236}">
                <a16:creationId xmlns:a16="http://schemas.microsoft.com/office/drawing/2014/main" id="{F327BF43-AC48-31E3-9E6A-D9EC75453071}"/>
              </a:ext>
            </a:extLst>
          </p:cNvPr>
          <p:cNvSpPr>
            <a:spLocks noGrp="1"/>
          </p:cNvSpPr>
          <p:nvPr>
            <p:ph type="body" sz="quarter" idx="15" hasCustomPrompt="1"/>
          </p:nvPr>
        </p:nvSpPr>
        <p:spPr bwMode="gray">
          <a:xfrm>
            <a:off x="305400" y="1736812"/>
            <a:ext cx="2772308" cy="4536503"/>
          </a:xfrm>
          <a:solidFill>
            <a:srgbClr val="93B9CC"/>
          </a:solid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2" name="Titre 1">
            <a:extLst>
              <a:ext uri="{FF2B5EF4-FFF2-40B4-BE49-F238E27FC236}">
                <a16:creationId xmlns:a16="http://schemas.microsoft.com/office/drawing/2014/main" id="{AB207C38-CFF2-B60A-8583-AE7851E43C9C}"/>
              </a:ext>
            </a:extLst>
          </p:cNvPr>
          <p:cNvSpPr>
            <a:spLocks noGrp="1"/>
          </p:cNvSpPr>
          <p:nvPr>
            <p:ph type="title" hasCustomPrompt="1"/>
          </p:nvPr>
        </p:nvSpPr>
        <p:spPr bwMode="gray">
          <a:xfrm>
            <a:off x="305400" y="175128"/>
            <a:ext cx="11581200" cy="936104"/>
          </a:xfrm>
        </p:spPr>
        <p:txBody>
          <a:bodyPr anchor="b" anchorCtr="0"/>
          <a:lstStyle/>
          <a:p>
            <a:r>
              <a:rPr lang="fr-FR"/>
              <a:t>Titre de la slide</a:t>
            </a:r>
          </a:p>
        </p:txBody>
      </p:sp>
      <p:sp>
        <p:nvSpPr>
          <p:cNvPr id="3" name="Espace réservé de la date 2">
            <a:extLst>
              <a:ext uri="{FF2B5EF4-FFF2-40B4-BE49-F238E27FC236}">
                <a16:creationId xmlns:a16="http://schemas.microsoft.com/office/drawing/2014/main" id="{897A21F7-80E6-3A11-B563-C2AF08C02A2B}"/>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81342479-20D3-5B6C-320C-D2408C58639D}"/>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BBBF0267-7683-C493-0935-F86241AE0274}"/>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8C06A395-38C2-EA98-FD0F-1F08DC005BD8}"/>
              </a:ext>
            </a:extLst>
          </p:cNvPr>
          <p:cNvSpPr>
            <a:spLocks noGrp="1"/>
          </p:cNvSpPr>
          <p:nvPr>
            <p:ph type="body" sz="quarter" idx="13" hasCustomPrompt="1"/>
          </p:nvPr>
        </p:nvSpPr>
        <p:spPr bwMode="gray">
          <a:xfrm>
            <a:off x="305400" y="1160749"/>
            <a:ext cx="11581200" cy="576064"/>
          </a:xfrm>
        </p:spPr>
        <p:txBody>
          <a:bodyPr/>
          <a:lstStyle>
            <a:lvl1pPr marL="0" indent="0">
              <a:spcAft>
                <a:spcPts val="0"/>
              </a:spcAft>
              <a:buNone/>
              <a:defRPr sz="2400"/>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Sous-titre de la slide</a:t>
            </a:r>
          </a:p>
        </p:txBody>
      </p:sp>
      <p:sp>
        <p:nvSpPr>
          <p:cNvPr id="9" name="Espace réservé du texte 8">
            <a:extLst>
              <a:ext uri="{FF2B5EF4-FFF2-40B4-BE49-F238E27FC236}">
                <a16:creationId xmlns:a16="http://schemas.microsoft.com/office/drawing/2014/main" id="{6771B9D8-F0BE-03C2-EDE7-B430BF1FEA87}"/>
              </a:ext>
            </a:extLst>
          </p:cNvPr>
          <p:cNvSpPr>
            <a:spLocks noGrp="1"/>
          </p:cNvSpPr>
          <p:nvPr>
            <p:ph type="body" sz="quarter" idx="14" hasCustomPrompt="1"/>
          </p:nvPr>
        </p:nvSpPr>
        <p:spPr bwMode="gray">
          <a:xfrm>
            <a:off x="557553"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30" name="Espace réservé du texte 8">
            <a:extLst>
              <a:ext uri="{FF2B5EF4-FFF2-40B4-BE49-F238E27FC236}">
                <a16:creationId xmlns:a16="http://schemas.microsoft.com/office/drawing/2014/main" id="{88A7F435-77BB-361B-E73B-62C5FDE97DE0}"/>
              </a:ext>
            </a:extLst>
          </p:cNvPr>
          <p:cNvSpPr>
            <a:spLocks noGrp="1"/>
          </p:cNvSpPr>
          <p:nvPr>
            <p:ph type="body" sz="quarter" idx="16" hasCustomPrompt="1"/>
          </p:nvPr>
        </p:nvSpPr>
        <p:spPr bwMode="gray">
          <a:xfrm>
            <a:off x="3241697" y="1736812"/>
            <a:ext cx="2772308" cy="4536503"/>
          </a:xfrm>
          <a:solidFill>
            <a:srgbClr val="E1C86E"/>
          </a:solid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31" name="Espace réservé du texte 8">
            <a:extLst>
              <a:ext uri="{FF2B5EF4-FFF2-40B4-BE49-F238E27FC236}">
                <a16:creationId xmlns:a16="http://schemas.microsoft.com/office/drawing/2014/main" id="{EA4B6A06-4602-C0AB-A474-DE085D7252AA}"/>
              </a:ext>
            </a:extLst>
          </p:cNvPr>
          <p:cNvSpPr>
            <a:spLocks noGrp="1"/>
          </p:cNvSpPr>
          <p:nvPr>
            <p:ph type="body" sz="quarter" idx="17" hasCustomPrompt="1"/>
          </p:nvPr>
        </p:nvSpPr>
        <p:spPr bwMode="gray">
          <a:xfrm>
            <a:off x="3493850"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33" name="Espace réservé du texte 8">
            <a:extLst>
              <a:ext uri="{FF2B5EF4-FFF2-40B4-BE49-F238E27FC236}">
                <a16:creationId xmlns:a16="http://schemas.microsoft.com/office/drawing/2014/main" id="{0A1A308E-7764-0810-D5DA-FDEFA1074996}"/>
              </a:ext>
            </a:extLst>
          </p:cNvPr>
          <p:cNvSpPr>
            <a:spLocks noGrp="1"/>
          </p:cNvSpPr>
          <p:nvPr>
            <p:ph type="body" sz="quarter" idx="18" hasCustomPrompt="1"/>
          </p:nvPr>
        </p:nvSpPr>
        <p:spPr bwMode="gray">
          <a:xfrm>
            <a:off x="6177994" y="1736812"/>
            <a:ext cx="2772308" cy="4536503"/>
          </a:xfrm>
          <a:solidFill>
            <a:srgbClr val="97B280"/>
          </a:solid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34" name="Espace réservé du texte 8">
            <a:extLst>
              <a:ext uri="{FF2B5EF4-FFF2-40B4-BE49-F238E27FC236}">
                <a16:creationId xmlns:a16="http://schemas.microsoft.com/office/drawing/2014/main" id="{D6F43A86-430D-ED4A-EA97-B8442CA59967}"/>
              </a:ext>
            </a:extLst>
          </p:cNvPr>
          <p:cNvSpPr>
            <a:spLocks noGrp="1"/>
          </p:cNvSpPr>
          <p:nvPr>
            <p:ph type="body" sz="quarter" idx="19" hasCustomPrompt="1"/>
          </p:nvPr>
        </p:nvSpPr>
        <p:spPr bwMode="gray">
          <a:xfrm>
            <a:off x="6430147"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36" name="Espace réservé du texte 8">
            <a:extLst>
              <a:ext uri="{FF2B5EF4-FFF2-40B4-BE49-F238E27FC236}">
                <a16:creationId xmlns:a16="http://schemas.microsoft.com/office/drawing/2014/main" id="{0FA30F8C-77E0-AFD0-6739-517C2BBC544A}"/>
              </a:ext>
            </a:extLst>
          </p:cNvPr>
          <p:cNvSpPr>
            <a:spLocks noGrp="1"/>
          </p:cNvSpPr>
          <p:nvPr>
            <p:ph type="body" sz="quarter" idx="20" hasCustomPrompt="1"/>
          </p:nvPr>
        </p:nvSpPr>
        <p:spPr bwMode="gray">
          <a:xfrm>
            <a:off x="9114292" y="1736812"/>
            <a:ext cx="2772308" cy="4536503"/>
          </a:xfrm>
          <a:solidFill>
            <a:srgbClr val="CFA595"/>
          </a:solid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37" name="Espace réservé du texte 8">
            <a:extLst>
              <a:ext uri="{FF2B5EF4-FFF2-40B4-BE49-F238E27FC236}">
                <a16:creationId xmlns:a16="http://schemas.microsoft.com/office/drawing/2014/main" id="{EBD7BEFD-C681-0237-7AE5-888066AD8CEC}"/>
              </a:ext>
            </a:extLst>
          </p:cNvPr>
          <p:cNvSpPr>
            <a:spLocks noGrp="1"/>
          </p:cNvSpPr>
          <p:nvPr>
            <p:ph type="body" sz="quarter" idx="21" hasCustomPrompt="1"/>
          </p:nvPr>
        </p:nvSpPr>
        <p:spPr bwMode="gray">
          <a:xfrm>
            <a:off x="9366445"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6" name="Espace réservé du texte 8">
            <a:extLst>
              <a:ext uri="{FF2B5EF4-FFF2-40B4-BE49-F238E27FC236}">
                <a16:creationId xmlns:a16="http://schemas.microsoft.com/office/drawing/2014/main" id="{7D3788FA-6ADD-6168-1BAC-9690E11A5A97}"/>
              </a:ext>
            </a:extLst>
          </p:cNvPr>
          <p:cNvSpPr>
            <a:spLocks noGrp="1"/>
          </p:cNvSpPr>
          <p:nvPr>
            <p:ph type="body" sz="quarter" idx="22" hasCustomPrompt="1"/>
          </p:nvPr>
        </p:nvSpPr>
        <p:spPr bwMode="gray">
          <a:xfrm>
            <a:off x="557554" y="2320890"/>
            <a:ext cx="2268000" cy="0"/>
          </a:xfrm>
          <a:ln w="12700">
            <a:solidFill>
              <a:schemeClr val="tx2"/>
            </a:solidFill>
          </a:ln>
        </p:spPr>
        <p:txBody>
          <a:bodyPr/>
          <a:lstStyle>
            <a:lvl1pPr marL="0" indent="0" algn="ctr">
              <a:spcAft>
                <a:spcPts val="0"/>
              </a:spcAft>
              <a:buNone/>
              <a:defRPr sz="100">
                <a:solidFill>
                  <a:schemeClr val="bg1">
                    <a:alpha val="0"/>
                  </a:schemeClr>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 </a:t>
            </a:r>
          </a:p>
        </p:txBody>
      </p:sp>
      <p:sp>
        <p:nvSpPr>
          <p:cNvPr id="7" name="Espace réservé du texte 8">
            <a:extLst>
              <a:ext uri="{FF2B5EF4-FFF2-40B4-BE49-F238E27FC236}">
                <a16:creationId xmlns:a16="http://schemas.microsoft.com/office/drawing/2014/main" id="{3AA06C0E-AC1E-E618-6F23-EF21C45668BD}"/>
              </a:ext>
            </a:extLst>
          </p:cNvPr>
          <p:cNvSpPr>
            <a:spLocks noGrp="1"/>
          </p:cNvSpPr>
          <p:nvPr>
            <p:ph type="body" sz="quarter" idx="23" hasCustomPrompt="1"/>
          </p:nvPr>
        </p:nvSpPr>
        <p:spPr bwMode="gray">
          <a:xfrm>
            <a:off x="3493851" y="2320890"/>
            <a:ext cx="2268000" cy="0"/>
          </a:xfrm>
          <a:ln w="12700">
            <a:solidFill>
              <a:schemeClr val="tx2"/>
            </a:solidFill>
          </a:ln>
        </p:spPr>
        <p:txBody>
          <a:bodyPr/>
          <a:lstStyle>
            <a:lvl1pPr marL="0" indent="0" algn="ctr">
              <a:spcAft>
                <a:spcPts val="0"/>
              </a:spcAft>
              <a:buNone/>
              <a:defRPr sz="100">
                <a:solidFill>
                  <a:schemeClr val="bg1">
                    <a:alpha val="0"/>
                  </a:schemeClr>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 </a:t>
            </a:r>
          </a:p>
        </p:txBody>
      </p:sp>
      <p:sp>
        <p:nvSpPr>
          <p:cNvPr id="10" name="Espace réservé du texte 8">
            <a:extLst>
              <a:ext uri="{FF2B5EF4-FFF2-40B4-BE49-F238E27FC236}">
                <a16:creationId xmlns:a16="http://schemas.microsoft.com/office/drawing/2014/main" id="{2F57D658-9C40-C908-0110-34B9188114E7}"/>
              </a:ext>
            </a:extLst>
          </p:cNvPr>
          <p:cNvSpPr>
            <a:spLocks noGrp="1"/>
          </p:cNvSpPr>
          <p:nvPr>
            <p:ph type="body" sz="quarter" idx="24" hasCustomPrompt="1"/>
          </p:nvPr>
        </p:nvSpPr>
        <p:spPr bwMode="gray">
          <a:xfrm>
            <a:off x="6430148" y="2320890"/>
            <a:ext cx="2268000" cy="0"/>
          </a:xfrm>
          <a:ln w="12700">
            <a:solidFill>
              <a:schemeClr val="tx2"/>
            </a:solidFill>
          </a:ln>
        </p:spPr>
        <p:txBody>
          <a:bodyPr/>
          <a:lstStyle>
            <a:lvl1pPr marL="0" indent="0" algn="ctr">
              <a:spcAft>
                <a:spcPts val="0"/>
              </a:spcAft>
              <a:buNone/>
              <a:defRPr sz="100">
                <a:solidFill>
                  <a:schemeClr val="bg1">
                    <a:alpha val="0"/>
                  </a:schemeClr>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 </a:t>
            </a:r>
          </a:p>
        </p:txBody>
      </p:sp>
      <p:sp>
        <p:nvSpPr>
          <p:cNvPr id="13" name="Espace réservé du texte 8">
            <a:extLst>
              <a:ext uri="{FF2B5EF4-FFF2-40B4-BE49-F238E27FC236}">
                <a16:creationId xmlns:a16="http://schemas.microsoft.com/office/drawing/2014/main" id="{95EB7AA1-A6CB-1953-8D76-D3D2C095A213}"/>
              </a:ext>
            </a:extLst>
          </p:cNvPr>
          <p:cNvSpPr>
            <a:spLocks noGrp="1"/>
          </p:cNvSpPr>
          <p:nvPr>
            <p:ph type="body" sz="quarter" idx="25" hasCustomPrompt="1"/>
          </p:nvPr>
        </p:nvSpPr>
        <p:spPr bwMode="gray">
          <a:xfrm>
            <a:off x="9366446" y="2320890"/>
            <a:ext cx="2268000" cy="0"/>
          </a:xfrm>
          <a:ln w="12700">
            <a:solidFill>
              <a:schemeClr val="tx2"/>
            </a:solidFill>
          </a:ln>
        </p:spPr>
        <p:txBody>
          <a:bodyPr/>
          <a:lstStyle>
            <a:lvl1pPr marL="0" indent="0" algn="ctr">
              <a:spcAft>
                <a:spcPts val="0"/>
              </a:spcAft>
              <a:buNone/>
              <a:defRPr sz="100">
                <a:solidFill>
                  <a:schemeClr val="bg1">
                    <a:alpha val="0"/>
                  </a:schemeClr>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 </a:t>
            </a:r>
          </a:p>
        </p:txBody>
      </p:sp>
    </p:spTree>
    <p:extLst>
      <p:ext uri="{BB962C8B-B14F-4D97-AF65-F5344CB8AC3E}">
        <p14:creationId xmlns:p14="http://schemas.microsoft.com/office/powerpoint/2010/main" val="176806962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p:cSld name="Texte+graphique_fond_bleu">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A26079A7-FDB3-A0D7-4249-4B5DC6628771}"/>
              </a:ext>
            </a:extLst>
          </p:cNvPr>
          <p:cNvSpPr/>
          <p:nvPr/>
        </p:nvSpPr>
        <p:spPr bwMode="gray">
          <a:xfrm>
            <a:off x="0" y="-3"/>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6" name="Forme libre : forme 5">
            <a:extLst>
              <a:ext uri="{FF2B5EF4-FFF2-40B4-BE49-F238E27FC236}">
                <a16:creationId xmlns:a16="http://schemas.microsoft.com/office/drawing/2014/main" id="{09D28A79-8AF8-0398-A71C-DFD791DD103F}"/>
              </a:ext>
            </a:extLst>
          </p:cNvPr>
          <p:cNvSpPr/>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BBEA0804-E122-C17C-893D-4790E3C1A6DE}"/>
              </a:ext>
            </a:extLst>
          </p:cNvPr>
          <p:cNvSpPr>
            <a:spLocks noGrp="1"/>
          </p:cNvSpPr>
          <p:nvPr>
            <p:ph type="title" hasCustomPrompt="1"/>
          </p:nvPr>
        </p:nvSpPr>
        <p:spPr bwMode="gray">
          <a:xfrm>
            <a:off x="558000" y="410400"/>
            <a:ext cx="5187600" cy="936104"/>
          </a:xfrm>
        </p:spPr>
        <p:txBody>
          <a:bodyPr/>
          <a:lstStyle>
            <a:lvl1pPr>
              <a:defRPr>
                <a:solidFill>
                  <a:schemeClr val="bg1"/>
                </a:solidFill>
              </a:defRPr>
            </a:lvl1pPr>
          </a:lstStyle>
          <a:p>
            <a:r>
              <a:rPr lang="fr-FR"/>
              <a:t>Titre de la slide</a:t>
            </a:r>
          </a:p>
        </p:txBody>
      </p:sp>
      <p:sp>
        <p:nvSpPr>
          <p:cNvPr id="3" name="Espace réservé de la date 2">
            <a:extLst>
              <a:ext uri="{FF2B5EF4-FFF2-40B4-BE49-F238E27FC236}">
                <a16:creationId xmlns:a16="http://schemas.microsoft.com/office/drawing/2014/main" id="{58B5448A-9A45-995F-2BCA-BA97847CB905}"/>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E2FF19B5-2610-49B3-35F3-BE4F60653795}"/>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9F756EE-39B0-6BA1-3C16-25428C4ECE4F}"/>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74B593AE-2ADC-7A1B-C66E-521AB8BB8F1B}"/>
              </a:ext>
            </a:extLst>
          </p:cNvPr>
          <p:cNvSpPr>
            <a:spLocks noGrp="1"/>
          </p:cNvSpPr>
          <p:nvPr>
            <p:ph type="body" sz="quarter" idx="14" hasCustomPrompt="1"/>
          </p:nvPr>
        </p:nvSpPr>
        <p:spPr bwMode="gray">
          <a:xfrm>
            <a:off x="558000" y="1673593"/>
            <a:ext cx="5187600" cy="3708412"/>
          </a:xfrm>
        </p:spPr>
        <p:txBody>
          <a:bodyPr/>
          <a:lstStyle>
            <a:lvl1pPr marL="0" indent="0">
              <a:spcAft>
                <a:spcPts val="0"/>
              </a:spcAft>
              <a:buNone/>
              <a:defRPr sz="2700">
                <a:solidFill>
                  <a:schemeClr val="bg1"/>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sp>
        <p:nvSpPr>
          <p:cNvPr id="10" name="Espace réservé du texte 8">
            <a:extLst>
              <a:ext uri="{FF2B5EF4-FFF2-40B4-BE49-F238E27FC236}">
                <a16:creationId xmlns:a16="http://schemas.microsoft.com/office/drawing/2014/main" id="{A4E9A1E8-9B90-13C7-0A9B-2A907058CA68}"/>
              </a:ext>
            </a:extLst>
          </p:cNvPr>
          <p:cNvSpPr>
            <a:spLocks noGrp="1"/>
          </p:cNvSpPr>
          <p:nvPr>
            <p:ph type="body" sz="quarter" idx="19" hasCustomPrompt="1"/>
          </p:nvPr>
        </p:nvSpPr>
        <p:spPr bwMode="gray">
          <a:xfrm>
            <a:off x="6626609" y="1052455"/>
            <a:ext cx="4653968" cy="461076"/>
          </a:xfrm>
        </p:spPr>
        <p:txBody>
          <a:bodyPr anchor="t" anchorCtr="0"/>
          <a:lstStyle>
            <a:lvl1pPr marL="0" indent="0">
              <a:spcAft>
                <a:spcPts val="0"/>
              </a:spcAft>
              <a:buNone/>
              <a:defRPr sz="1900">
                <a:solidFill>
                  <a:schemeClr val="bg1"/>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9" name="Espace réservé du graphique 16">
            <a:extLst>
              <a:ext uri="{FF2B5EF4-FFF2-40B4-BE49-F238E27FC236}">
                <a16:creationId xmlns:a16="http://schemas.microsoft.com/office/drawing/2014/main" id="{4C7F7B8A-279A-A61A-7D6C-BF04A1FAB6AE}"/>
              </a:ext>
            </a:extLst>
          </p:cNvPr>
          <p:cNvSpPr>
            <a:spLocks noGrp="1"/>
          </p:cNvSpPr>
          <p:nvPr>
            <p:ph type="chart" sz="quarter" idx="18" hasCustomPrompt="1"/>
          </p:nvPr>
        </p:nvSpPr>
        <p:spPr bwMode="gray">
          <a:xfrm>
            <a:off x="6218244" y="1596142"/>
            <a:ext cx="4962564" cy="3636404"/>
          </a:xfrm>
        </p:spPr>
        <p:txBody>
          <a:bodyPr tIns="900000" anchor="ctr" anchorCtr="0"/>
          <a:lstStyle>
            <a:lvl1pPr marL="0" indent="0" algn="ctr">
              <a:buNone/>
              <a:defRPr sz="1000" baseline="0">
                <a:solidFill>
                  <a:schemeClr val="bg1"/>
                </a:solidFill>
                <a:latin typeface="+mj-lt"/>
              </a:defRPr>
            </a:lvl1pPr>
          </a:lstStyle>
          <a:p>
            <a:r>
              <a:rPr lang="fr-FR" noProof="0"/>
              <a:t>Sélectionner l’icône pour insérer un graphique</a:t>
            </a:r>
          </a:p>
        </p:txBody>
      </p:sp>
      <p:pic>
        <p:nvPicPr>
          <p:cNvPr id="11" name="Image 10" descr="Une image contenant Police, Graphique, capture d’écran, logo&#10;&#10;Description générée automatiquement">
            <a:extLst>
              <a:ext uri="{FF2B5EF4-FFF2-40B4-BE49-F238E27FC236}">
                <a16:creationId xmlns:a16="http://schemas.microsoft.com/office/drawing/2014/main" id="{F5BE36E0-4515-5298-E08A-2B7513454CB5}"/>
              </a:ext>
            </a:extLst>
          </p:cNvPr>
          <p:cNvPicPr>
            <a:picLocks noChangeAspect="1"/>
          </p:cNvPicPr>
          <p:nvPr/>
        </p:nvPicPr>
        <p:blipFill>
          <a:blip r:embed="rId2"/>
          <a:stretch>
            <a:fillRect/>
          </a:stretch>
        </p:blipFill>
        <p:spPr>
          <a:xfrm>
            <a:off x="191344" y="6157729"/>
            <a:ext cx="2253137" cy="700271"/>
          </a:xfrm>
          <a:prstGeom prst="rect">
            <a:avLst/>
          </a:prstGeom>
        </p:spPr>
      </p:pic>
      <p:sp>
        <p:nvSpPr>
          <p:cNvPr id="7" name="Rectangle 6">
            <a:extLst>
              <a:ext uri="{FF2B5EF4-FFF2-40B4-BE49-F238E27FC236}">
                <a16:creationId xmlns:a16="http://schemas.microsoft.com/office/drawing/2014/main" id="{309F922B-32E1-3EE1-52D6-21361C782ECE}"/>
              </a:ext>
            </a:extLst>
          </p:cNvPr>
          <p:cNvSpPr/>
          <p:nvPr userDrawn="1"/>
        </p:nvSpPr>
        <p:spPr bwMode="gray">
          <a:xfrm>
            <a:off x="0" y="-3"/>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3" name="Forme libre : forme 12">
            <a:extLst>
              <a:ext uri="{FF2B5EF4-FFF2-40B4-BE49-F238E27FC236}">
                <a16:creationId xmlns:a16="http://schemas.microsoft.com/office/drawing/2014/main" id="{7A5268DC-08FB-2EA9-7884-48CC76132FAD}"/>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4" name="Image 13" descr="Une image contenant Police, Graphique, capture d’écran, logo&#10;&#10;Description générée automatiquement">
            <a:extLst>
              <a:ext uri="{FF2B5EF4-FFF2-40B4-BE49-F238E27FC236}">
                <a16:creationId xmlns:a16="http://schemas.microsoft.com/office/drawing/2014/main" id="{3113C700-EB74-CBF7-18DA-522B9E6B1B66}"/>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409069864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0">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p:cSld name="Texte+graphique_fond_flanc">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760A746-E0A6-44D2-C50C-D02E4455DA1B}"/>
              </a:ext>
            </a:extLst>
          </p:cNvPr>
          <p:cNvSpPr>
            <a:spLocks noGrp="1"/>
          </p:cNvSpPr>
          <p:nvPr>
            <p:ph type="title" hasCustomPrompt="1"/>
          </p:nvPr>
        </p:nvSpPr>
        <p:spPr bwMode="gray">
          <a:xfrm>
            <a:off x="305399" y="410400"/>
            <a:ext cx="6371997" cy="936104"/>
          </a:xfrm>
        </p:spPr>
        <p:txBody>
          <a:bodyPr/>
          <a:lstStyle>
            <a:lvl1pPr>
              <a:defRPr/>
            </a:lvl1pPr>
          </a:lstStyle>
          <a:p>
            <a:r>
              <a:rPr lang="fr-FR"/>
              <a:t>Titre de la slide</a:t>
            </a:r>
          </a:p>
        </p:txBody>
      </p:sp>
      <p:sp>
        <p:nvSpPr>
          <p:cNvPr id="3" name="Espace réservé de la date 2">
            <a:extLst>
              <a:ext uri="{FF2B5EF4-FFF2-40B4-BE49-F238E27FC236}">
                <a16:creationId xmlns:a16="http://schemas.microsoft.com/office/drawing/2014/main" id="{09E2B994-E135-ABD3-7815-FF8E1864C812}"/>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3D49135A-F415-F2D4-4CD4-6BBE0CD3D339}"/>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6E3DB2ED-E53E-7341-1FB6-D6AE671F170A}"/>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11" name="Espace réservé du texte 10">
            <a:extLst>
              <a:ext uri="{FF2B5EF4-FFF2-40B4-BE49-F238E27FC236}">
                <a16:creationId xmlns:a16="http://schemas.microsoft.com/office/drawing/2014/main" id="{3AA63BAE-A860-377A-D5CD-9A06DDABF7AE}"/>
              </a:ext>
            </a:extLst>
          </p:cNvPr>
          <p:cNvSpPr>
            <a:spLocks noGrp="1"/>
          </p:cNvSpPr>
          <p:nvPr>
            <p:ph type="body" sz="quarter" idx="14" hasCustomPrompt="1"/>
          </p:nvPr>
        </p:nvSpPr>
        <p:spPr bwMode="gray">
          <a:xfrm>
            <a:off x="305397" y="1628800"/>
            <a:ext cx="6372000" cy="4509200"/>
          </a:xfrm>
        </p:spPr>
        <p:txBody>
          <a:bodyPr/>
          <a:lstStyle/>
          <a:p>
            <a:pPr lvl="0"/>
            <a:r>
              <a:rPr lang="fr-FR" noProof="0"/>
              <a:t>Texte de niveau 1</a:t>
            </a:r>
          </a:p>
          <a:p>
            <a:pPr lvl="1"/>
            <a:r>
              <a:rPr lang="fr-FR" noProof="0"/>
              <a:t>Texte de niveau 2</a:t>
            </a:r>
          </a:p>
          <a:p>
            <a:pPr lvl="2"/>
            <a:r>
              <a:rPr lang="fr-FR" noProof="0"/>
              <a:t>Texte de niveau 3</a:t>
            </a:r>
          </a:p>
          <a:p>
            <a:pPr lvl="3"/>
            <a:r>
              <a:rPr lang="fr-FR" noProof="0"/>
              <a:t>Texte de niveau 4</a:t>
            </a:r>
          </a:p>
        </p:txBody>
      </p:sp>
      <p:sp>
        <p:nvSpPr>
          <p:cNvPr id="8" name="Espace réservé du graphique 16">
            <a:extLst>
              <a:ext uri="{FF2B5EF4-FFF2-40B4-BE49-F238E27FC236}">
                <a16:creationId xmlns:a16="http://schemas.microsoft.com/office/drawing/2014/main" id="{07FE02EC-0BFC-C3BE-BEF9-744A98768ED6}"/>
              </a:ext>
            </a:extLst>
          </p:cNvPr>
          <p:cNvSpPr>
            <a:spLocks noGrp="1"/>
          </p:cNvSpPr>
          <p:nvPr>
            <p:ph type="chart" sz="quarter" idx="18" hasCustomPrompt="1"/>
          </p:nvPr>
        </p:nvSpPr>
        <p:spPr bwMode="gray">
          <a:xfrm>
            <a:off x="7428147" y="1232796"/>
            <a:ext cx="4096371" cy="4392408"/>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10" name="Espace réservé du texte 8">
            <a:extLst>
              <a:ext uri="{FF2B5EF4-FFF2-40B4-BE49-F238E27FC236}">
                <a16:creationId xmlns:a16="http://schemas.microsoft.com/office/drawing/2014/main" id="{5A2787BD-8D5D-6FD4-D8FE-E31B6DD43812}"/>
              </a:ext>
            </a:extLst>
          </p:cNvPr>
          <p:cNvSpPr>
            <a:spLocks noGrp="1"/>
          </p:cNvSpPr>
          <p:nvPr>
            <p:ph type="body" sz="quarter" idx="19" hasCustomPrompt="1"/>
          </p:nvPr>
        </p:nvSpPr>
        <p:spPr bwMode="gray">
          <a:xfrm>
            <a:off x="6970320" y="813751"/>
            <a:ext cx="4653968" cy="419045"/>
          </a:xfrm>
        </p:spPr>
        <p:txBody>
          <a:bodyPr anchor="t"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Tree>
    <p:extLst>
      <p:ext uri="{BB962C8B-B14F-4D97-AF65-F5344CB8AC3E}">
        <p14:creationId xmlns:p14="http://schemas.microsoft.com/office/powerpoint/2010/main" val="256010612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orient="horz" pos="480">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p:cSld name="Icono+texte+pdp">
    <p:spTree>
      <p:nvGrpSpPr>
        <p:cNvPr id="1" name=""/>
        <p:cNvGrpSpPr/>
        <p:nvPr/>
      </p:nvGrpSpPr>
      <p:grpSpPr>
        <a:xfrm>
          <a:off x="0" y="0"/>
          <a:ext cx="0" cy="0"/>
          <a:chOff x="0" y="0"/>
          <a:chExt cx="0" cy="0"/>
        </a:xfrm>
      </p:grpSpPr>
      <p:sp>
        <p:nvSpPr>
          <p:cNvPr id="9" name="Espace réservé pour une image  9">
            <a:extLst>
              <a:ext uri="{FF2B5EF4-FFF2-40B4-BE49-F238E27FC236}">
                <a16:creationId xmlns:a16="http://schemas.microsoft.com/office/drawing/2014/main" id="{0C0CA63E-D041-0787-4AB5-CC2201F52AAA}"/>
              </a:ext>
            </a:extLst>
          </p:cNvPr>
          <p:cNvSpPr>
            <a:spLocks noGrp="1"/>
          </p:cNvSpPr>
          <p:nvPr>
            <p:ph type="pic" sz="quarter" idx="16" hasCustomPrompt="1"/>
          </p:nvPr>
        </p:nvSpPr>
        <p:spPr bwMode="gray">
          <a:xfrm>
            <a:off x="0" y="0"/>
            <a:ext cx="12192000" cy="6858000"/>
          </a:xfrm>
          <a:prstGeom prst="rect">
            <a:avLst/>
          </a:prstGeom>
          <a:solidFill>
            <a:schemeClr val="bg1">
              <a:lumMod val="85000"/>
            </a:schemeClr>
          </a:solidFill>
        </p:spPr>
        <p:txBody>
          <a:bodyPr wrap="square" tIns="1260000" anchor="ctr" anchorCtr="0">
            <a:noAutofit/>
          </a:bodyPr>
          <a:lstStyle>
            <a:lvl1pPr marL="0" marR="0" indent="0" algn="ctr" defTabSz="1219170" rtl="0" eaLnBrk="1" fontAlgn="auto" latinLnBrk="0" hangingPunct="1">
              <a:lnSpc>
                <a:spcPct val="100000"/>
              </a:lnSpc>
              <a:spcBef>
                <a:spcPts val="0"/>
              </a:spcBef>
              <a:spcAft>
                <a:spcPts val="0"/>
              </a:spcAft>
              <a:buClrTx/>
              <a:buSzTx/>
              <a:buFont typeface="Arial" pitchFamily="34" charset="0"/>
              <a:buNone/>
              <a:tabLst/>
              <a:defRPr sz="1000">
                <a:solidFill>
                  <a:schemeClr val="tx1"/>
                </a:solidFill>
                <a:latin typeface="+mj-lt"/>
              </a:defRPr>
            </a:lvl1pPr>
          </a:lstStyle>
          <a:p>
            <a:r>
              <a:rPr lang="fr-FR" noProof="0"/>
              <a:t>Sélectionner l’icône pour insérer une image, </a:t>
            </a:r>
            <a:br>
              <a:rPr lang="fr-FR" noProof="0"/>
            </a:br>
            <a:r>
              <a:rPr lang="fr-FR" noProof="0"/>
              <a:t>puis disposer l’image en arrière plan </a:t>
            </a:r>
            <a:br>
              <a:rPr lang="fr-FR" noProof="0"/>
            </a:br>
            <a:r>
              <a:rPr lang="fr-FR" noProof="0"/>
              <a:t>(Sélectionner l’image avec le bouton droit de la souris / </a:t>
            </a:r>
            <a:br>
              <a:rPr lang="fr-FR" noProof="0"/>
            </a:br>
            <a:r>
              <a:rPr lang="fr-FR" noProof="0"/>
              <a:t>Mettre à l’arrière plan)</a:t>
            </a:r>
          </a:p>
        </p:txBody>
      </p:sp>
      <p:sp>
        <p:nvSpPr>
          <p:cNvPr id="11" name="Espace réservé du texte 10">
            <a:extLst>
              <a:ext uri="{FF2B5EF4-FFF2-40B4-BE49-F238E27FC236}">
                <a16:creationId xmlns:a16="http://schemas.microsoft.com/office/drawing/2014/main" id="{F0D1988A-9880-113B-8455-43E388929768}"/>
              </a:ext>
            </a:extLst>
          </p:cNvPr>
          <p:cNvSpPr>
            <a:spLocks noGrp="1"/>
          </p:cNvSpPr>
          <p:nvPr>
            <p:ph type="body" sz="quarter" idx="15"/>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p:spPr>
        <p:txBody>
          <a:bodyPr wrap="square" anchor="ctr" anchorCtr="0">
            <a:noAutofit/>
          </a:bodyPr>
          <a:lstStyle>
            <a:lvl1pPr marL="0" indent="0" algn="ctr">
              <a:buNone/>
              <a:defRPr sz="100">
                <a:solidFill>
                  <a:schemeClr val="tx2">
                    <a:alpha val="0"/>
                  </a:schemeClr>
                </a:solidFill>
              </a:defRPr>
            </a:lvl1pPr>
            <a:lvl2pPr marL="0" indent="0" algn="ctr">
              <a:buNone/>
              <a:defRPr sz="100">
                <a:solidFill>
                  <a:schemeClr val="tx2">
                    <a:alpha val="0"/>
                  </a:schemeClr>
                </a:solidFill>
              </a:defRPr>
            </a:lvl2pPr>
            <a:lvl3pPr marL="0" indent="0" algn="ctr">
              <a:buNone/>
              <a:defRPr sz="100">
                <a:solidFill>
                  <a:schemeClr val="tx2">
                    <a:alpha val="0"/>
                  </a:schemeClr>
                </a:solidFill>
              </a:defRPr>
            </a:lvl3pPr>
            <a:lvl4pPr marL="0" indent="0" algn="ctr">
              <a:buNone/>
              <a:defRPr sz="100">
                <a:solidFill>
                  <a:schemeClr val="tx2">
                    <a:alpha val="0"/>
                  </a:schemeClr>
                </a:solidFill>
              </a:defRPr>
            </a:lvl4pPr>
            <a:lvl5pPr marL="0" indent="0" algn="ctr">
              <a:buFont typeface="Arial" panose="020B0604020202020204" pitchFamily="34" charset="0"/>
              <a:buNone/>
              <a:defRPr sz="100">
                <a:solidFill>
                  <a:schemeClr val="tx2">
                    <a:alpha val="0"/>
                  </a:schemeClr>
                </a:solidFill>
              </a:defRPr>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2" name="Titre 1">
            <a:extLst>
              <a:ext uri="{FF2B5EF4-FFF2-40B4-BE49-F238E27FC236}">
                <a16:creationId xmlns:a16="http://schemas.microsoft.com/office/drawing/2014/main" id="{799187D8-5E9F-168C-2740-6D7C8A427367}"/>
              </a:ext>
            </a:extLst>
          </p:cNvPr>
          <p:cNvSpPr>
            <a:spLocks noGrp="1"/>
          </p:cNvSpPr>
          <p:nvPr>
            <p:ph type="title" hasCustomPrompt="1"/>
          </p:nvPr>
        </p:nvSpPr>
        <p:spPr bwMode="gray">
          <a:xfrm>
            <a:off x="558000" y="260649"/>
            <a:ext cx="11328600" cy="936104"/>
          </a:xfrm>
        </p:spPr>
        <p:txBody>
          <a:bodyPr/>
          <a:lstStyle>
            <a:lvl1pPr>
              <a:defRPr>
                <a:solidFill>
                  <a:schemeClr val="bg1"/>
                </a:solidFill>
              </a:defRPr>
            </a:lvl1pPr>
          </a:lstStyle>
          <a:p>
            <a:r>
              <a:rPr lang="fr-FR"/>
              <a:t>Titre de la slide</a:t>
            </a:r>
          </a:p>
        </p:txBody>
      </p:sp>
      <p:sp>
        <p:nvSpPr>
          <p:cNvPr id="3" name="Espace réservé de la date 2">
            <a:extLst>
              <a:ext uri="{FF2B5EF4-FFF2-40B4-BE49-F238E27FC236}">
                <a16:creationId xmlns:a16="http://schemas.microsoft.com/office/drawing/2014/main" id="{3E3A2A7D-94B2-4000-7A18-5383C580A39A}"/>
              </a:ext>
            </a:extLst>
          </p:cNvPr>
          <p:cNvSpPr>
            <a:spLocks noGrp="1"/>
          </p:cNvSpPr>
          <p:nvPr>
            <p:ph type="dt" sz="half" idx="10"/>
          </p:nvPr>
        </p:nvSpPr>
        <p:spPr bwMode="gray"/>
        <p:txBody>
          <a:bodyPr/>
          <a:lstStyle/>
          <a:p>
            <a:fld id="{2D9DC97B-3A38-48C4-B5CE-98105F8CF25F}" type="datetimeFigureOut">
              <a:rPr lang="fr-FR" smtClean="0"/>
              <a:t>12/01/2026</a:t>
            </a:fld>
            <a:endParaRPr lang="fr-FR"/>
          </a:p>
        </p:txBody>
      </p:sp>
      <p:sp>
        <p:nvSpPr>
          <p:cNvPr id="4" name="Espace réservé du pied de page 3">
            <a:extLst>
              <a:ext uri="{FF2B5EF4-FFF2-40B4-BE49-F238E27FC236}">
                <a16:creationId xmlns:a16="http://schemas.microsoft.com/office/drawing/2014/main" id="{485001E6-F1D1-4B2D-A478-BC196E79C535}"/>
              </a:ext>
            </a:extLst>
          </p:cNvPr>
          <p:cNvSpPr>
            <a:spLocks noGrp="1"/>
          </p:cNvSpPr>
          <p:nvPr>
            <p:ph type="ftr" sz="quarter" idx="11"/>
          </p:nvPr>
        </p:nvSpPr>
        <p:spPr bwMode="gray"/>
        <p:txBody>
          <a:bodyPr/>
          <a:lstStyle/>
          <a:p>
            <a:endParaRPr lang="fr-FR"/>
          </a:p>
        </p:txBody>
      </p:sp>
      <p:sp>
        <p:nvSpPr>
          <p:cNvPr id="5" name="Espace réservé du numéro de diapositive 4">
            <a:extLst>
              <a:ext uri="{FF2B5EF4-FFF2-40B4-BE49-F238E27FC236}">
                <a16:creationId xmlns:a16="http://schemas.microsoft.com/office/drawing/2014/main" id="{AA5C0B86-4552-788D-2700-801B554C6892}"/>
              </a:ext>
            </a:extLst>
          </p:cNvPr>
          <p:cNvSpPr>
            <a:spLocks noGrp="1"/>
          </p:cNvSpPr>
          <p:nvPr>
            <p:ph type="sldNum" sz="quarter" idx="12"/>
          </p:nvPr>
        </p:nvSpPr>
        <p:spPr bwMode="gray"/>
        <p:txBody>
          <a:bodyPr/>
          <a:lstStyle/>
          <a:p>
            <a:fld id="{47836B8D-228F-4EE0-A684-33707F12BC77}" type="slidenum">
              <a:rPr lang="fr-FR" smtClean="0"/>
              <a:t>‹N°›</a:t>
            </a:fld>
            <a:endParaRPr lang="fr-FR"/>
          </a:p>
        </p:txBody>
      </p:sp>
      <p:sp>
        <p:nvSpPr>
          <p:cNvPr id="12" name="Espace réservé du texte 11">
            <a:extLst>
              <a:ext uri="{FF2B5EF4-FFF2-40B4-BE49-F238E27FC236}">
                <a16:creationId xmlns:a16="http://schemas.microsoft.com/office/drawing/2014/main" id="{2E492F8A-814F-60F9-7ED8-EE0E51CB0D3E}"/>
              </a:ext>
            </a:extLst>
          </p:cNvPr>
          <p:cNvSpPr>
            <a:spLocks noGrp="1"/>
          </p:cNvSpPr>
          <p:nvPr>
            <p:ph type="body" sz="quarter" idx="14" hasCustomPrompt="1"/>
          </p:nvPr>
        </p:nvSpPr>
        <p:spPr bwMode="gray">
          <a:xfrm>
            <a:off x="7104112" y="1988841"/>
            <a:ext cx="4782488" cy="3564396"/>
          </a:xfrm>
        </p:spPr>
        <p:txBody>
          <a:bodyPr/>
          <a:lstStyle>
            <a:lvl1pPr marL="0" indent="0">
              <a:spcAft>
                <a:spcPts val="1000"/>
              </a:spcAft>
              <a:buNone/>
              <a:defRPr sz="4100">
                <a:solidFill>
                  <a:schemeClr val="bg1"/>
                </a:solidFill>
                <a:latin typeface="+mj-lt"/>
              </a:defRPr>
            </a:lvl1pPr>
            <a:lvl2pPr marL="0" indent="0">
              <a:spcAft>
                <a:spcPts val="0"/>
              </a:spcAft>
              <a:buNone/>
              <a:defRPr sz="2200">
                <a:solidFill>
                  <a:schemeClr val="bg1"/>
                </a:solidFill>
              </a:defRPr>
            </a:lvl2pPr>
          </a:lstStyle>
          <a:p>
            <a:pPr lvl="0"/>
            <a:r>
              <a:rPr lang="fr-FR"/>
              <a:t>Grand texte</a:t>
            </a:r>
          </a:p>
          <a:p>
            <a:pPr lvl="1"/>
            <a:r>
              <a:rPr lang="fr-FR"/>
              <a:t>Texte</a:t>
            </a:r>
          </a:p>
        </p:txBody>
      </p:sp>
      <p:pic>
        <p:nvPicPr>
          <p:cNvPr id="6" name="Image 5" descr="Une image contenant Police, Graphique, capture d’écran, logo&#10;&#10;Description générée automatiquement">
            <a:extLst>
              <a:ext uri="{FF2B5EF4-FFF2-40B4-BE49-F238E27FC236}">
                <a16:creationId xmlns:a16="http://schemas.microsoft.com/office/drawing/2014/main" id="{2E7FDE21-772E-D182-AE3E-3BD0DA59E506}"/>
              </a:ext>
            </a:extLst>
          </p:cNvPr>
          <p:cNvPicPr>
            <a:picLocks noChangeAspect="1"/>
          </p:cNvPicPr>
          <p:nvPr/>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22090751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2">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p:cSld name="Icono+pdp">
    <p:spTree>
      <p:nvGrpSpPr>
        <p:cNvPr id="1" name=""/>
        <p:cNvGrpSpPr/>
        <p:nvPr/>
      </p:nvGrpSpPr>
      <p:grpSpPr>
        <a:xfrm>
          <a:off x="0" y="0"/>
          <a:ext cx="0" cy="0"/>
          <a:chOff x="0" y="0"/>
          <a:chExt cx="0" cy="0"/>
        </a:xfrm>
      </p:grpSpPr>
      <p:sp>
        <p:nvSpPr>
          <p:cNvPr id="7" name="Espace réservé pour une image  9">
            <a:extLst>
              <a:ext uri="{FF2B5EF4-FFF2-40B4-BE49-F238E27FC236}">
                <a16:creationId xmlns:a16="http://schemas.microsoft.com/office/drawing/2014/main" id="{03FC3FCD-6259-8CF0-0325-AC584663A8BE}"/>
              </a:ext>
            </a:extLst>
          </p:cNvPr>
          <p:cNvSpPr>
            <a:spLocks noGrp="1"/>
          </p:cNvSpPr>
          <p:nvPr>
            <p:ph type="pic" sz="quarter" idx="16" hasCustomPrompt="1"/>
          </p:nvPr>
        </p:nvSpPr>
        <p:spPr bwMode="gray">
          <a:xfrm>
            <a:off x="0" y="0"/>
            <a:ext cx="12192000" cy="6858000"/>
          </a:xfrm>
          <a:prstGeom prst="rect">
            <a:avLst/>
          </a:prstGeom>
          <a:solidFill>
            <a:schemeClr val="bg1">
              <a:lumMod val="85000"/>
            </a:schemeClr>
          </a:solidFill>
        </p:spPr>
        <p:txBody>
          <a:bodyPr wrap="square" tIns="1260000" anchor="ctr" anchorCtr="0">
            <a:noAutofit/>
          </a:bodyPr>
          <a:lstStyle>
            <a:lvl1pPr marL="0" marR="0" indent="0" algn="ctr" defTabSz="1219170" rtl="0" eaLnBrk="1" fontAlgn="auto" latinLnBrk="0" hangingPunct="1">
              <a:lnSpc>
                <a:spcPct val="100000"/>
              </a:lnSpc>
              <a:spcBef>
                <a:spcPts val="0"/>
              </a:spcBef>
              <a:spcAft>
                <a:spcPts val="0"/>
              </a:spcAft>
              <a:buClrTx/>
              <a:buSzTx/>
              <a:buFont typeface="Arial" pitchFamily="34" charset="0"/>
              <a:buNone/>
              <a:tabLst/>
              <a:defRPr sz="1000">
                <a:solidFill>
                  <a:schemeClr val="tx1"/>
                </a:solidFill>
                <a:latin typeface="+mj-lt"/>
              </a:defRPr>
            </a:lvl1pPr>
          </a:lstStyle>
          <a:p>
            <a:r>
              <a:rPr lang="fr-FR" noProof="0"/>
              <a:t>Sélectionner l’icône pour insérer une image, </a:t>
            </a:r>
            <a:br>
              <a:rPr lang="fr-FR" noProof="0"/>
            </a:br>
            <a:r>
              <a:rPr lang="fr-FR" noProof="0"/>
              <a:t>puis disposer l’image en arrière plan </a:t>
            </a:r>
            <a:br>
              <a:rPr lang="fr-FR" noProof="0"/>
            </a:br>
            <a:r>
              <a:rPr lang="fr-FR" noProof="0"/>
              <a:t>(Sélectionner l’image avec le bouton droit de la souris / </a:t>
            </a:r>
            <a:br>
              <a:rPr lang="fr-FR" noProof="0"/>
            </a:br>
            <a:r>
              <a:rPr lang="fr-FR" noProof="0"/>
              <a:t>Mettre à l’arrière plan)</a:t>
            </a:r>
          </a:p>
        </p:txBody>
      </p:sp>
      <p:sp>
        <p:nvSpPr>
          <p:cNvPr id="8" name="Espace réservé du texte 7">
            <a:extLst>
              <a:ext uri="{FF2B5EF4-FFF2-40B4-BE49-F238E27FC236}">
                <a16:creationId xmlns:a16="http://schemas.microsoft.com/office/drawing/2014/main" id="{BF93BEA0-5CBA-B7C1-5B19-5B58574329EE}"/>
              </a:ext>
            </a:extLst>
          </p:cNvPr>
          <p:cNvSpPr>
            <a:spLocks noGrp="1"/>
          </p:cNvSpPr>
          <p:nvPr>
            <p:ph type="body" sz="quarter" idx="15"/>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p:spPr>
        <p:txBody>
          <a:bodyPr wrap="square" anchor="ctr" anchorCtr="0">
            <a:noAutofit/>
          </a:bodyPr>
          <a:lstStyle>
            <a:lvl1pPr marL="0" indent="0" algn="ctr">
              <a:buNone/>
              <a:defRPr sz="100">
                <a:solidFill>
                  <a:schemeClr val="tx2">
                    <a:alpha val="0"/>
                  </a:schemeClr>
                </a:solidFill>
              </a:defRPr>
            </a:lvl1pPr>
            <a:lvl2pPr marL="0" indent="0" algn="ctr">
              <a:buNone/>
              <a:defRPr sz="100">
                <a:solidFill>
                  <a:schemeClr val="tx2">
                    <a:alpha val="0"/>
                  </a:schemeClr>
                </a:solidFill>
              </a:defRPr>
            </a:lvl2pPr>
            <a:lvl3pPr marL="0" indent="0" algn="ctr">
              <a:buNone/>
              <a:defRPr sz="100">
                <a:solidFill>
                  <a:schemeClr val="tx2">
                    <a:alpha val="0"/>
                  </a:schemeClr>
                </a:solidFill>
              </a:defRPr>
            </a:lvl3pPr>
            <a:lvl4pPr marL="0" indent="0" algn="ctr">
              <a:buNone/>
              <a:defRPr sz="100">
                <a:solidFill>
                  <a:schemeClr val="tx2">
                    <a:alpha val="0"/>
                  </a:schemeClr>
                </a:solidFill>
              </a:defRPr>
            </a:lvl4pPr>
            <a:lvl5pPr marL="0" indent="0" algn="ctr">
              <a:buFont typeface="Arial" panose="020B0604020202020204" pitchFamily="34" charset="0"/>
              <a:buNone/>
              <a:defRPr sz="100">
                <a:solidFill>
                  <a:schemeClr val="tx2">
                    <a:alpha val="0"/>
                  </a:schemeClr>
                </a:solidFill>
              </a:defRPr>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2" name="Titre 1">
            <a:extLst>
              <a:ext uri="{FF2B5EF4-FFF2-40B4-BE49-F238E27FC236}">
                <a16:creationId xmlns:a16="http://schemas.microsoft.com/office/drawing/2014/main" id="{799187D8-5E9F-168C-2740-6D7C8A427367}"/>
              </a:ext>
            </a:extLst>
          </p:cNvPr>
          <p:cNvSpPr>
            <a:spLocks noGrp="1"/>
          </p:cNvSpPr>
          <p:nvPr>
            <p:ph type="title" hasCustomPrompt="1"/>
          </p:nvPr>
        </p:nvSpPr>
        <p:spPr bwMode="gray">
          <a:xfrm>
            <a:off x="558000" y="260649"/>
            <a:ext cx="11329200" cy="936104"/>
          </a:xfrm>
        </p:spPr>
        <p:txBody>
          <a:bodyPr/>
          <a:lstStyle>
            <a:lvl1pPr>
              <a:defRPr>
                <a:solidFill>
                  <a:schemeClr val="bg1"/>
                </a:solidFill>
              </a:defRPr>
            </a:lvl1pPr>
          </a:lstStyle>
          <a:p>
            <a:r>
              <a:rPr lang="fr-FR"/>
              <a:t>Titre de la slide</a:t>
            </a:r>
          </a:p>
        </p:txBody>
      </p:sp>
      <p:sp>
        <p:nvSpPr>
          <p:cNvPr id="3" name="Espace réservé de la date 2">
            <a:extLst>
              <a:ext uri="{FF2B5EF4-FFF2-40B4-BE49-F238E27FC236}">
                <a16:creationId xmlns:a16="http://schemas.microsoft.com/office/drawing/2014/main" id="{3E3A2A7D-94B2-4000-7A18-5383C580A39A}"/>
              </a:ext>
            </a:extLst>
          </p:cNvPr>
          <p:cNvSpPr>
            <a:spLocks noGrp="1"/>
          </p:cNvSpPr>
          <p:nvPr>
            <p:ph type="dt" sz="half" idx="10"/>
          </p:nvPr>
        </p:nvSpPr>
        <p:spPr bwMode="gray"/>
        <p:txBody>
          <a:bodyPr/>
          <a:lstStyle/>
          <a:p>
            <a:fld id="{2D9DC97B-3A38-48C4-B5CE-98105F8CF25F}" type="datetimeFigureOut">
              <a:rPr lang="fr-FR" smtClean="0"/>
              <a:t>12/01/2026</a:t>
            </a:fld>
            <a:endParaRPr lang="fr-FR"/>
          </a:p>
        </p:txBody>
      </p:sp>
      <p:sp>
        <p:nvSpPr>
          <p:cNvPr id="4" name="Espace réservé du pied de page 3">
            <a:extLst>
              <a:ext uri="{FF2B5EF4-FFF2-40B4-BE49-F238E27FC236}">
                <a16:creationId xmlns:a16="http://schemas.microsoft.com/office/drawing/2014/main" id="{485001E6-F1D1-4B2D-A478-BC196E79C535}"/>
              </a:ext>
            </a:extLst>
          </p:cNvPr>
          <p:cNvSpPr>
            <a:spLocks noGrp="1"/>
          </p:cNvSpPr>
          <p:nvPr>
            <p:ph type="ftr" sz="quarter" idx="11"/>
          </p:nvPr>
        </p:nvSpPr>
        <p:spPr bwMode="gray"/>
        <p:txBody>
          <a:bodyPr/>
          <a:lstStyle/>
          <a:p>
            <a:endParaRPr lang="fr-FR"/>
          </a:p>
        </p:txBody>
      </p:sp>
      <p:sp>
        <p:nvSpPr>
          <p:cNvPr id="5" name="Espace réservé du numéro de diapositive 4">
            <a:extLst>
              <a:ext uri="{FF2B5EF4-FFF2-40B4-BE49-F238E27FC236}">
                <a16:creationId xmlns:a16="http://schemas.microsoft.com/office/drawing/2014/main" id="{AA5C0B86-4552-788D-2700-801B554C6892}"/>
              </a:ext>
            </a:extLst>
          </p:cNvPr>
          <p:cNvSpPr>
            <a:spLocks noGrp="1"/>
          </p:cNvSpPr>
          <p:nvPr>
            <p:ph type="sldNum" sz="quarter" idx="12"/>
          </p:nvPr>
        </p:nvSpPr>
        <p:spPr bwMode="gray"/>
        <p:txBody>
          <a:bodyPr/>
          <a:lstStyle/>
          <a:p>
            <a:fld id="{47836B8D-228F-4EE0-A684-33707F12BC77}" type="slidenum">
              <a:rPr lang="fr-FR" smtClean="0"/>
              <a:t>‹N°›</a:t>
            </a:fld>
            <a:endParaRPr lang="fr-FR"/>
          </a:p>
        </p:txBody>
      </p:sp>
      <p:pic>
        <p:nvPicPr>
          <p:cNvPr id="11" name="Image 10" descr="Une image contenant Police, Graphique, capture d’écran, logo&#10;&#10;Description générée automatiquement">
            <a:extLst>
              <a:ext uri="{FF2B5EF4-FFF2-40B4-BE49-F238E27FC236}">
                <a16:creationId xmlns:a16="http://schemas.microsoft.com/office/drawing/2014/main" id="{2CC70BEE-6D97-01AD-AFE0-09BE402DF639}"/>
              </a:ext>
            </a:extLst>
          </p:cNvPr>
          <p:cNvPicPr>
            <a:picLocks noChangeAspect="1"/>
          </p:cNvPicPr>
          <p:nvPr/>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198822760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p:cSld name="Icono_diptyque">
    <p:spTree>
      <p:nvGrpSpPr>
        <p:cNvPr id="1" name=""/>
        <p:cNvGrpSpPr/>
        <p:nvPr/>
      </p:nvGrpSpPr>
      <p:grpSpPr>
        <a:xfrm>
          <a:off x="0" y="0"/>
          <a:ext cx="0" cy="0"/>
          <a:chOff x="0" y="0"/>
          <a:chExt cx="0" cy="0"/>
        </a:xfrm>
      </p:grpSpPr>
      <p:sp>
        <p:nvSpPr>
          <p:cNvPr id="16" name="Espace réservé pour une image  15">
            <a:extLst>
              <a:ext uri="{FF2B5EF4-FFF2-40B4-BE49-F238E27FC236}">
                <a16:creationId xmlns:a16="http://schemas.microsoft.com/office/drawing/2014/main" id="{48DA8DCB-B4DC-D390-F1C0-BFDD565F8F09}"/>
              </a:ext>
            </a:extLst>
          </p:cNvPr>
          <p:cNvSpPr>
            <a:spLocks noGrp="1"/>
          </p:cNvSpPr>
          <p:nvPr>
            <p:ph type="pic" sz="quarter" idx="16" hasCustomPrompt="1"/>
          </p:nvPr>
        </p:nvSpPr>
        <p:spPr bwMode="gray">
          <a:xfrm>
            <a:off x="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096000" h="6858000">
                <a:moveTo>
                  <a:pt x="0" y="0"/>
                </a:moveTo>
                <a:lnTo>
                  <a:pt x="6096000" y="0"/>
                </a:lnTo>
                <a:lnTo>
                  <a:pt x="6096000" y="6858000"/>
                </a:lnTo>
                <a:lnTo>
                  <a:pt x="0" y="6858000"/>
                </a:lnTo>
                <a:close/>
              </a:path>
            </a:pathLst>
          </a:custGeom>
          <a:solidFill>
            <a:schemeClr val="bg1">
              <a:lumMod val="85000"/>
            </a:schemeClr>
          </a:solidFill>
        </p:spPr>
        <p:txBody>
          <a:bodyPr wrap="square" tIns="1260000" anchor="ctr" anchorCtr="0">
            <a:noAutofit/>
          </a:bodyPr>
          <a:lstStyle>
            <a:lvl1pPr marL="0" marR="0" indent="0" algn="ctr" defTabSz="1219170" rtl="0" eaLnBrk="1" fontAlgn="auto" latinLnBrk="0" hangingPunct="1">
              <a:lnSpc>
                <a:spcPct val="100000"/>
              </a:lnSpc>
              <a:spcBef>
                <a:spcPts val="0"/>
              </a:spcBef>
              <a:spcAft>
                <a:spcPts val="0"/>
              </a:spcAft>
              <a:buClrTx/>
              <a:buSzTx/>
              <a:buFont typeface="Arial" pitchFamily="34" charset="0"/>
              <a:buNone/>
              <a:tabLst/>
              <a:defRPr sz="1000">
                <a:solidFill>
                  <a:schemeClr val="tx1"/>
                </a:solidFill>
                <a:latin typeface="+mj-lt"/>
              </a:defRPr>
            </a:lvl1pPr>
          </a:lstStyle>
          <a:p>
            <a:r>
              <a:rPr lang="fr-FR" noProof="0"/>
              <a:t>Sélectionner l’icône pour insérer une image, </a:t>
            </a:r>
            <a:br>
              <a:rPr lang="fr-FR" noProof="0"/>
            </a:br>
            <a:r>
              <a:rPr lang="fr-FR" noProof="0"/>
              <a:t>puis disposer l’image en arrière plan </a:t>
            </a:r>
            <a:br>
              <a:rPr lang="fr-FR" noProof="0"/>
            </a:br>
            <a:r>
              <a:rPr lang="fr-FR" noProof="0"/>
              <a:t>(Sélectionner l’image avec le bouton droit de la souris / </a:t>
            </a:r>
            <a:br>
              <a:rPr lang="fr-FR" noProof="0"/>
            </a:br>
            <a:r>
              <a:rPr lang="fr-FR" noProof="0"/>
              <a:t>Mettre à l’arrière plan)</a:t>
            </a:r>
          </a:p>
        </p:txBody>
      </p:sp>
      <p:sp>
        <p:nvSpPr>
          <p:cNvPr id="13" name="Espace réservé du texte 12">
            <a:extLst>
              <a:ext uri="{FF2B5EF4-FFF2-40B4-BE49-F238E27FC236}">
                <a16:creationId xmlns:a16="http://schemas.microsoft.com/office/drawing/2014/main" id="{344218FA-C444-C2CC-529A-54565BC79200}"/>
              </a:ext>
            </a:extLst>
          </p:cNvPr>
          <p:cNvSpPr>
            <a:spLocks noGrp="1"/>
          </p:cNvSpPr>
          <p:nvPr>
            <p:ph type="body" sz="quarter" idx="15"/>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p:spPr>
        <p:txBody>
          <a:bodyPr wrap="square" anchor="ctr" anchorCtr="0">
            <a:noAutofit/>
          </a:bodyPr>
          <a:lstStyle>
            <a:lvl1pPr marL="0" indent="0" algn="ctr">
              <a:buNone/>
              <a:defRPr sz="100">
                <a:solidFill>
                  <a:schemeClr val="tx2">
                    <a:alpha val="0"/>
                  </a:schemeClr>
                </a:solidFill>
              </a:defRPr>
            </a:lvl1pPr>
            <a:lvl2pPr marL="0" indent="0" algn="ctr">
              <a:buNone/>
              <a:defRPr sz="100">
                <a:solidFill>
                  <a:schemeClr val="tx2">
                    <a:alpha val="0"/>
                  </a:schemeClr>
                </a:solidFill>
              </a:defRPr>
            </a:lvl2pPr>
            <a:lvl3pPr marL="0" indent="0" algn="ctr">
              <a:buNone/>
              <a:defRPr sz="100">
                <a:solidFill>
                  <a:schemeClr val="tx2">
                    <a:alpha val="0"/>
                  </a:schemeClr>
                </a:solidFill>
              </a:defRPr>
            </a:lvl3pPr>
            <a:lvl4pPr marL="0" indent="0" algn="ctr">
              <a:buNone/>
              <a:defRPr sz="100">
                <a:solidFill>
                  <a:schemeClr val="tx2">
                    <a:alpha val="0"/>
                  </a:schemeClr>
                </a:solidFill>
              </a:defRPr>
            </a:lvl4pPr>
            <a:lvl5pPr marL="0" indent="0" algn="ctr">
              <a:buFont typeface="Arial" panose="020B0604020202020204" pitchFamily="34" charset="0"/>
              <a:buNone/>
              <a:defRPr sz="100">
                <a:solidFill>
                  <a:schemeClr val="tx2">
                    <a:alpha val="0"/>
                  </a:schemeClr>
                </a:solidFill>
              </a:defRPr>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2" name="Titre 1">
            <a:extLst>
              <a:ext uri="{FF2B5EF4-FFF2-40B4-BE49-F238E27FC236}">
                <a16:creationId xmlns:a16="http://schemas.microsoft.com/office/drawing/2014/main" id="{799187D8-5E9F-168C-2740-6D7C8A427367}"/>
              </a:ext>
            </a:extLst>
          </p:cNvPr>
          <p:cNvSpPr>
            <a:spLocks noGrp="1"/>
          </p:cNvSpPr>
          <p:nvPr>
            <p:ph type="title" hasCustomPrompt="1"/>
          </p:nvPr>
        </p:nvSpPr>
        <p:spPr bwMode="gray">
          <a:xfrm>
            <a:off x="558000" y="260649"/>
            <a:ext cx="4935000" cy="936104"/>
          </a:xfrm>
        </p:spPr>
        <p:txBody>
          <a:bodyPr/>
          <a:lstStyle>
            <a:lvl1pPr>
              <a:defRPr>
                <a:solidFill>
                  <a:schemeClr val="bg1"/>
                </a:solidFill>
              </a:defRPr>
            </a:lvl1pPr>
          </a:lstStyle>
          <a:p>
            <a:r>
              <a:rPr lang="fr-FR"/>
              <a:t>Titre de la slide</a:t>
            </a:r>
          </a:p>
        </p:txBody>
      </p:sp>
      <p:sp>
        <p:nvSpPr>
          <p:cNvPr id="3" name="Espace réservé de la date 2">
            <a:extLst>
              <a:ext uri="{FF2B5EF4-FFF2-40B4-BE49-F238E27FC236}">
                <a16:creationId xmlns:a16="http://schemas.microsoft.com/office/drawing/2014/main" id="{3E3A2A7D-94B2-4000-7A18-5383C580A39A}"/>
              </a:ext>
            </a:extLst>
          </p:cNvPr>
          <p:cNvSpPr>
            <a:spLocks noGrp="1"/>
          </p:cNvSpPr>
          <p:nvPr>
            <p:ph type="dt" sz="half" idx="10"/>
          </p:nvPr>
        </p:nvSpPr>
        <p:spPr bwMode="gray"/>
        <p:txBody>
          <a:bodyPr/>
          <a:lstStyle/>
          <a:p>
            <a:fld id="{2D9DC97B-3A38-48C4-B5CE-98105F8CF25F}" type="datetimeFigureOut">
              <a:rPr lang="fr-FR" smtClean="0"/>
              <a:t>12/01/2026</a:t>
            </a:fld>
            <a:endParaRPr lang="fr-FR"/>
          </a:p>
        </p:txBody>
      </p:sp>
      <p:sp>
        <p:nvSpPr>
          <p:cNvPr id="4" name="Espace réservé du pied de page 3">
            <a:extLst>
              <a:ext uri="{FF2B5EF4-FFF2-40B4-BE49-F238E27FC236}">
                <a16:creationId xmlns:a16="http://schemas.microsoft.com/office/drawing/2014/main" id="{485001E6-F1D1-4B2D-A478-BC196E79C535}"/>
              </a:ext>
            </a:extLst>
          </p:cNvPr>
          <p:cNvSpPr>
            <a:spLocks noGrp="1"/>
          </p:cNvSpPr>
          <p:nvPr>
            <p:ph type="ftr" sz="quarter" idx="11"/>
          </p:nvPr>
        </p:nvSpPr>
        <p:spPr bwMode="gray"/>
        <p:txBody>
          <a:bodyPr/>
          <a:lstStyle/>
          <a:p>
            <a:endParaRPr lang="fr-FR"/>
          </a:p>
        </p:txBody>
      </p:sp>
      <p:sp>
        <p:nvSpPr>
          <p:cNvPr id="5" name="Espace réservé du numéro de diapositive 4">
            <a:extLst>
              <a:ext uri="{FF2B5EF4-FFF2-40B4-BE49-F238E27FC236}">
                <a16:creationId xmlns:a16="http://schemas.microsoft.com/office/drawing/2014/main" id="{AA5C0B86-4552-788D-2700-801B554C6892}"/>
              </a:ext>
            </a:extLst>
          </p:cNvPr>
          <p:cNvSpPr>
            <a:spLocks noGrp="1"/>
          </p:cNvSpPr>
          <p:nvPr>
            <p:ph type="sldNum" sz="quarter" idx="12"/>
          </p:nvPr>
        </p:nvSpPr>
        <p:spPr bwMode="gray"/>
        <p:txBody>
          <a:bodyPr/>
          <a:lstStyle/>
          <a:p>
            <a:fld id="{47836B8D-228F-4EE0-A684-33707F12BC77}" type="slidenum">
              <a:rPr lang="fr-FR" smtClean="0"/>
              <a:t>‹N°›</a:t>
            </a:fld>
            <a:endParaRPr lang="fr-FR"/>
          </a:p>
        </p:txBody>
      </p:sp>
      <p:sp>
        <p:nvSpPr>
          <p:cNvPr id="12" name="Espace réservé du texte 11">
            <a:extLst>
              <a:ext uri="{FF2B5EF4-FFF2-40B4-BE49-F238E27FC236}">
                <a16:creationId xmlns:a16="http://schemas.microsoft.com/office/drawing/2014/main" id="{2E492F8A-814F-60F9-7ED8-EE0E51CB0D3E}"/>
              </a:ext>
            </a:extLst>
          </p:cNvPr>
          <p:cNvSpPr>
            <a:spLocks noGrp="1"/>
          </p:cNvSpPr>
          <p:nvPr>
            <p:ph type="body" sz="quarter" idx="14" hasCustomPrompt="1"/>
          </p:nvPr>
        </p:nvSpPr>
        <p:spPr bwMode="gray">
          <a:xfrm>
            <a:off x="6492044" y="1425090"/>
            <a:ext cx="5394556" cy="4500499"/>
          </a:xfrm>
        </p:spPr>
        <p:txBody>
          <a:bodyPr/>
          <a:lstStyle>
            <a:lvl1pPr marL="0" indent="0">
              <a:lnSpc>
                <a:spcPct val="105000"/>
              </a:lnSpc>
              <a:spcAft>
                <a:spcPts val="2000"/>
              </a:spcAft>
              <a:buNone/>
              <a:tabLst>
                <a:tab pos="360363" algn="l"/>
              </a:tabLst>
              <a:defRPr sz="2200">
                <a:solidFill>
                  <a:schemeClr val="tx2"/>
                </a:solidFill>
                <a:latin typeface="+mn-lt"/>
              </a:defRPr>
            </a:lvl1pPr>
            <a:lvl2pPr marL="563563" indent="0">
              <a:lnSpc>
                <a:spcPct val="105000"/>
              </a:lnSpc>
              <a:spcAft>
                <a:spcPts val="2000"/>
              </a:spcAft>
              <a:buNone/>
              <a:defRPr sz="1800">
                <a:solidFill>
                  <a:schemeClr val="tx2"/>
                </a:solidFill>
              </a:defRPr>
            </a:lvl2pPr>
          </a:lstStyle>
          <a:p>
            <a:pPr lvl="0"/>
            <a:r>
              <a:rPr lang="fr-FR"/>
              <a:t>Grand texte</a:t>
            </a:r>
          </a:p>
          <a:p>
            <a:pPr lvl="1"/>
            <a:r>
              <a:rPr lang="fr-FR"/>
              <a:t>Texte</a:t>
            </a:r>
          </a:p>
        </p:txBody>
      </p:sp>
      <p:pic>
        <p:nvPicPr>
          <p:cNvPr id="6" name="Image 5" descr="Une image contenant Police, Graphique, capture d’écran, logo&#10;&#10;Description générée automatiquement">
            <a:extLst>
              <a:ext uri="{FF2B5EF4-FFF2-40B4-BE49-F238E27FC236}">
                <a16:creationId xmlns:a16="http://schemas.microsoft.com/office/drawing/2014/main" id="{C2C867AB-2B8F-9DC3-77DC-7347188E1398}"/>
              </a:ext>
            </a:extLst>
          </p:cNvPr>
          <p:cNvPicPr>
            <a:picLocks noChangeAspect="1"/>
          </p:cNvPicPr>
          <p:nvPr/>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33765617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p:cSld name="Icono_zone_texte">
    <p:spTree>
      <p:nvGrpSpPr>
        <p:cNvPr id="1" name=""/>
        <p:cNvGrpSpPr/>
        <p:nvPr/>
      </p:nvGrpSpPr>
      <p:grpSpPr>
        <a:xfrm>
          <a:off x="0" y="0"/>
          <a:ext cx="0" cy="0"/>
          <a:chOff x="0" y="0"/>
          <a:chExt cx="0" cy="0"/>
        </a:xfrm>
      </p:grpSpPr>
      <p:sp>
        <p:nvSpPr>
          <p:cNvPr id="7" name="Espace réservé pour une image  9">
            <a:extLst>
              <a:ext uri="{FF2B5EF4-FFF2-40B4-BE49-F238E27FC236}">
                <a16:creationId xmlns:a16="http://schemas.microsoft.com/office/drawing/2014/main" id="{C7091DF0-ACB0-B27E-1C8E-40A55CE54A03}"/>
              </a:ext>
            </a:extLst>
          </p:cNvPr>
          <p:cNvSpPr>
            <a:spLocks noGrp="1"/>
          </p:cNvSpPr>
          <p:nvPr>
            <p:ph type="pic" sz="quarter" idx="16" hasCustomPrompt="1"/>
          </p:nvPr>
        </p:nvSpPr>
        <p:spPr bwMode="gray">
          <a:xfrm>
            <a:off x="0" y="0"/>
            <a:ext cx="12192000" cy="6858000"/>
          </a:xfrm>
          <a:prstGeom prst="rect">
            <a:avLst/>
          </a:prstGeom>
          <a:solidFill>
            <a:schemeClr val="bg1">
              <a:lumMod val="85000"/>
            </a:schemeClr>
          </a:solidFill>
        </p:spPr>
        <p:txBody>
          <a:bodyPr wrap="square" tIns="1260000" anchor="ctr" anchorCtr="0">
            <a:noAutofit/>
          </a:bodyPr>
          <a:lstStyle>
            <a:lvl1pPr marL="0" marR="0" indent="0" algn="ctr" defTabSz="1219170" rtl="0" eaLnBrk="1" fontAlgn="auto" latinLnBrk="0" hangingPunct="1">
              <a:lnSpc>
                <a:spcPct val="100000"/>
              </a:lnSpc>
              <a:spcBef>
                <a:spcPts val="0"/>
              </a:spcBef>
              <a:spcAft>
                <a:spcPts val="0"/>
              </a:spcAft>
              <a:buClrTx/>
              <a:buSzTx/>
              <a:buFont typeface="Arial" pitchFamily="34" charset="0"/>
              <a:buNone/>
              <a:tabLst/>
              <a:defRPr sz="1000">
                <a:solidFill>
                  <a:schemeClr val="tx1"/>
                </a:solidFill>
                <a:latin typeface="+mj-lt"/>
              </a:defRPr>
            </a:lvl1pPr>
          </a:lstStyle>
          <a:p>
            <a:r>
              <a:rPr lang="fr-FR" noProof="0"/>
              <a:t>Sélectionner l’icône pour insérer une image, </a:t>
            </a:r>
            <a:br>
              <a:rPr lang="fr-FR" noProof="0"/>
            </a:br>
            <a:r>
              <a:rPr lang="fr-FR" noProof="0"/>
              <a:t>puis disposer l’image en arrière plan </a:t>
            </a:r>
            <a:br>
              <a:rPr lang="fr-FR" noProof="0"/>
            </a:br>
            <a:r>
              <a:rPr lang="fr-FR" noProof="0"/>
              <a:t>(Sélectionner l’image avec le bouton droit de la souris / </a:t>
            </a:r>
            <a:br>
              <a:rPr lang="fr-FR" noProof="0"/>
            </a:br>
            <a:r>
              <a:rPr lang="fr-FR" noProof="0"/>
              <a:t>Mettre à l’arrière plan)</a:t>
            </a:r>
          </a:p>
        </p:txBody>
      </p:sp>
      <p:sp>
        <p:nvSpPr>
          <p:cNvPr id="8" name="Espace réservé du texte 7">
            <a:extLst>
              <a:ext uri="{FF2B5EF4-FFF2-40B4-BE49-F238E27FC236}">
                <a16:creationId xmlns:a16="http://schemas.microsoft.com/office/drawing/2014/main" id="{86F98224-828C-6EA3-CF35-619F353D6923}"/>
              </a:ext>
            </a:extLst>
          </p:cNvPr>
          <p:cNvSpPr>
            <a:spLocks noGrp="1"/>
          </p:cNvSpPr>
          <p:nvPr>
            <p:ph type="body" sz="quarter" idx="15"/>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p:spPr>
        <p:txBody>
          <a:bodyPr wrap="square" anchor="ctr" anchorCtr="0">
            <a:noAutofit/>
          </a:bodyPr>
          <a:lstStyle>
            <a:lvl1pPr marL="0" indent="0" algn="ctr">
              <a:buNone/>
              <a:defRPr sz="100">
                <a:solidFill>
                  <a:schemeClr val="tx2">
                    <a:alpha val="0"/>
                  </a:schemeClr>
                </a:solidFill>
              </a:defRPr>
            </a:lvl1pPr>
            <a:lvl2pPr marL="0" indent="0" algn="ctr">
              <a:buNone/>
              <a:defRPr sz="100">
                <a:solidFill>
                  <a:schemeClr val="tx2">
                    <a:alpha val="0"/>
                  </a:schemeClr>
                </a:solidFill>
              </a:defRPr>
            </a:lvl2pPr>
            <a:lvl3pPr marL="0" indent="0" algn="ctr">
              <a:buNone/>
              <a:defRPr sz="100">
                <a:solidFill>
                  <a:schemeClr val="tx2">
                    <a:alpha val="0"/>
                  </a:schemeClr>
                </a:solidFill>
              </a:defRPr>
            </a:lvl3pPr>
            <a:lvl4pPr marL="0" indent="0" algn="ctr">
              <a:buNone/>
              <a:defRPr sz="100">
                <a:solidFill>
                  <a:schemeClr val="tx2">
                    <a:alpha val="0"/>
                  </a:schemeClr>
                </a:solidFill>
              </a:defRPr>
            </a:lvl4pPr>
            <a:lvl5pPr marL="0" indent="0" algn="ctr">
              <a:buFont typeface="Arial" panose="020B0604020202020204" pitchFamily="34" charset="0"/>
              <a:buNone/>
              <a:defRPr sz="100">
                <a:solidFill>
                  <a:schemeClr val="tx2">
                    <a:alpha val="0"/>
                  </a:schemeClr>
                </a:solidFill>
              </a:defRPr>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2" name="Titre 1">
            <a:extLst>
              <a:ext uri="{FF2B5EF4-FFF2-40B4-BE49-F238E27FC236}">
                <a16:creationId xmlns:a16="http://schemas.microsoft.com/office/drawing/2014/main" id="{799187D8-5E9F-168C-2740-6D7C8A427367}"/>
              </a:ext>
            </a:extLst>
          </p:cNvPr>
          <p:cNvSpPr>
            <a:spLocks noGrp="1"/>
          </p:cNvSpPr>
          <p:nvPr>
            <p:ph type="title" hasCustomPrompt="1"/>
          </p:nvPr>
        </p:nvSpPr>
        <p:spPr bwMode="gray">
          <a:xfrm>
            <a:off x="558000" y="410400"/>
            <a:ext cx="4935000" cy="936104"/>
          </a:xfrm>
        </p:spPr>
        <p:txBody>
          <a:bodyPr/>
          <a:lstStyle>
            <a:lvl1pPr>
              <a:defRPr>
                <a:solidFill>
                  <a:schemeClr val="bg1"/>
                </a:solidFill>
              </a:defRPr>
            </a:lvl1pPr>
          </a:lstStyle>
          <a:p>
            <a:r>
              <a:rPr lang="fr-FR"/>
              <a:t>Titre de la slide</a:t>
            </a:r>
          </a:p>
        </p:txBody>
      </p:sp>
      <p:sp>
        <p:nvSpPr>
          <p:cNvPr id="3" name="Espace réservé de la date 2">
            <a:extLst>
              <a:ext uri="{FF2B5EF4-FFF2-40B4-BE49-F238E27FC236}">
                <a16:creationId xmlns:a16="http://schemas.microsoft.com/office/drawing/2014/main" id="{3E3A2A7D-94B2-4000-7A18-5383C580A39A}"/>
              </a:ext>
            </a:extLst>
          </p:cNvPr>
          <p:cNvSpPr>
            <a:spLocks noGrp="1"/>
          </p:cNvSpPr>
          <p:nvPr>
            <p:ph type="dt" sz="half" idx="10"/>
          </p:nvPr>
        </p:nvSpPr>
        <p:spPr bwMode="gray"/>
        <p:txBody>
          <a:bodyPr/>
          <a:lstStyle/>
          <a:p>
            <a:fld id="{2D9DC97B-3A38-48C4-B5CE-98105F8CF25F}" type="datetimeFigureOut">
              <a:rPr lang="fr-FR" smtClean="0"/>
              <a:t>12/01/2026</a:t>
            </a:fld>
            <a:endParaRPr lang="fr-FR"/>
          </a:p>
        </p:txBody>
      </p:sp>
      <p:sp>
        <p:nvSpPr>
          <p:cNvPr id="4" name="Espace réservé du pied de page 3">
            <a:extLst>
              <a:ext uri="{FF2B5EF4-FFF2-40B4-BE49-F238E27FC236}">
                <a16:creationId xmlns:a16="http://schemas.microsoft.com/office/drawing/2014/main" id="{485001E6-F1D1-4B2D-A478-BC196E79C535}"/>
              </a:ext>
            </a:extLst>
          </p:cNvPr>
          <p:cNvSpPr>
            <a:spLocks noGrp="1"/>
          </p:cNvSpPr>
          <p:nvPr>
            <p:ph type="ftr" sz="quarter" idx="11"/>
          </p:nvPr>
        </p:nvSpPr>
        <p:spPr bwMode="gray"/>
        <p:txBody>
          <a:bodyPr/>
          <a:lstStyle/>
          <a:p>
            <a:endParaRPr lang="fr-FR"/>
          </a:p>
        </p:txBody>
      </p:sp>
      <p:sp>
        <p:nvSpPr>
          <p:cNvPr id="5" name="Espace réservé du numéro de diapositive 4">
            <a:extLst>
              <a:ext uri="{FF2B5EF4-FFF2-40B4-BE49-F238E27FC236}">
                <a16:creationId xmlns:a16="http://schemas.microsoft.com/office/drawing/2014/main" id="{AA5C0B86-4552-788D-2700-801B554C6892}"/>
              </a:ext>
            </a:extLst>
          </p:cNvPr>
          <p:cNvSpPr>
            <a:spLocks noGrp="1"/>
          </p:cNvSpPr>
          <p:nvPr>
            <p:ph type="sldNum" sz="quarter" idx="12"/>
          </p:nvPr>
        </p:nvSpPr>
        <p:spPr bwMode="gray"/>
        <p:txBody>
          <a:bodyPr/>
          <a:lstStyle/>
          <a:p>
            <a:fld id="{47836B8D-228F-4EE0-A684-33707F12BC77}" type="slidenum">
              <a:rPr lang="fr-FR" smtClean="0"/>
              <a:t>‹N°›</a:t>
            </a:fld>
            <a:endParaRPr lang="fr-FR"/>
          </a:p>
        </p:txBody>
      </p:sp>
      <p:sp>
        <p:nvSpPr>
          <p:cNvPr id="19" name="Espace réservé du texte 18">
            <a:extLst>
              <a:ext uri="{FF2B5EF4-FFF2-40B4-BE49-F238E27FC236}">
                <a16:creationId xmlns:a16="http://schemas.microsoft.com/office/drawing/2014/main" id="{5EB628AF-6E6A-702F-B4EB-957D6D96E115}"/>
              </a:ext>
            </a:extLst>
          </p:cNvPr>
          <p:cNvSpPr>
            <a:spLocks noGrp="1"/>
          </p:cNvSpPr>
          <p:nvPr>
            <p:ph type="body" sz="quarter" idx="14" hasCustomPrompt="1"/>
          </p:nvPr>
        </p:nvSpPr>
        <p:spPr bwMode="gray">
          <a:xfrm>
            <a:off x="6059997" y="524810"/>
            <a:ext cx="5819371" cy="4865040"/>
          </a:xfrm>
          <a:custGeom>
            <a:avLst/>
            <a:gdLst>
              <a:gd name="connsiteX0" fmla="*/ 0 w 5819371"/>
              <a:gd name="connsiteY0" fmla="*/ 0 h 4865040"/>
              <a:gd name="connsiteX1" fmla="*/ 5819371 w 5819371"/>
              <a:gd name="connsiteY1" fmla="*/ 0 h 4865040"/>
              <a:gd name="connsiteX2" fmla="*/ 5819371 w 5819371"/>
              <a:gd name="connsiteY2" fmla="*/ 4143120 h 4865040"/>
              <a:gd name="connsiteX3" fmla="*/ 1061650 w 5819371"/>
              <a:gd name="connsiteY3" fmla="*/ 4143120 h 4865040"/>
              <a:gd name="connsiteX4" fmla="*/ 807 w 5819371"/>
              <a:gd name="connsiteY4" fmla="*/ 4865040 h 4865040"/>
              <a:gd name="connsiteX5" fmla="*/ 0 w 5819371"/>
              <a:gd name="connsiteY5" fmla="*/ 4865040 h 4865040"/>
              <a:gd name="connsiteX6" fmla="*/ 0 w 5819371"/>
              <a:gd name="connsiteY6" fmla="*/ 4106591 h 4865040"/>
              <a:gd name="connsiteX7" fmla="*/ 0 w 5819371"/>
              <a:gd name="connsiteY7" fmla="*/ 4092628 h 4865040"/>
              <a:gd name="connsiteX8" fmla="*/ 0 w 5819371"/>
              <a:gd name="connsiteY8" fmla="*/ 4091380 h 4865040"/>
              <a:gd name="connsiteX9" fmla="*/ 0 w 5819371"/>
              <a:gd name="connsiteY9" fmla="*/ 2852631 h 4865040"/>
              <a:gd name="connsiteX10" fmla="*/ 0 w 5819371"/>
              <a:gd name="connsiteY10" fmla="*/ 2547303 h 4865040"/>
              <a:gd name="connsiteX11" fmla="*/ 0 w 5819371"/>
              <a:gd name="connsiteY11" fmla="*/ 2278195 h 486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9371" h="4865040">
                <a:moveTo>
                  <a:pt x="0" y="0"/>
                </a:moveTo>
                <a:lnTo>
                  <a:pt x="5819371" y="0"/>
                </a:lnTo>
                <a:lnTo>
                  <a:pt x="5819371" y="4143120"/>
                </a:lnTo>
                <a:lnTo>
                  <a:pt x="1061650" y="4143120"/>
                </a:lnTo>
                <a:lnTo>
                  <a:pt x="807" y="4865040"/>
                </a:lnTo>
                <a:lnTo>
                  <a:pt x="0" y="4865040"/>
                </a:lnTo>
                <a:lnTo>
                  <a:pt x="0" y="4106591"/>
                </a:lnTo>
                <a:lnTo>
                  <a:pt x="0" y="4092628"/>
                </a:lnTo>
                <a:lnTo>
                  <a:pt x="0" y="4091380"/>
                </a:lnTo>
                <a:lnTo>
                  <a:pt x="0" y="2852631"/>
                </a:lnTo>
                <a:lnTo>
                  <a:pt x="0" y="2547303"/>
                </a:lnTo>
                <a:lnTo>
                  <a:pt x="0" y="2278195"/>
                </a:lnTo>
                <a:close/>
              </a:path>
            </a:pathLst>
          </a:custGeom>
          <a:solidFill>
            <a:schemeClr val="bg1"/>
          </a:solidFill>
        </p:spPr>
        <p:txBody>
          <a:bodyPr wrap="square" lIns="1044000" tIns="558000">
            <a:normAutofit/>
          </a:bodyPr>
          <a:lstStyle>
            <a:lvl1pPr marL="0" indent="0">
              <a:spcAft>
                <a:spcPts val="1000"/>
              </a:spcAft>
              <a:buNone/>
              <a:defRPr sz="4100">
                <a:solidFill>
                  <a:schemeClr val="tx2"/>
                </a:solidFill>
                <a:latin typeface="+mj-lt"/>
              </a:defRPr>
            </a:lvl1pPr>
            <a:lvl2pPr marL="0" indent="0">
              <a:spcAft>
                <a:spcPts val="0"/>
              </a:spcAft>
              <a:buNone/>
              <a:defRPr sz="2200">
                <a:solidFill>
                  <a:schemeClr val="tx2"/>
                </a:solidFill>
              </a:defRPr>
            </a:lvl2pPr>
          </a:lstStyle>
          <a:p>
            <a:pPr lvl="0"/>
            <a:r>
              <a:rPr lang="fr-FR"/>
              <a:t>Grand texte</a:t>
            </a:r>
          </a:p>
          <a:p>
            <a:pPr lvl="1"/>
            <a:r>
              <a:rPr lang="fr-FR"/>
              <a:t>Texte</a:t>
            </a:r>
          </a:p>
        </p:txBody>
      </p:sp>
      <p:pic>
        <p:nvPicPr>
          <p:cNvPr id="6" name="Image 5" descr="Une image contenant Police, Graphique, capture d’écran, logo&#10;&#10;Description générée automatiquement">
            <a:extLst>
              <a:ext uri="{FF2B5EF4-FFF2-40B4-BE49-F238E27FC236}">
                <a16:creationId xmlns:a16="http://schemas.microsoft.com/office/drawing/2014/main" id="{7FDBAFEF-1969-99A8-AFD0-8834A3B29164}"/>
              </a:ext>
            </a:extLst>
          </p:cNvPr>
          <p:cNvPicPr>
            <a:picLocks noChangeAspect="1"/>
          </p:cNvPicPr>
          <p:nvPr/>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54469194"/>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p:cSld name="Texte_icono">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89912CB9-F001-4934-4D64-3A18480CD509}"/>
              </a:ext>
            </a:extLst>
          </p:cNvPr>
          <p:cNvSpPr/>
          <p:nvPr/>
        </p:nvSpPr>
        <p:spPr bwMode="gray">
          <a:xfrm>
            <a:off x="0" y="-3"/>
            <a:ext cx="12192000"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6" name="Forme libre : forme 5">
            <a:extLst>
              <a:ext uri="{FF2B5EF4-FFF2-40B4-BE49-F238E27FC236}">
                <a16:creationId xmlns:a16="http://schemas.microsoft.com/office/drawing/2014/main" id="{8436D00A-B527-73DA-8E39-CF6A7EF28449}"/>
              </a:ext>
            </a:extLst>
          </p:cNvPr>
          <p:cNvSpPr/>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799187D8-5E9F-168C-2740-6D7C8A427367}"/>
              </a:ext>
            </a:extLst>
          </p:cNvPr>
          <p:cNvSpPr>
            <a:spLocks noGrp="1"/>
          </p:cNvSpPr>
          <p:nvPr>
            <p:ph type="title" hasCustomPrompt="1"/>
          </p:nvPr>
        </p:nvSpPr>
        <p:spPr bwMode="gray">
          <a:xfrm>
            <a:off x="558000" y="260649"/>
            <a:ext cx="4935000" cy="936104"/>
          </a:xfrm>
        </p:spPr>
        <p:txBody>
          <a:bodyPr/>
          <a:lstStyle>
            <a:lvl1pPr>
              <a:defRPr>
                <a:solidFill>
                  <a:schemeClr val="tx2"/>
                </a:solidFill>
              </a:defRPr>
            </a:lvl1pPr>
          </a:lstStyle>
          <a:p>
            <a:r>
              <a:rPr lang="fr-FR"/>
              <a:t>Titre de la slide</a:t>
            </a:r>
          </a:p>
        </p:txBody>
      </p:sp>
      <p:sp>
        <p:nvSpPr>
          <p:cNvPr id="3" name="Espace réservé de la date 2">
            <a:extLst>
              <a:ext uri="{FF2B5EF4-FFF2-40B4-BE49-F238E27FC236}">
                <a16:creationId xmlns:a16="http://schemas.microsoft.com/office/drawing/2014/main" id="{3E3A2A7D-94B2-4000-7A18-5383C580A39A}"/>
              </a:ext>
            </a:extLst>
          </p:cNvPr>
          <p:cNvSpPr>
            <a:spLocks noGrp="1"/>
          </p:cNvSpPr>
          <p:nvPr>
            <p:ph type="dt" sz="half" idx="10"/>
          </p:nvPr>
        </p:nvSpPr>
        <p:spPr bwMode="gray"/>
        <p:txBody>
          <a:bodyPr/>
          <a:lstStyle/>
          <a:p>
            <a:fld id="{2D9DC97B-3A38-48C4-B5CE-98105F8CF25F}" type="datetimeFigureOut">
              <a:rPr lang="fr-FR" smtClean="0"/>
              <a:t>12/01/2026</a:t>
            </a:fld>
            <a:endParaRPr lang="fr-FR"/>
          </a:p>
        </p:txBody>
      </p:sp>
      <p:sp>
        <p:nvSpPr>
          <p:cNvPr id="4" name="Espace réservé du pied de page 3">
            <a:extLst>
              <a:ext uri="{FF2B5EF4-FFF2-40B4-BE49-F238E27FC236}">
                <a16:creationId xmlns:a16="http://schemas.microsoft.com/office/drawing/2014/main" id="{485001E6-F1D1-4B2D-A478-BC196E79C535}"/>
              </a:ext>
            </a:extLst>
          </p:cNvPr>
          <p:cNvSpPr>
            <a:spLocks noGrp="1"/>
          </p:cNvSpPr>
          <p:nvPr>
            <p:ph type="ftr" sz="quarter" idx="11"/>
          </p:nvPr>
        </p:nvSpPr>
        <p:spPr bwMode="gray"/>
        <p:txBody>
          <a:bodyPr/>
          <a:lstStyle/>
          <a:p>
            <a:endParaRPr lang="fr-FR"/>
          </a:p>
        </p:txBody>
      </p:sp>
      <p:sp>
        <p:nvSpPr>
          <p:cNvPr id="5" name="Espace réservé du numéro de diapositive 4">
            <a:extLst>
              <a:ext uri="{FF2B5EF4-FFF2-40B4-BE49-F238E27FC236}">
                <a16:creationId xmlns:a16="http://schemas.microsoft.com/office/drawing/2014/main" id="{AA5C0B86-4552-788D-2700-801B554C6892}"/>
              </a:ext>
            </a:extLst>
          </p:cNvPr>
          <p:cNvSpPr>
            <a:spLocks noGrp="1"/>
          </p:cNvSpPr>
          <p:nvPr>
            <p:ph type="sldNum" sz="quarter" idx="12"/>
          </p:nvPr>
        </p:nvSpPr>
        <p:spPr bwMode="gray"/>
        <p:txBody>
          <a:bodyPr/>
          <a:lstStyle/>
          <a:p>
            <a:fld id="{47836B8D-228F-4EE0-A684-33707F12BC77}" type="slidenum">
              <a:rPr lang="fr-FR" smtClean="0"/>
              <a:t>‹N°›</a:t>
            </a:fld>
            <a:endParaRPr lang="fr-FR"/>
          </a:p>
        </p:txBody>
      </p:sp>
      <p:sp>
        <p:nvSpPr>
          <p:cNvPr id="12" name="Espace réservé du texte 11">
            <a:extLst>
              <a:ext uri="{FF2B5EF4-FFF2-40B4-BE49-F238E27FC236}">
                <a16:creationId xmlns:a16="http://schemas.microsoft.com/office/drawing/2014/main" id="{2E492F8A-814F-60F9-7ED8-EE0E51CB0D3E}"/>
              </a:ext>
            </a:extLst>
          </p:cNvPr>
          <p:cNvSpPr>
            <a:spLocks noGrp="1"/>
          </p:cNvSpPr>
          <p:nvPr>
            <p:ph type="body" sz="quarter" idx="14" hasCustomPrompt="1"/>
          </p:nvPr>
        </p:nvSpPr>
        <p:spPr bwMode="gray">
          <a:xfrm>
            <a:off x="558000" y="1669144"/>
            <a:ext cx="4935000" cy="3812084"/>
          </a:xfrm>
        </p:spPr>
        <p:txBody>
          <a:bodyPr/>
          <a:lstStyle>
            <a:lvl1pPr marL="0" indent="0">
              <a:lnSpc>
                <a:spcPct val="105000"/>
              </a:lnSpc>
              <a:spcAft>
                <a:spcPts val="2000"/>
              </a:spcAft>
              <a:buNone/>
              <a:tabLst>
                <a:tab pos="360363" algn="l"/>
              </a:tabLst>
              <a:defRPr sz="2700">
                <a:solidFill>
                  <a:schemeClr val="tx2"/>
                </a:solidFill>
                <a:latin typeface="+mn-lt"/>
              </a:defRPr>
            </a:lvl1pPr>
            <a:lvl2pPr marL="563563" indent="0">
              <a:lnSpc>
                <a:spcPct val="105000"/>
              </a:lnSpc>
              <a:spcAft>
                <a:spcPts val="2000"/>
              </a:spcAft>
              <a:buNone/>
              <a:defRPr sz="1800">
                <a:solidFill>
                  <a:schemeClr val="tx2"/>
                </a:solidFill>
              </a:defRPr>
            </a:lvl2pPr>
          </a:lstStyle>
          <a:p>
            <a:pPr lvl="0"/>
            <a:r>
              <a:rPr lang="fr-FR"/>
              <a:t>Grand texte</a:t>
            </a:r>
          </a:p>
        </p:txBody>
      </p:sp>
      <p:sp>
        <p:nvSpPr>
          <p:cNvPr id="8" name="Espace réservé pour une image  7">
            <a:extLst>
              <a:ext uri="{FF2B5EF4-FFF2-40B4-BE49-F238E27FC236}">
                <a16:creationId xmlns:a16="http://schemas.microsoft.com/office/drawing/2014/main" id="{453D362F-25B9-6174-CD21-CF9C9F64AFB7}"/>
              </a:ext>
            </a:extLst>
          </p:cNvPr>
          <p:cNvSpPr>
            <a:spLocks noGrp="1"/>
          </p:cNvSpPr>
          <p:nvPr>
            <p:ph type="pic" sz="quarter" idx="15" hasCustomPrompt="1"/>
          </p:nvPr>
        </p:nvSpPr>
        <p:spPr bwMode="gray">
          <a:xfrm>
            <a:off x="6090000" y="0"/>
            <a:ext cx="6102000" cy="5914800"/>
          </a:xfrm>
          <a:prstGeom prst="rect">
            <a:avLst/>
          </a:prstGeom>
          <a:solidFill>
            <a:schemeClr val="bg1">
              <a:lumMod val="85000"/>
            </a:schemeClr>
          </a:solidFill>
        </p:spPr>
        <p:txBody>
          <a:bodyPr wrap="square" tIns="900000" anchor="ctr" anchorCtr="0">
            <a:noAutofit/>
          </a:bodyPr>
          <a:lstStyle>
            <a:lvl1pPr marL="0" marR="0" indent="0" algn="ctr" defTabSz="1219170" rtl="0" eaLnBrk="1" fontAlgn="auto" latinLnBrk="0" hangingPunct="1">
              <a:lnSpc>
                <a:spcPct val="100000"/>
              </a:lnSpc>
              <a:spcBef>
                <a:spcPts val="0"/>
              </a:spcBef>
              <a:spcAft>
                <a:spcPts val="0"/>
              </a:spcAft>
              <a:buClrTx/>
              <a:buSzTx/>
              <a:buFont typeface="Arial" pitchFamily="34" charset="0"/>
              <a:buNone/>
              <a:tabLst/>
              <a:defRPr sz="1000">
                <a:solidFill>
                  <a:schemeClr val="tx1"/>
                </a:solidFill>
                <a:latin typeface="+mj-lt"/>
              </a:defRPr>
            </a:lvl1pPr>
          </a:lstStyle>
          <a:p>
            <a:r>
              <a:rPr lang="fr-FR" noProof="0"/>
              <a:t>Sélectionner l’icône </a:t>
            </a:r>
            <a:br>
              <a:rPr lang="fr-FR" noProof="0"/>
            </a:br>
            <a:r>
              <a:rPr lang="fr-FR" noProof="0"/>
              <a:t>pour insérer une image</a:t>
            </a:r>
          </a:p>
        </p:txBody>
      </p:sp>
      <p:pic>
        <p:nvPicPr>
          <p:cNvPr id="9" name="Image 8" descr="Une image contenant Police, Graphique, capture d’écran, logo&#10;&#10;Description générée automatiquement">
            <a:extLst>
              <a:ext uri="{FF2B5EF4-FFF2-40B4-BE49-F238E27FC236}">
                <a16:creationId xmlns:a16="http://schemas.microsoft.com/office/drawing/2014/main" id="{C61C1E4A-A38C-644E-1CAF-AEF2E80D73B9}"/>
              </a:ext>
            </a:extLst>
          </p:cNvPr>
          <p:cNvPicPr>
            <a:picLocks noChangeAspect="1"/>
          </p:cNvPicPr>
          <p:nvPr/>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395248161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p:cSld name="Graphique_horizonta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23B51DF-5FC1-A9B2-10C7-27FDC635DC92}"/>
              </a:ext>
            </a:extLst>
          </p:cNvPr>
          <p:cNvSpPr>
            <a:spLocks noGrp="1"/>
          </p:cNvSpPr>
          <p:nvPr>
            <p:ph type="title" hasCustomPrompt="1"/>
          </p:nvPr>
        </p:nvSpPr>
        <p:spPr bwMode="gray">
          <a:xfrm>
            <a:off x="305400" y="260649"/>
            <a:ext cx="115812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0A8DFEAA-57D2-16AE-5552-3D1A0BD0408B}"/>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DD04F7D7-C4AF-255A-794A-21111FEFDD7C}"/>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E22D932-3A9B-630B-175B-15294D10309B}"/>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933766AF-E739-F16B-64FF-4E81B0599CFC}"/>
              </a:ext>
            </a:extLst>
          </p:cNvPr>
          <p:cNvSpPr>
            <a:spLocks noGrp="1"/>
          </p:cNvSpPr>
          <p:nvPr>
            <p:ph type="body" sz="quarter" idx="13" hasCustomPrompt="1"/>
          </p:nvPr>
        </p:nvSpPr>
        <p:spPr bwMode="gray">
          <a:xfrm>
            <a:off x="305400" y="1160749"/>
            <a:ext cx="11581200" cy="396043"/>
          </a:xfrm>
        </p:spPr>
        <p:txBody>
          <a:bodyPr/>
          <a:lstStyle>
            <a:lvl1pPr marL="0" indent="0">
              <a:spcAft>
                <a:spcPts val="0"/>
              </a:spcAft>
              <a:buNone/>
              <a:defRPr sz="2400"/>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Sous-titre de la slide</a:t>
            </a:r>
          </a:p>
        </p:txBody>
      </p:sp>
      <p:sp>
        <p:nvSpPr>
          <p:cNvPr id="9" name="Espace réservé du graphique 16">
            <a:extLst>
              <a:ext uri="{FF2B5EF4-FFF2-40B4-BE49-F238E27FC236}">
                <a16:creationId xmlns:a16="http://schemas.microsoft.com/office/drawing/2014/main" id="{48B87707-6A04-1D23-1CFB-655B915F7CCA}"/>
              </a:ext>
            </a:extLst>
          </p:cNvPr>
          <p:cNvSpPr>
            <a:spLocks noGrp="1"/>
          </p:cNvSpPr>
          <p:nvPr>
            <p:ph type="chart" sz="quarter" idx="18" hasCustomPrompt="1"/>
          </p:nvPr>
        </p:nvSpPr>
        <p:spPr bwMode="gray">
          <a:xfrm>
            <a:off x="532004" y="2096852"/>
            <a:ext cx="11108610" cy="2952327"/>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10" name="Espace réservé du texte 8">
            <a:extLst>
              <a:ext uri="{FF2B5EF4-FFF2-40B4-BE49-F238E27FC236}">
                <a16:creationId xmlns:a16="http://schemas.microsoft.com/office/drawing/2014/main" id="{E84CF6EE-8780-77B6-A380-6B6C8DBD6109}"/>
              </a:ext>
            </a:extLst>
          </p:cNvPr>
          <p:cNvSpPr>
            <a:spLocks noGrp="1"/>
          </p:cNvSpPr>
          <p:nvPr>
            <p:ph type="body" sz="quarter" idx="19" hasCustomPrompt="1"/>
          </p:nvPr>
        </p:nvSpPr>
        <p:spPr bwMode="gray">
          <a:xfrm>
            <a:off x="532005" y="1584327"/>
            <a:ext cx="11108609" cy="327567"/>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7" name="Espace réservé du texte 11">
            <a:extLst>
              <a:ext uri="{FF2B5EF4-FFF2-40B4-BE49-F238E27FC236}">
                <a16:creationId xmlns:a16="http://schemas.microsoft.com/office/drawing/2014/main" id="{CBBB86FE-ACF9-415D-0319-91B9BB4CE982}"/>
              </a:ext>
            </a:extLst>
          </p:cNvPr>
          <p:cNvSpPr>
            <a:spLocks noGrp="1"/>
          </p:cNvSpPr>
          <p:nvPr>
            <p:ph type="body" sz="quarter" idx="22" hasCustomPrompt="1"/>
          </p:nvPr>
        </p:nvSpPr>
        <p:spPr bwMode="gray">
          <a:xfrm>
            <a:off x="532003" y="5089796"/>
            <a:ext cx="11108613" cy="1080120"/>
          </a:xfrm>
        </p:spPr>
        <p:txBody>
          <a:bodyPr wrap="square" numCol="3" spcCol="144000"/>
          <a:lstStyle>
            <a:lvl1pPr marL="0" indent="0">
              <a:lnSpc>
                <a:spcPct val="105000"/>
              </a:lnSpc>
              <a:spcAft>
                <a:spcPts val="0"/>
              </a:spcAft>
              <a:buNone/>
              <a:tabLst>
                <a:tab pos="360363" algn="l"/>
              </a:tabLst>
              <a:defRPr sz="1300">
                <a:solidFill>
                  <a:schemeClr val="tx2"/>
                </a:solidFill>
                <a:latin typeface="+mn-lt"/>
              </a:defRPr>
            </a:lvl1pPr>
            <a:lvl2pPr marL="563563" indent="0">
              <a:lnSpc>
                <a:spcPct val="105000"/>
              </a:lnSpc>
              <a:spcAft>
                <a:spcPts val="2000"/>
              </a:spcAft>
              <a:buNone/>
              <a:defRPr sz="1800">
                <a:solidFill>
                  <a:schemeClr val="tx2"/>
                </a:solidFill>
              </a:defRPr>
            </a:lvl2pPr>
          </a:lstStyle>
          <a:p>
            <a:r>
              <a:rPr lang="fr-FR"/>
              <a:t>Texte</a:t>
            </a:r>
          </a:p>
          <a:p>
            <a:endParaRPr lang="fr-FR"/>
          </a:p>
          <a:p>
            <a:endParaRPr lang="fr-FR"/>
          </a:p>
          <a:p>
            <a:endParaRPr lang="fr-FR"/>
          </a:p>
          <a:p>
            <a:endParaRPr lang="fr-FR"/>
          </a:p>
          <a:p>
            <a:r>
              <a:rPr lang="fr-FR"/>
              <a:t>Texte</a:t>
            </a:r>
          </a:p>
          <a:p>
            <a:endParaRPr lang="fr-FR"/>
          </a:p>
          <a:p>
            <a:endParaRPr lang="fr-FR"/>
          </a:p>
          <a:p>
            <a:endParaRPr lang="fr-FR"/>
          </a:p>
          <a:p>
            <a:endParaRPr lang="fr-FR"/>
          </a:p>
          <a:p>
            <a:r>
              <a:rPr lang="fr-FR"/>
              <a:t>Texte</a:t>
            </a:r>
          </a:p>
        </p:txBody>
      </p:sp>
    </p:spTree>
    <p:extLst>
      <p:ext uri="{BB962C8B-B14F-4D97-AF65-F5344CB8AC3E}">
        <p14:creationId xmlns:p14="http://schemas.microsoft.com/office/powerpoint/2010/main" val="3071649853"/>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p:cSld name="Graphique_vertical">
    <p:spTree>
      <p:nvGrpSpPr>
        <p:cNvPr id="1" name=""/>
        <p:cNvGrpSpPr/>
        <p:nvPr/>
      </p:nvGrpSpPr>
      <p:grpSpPr>
        <a:xfrm>
          <a:off x="0" y="0"/>
          <a:ext cx="0" cy="0"/>
          <a:chOff x="0" y="0"/>
          <a:chExt cx="0" cy="0"/>
        </a:xfrm>
      </p:grpSpPr>
      <p:sp>
        <p:nvSpPr>
          <p:cNvPr id="10" name="Espace réservé du graphique 16">
            <a:extLst>
              <a:ext uri="{FF2B5EF4-FFF2-40B4-BE49-F238E27FC236}">
                <a16:creationId xmlns:a16="http://schemas.microsoft.com/office/drawing/2014/main" id="{707ABC9A-3883-C317-F0F2-EB8158F7C3F8}"/>
              </a:ext>
            </a:extLst>
          </p:cNvPr>
          <p:cNvSpPr>
            <a:spLocks noGrp="1"/>
          </p:cNvSpPr>
          <p:nvPr>
            <p:ph type="chart" sz="quarter" idx="18" hasCustomPrompt="1"/>
          </p:nvPr>
        </p:nvSpPr>
        <p:spPr bwMode="gray">
          <a:xfrm>
            <a:off x="2099555" y="1584326"/>
            <a:ext cx="5220581" cy="4807464"/>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2" name="Titre 1">
            <a:extLst>
              <a:ext uri="{FF2B5EF4-FFF2-40B4-BE49-F238E27FC236}">
                <a16:creationId xmlns:a16="http://schemas.microsoft.com/office/drawing/2014/main" id="{A9F35CE2-8AB8-4DBE-FE9F-172230796F0A}"/>
              </a:ext>
            </a:extLst>
          </p:cNvPr>
          <p:cNvSpPr>
            <a:spLocks noGrp="1"/>
          </p:cNvSpPr>
          <p:nvPr>
            <p:ph type="title" hasCustomPrompt="1"/>
          </p:nvPr>
        </p:nvSpPr>
        <p:spPr bwMode="gray"/>
        <p:txBody>
          <a:bodyPr/>
          <a:lstStyle/>
          <a:p>
            <a:r>
              <a:rPr lang="fr-FR"/>
              <a:t>Titre de la slide</a:t>
            </a:r>
          </a:p>
        </p:txBody>
      </p:sp>
      <p:sp>
        <p:nvSpPr>
          <p:cNvPr id="3" name="Espace réservé de la date 2">
            <a:extLst>
              <a:ext uri="{FF2B5EF4-FFF2-40B4-BE49-F238E27FC236}">
                <a16:creationId xmlns:a16="http://schemas.microsoft.com/office/drawing/2014/main" id="{6A07B109-7847-E3E3-2D95-F2E4162E60D5}"/>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6D0C897A-84AF-AEE6-B775-7486FEC2EB16}"/>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8942EC23-47DA-C601-D7B3-305B886ACFA0}"/>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C215986A-391C-488B-B670-68719598CEBF}"/>
              </a:ext>
            </a:extLst>
          </p:cNvPr>
          <p:cNvSpPr>
            <a:spLocks noGrp="1"/>
          </p:cNvSpPr>
          <p:nvPr>
            <p:ph type="body" sz="quarter" idx="13" hasCustomPrompt="1"/>
          </p:nvPr>
        </p:nvSpPr>
        <p:spPr bwMode="gray">
          <a:xfrm>
            <a:off x="305400" y="1160749"/>
            <a:ext cx="7086744" cy="396043"/>
          </a:xfrm>
        </p:spPr>
        <p:txBody>
          <a:bodyPr/>
          <a:lstStyle>
            <a:lvl1pPr marL="0" indent="0">
              <a:spcAft>
                <a:spcPts val="0"/>
              </a:spcAft>
              <a:buNone/>
              <a:defRPr sz="2400"/>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Sous-titre de la slide</a:t>
            </a:r>
          </a:p>
        </p:txBody>
      </p:sp>
      <p:sp>
        <p:nvSpPr>
          <p:cNvPr id="9" name="Espace réservé du texte 8">
            <a:extLst>
              <a:ext uri="{FF2B5EF4-FFF2-40B4-BE49-F238E27FC236}">
                <a16:creationId xmlns:a16="http://schemas.microsoft.com/office/drawing/2014/main" id="{8AA09CE7-7589-D531-FB47-7747C970F5F5}"/>
              </a:ext>
            </a:extLst>
          </p:cNvPr>
          <p:cNvSpPr>
            <a:spLocks noGrp="1"/>
          </p:cNvSpPr>
          <p:nvPr>
            <p:ph type="body" sz="quarter" idx="19" hasCustomPrompt="1"/>
          </p:nvPr>
        </p:nvSpPr>
        <p:spPr bwMode="gray">
          <a:xfrm>
            <a:off x="532005" y="1584327"/>
            <a:ext cx="6860139" cy="327567"/>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11" name="Espace réservé du texte 11">
            <a:extLst>
              <a:ext uri="{FF2B5EF4-FFF2-40B4-BE49-F238E27FC236}">
                <a16:creationId xmlns:a16="http://schemas.microsoft.com/office/drawing/2014/main" id="{8481A485-1B3B-0338-105E-D96FA7441794}"/>
              </a:ext>
            </a:extLst>
          </p:cNvPr>
          <p:cNvSpPr>
            <a:spLocks noGrp="1"/>
          </p:cNvSpPr>
          <p:nvPr>
            <p:ph type="body" sz="quarter" idx="14" hasCustomPrompt="1"/>
          </p:nvPr>
        </p:nvSpPr>
        <p:spPr bwMode="gray">
          <a:xfrm>
            <a:off x="8117139" y="1435632"/>
            <a:ext cx="3600000" cy="373188"/>
          </a:xfrm>
        </p:spPr>
        <p:txBody>
          <a:bodyPr/>
          <a:lstStyle>
            <a:lvl1pPr marL="0" indent="0">
              <a:lnSpc>
                <a:spcPct val="105000"/>
              </a:lnSpc>
              <a:spcAft>
                <a:spcPts val="500"/>
              </a:spcAft>
              <a:buNone/>
              <a:tabLst>
                <a:tab pos="360363" algn="l"/>
              </a:tabLst>
              <a:defRPr sz="2200">
                <a:solidFill>
                  <a:schemeClr val="tx2"/>
                </a:solidFill>
                <a:latin typeface="+mj-lt"/>
              </a:defRPr>
            </a:lvl1pPr>
            <a:lvl2pPr marL="0" indent="0">
              <a:lnSpc>
                <a:spcPct val="105000"/>
              </a:lnSpc>
              <a:spcAft>
                <a:spcPts val="2000"/>
              </a:spcAft>
              <a:buNone/>
              <a:defRPr sz="1300">
                <a:solidFill>
                  <a:schemeClr val="tx2"/>
                </a:solidFill>
              </a:defRPr>
            </a:lvl2pPr>
          </a:lstStyle>
          <a:p>
            <a:pPr lvl="0"/>
            <a:r>
              <a:rPr lang="fr-FR"/>
              <a:t>Titre</a:t>
            </a:r>
          </a:p>
        </p:txBody>
      </p:sp>
      <p:sp>
        <p:nvSpPr>
          <p:cNvPr id="12" name="Espace réservé du texte 11">
            <a:extLst>
              <a:ext uri="{FF2B5EF4-FFF2-40B4-BE49-F238E27FC236}">
                <a16:creationId xmlns:a16="http://schemas.microsoft.com/office/drawing/2014/main" id="{4088F9EC-6E6B-5992-6D7E-ADC3C66272B0}"/>
              </a:ext>
            </a:extLst>
          </p:cNvPr>
          <p:cNvSpPr>
            <a:spLocks noGrp="1"/>
          </p:cNvSpPr>
          <p:nvPr>
            <p:ph type="body" sz="quarter" idx="20" hasCustomPrompt="1"/>
          </p:nvPr>
        </p:nvSpPr>
        <p:spPr bwMode="gray">
          <a:xfrm>
            <a:off x="8117139" y="2650835"/>
            <a:ext cx="3600000" cy="372774"/>
          </a:xfrm>
        </p:spPr>
        <p:txBody>
          <a:bodyPr/>
          <a:lstStyle>
            <a:lvl1pPr marL="0" indent="0">
              <a:lnSpc>
                <a:spcPct val="105000"/>
              </a:lnSpc>
              <a:spcAft>
                <a:spcPts val="0"/>
              </a:spcAft>
              <a:buNone/>
              <a:tabLst>
                <a:tab pos="360363" algn="l"/>
              </a:tabLst>
              <a:defRPr sz="2200">
                <a:solidFill>
                  <a:schemeClr val="tx2"/>
                </a:solidFill>
                <a:latin typeface="+mj-lt"/>
              </a:defRPr>
            </a:lvl1pPr>
            <a:lvl2pPr marL="0" indent="0">
              <a:lnSpc>
                <a:spcPct val="105000"/>
              </a:lnSpc>
              <a:spcAft>
                <a:spcPts val="2000"/>
              </a:spcAft>
              <a:buNone/>
              <a:defRPr sz="1300">
                <a:solidFill>
                  <a:schemeClr val="tx2"/>
                </a:solidFill>
              </a:defRPr>
            </a:lvl2pPr>
          </a:lstStyle>
          <a:p>
            <a:pPr lvl="0"/>
            <a:r>
              <a:rPr lang="fr-FR"/>
              <a:t>Titre</a:t>
            </a:r>
          </a:p>
        </p:txBody>
      </p:sp>
      <p:sp>
        <p:nvSpPr>
          <p:cNvPr id="13" name="Espace réservé du texte 11">
            <a:extLst>
              <a:ext uri="{FF2B5EF4-FFF2-40B4-BE49-F238E27FC236}">
                <a16:creationId xmlns:a16="http://schemas.microsoft.com/office/drawing/2014/main" id="{E4759E20-47D1-6D23-8E3B-34AC4895F908}"/>
              </a:ext>
            </a:extLst>
          </p:cNvPr>
          <p:cNvSpPr>
            <a:spLocks noGrp="1"/>
          </p:cNvSpPr>
          <p:nvPr>
            <p:ph type="body" sz="quarter" idx="21" hasCustomPrompt="1"/>
          </p:nvPr>
        </p:nvSpPr>
        <p:spPr bwMode="gray">
          <a:xfrm>
            <a:off x="8117139" y="3865624"/>
            <a:ext cx="3600000" cy="378217"/>
          </a:xfrm>
        </p:spPr>
        <p:txBody>
          <a:bodyPr/>
          <a:lstStyle>
            <a:lvl1pPr marL="0" indent="0">
              <a:lnSpc>
                <a:spcPct val="105000"/>
              </a:lnSpc>
              <a:spcAft>
                <a:spcPts val="0"/>
              </a:spcAft>
              <a:buNone/>
              <a:tabLst>
                <a:tab pos="360363" algn="l"/>
              </a:tabLst>
              <a:defRPr sz="2200">
                <a:solidFill>
                  <a:schemeClr val="tx2"/>
                </a:solidFill>
                <a:latin typeface="+mj-lt"/>
              </a:defRPr>
            </a:lvl1pPr>
            <a:lvl2pPr marL="0" indent="0">
              <a:lnSpc>
                <a:spcPct val="105000"/>
              </a:lnSpc>
              <a:spcAft>
                <a:spcPts val="2000"/>
              </a:spcAft>
              <a:buNone/>
              <a:defRPr sz="1300">
                <a:solidFill>
                  <a:schemeClr val="tx2"/>
                </a:solidFill>
              </a:defRPr>
            </a:lvl2pPr>
          </a:lstStyle>
          <a:p>
            <a:pPr lvl="0"/>
            <a:r>
              <a:rPr lang="fr-FR"/>
              <a:t>Titre</a:t>
            </a:r>
          </a:p>
        </p:txBody>
      </p:sp>
      <p:sp>
        <p:nvSpPr>
          <p:cNvPr id="14" name="Espace réservé du texte 11">
            <a:extLst>
              <a:ext uri="{FF2B5EF4-FFF2-40B4-BE49-F238E27FC236}">
                <a16:creationId xmlns:a16="http://schemas.microsoft.com/office/drawing/2014/main" id="{5FFA3BD4-E047-3531-1BF5-B85AD6AF071A}"/>
              </a:ext>
            </a:extLst>
          </p:cNvPr>
          <p:cNvSpPr>
            <a:spLocks noGrp="1"/>
          </p:cNvSpPr>
          <p:nvPr>
            <p:ph type="body" sz="quarter" idx="22" hasCustomPrompt="1"/>
          </p:nvPr>
        </p:nvSpPr>
        <p:spPr bwMode="gray">
          <a:xfrm>
            <a:off x="8117139" y="5085855"/>
            <a:ext cx="3600000" cy="378217"/>
          </a:xfrm>
        </p:spPr>
        <p:txBody>
          <a:bodyPr/>
          <a:lstStyle>
            <a:lvl1pPr marL="0" indent="0">
              <a:lnSpc>
                <a:spcPct val="105000"/>
              </a:lnSpc>
              <a:spcAft>
                <a:spcPts val="0"/>
              </a:spcAft>
              <a:buNone/>
              <a:tabLst>
                <a:tab pos="360363" algn="l"/>
              </a:tabLst>
              <a:defRPr sz="2200">
                <a:solidFill>
                  <a:schemeClr val="tx2"/>
                </a:solidFill>
                <a:latin typeface="+mj-lt"/>
              </a:defRPr>
            </a:lvl1pPr>
            <a:lvl2pPr marL="0" indent="0">
              <a:lnSpc>
                <a:spcPct val="105000"/>
              </a:lnSpc>
              <a:spcAft>
                <a:spcPts val="2000"/>
              </a:spcAft>
              <a:buNone/>
              <a:defRPr sz="1300">
                <a:solidFill>
                  <a:schemeClr val="tx2"/>
                </a:solidFill>
              </a:defRPr>
            </a:lvl2pPr>
          </a:lstStyle>
          <a:p>
            <a:pPr lvl="0"/>
            <a:r>
              <a:rPr lang="fr-FR"/>
              <a:t>Titre</a:t>
            </a:r>
          </a:p>
        </p:txBody>
      </p:sp>
      <p:sp>
        <p:nvSpPr>
          <p:cNvPr id="16" name="Espace réservé du texte 8">
            <a:extLst>
              <a:ext uri="{FF2B5EF4-FFF2-40B4-BE49-F238E27FC236}">
                <a16:creationId xmlns:a16="http://schemas.microsoft.com/office/drawing/2014/main" id="{050A7324-AA74-B4A8-0F9B-504E4AB3986D}"/>
              </a:ext>
            </a:extLst>
          </p:cNvPr>
          <p:cNvSpPr>
            <a:spLocks noGrp="1"/>
          </p:cNvSpPr>
          <p:nvPr>
            <p:ph type="body" sz="quarter" idx="23" hasCustomPrompt="1"/>
          </p:nvPr>
        </p:nvSpPr>
        <p:spPr bwMode="gray">
          <a:xfrm>
            <a:off x="543218" y="3704272"/>
            <a:ext cx="90000" cy="90000"/>
          </a:xfrm>
          <a:solidFill>
            <a:schemeClr val="tx1"/>
          </a:solidFill>
        </p:spPr>
        <p:txBody>
          <a:bodyPr wrap="none" lIns="216000" anchor="ctr" anchorCtr="0"/>
          <a:lstStyle>
            <a:lvl1pPr marL="0" indent="0">
              <a:spcAft>
                <a:spcPts val="0"/>
              </a:spcAft>
              <a:buNone/>
              <a:defRPr sz="13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Légende 1</a:t>
            </a:r>
          </a:p>
        </p:txBody>
      </p:sp>
      <p:sp>
        <p:nvSpPr>
          <p:cNvPr id="17" name="Espace réservé du texte 8">
            <a:extLst>
              <a:ext uri="{FF2B5EF4-FFF2-40B4-BE49-F238E27FC236}">
                <a16:creationId xmlns:a16="http://schemas.microsoft.com/office/drawing/2014/main" id="{40E1B78D-E467-7717-DA1C-14035CA5CC6A}"/>
              </a:ext>
            </a:extLst>
          </p:cNvPr>
          <p:cNvSpPr>
            <a:spLocks noGrp="1"/>
          </p:cNvSpPr>
          <p:nvPr>
            <p:ph type="body" sz="quarter" idx="24" hasCustomPrompt="1"/>
          </p:nvPr>
        </p:nvSpPr>
        <p:spPr bwMode="gray">
          <a:xfrm>
            <a:off x="543218" y="3901164"/>
            <a:ext cx="90000" cy="90000"/>
          </a:xfrm>
          <a:solidFill>
            <a:schemeClr val="tx1"/>
          </a:solidFill>
        </p:spPr>
        <p:txBody>
          <a:bodyPr wrap="none" lIns="216000" anchor="ctr" anchorCtr="0"/>
          <a:lstStyle>
            <a:lvl1pPr marL="0" indent="0">
              <a:spcAft>
                <a:spcPts val="0"/>
              </a:spcAft>
              <a:buNone/>
              <a:defRPr sz="13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Légende 2</a:t>
            </a:r>
          </a:p>
        </p:txBody>
      </p:sp>
      <p:sp>
        <p:nvSpPr>
          <p:cNvPr id="18" name="Espace réservé du texte 8">
            <a:extLst>
              <a:ext uri="{FF2B5EF4-FFF2-40B4-BE49-F238E27FC236}">
                <a16:creationId xmlns:a16="http://schemas.microsoft.com/office/drawing/2014/main" id="{63B29A98-DBDF-21A4-A30C-26948E303502}"/>
              </a:ext>
            </a:extLst>
          </p:cNvPr>
          <p:cNvSpPr>
            <a:spLocks noGrp="1"/>
          </p:cNvSpPr>
          <p:nvPr>
            <p:ph type="body" sz="quarter" idx="25" hasCustomPrompt="1"/>
          </p:nvPr>
        </p:nvSpPr>
        <p:spPr bwMode="gray">
          <a:xfrm>
            <a:off x="543218" y="4098056"/>
            <a:ext cx="90000" cy="90000"/>
          </a:xfrm>
          <a:solidFill>
            <a:schemeClr val="tx1"/>
          </a:solidFill>
        </p:spPr>
        <p:txBody>
          <a:bodyPr wrap="none" lIns="216000" anchor="ctr" anchorCtr="0"/>
          <a:lstStyle>
            <a:lvl1pPr marL="0" indent="0">
              <a:spcAft>
                <a:spcPts val="0"/>
              </a:spcAft>
              <a:buNone/>
              <a:defRPr sz="13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Légende 3</a:t>
            </a:r>
          </a:p>
        </p:txBody>
      </p:sp>
      <p:sp>
        <p:nvSpPr>
          <p:cNvPr id="19" name="Espace réservé du texte 8">
            <a:extLst>
              <a:ext uri="{FF2B5EF4-FFF2-40B4-BE49-F238E27FC236}">
                <a16:creationId xmlns:a16="http://schemas.microsoft.com/office/drawing/2014/main" id="{D42C2F37-43A4-8189-4BD6-44274F237D14}"/>
              </a:ext>
            </a:extLst>
          </p:cNvPr>
          <p:cNvSpPr>
            <a:spLocks noGrp="1"/>
          </p:cNvSpPr>
          <p:nvPr>
            <p:ph type="body" sz="quarter" idx="26" hasCustomPrompt="1"/>
          </p:nvPr>
        </p:nvSpPr>
        <p:spPr bwMode="gray">
          <a:xfrm>
            <a:off x="543218" y="4294947"/>
            <a:ext cx="90000" cy="90000"/>
          </a:xfrm>
          <a:solidFill>
            <a:schemeClr val="tx1"/>
          </a:solidFill>
        </p:spPr>
        <p:txBody>
          <a:bodyPr wrap="none" lIns="216000" anchor="ctr" anchorCtr="0"/>
          <a:lstStyle>
            <a:lvl1pPr marL="0" indent="0">
              <a:spcAft>
                <a:spcPts val="0"/>
              </a:spcAft>
              <a:buNone/>
              <a:defRPr sz="13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Légende 4</a:t>
            </a:r>
          </a:p>
        </p:txBody>
      </p:sp>
      <p:sp>
        <p:nvSpPr>
          <p:cNvPr id="7" name="Espace réservé du texte 11">
            <a:extLst>
              <a:ext uri="{FF2B5EF4-FFF2-40B4-BE49-F238E27FC236}">
                <a16:creationId xmlns:a16="http://schemas.microsoft.com/office/drawing/2014/main" id="{C152A5B8-65DC-4710-AE4D-2F96936FB7A0}"/>
              </a:ext>
            </a:extLst>
          </p:cNvPr>
          <p:cNvSpPr>
            <a:spLocks noGrp="1"/>
          </p:cNvSpPr>
          <p:nvPr>
            <p:ph type="body" sz="quarter" idx="27" hasCustomPrompt="1"/>
          </p:nvPr>
        </p:nvSpPr>
        <p:spPr bwMode="gray">
          <a:xfrm>
            <a:off x="8117139" y="1853613"/>
            <a:ext cx="3600000" cy="716490"/>
          </a:xfrm>
        </p:spPr>
        <p:txBody>
          <a:bodyPr/>
          <a:lstStyle>
            <a:lvl1pPr marL="0" indent="0">
              <a:lnSpc>
                <a:spcPct val="105000"/>
              </a:lnSpc>
              <a:spcAft>
                <a:spcPts val="0"/>
              </a:spcAft>
              <a:buNone/>
              <a:tabLst>
                <a:tab pos="360363" algn="l"/>
              </a:tabLst>
              <a:defRPr sz="1300">
                <a:solidFill>
                  <a:schemeClr val="tx2"/>
                </a:solidFill>
                <a:latin typeface="+mn-lt"/>
              </a:defRPr>
            </a:lvl1pPr>
            <a:lvl2pPr marL="0" indent="0">
              <a:lnSpc>
                <a:spcPct val="105000"/>
              </a:lnSpc>
              <a:spcAft>
                <a:spcPts val="0"/>
              </a:spcAft>
              <a:buNone/>
              <a:defRPr sz="1300">
                <a:solidFill>
                  <a:schemeClr val="tx2"/>
                </a:solidFill>
              </a:defRPr>
            </a:lvl2pPr>
          </a:lstStyle>
          <a:p>
            <a:pPr lvl="0"/>
            <a:r>
              <a:rPr lang="fr-FR"/>
              <a:t>Texte</a:t>
            </a:r>
          </a:p>
        </p:txBody>
      </p:sp>
      <p:sp>
        <p:nvSpPr>
          <p:cNvPr id="22" name="Espace réservé du texte 11">
            <a:extLst>
              <a:ext uri="{FF2B5EF4-FFF2-40B4-BE49-F238E27FC236}">
                <a16:creationId xmlns:a16="http://schemas.microsoft.com/office/drawing/2014/main" id="{B91A02B8-1B0C-C8DA-EBB3-9788CDC50FC4}"/>
              </a:ext>
            </a:extLst>
          </p:cNvPr>
          <p:cNvSpPr>
            <a:spLocks noGrp="1"/>
          </p:cNvSpPr>
          <p:nvPr>
            <p:ph type="body" sz="quarter" idx="31" hasCustomPrompt="1"/>
          </p:nvPr>
        </p:nvSpPr>
        <p:spPr bwMode="gray">
          <a:xfrm>
            <a:off x="8117139" y="3068566"/>
            <a:ext cx="3600000" cy="716490"/>
          </a:xfrm>
        </p:spPr>
        <p:txBody>
          <a:bodyPr/>
          <a:lstStyle>
            <a:lvl1pPr marL="0" indent="0">
              <a:lnSpc>
                <a:spcPct val="105000"/>
              </a:lnSpc>
              <a:spcAft>
                <a:spcPts val="0"/>
              </a:spcAft>
              <a:buNone/>
              <a:tabLst>
                <a:tab pos="360363" algn="l"/>
              </a:tabLst>
              <a:defRPr sz="1300">
                <a:solidFill>
                  <a:schemeClr val="tx2"/>
                </a:solidFill>
                <a:latin typeface="+mn-lt"/>
              </a:defRPr>
            </a:lvl1pPr>
            <a:lvl2pPr marL="0" indent="0">
              <a:lnSpc>
                <a:spcPct val="105000"/>
              </a:lnSpc>
              <a:spcAft>
                <a:spcPts val="0"/>
              </a:spcAft>
              <a:buNone/>
              <a:defRPr sz="1300">
                <a:solidFill>
                  <a:schemeClr val="tx2"/>
                </a:solidFill>
              </a:defRPr>
            </a:lvl2pPr>
          </a:lstStyle>
          <a:p>
            <a:pPr lvl="0"/>
            <a:r>
              <a:rPr lang="fr-FR"/>
              <a:t>Texte</a:t>
            </a:r>
          </a:p>
        </p:txBody>
      </p:sp>
      <p:sp>
        <p:nvSpPr>
          <p:cNvPr id="23" name="Espace réservé du texte 11">
            <a:extLst>
              <a:ext uri="{FF2B5EF4-FFF2-40B4-BE49-F238E27FC236}">
                <a16:creationId xmlns:a16="http://schemas.microsoft.com/office/drawing/2014/main" id="{A2C2B6C4-22D0-D882-D782-330015ED4D67}"/>
              </a:ext>
            </a:extLst>
          </p:cNvPr>
          <p:cNvSpPr>
            <a:spLocks noGrp="1"/>
          </p:cNvSpPr>
          <p:nvPr>
            <p:ph type="body" sz="quarter" idx="32" hasCustomPrompt="1"/>
          </p:nvPr>
        </p:nvSpPr>
        <p:spPr bwMode="gray">
          <a:xfrm>
            <a:off x="8117139" y="4283519"/>
            <a:ext cx="3600000" cy="716490"/>
          </a:xfrm>
        </p:spPr>
        <p:txBody>
          <a:bodyPr/>
          <a:lstStyle>
            <a:lvl1pPr marL="0" indent="0">
              <a:lnSpc>
                <a:spcPct val="105000"/>
              </a:lnSpc>
              <a:spcAft>
                <a:spcPts val="0"/>
              </a:spcAft>
              <a:buNone/>
              <a:tabLst>
                <a:tab pos="360363" algn="l"/>
              </a:tabLst>
              <a:defRPr sz="1300">
                <a:solidFill>
                  <a:schemeClr val="tx2"/>
                </a:solidFill>
                <a:latin typeface="+mn-lt"/>
              </a:defRPr>
            </a:lvl1pPr>
            <a:lvl2pPr marL="0" indent="0">
              <a:lnSpc>
                <a:spcPct val="105000"/>
              </a:lnSpc>
              <a:spcAft>
                <a:spcPts val="0"/>
              </a:spcAft>
              <a:buNone/>
              <a:defRPr sz="1300">
                <a:solidFill>
                  <a:schemeClr val="tx2"/>
                </a:solidFill>
              </a:defRPr>
            </a:lvl2pPr>
          </a:lstStyle>
          <a:p>
            <a:pPr lvl="0"/>
            <a:r>
              <a:rPr lang="fr-FR"/>
              <a:t>Texte</a:t>
            </a:r>
          </a:p>
        </p:txBody>
      </p:sp>
      <p:sp>
        <p:nvSpPr>
          <p:cNvPr id="24" name="Espace réservé du texte 11">
            <a:extLst>
              <a:ext uri="{FF2B5EF4-FFF2-40B4-BE49-F238E27FC236}">
                <a16:creationId xmlns:a16="http://schemas.microsoft.com/office/drawing/2014/main" id="{03EB6E27-6012-41F3-EB07-4233FC950E22}"/>
              </a:ext>
            </a:extLst>
          </p:cNvPr>
          <p:cNvSpPr>
            <a:spLocks noGrp="1"/>
          </p:cNvSpPr>
          <p:nvPr>
            <p:ph type="body" sz="quarter" idx="33" hasCustomPrompt="1"/>
          </p:nvPr>
        </p:nvSpPr>
        <p:spPr bwMode="gray">
          <a:xfrm>
            <a:off x="8117139" y="5498472"/>
            <a:ext cx="3600000" cy="716490"/>
          </a:xfrm>
        </p:spPr>
        <p:txBody>
          <a:bodyPr/>
          <a:lstStyle>
            <a:lvl1pPr marL="0" indent="0">
              <a:lnSpc>
                <a:spcPct val="105000"/>
              </a:lnSpc>
              <a:spcAft>
                <a:spcPts val="0"/>
              </a:spcAft>
              <a:buNone/>
              <a:tabLst>
                <a:tab pos="360363" algn="l"/>
              </a:tabLst>
              <a:defRPr sz="1300">
                <a:solidFill>
                  <a:schemeClr val="tx2"/>
                </a:solidFill>
                <a:latin typeface="+mn-lt"/>
              </a:defRPr>
            </a:lvl1pPr>
            <a:lvl2pPr marL="0" indent="0">
              <a:lnSpc>
                <a:spcPct val="105000"/>
              </a:lnSpc>
              <a:spcAft>
                <a:spcPts val="0"/>
              </a:spcAft>
              <a:buNone/>
              <a:defRPr sz="1300">
                <a:solidFill>
                  <a:schemeClr val="tx2"/>
                </a:solidFill>
              </a:defRPr>
            </a:lvl2pPr>
          </a:lstStyle>
          <a:p>
            <a:pPr lvl="0"/>
            <a:r>
              <a:rPr lang="fr-FR"/>
              <a:t>Texte</a:t>
            </a:r>
          </a:p>
        </p:txBody>
      </p:sp>
    </p:spTree>
    <p:extLst>
      <p:ext uri="{BB962C8B-B14F-4D97-AF65-F5344CB8AC3E}">
        <p14:creationId xmlns:p14="http://schemas.microsoft.com/office/powerpoint/2010/main" val="283926137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p:cSld name="Graphique_vertical_bande_bleu">
    <p:spTree>
      <p:nvGrpSpPr>
        <p:cNvPr id="1" name=""/>
        <p:cNvGrpSpPr/>
        <p:nvPr/>
      </p:nvGrpSpPr>
      <p:grpSpPr>
        <a:xfrm>
          <a:off x="0" y="0"/>
          <a:ext cx="0" cy="0"/>
          <a:chOff x="0" y="0"/>
          <a:chExt cx="0" cy="0"/>
        </a:xfrm>
      </p:grpSpPr>
      <p:sp>
        <p:nvSpPr>
          <p:cNvPr id="13" name="Espace réservé du texte 11">
            <a:extLst>
              <a:ext uri="{FF2B5EF4-FFF2-40B4-BE49-F238E27FC236}">
                <a16:creationId xmlns:a16="http://schemas.microsoft.com/office/drawing/2014/main" id="{BEC4805D-EDB6-E11F-B54F-F2BA5A1F682D}"/>
              </a:ext>
            </a:extLst>
          </p:cNvPr>
          <p:cNvSpPr>
            <a:spLocks noGrp="1"/>
          </p:cNvSpPr>
          <p:nvPr>
            <p:ph type="body" sz="quarter" idx="22" hasCustomPrompt="1"/>
          </p:nvPr>
        </p:nvSpPr>
        <p:spPr bwMode="gray">
          <a:xfrm>
            <a:off x="8028214" y="296652"/>
            <a:ext cx="3858385" cy="5992993"/>
          </a:xfrm>
          <a:solidFill>
            <a:schemeClr val="tx2"/>
          </a:solidFill>
        </p:spPr>
        <p:txBody>
          <a:bodyPr lIns="324000" tIns="2484000"/>
          <a:lstStyle>
            <a:lvl1pPr marL="0" indent="0">
              <a:spcAft>
                <a:spcPts val="400"/>
              </a:spcAft>
              <a:buFont typeface="Quicksand" pitchFamily="2" charset="0"/>
              <a:buNone/>
              <a:defRPr sz="2750">
                <a:solidFill>
                  <a:schemeClr val="bg1"/>
                </a:solidFill>
                <a:latin typeface="+mn-lt"/>
              </a:defRPr>
            </a:lvl1pPr>
            <a:lvl2pPr marL="0" indent="0">
              <a:spcAft>
                <a:spcPts val="0"/>
              </a:spcAft>
              <a:buFont typeface="Quicksand" pitchFamily="2" charset="0"/>
              <a:buNone/>
              <a:defRPr sz="2000">
                <a:solidFill>
                  <a:schemeClr val="bg1"/>
                </a:solidFill>
              </a:defRPr>
            </a:lvl2pPr>
            <a:lvl3pPr marL="0" indent="0">
              <a:spcBef>
                <a:spcPts val="0"/>
              </a:spcBef>
              <a:spcAft>
                <a:spcPts val="600"/>
              </a:spcAft>
              <a:buFont typeface="Wingdings" panose="05000000000000000000" pitchFamily="2" charset="2"/>
              <a:buNone/>
              <a:defRPr sz="800">
                <a:solidFill>
                  <a:schemeClr val="bg1"/>
                </a:solidFill>
              </a:defRPr>
            </a:lvl3pPr>
            <a:lvl4pPr marL="0" indent="0">
              <a:spcBef>
                <a:spcPts val="0"/>
              </a:spcBef>
              <a:spcAft>
                <a:spcPts val="0"/>
              </a:spcAft>
              <a:buFont typeface="Quicksand" pitchFamily="2" charset="0"/>
              <a:buNone/>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Titre</a:t>
            </a:r>
          </a:p>
          <a:p>
            <a:pPr lvl="1"/>
            <a:r>
              <a:rPr lang="fr-FR" noProof="0"/>
              <a:t>Texte</a:t>
            </a:r>
          </a:p>
        </p:txBody>
      </p:sp>
      <p:sp>
        <p:nvSpPr>
          <p:cNvPr id="2" name="Titre 1">
            <a:extLst>
              <a:ext uri="{FF2B5EF4-FFF2-40B4-BE49-F238E27FC236}">
                <a16:creationId xmlns:a16="http://schemas.microsoft.com/office/drawing/2014/main" id="{7127406D-DEFD-9B39-C6A9-158095B14FD4}"/>
              </a:ext>
            </a:extLst>
          </p:cNvPr>
          <p:cNvSpPr>
            <a:spLocks noGrp="1"/>
          </p:cNvSpPr>
          <p:nvPr>
            <p:ph type="title" hasCustomPrompt="1"/>
          </p:nvPr>
        </p:nvSpPr>
        <p:spPr bwMode="gray">
          <a:xfrm>
            <a:off x="305399" y="260649"/>
            <a:ext cx="7563385"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BD75B0FF-BE3C-406C-C83E-37B79B41C71E}"/>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42C1B6D2-46E0-D8E8-7834-002571566D41}"/>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BA88190F-29AA-6D6A-597E-530DAC5A2E32}"/>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6CB4FB9C-E099-B170-7D4D-6641AF7C4AA8}"/>
              </a:ext>
            </a:extLst>
          </p:cNvPr>
          <p:cNvSpPr>
            <a:spLocks noGrp="1"/>
          </p:cNvSpPr>
          <p:nvPr>
            <p:ph type="body" sz="quarter" idx="19" hasCustomPrompt="1"/>
          </p:nvPr>
        </p:nvSpPr>
        <p:spPr bwMode="gray">
          <a:xfrm>
            <a:off x="532005" y="1246988"/>
            <a:ext cx="6860139" cy="327567"/>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9" name="Espace réservé du graphique 16">
            <a:extLst>
              <a:ext uri="{FF2B5EF4-FFF2-40B4-BE49-F238E27FC236}">
                <a16:creationId xmlns:a16="http://schemas.microsoft.com/office/drawing/2014/main" id="{AF727415-9D7A-500A-4E8B-D21ADA5F6272}"/>
              </a:ext>
            </a:extLst>
          </p:cNvPr>
          <p:cNvSpPr>
            <a:spLocks noGrp="1"/>
          </p:cNvSpPr>
          <p:nvPr>
            <p:ph type="chart" sz="quarter" idx="18" hasCustomPrompt="1"/>
          </p:nvPr>
        </p:nvSpPr>
        <p:spPr bwMode="gray">
          <a:xfrm>
            <a:off x="532007" y="1601585"/>
            <a:ext cx="6860138" cy="3168352"/>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12" name="Espace réservé du texte 11">
            <a:extLst>
              <a:ext uri="{FF2B5EF4-FFF2-40B4-BE49-F238E27FC236}">
                <a16:creationId xmlns:a16="http://schemas.microsoft.com/office/drawing/2014/main" id="{91644929-05DE-9287-3E1B-442AEDE76C3F}"/>
              </a:ext>
            </a:extLst>
          </p:cNvPr>
          <p:cNvSpPr>
            <a:spLocks noGrp="1"/>
          </p:cNvSpPr>
          <p:nvPr>
            <p:ph type="body" sz="quarter" idx="21" hasCustomPrompt="1"/>
          </p:nvPr>
        </p:nvSpPr>
        <p:spPr bwMode="gray">
          <a:xfrm>
            <a:off x="9804412" y="1412777"/>
            <a:ext cx="2082187" cy="1296144"/>
          </a:xfrm>
          <a:noFill/>
        </p:spPr>
        <p:txBody>
          <a:bodyPr lIns="0" tIns="0" anchor="b" anchorCtr="0"/>
          <a:lstStyle>
            <a:lvl1pPr marL="0" indent="0">
              <a:lnSpc>
                <a:spcPct val="90000"/>
              </a:lnSpc>
              <a:spcAft>
                <a:spcPts val="0"/>
              </a:spcAft>
              <a:buFont typeface="Quicksand" pitchFamily="2" charset="0"/>
              <a:buNone/>
              <a:defRPr sz="3200">
                <a:solidFill>
                  <a:schemeClr val="bg1"/>
                </a:solidFill>
                <a:latin typeface="Quire Sans Light" panose="020B0604020202020204" pitchFamily="34" charset="0"/>
              </a:defRPr>
            </a:lvl1pPr>
            <a:lvl2pPr marL="0" indent="0">
              <a:lnSpc>
                <a:spcPct val="90000"/>
              </a:lnSpc>
              <a:spcAft>
                <a:spcPts val="0"/>
              </a:spcAft>
              <a:buFont typeface="Quicksand" pitchFamily="2" charset="0"/>
              <a:buNone/>
              <a:defRPr sz="5500">
                <a:solidFill>
                  <a:schemeClr val="bg1"/>
                </a:solidFill>
                <a:latin typeface="+mn-lt"/>
              </a:defRPr>
            </a:lvl2pPr>
            <a:lvl3pPr marL="0" indent="0">
              <a:spcBef>
                <a:spcPts val="0"/>
              </a:spcBef>
              <a:spcAft>
                <a:spcPts val="600"/>
              </a:spcAft>
              <a:buFont typeface="Wingdings" panose="05000000000000000000" pitchFamily="2" charset="2"/>
              <a:buNone/>
              <a:defRPr sz="800">
                <a:solidFill>
                  <a:schemeClr val="bg1"/>
                </a:solidFill>
              </a:defRPr>
            </a:lvl3pPr>
            <a:lvl4pPr marL="0" indent="0">
              <a:spcBef>
                <a:spcPts val="0"/>
              </a:spcBef>
              <a:spcAft>
                <a:spcPts val="0"/>
              </a:spcAft>
              <a:buFont typeface="Quicksand" pitchFamily="2" charset="0"/>
              <a:buNone/>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Titre</a:t>
            </a:r>
          </a:p>
          <a:p>
            <a:pPr lvl="1"/>
            <a:r>
              <a:rPr lang="fr-FR" noProof="0"/>
              <a:t>0000</a:t>
            </a:r>
          </a:p>
        </p:txBody>
      </p:sp>
      <p:sp>
        <p:nvSpPr>
          <p:cNvPr id="7" name="Espace réservé du texte 11">
            <a:extLst>
              <a:ext uri="{FF2B5EF4-FFF2-40B4-BE49-F238E27FC236}">
                <a16:creationId xmlns:a16="http://schemas.microsoft.com/office/drawing/2014/main" id="{0A5951AB-DD56-12A8-23B5-B5C109E3ED24}"/>
              </a:ext>
            </a:extLst>
          </p:cNvPr>
          <p:cNvSpPr>
            <a:spLocks noGrp="1"/>
          </p:cNvSpPr>
          <p:nvPr>
            <p:ph type="body" sz="quarter" idx="23" hasCustomPrompt="1"/>
          </p:nvPr>
        </p:nvSpPr>
        <p:spPr bwMode="gray">
          <a:xfrm>
            <a:off x="532004" y="4872083"/>
            <a:ext cx="7336780" cy="1417561"/>
          </a:xfrm>
        </p:spPr>
        <p:txBody>
          <a:bodyPr numCol="2" spcCol="144000"/>
          <a:lstStyle>
            <a:lvl1pPr marL="0" indent="0">
              <a:lnSpc>
                <a:spcPct val="105000"/>
              </a:lnSpc>
              <a:spcAft>
                <a:spcPts val="0"/>
              </a:spcAft>
              <a:buNone/>
              <a:tabLst>
                <a:tab pos="360363" algn="l"/>
              </a:tabLst>
              <a:defRPr sz="1300">
                <a:solidFill>
                  <a:schemeClr val="tx2"/>
                </a:solidFill>
                <a:latin typeface="+mn-lt"/>
              </a:defRPr>
            </a:lvl1pPr>
            <a:lvl2pPr marL="563563" indent="0">
              <a:lnSpc>
                <a:spcPct val="105000"/>
              </a:lnSpc>
              <a:spcAft>
                <a:spcPts val="2000"/>
              </a:spcAft>
              <a:buNone/>
              <a:defRPr sz="1800">
                <a:solidFill>
                  <a:schemeClr val="tx2"/>
                </a:solidFill>
              </a:defRPr>
            </a:lvl2pPr>
          </a:lstStyle>
          <a:p>
            <a:r>
              <a:rPr lang="fr-FR"/>
              <a:t>Texte</a:t>
            </a:r>
          </a:p>
          <a:p>
            <a:endParaRPr lang="fr-FR"/>
          </a:p>
          <a:p>
            <a:endParaRPr lang="fr-FR"/>
          </a:p>
          <a:p>
            <a:endParaRPr lang="fr-FR"/>
          </a:p>
          <a:p>
            <a:endParaRPr lang="fr-FR"/>
          </a:p>
          <a:p>
            <a:endParaRPr lang="fr-FR"/>
          </a:p>
          <a:p>
            <a:endParaRPr lang="fr-FR"/>
          </a:p>
          <a:p>
            <a:r>
              <a:rPr lang="fr-FR"/>
              <a:t>Texte</a:t>
            </a:r>
          </a:p>
        </p:txBody>
      </p:sp>
    </p:spTree>
    <p:extLst>
      <p:ext uri="{BB962C8B-B14F-4D97-AF65-F5344CB8AC3E}">
        <p14:creationId xmlns:p14="http://schemas.microsoft.com/office/powerpoint/2010/main" val="384767004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p:cSld name="Graphique+texte_diptyque_blanc_ble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0B2E86A-2B87-1C33-DE5C-14052FAC2CF4}"/>
              </a:ext>
            </a:extLst>
          </p:cNvPr>
          <p:cNvSpPr>
            <a:spLocks noGrp="1"/>
          </p:cNvSpPr>
          <p:nvPr>
            <p:ph type="title" hasCustomPrompt="1"/>
          </p:nvPr>
        </p:nvSpPr>
        <p:spPr bwMode="gray">
          <a:xfrm>
            <a:off x="305400" y="260649"/>
            <a:ext cx="11581200" cy="466209"/>
          </a:xfrm>
        </p:spPr>
        <p:txBody>
          <a:bodyPr/>
          <a:lstStyle/>
          <a:p>
            <a:r>
              <a:rPr lang="fr-FR"/>
              <a:t>Titre de la slide</a:t>
            </a:r>
          </a:p>
        </p:txBody>
      </p:sp>
      <p:sp>
        <p:nvSpPr>
          <p:cNvPr id="3" name="Espace réservé de la date 2">
            <a:extLst>
              <a:ext uri="{FF2B5EF4-FFF2-40B4-BE49-F238E27FC236}">
                <a16:creationId xmlns:a16="http://schemas.microsoft.com/office/drawing/2014/main" id="{A5CBC1A1-6D85-6BF7-5A67-D7F13C5503C7}"/>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21D00D80-AC96-85F2-05A0-4840EE87DFC1}"/>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9A5AB0B3-62B2-6E64-991E-DB3B5231E817}"/>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ableau 18">
            <a:extLst>
              <a:ext uri="{FF2B5EF4-FFF2-40B4-BE49-F238E27FC236}">
                <a16:creationId xmlns:a16="http://schemas.microsoft.com/office/drawing/2014/main" id="{2C07119C-F0CB-A624-7A9A-3E1CD74A5E8A}"/>
              </a:ext>
            </a:extLst>
          </p:cNvPr>
          <p:cNvSpPr>
            <a:spLocks noGrp="1"/>
          </p:cNvSpPr>
          <p:nvPr>
            <p:ph type="tbl" sz="quarter" idx="19" hasCustomPrompt="1"/>
          </p:nvPr>
        </p:nvSpPr>
        <p:spPr bwMode="gray">
          <a:xfrm>
            <a:off x="551384" y="1628798"/>
            <a:ext cx="5184576" cy="4284477"/>
          </a:xfrm>
        </p:spPr>
        <p:txBody>
          <a:bodyPr tIns="900000" anchor="ctr" anchorCtr="0"/>
          <a:lstStyle>
            <a:lvl1pPr marL="0" marR="0" indent="0" algn="ctr" defTabSz="1219170" rtl="0" eaLnBrk="1" fontAlgn="auto" latinLnBrk="0" hangingPunct="1">
              <a:lnSpc>
                <a:spcPct val="100000"/>
              </a:lnSpc>
              <a:spcBef>
                <a:spcPts val="0"/>
              </a:spcBef>
              <a:spcAft>
                <a:spcPts val="0"/>
              </a:spcAft>
              <a:buClrTx/>
              <a:buSzTx/>
              <a:buFont typeface="Arial" pitchFamily="34" charset="0"/>
              <a:buNone/>
              <a:tabLst/>
              <a:defRPr sz="1000" b="1" baseline="0">
                <a:solidFill>
                  <a:schemeClr val="tx1"/>
                </a:solidFill>
              </a:defRPr>
            </a:lvl1pPr>
          </a:lstStyle>
          <a:p>
            <a:r>
              <a:rPr lang="fr-FR" noProof="0"/>
              <a:t>Sélectionner l’icône pour insérer un tableau</a:t>
            </a:r>
          </a:p>
        </p:txBody>
      </p:sp>
      <p:sp>
        <p:nvSpPr>
          <p:cNvPr id="9" name="Espace réservé du texte 8">
            <a:extLst>
              <a:ext uri="{FF2B5EF4-FFF2-40B4-BE49-F238E27FC236}">
                <a16:creationId xmlns:a16="http://schemas.microsoft.com/office/drawing/2014/main" id="{FA0261AE-F501-D1F7-72DA-0C0DFBF47BF7}"/>
              </a:ext>
            </a:extLst>
          </p:cNvPr>
          <p:cNvSpPr>
            <a:spLocks noGrp="1"/>
          </p:cNvSpPr>
          <p:nvPr>
            <p:ph type="body" sz="quarter" idx="13" hasCustomPrompt="1"/>
          </p:nvPr>
        </p:nvSpPr>
        <p:spPr bwMode="gray">
          <a:xfrm>
            <a:off x="305400" y="656692"/>
            <a:ext cx="11581200" cy="360040"/>
          </a:xfrm>
        </p:spPr>
        <p:txBody>
          <a:bodyPr/>
          <a:lstStyle>
            <a:lvl1pPr marL="0" indent="0">
              <a:spcAft>
                <a:spcPts val="0"/>
              </a:spcAft>
              <a:buNone/>
              <a:defRPr sz="2100"/>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Sous-titre de la slide</a:t>
            </a:r>
          </a:p>
        </p:txBody>
      </p:sp>
      <p:sp>
        <p:nvSpPr>
          <p:cNvPr id="10" name="Espace réservé du texte 8">
            <a:extLst>
              <a:ext uri="{FF2B5EF4-FFF2-40B4-BE49-F238E27FC236}">
                <a16:creationId xmlns:a16="http://schemas.microsoft.com/office/drawing/2014/main" id="{99D5A5D0-2C97-BE27-9668-D282AA623369}"/>
              </a:ext>
            </a:extLst>
          </p:cNvPr>
          <p:cNvSpPr>
            <a:spLocks noGrp="1"/>
          </p:cNvSpPr>
          <p:nvPr>
            <p:ph type="body" sz="quarter" idx="20" hasCustomPrompt="1"/>
          </p:nvPr>
        </p:nvSpPr>
        <p:spPr bwMode="gray">
          <a:xfrm>
            <a:off x="551384" y="1251708"/>
            <a:ext cx="5184576" cy="269080"/>
          </a:xfrm>
          <a:custGeom>
            <a:avLst/>
            <a:gdLst>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Lst>
            <a:ahLst/>
            <a:cxnLst>
              <a:cxn ang="0">
                <a:pos x="connsiteX0" y="connsiteY0"/>
              </a:cxn>
              <a:cxn ang="0">
                <a:pos x="connsiteX1" y="connsiteY1"/>
              </a:cxn>
            </a:cxnLst>
            <a:rect l="l" t="t" r="r" b="b"/>
            <a:pathLst>
              <a:path w="5184576" h="269080" stroke="0" extrusionOk="0">
                <a:moveTo>
                  <a:pt x="5184576" y="269080"/>
                </a:moveTo>
                <a:lnTo>
                  <a:pt x="0" y="269077"/>
                </a:lnTo>
                <a:lnTo>
                  <a:pt x="0" y="3"/>
                </a:lnTo>
                <a:cubicBezTo>
                  <a:pt x="0" y="1"/>
                  <a:pt x="2321214" y="0"/>
                  <a:pt x="5184576" y="0"/>
                </a:cubicBezTo>
                <a:lnTo>
                  <a:pt x="5184576" y="269080"/>
                </a:lnTo>
                <a:close/>
              </a:path>
              <a:path w="5184576" h="269080" fill="none">
                <a:moveTo>
                  <a:pt x="5184576" y="269080"/>
                </a:moveTo>
                <a:lnTo>
                  <a:pt x="0" y="269077"/>
                </a:lnTo>
              </a:path>
            </a:pathLst>
          </a:custGeom>
          <a:ln>
            <a:solidFill>
              <a:schemeClr val="tx2"/>
            </a:solidFill>
          </a:ln>
        </p:spPr>
        <p:txBody>
          <a:bodyPr anchor="t" anchorCtr="0"/>
          <a:lstStyle>
            <a:lvl1pPr marL="0" indent="0">
              <a:spcAft>
                <a:spcPts val="0"/>
              </a:spcAft>
              <a:buNone/>
              <a:defRPr sz="14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tableau</a:t>
            </a:r>
          </a:p>
        </p:txBody>
      </p:sp>
      <p:sp>
        <p:nvSpPr>
          <p:cNvPr id="12" name="Espace réservé du texte 11">
            <a:extLst>
              <a:ext uri="{FF2B5EF4-FFF2-40B4-BE49-F238E27FC236}">
                <a16:creationId xmlns:a16="http://schemas.microsoft.com/office/drawing/2014/main" id="{506E35BE-71C6-FF18-CE64-68F64A147792}"/>
              </a:ext>
            </a:extLst>
          </p:cNvPr>
          <p:cNvSpPr>
            <a:spLocks noGrp="1"/>
          </p:cNvSpPr>
          <p:nvPr>
            <p:ph type="body" sz="quarter" idx="21" hasCustomPrompt="1"/>
          </p:nvPr>
        </p:nvSpPr>
        <p:spPr bwMode="gray">
          <a:xfrm>
            <a:off x="6156360" y="1184245"/>
            <a:ext cx="5730240" cy="5105400"/>
          </a:xfrm>
          <a:solidFill>
            <a:schemeClr val="tx2"/>
          </a:solidFill>
        </p:spPr>
        <p:txBody>
          <a:bodyPr lIns="216000" tIns="540000"/>
          <a:lstStyle>
            <a:lvl1pPr marL="171450" indent="-171450">
              <a:spcAft>
                <a:spcPts val="700"/>
              </a:spcAft>
              <a:buFont typeface="Quicksand" pitchFamily="2" charset="0"/>
              <a:buChar char="―"/>
              <a:defRPr sz="1100">
                <a:solidFill>
                  <a:schemeClr val="bg1"/>
                </a:solidFill>
                <a:latin typeface="+mn-lt"/>
              </a:defRPr>
            </a:lvl1pPr>
            <a:lvl2pPr marL="358775" indent="-115888">
              <a:spcAft>
                <a:spcPts val="600"/>
              </a:spcAft>
              <a:buFont typeface="Quicksand" pitchFamily="2" charset="0"/>
              <a:buChar char="&gt;"/>
              <a:defRPr sz="900">
                <a:solidFill>
                  <a:schemeClr val="bg1"/>
                </a:solidFill>
              </a:defRPr>
            </a:lvl2pPr>
            <a:lvl3pPr marL="554038" indent="-106363">
              <a:spcBef>
                <a:spcPts val="0"/>
              </a:spcBef>
              <a:spcAft>
                <a:spcPts val="600"/>
              </a:spcAft>
              <a:buFont typeface="Wingdings" panose="05000000000000000000" pitchFamily="2" charset="2"/>
              <a:buChar char="§"/>
              <a:defRPr sz="800">
                <a:solidFill>
                  <a:schemeClr val="bg1"/>
                </a:solidFill>
              </a:defRPr>
            </a:lvl3pPr>
            <a:lvl4pPr marL="701675" indent="-92075">
              <a:spcBef>
                <a:spcPts val="0"/>
              </a:spcBef>
              <a:spcAft>
                <a:spcPts val="0"/>
              </a:spcAft>
              <a:buFont typeface="Quicksand" pitchFamily="2" charset="0"/>
              <a:buChar char="•"/>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Texte de niveau 1</a:t>
            </a:r>
          </a:p>
          <a:p>
            <a:pPr lvl="1"/>
            <a:r>
              <a:rPr lang="fr-FR" noProof="0"/>
              <a:t>Texte de niveau 2</a:t>
            </a:r>
          </a:p>
          <a:p>
            <a:pPr lvl="2"/>
            <a:r>
              <a:rPr lang="fr-FR" noProof="0"/>
              <a:t>Texte de niveau 3</a:t>
            </a:r>
          </a:p>
          <a:p>
            <a:pPr lvl="3"/>
            <a:r>
              <a:rPr lang="fr-FR" noProof="0"/>
              <a:t>Texte de niveau </a:t>
            </a:r>
          </a:p>
        </p:txBody>
      </p:sp>
      <p:sp>
        <p:nvSpPr>
          <p:cNvPr id="13" name="Espace réservé du texte 8">
            <a:extLst>
              <a:ext uri="{FF2B5EF4-FFF2-40B4-BE49-F238E27FC236}">
                <a16:creationId xmlns:a16="http://schemas.microsoft.com/office/drawing/2014/main" id="{FB4B52F5-0661-C38C-2F2A-6D0A639580FC}"/>
              </a:ext>
            </a:extLst>
          </p:cNvPr>
          <p:cNvSpPr>
            <a:spLocks noGrp="1"/>
          </p:cNvSpPr>
          <p:nvPr>
            <p:ph type="body" sz="quarter" idx="22" hasCustomPrompt="1"/>
          </p:nvPr>
        </p:nvSpPr>
        <p:spPr bwMode="gray">
          <a:xfrm>
            <a:off x="6368143" y="1251708"/>
            <a:ext cx="5306674" cy="269080"/>
          </a:xfrm>
          <a:custGeom>
            <a:avLst/>
            <a:gdLst>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Lst>
            <a:ahLst/>
            <a:cxnLst>
              <a:cxn ang="0">
                <a:pos x="connsiteX0" y="connsiteY0"/>
              </a:cxn>
              <a:cxn ang="0">
                <a:pos x="connsiteX1" y="connsiteY1"/>
              </a:cxn>
            </a:cxnLst>
            <a:rect l="l" t="t" r="r" b="b"/>
            <a:pathLst>
              <a:path w="5184576" h="269080" stroke="0" extrusionOk="0">
                <a:moveTo>
                  <a:pt x="5184576" y="269080"/>
                </a:moveTo>
                <a:lnTo>
                  <a:pt x="0" y="269077"/>
                </a:lnTo>
                <a:lnTo>
                  <a:pt x="0" y="3"/>
                </a:lnTo>
                <a:cubicBezTo>
                  <a:pt x="0" y="1"/>
                  <a:pt x="2321214" y="0"/>
                  <a:pt x="5184576" y="0"/>
                </a:cubicBezTo>
                <a:lnTo>
                  <a:pt x="5184576" y="269080"/>
                </a:lnTo>
                <a:close/>
              </a:path>
              <a:path w="5184576" h="269080" fill="none">
                <a:moveTo>
                  <a:pt x="5184576" y="269080"/>
                </a:moveTo>
                <a:lnTo>
                  <a:pt x="0" y="269077"/>
                </a:lnTo>
              </a:path>
            </a:pathLst>
          </a:custGeom>
          <a:ln>
            <a:solidFill>
              <a:schemeClr val="bg1"/>
            </a:solidFill>
          </a:ln>
        </p:spPr>
        <p:txBody>
          <a:bodyPr anchor="t" anchorCtr="0"/>
          <a:lstStyle>
            <a:lvl1pPr marL="0" indent="0">
              <a:spcAft>
                <a:spcPts val="0"/>
              </a:spcAft>
              <a:buNone/>
              <a:defRPr sz="14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Tree>
    <p:extLst>
      <p:ext uri="{BB962C8B-B14F-4D97-AF65-F5344CB8AC3E}">
        <p14:creationId xmlns:p14="http://schemas.microsoft.com/office/powerpoint/2010/main" val="274650080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p:cSld name="4_blocs_bleu">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4FA41AE-C86E-C054-643B-54E9F7FA9C53}"/>
              </a:ext>
            </a:extLst>
          </p:cNvPr>
          <p:cNvSpPr/>
          <p:nvPr/>
        </p:nvSpPr>
        <p:spPr>
          <a:xfrm>
            <a:off x="305400" y="1184245"/>
            <a:ext cx="5731200" cy="2424774"/>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742B4836-DFA2-0F4C-B64D-A2A99B27BEBF}"/>
              </a:ext>
            </a:extLst>
          </p:cNvPr>
          <p:cNvSpPr>
            <a:spLocks noGrp="1"/>
          </p:cNvSpPr>
          <p:nvPr>
            <p:ph type="title" hasCustomPrompt="1"/>
          </p:nvPr>
        </p:nvSpPr>
        <p:spPr bwMode="gray">
          <a:xfrm>
            <a:off x="305400" y="260649"/>
            <a:ext cx="115812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6F100527-69D4-19AC-99C4-7B3B3B361FCE}"/>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2157C49B-47AA-F8B1-89B2-E3C99F5F2F86}"/>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E085A190-A326-C7F5-F613-30E3120E24DF}"/>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7" name="Espace réservé du texte 11">
            <a:extLst>
              <a:ext uri="{FF2B5EF4-FFF2-40B4-BE49-F238E27FC236}">
                <a16:creationId xmlns:a16="http://schemas.microsoft.com/office/drawing/2014/main" id="{60296A31-42B6-41EF-1450-767E039F8BCB}"/>
              </a:ext>
            </a:extLst>
          </p:cNvPr>
          <p:cNvSpPr>
            <a:spLocks noGrp="1"/>
          </p:cNvSpPr>
          <p:nvPr>
            <p:ph type="body" sz="quarter" idx="21" hasCustomPrompt="1"/>
          </p:nvPr>
        </p:nvSpPr>
        <p:spPr bwMode="gray">
          <a:xfrm>
            <a:off x="6156360" y="1184245"/>
            <a:ext cx="5730240" cy="2424775"/>
          </a:xfrm>
          <a:solidFill>
            <a:schemeClr val="tx2">
              <a:alpha val="80000"/>
            </a:schemeClr>
          </a:solidFill>
        </p:spPr>
        <p:txBody>
          <a:bodyPr lIns="216000" tIns="540000"/>
          <a:lstStyle>
            <a:lvl1pPr marL="171450" indent="-171450">
              <a:spcAft>
                <a:spcPts val="700"/>
              </a:spcAft>
              <a:buFont typeface="Quicksand" pitchFamily="2" charset="0"/>
              <a:buChar char="―"/>
              <a:defRPr sz="1100">
                <a:solidFill>
                  <a:schemeClr val="bg1"/>
                </a:solidFill>
                <a:latin typeface="+mn-lt"/>
              </a:defRPr>
            </a:lvl1pPr>
            <a:lvl2pPr marL="358775" indent="-115888">
              <a:spcAft>
                <a:spcPts val="600"/>
              </a:spcAft>
              <a:buFont typeface="Quicksand" pitchFamily="2" charset="0"/>
              <a:buChar char="&gt;"/>
              <a:defRPr sz="900">
                <a:solidFill>
                  <a:schemeClr val="bg1"/>
                </a:solidFill>
              </a:defRPr>
            </a:lvl2pPr>
            <a:lvl3pPr marL="554038" indent="-106363">
              <a:spcBef>
                <a:spcPts val="0"/>
              </a:spcBef>
              <a:spcAft>
                <a:spcPts val="600"/>
              </a:spcAft>
              <a:buFont typeface="Wingdings" panose="05000000000000000000" pitchFamily="2" charset="2"/>
              <a:buChar char="§"/>
              <a:defRPr sz="800">
                <a:solidFill>
                  <a:schemeClr val="bg1"/>
                </a:solidFill>
              </a:defRPr>
            </a:lvl3pPr>
            <a:lvl4pPr marL="701675" indent="-92075">
              <a:spcBef>
                <a:spcPts val="0"/>
              </a:spcBef>
              <a:spcAft>
                <a:spcPts val="0"/>
              </a:spcAft>
              <a:buFont typeface="Quicksand" pitchFamily="2" charset="0"/>
              <a:buChar char="•"/>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Texte de niveau 1</a:t>
            </a:r>
          </a:p>
          <a:p>
            <a:pPr lvl="1"/>
            <a:r>
              <a:rPr lang="fr-FR" noProof="0"/>
              <a:t>Texte de niveau 2</a:t>
            </a:r>
          </a:p>
          <a:p>
            <a:pPr lvl="2"/>
            <a:r>
              <a:rPr lang="fr-FR" noProof="0"/>
              <a:t>Texte de niveau 3</a:t>
            </a:r>
          </a:p>
          <a:p>
            <a:pPr lvl="3"/>
            <a:r>
              <a:rPr lang="fr-FR" noProof="0"/>
              <a:t>Texte de niveau </a:t>
            </a:r>
          </a:p>
        </p:txBody>
      </p:sp>
      <p:sp>
        <p:nvSpPr>
          <p:cNvPr id="8" name="Espace réservé du texte 8">
            <a:extLst>
              <a:ext uri="{FF2B5EF4-FFF2-40B4-BE49-F238E27FC236}">
                <a16:creationId xmlns:a16="http://schemas.microsoft.com/office/drawing/2014/main" id="{F492D2D4-80A4-EEA9-8389-3A476302423D}"/>
              </a:ext>
            </a:extLst>
          </p:cNvPr>
          <p:cNvSpPr>
            <a:spLocks noGrp="1"/>
          </p:cNvSpPr>
          <p:nvPr>
            <p:ph type="body" sz="quarter" idx="22" hasCustomPrompt="1"/>
          </p:nvPr>
        </p:nvSpPr>
        <p:spPr bwMode="gray">
          <a:xfrm>
            <a:off x="6368143" y="1251708"/>
            <a:ext cx="5306674" cy="269080"/>
          </a:xfrm>
          <a:custGeom>
            <a:avLst/>
            <a:gdLst>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Lst>
            <a:ahLst/>
            <a:cxnLst>
              <a:cxn ang="0">
                <a:pos x="connsiteX0" y="connsiteY0"/>
              </a:cxn>
              <a:cxn ang="0">
                <a:pos x="connsiteX1" y="connsiteY1"/>
              </a:cxn>
            </a:cxnLst>
            <a:rect l="l" t="t" r="r" b="b"/>
            <a:pathLst>
              <a:path w="5184576" h="269080" stroke="0" extrusionOk="0">
                <a:moveTo>
                  <a:pt x="5184576" y="269080"/>
                </a:moveTo>
                <a:lnTo>
                  <a:pt x="0" y="269077"/>
                </a:lnTo>
                <a:lnTo>
                  <a:pt x="0" y="3"/>
                </a:lnTo>
                <a:cubicBezTo>
                  <a:pt x="0" y="1"/>
                  <a:pt x="2321214" y="0"/>
                  <a:pt x="5184576" y="0"/>
                </a:cubicBezTo>
                <a:lnTo>
                  <a:pt x="5184576" y="269080"/>
                </a:lnTo>
                <a:close/>
              </a:path>
              <a:path w="5184576" h="269080" fill="none">
                <a:moveTo>
                  <a:pt x="5184576" y="269080"/>
                </a:moveTo>
                <a:lnTo>
                  <a:pt x="0" y="269077"/>
                </a:lnTo>
              </a:path>
            </a:pathLst>
          </a:custGeom>
          <a:ln>
            <a:solidFill>
              <a:schemeClr val="bg1"/>
            </a:solidFill>
          </a:ln>
        </p:spPr>
        <p:txBody>
          <a:bodyPr anchor="t" anchorCtr="0"/>
          <a:lstStyle>
            <a:lvl1pPr marL="0" indent="0">
              <a:spcAft>
                <a:spcPts val="0"/>
              </a:spcAft>
              <a:buNone/>
              <a:defRPr sz="14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9" name="Espace réservé du texte 11">
            <a:extLst>
              <a:ext uri="{FF2B5EF4-FFF2-40B4-BE49-F238E27FC236}">
                <a16:creationId xmlns:a16="http://schemas.microsoft.com/office/drawing/2014/main" id="{6BF3708E-D007-3719-61BB-15AD63A630B2}"/>
              </a:ext>
            </a:extLst>
          </p:cNvPr>
          <p:cNvSpPr>
            <a:spLocks noGrp="1"/>
          </p:cNvSpPr>
          <p:nvPr>
            <p:ph type="body" sz="quarter" idx="23" hasCustomPrompt="1"/>
          </p:nvPr>
        </p:nvSpPr>
        <p:spPr bwMode="gray">
          <a:xfrm>
            <a:off x="6156360" y="3741952"/>
            <a:ext cx="5730240" cy="2547693"/>
          </a:xfrm>
          <a:solidFill>
            <a:schemeClr val="tx2">
              <a:alpha val="40000"/>
            </a:schemeClr>
          </a:solidFill>
        </p:spPr>
        <p:txBody>
          <a:bodyPr lIns="216000" tIns="540000"/>
          <a:lstStyle>
            <a:lvl1pPr marL="171450" indent="-171450">
              <a:spcAft>
                <a:spcPts val="700"/>
              </a:spcAft>
              <a:buFont typeface="Quicksand" pitchFamily="2" charset="0"/>
              <a:buChar char="―"/>
              <a:defRPr sz="1100">
                <a:solidFill>
                  <a:schemeClr val="bg1"/>
                </a:solidFill>
                <a:latin typeface="+mn-lt"/>
              </a:defRPr>
            </a:lvl1pPr>
            <a:lvl2pPr marL="358775" indent="-115888">
              <a:spcAft>
                <a:spcPts val="600"/>
              </a:spcAft>
              <a:buFont typeface="Quicksand" pitchFamily="2" charset="0"/>
              <a:buChar char="&gt;"/>
              <a:defRPr sz="900">
                <a:solidFill>
                  <a:schemeClr val="bg1"/>
                </a:solidFill>
              </a:defRPr>
            </a:lvl2pPr>
            <a:lvl3pPr marL="554038" indent="-106363">
              <a:spcBef>
                <a:spcPts val="0"/>
              </a:spcBef>
              <a:spcAft>
                <a:spcPts val="600"/>
              </a:spcAft>
              <a:buFont typeface="Wingdings" panose="05000000000000000000" pitchFamily="2" charset="2"/>
              <a:buChar char="§"/>
              <a:defRPr sz="800">
                <a:solidFill>
                  <a:schemeClr val="bg1"/>
                </a:solidFill>
              </a:defRPr>
            </a:lvl3pPr>
            <a:lvl4pPr marL="701675" indent="-92075">
              <a:spcBef>
                <a:spcPts val="0"/>
              </a:spcBef>
              <a:spcAft>
                <a:spcPts val="0"/>
              </a:spcAft>
              <a:buFont typeface="Quicksand" pitchFamily="2" charset="0"/>
              <a:buChar char="•"/>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Texte de niveau 1</a:t>
            </a:r>
          </a:p>
          <a:p>
            <a:pPr lvl="1"/>
            <a:r>
              <a:rPr lang="fr-FR" noProof="0"/>
              <a:t>Texte de niveau 2</a:t>
            </a:r>
          </a:p>
          <a:p>
            <a:pPr lvl="2"/>
            <a:r>
              <a:rPr lang="fr-FR" noProof="0"/>
              <a:t>Texte de niveau 3</a:t>
            </a:r>
          </a:p>
          <a:p>
            <a:pPr lvl="3"/>
            <a:r>
              <a:rPr lang="fr-FR" noProof="0"/>
              <a:t>Texte de niveau </a:t>
            </a:r>
          </a:p>
        </p:txBody>
      </p:sp>
      <p:sp>
        <p:nvSpPr>
          <p:cNvPr id="10" name="Espace réservé du texte 8">
            <a:extLst>
              <a:ext uri="{FF2B5EF4-FFF2-40B4-BE49-F238E27FC236}">
                <a16:creationId xmlns:a16="http://schemas.microsoft.com/office/drawing/2014/main" id="{799F2D02-10D0-E06F-40D5-39521153B51D}"/>
              </a:ext>
            </a:extLst>
          </p:cNvPr>
          <p:cNvSpPr>
            <a:spLocks noGrp="1"/>
          </p:cNvSpPr>
          <p:nvPr>
            <p:ph type="body" sz="quarter" idx="24" hasCustomPrompt="1"/>
          </p:nvPr>
        </p:nvSpPr>
        <p:spPr bwMode="gray">
          <a:xfrm>
            <a:off x="6368143" y="3809415"/>
            <a:ext cx="5306674" cy="269080"/>
          </a:xfrm>
          <a:custGeom>
            <a:avLst/>
            <a:gdLst>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Lst>
            <a:ahLst/>
            <a:cxnLst>
              <a:cxn ang="0">
                <a:pos x="connsiteX0" y="connsiteY0"/>
              </a:cxn>
              <a:cxn ang="0">
                <a:pos x="connsiteX1" y="connsiteY1"/>
              </a:cxn>
            </a:cxnLst>
            <a:rect l="l" t="t" r="r" b="b"/>
            <a:pathLst>
              <a:path w="5184576" h="269080" stroke="0" extrusionOk="0">
                <a:moveTo>
                  <a:pt x="5184576" y="269080"/>
                </a:moveTo>
                <a:lnTo>
                  <a:pt x="0" y="269077"/>
                </a:lnTo>
                <a:lnTo>
                  <a:pt x="0" y="3"/>
                </a:lnTo>
                <a:cubicBezTo>
                  <a:pt x="0" y="1"/>
                  <a:pt x="2321214" y="0"/>
                  <a:pt x="5184576" y="0"/>
                </a:cubicBezTo>
                <a:lnTo>
                  <a:pt x="5184576" y="269080"/>
                </a:lnTo>
                <a:close/>
              </a:path>
              <a:path w="5184576" h="269080" fill="none">
                <a:moveTo>
                  <a:pt x="5184576" y="269080"/>
                </a:moveTo>
                <a:lnTo>
                  <a:pt x="0" y="269077"/>
                </a:lnTo>
              </a:path>
            </a:pathLst>
          </a:custGeom>
          <a:ln>
            <a:solidFill>
              <a:schemeClr val="bg1"/>
            </a:solidFill>
          </a:ln>
        </p:spPr>
        <p:txBody>
          <a:bodyPr anchor="t" anchorCtr="0"/>
          <a:lstStyle>
            <a:lvl1pPr marL="0" indent="0">
              <a:spcAft>
                <a:spcPts val="0"/>
              </a:spcAft>
              <a:buNone/>
              <a:defRPr sz="14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12" name="Espace réservé du texte 11">
            <a:extLst>
              <a:ext uri="{FF2B5EF4-FFF2-40B4-BE49-F238E27FC236}">
                <a16:creationId xmlns:a16="http://schemas.microsoft.com/office/drawing/2014/main" id="{A31CA3A3-E718-8B98-878A-DAB8976B69BF}"/>
              </a:ext>
            </a:extLst>
          </p:cNvPr>
          <p:cNvSpPr>
            <a:spLocks noGrp="1"/>
          </p:cNvSpPr>
          <p:nvPr>
            <p:ph type="body" sz="quarter" idx="26" hasCustomPrompt="1"/>
          </p:nvPr>
        </p:nvSpPr>
        <p:spPr bwMode="gray">
          <a:xfrm>
            <a:off x="305400" y="3741952"/>
            <a:ext cx="5730240" cy="2547693"/>
          </a:xfrm>
          <a:solidFill>
            <a:schemeClr val="tx2">
              <a:alpha val="60000"/>
            </a:schemeClr>
          </a:solidFill>
        </p:spPr>
        <p:txBody>
          <a:bodyPr lIns="216000" tIns="540000"/>
          <a:lstStyle>
            <a:lvl1pPr marL="171450" indent="-171450">
              <a:spcAft>
                <a:spcPts val="700"/>
              </a:spcAft>
              <a:buFont typeface="Quicksand" pitchFamily="2" charset="0"/>
              <a:buChar char="―"/>
              <a:defRPr sz="1100">
                <a:solidFill>
                  <a:schemeClr val="bg1"/>
                </a:solidFill>
                <a:latin typeface="+mn-lt"/>
              </a:defRPr>
            </a:lvl1pPr>
            <a:lvl2pPr marL="358775" indent="-115888">
              <a:spcAft>
                <a:spcPts val="600"/>
              </a:spcAft>
              <a:buFont typeface="Quicksand" pitchFamily="2" charset="0"/>
              <a:buChar char="&gt;"/>
              <a:defRPr sz="900">
                <a:solidFill>
                  <a:schemeClr val="bg1"/>
                </a:solidFill>
              </a:defRPr>
            </a:lvl2pPr>
            <a:lvl3pPr marL="554038" indent="-106363">
              <a:spcBef>
                <a:spcPts val="0"/>
              </a:spcBef>
              <a:spcAft>
                <a:spcPts val="600"/>
              </a:spcAft>
              <a:buFont typeface="Wingdings" panose="05000000000000000000" pitchFamily="2" charset="2"/>
              <a:buChar char="§"/>
              <a:defRPr sz="800">
                <a:solidFill>
                  <a:schemeClr val="bg1"/>
                </a:solidFill>
              </a:defRPr>
            </a:lvl3pPr>
            <a:lvl4pPr marL="701675" indent="-92075">
              <a:spcBef>
                <a:spcPts val="0"/>
              </a:spcBef>
              <a:spcAft>
                <a:spcPts val="0"/>
              </a:spcAft>
              <a:buFont typeface="Quicksand" pitchFamily="2" charset="0"/>
              <a:buChar char="•"/>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Texte de niveau 1</a:t>
            </a:r>
          </a:p>
          <a:p>
            <a:pPr lvl="1"/>
            <a:r>
              <a:rPr lang="fr-FR" noProof="0"/>
              <a:t>Texte de niveau 2</a:t>
            </a:r>
          </a:p>
          <a:p>
            <a:pPr lvl="2"/>
            <a:r>
              <a:rPr lang="fr-FR" noProof="0"/>
              <a:t>Texte de niveau 3</a:t>
            </a:r>
          </a:p>
          <a:p>
            <a:pPr lvl="3"/>
            <a:r>
              <a:rPr lang="fr-FR" noProof="0"/>
              <a:t>Texte de niveau </a:t>
            </a:r>
          </a:p>
        </p:txBody>
      </p:sp>
      <p:sp>
        <p:nvSpPr>
          <p:cNvPr id="13" name="Espace réservé du texte 8">
            <a:extLst>
              <a:ext uri="{FF2B5EF4-FFF2-40B4-BE49-F238E27FC236}">
                <a16:creationId xmlns:a16="http://schemas.microsoft.com/office/drawing/2014/main" id="{FBB2F603-65B4-E94D-C221-8FB409EAAC44}"/>
              </a:ext>
            </a:extLst>
          </p:cNvPr>
          <p:cNvSpPr>
            <a:spLocks noGrp="1"/>
          </p:cNvSpPr>
          <p:nvPr>
            <p:ph type="body" sz="quarter" idx="27" hasCustomPrompt="1"/>
          </p:nvPr>
        </p:nvSpPr>
        <p:spPr bwMode="gray">
          <a:xfrm>
            <a:off x="517184" y="3809415"/>
            <a:ext cx="5306674" cy="269080"/>
          </a:xfrm>
          <a:custGeom>
            <a:avLst/>
            <a:gdLst>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Lst>
            <a:ahLst/>
            <a:cxnLst>
              <a:cxn ang="0">
                <a:pos x="connsiteX0" y="connsiteY0"/>
              </a:cxn>
              <a:cxn ang="0">
                <a:pos x="connsiteX1" y="connsiteY1"/>
              </a:cxn>
            </a:cxnLst>
            <a:rect l="l" t="t" r="r" b="b"/>
            <a:pathLst>
              <a:path w="5184576" h="269080" stroke="0" extrusionOk="0">
                <a:moveTo>
                  <a:pt x="5184576" y="269080"/>
                </a:moveTo>
                <a:lnTo>
                  <a:pt x="0" y="269077"/>
                </a:lnTo>
                <a:lnTo>
                  <a:pt x="0" y="3"/>
                </a:lnTo>
                <a:cubicBezTo>
                  <a:pt x="0" y="1"/>
                  <a:pt x="2321214" y="0"/>
                  <a:pt x="5184576" y="0"/>
                </a:cubicBezTo>
                <a:lnTo>
                  <a:pt x="5184576" y="269080"/>
                </a:lnTo>
                <a:close/>
              </a:path>
              <a:path w="5184576" h="269080" fill="none">
                <a:moveTo>
                  <a:pt x="5184576" y="269080"/>
                </a:moveTo>
                <a:lnTo>
                  <a:pt x="0" y="269077"/>
                </a:lnTo>
              </a:path>
            </a:pathLst>
          </a:custGeom>
          <a:ln>
            <a:solidFill>
              <a:schemeClr val="bg1"/>
            </a:solidFill>
          </a:ln>
        </p:spPr>
        <p:txBody>
          <a:bodyPr anchor="t" anchorCtr="0"/>
          <a:lstStyle>
            <a:lvl1pPr marL="0" indent="0">
              <a:spcAft>
                <a:spcPts val="0"/>
              </a:spcAft>
              <a:buNone/>
              <a:defRPr sz="14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17" name="Espace réservé du texte 8">
            <a:extLst>
              <a:ext uri="{FF2B5EF4-FFF2-40B4-BE49-F238E27FC236}">
                <a16:creationId xmlns:a16="http://schemas.microsoft.com/office/drawing/2014/main" id="{90C7BD1E-D4B9-E0A1-01F7-A03CCA448D83}"/>
              </a:ext>
            </a:extLst>
          </p:cNvPr>
          <p:cNvSpPr>
            <a:spLocks noGrp="1"/>
          </p:cNvSpPr>
          <p:nvPr>
            <p:ph type="body" sz="quarter" idx="29" hasCustomPrompt="1"/>
          </p:nvPr>
        </p:nvSpPr>
        <p:spPr bwMode="gray">
          <a:xfrm>
            <a:off x="517184" y="1251708"/>
            <a:ext cx="5306674" cy="269080"/>
          </a:xfrm>
          <a:custGeom>
            <a:avLst/>
            <a:gdLst>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Lst>
            <a:ahLst/>
            <a:cxnLst>
              <a:cxn ang="0">
                <a:pos x="connsiteX0" y="connsiteY0"/>
              </a:cxn>
              <a:cxn ang="0">
                <a:pos x="connsiteX1" y="connsiteY1"/>
              </a:cxn>
            </a:cxnLst>
            <a:rect l="l" t="t" r="r" b="b"/>
            <a:pathLst>
              <a:path w="5184576" h="269080" stroke="0" extrusionOk="0">
                <a:moveTo>
                  <a:pt x="5184576" y="269080"/>
                </a:moveTo>
                <a:lnTo>
                  <a:pt x="0" y="269077"/>
                </a:lnTo>
                <a:lnTo>
                  <a:pt x="0" y="3"/>
                </a:lnTo>
                <a:cubicBezTo>
                  <a:pt x="0" y="1"/>
                  <a:pt x="2321214" y="0"/>
                  <a:pt x="5184576" y="0"/>
                </a:cubicBezTo>
                <a:lnTo>
                  <a:pt x="5184576" y="269080"/>
                </a:lnTo>
                <a:close/>
              </a:path>
              <a:path w="5184576" h="269080" fill="none">
                <a:moveTo>
                  <a:pt x="5184576" y="269080"/>
                </a:moveTo>
                <a:lnTo>
                  <a:pt x="0" y="269077"/>
                </a:lnTo>
              </a:path>
            </a:pathLst>
          </a:custGeom>
          <a:ln>
            <a:solidFill>
              <a:schemeClr val="bg1"/>
            </a:solidFill>
          </a:ln>
        </p:spPr>
        <p:txBody>
          <a:bodyPr anchor="t" anchorCtr="0"/>
          <a:lstStyle>
            <a:lvl1pPr marL="0" indent="0">
              <a:spcAft>
                <a:spcPts val="0"/>
              </a:spcAft>
              <a:buNone/>
              <a:defRPr sz="14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15" name="Espace réservé du contenu 13">
            <a:extLst>
              <a:ext uri="{FF2B5EF4-FFF2-40B4-BE49-F238E27FC236}">
                <a16:creationId xmlns:a16="http://schemas.microsoft.com/office/drawing/2014/main" id="{A593735F-A435-B5DD-D98A-BEE3DF85CE1F}"/>
              </a:ext>
            </a:extLst>
          </p:cNvPr>
          <p:cNvSpPr>
            <a:spLocks noGrp="1"/>
          </p:cNvSpPr>
          <p:nvPr>
            <p:ph sz="quarter" idx="30" hasCustomPrompt="1"/>
          </p:nvPr>
        </p:nvSpPr>
        <p:spPr>
          <a:xfrm>
            <a:off x="550863" y="1593018"/>
            <a:ext cx="5184000" cy="1835982"/>
          </a:xfrm>
        </p:spPr>
        <p:txBody>
          <a:bodyPr tIns="900000" anchor="ctr" anchorCtr="0">
            <a:normAutofit/>
          </a:bodyPr>
          <a:lstStyle>
            <a:lvl1pPr marL="179388" indent="0" algn="ctr">
              <a:buNone/>
              <a:defRPr sz="1000" b="1">
                <a:solidFill>
                  <a:schemeClr val="bg1"/>
                </a:solidFill>
                <a:latin typeface="+mn-lt"/>
              </a:defRPr>
            </a:lvl1pPr>
          </a:lstStyle>
          <a:p>
            <a:r>
              <a:rPr lang="fr-FR" noProof="0"/>
              <a:t>Sélectionner l’icône pour insérer un média</a:t>
            </a:r>
          </a:p>
        </p:txBody>
      </p:sp>
      <p:sp>
        <p:nvSpPr>
          <p:cNvPr id="6" name="Rectangle 5">
            <a:extLst>
              <a:ext uri="{FF2B5EF4-FFF2-40B4-BE49-F238E27FC236}">
                <a16:creationId xmlns:a16="http://schemas.microsoft.com/office/drawing/2014/main" id="{79880D6C-E34F-9BF2-C15F-768CB38A065D}"/>
              </a:ext>
            </a:extLst>
          </p:cNvPr>
          <p:cNvSpPr/>
          <p:nvPr userDrawn="1"/>
        </p:nvSpPr>
        <p:spPr>
          <a:xfrm>
            <a:off x="305400" y="1184245"/>
            <a:ext cx="5731200" cy="2424774"/>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09144130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p:cSld name="Texte+tablea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B87EE8E-8458-0545-AE94-24517279D331}"/>
              </a:ext>
            </a:extLst>
          </p:cNvPr>
          <p:cNvSpPr>
            <a:spLocks noGrp="1"/>
          </p:cNvSpPr>
          <p:nvPr>
            <p:ph type="title" hasCustomPrompt="1"/>
          </p:nvPr>
        </p:nvSpPr>
        <p:spPr bwMode="gray"/>
        <p:txBody>
          <a:bodyPr/>
          <a:lstStyle/>
          <a:p>
            <a:r>
              <a:rPr lang="fr-FR"/>
              <a:t>Titre de la slide</a:t>
            </a:r>
          </a:p>
        </p:txBody>
      </p:sp>
      <p:sp>
        <p:nvSpPr>
          <p:cNvPr id="3" name="Espace réservé de la date 2">
            <a:extLst>
              <a:ext uri="{FF2B5EF4-FFF2-40B4-BE49-F238E27FC236}">
                <a16:creationId xmlns:a16="http://schemas.microsoft.com/office/drawing/2014/main" id="{511D08FA-CF5D-625A-DBB7-A9FB22D6D5D0}"/>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467654F-451E-7889-68BF-081DA4B2DCBA}"/>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7F41C628-A5E7-EEB1-7C35-E70C04215CB4}"/>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ableau 18">
            <a:extLst>
              <a:ext uri="{FF2B5EF4-FFF2-40B4-BE49-F238E27FC236}">
                <a16:creationId xmlns:a16="http://schemas.microsoft.com/office/drawing/2014/main" id="{AD796271-BFD5-CD16-9D31-ECDBAB63B243}"/>
              </a:ext>
            </a:extLst>
          </p:cNvPr>
          <p:cNvSpPr>
            <a:spLocks noGrp="1"/>
          </p:cNvSpPr>
          <p:nvPr>
            <p:ph type="tbl" sz="quarter" idx="19" hasCustomPrompt="1"/>
          </p:nvPr>
        </p:nvSpPr>
        <p:spPr bwMode="gray">
          <a:xfrm>
            <a:off x="551384" y="2132856"/>
            <a:ext cx="11089232" cy="4032448"/>
          </a:xfrm>
        </p:spPr>
        <p:txBody>
          <a:bodyPr tIns="900000" anchor="ctr" anchorCtr="0"/>
          <a:lstStyle>
            <a:lvl1pPr marL="0" marR="0" indent="0" algn="ctr" defTabSz="1219170" rtl="0" eaLnBrk="1" fontAlgn="auto" latinLnBrk="0" hangingPunct="1">
              <a:lnSpc>
                <a:spcPct val="100000"/>
              </a:lnSpc>
              <a:spcBef>
                <a:spcPts val="0"/>
              </a:spcBef>
              <a:spcAft>
                <a:spcPts val="0"/>
              </a:spcAft>
              <a:buClrTx/>
              <a:buSzTx/>
              <a:buFont typeface="Arial" pitchFamily="34" charset="0"/>
              <a:buNone/>
              <a:tabLst/>
              <a:defRPr sz="1000" b="1" baseline="0">
                <a:solidFill>
                  <a:schemeClr val="tx1"/>
                </a:solidFill>
              </a:defRPr>
            </a:lvl1pPr>
          </a:lstStyle>
          <a:p>
            <a:r>
              <a:rPr lang="fr-FR" noProof="0"/>
              <a:t>Sélectionner l’icône pour insérer un tableau</a:t>
            </a:r>
          </a:p>
        </p:txBody>
      </p:sp>
      <p:sp>
        <p:nvSpPr>
          <p:cNvPr id="9" name="Espace réservé du texte 8">
            <a:extLst>
              <a:ext uri="{FF2B5EF4-FFF2-40B4-BE49-F238E27FC236}">
                <a16:creationId xmlns:a16="http://schemas.microsoft.com/office/drawing/2014/main" id="{0F1D39E2-A6FD-8863-3E65-9EF10093A0AA}"/>
              </a:ext>
            </a:extLst>
          </p:cNvPr>
          <p:cNvSpPr>
            <a:spLocks noGrp="1"/>
          </p:cNvSpPr>
          <p:nvPr>
            <p:ph type="body" sz="quarter" idx="13" hasCustomPrompt="1"/>
          </p:nvPr>
        </p:nvSpPr>
        <p:spPr bwMode="gray">
          <a:xfrm>
            <a:off x="305400" y="1160749"/>
            <a:ext cx="11581200" cy="576064"/>
          </a:xfrm>
        </p:spPr>
        <p:txBody>
          <a:bodyPr/>
          <a:lstStyle>
            <a:lvl1pPr marL="0" indent="0">
              <a:spcAft>
                <a:spcPts val="0"/>
              </a:spcAft>
              <a:buNone/>
              <a:defRPr sz="2400"/>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Sous-titre de la slide</a:t>
            </a:r>
          </a:p>
        </p:txBody>
      </p:sp>
      <p:sp>
        <p:nvSpPr>
          <p:cNvPr id="10" name="Espace réservé du texte 8">
            <a:extLst>
              <a:ext uri="{FF2B5EF4-FFF2-40B4-BE49-F238E27FC236}">
                <a16:creationId xmlns:a16="http://schemas.microsoft.com/office/drawing/2014/main" id="{2F5CC0BF-4E89-FA97-70AC-808B9C944C4F}"/>
              </a:ext>
            </a:extLst>
          </p:cNvPr>
          <p:cNvSpPr>
            <a:spLocks noGrp="1"/>
          </p:cNvSpPr>
          <p:nvPr>
            <p:ph type="body" sz="quarter" idx="20" hasCustomPrompt="1"/>
          </p:nvPr>
        </p:nvSpPr>
        <p:spPr bwMode="gray">
          <a:xfrm>
            <a:off x="551384" y="1736813"/>
            <a:ext cx="11088000" cy="332348"/>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tableau</a:t>
            </a:r>
          </a:p>
        </p:txBody>
      </p:sp>
    </p:spTree>
    <p:extLst>
      <p:ext uri="{BB962C8B-B14F-4D97-AF65-F5344CB8AC3E}">
        <p14:creationId xmlns:p14="http://schemas.microsoft.com/office/powerpoint/2010/main" val="2659011841"/>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p:cSld name="Fin_merci">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9B793F01-3E93-70BD-ACBD-984437DF7D0A}"/>
              </a:ext>
            </a:extLst>
          </p:cNvPr>
          <p:cNvSpPr/>
          <p:nvPr/>
        </p:nvSpPr>
        <p:spPr bwMode="gray">
          <a:xfrm>
            <a:off x="0" y="-3"/>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0" name="Forme libre : forme 9">
            <a:extLst>
              <a:ext uri="{FF2B5EF4-FFF2-40B4-BE49-F238E27FC236}">
                <a16:creationId xmlns:a16="http://schemas.microsoft.com/office/drawing/2014/main" id="{C0684CE4-622B-938B-497B-FAD53D593F5F}"/>
              </a:ext>
            </a:extLst>
          </p:cNvPr>
          <p:cNvSpPr/>
          <p:nvPr/>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D12B3D67-D7E3-94C3-22DF-955AF436A9E2}"/>
              </a:ext>
            </a:extLst>
          </p:cNvPr>
          <p:cNvSpPr>
            <a:spLocks noGrp="1"/>
          </p:cNvSpPr>
          <p:nvPr>
            <p:ph type="title" hasCustomPrompt="1"/>
          </p:nvPr>
        </p:nvSpPr>
        <p:spPr bwMode="gray">
          <a:xfrm>
            <a:off x="515389" y="2472006"/>
            <a:ext cx="11161222" cy="1193908"/>
          </a:xfrm>
        </p:spPr>
        <p:txBody>
          <a:bodyPr anchor="ctr" anchorCtr="0"/>
          <a:lstStyle>
            <a:lvl1pPr>
              <a:defRPr>
                <a:solidFill>
                  <a:schemeClr val="bg1"/>
                </a:solidFill>
              </a:defRPr>
            </a:lvl1pPr>
          </a:lstStyle>
          <a:p>
            <a:r>
              <a:rPr lang="fr-FR"/>
              <a:t>Merci !</a:t>
            </a:r>
          </a:p>
        </p:txBody>
      </p:sp>
      <p:sp>
        <p:nvSpPr>
          <p:cNvPr id="3" name="Espace réservé de la date 2">
            <a:extLst>
              <a:ext uri="{FF2B5EF4-FFF2-40B4-BE49-F238E27FC236}">
                <a16:creationId xmlns:a16="http://schemas.microsoft.com/office/drawing/2014/main" id="{3A90A8E8-5274-096B-71CD-A94C3EBC417C}"/>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4900B0E-4AED-0178-2911-3B8B200F2AF3}"/>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89291DAE-7E33-C90D-903F-8C464D04C1AB}"/>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pic>
        <p:nvPicPr>
          <p:cNvPr id="7" name="Image 6" descr="Une image contenant Police, Graphique, capture d’écran, logo&#10;&#10;Description générée automatiquement">
            <a:extLst>
              <a:ext uri="{FF2B5EF4-FFF2-40B4-BE49-F238E27FC236}">
                <a16:creationId xmlns:a16="http://schemas.microsoft.com/office/drawing/2014/main" id="{977BE475-0AF4-C467-A0AA-715425989784}"/>
              </a:ext>
            </a:extLst>
          </p:cNvPr>
          <p:cNvPicPr>
            <a:picLocks noChangeAspect="1"/>
          </p:cNvPicPr>
          <p:nvPr/>
        </p:nvPicPr>
        <p:blipFill>
          <a:blip r:embed="rId2"/>
          <a:stretch>
            <a:fillRect/>
          </a:stretch>
        </p:blipFill>
        <p:spPr>
          <a:xfrm>
            <a:off x="191344" y="6157729"/>
            <a:ext cx="2253137" cy="700271"/>
          </a:xfrm>
          <a:prstGeom prst="rect">
            <a:avLst/>
          </a:prstGeom>
        </p:spPr>
      </p:pic>
      <p:sp>
        <p:nvSpPr>
          <p:cNvPr id="6" name="Rectangle 5">
            <a:extLst>
              <a:ext uri="{FF2B5EF4-FFF2-40B4-BE49-F238E27FC236}">
                <a16:creationId xmlns:a16="http://schemas.microsoft.com/office/drawing/2014/main" id="{6996C9A0-4DBD-985C-49F5-228E16435617}"/>
              </a:ext>
            </a:extLst>
          </p:cNvPr>
          <p:cNvSpPr/>
          <p:nvPr userDrawn="1"/>
        </p:nvSpPr>
        <p:spPr bwMode="gray">
          <a:xfrm>
            <a:off x="0" y="-3"/>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Forme libre : forme 7">
            <a:extLst>
              <a:ext uri="{FF2B5EF4-FFF2-40B4-BE49-F238E27FC236}">
                <a16:creationId xmlns:a16="http://schemas.microsoft.com/office/drawing/2014/main" id="{4E9A8FC3-50EA-C33B-FEFB-70D8576BBBB3}"/>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descr="Une image contenant Police, Graphique, capture d’écran, logo&#10;&#10;Description générée automatiquement">
            <a:extLst>
              <a:ext uri="{FF2B5EF4-FFF2-40B4-BE49-F238E27FC236}">
                <a16:creationId xmlns:a16="http://schemas.microsoft.com/office/drawing/2014/main" id="{DB405C60-3BFD-1DC1-EC97-5F1BA42CAFB5}"/>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153783253"/>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p:cSld name="Page vi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803FFE3-EC4D-0D3D-AC53-8BC7FCB28F48}"/>
              </a:ext>
            </a:extLst>
          </p:cNvPr>
          <p:cNvSpPr>
            <a:spLocks noGrp="1"/>
          </p:cNvSpPr>
          <p:nvPr>
            <p:ph type="title" hasCustomPrompt="1"/>
          </p:nvPr>
        </p:nvSpPr>
        <p:spPr bwMode="gray"/>
        <p:txBody>
          <a:bodyPr/>
          <a:lstStyle>
            <a:lvl1pPr>
              <a:defRPr/>
            </a:lvl1pPr>
          </a:lstStyle>
          <a:p>
            <a:r>
              <a:rPr lang="fr-FR"/>
              <a:t>Titre de la slide</a:t>
            </a:r>
          </a:p>
        </p:txBody>
      </p:sp>
      <p:sp>
        <p:nvSpPr>
          <p:cNvPr id="3" name="Espace réservé de la date 2">
            <a:extLst>
              <a:ext uri="{FF2B5EF4-FFF2-40B4-BE49-F238E27FC236}">
                <a16:creationId xmlns:a16="http://schemas.microsoft.com/office/drawing/2014/main" id="{5B237D94-28E8-8DB9-E2DA-A04DEFC5A78E}"/>
              </a:ext>
            </a:extLst>
          </p:cNvPr>
          <p:cNvSpPr>
            <a:spLocks noGrp="1"/>
          </p:cNvSpPr>
          <p:nvPr>
            <p:ph type="dt" sz="half" idx="10"/>
          </p:nvPr>
        </p:nvSpPr>
        <p:spPr bwMode="gray">
          <a:xfrm>
            <a:off x="0" y="6678000"/>
            <a:ext cx="180000" cy="180000"/>
          </a:xfrm>
          <a:ln>
            <a:solidFill>
              <a:schemeClr val="bg1">
                <a:lumMod val="85000"/>
                <a:alpha val="0"/>
              </a:schemeClr>
            </a:solidFill>
          </a:ln>
        </p:spPr>
        <p:txBody>
          <a:bodyPr/>
          <a:lstStyle>
            <a:lvl1pPr>
              <a:defRPr sz="100">
                <a:solidFill>
                  <a:schemeClr val="tx2">
                    <a:alpha val="0"/>
                  </a:schemeClr>
                </a:solidFill>
              </a:defRPr>
            </a:lvl1p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E5A2DE27-05DE-27F1-C5FD-2452587E21DF}"/>
              </a:ext>
            </a:extLst>
          </p:cNvPr>
          <p:cNvSpPr>
            <a:spLocks noGrp="1"/>
          </p:cNvSpPr>
          <p:nvPr>
            <p:ph type="ftr" sz="quarter" idx="11"/>
          </p:nvPr>
        </p:nvSpPr>
        <p:spPr bwMode="gray">
          <a:xfrm>
            <a:off x="0" y="6678000"/>
            <a:ext cx="180000" cy="180000"/>
          </a:xfrm>
          <a:ln>
            <a:solidFill>
              <a:schemeClr val="bg1">
                <a:lumMod val="85000"/>
                <a:alpha val="0"/>
              </a:schemeClr>
            </a:solidFill>
          </a:ln>
        </p:spPr>
        <p:txBody>
          <a:bodyPr/>
          <a:lstStyle>
            <a:lvl1pPr>
              <a:defRPr sz="100">
                <a:solidFill>
                  <a:schemeClr val="tx2">
                    <a:alpha val="0"/>
                  </a:schemeClr>
                </a:solidFill>
              </a:defRPr>
            </a:lvl1p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2D38B1D7-D167-930F-98D5-C2561090B437}"/>
              </a:ext>
            </a:extLst>
          </p:cNvPr>
          <p:cNvSpPr>
            <a:spLocks noGrp="1"/>
          </p:cNvSpPr>
          <p:nvPr>
            <p:ph type="sldNum" sz="quarter" idx="12"/>
          </p:nvPr>
        </p:nvSpPr>
        <p:spPr bwMode="gray">
          <a:xfrm>
            <a:off x="0" y="6678000"/>
            <a:ext cx="180000" cy="180000"/>
          </a:xfrm>
          <a:ln>
            <a:solidFill>
              <a:schemeClr val="bg1">
                <a:lumMod val="85000"/>
                <a:alpha val="0"/>
              </a:schemeClr>
            </a:solidFill>
          </a:ln>
        </p:spPr>
        <p:txBody>
          <a:bodyPr/>
          <a:lstStyle>
            <a:lvl1pPr>
              <a:defRPr sz="100">
                <a:solidFill>
                  <a:schemeClr val="tx2">
                    <a:alpha val="0"/>
                  </a:schemeClr>
                </a:solidFill>
              </a:defRPr>
            </a:lvl1pPr>
          </a:lstStyle>
          <a:p>
            <a:fld id="{733122C9-A0B9-462F-8757-0847AD287B63}" type="slidenum">
              <a:rPr lang="fr-FR" smtClean="0"/>
              <a:pPr/>
              <a:t>‹N°›</a:t>
            </a:fld>
            <a:endParaRPr lang="fr-FR"/>
          </a:p>
        </p:txBody>
      </p:sp>
    </p:spTree>
    <p:extLst>
      <p:ext uri="{BB962C8B-B14F-4D97-AF65-F5344CB8AC3E}">
        <p14:creationId xmlns:p14="http://schemas.microsoft.com/office/powerpoint/2010/main" val="2278049925"/>
      </p:ext>
    </p:extLst>
  </p:cSld>
  <p:clrMapOvr>
    <a:masterClrMapping/>
  </p:clrMapOvr>
  <p:hf sldNum="0" hdr="0" ftr="0" dt="0"/>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p:cSld name="TItre+conten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775516A-E9AE-3D43-AD42-DB14E42F1DBF}"/>
              </a:ext>
            </a:extLst>
          </p:cNvPr>
          <p:cNvSpPr>
            <a:spLocks noGrp="1"/>
          </p:cNvSpPr>
          <p:nvPr>
            <p:ph type="title" hasCustomPrompt="1"/>
          </p:nvPr>
        </p:nvSpPr>
        <p:spPr bwMode="gray"/>
        <p:txBody>
          <a:bodyPr/>
          <a:lstStyle/>
          <a:p>
            <a:r>
              <a:rPr lang="fr-FR"/>
              <a:t>Titre de la slide</a:t>
            </a:r>
          </a:p>
        </p:txBody>
      </p:sp>
      <p:sp>
        <p:nvSpPr>
          <p:cNvPr id="3" name="Espace réservé du contenu 2">
            <a:extLst>
              <a:ext uri="{FF2B5EF4-FFF2-40B4-BE49-F238E27FC236}">
                <a16:creationId xmlns:a16="http://schemas.microsoft.com/office/drawing/2014/main" id="{0213CA2A-84A2-944D-316A-798CEE2FD5F7}"/>
              </a:ext>
            </a:extLst>
          </p:cNvPr>
          <p:cNvSpPr>
            <a:spLocks noGrp="1"/>
          </p:cNvSpPr>
          <p:nvPr>
            <p:ph idx="1"/>
          </p:nvPr>
        </p:nvSpPr>
        <p:spPr bwMode="gray"/>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p:txBody>
      </p:sp>
      <p:sp>
        <p:nvSpPr>
          <p:cNvPr id="7" name="Espace réservé de la date 6">
            <a:extLst>
              <a:ext uri="{FF2B5EF4-FFF2-40B4-BE49-F238E27FC236}">
                <a16:creationId xmlns:a16="http://schemas.microsoft.com/office/drawing/2014/main" id="{785D8CFE-CB95-51D3-394F-8F38F44116E5}"/>
              </a:ext>
            </a:extLst>
          </p:cNvPr>
          <p:cNvSpPr>
            <a:spLocks noGrp="1"/>
          </p:cNvSpPr>
          <p:nvPr>
            <p:ph type="dt" sz="half" idx="10"/>
          </p:nvPr>
        </p:nvSpPr>
        <p:spPr bwMode="gray"/>
        <p:txBody>
          <a:bodyPr/>
          <a:lstStyle/>
          <a:p>
            <a:fld id="{2D9DC97B-3A38-48C4-B5CE-98105F8CF25F}" type="datetimeFigureOut">
              <a:rPr lang="fr-FR" smtClean="0"/>
              <a:t>12/01/2026</a:t>
            </a:fld>
            <a:endParaRPr lang="fr-FR"/>
          </a:p>
        </p:txBody>
      </p:sp>
      <p:sp>
        <p:nvSpPr>
          <p:cNvPr id="8" name="Espace réservé du pied de page 7">
            <a:extLst>
              <a:ext uri="{FF2B5EF4-FFF2-40B4-BE49-F238E27FC236}">
                <a16:creationId xmlns:a16="http://schemas.microsoft.com/office/drawing/2014/main" id="{81AF115E-D62B-B9E2-812E-D54DDB0968C7}"/>
              </a:ext>
            </a:extLst>
          </p:cNvPr>
          <p:cNvSpPr>
            <a:spLocks noGrp="1"/>
          </p:cNvSpPr>
          <p:nvPr>
            <p:ph type="ftr" sz="quarter" idx="11"/>
          </p:nvPr>
        </p:nvSpPr>
        <p:spPr bwMode="gray"/>
        <p:txBody>
          <a:bodyPr/>
          <a:lstStyle/>
          <a:p>
            <a:endParaRPr lang="fr-FR"/>
          </a:p>
        </p:txBody>
      </p:sp>
      <p:sp>
        <p:nvSpPr>
          <p:cNvPr id="9" name="Espace réservé du numéro de diapositive 8">
            <a:extLst>
              <a:ext uri="{FF2B5EF4-FFF2-40B4-BE49-F238E27FC236}">
                <a16:creationId xmlns:a16="http://schemas.microsoft.com/office/drawing/2014/main" id="{60065077-A498-C830-A2AD-AD7D5CA0657D}"/>
              </a:ext>
            </a:extLst>
          </p:cNvPr>
          <p:cNvSpPr>
            <a:spLocks noGrp="1"/>
          </p:cNvSpPr>
          <p:nvPr>
            <p:ph type="sldNum" sz="quarter" idx="12"/>
          </p:nvPr>
        </p:nvSpPr>
        <p:spPr bwMode="gray"/>
        <p:txBody>
          <a:bodyPr/>
          <a:lstStyle/>
          <a:p>
            <a:fld id="{47836B8D-228F-4EE0-A684-33707F12BC77}" type="slidenum">
              <a:rPr lang="fr-FR" smtClean="0"/>
              <a:t>‹N°›</a:t>
            </a:fld>
            <a:endParaRPr lang="fr-FR"/>
          </a:p>
        </p:txBody>
      </p:sp>
      <p:sp>
        <p:nvSpPr>
          <p:cNvPr id="4" name="Espace réservé du texte 8">
            <a:extLst>
              <a:ext uri="{FF2B5EF4-FFF2-40B4-BE49-F238E27FC236}">
                <a16:creationId xmlns:a16="http://schemas.microsoft.com/office/drawing/2014/main" id="{BE0EB545-5BEA-83E0-6E9F-C567631A088D}"/>
              </a:ext>
            </a:extLst>
          </p:cNvPr>
          <p:cNvSpPr>
            <a:spLocks noGrp="1"/>
          </p:cNvSpPr>
          <p:nvPr>
            <p:ph type="body" sz="quarter" idx="13" hasCustomPrompt="1"/>
          </p:nvPr>
        </p:nvSpPr>
        <p:spPr bwMode="gray">
          <a:xfrm>
            <a:off x="305400" y="1160749"/>
            <a:ext cx="11581200" cy="576064"/>
          </a:xfrm>
        </p:spPr>
        <p:txBody>
          <a:bodyPr/>
          <a:lstStyle>
            <a:lvl1pPr marL="0" indent="0">
              <a:spcAft>
                <a:spcPts val="0"/>
              </a:spcAft>
              <a:buNone/>
              <a:defRPr sz="2400"/>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Sous-titre de la slide</a:t>
            </a:r>
          </a:p>
        </p:txBody>
      </p:sp>
    </p:spTree>
    <p:extLst>
      <p:ext uri="{BB962C8B-B14F-4D97-AF65-F5344CB8AC3E}">
        <p14:creationId xmlns:p14="http://schemas.microsoft.com/office/powerpoint/2010/main" val="3168271690"/>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userDrawn="1">
  <p:cSld name="1_Couverture_image">
    <p:spTree>
      <p:nvGrpSpPr>
        <p:cNvPr id="1" name=""/>
        <p:cNvGrpSpPr/>
        <p:nvPr/>
      </p:nvGrpSpPr>
      <p:grpSpPr>
        <a:xfrm>
          <a:off x="0" y="0"/>
          <a:ext cx="0" cy="0"/>
          <a:chOff x="0" y="0"/>
          <a:chExt cx="0" cy="0"/>
        </a:xfrm>
      </p:grpSpPr>
      <p:sp>
        <p:nvSpPr>
          <p:cNvPr id="20" name="Espace réservé du texte 19">
            <a:extLst>
              <a:ext uri="{FF2B5EF4-FFF2-40B4-BE49-F238E27FC236}">
                <a16:creationId xmlns:a16="http://schemas.microsoft.com/office/drawing/2014/main" id="{30ED6013-6A9C-7B0B-4E01-8A667F3009D2}"/>
              </a:ext>
            </a:extLst>
          </p:cNvPr>
          <p:cNvSpPr>
            <a:spLocks noGrp="1"/>
          </p:cNvSpPr>
          <p:nvPr>
            <p:ph type="body" sz="quarter" idx="15"/>
          </p:nvPr>
        </p:nvSpPr>
        <p:spPr bwMode="gray">
          <a:xfrm>
            <a:off x="0" y="3444008"/>
            <a:ext cx="12192000" cy="3413992"/>
          </a:xfrm>
          <a:custGeom>
            <a:avLst/>
            <a:gdLst>
              <a:gd name="connsiteX0" fmla="*/ 2463430 w 12192000"/>
              <a:gd name="connsiteY0" fmla="*/ 0 h 3413992"/>
              <a:gd name="connsiteX1" fmla="*/ 12192000 w 12192000"/>
              <a:gd name="connsiteY1" fmla="*/ 0 h 3413992"/>
              <a:gd name="connsiteX2" fmla="*/ 12192000 w 12192000"/>
              <a:gd name="connsiteY2" fmla="*/ 3413992 h 3413992"/>
              <a:gd name="connsiteX3" fmla="*/ 0 w 12192000"/>
              <a:gd name="connsiteY3" fmla="*/ 3413992 h 3413992"/>
              <a:gd name="connsiteX4" fmla="*/ 0 w 12192000"/>
              <a:gd name="connsiteY4" fmla="*/ 1676403 h 3413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0" h="3413992">
                <a:moveTo>
                  <a:pt x="2463430" y="0"/>
                </a:moveTo>
                <a:lnTo>
                  <a:pt x="12192000" y="0"/>
                </a:lnTo>
                <a:lnTo>
                  <a:pt x="12192000" y="3413992"/>
                </a:lnTo>
                <a:lnTo>
                  <a:pt x="0" y="3413992"/>
                </a:lnTo>
                <a:lnTo>
                  <a:pt x="0" y="1676403"/>
                </a:lnTo>
                <a:close/>
              </a:path>
            </a:pathLst>
          </a:custGeom>
          <a:solidFill>
            <a:schemeClr val="tx2"/>
          </a:solidFill>
        </p:spPr>
        <p:txBody>
          <a:bodyPr wrap="square" anchor="ctr" anchorCtr="0">
            <a:noAutofit/>
          </a:bodyPr>
          <a:lstStyle>
            <a:lvl1pPr marL="0" indent="0" algn="ctr">
              <a:buNone/>
              <a:defRPr sz="100">
                <a:solidFill>
                  <a:schemeClr val="tx2">
                    <a:alpha val="0"/>
                  </a:schemeClr>
                </a:solidFill>
              </a:defRPr>
            </a:lvl1pPr>
            <a:lvl2pPr marL="0" indent="0" algn="ctr">
              <a:buNone/>
              <a:defRPr sz="100">
                <a:solidFill>
                  <a:schemeClr val="tx2">
                    <a:alpha val="0"/>
                  </a:schemeClr>
                </a:solidFill>
              </a:defRPr>
            </a:lvl2pPr>
            <a:lvl3pPr marL="0" indent="0" algn="ctr">
              <a:buNone/>
              <a:defRPr sz="100">
                <a:solidFill>
                  <a:schemeClr val="tx2">
                    <a:alpha val="0"/>
                  </a:schemeClr>
                </a:solidFill>
              </a:defRPr>
            </a:lvl3pPr>
            <a:lvl4pPr marL="0" indent="0" algn="ctr">
              <a:buNone/>
              <a:defRPr sz="100">
                <a:solidFill>
                  <a:schemeClr val="tx2">
                    <a:alpha val="0"/>
                  </a:schemeClr>
                </a:solidFill>
              </a:defRPr>
            </a:lvl4pPr>
            <a:lvl5pPr marL="0" indent="0" algn="ctr">
              <a:buFont typeface="Arial" panose="020B0604020202020204" pitchFamily="34" charset="0"/>
              <a:buNone/>
              <a:defRPr sz="100">
                <a:solidFill>
                  <a:schemeClr val="tx2">
                    <a:alpha val="0"/>
                  </a:schemeClr>
                </a:solidFill>
              </a:defRPr>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929588DF-C903-4271-B5D6-E8C55837D023}" type="datetime3">
              <a:rPr lang="fr-FR" smtClean="0"/>
              <a:pPr/>
              <a:t>12.01.26</a:t>
            </a:fld>
            <a:endParaRPr lang="fr-FR"/>
          </a:p>
        </p:txBody>
      </p:sp>
      <p:sp>
        <p:nvSpPr>
          <p:cNvPr id="5" name="Espace réservé du pied de page 4"/>
          <p:cNvSpPr>
            <a:spLocks noGrp="1"/>
          </p:cNvSpPr>
          <p:nvPr>
            <p:ph type="ftr" sz="quarter" idx="11"/>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6" name="Espace réservé du numéro de diapositive 5"/>
          <p:cNvSpPr>
            <a:spLocks noGrp="1"/>
          </p:cNvSpPr>
          <p:nvPr>
            <p:ph type="sldNum" sz="quarter" idx="12"/>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10C140CD-8AED-46FF-A9A2-77308F3F39AE}" type="slidenum">
              <a:rPr lang="fr-FR" smtClean="0"/>
              <a:pPr/>
              <a:t>‹N°›</a:t>
            </a:fld>
            <a:endParaRPr lang="fr-FR"/>
          </a:p>
        </p:txBody>
      </p:sp>
      <p:sp>
        <p:nvSpPr>
          <p:cNvPr id="12" name="Espace réservé pour une image  11">
            <a:extLst>
              <a:ext uri="{FF2B5EF4-FFF2-40B4-BE49-F238E27FC236}">
                <a16:creationId xmlns:a16="http://schemas.microsoft.com/office/drawing/2014/main" id="{F3EFE8F6-908F-AD04-D552-BB94A1890467}"/>
              </a:ext>
            </a:extLst>
          </p:cNvPr>
          <p:cNvSpPr>
            <a:spLocks noGrp="1"/>
          </p:cNvSpPr>
          <p:nvPr>
            <p:ph type="pic" sz="quarter" idx="13" hasCustomPrompt="1"/>
          </p:nvPr>
        </p:nvSpPr>
        <p:spPr bwMode="gray">
          <a:xfrm>
            <a:off x="0" y="-10716"/>
            <a:ext cx="12192000" cy="6858000"/>
          </a:xfrm>
          <a:prstGeom prst="rect">
            <a:avLst/>
          </a:prstGeom>
          <a:solidFill>
            <a:schemeClr val="bg1">
              <a:lumMod val="85000"/>
            </a:schemeClr>
          </a:solidFill>
        </p:spPr>
        <p:txBody>
          <a:bodyPr wrap="square" tIns="0" bIns="2088000" anchor="ctr" anchorCtr="0">
            <a:noAutofit/>
          </a:bodyPr>
          <a:lstStyle>
            <a:lvl1pPr marL="0" marR="0" indent="0" algn="ctr" defTabSz="1219170" rtl="0" eaLnBrk="1" fontAlgn="auto" latinLnBrk="0" hangingPunct="1">
              <a:lnSpc>
                <a:spcPct val="100000"/>
              </a:lnSpc>
              <a:spcBef>
                <a:spcPts val="0"/>
              </a:spcBef>
              <a:spcAft>
                <a:spcPts val="0"/>
              </a:spcAft>
              <a:buClrTx/>
              <a:buSzTx/>
              <a:buFont typeface="Arial" pitchFamily="34" charset="0"/>
              <a:buNone/>
              <a:tabLst/>
              <a:defRPr sz="1000">
                <a:solidFill>
                  <a:schemeClr val="tx1"/>
                </a:solidFill>
                <a:latin typeface="+mj-lt"/>
              </a:defRPr>
            </a:lvl1pPr>
          </a:lstStyle>
          <a:p>
            <a:r>
              <a:rPr lang="fr-FR" noProof="0"/>
              <a:t>Sélectionner l’icône pour insérer une image, </a:t>
            </a:r>
            <a:br>
              <a:rPr lang="fr-FR" noProof="0"/>
            </a:br>
            <a:r>
              <a:rPr lang="fr-FR" noProof="0"/>
              <a:t>puis disposer l’image en arrière plan </a:t>
            </a:r>
            <a:br>
              <a:rPr lang="fr-FR" noProof="0"/>
            </a:br>
            <a:r>
              <a:rPr lang="fr-FR" noProof="0"/>
              <a:t>(Sélectionner l’image avec le bouton droit de la souris / </a:t>
            </a:r>
            <a:br>
              <a:rPr lang="fr-FR" noProof="0"/>
            </a:br>
            <a:r>
              <a:rPr lang="fr-FR" noProof="0"/>
              <a:t>Mettre à l’arrière plan)</a:t>
            </a:r>
          </a:p>
        </p:txBody>
      </p:sp>
      <p:sp>
        <p:nvSpPr>
          <p:cNvPr id="3" name="Sous-titre 2"/>
          <p:cNvSpPr>
            <a:spLocks noGrp="1"/>
          </p:cNvSpPr>
          <p:nvPr>
            <p:ph type="subTitle" idx="1" hasCustomPrompt="1"/>
          </p:nvPr>
        </p:nvSpPr>
        <p:spPr bwMode="gray">
          <a:xfrm>
            <a:off x="2465388" y="5157192"/>
            <a:ext cx="9421811" cy="828092"/>
          </a:xfrm>
        </p:spPr>
        <p:txBody>
          <a:bodyPr/>
          <a:lstStyle>
            <a:lvl1pPr marL="0" indent="0" algn="l">
              <a:buNone/>
              <a:defRPr sz="2500">
                <a:solidFill>
                  <a:schemeClr val="bg1"/>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fr-FR"/>
              <a:t>Sous-titre</a:t>
            </a:r>
          </a:p>
        </p:txBody>
      </p:sp>
      <p:sp>
        <p:nvSpPr>
          <p:cNvPr id="7" name="Titre 6"/>
          <p:cNvSpPr>
            <a:spLocks noGrp="1"/>
          </p:cNvSpPr>
          <p:nvPr>
            <p:ph type="title" hasCustomPrompt="1"/>
          </p:nvPr>
        </p:nvSpPr>
        <p:spPr bwMode="gray">
          <a:xfrm>
            <a:off x="2465388" y="3541850"/>
            <a:ext cx="9421811" cy="1548171"/>
          </a:xfrm>
        </p:spPr>
        <p:txBody>
          <a:bodyPr anchor="b" anchorCtr="0"/>
          <a:lstStyle>
            <a:lvl1pPr>
              <a:defRPr sz="4800">
                <a:solidFill>
                  <a:schemeClr val="bg1"/>
                </a:solidFill>
                <a:latin typeface="+mn-lt"/>
              </a:defRPr>
            </a:lvl1pPr>
          </a:lstStyle>
          <a:p>
            <a:r>
              <a:rPr lang="fr-FR"/>
              <a:t>Titre de la présentation </a:t>
            </a:r>
          </a:p>
        </p:txBody>
      </p:sp>
      <p:pic>
        <p:nvPicPr>
          <p:cNvPr id="2" name="Image 1" descr="Une image contenant Police, Graphique, capture d’écran, logo&#10;&#10;Description générée automatiquement">
            <a:extLst>
              <a:ext uri="{FF2B5EF4-FFF2-40B4-BE49-F238E27FC236}">
                <a16:creationId xmlns:a16="http://schemas.microsoft.com/office/drawing/2014/main" id="{4B52FA68-95C6-2BCE-1F9A-E69BF6F7A18E}"/>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20340557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553">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userDrawn="1">
  <p:cSld name="1_Couverture_blanche">
    <p:spTree>
      <p:nvGrpSpPr>
        <p:cNvPr id="1" name=""/>
        <p:cNvGrpSpPr/>
        <p:nvPr/>
      </p:nvGrpSpPr>
      <p:grpSpPr>
        <a:xfrm>
          <a:off x="0" y="0"/>
          <a:ext cx="0" cy="0"/>
          <a:chOff x="0" y="0"/>
          <a:chExt cx="0" cy="0"/>
        </a:xfrm>
      </p:grpSpPr>
      <p:sp>
        <p:nvSpPr>
          <p:cNvPr id="8" name="Forme libre : forme 7">
            <a:extLst>
              <a:ext uri="{FF2B5EF4-FFF2-40B4-BE49-F238E27FC236}">
                <a16:creationId xmlns:a16="http://schemas.microsoft.com/office/drawing/2014/main" id="{C72FA600-477D-9DA8-E597-75D1F7B6FC73}"/>
              </a:ext>
            </a:extLst>
          </p:cNvPr>
          <p:cNvSpPr/>
          <p:nvPr userDrawn="1"/>
        </p:nvSpPr>
        <p:spPr bwMode="gray">
          <a:xfrm>
            <a:off x="0" y="4038389"/>
            <a:ext cx="12192000" cy="2819611"/>
          </a:xfrm>
          <a:custGeom>
            <a:avLst/>
            <a:gdLst>
              <a:gd name="connsiteX0" fmla="*/ 2463430 w 12192000"/>
              <a:gd name="connsiteY0" fmla="*/ 0 h 2819611"/>
              <a:gd name="connsiteX1" fmla="*/ 12192000 w 12192000"/>
              <a:gd name="connsiteY1" fmla="*/ 0 h 2819611"/>
              <a:gd name="connsiteX2" fmla="*/ 12192000 w 12192000"/>
              <a:gd name="connsiteY2" fmla="*/ 2819611 h 2819611"/>
              <a:gd name="connsiteX3" fmla="*/ 0 w 12192000"/>
              <a:gd name="connsiteY3" fmla="*/ 2819611 h 2819611"/>
              <a:gd name="connsiteX4" fmla="*/ 0 w 12192000"/>
              <a:gd name="connsiteY4" fmla="*/ 1675192 h 2819611"/>
              <a:gd name="connsiteX5" fmla="*/ 1780 w 12192000"/>
              <a:gd name="connsiteY5" fmla="*/ 1675192 h 2819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2819611">
                <a:moveTo>
                  <a:pt x="2463430" y="0"/>
                </a:moveTo>
                <a:lnTo>
                  <a:pt x="12192000" y="0"/>
                </a:lnTo>
                <a:lnTo>
                  <a:pt x="12192000" y="2819611"/>
                </a:lnTo>
                <a:lnTo>
                  <a:pt x="0" y="2819611"/>
                </a:lnTo>
                <a:lnTo>
                  <a:pt x="0" y="1675192"/>
                </a:lnTo>
                <a:lnTo>
                  <a:pt x="1780" y="1675192"/>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3" name="Sous-titre 2"/>
          <p:cNvSpPr>
            <a:spLocks noGrp="1"/>
          </p:cNvSpPr>
          <p:nvPr>
            <p:ph type="subTitle" idx="1" hasCustomPrompt="1"/>
          </p:nvPr>
        </p:nvSpPr>
        <p:spPr bwMode="gray">
          <a:xfrm>
            <a:off x="2466000" y="2707671"/>
            <a:ext cx="9421200" cy="828000"/>
          </a:xfrm>
        </p:spPr>
        <p:txBody>
          <a:bodyPr/>
          <a:lstStyle>
            <a:lvl1pPr marL="0" indent="0" algn="l">
              <a:buNone/>
              <a:defRPr sz="2500">
                <a:solidFill>
                  <a:schemeClr val="tx2"/>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fr-FR"/>
              <a:t>Sous-titre</a:t>
            </a:r>
          </a:p>
        </p:txBody>
      </p:sp>
      <p:sp>
        <p:nvSpPr>
          <p:cNvPr id="4" name="Espace réservé de la date 3"/>
          <p:cNvSpPr>
            <a:spLocks noGrp="1"/>
          </p:cNvSpPr>
          <p:nvPr>
            <p:ph type="dt" sz="half" idx="10"/>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929588DF-C903-4271-B5D6-E8C55837D023}" type="datetime3">
              <a:rPr lang="fr-FR" smtClean="0"/>
              <a:pPr/>
              <a:t>12.01.26</a:t>
            </a:fld>
            <a:endParaRPr lang="fr-FR"/>
          </a:p>
        </p:txBody>
      </p:sp>
      <p:sp>
        <p:nvSpPr>
          <p:cNvPr id="5" name="Espace réservé du pied de page 4"/>
          <p:cNvSpPr>
            <a:spLocks noGrp="1"/>
          </p:cNvSpPr>
          <p:nvPr>
            <p:ph type="ftr" sz="quarter" idx="11"/>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6" name="Espace réservé du numéro de diapositive 5"/>
          <p:cNvSpPr>
            <a:spLocks noGrp="1"/>
          </p:cNvSpPr>
          <p:nvPr>
            <p:ph type="sldNum" sz="quarter" idx="12"/>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10C140CD-8AED-46FF-A9A2-77308F3F39AE}" type="slidenum">
              <a:rPr lang="fr-FR" smtClean="0"/>
              <a:pPr/>
              <a:t>‹N°›</a:t>
            </a:fld>
            <a:endParaRPr lang="fr-FR"/>
          </a:p>
        </p:txBody>
      </p:sp>
      <p:sp>
        <p:nvSpPr>
          <p:cNvPr id="7" name="Titre 6"/>
          <p:cNvSpPr>
            <a:spLocks noGrp="1"/>
          </p:cNvSpPr>
          <p:nvPr>
            <p:ph type="title" hasCustomPrompt="1"/>
          </p:nvPr>
        </p:nvSpPr>
        <p:spPr bwMode="gray">
          <a:xfrm>
            <a:off x="2466000" y="1092329"/>
            <a:ext cx="9421200" cy="1548171"/>
          </a:xfrm>
        </p:spPr>
        <p:txBody>
          <a:bodyPr anchor="b" anchorCtr="0"/>
          <a:lstStyle>
            <a:lvl1pPr>
              <a:defRPr sz="4800">
                <a:solidFill>
                  <a:schemeClr val="tx2"/>
                </a:solidFill>
                <a:latin typeface="+mn-lt"/>
              </a:defRPr>
            </a:lvl1pPr>
          </a:lstStyle>
          <a:p>
            <a:r>
              <a:rPr lang="fr-FR"/>
              <a:t>Titre de la présentation </a:t>
            </a:r>
          </a:p>
        </p:txBody>
      </p:sp>
      <p:pic>
        <p:nvPicPr>
          <p:cNvPr id="9" name="Image 8">
            <a:extLst>
              <a:ext uri="{FF2B5EF4-FFF2-40B4-BE49-F238E27FC236}">
                <a16:creationId xmlns:a16="http://schemas.microsoft.com/office/drawing/2014/main" id="{7C981B81-1928-CD35-0708-D1221C2A0078}"/>
              </a:ext>
            </a:extLst>
          </p:cNvPr>
          <p:cNvPicPr>
            <a:picLocks noChangeAspect="1"/>
          </p:cNvPicPr>
          <p:nvPr userDrawn="1"/>
        </p:nvPicPr>
        <p:blipFill>
          <a:blip r:embed="rId2"/>
          <a:stretch>
            <a:fillRect/>
          </a:stretch>
        </p:blipFill>
        <p:spPr>
          <a:xfrm>
            <a:off x="2567608" y="4596813"/>
            <a:ext cx="3771064" cy="327625"/>
          </a:xfrm>
          <a:prstGeom prst="rect">
            <a:avLst/>
          </a:prstGeom>
        </p:spPr>
      </p:pic>
    </p:spTree>
    <p:extLst>
      <p:ext uri="{BB962C8B-B14F-4D97-AF65-F5344CB8AC3E}">
        <p14:creationId xmlns:p14="http://schemas.microsoft.com/office/powerpoint/2010/main" val="15050322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549">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userDrawn="1">
  <p:cSld name="1_Couverture_bleu">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D8818AE-EE7D-434F-97DA-B3B818051609}"/>
              </a:ext>
            </a:extLst>
          </p:cNvPr>
          <p:cNvSpPr/>
          <p:nvPr userDrawn="1"/>
        </p:nvSpPr>
        <p:spPr bwMode="gray">
          <a:xfrm>
            <a:off x="0" y="0"/>
            <a:ext cx="12192000" cy="6858000"/>
          </a:xfrm>
          <a:prstGeom prst="rect">
            <a:avLst/>
          </a:prstGeom>
          <a:solidFill>
            <a:srgbClr val="00193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2A1C1CF4-7E4B-B28F-5E8A-09B38D67B819}"/>
              </a:ext>
            </a:extLst>
          </p:cNvPr>
          <p:cNvSpPr/>
          <p:nvPr userDrawn="1"/>
        </p:nvSpPr>
        <p:spPr bwMode="gray">
          <a:xfrm>
            <a:off x="0" y="4038390"/>
            <a:ext cx="12192000" cy="2819611"/>
          </a:xfrm>
          <a:custGeom>
            <a:avLst/>
            <a:gdLst>
              <a:gd name="connsiteX0" fmla="*/ 2463430 w 12192000"/>
              <a:gd name="connsiteY0" fmla="*/ 0 h 2819611"/>
              <a:gd name="connsiteX1" fmla="*/ 12192000 w 12192000"/>
              <a:gd name="connsiteY1" fmla="*/ 0 h 2819611"/>
              <a:gd name="connsiteX2" fmla="*/ 12192000 w 12192000"/>
              <a:gd name="connsiteY2" fmla="*/ 2819611 h 2819611"/>
              <a:gd name="connsiteX3" fmla="*/ 0 w 12192000"/>
              <a:gd name="connsiteY3" fmla="*/ 2819611 h 2819611"/>
              <a:gd name="connsiteX4" fmla="*/ 0 w 12192000"/>
              <a:gd name="connsiteY4" fmla="*/ 1675192 h 2819611"/>
              <a:gd name="connsiteX5" fmla="*/ 1780 w 12192000"/>
              <a:gd name="connsiteY5" fmla="*/ 1675192 h 2819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2819611">
                <a:moveTo>
                  <a:pt x="2463430" y="0"/>
                </a:moveTo>
                <a:lnTo>
                  <a:pt x="12192000" y="0"/>
                </a:lnTo>
                <a:lnTo>
                  <a:pt x="12192000" y="2819611"/>
                </a:lnTo>
                <a:lnTo>
                  <a:pt x="0" y="2819611"/>
                </a:lnTo>
                <a:lnTo>
                  <a:pt x="0" y="1675192"/>
                </a:lnTo>
                <a:lnTo>
                  <a:pt x="1780" y="1675192"/>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3" name="Sous-titre 2"/>
          <p:cNvSpPr>
            <a:spLocks noGrp="1"/>
          </p:cNvSpPr>
          <p:nvPr>
            <p:ph type="subTitle" idx="1" hasCustomPrompt="1"/>
          </p:nvPr>
        </p:nvSpPr>
        <p:spPr bwMode="gray">
          <a:xfrm>
            <a:off x="2466000" y="2707671"/>
            <a:ext cx="9421200" cy="828000"/>
          </a:xfrm>
        </p:spPr>
        <p:txBody>
          <a:bodyPr/>
          <a:lstStyle>
            <a:lvl1pPr marL="0" indent="0" algn="l">
              <a:buNone/>
              <a:defRPr sz="2500">
                <a:solidFill>
                  <a:schemeClr val="bg1"/>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fr-FR"/>
              <a:t>Sous-titre</a:t>
            </a:r>
          </a:p>
        </p:txBody>
      </p:sp>
      <p:sp>
        <p:nvSpPr>
          <p:cNvPr id="4" name="Espace réservé de la date 3"/>
          <p:cNvSpPr>
            <a:spLocks noGrp="1"/>
          </p:cNvSpPr>
          <p:nvPr>
            <p:ph type="dt" sz="half" idx="10"/>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929588DF-C903-4271-B5D6-E8C55837D023}" type="datetime3">
              <a:rPr lang="fr-FR" smtClean="0"/>
              <a:pPr/>
              <a:t>12.01.26</a:t>
            </a:fld>
            <a:endParaRPr lang="fr-FR"/>
          </a:p>
        </p:txBody>
      </p:sp>
      <p:sp>
        <p:nvSpPr>
          <p:cNvPr id="5" name="Espace réservé du pied de page 4"/>
          <p:cNvSpPr>
            <a:spLocks noGrp="1"/>
          </p:cNvSpPr>
          <p:nvPr>
            <p:ph type="ftr" sz="quarter" idx="11"/>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6" name="Espace réservé du numéro de diapositive 5"/>
          <p:cNvSpPr>
            <a:spLocks noGrp="1"/>
          </p:cNvSpPr>
          <p:nvPr>
            <p:ph type="sldNum" sz="quarter" idx="12"/>
          </p:nvPr>
        </p:nvSpPr>
        <p:spPr bwMode="gray">
          <a:xfrm>
            <a:off x="0" y="6678000"/>
            <a:ext cx="180000" cy="180000"/>
          </a:xfrm>
          <a:ln>
            <a:solidFill>
              <a:schemeClr val="accent1">
                <a:alpha val="0"/>
              </a:schemeClr>
            </a:solidFill>
          </a:ln>
        </p:spPr>
        <p:txBody>
          <a:bodyPr/>
          <a:lstStyle>
            <a:lvl1pPr>
              <a:defRPr sz="100">
                <a:solidFill>
                  <a:schemeClr val="tx1">
                    <a:alpha val="0"/>
                  </a:schemeClr>
                </a:solidFill>
              </a:defRPr>
            </a:lvl1pPr>
          </a:lstStyle>
          <a:p>
            <a:fld id="{10C140CD-8AED-46FF-A9A2-77308F3F39AE}" type="slidenum">
              <a:rPr lang="fr-FR" smtClean="0"/>
              <a:pPr/>
              <a:t>‹N°›</a:t>
            </a:fld>
            <a:endParaRPr lang="fr-FR"/>
          </a:p>
        </p:txBody>
      </p:sp>
      <p:sp>
        <p:nvSpPr>
          <p:cNvPr id="7" name="Titre 6"/>
          <p:cNvSpPr>
            <a:spLocks noGrp="1"/>
          </p:cNvSpPr>
          <p:nvPr>
            <p:ph type="title" hasCustomPrompt="1"/>
          </p:nvPr>
        </p:nvSpPr>
        <p:spPr bwMode="gray">
          <a:xfrm>
            <a:off x="2466000" y="1092329"/>
            <a:ext cx="9421200" cy="1548171"/>
          </a:xfrm>
        </p:spPr>
        <p:txBody>
          <a:bodyPr anchor="b" anchorCtr="0"/>
          <a:lstStyle>
            <a:lvl1pPr>
              <a:defRPr sz="4800">
                <a:solidFill>
                  <a:schemeClr val="bg1"/>
                </a:solidFill>
                <a:latin typeface="+mn-lt"/>
              </a:defRPr>
            </a:lvl1pPr>
          </a:lstStyle>
          <a:p>
            <a:r>
              <a:rPr lang="fr-FR"/>
              <a:t>Titre de la présentation </a:t>
            </a:r>
          </a:p>
        </p:txBody>
      </p:sp>
      <p:pic>
        <p:nvPicPr>
          <p:cNvPr id="11" name="Image 10">
            <a:extLst>
              <a:ext uri="{FF2B5EF4-FFF2-40B4-BE49-F238E27FC236}">
                <a16:creationId xmlns:a16="http://schemas.microsoft.com/office/drawing/2014/main" id="{49C51ED0-2DA5-B09F-88EA-CAE5E2427628}"/>
              </a:ext>
            </a:extLst>
          </p:cNvPr>
          <p:cNvPicPr>
            <a:picLocks noChangeAspect="1"/>
          </p:cNvPicPr>
          <p:nvPr userDrawn="1"/>
        </p:nvPicPr>
        <p:blipFill>
          <a:blip r:embed="rId2"/>
          <a:stretch>
            <a:fillRect/>
          </a:stretch>
        </p:blipFill>
        <p:spPr>
          <a:xfrm>
            <a:off x="2567608" y="4596813"/>
            <a:ext cx="3771064" cy="327625"/>
          </a:xfrm>
          <a:prstGeom prst="rect">
            <a:avLst/>
          </a:prstGeom>
        </p:spPr>
      </p:pic>
    </p:spTree>
    <p:extLst>
      <p:ext uri="{BB962C8B-B14F-4D97-AF65-F5344CB8AC3E}">
        <p14:creationId xmlns:p14="http://schemas.microsoft.com/office/powerpoint/2010/main" val="3279905447"/>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userDrawn="1">
  <p:cSld name="1_Sommair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5CAD8035-B4FD-DC29-463B-13706C1A040E}"/>
              </a:ext>
            </a:extLst>
          </p:cNvPr>
          <p:cNvSpPr/>
          <p:nvPr userDrawn="1"/>
        </p:nvSpPr>
        <p:spPr bwMode="gray">
          <a:xfrm>
            <a:off x="0" y="0"/>
            <a:ext cx="12192000"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0" name="Forme libre : forme 9">
            <a:extLst>
              <a:ext uri="{FF2B5EF4-FFF2-40B4-BE49-F238E27FC236}">
                <a16:creationId xmlns:a16="http://schemas.microsoft.com/office/drawing/2014/main" id="{CF83F4C1-B9CC-983A-87E2-C1B98A3D183C}"/>
              </a:ext>
            </a:extLst>
          </p:cNvPr>
          <p:cNvSpPr/>
          <p:nvPr userDrawn="1"/>
        </p:nvSpPr>
        <p:spPr bwMode="gray">
          <a:xfrm>
            <a:off x="0" y="5900738"/>
            <a:ext cx="12192000" cy="957262"/>
          </a:xfrm>
          <a:custGeom>
            <a:avLst/>
            <a:gdLst>
              <a:gd name="connsiteX0" fmla="*/ 496367 w 12192000"/>
              <a:gd name="connsiteY0" fmla="*/ 0 h 957262"/>
              <a:gd name="connsiteX1" fmla="*/ 12192000 w 12192000"/>
              <a:gd name="connsiteY1" fmla="*/ 0 h 957262"/>
              <a:gd name="connsiteX2" fmla="*/ 12192000 w 12192000"/>
              <a:gd name="connsiteY2" fmla="*/ 957262 h 957262"/>
              <a:gd name="connsiteX3" fmla="*/ 0 w 12192000"/>
              <a:gd name="connsiteY3" fmla="*/ 957262 h 957262"/>
              <a:gd name="connsiteX4" fmla="*/ 0 w 12192000"/>
              <a:gd name="connsiteY4" fmla="*/ 336574 h 957262"/>
              <a:gd name="connsiteX5" fmla="*/ 1780 w 12192000"/>
              <a:gd name="connsiteY5" fmla="*/ 336574 h 957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57262">
                <a:moveTo>
                  <a:pt x="496367" y="0"/>
                </a:moveTo>
                <a:lnTo>
                  <a:pt x="12192000" y="0"/>
                </a:lnTo>
                <a:lnTo>
                  <a:pt x="12192000" y="957262"/>
                </a:lnTo>
                <a:lnTo>
                  <a:pt x="0" y="957262"/>
                </a:lnTo>
                <a:lnTo>
                  <a:pt x="0" y="336574"/>
                </a:lnTo>
                <a:lnTo>
                  <a:pt x="1780" y="336574"/>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2C044A65-6B74-E2BA-A3BF-5A6EC0146C3D}"/>
              </a:ext>
            </a:extLst>
          </p:cNvPr>
          <p:cNvSpPr>
            <a:spLocks noGrp="1"/>
          </p:cNvSpPr>
          <p:nvPr>
            <p:ph type="title" hasCustomPrompt="1"/>
          </p:nvPr>
        </p:nvSpPr>
        <p:spPr bwMode="gray">
          <a:xfrm>
            <a:off x="463551" y="680357"/>
            <a:ext cx="11157828" cy="516396"/>
          </a:xfrm>
        </p:spPr>
        <p:txBody>
          <a:bodyPr/>
          <a:lstStyle>
            <a:lvl1pPr>
              <a:defRPr/>
            </a:lvl1pPr>
          </a:lstStyle>
          <a:p>
            <a:r>
              <a:rPr lang="fr-FR"/>
              <a:t>Sommaire</a:t>
            </a:r>
          </a:p>
        </p:txBody>
      </p:sp>
      <p:sp>
        <p:nvSpPr>
          <p:cNvPr id="3" name="Espace réservé de la date 2">
            <a:extLst>
              <a:ext uri="{FF2B5EF4-FFF2-40B4-BE49-F238E27FC236}">
                <a16:creationId xmlns:a16="http://schemas.microsoft.com/office/drawing/2014/main" id="{2EBD6A5D-3E9E-7C29-9B1A-4AF311C18165}"/>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FF336620-0E66-B067-96ED-4933C90F7CDF}"/>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D4AABB4D-3980-DDE5-07D2-9AB530B106DF}"/>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13" name="Espace réservé du texte 12">
            <a:extLst>
              <a:ext uri="{FF2B5EF4-FFF2-40B4-BE49-F238E27FC236}">
                <a16:creationId xmlns:a16="http://schemas.microsoft.com/office/drawing/2014/main" id="{D187E8B9-C2A3-8206-4A1E-5035DA01DA3D}"/>
              </a:ext>
            </a:extLst>
          </p:cNvPr>
          <p:cNvSpPr>
            <a:spLocks noGrp="1"/>
          </p:cNvSpPr>
          <p:nvPr>
            <p:ph type="body" sz="quarter" idx="13" hasCustomPrompt="1"/>
          </p:nvPr>
        </p:nvSpPr>
        <p:spPr bwMode="gray">
          <a:xfrm>
            <a:off x="0" y="1825149"/>
            <a:ext cx="833974" cy="631743"/>
          </a:xfrm>
        </p:spPr>
        <p:txBody>
          <a:bodyPr anchor="ctr" anchorCtr="0"/>
          <a:lstStyle>
            <a:lvl1pPr marL="0" indent="0" algn="r">
              <a:spcAft>
                <a:spcPts val="0"/>
              </a:spcAft>
              <a:buNone/>
              <a:defRPr sz="4100"/>
            </a:lvl1pPr>
          </a:lstStyle>
          <a:p>
            <a:pPr lvl="0"/>
            <a:r>
              <a:rPr lang="fr-FR"/>
              <a:t>1</a:t>
            </a:r>
          </a:p>
        </p:txBody>
      </p:sp>
      <p:sp>
        <p:nvSpPr>
          <p:cNvPr id="14" name="Espace réservé du texte 12">
            <a:extLst>
              <a:ext uri="{FF2B5EF4-FFF2-40B4-BE49-F238E27FC236}">
                <a16:creationId xmlns:a16="http://schemas.microsoft.com/office/drawing/2014/main" id="{7E64F1E5-B8EF-C1E1-FA81-D5F504E3B7F8}"/>
              </a:ext>
            </a:extLst>
          </p:cNvPr>
          <p:cNvSpPr>
            <a:spLocks noGrp="1"/>
          </p:cNvSpPr>
          <p:nvPr>
            <p:ph type="body" sz="quarter" idx="14" hasCustomPrompt="1"/>
          </p:nvPr>
        </p:nvSpPr>
        <p:spPr bwMode="gray">
          <a:xfrm>
            <a:off x="997664" y="1825149"/>
            <a:ext cx="2664296" cy="633600"/>
          </a:xfrm>
        </p:spPr>
        <p:txBody>
          <a:bodyPr anchor="ctr" anchorCtr="0">
            <a:normAutofit/>
          </a:bodyPr>
          <a:lstStyle>
            <a:lvl1pPr marL="0" indent="0" algn="l">
              <a:spcAft>
                <a:spcPts val="0"/>
              </a:spcAft>
              <a:buNone/>
              <a:defRPr sz="1600"/>
            </a:lvl1pPr>
          </a:lstStyle>
          <a:p>
            <a:pPr lvl="0"/>
            <a:r>
              <a:rPr lang="fr-FR"/>
              <a:t>Titre du chapitre 1</a:t>
            </a:r>
          </a:p>
        </p:txBody>
      </p:sp>
      <p:sp>
        <p:nvSpPr>
          <p:cNvPr id="15" name="Espace réservé du texte 12">
            <a:extLst>
              <a:ext uri="{FF2B5EF4-FFF2-40B4-BE49-F238E27FC236}">
                <a16:creationId xmlns:a16="http://schemas.microsoft.com/office/drawing/2014/main" id="{749458D7-9FD9-2985-F79A-C2465C958DE0}"/>
              </a:ext>
            </a:extLst>
          </p:cNvPr>
          <p:cNvSpPr>
            <a:spLocks noGrp="1"/>
          </p:cNvSpPr>
          <p:nvPr>
            <p:ph type="body" sz="quarter" idx="15" hasCustomPrompt="1"/>
          </p:nvPr>
        </p:nvSpPr>
        <p:spPr bwMode="gray">
          <a:xfrm>
            <a:off x="3979710" y="1825149"/>
            <a:ext cx="833974" cy="631743"/>
          </a:xfrm>
        </p:spPr>
        <p:txBody>
          <a:bodyPr anchor="ctr" anchorCtr="0"/>
          <a:lstStyle>
            <a:lvl1pPr marL="0" indent="0" algn="r">
              <a:spcAft>
                <a:spcPts val="0"/>
              </a:spcAft>
              <a:buNone/>
              <a:defRPr sz="4100"/>
            </a:lvl1pPr>
          </a:lstStyle>
          <a:p>
            <a:pPr lvl="0"/>
            <a:r>
              <a:rPr lang="fr-FR"/>
              <a:t>2</a:t>
            </a:r>
          </a:p>
        </p:txBody>
      </p:sp>
      <p:sp>
        <p:nvSpPr>
          <p:cNvPr id="16" name="Espace réservé du texte 12">
            <a:extLst>
              <a:ext uri="{FF2B5EF4-FFF2-40B4-BE49-F238E27FC236}">
                <a16:creationId xmlns:a16="http://schemas.microsoft.com/office/drawing/2014/main" id="{DFAD66BF-CD90-A6E1-BB56-5B2F1835C50E}"/>
              </a:ext>
            </a:extLst>
          </p:cNvPr>
          <p:cNvSpPr>
            <a:spLocks noGrp="1"/>
          </p:cNvSpPr>
          <p:nvPr>
            <p:ph type="body" sz="quarter" idx="16" hasCustomPrompt="1"/>
          </p:nvPr>
        </p:nvSpPr>
        <p:spPr bwMode="gray">
          <a:xfrm>
            <a:off x="4977374" y="1825149"/>
            <a:ext cx="2664296" cy="633600"/>
          </a:xfrm>
        </p:spPr>
        <p:txBody>
          <a:bodyPr anchor="ctr" anchorCtr="0">
            <a:normAutofit/>
          </a:bodyPr>
          <a:lstStyle>
            <a:lvl1pPr marL="0" indent="0" algn="l">
              <a:spcAft>
                <a:spcPts val="0"/>
              </a:spcAft>
              <a:buNone/>
              <a:defRPr sz="1600"/>
            </a:lvl1pPr>
          </a:lstStyle>
          <a:p>
            <a:pPr lvl="0"/>
            <a:r>
              <a:rPr lang="fr-FR"/>
              <a:t>Titre du chapitre 2</a:t>
            </a:r>
          </a:p>
        </p:txBody>
      </p:sp>
      <p:sp>
        <p:nvSpPr>
          <p:cNvPr id="17" name="Espace réservé du texte 12">
            <a:extLst>
              <a:ext uri="{FF2B5EF4-FFF2-40B4-BE49-F238E27FC236}">
                <a16:creationId xmlns:a16="http://schemas.microsoft.com/office/drawing/2014/main" id="{FCB57F38-5018-2158-5147-994ED29AE9A9}"/>
              </a:ext>
            </a:extLst>
          </p:cNvPr>
          <p:cNvSpPr>
            <a:spLocks noGrp="1"/>
          </p:cNvSpPr>
          <p:nvPr>
            <p:ph type="body" sz="quarter" idx="17" hasCustomPrompt="1"/>
          </p:nvPr>
        </p:nvSpPr>
        <p:spPr bwMode="gray">
          <a:xfrm>
            <a:off x="7959419" y="1825149"/>
            <a:ext cx="833974" cy="631743"/>
          </a:xfrm>
        </p:spPr>
        <p:txBody>
          <a:bodyPr anchor="ctr" anchorCtr="0"/>
          <a:lstStyle>
            <a:lvl1pPr marL="0" indent="0" algn="r">
              <a:spcAft>
                <a:spcPts val="0"/>
              </a:spcAft>
              <a:buNone/>
              <a:defRPr sz="4100"/>
            </a:lvl1pPr>
          </a:lstStyle>
          <a:p>
            <a:pPr lvl="0"/>
            <a:r>
              <a:rPr lang="fr-FR"/>
              <a:t>3</a:t>
            </a:r>
          </a:p>
        </p:txBody>
      </p:sp>
      <p:sp>
        <p:nvSpPr>
          <p:cNvPr id="18" name="Espace réservé du texte 12">
            <a:extLst>
              <a:ext uri="{FF2B5EF4-FFF2-40B4-BE49-F238E27FC236}">
                <a16:creationId xmlns:a16="http://schemas.microsoft.com/office/drawing/2014/main" id="{A5B81591-82E0-FDB0-FAEE-3C1D7AB6A3B9}"/>
              </a:ext>
            </a:extLst>
          </p:cNvPr>
          <p:cNvSpPr>
            <a:spLocks noGrp="1"/>
          </p:cNvSpPr>
          <p:nvPr>
            <p:ph type="body" sz="quarter" idx="18" hasCustomPrompt="1"/>
          </p:nvPr>
        </p:nvSpPr>
        <p:spPr bwMode="gray">
          <a:xfrm>
            <a:off x="8957083" y="1825149"/>
            <a:ext cx="2664296" cy="633600"/>
          </a:xfrm>
        </p:spPr>
        <p:txBody>
          <a:bodyPr anchor="ctr" anchorCtr="0">
            <a:normAutofit/>
          </a:bodyPr>
          <a:lstStyle>
            <a:lvl1pPr marL="0" indent="0" algn="l">
              <a:spcAft>
                <a:spcPts val="0"/>
              </a:spcAft>
              <a:buNone/>
              <a:defRPr sz="1600"/>
            </a:lvl1pPr>
          </a:lstStyle>
          <a:p>
            <a:pPr lvl="0"/>
            <a:r>
              <a:rPr lang="fr-FR"/>
              <a:t>Titre du chapitre 3</a:t>
            </a:r>
          </a:p>
        </p:txBody>
      </p:sp>
      <p:sp>
        <p:nvSpPr>
          <p:cNvPr id="31" name="Espace réservé du texte 12">
            <a:extLst>
              <a:ext uri="{FF2B5EF4-FFF2-40B4-BE49-F238E27FC236}">
                <a16:creationId xmlns:a16="http://schemas.microsoft.com/office/drawing/2014/main" id="{A35329AE-422E-2F51-AFEC-BD09F50F2AAF}"/>
              </a:ext>
            </a:extLst>
          </p:cNvPr>
          <p:cNvSpPr>
            <a:spLocks noGrp="1"/>
          </p:cNvSpPr>
          <p:nvPr>
            <p:ph type="body" sz="quarter" idx="19" hasCustomPrompt="1"/>
          </p:nvPr>
        </p:nvSpPr>
        <p:spPr bwMode="gray">
          <a:xfrm>
            <a:off x="0" y="2988163"/>
            <a:ext cx="833974" cy="631743"/>
          </a:xfrm>
        </p:spPr>
        <p:txBody>
          <a:bodyPr anchor="ctr" anchorCtr="0"/>
          <a:lstStyle>
            <a:lvl1pPr marL="0" indent="0" algn="r">
              <a:spcAft>
                <a:spcPts val="0"/>
              </a:spcAft>
              <a:buNone/>
              <a:defRPr sz="4100"/>
            </a:lvl1pPr>
          </a:lstStyle>
          <a:p>
            <a:pPr lvl="0"/>
            <a:r>
              <a:rPr lang="fr-FR"/>
              <a:t>4</a:t>
            </a:r>
          </a:p>
        </p:txBody>
      </p:sp>
      <p:sp>
        <p:nvSpPr>
          <p:cNvPr id="32" name="Espace réservé du texte 12">
            <a:extLst>
              <a:ext uri="{FF2B5EF4-FFF2-40B4-BE49-F238E27FC236}">
                <a16:creationId xmlns:a16="http://schemas.microsoft.com/office/drawing/2014/main" id="{5334826E-F255-4CF6-09F8-121E33976819}"/>
              </a:ext>
            </a:extLst>
          </p:cNvPr>
          <p:cNvSpPr>
            <a:spLocks noGrp="1"/>
          </p:cNvSpPr>
          <p:nvPr>
            <p:ph type="body" sz="quarter" idx="20" hasCustomPrompt="1"/>
          </p:nvPr>
        </p:nvSpPr>
        <p:spPr bwMode="gray">
          <a:xfrm>
            <a:off x="997664" y="2988163"/>
            <a:ext cx="2664296" cy="633600"/>
          </a:xfrm>
        </p:spPr>
        <p:txBody>
          <a:bodyPr anchor="ctr" anchorCtr="0">
            <a:normAutofit/>
          </a:bodyPr>
          <a:lstStyle>
            <a:lvl1pPr marL="0" indent="0" algn="l">
              <a:spcAft>
                <a:spcPts val="0"/>
              </a:spcAft>
              <a:buNone/>
              <a:defRPr sz="1600"/>
            </a:lvl1pPr>
          </a:lstStyle>
          <a:p>
            <a:pPr lvl="0"/>
            <a:r>
              <a:rPr lang="fr-FR"/>
              <a:t>Titre du chapitre 4</a:t>
            </a:r>
          </a:p>
        </p:txBody>
      </p:sp>
      <p:sp>
        <p:nvSpPr>
          <p:cNvPr id="33" name="Espace réservé du texte 12">
            <a:extLst>
              <a:ext uri="{FF2B5EF4-FFF2-40B4-BE49-F238E27FC236}">
                <a16:creationId xmlns:a16="http://schemas.microsoft.com/office/drawing/2014/main" id="{1C67376D-E5C5-5C51-594B-396F0BFD6D07}"/>
              </a:ext>
            </a:extLst>
          </p:cNvPr>
          <p:cNvSpPr>
            <a:spLocks noGrp="1"/>
          </p:cNvSpPr>
          <p:nvPr>
            <p:ph type="body" sz="quarter" idx="21" hasCustomPrompt="1"/>
          </p:nvPr>
        </p:nvSpPr>
        <p:spPr bwMode="gray">
          <a:xfrm>
            <a:off x="3979710" y="2988163"/>
            <a:ext cx="833974" cy="631743"/>
          </a:xfrm>
        </p:spPr>
        <p:txBody>
          <a:bodyPr anchor="ctr" anchorCtr="0"/>
          <a:lstStyle>
            <a:lvl1pPr marL="0" indent="0" algn="r">
              <a:spcAft>
                <a:spcPts val="0"/>
              </a:spcAft>
              <a:buNone/>
              <a:defRPr sz="4100"/>
            </a:lvl1pPr>
          </a:lstStyle>
          <a:p>
            <a:pPr lvl="0"/>
            <a:r>
              <a:rPr lang="fr-FR"/>
              <a:t>5</a:t>
            </a:r>
          </a:p>
        </p:txBody>
      </p:sp>
      <p:sp>
        <p:nvSpPr>
          <p:cNvPr id="34" name="Espace réservé du texte 12">
            <a:extLst>
              <a:ext uri="{FF2B5EF4-FFF2-40B4-BE49-F238E27FC236}">
                <a16:creationId xmlns:a16="http://schemas.microsoft.com/office/drawing/2014/main" id="{1252BC21-F6BF-B062-ACAE-1AF9181C748D}"/>
              </a:ext>
            </a:extLst>
          </p:cNvPr>
          <p:cNvSpPr>
            <a:spLocks noGrp="1"/>
          </p:cNvSpPr>
          <p:nvPr>
            <p:ph type="body" sz="quarter" idx="22" hasCustomPrompt="1"/>
          </p:nvPr>
        </p:nvSpPr>
        <p:spPr bwMode="gray">
          <a:xfrm>
            <a:off x="4977374" y="2988163"/>
            <a:ext cx="2664296" cy="633600"/>
          </a:xfrm>
        </p:spPr>
        <p:txBody>
          <a:bodyPr anchor="ctr" anchorCtr="0">
            <a:normAutofit/>
          </a:bodyPr>
          <a:lstStyle>
            <a:lvl1pPr marL="0" indent="0" algn="l">
              <a:spcAft>
                <a:spcPts val="0"/>
              </a:spcAft>
              <a:buNone/>
              <a:defRPr sz="1600"/>
            </a:lvl1pPr>
          </a:lstStyle>
          <a:p>
            <a:pPr lvl="0"/>
            <a:r>
              <a:rPr lang="fr-FR"/>
              <a:t>Titre du chapitre 5</a:t>
            </a:r>
          </a:p>
        </p:txBody>
      </p:sp>
      <p:sp>
        <p:nvSpPr>
          <p:cNvPr id="35" name="Espace réservé du texte 12">
            <a:extLst>
              <a:ext uri="{FF2B5EF4-FFF2-40B4-BE49-F238E27FC236}">
                <a16:creationId xmlns:a16="http://schemas.microsoft.com/office/drawing/2014/main" id="{C2A5E203-4CA2-28B6-0BFF-31E7813FC7A0}"/>
              </a:ext>
            </a:extLst>
          </p:cNvPr>
          <p:cNvSpPr>
            <a:spLocks noGrp="1"/>
          </p:cNvSpPr>
          <p:nvPr>
            <p:ph type="body" sz="quarter" idx="23" hasCustomPrompt="1"/>
          </p:nvPr>
        </p:nvSpPr>
        <p:spPr bwMode="gray">
          <a:xfrm>
            <a:off x="7959419" y="2988163"/>
            <a:ext cx="833974" cy="631743"/>
          </a:xfrm>
        </p:spPr>
        <p:txBody>
          <a:bodyPr anchor="ctr" anchorCtr="0"/>
          <a:lstStyle>
            <a:lvl1pPr marL="0" indent="0" algn="r">
              <a:spcAft>
                <a:spcPts val="0"/>
              </a:spcAft>
              <a:buNone/>
              <a:defRPr sz="4100"/>
            </a:lvl1pPr>
          </a:lstStyle>
          <a:p>
            <a:pPr lvl="0"/>
            <a:r>
              <a:rPr lang="fr-FR"/>
              <a:t>6</a:t>
            </a:r>
          </a:p>
        </p:txBody>
      </p:sp>
      <p:sp>
        <p:nvSpPr>
          <p:cNvPr id="36" name="Espace réservé du texte 12">
            <a:extLst>
              <a:ext uri="{FF2B5EF4-FFF2-40B4-BE49-F238E27FC236}">
                <a16:creationId xmlns:a16="http://schemas.microsoft.com/office/drawing/2014/main" id="{BEEF4643-DE29-0C96-9514-B1943B09B5CB}"/>
              </a:ext>
            </a:extLst>
          </p:cNvPr>
          <p:cNvSpPr>
            <a:spLocks noGrp="1"/>
          </p:cNvSpPr>
          <p:nvPr>
            <p:ph type="body" sz="quarter" idx="24" hasCustomPrompt="1"/>
          </p:nvPr>
        </p:nvSpPr>
        <p:spPr bwMode="gray">
          <a:xfrm>
            <a:off x="8957083" y="2988163"/>
            <a:ext cx="2664296" cy="633600"/>
          </a:xfrm>
        </p:spPr>
        <p:txBody>
          <a:bodyPr anchor="ctr" anchorCtr="0">
            <a:normAutofit/>
          </a:bodyPr>
          <a:lstStyle>
            <a:lvl1pPr marL="0" indent="0" algn="l">
              <a:spcAft>
                <a:spcPts val="0"/>
              </a:spcAft>
              <a:buNone/>
              <a:defRPr sz="1600"/>
            </a:lvl1pPr>
          </a:lstStyle>
          <a:p>
            <a:pPr lvl="0"/>
            <a:r>
              <a:rPr lang="fr-FR"/>
              <a:t>Titre du chapitre 6</a:t>
            </a:r>
          </a:p>
        </p:txBody>
      </p:sp>
      <p:sp>
        <p:nvSpPr>
          <p:cNvPr id="37" name="Espace réservé du texte 12">
            <a:extLst>
              <a:ext uri="{FF2B5EF4-FFF2-40B4-BE49-F238E27FC236}">
                <a16:creationId xmlns:a16="http://schemas.microsoft.com/office/drawing/2014/main" id="{0E4F6493-DE3D-BC71-4A40-ED125FB23DAD}"/>
              </a:ext>
            </a:extLst>
          </p:cNvPr>
          <p:cNvSpPr>
            <a:spLocks noGrp="1"/>
          </p:cNvSpPr>
          <p:nvPr>
            <p:ph type="body" sz="quarter" idx="25" hasCustomPrompt="1"/>
          </p:nvPr>
        </p:nvSpPr>
        <p:spPr bwMode="gray">
          <a:xfrm>
            <a:off x="0" y="4151177"/>
            <a:ext cx="833974" cy="631743"/>
          </a:xfrm>
        </p:spPr>
        <p:txBody>
          <a:bodyPr anchor="ctr" anchorCtr="0"/>
          <a:lstStyle>
            <a:lvl1pPr marL="0" indent="0" algn="r">
              <a:spcAft>
                <a:spcPts val="0"/>
              </a:spcAft>
              <a:buNone/>
              <a:defRPr sz="4100"/>
            </a:lvl1pPr>
          </a:lstStyle>
          <a:p>
            <a:pPr lvl="0"/>
            <a:r>
              <a:rPr lang="fr-FR"/>
              <a:t>7</a:t>
            </a:r>
          </a:p>
        </p:txBody>
      </p:sp>
      <p:sp>
        <p:nvSpPr>
          <p:cNvPr id="38" name="Espace réservé du texte 12">
            <a:extLst>
              <a:ext uri="{FF2B5EF4-FFF2-40B4-BE49-F238E27FC236}">
                <a16:creationId xmlns:a16="http://schemas.microsoft.com/office/drawing/2014/main" id="{8581EDC0-2EE6-C1AE-5A76-E3758A9AEF5F}"/>
              </a:ext>
            </a:extLst>
          </p:cNvPr>
          <p:cNvSpPr>
            <a:spLocks noGrp="1"/>
          </p:cNvSpPr>
          <p:nvPr>
            <p:ph type="body" sz="quarter" idx="26" hasCustomPrompt="1"/>
          </p:nvPr>
        </p:nvSpPr>
        <p:spPr bwMode="gray">
          <a:xfrm>
            <a:off x="997664" y="4151177"/>
            <a:ext cx="2664296" cy="633600"/>
          </a:xfrm>
        </p:spPr>
        <p:txBody>
          <a:bodyPr anchor="ctr" anchorCtr="0">
            <a:normAutofit/>
          </a:bodyPr>
          <a:lstStyle>
            <a:lvl1pPr marL="0" indent="0" algn="l">
              <a:spcAft>
                <a:spcPts val="0"/>
              </a:spcAft>
              <a:buNone/>
              <a:defRPr sz="1600"/>
            </a:lvl1pPr>
          </a:lstStyle>
          <a:p>
            <a:pPr lvl="0"/>
            <a:r>
              <a:rPr lang="fr-FR"/>
              <a:t>Titre du chapitre 7</a:t>
            </a:r>
          </a:p>
        </p:txBody>
      </p:sp>
      <p:sp>
        <p:nvSpPr>
          <p:cNvPr id="39" name="Espace réservé du texte 12">
            <a:extLst>
              <a:ext uri="{FF2B5EF4-FFF2-40B4-BE49-F238E27FC236}">
                <a16:creationId xmlns:a16="http://schemas.microsoft.com/office/drawing/2014/main" id="{78DCEB05-0E58-5C05-692F-DDF19736E6BB}"/>
              </a:ext>
            </a:extLst>
          </p:cNvPr>
          <p:cNvSpPr>
            <a:spLocks noGrp="1"/>
          </p:cNvSpPr>
          <p:nvPr>
            <p:ph type="body" sz="quarter" idx="27" hasCustomPrompt="1"/>
          </p:nvPr>
        </p:nvSpPr>
        <p:spPr bwMode="gray">
          <a:xfrm>
            <a:off x="3979710" y="4151177"/>
            <a:ext cx="833974" cy="631743"/>
          </a:xfrm>
        </p:spPr>
        <p:txBody>
          <a:bodyPr anchor="ctr" anchorCtr="0"/>
          <a:lstStyle>
            <a:lvl1pPr marL="0" indent="0" algn="r">
              <a:spcAft>
                <a:spcPts val="0"/>
              </a:spcAft>
              <a:buNone/>
              <a:defRPr sz="4100"/>
            </a:lvl1pPr>
          </a:lstStyle>
          <a:p>
            <a:pPr lvl="0"/>
            <a:r>
              <a:rPr lang="fr-FR"/>
              <a:t>8</a:t>
            </a:r>
          </a:p>
        </p:txBody>
      </p:sp>
      <p:sp>
        <p:nvSpPr>
          <p:cNvPr id="40" name="Espace réservé du texte 12">
            <a:extLst>
              <a:ext uri="{FF2B5EF4-FFF2-40B4-BE49-F238E27FC236}">
                <a16:creationId xmlns:a16="http://schemas.microsoft.com/office/drawing/2014/main" id="{05C0254B-F1B8-C018-D39C-B977F2677D81}"/>
              </a:ext>
            </a:extLst>
          </p:cNvPr>
          <p:cNvSpPr>
            <a:spLocks noGrp="1"/>
          </p:cNvSpPr>
          <p:nvPr>
            <p:ph type="body" sz="quarter" idx="28" hasCustomPrompt="1"/>
          </p:nvPr>
        </p:nvSpPr>
        <p:spPr bwMode="gray">
          <a:xfrm>
            <a:off x="4977374" y="4151177"/>
            <a:ext cx="2664296" cy="633600"/>
          </a:xfrm>
        </p:spPr>
        <p:txBody>
          <a:bodyPr anchor="ctr" anchorCtr="0">
            <a:normAutofit/>
          </a:bodyPr>
          <a:lstStyle>
            <a:lvl1pPr marL="0" indent="0" algn="l">
              <a:spcAft>
                <a:spcPts val="0"/>
              </a:spcAft>
              <a:buNone/>
              <a:defRPr sz="1600"/>
            </a:lvl1pPr>
          </a:lstStyle>
          <a:p>
            <a:pPr lvl="0"/>
            <a:r>
              <a:rPr lang="fr-FR"/>
              <a:t>Titre du chapitre 8</a:t>
            </a:r>
          </a:p>
        </p:txBody>
      </p:sp>
      <p:sp>
        <p:nvSpPr>
          <p:cNvPr id="41" name="Espace réservé du texte 12">
            <a:extLst>
              <a:ext uri="{FF2B5EF4-FFF2-40B4-BE49-F238E27FC236}">
                <a16:creationId xmlns:a16="http://schemas.microsoft.com/office/drawing/2014/main" id="{E1292463-C6F8-4DCE-7A63-A6FD3353A3C0}"/>
              </a:ext>
            </a:extLst>
          </p:cNvPr>
          <p:cNvSpPr>
            <a:spLocks noGrp="1"/>
          </p:cNvSpPr>
          <p:nvPr>
            <p:ph type="body" sz="quarter" idx="29" hasCustomPrompt="1"/>
          </p:nvPr>
        </p:nvSpPr>
        <p:spPr bwMode="gray">
          <a:xfrm>
            <a:off x="7959419" y="4151177"/>
            <a:ext cx="833974" cy="631743"/>
          </a:xfrm>
        </p:spPr>
        <p:txBody>
          <a:bodyPr anchor="ctr" anchorCtr="0"/>
          <a:lstStyle>
            <a:lvl1pPr marL="0" indent="0" algn="r">
              <a:spcAft>
                <a:spcPts val="0"/>
              </a:spcAft>
              <a:buNone/>
              <a:defRPr sz="4100"/>
            </a:lvl1pPr>
          </a:lstStyle>
          <a:p>
            <a:pPr lvl="0"/>
            <a:r>
              <a:rPr lang="fr-FR"/>
              <a:t>9</a:t>
            </a:r>
          </a:p>
        </p:txBody>
      </p:sp>
      <p:sp>
        <p:nvSpPr>
          <p:cNvPr id="42" name="Espace réservé du texte 12">
            <a:extLst>
              <a:ext uri="{FF2B5EF4-FFF2-40B4-BE49-F238E27FC236}">
                <a16:creationId xmlns:a16="http://schemas.microsoft.com/office/drawing/2014/main" id="{84F4A02A-C952-D752-68A4-9AB933608CDC}"/>
              </a:ext>
            </a:extLst>
          </p:cNvPr>
          <p:cNvSpPr>
            <a:spLocks noGrp="1"/>
          </p:cNvSpPr>
          <p:nvPr>
            <p:ph type="body" sz="quarter" idx="30" hasCustomPrompt="1"/>
          </p:nvPr>
        </p:nvSpPr>
        <p:spPr bwMode="gray">
          <a:xfrm>
            <a:off x="8957083" y="4151177"/>
            <a:ext cx="2664296" cy="633600"/>
          </a:xfrm>
        </p:spPr>
        <p:txBody>
          <a:bodyPr anchor="ctr" anchorCtr="0">
            <a:normAutofit/>
          </a:bodyPr>
          <a:lstStyle>
            <a:lvl1pPr marL="0" indent="0" algn="l">
              <a:spcAft>
                <a:spcPts val="0"/>
              </a:spcAft>
              <a:buNone/>
              <a:defRPr sz="1600"/>
            </a:lvl1pPr>
          </a:lstStyle>
          <a:p>
            <a:pPr lvl="0"/>
            <a:r>
              <a:rPr lang="fr-FR"/>
              <a:t>Titre du chapitre 9</a:t>
            </a:r>
          </a:p>
        </p:txBody>
      </p:sp>
      <p:pic>
        <p:nvPicPr>
          <p:cNvPr id="6" name="Image 5" descr="Une image contenant Police, Graphique, capture d’écran, logo&#10;&#10;Description générée automatiquement">
            <a:extLst>
              <a:ext uri="{FF2B5EF4-FFF2-40B4-BE49-F238E27FC236}">
                <a16:creationId xmlns:a16="http://schemas.microsoft.com/office/drawing/2014/main" id="{0BE79121-0100-D2DC-F22C-D3F5B1A5A877}"/>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332733958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orient="horz" pos="3717">
          <p15:clr>
            <a:srgbClr val="FBAE40"/>
          </p15:clr>
        </p15:guide>
        <p15:guide id="4" pos="292">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userDrawn="1">
  <p:cSld name="1_Intercalaire_bleu_clair">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7323CCC4-8679-C2AD-3A24-B72A3734C225}"/>
              </a:ext>
            </a:extLst>
          </p:cNvPr>
          <p:cNvSpPr/>
          <p:nvPr userDrawn="1"/>
        </p:nvSpPr>
        <p:spPr bwMode="gray">
          <a:xfrm>
            <a:off x="0" y="0"/>
            <a:ext cx="12192000" cy="6858000"/>
          </a:xfrm>
          <a:prstGeom prst="rect">
            <a:avLst/>
          </a:prstGeom>
          <a:solidFill>
            <a:srgbClr val="93B9C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CAA4DAEA-970D-8876-C9DC-932391652B5D}"/>
              </a:ext>
            </a:extLst>
          </p:cNvPr>
          <p:cNvSpPr/>
          <p:nvPr userDrawn="1"/>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e la date 7"/>
          <p:cNvSpPr>
            <a:spLocks noGrp="1"/>
          </p:cNvSpPr>
          <p:nvPr>
            <p:ph type="dt" sz="half" idx="10"/>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6EF6EC3F-7A12-4C3C-9012-F0C7A5EB5702}" type="datetime3">
              <a:rPr lang="fr-FR" smtClean="0"/>
              <a:pPr/>
              <a:t>12.01.26</a:t>
            </a:fld>
            <a:endParaRPr lang="fr-FR"/>
          </a:p>
        </p:txBody>
      </p:sp>
      <p:sp>
        <p:nvSpPr>
          <p:cNvPr id="11" name="Espace réservé du numéro de diapositive 10"/>
          <p:cNvSpPr>
            <a:spLocks noGrp="1"/>
          </p:cNvSpPr>
          <p:nvPr>
            <p:ph type="sldNum" sz="quarter" idx="11"/>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733122C9-A0B9-462F-8757-0847AD287B63}" type="slidenum">
              <a:rPr lang="fr-FR" smtClean="0"/>
              <a:pPr/>
              <a:t>‹N°›</a:t>
            </a:fld>
            <a:endParaRPr lang="fr-FR"/>
          </a:p>
        </p:txBody>
      </p:sp>
      <p:sp>
        <p:nvSpPr>
          <p:cNvPr id="12" name="Espace réservé du pied de page 11"/>
          <p:cNvSpPr>
            <a:spLocks noGrp="1"/>
          </p:cNvSpPr>
          <p:nvPr>
            <p:ph type="ftr" sz="quarter" idx="12"/>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3" name="Titre 2"/>
          <p:cNvSpPr>
            <a:spLocks noGrp="1"/>
          </p:cNvSpPr>
          <p:nvPr>
            <p:ph type="title" hasCustomPrompt="1"/>
          </p:nvPr>
        </p:nvSpPr>
        <p:spPr bwMode="gray">
          <a:xfrm>
            <a:off x="1055440" y="260648"/>
            <a:ext cx="1692188" cy="1260139"/>
          </a:xfrm>
        </p:spPr>
        <p:txBody>
          <a:bodyPr anchor="b" anchorCtr="0"/>
          <a:lstStyle>
            <a:lvl1pPr>
              <a:defRPr sz="8250">
                <a:solidFill>
                  <a:schemeClr val="tx2"/>
                </a:solidFill>
              </a:defRPr>
            </a:lvl1pPr>
          </a:lstStyle>
          <a:p>
            <a:r>
              <a:rPr lang="fr-FR" noProof="0"/>
              <a:t>0</a:t>
            </a:r>
            <a:endParaRPr lang="fr-FR"/>
          </a:p>
        </p:txBody>
      </p:sp>
      <p:sp>
        <p:nvSpPr>
          <p:cNvPr id="10" name="Espace réservé du texte 3">
            <a:extLst>
              <a:ext uri="{FF2B5EF4-FFF2-40B4-BE49-F238E27FC236}">
                <a16:creationId xmlns:a16="http://schemas.microsoft.com/office/drawing/2014/main" id="{DF42B46E-2400-032F-4FF8-C6F08F4EBDF7}"/>
              </a:ext>
            </a:extLst>
          </p:cNvPr>
          <p:cNvSpPr>
            <a:spLocks noGrp="1"/>
          </p:cNvSpPr>
          <p:nvPr>
            <p:ph type="body" sz="quarter" idx="14" hasCustomPrompt="1"/>
          </p:nvPr>
        </p:nvSpPr>
        <p:spPr bwMode="gray">
          <a:xfrm>
            <a:off x="1055440" y="1679036"/>
            <a:ext cx="10801200" cy="2758076"/>
          </a:xfrm>
          <a:prstGeom prst="rect">
            <a:avLst/>
          </a:prstGeom>
          <a:noFill/>
        </p:spPr>
        <p:txBody>
          <a:bodyPr wrap="square" lIns="0" tIns="0" rIns="0">
            <a:normAutofit/>
          </a:bodyPr>
          <a:lstStyle>
            <a:lvl1pPr marL="0" indent="0">
              <a:spcAft>
                <a:spcPts val="0"/>
              </a:spcAft>
              <a:buNone/>
              <a:defRPr sz="4800">
                <a:solidFill>
                  <a:schemeClr val="tx2"/>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r-FR" noProof="0"/>
              <a:t>Titre</a:t>
            </a:r>
          </a:p>
        </p:txBody>
      </p:sp>
      <p:pic>
        <p:nvPicPr>
          <p:cNvPr id="2" name="Image 1">
            <a:extLst>
              <a:ext uri="{FF2B5EF4-FFF2-40B4-BE49-F238E27FC236}">
                <a16:creationId xmlns:a16="http://schemas.microsoft.com/office/drawing/2014/main" id="{E1AF512C-1B86-0240-449E-5C1B42F6723D}"/>
              </a:ext>
            </a:extLst>
          </p:cNvPr>
          <p:cNvPicPr>
            <a:picLocks noChangeAspect="1"/>
          </p:cNvPicPr>
          <p:nvPr userDrawn="1"/>
        </p:nvPicPr>
        <p:blipFill>
          <a:blip r:embed="rId2"/>
          <a:stretch>
            <a:fillRect/>
          </a:stretch>
        </p:blipFill>
        <p:spPr>
          <a:xfrm>
            <a:off x="1055440" y="6008136"/>
            <a:ext cx="2486502" cy="216024"/>
          </a:xfrm>
          <a:prstGeom prst="rect">
            <a:avLst/>
          </a:prstGeom>
        </p:spPr>
      </p:pic>
    </p:spTree>
    <p:extLst>
      <p:ext uri="{BB962C8B-B14F-4D97-AF65-F5344CB8AC3E}">
        <p14:creationId xmlns:p14="http://schemas.microsoft.com/office/powerpoint/2010/main" val="813227482"/>
      </p:ext>
    </p:extLst>
  </p:cSld>
  <p:clrMapOvr>
    <a:masterClrMapping/>
  </p:clrMapOvr>
  <p:hf sldNum="0"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698">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1_Diptyque_bleu_clair">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BC517D08-A7C5-B248-731F-D8AE78AF6AD5}"/>
              </a:ext>
            </a:extLst>
          </p:cNvPr>
          <p:cNvSpPr/>
          <p:nvPr userDrawn="1"/>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Rectangle 19">
            <a:extLst>
              <a:ext uri="{FF2B5EF4-FFF2-40B4-BE49-F238E27FC236}">
                <a16:creationId xmlns:a16="http://schemas.microsoft.com/office/drawing/2014/main" id="{8BD239C2-24FF-78DB-1368-3659B94844BF}"/>
              </a:ext>
            </a:extLst>
          </p:cNvPr>
          <p:cNvSpPr/>
          <p:nvPr userDrawn="1"/>
        </p:nvSpPr>
        <p:spPr bwMode="gray">
          <a:xfrm>
            <a:off x="6096000" y="0"/>
            <a:ext cx="6096000" cy="6858000"/>
          </a:xfrm>
          <a:prstGeom prst="rect">
            <a:avLst/>
          </a:prstGeom>
          <a:solidFill>
            <a:srgbClr val="93B9C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3" name="Forme libre : forme 12">
            <a:extLst>
              <a:ext uri="{FF2B5EF4-FFF2-40B4-BE49-F238E27FC236}">
                <a16:creationId xmlns:a16="http://schemas.microsoft.com/office/drawing/2014/main" id="{15E8C0C3-BA99-8DDA-4C72-C4AD3C25E72D}"/>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24A4B7A5-4796-DDF3-D5EA-CA514233A100}"/>
              </a:ext>
            </a:extLst>
          </p:cNvPr>
          <p:cNvSpPr>
            <a:spLocks noGrp="1"/>
          </p:cNvSpPr>
          <p:nvPr>
            <p:ph type="title" hasCustomPrompt="1"/>
          </p:nvPr>
        </p:nvSpPr>
        <p:spPr bwMode="gray">
          <a:xfrm>
            <a:off x="558800" y="410107"/>
            <a:ext cx="5141156" cy="936104"/>
          </a:xfrm>
        </p:spPr>
        <p:txBody>
          <a:bodyPr/>
          <a:lstStyle>
            <a:lvl1pPr>
              <a:defRPr>
                <a:solidFill>
                  <a:srgbClr val="93B9CC"/>
                </a:solidFill>
              </a:defRPr>
            </a:lvl1pPr>
          </a:lstStyle>
          <a:p>
            <a:r>
              <a:rPr lang="fr-FR"/>
              <a:t>Titre de la slide</a:t>
            </a:r>
          </a:p>
        </p:txBody>
      </p:sp>
      <p:sp>
        <p:nvSpPr>
          <p:cNvPr id="3" name="Espace réservé de la date 2">
            <a:extLst>
              <a:ext uri="{FF2B5EF4-FFF2-40B4-BE49-F238E27FC236}">
                <a16:creationId xmlns:a16="http://schemas.microsoft.com/office/drawing/2014/main" id="{AB780E7C-6F1F-25F3-02AB-3466F56B1F07}"/>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CD75CE2-C48E-C7E6-194C-60A7394FE5D2}"/>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DC025D0F-DF5A-7E91-F4B9-92DC3571B3D8}"/>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5F3C6EE9-F33A-C402-E3FD-E4DB8D537106}"/>
              </a:ext>
            </a:extLst>
          </p:cNvPr>
          <p:cNvSpPr>
            <a:spLocks noGrp="1"/>
          </p:cNvSpPr>
          <p:nvPr>
            <p:ph type="body" sz="quarter" idx="14" hasCustomPrompt="1"/>
          </p:nvPr>
        </p:nvSpPr>
        <p:spPr bwMode="gray">
          <a:xfrm>
            <a:off x="1019437" y="2005169"/>
            <a:ext cx="4716468" cy="3708412"/>
          </a:xfrm>
        </p:spPr>
        <p:txBody>
          <a:bodyPr/>
          <a:lstStyle>
            <a:lvl1pPr marL="0" indent="0">
              <a:spcAft>
                <a:spcPts val="0"/>
              </a:spcAft>
              <a:buNone/>
              <a:defRPr sz="2700">
                <a:solidFill>
                  <a:srgbClr val="93B9CC"/>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sp>
        <p:nvSpPr>
          <p:cNvPr id="19" name="Espace réservé du texte 18">
            <a:extLst>
              <a:ext uri="{FF2B5EF4-FFF2-40B4-BE49-F238E27FC236}">
                <a16:creationId xmlns:a16="http://schemas.microsoft.com/office/drawing/2014/main" id="{70F73260-667B-8ABB-D758-D2BE39806107}"/>
              </a:ext>
            </a:extLst>
          </p:cNvPr>
          <p:cNvSpPr>
            <a:spLocks noGrp="1"/>
          </p:cNvSpPr>
          <p:nvPr>
            <p:ph type="body" sz="quarter" idx="16" hasCustomPrompt="1"/>
          </p:nvPr>
        </p:nvSpPr>
        <p:spPr bwMode="gray">
          <a:xfrm>
            <a:off x="7327112" y="1909575"/>
            <a:ext cx="4559488" cy="3804006"/>
          </a:xfrm>
          <a:custGeom>
            <a:avLst/>
            <a:gdLst>
              <a:gd name="connsiteX0" fmla="*/ 0 w 6084000"/>
              <a:gd name="connsiteY0" fmla="*/ 0 h 5914428"/>
              <a:gd name="connsiteX1" fmla="*/ 6084000 w 6084000"/>
              <a:gd name="connsiteY1" fmla="*/ 0 h 5914428"/>
              <a:gd name="connsiteX2" fmla="*/ 6084000 w 6084000"/>
              <a:gd name="connsiteY2" fmla="*/ 5914428 h 5914428"/>
              <a:gd name="connsiteX3" fmla="*/ 0 w 6084000"/>
              <a:gd name="connsiteY3" fmla="*/ 5914428 h 5914428"/>
            </a:gdLst>
            <a:ahLst/>
            <a:cxnLst>
              <a:cxn ang="0">
                <a:pos x="connsiteX0" y="connsiteY0"/>
              </a:cxn>
              <a:cxn ang="0">
                <a:pos x="connsiteX1" y="connsiteY1"/>
              </a:cxn>
              <a:cxn ang="0">
                <a:pos x="connsiteX2" y="connsiteY2"/>
              </a:cxn>
              <a:cxn ang="0">
                <a:pos x="connsiteX3" y="connsiteY3"/>
              </a:cxn>
            </a:cxnLst>
            <a:rect l="l" t="t" r="r" b="b"/>
            <a:pathLst>
              <a:path w="6084000" h="5914428">
                <a:moveTo>
                  <a:pt x="0" y="0"/>
                </a:moveTo>
                <a:lnTo>
                  <a:pt x="6084000" y="0"/>
                </a:lnTo>
                <a:lnTo>
                  <a:pt x="6084000" y="5914428"/>
                </a:lnTo>
                <a:lnTo>
                  <a:pt x="0" y="5914428"/>
                </a:lnTo>
                <a:close/>
              </a:path>
            </a:pathLst>
          </a:custGeom>
          <a:noFill/>
        </p:spPr>
        <p:txBody>
          <a:bodyPr wrap="square" lIns="0" tIns="0">
            <a:normAutofit/>
          </a:bodyPr>
          <a:lstStyle>
            <a:lvl1pPr marL="0" indent="0">
              <a:spcAft>
                <a:spcPts val="0"/>
              </a:spcAft>
              <a:buNone/>
              <a:defRPr sz="41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pic>
        <p:nvPicPr>
          <p:cNvPr id="7" name="Image 6" descr="Une image contenant Police, Graphique, capture d’écran, logo&#10;&#10;Description générée automatiquement">
            <a:extLst>
              <a:ext uri="{FF2B5EF4-FFF2-40B4-BE49-F238E27FC236}">
                <a16:creationId xmlns:a16="http://schemas.microsoft.com/office/drawing/2014/main" id="{1E9EA48C-6787-2E1F-9706-9308BF964E3D}"/>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136690594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2">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1_Graphique+texte_diptyque_bleu_clair">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D8A0BBC-87C1-9EAA-905D-667B3503DD01}"/>
              </a:ext>
            </a:extLst>
          </p:cNvPr>
          <p:cNvSpPr/>
          <p:nvPr userDrawn="1"/>
        </p:nvSpPr>
        <p:spPr bwMode="gray">
          <a:xfrm>
            <a:off x="6108000" y="327095"/>
            <a:ext cx="5731200" cy="5914800"/>
          </a:xfrm>
          <a:prstGeom prst="rect">
            <a:avLst/>
          </a:prstGeom>
          <a:solidFill>
            <a:srgbClr val="93B9C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FD768BBB-4837-52E2-7BD0-7D518CA47FF7}"/>
              </a:ext>
            </a:extLst>
          </p:cNvPr>
          <p:cNvSpPr>
            <a:spLocks noGrp="1"/>
          </p:cNvSpPr>
          <p:nvPr>
            <p:ph type="title" hasCustomPrompt="1"/>
          </p:nvPr>
        </p:nvSpPr>
        <p:spPr bwMode="gray">
          <a:xfrm>
            <a:off x="305400" y="410400"/>
            <a:ext cx="51876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90D741DC-727E-13C0-2600-FC0CD0B38D22}"/>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5084F18-B1B3-6A44-A46D-453F1D1896EB}"/>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E7C62B9-E5CF-FEC3-B21C-266ACBD20537}"/>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graphique 16">
            <a:extLst>
              <a:ext uri="{FF2B5EF4-FFF2-40B4-BE49-F238E27FC236}">
                <a16:creationId xmlns:a16="http://schemas.microsoft.com/office/drawing/2014/main" id="{28EEB7A5-AFA7-58FC-32DE-2F2F2254BB13}"/>
              </a:ext>
            </a:extLst>
          </p:cNvPr>
          <p:cNvSpPr>
            <a:spLocks noGrp="1"/>
          </p:cNvSpPr>
          <p:nvPr>
            <p:ph type="chart" sz="quarter" idx="18" hasCustomPrompt="1"/>
          </p:nvPr>
        </p:nvSpPr>
        <p:spPr bwMode="gray">
          <a:xfrm>
            <a:off x="989833" y="1783603"/>
            <a:ext cx="4096371" cy="4392408"/>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9" name="Espace réservé du texte 8">
            <a:extLst>
              <a:ext uri="{FF2B5EF4-FFF2-40B4-BE49-F238E27FC236}">
                <a16:creationId xmlns:a16="http://schemas.microsoft.com/office/drawing/2014/main" id="{3964A26B-A8B3-B604-E0F1-3B018D194BE3}"/>
              </a:ext>
            </a:extLst>
          </p:cNvPr>
          <p:cNvSpPr>
            <a:spLocks noGrp="1"/>
          </p:cNvSpPr>
          <p:nvPr>
            <p:ph type="body" sz="quarter" idx="19" hasCustomPrompt="1"/>
          </p:nvPr>
        </p:nvSpPr>
        <p:spPr bwMode="gray">
          <a:xfrm>
            <a:off x="532006" y="1346504"/>
            <a:ext cx="4653968" cy="377146"/>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7" name="Espace réservé du texte 8">
            <a:extLst>
              <a:ext uri="{FF2B5EF4-FFF2-40B4-BE49-F238E27FC236}">
                <a16:creationId xmlns:a16="http://schemas.microsoft.com/office/drawing/2014/main" id="{E506AE39-A715-C12E-4D9F-7A3455AB88B3}"/>
              </a:ext>
            </a:extLst>
          </p:cNvPr>
          <p:cNvSpPr>
            <a:spLocks noGrp="1"/>
          </p:cNvSpPr>
          <p:nvPr>
            <p:ph type="body" sz="quarter" idx="20" hasCustomPrompt="1"/>
          </p:nvPr>
        </p:nvSpPr>
        <p:spPr bwMode="gray">
          <a:xfrm>
            <a:off x="6648830" y="1118619"/>
            <a:ext cx="4386281" cy="1626305"/>
          </a:xfrm>
          <a:noFill/>
        </p:spPr>
        <p:txBody>
          <a:bodyPr lIns="0" tIns="0" rIns="0"/>
          <a:lstStyle>
            <a:lvl1pPr marL="0" indent="0" algn="r">
              <a:lnSpc>
                <a:spcPct val="100000"/>
              </a:lnSpc>
              <a:spcAft>
                <a:spcPts val="0"/>
              </a:spcAft>
              <a:buNone/>
              <a:defRPr sz="11100">
                <a:solidFill>
                  <a:schemeClr val="tx2"/>
                </a:solidFill>
                <a:latin typeface="+mj-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00%</a:t>
            </a:r>
          </a:p>
        </p:txBody>
      </p:sp>
      <p:sp>
        <p:nvSpPr>
          <p:cNvPr id="11" name="Espace réservé du texte 8">
            <a:extLst>
              <a:ext uri="{FF2B5EF4-FFF2-40B4-BE49-F238E27FC236}">
                <a16:creationId xmlns:a16="http://schemas.microsoft.com/office/drawing/2014/main" id="{463598C1-64BB-D489-C803-1BC4F7604BAE}"/>
              </a:ext>
            </a:extLst>
          </p:cNvPr>
          <p:cNvSpPr>
            <a:spLocks noGrp="1"/>
          </p:cNvSpPr>
          <p:nvPr>
            <p:ph type="body" sz="quarter" idx="21" hasCustomPrompt="1"/>
          </p:nvPr>
        </p:nvSpPr>
        <p:spPr bwMode="gray">
          <a:xfrm>
            <a:off x="6648830" y="2554860"/>
            <a:ext cx="4386281" cy="683741"/>
          </a:xfrm>
          <a:noFill/>
        </p:spPr>
        <p:txBody>
          <a:bodyPr lIns="0" tIns="0" rIns="0">
            <a:normAutofit/>
          </a:bodyPr>
          <a:lstStyle>
            <a:lvl1pPr marL="0" indent="0" algn="r">
              <a:lnSpc>
                <a:spcPct val="100000"/>
              </a:lnSpc>
              <a:spcAft>
                <a:spcPts val="0"/>
              </a:spcAft>
              <a:buNone/>
              <a:defRPr sz="250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en 2021</a:t>
            </a:r>
          </a:p>
        </p:txBody>
      </p:sp>
      <p:sp>
        <p:nvSpPr>
          <p:cNvPr id="12" name="Espace réservé du texte 8">
            <a:extLst>
              <a:ext uri="{FF2B5EF4-FFF2-40B4-BE49-F238E27FC236}">
                <a16:creationId xmlns:a16="http://schemas.microsoft.com/office/drawing/2014/main" id="{0610C7A3-659A-6DD6-34B9-1A56568C39D3}"/>
              </a:ext>
            </a:extLst>
          </p:cNvPr>
          <p:cNvSpPr>
            <a:spLocks noGrp="1"/>
          </p:cNvSpPr>
          <p:nvPr>
            <p:ph type="body" sz="quarter" idx="22" hasCustomPrompt="1"/>
          </p:nvPr>
        </p:nvSpPr>
        <p:spPr bwMode="gray">
          <a:xfrm>
            <a:off x="6648830" y="2930796"/>
            <a:ext cx="4386281" cy="876185"/>
          </a:xfrm>
          <a:noFill/>
        </p:spPr>
        <p:txBody>
          <a:bodyPr lIns="0" tIns="0" rIns="0">
            <a:normAutofit/>
          </a:bodyPr>
          <a:lstStyle>
            <a:lvl1pPr marL="0" indent="0" algn="r">
              <a:lnSpc>
                <a:spcPct val="100000"/>
              </a:lnSpc>
              <a:spcAft>
                <a:spcPts val="0"/>
              </a:spcAft>
              <a:buNone/>
              <a:defRPr sz="4500" b="1"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+34%</a:t>
            </a:r>
          </a:p>
        </p:txBody>
      </p:sp>
      <p:sp>
        <p:nvSpPr>
          <p:cNvPr id="13" name="Espace réservé du texte 8">
            <a:extLst>
              <a:ext uri="{FF2B5EF4-FFF2-40B4-BE49-F238E27FC236}">
                <a16:creationId xmlns:a16="http://schemas.microsoft.com/office/drawing/2014/main" id="{90F8CC21-ACE8-81BE-9270-CE3B0787E14E}"/>
              </a:ext>
            </a:extLst>
          </p:cNvPr>
          <p:cNvSpPr>
            <a:spLocks noGrp="1"/>
          </p:cNvSpPr>
          <p:nvPr>
            <p:ph type="body" sz="quarter" idx="23" hasCustomPrompt="1"/>
          </p:nvPr>
        </p:nvSpPr>
        <p:spPr bwMode="gray">
          <a:xfrm>
            <a:off x="6648832" y="4401108"/>
            <a:ext cx="4739756" cy="1548172"/>
          </a:xfrm>
          <a:noFill/>
        </p:spPr>
        <p:txBody>
          <a:bodyPr lIns="0" tIns="0" rIns="0">
            <a:normAutofit/>
          </a:bodyPr>
          <a:lstStyle>
            <a:lvl1pPr marL="0" indent="0" algn="l">
              <a:lnSpc>
                <a:spcPct val="100000"/>
              </a:lnSpc>
              <a:spcAft>
                <a:spcPts val="0"/>
              </a:spcAft>
              <a:buNone/>
              <a:defRPr sz="2700"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Lorem</a:t>
            </a:r>
          </a:p>
        </p:txBody>
      </p:sp>
    </p:spTree>
    <p:extLst>
      <p:ext uri="{BB962C8B-B14F-4D97-AF65-F5344CB8AC3E}">
        <p14:creationId xmlns:p14="http://schemas.microsoft.com/office/powerpoint/2010/main" val="3941102730"/>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1_Diptyque_jaun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BC517D08-A7C5-B248-731F-D8AE78AF6AD5}"/>
              </a:ext>
            </a:extLst>
          </p:cNvPr>
          <p:cNvSpPr/>
          <p:nvPr userDrawn="1"/>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Rectangle 19">
            <a:extLst>
              <a:ext uri="{FF2B5EF4-FFF2-40B4-BE49-F238E27FC236}">
                <a16:creationId xmlns:a16="http://schemas.microsoft.com/office/drawing/2014/main" id="{8BD239C2-24FF-78DB-1368-3659B94844BF}"/>
              </a:ext>
            </a:extLst>
          </p:cNvPr>
          <p:cNvSpPr/>
          <p:nvPr userDrawn="1"/>
        </p:nvSpPr>
        <p:spPr bwMode="gray">
          <a:xfrm>
            <a:off x="6096000" y="0"/>
            <a:ext cx="6096000" cy="6858000"/>
          </a:xfrm>
          <a:prstGeom prst="rect">
            <a:avLst/>
          </a:prstGeom>
          <a:solidFill>
            <a:srgbClr val="E1C86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3" name="Forme libre : forme 12">
            <a:extLst>
              <a:ext uri="{FF2B5EF4-FFF2-40B4-BE49-F238E27FC236}">
                <a16:creationId xmlns:a16="http://schemas.microsoft.com/office/drawing/2014/main" id="{15E8C0C3-BA99-8DDA-4C72-C4AD3C25E72D}"/>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24A4B7A5-4796-DDF3-D5EA-CA514233A100}"/>
              </a:ext>
            </a:extLst>
          </p:cNvPr>
          <p:cNvSpPr>
            <a:spLocks noGrp="1"/>
          </p:cNvSpPr>
          <p:nvPr>
            <p:ph type="title" hasCustomPrompt="1"/>
          </p:nvPr>
        </p:nvSpPr>
        <p:spPr bwMode="gray">
          <a:xfrm>
            <a:off x="558800" y="410107"/>
            <a:ext cx="5141156" cy="936104"/>
          </a:xfrm>
        </p:spPr>
        <p:txBody>
          <a:bodyPr/>
          <a:lstStyle>
            <a:lvl1pPr>
              <a:defRPr>
                <a:solidFill>
                  <a:srgbClr val="E1C86E"/>
                </a:solidFill>
              </a:defRPr>
            </a:lvl1pPr>
          </a:lstStyle>
          <a:p>
            <a:r>
              <a:rPr lang="fr-FR"/>
              <a:t>Titre de la slide</a:t>
            </a:r>
          </a:p>
        </p:txBody>
      </p:sp>
      <p:sp>
        <p:nvSpPr>
          <p:cNvPr id="3" name="Espace réservé de la date 2">
            <a:extLst>
              <a:ext uri="{FF2B5EF4-FFF2-40B4-BE49-F238E27FC236}">
                <a16:creationId xmlns:a16="http://schemas.microsoft.com/office/drawing/2014/main" id="{AB780E7C-6F1F-25F3-02AB-3466F56B1F07}"/>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CD75CE2-C48E-C7E6-194C-60A7394FE5D2}"/>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DC025D0F-DF5A-7E91-F4B9-92DC3571B3D8}"/>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5F3C6EE9-F33A-C402-E3FD-E4DB8D537106}"/>
              </a:ext>
            </a:extLst>
          </p:cNvPr>
          <p:cNvSpPr>
            <a:spLocks noGrp="1"/>
          </p:cNvSpPr>
          <p:nvPr>
            <p:ph type="body" sz="quarter" idx="14" hasCustomPrompt="1"/>
          </p:nvPr>
        </p:nvSpPr>
        <p:spPr bwMode="gray">
          <a:xfrm>
            <a:off x="1019437" y="2005169"/>
            <a:ext cx="4716468" cy="3708412"/>
          </a:xfrm>
        </p:spPr>
        <p:txBody>
          <a:bodyPr/>
          <a:lstStyle>
            <a:lvl1pPr marL="0" indent="0">
              <a:spcAft>
                <a:spcPts val="0"/>
              </a:spcAft>
              <a:buNone/>
              <a:defRPr sz="2700">
                <a:solidFill>
                  <a:srgbClr val="E1C86E"/>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sp>
        <p:nvSpPr>
          <p:cNvPr id="19" name="Espace réservé du texte 18">
            <a:extLst>
              <a:ext uri="{FF2B5EF4-FFF2-40B4-BE49-F238E27FC236}">
                <a16:creationId xmlns:a16="http://schemas.microsoft.com/office/drawing/2014/main" id="{70F73260-667B-8ABB-D758-D2BE39806107}"/>
              </a:ext>
            </a:extLst>
          </p:cNvPr>
          <p:cNvSpPr>
            <a:spLocks noGrp="1"/>
          </p:cNvSpPr>
          <p:nvPr>
            <p:ph type="body" sz="quarter" idx="16" hasCustomPrompt="1"/>
          </p:nvPr>
        </p:nvSpPr>
        <p:spPr bwMode="gray">
          <a:xfrm>
            <a:off x="7327112" y="1909575"/>
            <a:ext cx="4559488" cy="3804006"/>
          </a:xfrm>
          <a:custGeom>
            <a:avLst/>
            <a:gdLst>
              <a:gd name="connsiteX0" fmla="*/ 0 w 6084000"/>
              <a:gd name="connsiteY0" fmla="*/ 0 h 5914428"/>
              <a:gd name="connsiteX1" fmla="*/ 6084000 w 6084000"/>
              <a:gd name="connsiteY1" fmla="*/ 0 h 5914428"/>
              <a:gd name="connsiteX2" fmla="*/ 6084000 w 6084000"/>
              <a:gd name="connsiteY2" fmla="*/ 5914428 h 5914428"/>
              <a:gd name="connsiteX3" fmla="*/ 0 w 6084000"/>
              <a:gd name="connsiteY3" fmla="*/ 5914428 h 5914428"/>
            </a:gdLst>
            <a:ahLst/>
            <a:cxnLst>
              <a:cxn ang="0">
                <a:pos x="connsiteX0" y="connsiteY0"/>
              </a:cxn>
              <a:cxn ang="0">
                <a:pos x="connsiteX1" y="connsiteY1"/>
              </a:cxn>
              <a:cxn ang="0">
                <a:pos x="connsiteX2" y="connsiteY2"/>
              </a:cxn>
              <a:cxn ang="0">
                <a:pos x="connsiteX3" y="connsiteY3"/>
              </a:cxn>
            </a:cxnLst>
            <a:rect l="l" t="t" r="r" b="b"/>
            <a:pathLst>
              <a:path w="6084000" h="5914428">
                <a:moveTo>
                  <a:pt x="0" y="0"/>
                </a:moveTo>
                <a:lnTo>
                  <a:pt x="6084000" y="0"/>
                </a:lnTo>
                <a:lnTo>
                  <a:pt x="6084000" y="5914428"/>
                </a:lnTo>
                <a:lnTo>
                  <a:pt x="0" y="5914428"/>
                </a:lnTo>
                <a:close/>
              </a:path>
            </a:pathLst>
          </a:custGeom>
          <a:noFill/>
        </p:spPr>
        <p:txBody>
          <a:bodyPr wrap="square" lIns="0" tIns="0">
            <a:normAutofit/>
          </a:bodyPr>
          <a:lstStyle>
            <a:lvl1pPr marL="0" indent="0">
              <a:spcAft>
                <a:spcPts val="0"/>
              </a:spcAft>
              <a:buNone/>
              <a:defRPr sz="41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pic>
        <p:nvPicPr>
          <p:cNvPr id="7" name="Image 6" descr="Une image contenant Police, Graphique, capture d’écran, logo&#10;&#10;Description générée automatiquement">
            <a:extLst>
              <a:ext uri="{FF2B5EF4-FFF2-40B4-BE49-F238E27FC236}">
                <a16:creationId xmlns:a16="http://schemas.microsoft.com/office/drawing/2014/main" id="{E68F538A-66B9-5143-3B46-D95FB5AEFCBA}"/>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221811632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2">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1_Intercalaire_jaun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7323CCC4-8679-C2AD-3A24-B72A3734C225}"/>
              </a:ext>
            </a:extLst>
          </p:cNvPr>
          <p:cNvSpPr/>
          <p:nvPr userDrawn="1"/>
        </p:nvSpPr>
        <p:spPr bwMode="gray">
          <a:xfrm>
            <a:off x="0" y="0"/>
            <a:ext cx="12192000" cy="6858000"/>
          </a:xfrm>
          <a:prstGeom prst="rect">
            <a:avLst/>
          </a:prstGeom>
          <a:solidFill>
            <a:srgbClr val="E1C86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CAA4DAEA-970D-8876-C9DC-932391652B5D}"/>
              </a:ext>
            </a:extLst>
          </p:cNvPr>
          <p:cNvSpPr/>
          <p:nvPr userDrawn="1"/>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e la date 7"/>
          <p:cNvSpPr>
            <a:spLocks noGrp="1"/>
          </p:cNvSpPr>
          <p:nvPr>
            <p:ph type="dt" sz="half" idx="10"/>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6EF6EC3F-7A12-4C3C-9012-F0C7A5EB5702}" type="datetime3">
              <a:rPr lang="fr-FR" smtClean="0"/>
              <a:pPr/>
              <a:t>12.01.26</a:t>
            </a:fld>
            <a:endParaRPr lang="fr-FR"/>
          </a:p>
        </p:txBody>
      </p:sp>
      <p:sp>
        <p:nvSpPr>
          <p:cNvPr id="11" name="Espace réservé du numéro de diapositive 10"/>
          <p:cNvSpPr>
            <a:spLocks noGrp="1"/>
          </p:cNvSpPr>
          <p:nvPr>
            <p:ph type="sldNum" sz="quarter" idx="11"/>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733122C9-A0B9-462F-8757-0847AD287B63}" type="slidenum">
              <a:rPr lang="fr-FR" smtClean="0"/>
              <a:pPr/>
              <a:t>‹N°›</a:t>
            </a:fld>
            <a:endParaRPr lang="fr-FR"/>
          </a:p>
        </p:txBody>
      </p:sp>
      <p:sp>
        <p:nvSpPr>
          <p:cNvPr id="12" name="Espace réservé du pied de page 11"/>
          <p:cNvSpPr>
            <a:spLocks noGrp="1"/>
          </p:cNvSpPr>
          <p:nvPr>
            <p:ph type="ftr" sz="quarter" idx="12"/>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3" name="Titre 2"/>
          <p:cNvSpPr>
            <a:spLocks noGrp="1"/>
          </p:cNvSpPr>
          <p:nvPr>
            <p:ph type="title" hasCustomPrompt="1"/>
          </p:nvPr>
        </p:nvSpPr>
        <p:spPr bwMode="gray">
          <a:xfrm>
            <a:off x="1055440" y="260648"/>
            <a:ext cx="1692188" cy="1260139"/>
          </a:xfrm>
        </p:spPr>
        <p:txBody>
          <a:bodyPr anchor="b" anchorCtr="0"/>
          <a:lstStyle>
            <a:lvl1pPr>
              <a:defRPr sz="8250">
                <a:solidFill>
                  <a:schemeClr val="tx2"/>
                </a:solidFill>
              </a:defRPr>
            </a:lvl1pPr>
          </a:lstStyle>
          <a:p>
            <a:r>
              <a:rPr lang="fr-FR" noProof="0"/>
              <a:t>0</a:t>
            </a:r>
            <a:endParaRPr lang="fr-FR"/>
          </a:p>
        </p:txBody>
      </p:sp>
      <p:sp>
        <p:nvSpPr>
          <p:cNvPr id="10" name="Espace réservé du texte 3">
            <a:extLst>
              <a:ext uri="{FF2B5EF4-FFF2-40B4-BE49-F238E27FC236}">
                <a16:creationId xmlns:a16="http://schemas.microsoft.com/office/drawing/2014/main" id="{DF42B46E-2400-032F-4FF8-C6F08F4EBDF7}"/>
              </a:ext>
            </a:extLst>
          </p:cNvPr>
          <p:cNvSpPr>
            <a:spLocks noGrp="1"/>
          </p:cNvSpPr>
          <p:nvPr>
            <p:ph type="body" sz="quarter" idx="14" hasCustomPrompt="1"/>
          </p:nvPr>
        </p:nvSpPr>
        <p:spPr bwMode="gray">
          <a:xfrm>
            <a:off x="1055440" y="1679036"/>
            <a:ext cx="10801200" cy="2758076"/>
          </a:xfrm>
          <a:prstGeom prst="rect">
            <a:avLst/>
          </a:prstGeom>
          <a:noFill/>
        </p:spPr>
        <p:txBody>
          <a:bodyPr wrap="square" lIns="0" tIns="0" rIns="0">
            <a:normAutofit/>
          </a:bodyPr>
          <a:lstStyle>
            <a:lvl1pPr marL="0" indent="0">
              <a:spcAft>
                <a:spcPts val="0"/>
              </a:spcAft>
              <a:buNone/>
              <a:defRPr sz="4800">
                <a:solidFill>
                  <a:schemeClr val="tx2"/>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r-FR" noProof="0"/>
              <a:t>Titre</a:t>
            </a:r>
          </a:p>
        </p:txBody>
      </p:sp>
      <p:pic>
        <p:nvPicPr>
          <p:cNvPr id="2" name="Image 1">
            <a:extLst>
              <a:ext uri="{FF2B5EF4-FFF2-40B4-BE49-F238E27FC236}">
                <a16:creationId xmlns:a16="http://schemas.microsoft.com/office/drawing/2014/main" id="{41940FC0-1E33-79E6-8E25-8CDC4FD6458B}"/>
              </a:ext>
            </a:extLst>
          </p:cNvPr>
          <p:cNvPicPr>
            <a:picLocks noChangeAspect="1"/>
          </p:cNvPicPr>
          <p:nvPr userDrawn="1"/>
        </p:nvPicPr>
        <p:blipFill>
          <a:blip r:embed="rId2"/>
          <a:stretch>
            <a:fillRect/>
          </a:stretch>
        </p:blipFill>
        <p:spPr>
          <a:xfrm>
            <a:off x="1066488" y="6008136"/>
            <a:ext cx="2486502" cy="216024"/>
          </a:xfrm>
          <a:prstGeom prst="rect">
            <a:avLst/>
          </a:prstGeom>
        </p:spPr>
      </p:pic>
    </p:spTree>
    <p:extLst>
      <p:ext uri="{BB962C8B-B14F-4D97-AF65-F5344CB8AC3E}">
        <p14:creationId xmlns:p14="http://schemas.microsoft.com/office/powerpoint/2010/main" val="2109812288"/>
      </p:ext>
    </p:extLst>
  </p:cSld>
  <p:clrMapOvr>
    <a:masterClrMapping/>
  </p:clrMapOvr>
  <p:hf sldNum="0"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698">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1_Graphique+texte_diptyque_jaun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D8A0BBC-87C1-9EAA-905D-667B3503DD01}"/>
              </a:ext>
            </a:extLst>
          </p:cNvPr>
          <p:cNvSpPr/>
          <p:nvPr userDrawn="1"/>
        </p:nvSpPr>
        <p:spPr bwMode="gray">
          <a:xfrm>
            <a:off x="6108000" y="327095"/>
            <a:ext cx="5731200" cy="5914800"/>
          </a:xfrm>
          <a:prstGeom prst="rect">
            <a:avLst/>
          </a:prstGeom>
          <a:solidFill>
            <a:srgbClr val="E1C86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FD768BBB-4837-52E2-7BD0-7D518CA47FF7}"/>
              </a:ext>
            </a:extLst>
          </p:cNvPr>
          <p:cNvSpPr>
            <a:spLocks noGrp="1"/>
          </p:cNvSpPr>
          <p:nvPr>
            <p:ph type="title" hasCustomPrompt="1"/>
          </p:nvPr>
        </p:nvSpPr>
        <p:spPr bwMode="gray">
          <a:xfrm>
            <a:off x="305400" y="410400"/>
            <a:ext cx="51876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90D741DC-727E-13C0-2600-FC0CD0B38D22}"/>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5084F18-B1B3-6A44-A46D-453F1D1896EB}"/>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E7C62B9-E5CF-FEC3-B21C-266ACBD20537}"/>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graphique 16">
            <a:extLst>
              <a:ext uri="{FF2B5EF4-FFF2-40B4-BE49-F238E27FC236}">
                <a16:creationId xmlns:a16="http://schemas.microsoft.com/office/drawing/2014/main" id="{28EEB7A5-AFA7-58FC-32DE-2F2F2254BB13}"/>
              </a:ext>
            </a:extLst>
          </p:cNvPr>
          <p:cNvSpPr>
            <a:spLocks noGrp="1"/>
          </p:cNvSpPr>
          <p:nvPr>
            <p:ph type="chart" sz="quarter" idx="18" hasCustomPrompt="1"/>
          </p:nvPr>
        </p:nvSpPr>
        <p:spPr bwMode="gray">
          <a:xfrm>
            <a:off x="989833" y="1783603"/>
            <a:ext cx="4096371" cy="4392408"/>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9" name="Espace réservé du texte 8">
            <a:extLst>
              <a:ext uri="{FF2B5EF4-FFF2-40B4-BE49-F238E27FC236}">
                <a16:creationId xmlns:a16="http://schemas.microsoft.com/office/drawing/2014/main" id="{3964A26B-A8B3-B604-E0F1-3B018D194BE3}"/>
              </a:ext>
            </a:extLst>
          </p:cNvPr>
          <p:cNvSpPr>
            <a:spLocks noGrp="1"/>
          </p:cNvSpPr>
          <p:nvPr>
            <p:ph type="body" sz="quarter" idx="19" hasCustomPrompt="1"/>
          </p:nvPr>
        </p:nvSpPr>
        <p:spPr bwMode="gray">
          <a:xfrm>
            <a:off x="532006" y="1346504"/>
            <a:ext cx="4653968" cy="377146"/>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7" name="Espace réservé du texte 8">
            <a:extLst>
              <a:ext uri="{FF2B5EF4-FFF2-40B4-BE49-F238E27FC236}">
                <a16:creationId xmlns:a16="http://schemas.microsoft.com/office/drawing/2014/main" id="{E506AE39-A715-C12E-4D9F-7A3455AB88B3}"/>
              </a:ext>
            </a:extLst>
          </p:cNvPr>
          <p:cNvSpPr>
            <a:spLocks noGrp="1"/>
          </p:cNvSpPr>
          <p:nvPr>
            <p:ph type="body" sz="quarter" idx="20" hasCustomPrompt="1"/>
          </p:nvPr>
        </p:nvSpPr>
        <p:spPr bwMode="gray">
          <a:xfrm>
            <a:off x="6648830" y="1118619"/>
            <a:ext cx="4386281" cy="1626305"/>
          </a:xfrm>
          <a:noFill/>
        </p:spPr>
        <p:txBody>
          <a:bodyPr lIns="0" tIns="0" rIns="0"/>
          <a:lstStyle>
            <a:lvl1pPr marL="0" indent="0" algn="r">
              <a:lnSpc>
                <a:spcPct val="100000"/>
              </a:lnSpc>
              <a:spcAft>
                <a:spcPts val="0"/>
              </a:spcAft>
              <a:buNone/>
              <a:defRPr sz="11100">
                <a:solidFill>
                  <a:schemeClr val="tx2"/>
                </a:solidFill>
                <a:latin typeface="+mj-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00%</a:t>
            </a:r>
          </a:p>
        </p:txBody>
      </p:sp>
      <p:sp>
        <p:nvSpPr>
          <p:cNvPr id="11" name="Espace réservé du texte 8">
            <a:extLst>
              <a:ext uri="{FF2B5EF4-FFF2-40B4-BE49-F238E27FC236}">
                <a16:creationId xmlns:a16="http://schemas.microsoft.com/office/drawing/2014/main" id="{463598C1-64BB-D489-C803-1BC4F7604BAE}"/>
              </a:ext>
            </a:extLst>
          </p:cNvPr>
          <p:cNvSpPr>
            <a:spLocks noGrp="1"/>
          </p:cNvSpPr>
          <p:nvPr>
            <p:ph type="body" sz="quarter" idx="21" hasCustomPrompt="1"/>
          </p:nvPr>
        </p:nvSpPr>
        <p:spPr bwMode="gray">
          <a:xfrm>
            <a:off x="6648830" y="2554860"/>
            <a:ext cx="4386281" cy="683741"/>
          </a:xfrm>
          <a:noFill/>
        </p:spPr>
        <p:txBody>
          <a:bodyPr lIns="0" tIns="0" rIns="0">
            <a:normAutofit/>
          </a:bodyPr>
          <a:lstStyle>
            <a:lvl1pPr marL="0" indent="0" algn="r">
              <a:lnSpc>
                <a:spcPct val="100000"/>
              </a:lnSpc>
              <a:spcAft>
                <a:spcPts val="0"/>
              </a:spcAft>
              <a:buNone/>
              <a:defRPr sz="250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en 2021</a:t>
            </a:r>
          </a:p>
        </p:txBody>
      </p:sp>
      <p:sp>
        <p:nvSpPr>
          <p:cNvPr id="12" name="Espace réservé du texte 8">
            <a:extLst>
              <a:ext uri="{FF2B5EF4-FFF2-40B4-BE49-F238E27FC236}">
                <a16:creationId xmlns:a16="http://schemas.microsoft.com/office/drawing/2014/main" id="{0610C7A3-659A-6DD6-34B9-1A56568C39D3}"/>
              </a:ext>
            </a:extLst>
          </p:cNvPr>
          <p:cNvSpPr>
            <a:spLocks noGrp="1"/>
          </p:cNvSpPr>
          <p:nvPr>
            <p:ph type="body" sz="quarter" idx="22" hasCustomPrompt="1"/>
          </p:nvPr>
        </p:nvSpPr>
        <p:spPr bwMode="gray">
          <a:xfrm>
            <a:off x="6648830" y="2930796"/>
            <a:ext cx="4386281" cy="876185"/>
          </a:xfrm>
          <a:noFill/>
        </p:spPr>
        <p:txBody>
          <a:bodyPr lIns="0" tIns="0" rIns="0">
            <a:normAutofit/>
          </a:bodyPr>
          <a:lstStyle>
            <a:lvl1pPr marL="0" indent="0" algn="r">
              <a:lnSpc>
                <a:spcPct val="100000"/>
              </a:lnSpc>
              <a:spcAft>
                <a:spcPts val="0"/>
              </a:spcAft>
              <a:buNone/>
              <a:defRPr sz="4500" b="1"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+34%</a:t>
            </a:r>
          </a:p>
        </p:txBody>
      </p:sp>
      <p:sp>
        <p:nvSpPr>
          <p:cNvPr id="13" name="Espace réservé du texte 8">
            <a:extLst>
              <a:ext uri="{FF2B5EF4-FFF2-40B4-BE49-F238E27FC236}">
                <a16:creationId xmlns:a16="http://schemas.microsoft.com/office/drawing/2014/main" id="{90F8CC21-ACE8-81BE-9270-CE3B0787E14E}"/>
              </a:ext>
            </a:extLst>
          </p:cNvPr>
          <p:cNvSpPr>
            <a:spLocks noGrp="1"/>
          </p:cNvSpPr>
          <p:nvPr>
            <p:ph type="body" sz="quarter" idx="23" hasCustomPrompt="1"/>
          </p:nvPr>
        </p:nvSpPr>
        <p:spPr bwMode="gray">
          <a:xfrm>
            <a:off x="6648832" y="4401108"/>
            <a:ext cx="4739756" cy="1548172"/>
          </a:xfrm>
          <a:noFill/>
        </p:spPr>
        <p:txBody>
          <a:bodyPr lIns="0" tIns="0" rIns="0">
            <a:normAutofit/>
          </a:bodyPr>
          <a:lstStyle>
            <a:lvl1pPr marL="0" indent="0" algn="l">
              <a:lnSpc>
                <a:spcPct val="100000"/>
              </a:lnSpc>
              <a:spcAft>
                <a:spcPts val="0"/>
              </a:spcAft>
              <a:buNone/>
              <a:defRPr sz="2700"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Lorem</a:t>
            </a:r>
          </a:p>
        </p:txBody>
      </p:sp>
    </p:spTree>
    <p:extLst>
      <p:ext uri="{BB962C8B-B14F-4D97-AF65-F5344CB8AC3E}">
        <p14:creationId xmlns:p14="http://schemas.microsoft.com/office/powerpoint/2010/main" val="2864930926"/>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1_Intercalaire_vert">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7323CCC4-8679-C2AD-3A24-B72A3734C225}"/>
              </a:ext>
            </a:extLst>
          </p:cNvPr>
          <p:cNvSpPr/>
          <p:nvPr userDrawn="1"/>
        </p:nvSpPr>
        <p:spPr bwMode="gray">
          <a:xfrm>
            <a:off x="0" y="0"/>
            <a:ext cx="12192000" cy="6858000"/>
          </a:xfrm>
          <a:prstGeom prst="rect">
            <a:avLst/>
          </a:prstGeom>
          <a:solidFill>
            <a:srgbClr val="97B28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CAA4DAEA-970D-8876-C9DC-932391652B5D}"/>
              </a:ext>
            </a:extLst>
          </p:cNvPr>
          <p:cNvSpPr/>
          <p:nvPr userDrawn="1"/>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e la date 7"/>
          <p:cNvSpPr>
            <a:spLocks noGrp="1"/>
          </p:cNvSpPr>
          <p:nvPr>
            <p:ph type="dt" sz="half" idx="10"/>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6EF6EC3F-7A12-4C3C-9012-F0C7A5EB5702}" type="datetime3">
              <a:rPr lang="fr-FR" smtClean="0"/>
              <a:pPr/>
              <a:t>12.01.26</a:t>
            </a:fld>
            <a:endParaRPr lang="fr-FR"/>
          </a:p>
        </p:txBody>
      </p:sp>
      <p:sp>
        <p:nvSpPr>
          <p:cNvPr id="11" name="Espace réservé du numéro de diapositive 10"/>
          <p:cNvSpPr>
            <a:spLocks noGrp="1"/>
          </p:cNvSpPr>
          <p:nvPr>
            <p:ph type="sldNum" sz="quarter" idx="11"/>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733122C9-A0B9-462F-8757-0847AD287B63}" type="slidenum">
              <a:rPr lang="fr-FR" smtClean="0"/>
              <a:pPr/>
              <a:t>‹N°›</a:t>
            </a:fld>
            <a:endParaRPr lang="fr-FR"/>
          </a:p>
        </p:txBody>
      </p:sp>
      <p:sp>
        <p:nvSpPr>
          <p:cNvPr id="12" name="Espace réservé du pied de page 11"/>
          <p:cNvSpPr>
            <a:spLocks noGrp="1"/>
          </p:cNvSpPr>
          <p:nvPr>
            <p:ph type="ftr" sz="quarter" idx="12"/>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3" name="Titre 2"/>
          <p:cNvSpPr>
            <a:spLocks noGrp="1"/>
          </p:cNvSpPr>
          <p:nvPr>
            <p:ph type="title" hasCustomPrompt="1"/>
          </p:nvPr>
        </p:nvSpPr>
        <p:spPr bwMode="gray">
          <a:xfrm>
            <a:off x="1055440" y="260648"/>
            <a:ext cx="1692188" cy="1260139"/>
          </a:xfrm>
        </p:spPr>
        <p:txBody>
          <a:bodyPr anchor="b" anchorCtr="0"/>
          <a:lstStyle>
            <a:lvl1pPr>
              <a:defRPr sz="8250">
                <a:solidFill>
                  <a:schemeClr val="tx2"/>
                </a:solidFill>
              </a:defRPr>
            </a:lvl1pPr>
          </a:lstStyle>
          <a:p>
            <a:r>
              <a:rPr lang="fr-FR" noProof="0"/>
              <a:t>0</a:t>
            </a:r>
            <a:endParaRPr lang="fr-FR"/>
          </a:p>
        </p:txBody>
      </p:sp>
      <p:sp>
        <p:nvSpPr>
          <p:cNvPr id="10" name="Espace réservé du texte 3">
            <a:extLst>
              <a:ext uri="{FF2B5EF4-FFF2-40B4-BE49-F238E27FC236}">
                <a16:creationId xmlns:a16="http://schemas.microsoft.com/office/drawing/2014/main" id="{DF42B46E-2400-032F-4FF8-C6F08F4EBDF7}"/>
              </a:ext>
            </a:extLst>
          </p:cNvPr>
          <p:cNvSpPr>
            <a:spLocks noGrp="1"/>
          </p:cNvSpPr>
          <p:nvPr>
            <p:ph type="body" sz="quarter" idx="14" hasCustomPrompt="1"/>
          </p:nvPr>
        </p:nvSpPr>
        <p:spPr bwMode="gray">
          <a:xfrm>
            <a:off x="1055440" y="1679036"/>
            <a:ext cx="10801200" cy="2758076"/>
          </a:xfrm>
          <a:prstGeom prst="rect">
            <a:avLst/>
          </a:prstGeom>
          <a:noFill/>
        </p:spPr>
        <p:txBody>
          <a:bodyPr wrap="square" lIns="0" tIns="0" rIns="0">
            <a:normAutofit/>
          </a:bodyPr>
          <a:lstStyle>
            <a:lvl1pPr marL="0" indent="0">
              <a:spcAft>
                <a:spcPts val="0"/>
              </a:spcAft>
              <a:buNone/>
              <a:defRPr sz="4800">
                <a:solidFill>
                  <a:schemeClr val="tx2"/>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r-FR" noProof="0"/>
              <a:t>Titre</a:t>
            </a:r>
          </a:p>
        </p:txBody>
      </p:sp>
      <p:pic>
        <p:nvPicPr>
          <p:cNvPr id="2" name="Image 1">
            <a:extLst>
              <a:ext uri="{FF2B5EF4-FFF2-40B4-BE49-F238E27FC236}">
                <a16:creationId xmlns:a16="http://schemas.microsoft.com/office/drawing/2014/main" id="{BC54C0D9-84B5-F348-F906-18FD0BAFEAD2}"/>
              </a:ext>
            </a:extLst>
          </p:cNvPr>
          <p:cNvPicPr>
            <a:picLocks noChangeAspect="1"/>
          </p:cNvPicPr>
          <p:nvPr userDrawn="1"/>
        </p:nvPicPr>
        <p:blipFill>
          <a:blip r:embed="rId2"/>
          <a:stretch>
            <a:fillRect/>
          </a:stretch>
        </p:blipFill>
        <p:spPr>
          <a:xfrm>
            <a:off x="1066488" y="6008136"/>
            <a:ext cx="2486502" cy="216024"/>
          </a:xfrm>
          <a:prstGeom prst="rect">
            <a:avLst/>
          </a:prstGeom>
        </p:spPr>
      </p:pic>
    </p:spTree>
    <p:extLst>
      <p:ext uri="{BB962C8B-B14F-4D97-AF65-F5344CB8AC3E}">
        <p14:creationId xmlns:p14="http://schemas.microsoft.com/office/powerpoint/2010/main" val="710445359"/>
      </p:ext>
    </p:extLst>
  </p:cSld>
  <p:clrMapOvr>
    <a:masterClrMapping/>
  </p:clrMapOvr>
  <p:hf sldNum="0"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698">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1_Diptyque_vert">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BC517D08-A7C5-B248-731F-D8AE78AF6AD5}"/>
              </a:ext>
            </a:extLst>
          </p:cNvPr>
          <p:cNvSpPr/>
          <p:nvPr userDrawn="1"/>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Rectangle 19">
            <a:extLst>
              <a:ext uri="{FF2B5EF4-FFF2-40B4-BE49-F238E27FC236}">
                <a16:creationId xmlns:a16="http://schemas.microsoft.com/office/drawing/2014/main" id="{8BD239C2-24FF-78DB-1368-3659B94844BF}"/>
              </a:ext>
            </a:extLst>
          </p:cNvPr>
          <p:cNvSpPr/>
          <p:nvPr userDrawn="1"/>
        </p:nvSpPr>
        <p:spPr bwMode="gray">
          <a:xfrm>
            <a:off x="6096000" y="0"/>
            <a:ext cx="6096000" cy="6858000"/>
          </a:xfrm>
          <a:prstGeom prst="rect">
            <a:avLst/>
          </a:prstGeom>
          <a:solidFill>
            <a:srgbClr val="97B28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3" name="Forme libre : forme 12">
            <a:extLst>
              <a:ext uri="{FF2B5EF4-FFF2-40B4-BE49-F238E27FC236}">
                <a16:creationId xmlns:a16="http://schemas.microsoft.com/office/drawing/2014/main" id="{15E8C0C3-BA99-8DDA-4C72-C4AD3C25E72D}"/>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24A4B7A5-4796-DDF3-D5EA-CA514233A100}"/>
              </a:ext>
            </a:extLst>
          </p:cNvPr>
          <p:cNvSpPr>
            <a:spLocks noGrp="1"/>
          </p:cNvSpPr>
          <p:nvPr>
            <p:ph type="title" hasCustomPrompt="1"/>
          </p:nvPr>
        </p:nvSpPr>
        <p:spPr bwMode="gray">
          <a:xfrm>
            <a:off x="558800" y="410107"/>
            <a:ext cx="5141156" cy="936104"/>
          </a:xfrm>
        </p:spPr>
        <p:txBody>
          <a:bodyPr/>
          <a:lstStyle>
            <a:lvl1pPr>
              <a:defRPr>
                <a:solidFill>
                  <a:srgbClr val="97B280"/>
                </a:solidFill>
              </a:defRPr>
            </a:lvl1pPr>
          </a:lstStyle>
          <a:p>
            <a:r>
              <a:rPr lang="fr-FR"/>
              <a:t>Titre de la slide</a:t>
            </a:r>
          </a:p>
        </p:txBody>
      </p:sp>
      <p:sp>
        <p:nvSpPr>
          <p:cNvPr id="3" name="Espace réservé de la date 2">
            <a:extLst>
              <a:ext uri="{FF2B5EF4-FFF2-40B4-BE49-F238E27FC236}">
                <a16:creationId xmlns:a16="http://schemas.microsoft.com/office/drawing/2014/main" id="{AB780E7C-6F1F-25F3-02AB-3466F56B1F07}"/>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CD75CE2-C48E-C7E6-194C-60A7394FE5D2}"/>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DC025D0F-DF5A-7E91-F4B9-92DC3571B3D8}"/>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5F3C6EE9-F33A-C402-E3FD-E4DB8D537106}"/>
              </a:ext>
            </a:extLst>
          </p:cNvPr>
          <p:cNvSpPr>
            <a:spLocks noGrp="1"/>
          </p:cNvSpPr>
          <p:nvPr>
            <p:ph type="body" sz="quarter" idx="14" hasCustomPrompt="1"/>
          </p:nvPr>
        </p:nvSpPr>
        <p:spPr bwMode="gray">
          <a:xfrm>
            <a:off x="1019437" y="2005169"/>
            <a:ext cx="4716468" cy="3708412"/>
          </a:xfrm>
        </p:spPr>
        <p:txBody>
          <a:bodyPr/>
          <a:lstStyle>
            <a:lvl1pPr marL="0" indent="0">
              <a:spcAft>
                <a:spcPts val="0"/>
              </a:spcAft>
              <a:buNone/>
              <a:defRPr sz="2700">
                <a:solidFill>
                  <a:srgbClr val="97B280"/>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sp>
        <p:nvSpPr>
          <p:cNvPr id="19" name="Espace réservé du texte 18">
            <a:extLst>
              <a:ext uri="{FF2B5EF4-FFF2-40B4-BE49-F238E27FC236}">
                <a16:creationId xmlns:a16="http://schemas.microsoft.com/office/drawing/2014/main" id="{70F73260-667B-8ABB-D758-D2BE39806107}"/>
              </a:ext>
            </a:extLst>
          </p:cNvPr>
          <p:cNvSpPr>
            <a:spLocks noGrp="1"/>
          </p:cNvSpPr>
          <p:nvPr>
            <p:ph type="body" sz="quarter" idx="16" hasCustomPrompt="1"/>
          </p:nvPr>
        </p:nvSpPr>
        <p:spPr bwMode="gray">
          <a:xfrm>
            <a:off x="7327112" y="1909575"/>
            <a:ext cx="4559488" cy="3804006"/>
          </a:xfrm>
          <a:custGeom>
            <a:avLst/>
            <a:gdLst>
              <a:gd name="connsiteX0" fmla="*/ 0 w 6084000"/>
              <a:gd name="connsiteY0" fmla="*/ 0 h 5914428"/>
              <a:gd name="connsiteX1" fmla="*/ 6084000 w 6084000"/>
              <a:gd name="connsiteY1" fmla="*/ 0 h 5914428"/>
              <a:gd name="connsiteX2" fmla="*/ 6084000 w 6084000"/>
              <a:gd name="connsiteY2" fmla="*/ 5914428 h 5914428"/>
              <a:gd name="connsiteX3" fmla="*/ 0 w 6084000"/>
              <a:gd name="connsiteY3" fmla="*/ 5914428 h 5914428"/>
            </a:gdLst>
            <a:ahLst/>
            <a:cxnLst>
              <a:cxn ang="0">
                <a:pos x="connsiteX0" y="connsiteY0"/>
              </a:cxn>
              <a:cxn ang="0">
                <a:pos x="connsiteX1" y="connsiteY1"/>
              </a:cxn>
              <a:cxn ang="0">
                <a:pos x="connsiteX2" y="connsiteY2"/>
              </a:cxn>
              <a:cxn ang="0">
                <a:pos x="connsiteX3" y="connsiteY3"/>
              </a:cxn>
            </a:cxnLst>
            <a:rect l="l" t="t" r="r" b="b"/>
            <a:pathLst>
              <a:path w="6084000" h="5914428">
                <a:moveTo>
                  <a:pt x="0" y="0"/>
                </a:moveTo>
                <a:lnTo>
                  <a:pt x="6084000" y="0"/>
                </a:lnTo>
                <a:lnTo>
                  <a:pt x="6084000" y="5914428"/>
                </a:lnTo>
                <a:lnTo>
                  <a:pt x="0" y="5914428"/>
                </a:lnTo>
                <a:close/>
              </a:path>
            </a:pathLst>
          </a:custGeom>
          <a:noFill/>
        </p:spPr>
        <p:txBody>
          <a:bodyPr wrap="square" lIns="0" tIns="0">
            <a:normAutofit/>
          </a:bodyPr>
          <a:lstStyle>
            <a:lvl1pPr marL="0" indent="0">
              <a:spcAft>
                <a:spcPts val="0"/>
              </a:spcAft>
              <a:buNone/>
              <a:defRPr sz="41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pic>
        <p:nvPicPr>
          <p:cNvPr id="7" name="Image 6" descr="Une image contenant Police, Graphique, capture d’écran, logo&#10;&#10;Description générée automatiquement">
            <a:extLst>
              <a:ext uri="{FF2B5EF4-FFF2-40B4-BE49-F238E27FC236}">
                <a16:creationId xmlns:a16="http://schemas.microsoft.com/office/drawing/2014/main" id="{267EBFAF-C41A-A427-4F75-A536624C8790}"/>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258515012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2">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1_Graphique+texte_diptyque_vert">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D8A0BBC-87C1-9EAA-905D-667B3503DD01}"/>
              </a:ext>
            </a:extLst>
          </p:cNvPr>
          <p:cNvSpPr/>
          <p:nvPr userDrawn="1"/>
        </p:nvSpPr>
        <p:spPr bwMode="gray">
          <a:xfrm>
            <a:off x="6108000" y="327095"/>
            <a:ext cx="5731200" cy="5914800"/>
          </a:xfrm>
          <a:prstGeom prst="rect">
            <a:avLst/>
          </a:prstGeom>
          <a:solidFill>
            <a:srgbClr val="97B28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FD768BBB-4837-52E2-7BD0-7D518CA47FF7}"/>
              </a:ext>
            </a:extLst>
          </p:cNvPr>
          <p:cNvSpPr>
            <a:spLocks noGrp="1"/>
          </p:cNvSpPr>
          <p:nvPr>
            <p:ph type="title" hasCustomPrompt="1"/>
          </p:nvPr>
        </p:nvSpPr>
        <p:spPr bwMode="gray">
          <a:xfrm>
            <a:off x="305400" y="410400"/>
            <a:ext cx="51876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90D741DC-727E-13C0-2600-FC0CD0B38D22}"/>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5084F18-B1B3-6A44-A46D-453F1D1896EB}"/>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E7C62B9-E5CF-FEC3-B21C-266ACBD20537}"/>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graphique 16">
            <a:extLst>
              <a:ext uri="{FF2B5EF4-FFF2-40B4-BE49-F238E27FC236}">
                <a16:creationId xmlns:a16="http://schemas.microsoft.com/office/drawing/2014/main" id="{28EEB7A5-AFA7-58FC-32DE-2F2F2254BB13}"/>
              </a:ext>
            </a:extLst>
          </p:cNvPr>
          <p:cNvSpPr>
            <a:spLocks noGrp="1"/>
          </p:cNvSpPr>
          <p:nvPr>
            <p:ph type="chart" sz="quarter" idx="18" hasCustomPrompt="1"/>
          </p:nvPr>
        </p:nvSpPr>
        <p:spPr bwMode="gray">
          <a:xfrm>
            <a:off x="989833" y="1783603"/>
            <a:ext cx="4096371" cy="4392408"/>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9" name="Espace réservé du texte 8">
            <a:extLst>
              <a:ext uri="{FF2B5EF4-FFF2-40B4-BE49-F238E27FC236}">
                <a16:creationId xmlns:a16="http://schemas.microsoft.com/office/drawing/2014/main" id="{3964A26B-A8B3-B604-E0F1-3B018D194BE3}"/>
              </a:ext>
            </a:extLst>
          </p:cNvPr>
          <p:cNvSpPr>
            <a:spLocks noGrp="1"/>
          </p:cNvSpPr>
          <p:nvPr>
            <p:ph type="body" sz="quarter" idx="19" hasCustomPrompt="1"/>
          </p:nvPr>
        </p:nvSpPr>
        <p:spPr bwMode="gray">
          <a:xfrm>
            <a:off x="532006" y="1346504"/>
            <a:ext cx="4653968" cy="377146"/>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7" name="Espace réservé du texte 8">
            <a:extLst>
              <a:ext uri="{FF2B5EF4-FFF2-40B4-BE49-F238E27FC236}">
                <a16:creationId xmlns:a16="http://schemas.microsoft.com/office/drawing/2014/main" id="{E506AE39-A715-C12E-4D9F-7A3455AB88B3}"/>
              </a:ext>
            </a:extLst>
          </p:cNvPr>
          <p:cNvSpPr>
            <a:spLocks noGrp="1"/>
          </p:cNvSpPr>
          <p:nvPr>
            <p:ph type="body" sz="quarter" idx="20" hasCustomPrompt="1"/>
          </p:nvPr>
        </p:nvSpPr>
        <p:spPr bwMode="gray">
          <a:xfrm>
            <a:off x="6648830" y="1118619"/>
            <a:ext cx="4386281" cy="1626305"/>
          </a:xfrm>
          <a:noFill/>
        </p:spPr>
        <p:txBody>
          <a:bodyPr lIns="0" tIns="0" rIns="0"/>
          <a:lstStyle>
            <a:lvl1pPr marL="0" indent="0" algn="r">
              <a:lnSpc>
                <a:spcPct val="100000"/>
              </a:lnSpc>
              <a:spcAft>
                <a:spcPts val="0"/>
              </a:spcAft>
              <a:buNone/>
              <a:defRPr sz="11100">
                <a:solidFill>
                  <a:schemeClr val="tx2"/>
                </a:solidFill>
                <a:latin typeface="+mj-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00%</a:t>
            </a:r>
          </a:p>
        </p:txBody>
      </p:sp>
      <p:sp>
        <p:nvSpPr>
          <p:cNvPr id="11" name="Espace réservé du texte 8">
            <a:extLst>
              <a:ext uri="{FF2B5EF4-FFF2-40B4-BE49-F238E27FC236}">
                <a16:creationId xmlns:a16="http://schemas.microsoft.com/office/drawing/2014/main" id="{463598C1-64BB-D489-C803-1BC4F7604BAE}"/>
              </a:ext>
            </a:extLst>
          </p:cNvPr>
          <p:cNvSpPr>
            <a:spLocks noGrp="1"/>
          </p:cNvSpPr>
          <p:nvPr>
            <p:ph type="body" sz="quarter" idx="21" hasCustomPrompt="1"/>
          </p:nvPr>
        </p:nvSpPr>
        <p:spPr bwMode="gray">
          <a:xfrm>
            <a:off x="6648830" y="2554860"/>
            <a:ext cx="4386281" cy="683741"/>
          </a:xfrm>
          <a:noFill/>
        </p:spPr>
        <p:txBody>
          <a:bodyPr lIns="0" tIns="0" rIns="0">
            <a:normAutofit/>
          </a:bodyPr>
          <a:lstStyle>
            <a:lvl1pPr marL="0" indent="0" algn="r">
              <a:lnSpc>
                <a:spcPct val="100000"/>
              </a:lnSpc>
              <a:spcAft>
                <a:spcPts val="0"/>
              </a:spcAft>
              <a:buNone/>
              <a:defRPr sz="250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en 2021</a:t>
            </a:r>
          </a:p>
        </p:txBody>
      </p:sp>
      <p:sp>
        <p:nvSpPr>
          <p:cNvPr id="12" name="Espace réservé du texte 8">
            <a:extLst>
              <a:ext uri="{FF2B5EF4-FFF2-40B4-BE49-F238E27FC236}">
                <a16:creationId xmlns:a16="http://schemas.microsoft.com/office/drawing/2014/main" id="{0610C7A3-659A-6DD6-34B9-1A56568C39D3}"/>
              </a:ext>
            </a:extLst>
          </p:cNvPr>
          <p:cNvSpPr>
            <a:spLocks noGrp="1"/>
          </p:cNvSpPr>
          <p:nvPr>
            <p:ph type="body" sz="quarter" idx="22" hasCustomPrompt="1"/>
          </p:nvPr>
        </p:nvSpPr>
        <p:spPr bwMode="gray">
          <a:xfrm>
            <a:off x="6648830" y="2930796"/>
            <a:ext cx="4386281" cy="876185"/>
          </a:xfrm>
          <a:noFill/>
        </p:spPr>
        <p:txBody>
          <a:bodyPr lIns="0" tIns="0" rIns="0">
            <a:normAutofit/>
          </a:bodyPr>
          <a:lstStyle>
            <a:lvl1pPr marL="0" indent="0" algn="r">
              <a:lnSpc>
                <a:spcPct val="100000"/>
              </a:lnSpc>
              <a:spcAft>
                <a:spcPts val="0"/>
              </a:spcAft>
              <a:buNone/>
              <a:defRPr sz="4500" b="1"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+34%</a:t>
            </a:r>
          </a:p>
        </p:txBody>
      </p:sp>
      <p:sp>
        <p:nvSpPr>
          <p:cNvPr id="13" name="Espace réservé du texte 8">
            <a:extLst>
              <a:ext uri="{FF2B5EF4-FFF2-40B4-BE49-F238E27FC236}">
                <a16:creationId xmlns:a16="http://schemas.microsoft.com/office/drawing/2014/main" id="{90F8CC21-ACE8-81BE-9270-CE3B0787E14E}"/>
              </a:ext>
            </a:extLst>
          </p:cNvPr>
          <p:cNvSpPr>
            <a:spLocks noGrp="1"/>
          </p:cNvSpPr>
          <p:nvPr>
            <p:ph type="body" sz="quarter" idx="23" hasCustomPrompt="1"/>
          </p:nvPr>
        </p:nvSpPr>
        <p:spPr bwMode="gray">
          <a:xfrm>
            <a:off x="6648832" y="4401108"/>
            <a:ext cx="4739756" cy="1548172"/>
          </a:xfrm>
          <a:noFill/>
        </p:spPr>
        <p:txBody>
          <a:bodyPr lIns="0" tIns="0" rIns="0">
            <a:normAutofit/>
          </a:bodyPr>
          <a:lstStyle>
            <a:lvl1pPr marL="0" indent="0" algn="l">
              <a:lnSpc>
                <a:spcPct val="100000"/>
              </a:lnSpc>
              <a:spcAft>
                <a:spcPts val="0"/>
              </a:spcAft>
              <a:buNone/>
              <a:defRPr sz="2700"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Lorem</a:t>
            </a:r>
          </a:p>
        </p:txBody>
      </p:sp>
    </p:spTree>
    <p:extLst>
      <p:ext uri="{BB962C8B-B14F-4D97-AF65-F5344CB8AC3E}">
        <p14:creationId xmlns:p14="http://schemas.microsoft.com/office/powerpoint/2010/main" val="2641915317"/>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userDrawn="1">
  <p:cSld name="1_Intercalaire_ros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7323CCC4-8679-C2AD-3A24-B72A3734C225}"/>
              </a:ext>
            </a:extLst>
          </p:cNvPr>
          <p:cNvSpPr/>
          <p:nvPr userDrawn="1"/>
        </p:nvSpPr>
        <p:spPr bwMode="gray">
          <a:xfrm>
            <a:off x="0" y="0"/>
            <a:ext cx="12192000" cy="6858000"/>
          </a:xfrm>
          <a:prstGeom prst="rect">
            <a:avLst/>
          </a:prstGeom>
          <a:solidFill>
            <a:srgbClr val="CFA59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Forme libre : forme 8">
            <a:extLst>
              <a:ext uri="{FF2B5EF4-FFF2-40B4-BE49-F238E27FC236}">
                <a16:creationId xmlns:a16="http://schemas.microsoft.com/office/drawing/2014/main" id="{CAA4DAEA-970D-8876-C9DC-932391652B5D}"/>
              </a:ext>
            </a:extLst>
          </p:cNvPr>
          <p:cNvSpPr/>
          <p:nvPr userDrawn="1"/>
        </p:nvSpPr>
        <p:spPr bwMode="gray">
          <a:xfrm>
            <a:off x="0" y="4956757"/>
            <a:ext cx="12192000" cy="1901243"/>
          </a:xfrm>
          <a:custGeom>
            <a:avLst/>
            <a:gdLst>
              <a:gd name="connsiteX0" fmla="*/ 1112939 w 12192000"/>
              <a:gd name="connsiteY0" fmla="*/ 0 h 1901243"/>
              <a:gd name="connsiteX1" fmla="*/ 12192000 w 12192000"/>
              <a:gd name="connsiteY1" fmla="*/ 0 h 1901243"/>
              <a:gd name="connsiteX2" fmla="*/ 12192000 w 12192000"/>
              <a:gd name="connsiteY2" fmla="*/ 1901243 h 1901243"/>
              <a:gd name="connsiteX3" fmla="*/ 0 w 12192000"/>
              <a:gd name="connsiteY3" fmla="*/ 1901243 h 1901243"/>
              <a:gd name="connsiteX4" fmla="*/ 0 w 12192000"/>
              <a:gd name="connsiteY4" fmla="*/ 756824 h 1901243"/>
              <a:gd name="connsiteX5" fmla="*/ 806 w 12192000"/>
              <a:gd name="connsiteY5" fmla="*/ 756824 h 190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1901243">
                <a:moveTo>
                  <a:pt x="1112939" y="0"/>
                </a:moveTo>
                <a:lnTo>
                  <a:pt x="12192000" y="0"/>
                </a:lnTo>
                <a:lnTo>
                  <a:pt x="12192000" y="1901243"/>
                </a:lnTo>
                <a:lnTo>
                  <a:pt x="0" y="1901243"/>
                </a:lnTo>
                <a:lnTo>
                  <a:pt x="0" y="756824"/>
                </a:lnTo>
                <a:lnTo>
                  <a:pt x="806" y="75682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e la date 7"/>
          <p:cNvSpPr>
            <a:spLocks noGrp="1"/>
          </p:cNvSpPr>
          <p:nvPr>
            <p:ph type="dt" sz="half" idx="10"/>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6EF6EC3F-7A12-4C3C-9012-F0C7A5EB5702}" type="datetime3">
              <a:rPr lang="fr-FR" smtClean="0"/>
              <a:pPr/>
              <a:t>12.01.26</a:t>
            </a:fld>
            <a:endParaRPr lang="fr-FR"/>
          </a:p>
        </p:txBody>
      </p:sp>
      <p:sp>
        <p:nvSpPr>
          <p:cNvPr id="11" name="Espace réservé du numéro de diapositive 10"/>
          <p:cNvSpPr>
            <a:spLocks noGrp="1"/>
          </p:cNvSpPr>
          <p:nvPr>
            <p:ph type="sldNum" sz="quarter" idx="11"/>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fld id="{733122C9-A0B9-462F-8757-0847AD287B63}" type="slidenum">
              <a:rPr lang="fr-FR" smtClean="0"/>
              <a:pPr/>
              <a:t>‹N°›</a:t>
            </a:fld>
            <a:endParaRPr lang="fr-FR"/>
          </a:p>
        </p:txBody>
      </p:sp>
      <p:sp>
        <p:nvSpPr>
          <p:cNvPr id="12" name="Espace réservé du pied de page 11"/>
          <p:cNvSpPr>
            <a:spLocks noGrp="1"/>
          </p:cNvSpPr>
          <p:nvPr>
            <p:ph type="ftr" sz="quarter" idx="12"/>
          </p:nvPr>
        </p:nvSpPr>
        <p:spPr bwMode="gray">
          <a:xfrm>
            <a:off x="0" y="6678000"/>
            <a:ext cx="180000" cy="180000"/>
          </a:xfrm>
          <a:ln>
            <a:solidFill>
              <a:schemeClr val="accent1">
                <a:shade val="50000"/>
                <a:alpha val="0"/>
              </a:schemeClr>
            </a:solidFill>
          </a:ln>
        </p:spPr>
        <p:txBody>
          <a:bodyPr/>
          <a:lstStyle>
            <a:lvl1pPr>
              <a:defRPr sz="100">
                <a:solidFill>
                  <a:schemeClr val="tx1">
                    <a:alpha val="0"/>
                  </a:schemeClr>
                </a:solidFill>
              </a:defRPr>
            </a:lvl1pPr>
          </a:lstStyle>
          <a:p>
            <a:r>
              <a:rPr lang="fr-FR" err="1"/>
              <a:t>Kickoff</a:t>
            </a:r>
            <a:r>
              <a:rPr lang="fr-FR"/>
              <a:t> Exercice STEBA 2025</a:t>
            </a:r>
          </a:p>
        </p:txBody>
      </p:sp>
      <p:sp>
        <p:nvSpPr>
          <p:cNvPr id="3" name="Titre 2"/>
          <p:cNvSpPr>
            <a:spLocks noGrp="1"/>
          </p:cNvSpPr>
          <p:nvPr>
            <p:ph type="title" hasCustomPrompt="1"/>
          </p:nvPr>
        </p:nvSpPr>
        <p:spPr bwMode="gray">
          <a:xfrm>
            <a:off x="1055440" y="260648"/>
            <a:ext cx="1692188" cy="1260139"/>
          </a:xfrm>
        </p:spPr>
        <p:txBody>
          <a:bodyPr anchor="b" anchorCtr="0"/>
          <a:lstStyle>
            <a:lvl1pPr>
              <a:defRPr sz="8250">
                <a:solidFill>
                  <a:schemeClr val="tx2"/>
                </a:solidFill>
              </a:defRPr>
            </a:lvl1pPr>
          </a:lstStyle>
          <a:p>
            <a:r>
              <a:rPr lang="fr-FR" noProof="0"/>
              <a:t>0</a:t>
            </a:r>
            <a:endParaRPr lang="fr-FR"/>
          </a:p>
        </p:txBody>
      </p:sp>
      <p:sp>
        <p:nvSpPr>
          <p:cNvPr id="10" name="Espace réservé du texte 3">
            <a:extLst>
              <a:ext uri="{FF2B5EF4-FFF2-40B4-BE49-F238E27FC236}">
                <a16:creationId xmlns:a16="http://schemas.microsoft.com/office/drawing/2014/main" id="{DF42B46E-2400-032F-4FF8-C6F08F4EBDF7}"/>
              </a:ext>
            </a:extLst>
          </p:cNvPr>
          <p:cNvSpPr>
            <a:spLocks noGrp="1"/>
          </p:cNvSpPr>
          <p:nvPr>
            <p:ph type="body" sz="quarter" idx="14" hasCustomPrompt="1"/>
          </p:nvPr>
        </p:nvSpPr>
        <p:spPr bwMode="gray">
          <a:xfrm>
            <a:off x="1055440" y="1679036"/>
            <a:ext cx="10801200" cy="2758076"/>
          </a:xfrm>
          <a:prstGeom prst="rect">
            <a:avLst/>
          </a:prstGeom>
          <a:noFill/>
        </p:spPr>
        <p:txBody>
          <a:bodyPr wrap="square" lIns="0" tIns="0" rIns="0">
            <a:normAutofit/>
          </a:bodyPr>
          <a:lstStyle>
            <a:lvl1pPr marL="0" indent="0">
              <a:spcAft>
                <a:spcPts val="0"/>
              </a:spcAft>
              <a:buNone/>
              <a:defRPr sz="4800">
                <a:solidFill>
                  <a:schemeClr val="tx2"/>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r-FR" noProof="0"/>
              <a:t>Titre</a:t>
            </a:r>
          </a:p>
        </p:txBody>
      </p:sp>
      <p:pic>
        <p:nvPicPr>
          <p:cNvPr id="16" name="Image 15">
            <a:extLst>
              <a:ext uri="{FF2B5EF4-FFF2-40B4-BE49-F238E27FC236}">
                <a16:creationId xmlns:a16="http://schemas.microsoft.com/office/drawing/2014/main" id="{C8BA0784-796E-5358-950F-D050C8CCB95E}"/>
              </a:ext>
            </a:extLst>
          </p:cNvPr>
          <p:cNvPicPr>
            <a:picLocks noChangeAspect="1"/>
          </p:cNvPicPr>
          <p:nvPr userDrawn="1"/>
        </p:nvPicPr>
        <p:blipFill>
          <a:blip r:embed="rId2"/>
          <a:stretch>
            <a:fillRect/>
          </a:stretch>
        </p:blipFill>
        <p:spPr>
          <a:xfrm>
            <a:off x="1066488" y="6008136"/>
            <a:ext cx="2486502" cy="216024"/>
          </a:xfrm>
          <a:prstGeom prst="rect">
            <a:avLst/>
          </a:prstGeom>
        </p:spPr>
      </p:pic>
    </p:spTree>
    <p:extLst>
      <p:ext uri="{BB962C8B-B14F-4D97-AF65-F5344CB8AC3E}">
        <p14:creationId xmlns:p14="http://schemas.microsoft.com/office/powerpoint/2010/main" val="550508707"/>
      </p:ext>
    </p:extLst>
  </p:cSld>
  <p:clrMapOvr>
    <a:masterClrMapping/>
  </p:clrMapOvr>
  <p:hf sldNum="0"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698">
          <p15:clr>
            <a:srgbClr val="FBAE4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1_Diptyque_ros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BC517D08-A7C5-B248-731F-D8AE78AF6AD5}"/>
              </a:ext>
            </a:extLst>
          </p:cNvPr>
          <p:cNvSpPr/>
          <p:nvPr userDrawn="1"/>
        </p:nvSpPr>
        <p:spPr bwMode="gray">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Rectangle 19">
            <a:extLst>
              <a:ext uri="{FF2B5EF4-FFF2-40B4-BE49-F238E27FC236}">
                <a16:creationId xmlns:a16="http://schemas.microsoft.com/office/drawing/2014/main" id="{8BD239C2-24FF-78DB-1368-3659B94844BF}"/>
              </a:ext>
            </a:extLst>
          </p:cNvPr>
          <p:cNvSpPr/>
          <p:nvPr userDrawn="1"/>
        </p:nvSpPr>
        <p:spPr bwMode="gray">
          <a:xfrm>
            <a:off x="6096000" y="0"/>
            <a:ext cx="6096000" cy="6858000"/>
          </a:xfrm>
          <a:prstGeom prst="rect">
            <a:avLst/>
          </a:prstGeom>
          <a:solidFill>
            <a:srgbClr val="CFA59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3" name="Forme libre : forme 12">
            <a:extLst>
              <a:ext uri="{FF2B5EF4-FFF2-40B4-BE49-F238E27FC236}">
                <a16:creationId xmlns:a16="http://schemas.microsoft.com/office/drawing/2014/main" id="{15E8C0C3-BA99-8DDA-4C72-C4AD3C25E72D}"/>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24A4B7A5-4796-DDF3-D5EA-CA514233A100}"/>
              </a:ext>
            </a:extLst>
          </p:cNvPr>
          <p:cNvSpPr>
            <a:spLocks noGrp="1"/>
          </p:cNvSpPr>
          <p:nvPr>
            <p:ph type="title" hasCustomPrompt="1"/>
          </p:nvPr>
        </p:nvSpPr>
        <p:spPr bwMode="gray">
          <a:xfrm>
            <a:off x="558800" y="410107"/>
            <a:ext cx="5141156" cy="936104"/>
          </a:xfrm>
        </p:spPr>
        <p:txBody>
          <a:bodyPr/>
          <a:lstStyle>
            <a:lvl1pPr>
              <a:defRPr>
                <a:solidFill>
                  <a:srgbClr val="CFA595"/>
                </a:solidFill>
              </a:defRPr>
            </a:lvl1pPr>
          </a:lstStyle>
          <a:p>
            <a:r>
              <a:rPr lang="fr-FR"/>
              <a:t>Titre de la slide</a:t>
            </a:r>
          </a:p>
        </p:txBody>
      </p:sp>
      <p:sp>
        <p:nvSpPr>
          <p:cNvPr id="3" name="Espace réservé de la date 2">
            <a:extLst>
              <a:ext uri="{FF2B5EF4-FFF2-40B4-BE49-F238E27FC236}">
                <a16:creationId xmlns:a16="http://schemas.microsoft.com/office/drawing/2014/main" id="{AB780E7C-6F1F-25F3-02AB-3466F56B1F07}"/>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CD75CE2-C48E-C7E6-194C-60A7394FE5D2}"/>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DC025D0F-DF5A-7E91-F4B9-92DC3571B3D8}"/>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5F3C6EE9-F33A-C402-E3FD-E4DB8D537106}"/>
              </a:ext>
            </a:extLst>
          </p:cNvPr>
          <p:cNvSpPr>
            <a:spLocks noGrp="1"/>
          </p:cNvSpPr>
          <p:nvPr>
            <p:ph type="body" sz="quarter" idx="14" hasCustomPrompt="1"/>
          </p:nvPr>
        </p:nvSpPr>
        <p:spPr bwMode="gray">
          <a:xfrm>
            <a:off x="1019437" y="2005169"/>
            <a:ext cx="4716468" cy="3708412"/>
          </a:xfrm>
        </p:spPr>
        <p:txBody>
          <a:bodyPr/>
          <a:lstStyle>
            <a:lvl1pPr marL="0" indent="0">
              <a:spcAft>
                <a:spcPts val="0"/>
              </a:spcAft>
              <a:buNone/>
              <a:defRPr sz="2700">
                <a:solidFill>
                  <a:srgbClr val="CFA595"/>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sp>
        <p:nvSpPr>
          <p:cNvPr id="19" name="Espace réservé du texte 18">
            <a:extLst>
              <a:ext uri="{FF2B5EF4-FFF2-40B4-BE49-F238E27FC236}">
                <a16:creationId xmlns:a16="http://schemas.microsoft.com/office/drawing/2014/main" id="{70F73260-667B-8ABB-D758-D2BE39806107}"/>
              </a:ext>
            </a:extLst>
          </p:cNvPr>
          <p:cNvSpPr>
            <a:spLocks noGrp="1"/>
          </p:cNvSpPr>
          <p:nvPr>
            <p:ph type="body" sz="quarter" idx="16" hasCustomPrompt="1"/>
          </p:nvPr>
        </p:nvSpPr>
        <p:spPr bwMode="gray">
          <a:xfrm>
            <a:off x="7327112" y="1909575"/>
            <a:ext cx="4559488" cy="3804006"/>
          </a:xfrm>
          <a:custGeom>
            <a:avLst/>
            <a:gdLst>
              <a:gd name="connsiteX0" fmla="*/ 0 w 6084000"/>
              <a:gd name="connsiteY0" fmla="*/ 0 h 5914428"/>
              <a:gd name="connsiteX1" fmla="*/ 6084000 w 6084000"/>
              <a:gd name="connsiteY1" fmla="*/ 0 h 5914428"/>
              <a:gd name="connsiteX2" fmla="*/ 6084000 w 6084000"/>
              <a:gd name="connsiteY2" fmla="*/ 5914428 h 5914428"/>
              <a:gd name="connsiteX3" fmla="*/ 0 w 6084000"/>
              <a:gd name="connsiteY3" fmla="*/ 5914428 h 5914428"/>
            </a:gdLst>
            <a:ahLst/>
            <a:cxnLst>
              <a:cxn ang="0">
                <a:pos x="connsiteX0" y="connsiteY0"/>
              </a:cxn>
              <a:cxn ang="0">
                <a:pos x="connsiteX1" y="connsiteY1"/>
              </a:cxn>
              <a:cxn ang="0">
                <a:pos x="connsiteX2" y="connsiteY2"/>
              </a:cxn>
              <a:cxn ang="0">
                <a:pos x="connsiteX3" y="connsiteY3"/>
              </a:cxn>
            </a:cxnLst>
            <a:rect l="l" t="t" r="r" b="b"/>
            <a:pathLst>
              <a:path w="6084000" h="5914428">
                <a:moveTo>
                  <a:pt x="0" y="0"/>
                </a:moveTo>
                <a:lnTo>
                  <a:pt x="6084000" y="0"/>
                </a:lnTo>
                <a:lnTo>
                  <a:pt x="6084000" y="5914428"/>
                </a:lnTo>
                <a:lnTo>
                  <a:pt x="0" y="5914428"/>
                </a:lnTo>
                <a:close/>
              </a:path>
            </a:pathLst>
          </a:custGeom>
          <a:noFill/>
        </p:spPr>
        <p:txBody>
          <a:bodyPr wrap="square" lIns="0" tIns="0">
            <a:normAutofit/>
          </a:bodyPr>
          <a:lstStyle>
            <a:lvl1pPr marL="0" indent="0">
              <a:spcAft>
                <a:spcPts val="0"/>
              </a:spcAft>
              <a:buNone/>
              <a:defRPr sz="41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pic>
        <p:nvPicPr>
          <p:cNvPr id="7" name="Image 6" descr="Une image contenant Police, Graphique, capture d’écran, logo&#10;&#10;Description générée automatiquement">
            <a:extLst>
              <a:ext uri="{FF2B5EF4-FFF2-40B4-BE49-F238E27FC236}">
                <a16:creationId xmlns:a16="http://schemas.microsoft.com/office/drawing/2014/main" id="{8483B3F0-F057-B7D4-DD9C-CDC9B00E35FC}"/>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383495694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2">
          <p15:clr>
            <a:srgbClr val="FBAE4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1_Graphique+texte_diptyque_ros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D8A0BBC-87C1-9EAA-905D-667B3503DD01}"/>
              </a:ext>
            </a:extLst>
          </p:cNvPr>
          <p:cNvSpPr/>
          <p:nvPr userDrawn="1"/>
        </p:nvSpPr>
        <p:spPr bwMode="gray">
          <a:xfrm>
            <a:off x="6108000" y="327095"/>
            <a:ext cx="5731200" cy="5914800"/>
          </a:xfrm>
          <a:prstGeom prst="rect">
            <a:avLst/>
          </a:prstGeom>
          <a:solidFill>
            <a:srgbClr val="CFA59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FD768BBB-4837-52E2-7BD0-7D518CA47FF7}"/>
              </a:ext>
            </a:extLst>
          </p:cNvPr>
          <p:cNvSpPr>
            <a:spLocks noGrp="1"/>
          </p:cNvSpPr>
          <p:nvPr>
            <p:ph type="title" hasCustomPrompt="1"/>
          </p:nvPr>
        </p:nvSpPr>
        <p:spPr bwMode="gray">
          <a:xfrm>
            <a:off x="305400" y="410400"/>
            <a:ext cx="51876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90D741DC-727E-13C0-2600-FC0CD0B38D22}"/>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5084F18-B1B3-6A44-A46D-453F1D1896EB}"/>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E7C62B9-E5CF-FEC3-B21C-266ACBD20537}"/>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graphique 16">
            <a:extLst>
              <a:ext uri="{FF2B5EF4-FFF2-40B4-BE49-F238E27FC236}">
                <a16:creationId xmlns:a16="http://schemas.microsoft.com/office/drawing/2014/main" id="{28EEB7A5-AFA7-58FC-32DE-2F2F2254BB13}"/>
              </a:ext>
            </a:extLst>
          </p:cNvPr>
          <p:cNvSpPr>
            <a:spLocks noGrp="1"/>
          </p:cNvSpPr>
          <p:nvPr>
            <p:ph type="chart" sz="quarter" idx="18" hasCustomPrompt="1"/>
          </p:nvPr>
        </p:nvSpPr>
        <p:spPr bwMode="gray">
          <a:xfrm>
            <a:off x="989833" y="1783603"/>
            <a:ext cx="4096371" cy="4392408"/>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9" name="Espace réservé du texte 8">
            <a:extLst>
              <a:ext uri="{FF2B5EF4-FFF2-40B4-BE49-F238E27FC236}">
                <a16:creationId xmlns:a16="http://schemas.microsoft.com/office/drawing/2014/main" id="{3964A26B-A8B3-B604-E0F1-3B018D194BE3}"/>
              </a:ext>
            </a:extLst>
          </p:cNvPr>
          <p:cNvSpPr>
            <a:spLocks noGrp="1"/>
          </p:cNvSpPr>
          <p:nvPr>
            <p:ph type="body" sz="quarter" idx="19" hasCustomPrompt="1"/>
          </p:nvPr>
        </p:nvSpPr>
        <p:spPr bwMode="gray">
          <a:xfrm>
            <a:off x="532006" y="1346504"/>
            <a:ext cx="4653968" cy="377146"/>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7" name="Espace réservé du texte 8">
            <a:extLst>
              <a:ext uri="{FF2B5EF4-FFF2-40B4-BE49-F238E27FC236}">
                <a16:creationId xmlns:a16="http://schemas.microsoft.com/office/drawing/2014/main" id="{E506AE39-A715-C12E-4D9F-7A3455AB88B3}"/>
              </a:ext>
            </a:extLst>
          </p:cNvPr>
          <p:cNvSpPr>
            <a:spLocks noGrp="1"/>
          </p:cNvSpPr>
          <p:nvPr>
            <p:ph type="body" sz="quarter" idx="20" hasCustomPrompt="1"/>
          </p:nvPr>
        </p:nvSpPr>
        <p:spPr bwMode="gray">
          <a:xfrm>
            <a:off x="6648830" y="1118619"/>
            <a:ext cx="4386281" cy="1626305"/>
          </a:xfrm>
          <a:noFill/>
        </p:spPr>
        <p:txBody>
          <a:bodyPr lIns="0" tIns="0" rIns="0"/>
          <a:lstStyle>
            <a:lvl1pPr marL="0" indent="0" algn="r">
              <a:lnSpc>
                <a:spcPct val="100000"/>
              </a:lnSpc>
              <a:spcAft>
                <a:spcPts val="0"/>
              </a:spcAft>
              <a:buNone/>
              <a:defRPr sz="11100">
                <a:solidFill>
                  <a:schemeClr val="tx2"/>
                </a:solidFill>
                <a:latin typeface="+mj-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00%</a:t>
            </a:r>
          </a:p>
        </p:txBody>
      </p:sp>
      <p:sp>
        <p:nvSpPr>
          <p:cNvPr id="11" name="Espace réservé du texte 8">
            <a:extLst>
              <a:ext uri="{FF2B5EF4-FFF2-40B4-BE49-F238E27FC236}">
                <a16:creationId xmlns:a16="http://schemas.microsoft.com/office/drawing/2014/main" id="{463598C1-64BB-D489-C803-1BC4F7604BAE}"/>
              </a:ext>
            </a:extLst>
          </p:cNvPr>
          <p:cNvSpPr>
            <a:spLocks noGrp="1"/>
          </p:cNvSpPr>
          <p:nvPr>
            <p:ph type="body" sz="quarter" idx="21" hasCustomPrompt="1"/>
          </p:nvPr>
        </p:nvSpPr>
        <p:spPr bwMode="gray">
          <a:xfrm>
            <a:off x="6648830" y="2554860"/>
            <a:ext cx="4386281" cy="683741"/>
          </a:xfrm>
          <a:noFill/>
        </p:spPr>
        <p:txBody>
          <a:bodyPr lIns="0" tIns="0" rIns="0">
            <a:normAutofit/>
          </a:bodyPr>
          <a:lstStyle>
            <a:lvl1pPr marL="0" indent="0" algn="r">
              <a:lnSpc>
                <a:spcPct val="100000"/>
              </a:lnSpc>
              <a:spcAft>
                <a:spcPts val="0"/>
              </a:spcAft>
              <a:buNone/>
              <a:defRPr sz="250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en 2021</a:t>
            </a:r>
          </a:p>
        </p:txBody>
      </p:sp>
      <p:sp>
        <p:nvSpPr>
          <p:cNvPr id="12" name="Espace réservé du texte 8">
            <a:extLst>
              <a:ext uri="{FF2B5EF4-FFF2-40B4-BE49-F238E27FC236}">
                <a16:creationId xmlns:a16="http://schemas.microsoft.com/office/drawing/2014/main" id="{0610C7A3-659A-6DD6-34B9-1A56568C39D3}"/>
              </a:ext>
            </a:extLst>
          </p:cNvPr>
          <p:cNvSpPr>
            <a:spLocks noGrp="1"/>
          </p:cNvSpPr>
          <p:nvPr>
            <p:ph type="body" sz="quarter" idx="22" hasCustomPrompt="1"/>
          </p:nvPr>
        </p:nvSpPr>
        <p:spPr bwMode="gray">
          <a:xfrm>
            <a:off x="6648830" y="2930796"/>
            <a:ext cx="4386281" cy="876185"/>
          </a:xfrm>
          <a:noFill/>
        </p:spPr>
        <p:txBody>
          <a:bodyPr lIns="0" tIns="0" rIns="0">
            <a:normAutofit/>
          </a:bodyPr>
          <a:lstStyle>
            <a:lvl1pPr marL="0" indent="0" algn="r">
              <a:lnSpc>
                <a:spcPct val="100000"/>
              </a:lnSpc>
              <a:spcAft>
                <a:spcPts val="0"/>
              </a:spcAft>
              <a:buNone/>
              <a:defRPr sz="4500" b="1"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+34%</a:t>
            </a:r>
          </a:p>
        </p:txBody>
      </p:sp>
      <p:sp>
        <p:nvSpPr>
          <p:cNvPr id="13" name="Espace réservé du texte 8">
            <a:extLst>
              <a:ext uri="{FF2B5EF4-FFF2-40B4-BE49-F238E27FC236}">
                <a16:creationId xmlns:a16="http://schemas.microsoft.com/office/drawing/2014/main" id="{90F8CC21-ACE8-81BE-9270-CE3B0787E14E}"/>
              </a:ext>
            </a:extLst>
          </p:cNvPr>
          <p:cNvSpPr>
            <a:spLocks noGrp="1"/>
          </p:cNvSpPr>
          <p:nvPr>
            <p:ph type="body" sz="quarter" idx="23" hasCustomPrompt="1"/>
          </p:nvPr>
        </p:nvSpPr>
        <p:spPr bwMode="gray">
          <a:xfrm>
            <a:off x="6648832" y="4401108"/>
            <a:ext cx="4739756" cy="1548172"/>
          </a:xfrm>
          <a:noFill/>
        </p:spPr>
        <p:txBody>
          <a:bodyPr lIns="0" tIns="0" rIns="0">
            <a:normAutofit/>
          </a:bodyPr>
          <a:lstStyle>
            <a:lvl1pPr marL="0" indent="0" algn="l">
              <a:lnSpc>
                <a:spcPct val="100000"/>
              </a:lnSpc>
              <a:spcAft>
                <a:spcPts val="0"/>
              </a:spcAft>
              <a:buNone/>
              <a:defRPr sz="2700" baseline="0">
                <a:solidFill>
                  <a:schemeClr val="tx2"/>
                </a:solidFill>
                <a:latin typeface="+mn-lt"/>
              </a:defRPr>
            </a:lvl1pPr>
            <a:lvl2pPr marL="0" indent="0" algn="r">
              <a:lnSpc>
                <a:spcPct val="70000"/>
              </a:lnSpc>
              <a:spcAft>
                <a:spcPts val="0"/>
              </a:spcAft>
              <a:buNone/>
              <a:defRPr sz="2500"/>
            </a:lvl2pPr>
            <a:lvl3pPr marL="0" indent="0" algn="r">
              <a:spcBef>
                <a:spcPts val="0"/>
              </a:spcBef>
              <a:spcAft>
                <a:spcPts val="6200"/>
              </a:spcAft>
              <a:buNone/>
              <a:defRPr sz="4500" b="1">
                <a:latin typeface="Quicksand" pitchFamily="2" charset="0"/>
              </a:defRPr>
            </a:lvl3pPr>
            <a:lvl4pPr marL="0" indent="0" algn="l">
              <a:spcBef>
                <a:spcPts val="0"/>
              </a:spcBef>
              <a:spcAft>
                <a:spcPts val="0"/>
              </a:spcAft>
              <a:buNone/>
              <a:defRPr sz="2700"/>
            </a:lvl4pPr>
            <a:lvl5pPr marL="0" indent="0">
              <a:buFont typeface="Arial" panose="020B0604020202020204" pitchFamily="34" charset="0"/>
              <a:buNone/>
              <a:defRPr/>
            </a:lvl5pPr>
          </a:lstStyle>
          <a:p>
            <a:pPr lvl="0"/>
            <a:r>
              <a:rPr lang="fr-FR"/>
              <a:t>Lorem</a:t>
            </a:r>
          </a:p>
        </p:txBody>
      </p:sp>
    </p:spTree>
    <p:extLst>
      <p:ext uri="{BB962C8B-B14F-4D97-AF65-F5344CB8AC3E}">
        <p14:creationId xmlns:p14="http://schemas.microsoft.com/office/powerpoint/2010/main" val="165857527"/>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1_Texte_fond_bleu">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533FD1FC-57C3-511B-C3F2-5AE5EF02655F}"/>
              </a:ext>
            </a:extLst>
          </p:cNvPr>
          <p:cNvSpPr/>
          <p:nvPr userDrawn="1"/>
        </p:nvSpPr>
        <p:spPr bwMode="gray">
          <a:xfrm>
            <a:off x="0" y="-3"/>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6" name="Forme libre : forme 5">
            <a:extLst>
              <a:ext uri="{FF2B5EF4-FFF2-40B4-BE49-F238E27FC236}">
                <a16:creationId xmlns:a16="http://schemas.microsoft.com/office/drawing/2014/main" id="{011B3D30-DC43-374E-5535-CB1320298A91}"/>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780BF2C2-E91E-A9A1-4E1F-8898AE3B9BDA}"/>
              </a:ext>
            </a:extLst>
          </p:cNvPr>
          <p:cNvSpPr>
            <a:spLocks noGrp="1"/>
          </p:cNvSpPr>
          <p:nvPr>
            <p:ph type="title" hasCustomPrompt="1"/>
          </p:nvPr>
        </p:nvSpPr>
        <p:spPr bwMode="gray">
          <a:xfrm>
            <a:off x="558000" y="260649"/>
            <a:ext cx="11336337" cy="936104"/>
          </a:xfrm>
        </p:spPr>
        <p:txBody>
          <a:bodyPr/>
          <a:lstStyle>
            <a:lvl1pPr>
              <a:defRPr>
                <a:solidFill>
                  <a:schemeClr val="bg1"/>
                </a:solidFill>
              </a:defRPr>
            </a:lvl1pPr>
          </a:lstStyle>
          <a:p>
            <a:r>
              <a:rPr lang="fr-FR"/>
              <a:t>Titre de la slide</a:t>
            </a:r>
          </a:p>
        </p:txBody>
      </p:sp>
      <p:sp>
        <p:nvSpPr>
          <p:cNvPr id="3" name="Espace réservé de la date 2">
            <a:extLst>
              <a:ext uri="{FF2B5EF4-FFF2-40B4-BE49-F238E27FC236}">
                <a16:creationId xmlns:a16="http://schemas.microsoft.com/office/drawing/2014/main" id="{F371A5EF-FC56-4AE7-8438-57101A95FF46}"/>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D5445277-D3A3-375F-5FBF-1D7B3355615C}"/>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60F0743D-B1AB-4C4D-CAB1-BFEC14D9F758}"/>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14" name="Espace réservé du texte 13">
            <a:extLst>
              <a:ext uri="{FF2B5EF4-FFF2-40B4-BE49-F238E27FC236}">
                <a16:creationId xmlns:a16="http://schemas.microsoft.com/office/drawing/2014/main" id="{33C1D83F-4518-0F1F-5C94-91CF98C439E2}"/>
              </a:ext>
            </a:extLst>
          </p:cNvPr>
          <p:cNvSpPr>
            <a:spLocks noGrp="1"/>
          </p:cNvSpPr>
          <p:nvPr>
            <p:ph type="body" sz="quarter" idx="13" hasCustomPrompt="1"/>
          </p:nvPr>
        </p:nvSpPr>
        <p:spPr bwMode="gray">
          <a:xfrm>
            <a:off x="558000" y="1843087"/>
            <a:ext cx="11336337" cy="3419475"/>
          </a:xfrm>
        </p:spPr>
        <p:txBody>
          <a:bodyPr/>
          <a:lstStyle>
            <a:lvl1pPr marL="0" indent="0">
              <a:spcAft>
                <a:spcPts val="0"/>
              </a:spcAft>
              <a:buNone/>
              <a:defRPr sz="2800" b="0">
                <a:solidFill>
                  <a:schemeClr val="bg1"/>
                </a:solidFill>
                <a:latin typeface="+mn-lt"/>
              </a:defRPr>
            </a:lvl1pPr>
          </a:lstStyle>
          <a:p>
            <a:pPr lvl="0"/>
            <a:r>
              <a:rPr lang="fr-FR"/>
              <a:t>Texte</a:t>
            </a:r>
          </a:p>
        </p:txBody>
      </p:sp>
      <p:pic>
        <p:nvPicPr>
          <p:cNvPr id="8" name="Image 7" descr="Une image contenant Police, Graphique, capture d’écran, logo&#10;&#10;Description générée automatiquement">
            <a:extLst>
              <a:ext uri="{FF2B5EF4-FFF2-40B4-BE49-F238E27FC236}">
                <a16:creationId xmlns:a16="http://schemas.microsoft.com/office/drawing/2014/main" id="{11C34A29-1B60-68E5-9EC9-3AE10F50BDDF}"/>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7361681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46">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userDrawn="1">
  <p:cSld name="5_colonnes_blanc">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207C38-CFF2-B60A-8583-AE7851E43C9C}"/>
              </a:ext>
            </a:extLst>
          </p:cNvPr>
          <p:cNvSpPr>
            <a:spLocks noGrp="1"/>
          </p:cNvSpPr>
          <p:nvPr>
            <p:ph type="title" hasCustomPrompt="1"/>
          </p:nvPr>
        </p:nvSpPr>
        <p:spPr bwMode="gray">
          <a:xfrm>
            <a:off x="305400" y="175128"/>
            <a:ext cx="11581200" cy="936104"/>
          </a:xfrm>
        </p:spPr>
        <p:txBody>
          <a:bodyPr anchor="b" anchorCtr="0"/>
          <a:lstStyle/>
          <a:p>
            <a:r>
              <a:rPr lang="fr-FR"/>
              <a:t>Titre de la slide</a:t>
            </a:r>
          </a:p>
        </p:txBody>
      </p:sp>
      <p:sp>
        <p:nvSpPr>
          <p:cNvPr id="3" name="Espace réservé de la date 2">
            <a:extLst>
              <a:ext uri="{FF2B5EF4-FFF2-40B4-BE49-F238E27FC236}">
                <a16:creationId xmlns:a16="http://schemas.microsoft.com/office/drawing/2014/main" id="{897A21F7-80E6-3A11-B563-C2AF08C02A2B}"/>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81342479-20D3-5B6C-320C-D2408C58639D}"/>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BBBF0267-7683-C493-0935-F86241AE0274}"/>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8C06A395-38C2-EA98-FD0F-1F08DC005BD8}"/>
              </a:ext>
            </a:extLst>
          </p:cNvPr>
          <p:cNvSpPr>
            <a:spLocks noGrp="1"/>
          </p:cNvSpPr>
          <p:nvPr>
            <p:ph type="body" sz="quarter" idx="13" hasCustomPrompt="1"/>
          </p:nvPr>
        </p:nvSpPr>
        <p:spPr bwMode="gray">
          <a:xfrm>
            <a:off x="305400" y="1160749"/>
            <a:ext cx="11581200" cy="576064"/>
          </a:xfrm>
        </p:spPr>
        <p:txBody>
          <a:bodyPr/>
          <a:lstStyle>
            <a:lvl1pPr marL="0" indent="0">
              <a:spcAft>
                <a:spcPts val="0"/>
              </a:spcAft>
              <a:buNone/>
              <a:defRPr sz="2400"/>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Sous-titre de la slide</a:t>
            </a:r>
          </a:p>
        </p:txBody>
      </p:sp>
      <p:sp>
        <p:nvSpPr>
          <p:cNvPr id="22" name="Espace réservé du texte 8">
            <a:extLst>
              <a:ext uri="{FF2B5EF4-FFF2-40B4-BE49-F238E27FC236}">
                <a16:creationId xmlns:a16="http://schemas.microsoft.com/office/drawing/2014/main" id="{330A8D6A-6321-9B6E-83E3-A3B0A5529263}"/>
              </a:ext>
            </a:extLst>
          </p:cNvPr>
          <p:cNvSpPr>
            <a:spLocks noGrp="1"/>
          </p:cNvSpPr>
          <p:nvPr>
            <p:ph type="body" sz="quarter" idx="15" hasCustomPrompt="1"/>
          </p:nvPr>
        </p:nvSpPr>
        <p:spPr bwMode="gray">
          <a:xfrm>
            <a:off x="305400" y="1736812"/>
            <a:ext cx="2772308" cy="4536503"/>
          </a:xfrm>
          <a:no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23" name="Espace réservé du texte 8">
            <a:extLst>
              <a:ext uri="{FF2B5EF4-FFF2-40B4-BE49-F238E27FC236}">
                <a16:creationId xmlns:a16="http://schemas.microsoft.com/office/drawing/2014/main" id="{B19C11CB-69C2-8F9D-7684-0E6C67433358}"/>
              </a:ext>
            </a:extLst>
          </p:cNvPr>
          <p:cNvSpPr>
            <a:spLocks noGrp="1"/>
          </p:cNvSpPr>
          <p:nvPr>
            <p:ph type="body" sz="quarter" idx="14" hasCustomPrompt="1"/>
          </p:nvPr>
        </p:nvSpPr>
        <p:spPr bwMode="gray">
          <a:xfrm>
            <a:off x="557553"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cxnSp>
        <p:nvCxnSpPr>
          <p:cNvPr id="24" name="Connecteur droit 23">
            <a:extLst>
              <a:ext uri="{FF2B5EF4-FFF2-40B4-BE49-F238E27FC236}">
                <a16:creationId xmlns:a16="http://schemas.microsoft.com/office/drawing/2014/main" id="{04606956-3A50-31D6-7C39-AA1EE273AA0B}"/>
              </a:ext>
            </a:extLst>
          </p:cNvPr>
          <p:cNvCxnSpPr>
            <a:cxnSpLocks/>
          </p:cNvCxnSpPr>
          <p:nvPr userDrawn="1"/>
        </p:nvCxnSpPr>
        <p:spPr bwMode="gray">
          <a:xfrm>
            <a:off x="557554"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25" name="Espace réservé du texte 8">
            <a:extLst>
              <a:ext uri="{FF2B5EF4-FFF2-40B4-BE49-F238E27FC236}">
                <a16:creationId xmlns:a16="http://schemas.microsoft.com/office/drawing/2014/main" id="{056B041E-2CC3-FF99-087D-DFEB3DD1F69B}"/>
              </a:ext>
            </a:extLst>
          </p:cNvPr>
          <p:cNvSpPr>
            <a:spLocks noGrp="1"/>
          </p:cNvSpPr>
          <p:nvPr>
            <p:ph type="body" sz="quarter" idx="16" hasCustomPrompt="1"/>
          </p:nvPr>
        </p:nvSpPr>
        <p:spPr bwMode="gray">
          <a:xfrm>
            <a:off x="3241697" y="1736812"/>
            <a:ext cx="2772308" cy="4536503"/>
          </a:xfrm>
          <a:no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26" name="Espace réservé du texte 8">
            <a:extLst>
              <a:ext uri="{FF2B5EF4-FFF2-40B4-BE49-F238E27FC236}">
                <a16:creationId xmlns:a16="http://schemas.microsoft.com/office/drawing/2014/main" id="{459E6B6A-CBF2-0181-D963-41346F1C0C33}"/>
              </a:ext>
            </a:extLst>
          </p:cNvPr>
          <p:cNvSpPr>
            <a:spLocks noGrp="1"/>
          </p:cNvSpPr>
          <p:nvPr>
            <p:ph type="body" sz="quarter" idx="17" hasCustomPrompt="1"/>
          </p:nvPr>
        </p:nvSpPr>
        <p:spPr bwMode="gray">
          <a:xfrm>
            <a:off x="3493850"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cxnSp>
        <p:nvCxnSpPr>
          <p:cNvPr id="27" name="Connecteur droit 26">
            <a:extLst>
              <a:ext uri="{FF2B5EF4-FFF2-40B4-BE49-F238E27FC236}">
                <a16:creationId xmlns:a16="http://schemas.microsoft.com/office/drawing/2014/main" id="{FDAD54A6-5B39-30D1-9281-17FD26A21E3B}"/>
              </a:ext>
            </a:extLst>
          </p:cNvPr>
          <p:cNvCxnSpPr>
            <a:cxnSpLocks/>
          </p:cNvCxnSpPr>
          <p:nvPr userDrawn="1"/>
        </p:nvCxnSpPr>
        <p:spPr bwMode="gray">
          <a:xfrm>
            <a:off x="3493851"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28" name="Espace réservé du texte 8">
            <a:extLst>
              <a:ext uri="{FF2B5EF4-FFF2-40B4-BE49-F238E27FC236}">
                <a16:creationId xmlns:a16="http://schemas.microsoft.com/office/drawing/2014/main" id="{2FC025D6-9EFC-E637-07DB-03F1725D8D79}"/>
              </a:ext>
            </a:extLst>
          </p:cNvPr>
          <p:cNvSpPr>
            <a:spLocks noGrp="1"/>
          </p:cNvSpPr>
          <p:nvPr>
            <p:ph type="body" sz="quarter" idx="18" hasCustomPrompt="1"/>
          </p:nvPr>
        </p:nvSpPr>
        <p:spPr bwMode="gray">
          <a:xfrm>
            <a:off x="6177994" y="1736812"/>
            <a:ext cx="2772308" cy="4536503"/>
          </a:xfrm>
          <a:no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29" name="Espace réservé du texte 8">
            <a:extLst>
              <a:ext uri="{FF2B5EF4-FFF2-40B4-BE49-F238E27FC236}">
                <a16:creationId xmlns:a16="http://schemas.microsoft.com/office/drawing/2014/main" id="{A4BC17A6-B8B0-EC2C-7593-01839A167B3F}"/>
              </a:ext>
            </a:extLst>
          </p:cNvPr>
          <p:cNvSpPr>
            <a:spLocks noGrp="1"/>
          </p:cNvSpPr>
          <p:nvPr>
            <p:ph type="body" sz="quarter" idx="19" hasCustomPrompt="1"/>
          </p:nvPr>
        </p:nvSpPr>
        <p:spPr bwMode="gray">
          <a:xfrm>
            <a:off x="6430147"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cxnSp>
        <p:nvCxnSpPr>
          <p:cNvPr id="30" name="Connecteur droit 29">
            <a:extLst>
              <a:ext uri="{FF2B5EF4-FFF2-40B4-BE49-F238E27FC236}">
                <a16:creationId xmlns:a16="http://schemas.microsoft.com/office/drawing/2014/main" id="{DAD01ABD-5713-8ABA-80B6-CBC3467239A7}"/>
              </a:ext>
            </a:extLst>
          </p:cNvPr>
          <p:cNvCxnSpPr>
            <a:cxnSpLocks/>
          </p:cNvCxnSpPr>
          <p:nvPr userDrawn="1"/>
        </p:nvCxnSpPr>
        <p:spPr bwMode="gray">
          <a:xfrm>
            <a:off x="6430148"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31" name="Espace réservé du texte 8">
            <a:extLst>
              <a:ext uri="{FF2B5EF4-FFF2-40B4-BE49-F238E27FC236}">
                <a16:creationId xmlns:a16="http://schemas.microsoft.com/office/drawing/2014/main" id="{2D46E0CA-C26B-A542-2C15-2F7960F97DC7}"/>
              </a:ext>
            </a:extLst>
          </p:cNvPr>
          <p:cNvSpPr>
            <a:spLocks noGrp="1"/>
          </p:cNvSpPr>
          <p:nvPr>
            <p:ph type="body" sz="quarter" idx="20" hasCustomPrompt="1"/>
          </p:nvPr>
        </p:nvSpPr>
        <p:spPr bwMode="gray">
          <a:xfrm>
            <a:off x="9114292" y="1736812"/>
            <a:ext cx="2772308" cy="4536503"/>
          </a:xfrm>
          <a:noFill/>
        </p:spPr>
        <p:txBody>
          <a:bodyPr lIns="252000" tIns="720000" rIns="144000">
            <a:normAutofit/>
          </a:bodyPr>
          <a:lstStyle>
            <a:lvl1pPr marL="0" indent="0">
              <a:spcAft>
                <a:spcPts val="0"/>
              </a:spcAft>
              <a:buNone/>
              <a:defRPr sz="18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Texte</a:t>
            </a:r>
          </a:p>
        </p:txBody>
      </p:sp>
      <p:sp>
        <p:nvSpPr>
          <p:cNvPr id="32" name="Espace réservé du texte 8">
            <a:extLst>
              <a:ext uri="{FF2B5EF4-FFF2-40B4-BE49-F238E27FC236}">
                <a16:creationId xmlns:a16="http://schemas.microsoft.com/office/drawing/2014/main" id="{F3E697B4-76C4-0EE1-3DF5-5E26B99C565B}"/>
              </a:ext>
            </a:extLst>
          </p:cNvPr>
          <p:cNvSpPr>
            <a:spLocks noGrp="1"/>
          </p:cNvSpPr>
          <p:nvPr>
            <p:ph type="body" sz="quarter" idx="21" hasCustomPrompt="1"/>
          </p:nvPr>
        </p:nvSpPr>
        <p:spPr bwMode="gray">
          <a:xfrm>
            <a:off x="9366445" y="1898844"/>
            <a:ext cx="2268000" cy="432048"/>
          </a:xfrm>
        </p:spPr>
        <p:txBody>
          <a:bodyPr/>
          <a:lstStyle>
            <a:lvl1pPr marL="0" indent="0">
              <a:spcAft>
                <a:spcPts val="0"/>
              </a:spcAft>
              <a:buNone/>
              <a:defRPr sz="2000">
                <a:solidFill>
                  <a:schemeClr val="tx2"/>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cxnSp>
        <p:nvCxnSpPr>
          <p:cNvPr id="33" name="Connecteur droit 32">
            <a:extLst>
              <a:ext uri="{FF2B5EF4-FFF2-40B4-BE49-F238E27FC236}">
                <a16:creationId xmlns:a16="http://schemas.microsoft.com/office/drawing/2014/main" id="{8D63F7E6-A751-29BC-A9F6-C884923CFFD3}"/>
              </a:ext>
            </a:extLst>
          </p:cNvPr>
          <p:cNvCxnSpPr>
            <a:cxnSpLocks/>
          </p:cNvCxnSpPr>
          <p:nvPr userDrawn="1"/>
        </p:nvCxnSpPr>
        <p:spPr bwMode="gray">
          <a:xfrm>
            <a:off x="9366446" y="2320890"/>
            <a:ext cx="2268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422676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userDrawn="1">
  <p:cSld name="1_Texte+graphique_fond_bleu">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A26079A7-FDB3-A0D7-4249-4B5DC6628771}"/>
              </a:ext>
            </a:extLst>
          </p:cNvPr>
          <p:cNvSpPr/>
          <p:nvPr userDrawn="1"/>
        </p:nvSpPr>
        <p:spPr bwMode="gray">
          <a:xfrm>
            <a:off x="0" y="-3"/>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6" name="Forme libre : forme 5">
            <a:extLst>
              <a:ext uri="{FF2B5EF4-FFF2-40B4-BE49-F238E27FC236}">
                <a16:creationId xmlns:a16="http://schemas.microsoft.com/office/drawing/2014/main" id="{09D28A79-8AF8-0398-A71C-DFD791DD103F}"/>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BBEA0804-E122-C17C-893D-4790E3C1A6DE}"/>
              </a:ext>
            </a:extLst>
          </p:cNvPr>
          <p:cNvSpPr>
            <a:spLocks noGrp="1"/>
          </p:cNvSpPr>
          <p:nvPr>
            <p:ph type="title" hasCustomPrompt="1"/>
          </p:nvPr>
        </p:nvSpPr>
        <p:spPr bwMode="gray">
          <a:xfrm>
            <a:off x="558000" y="410400"/>
            <a:ext cx="5187600" cy="936104"/>
          </a:xfrm>
        </p:spPr>
        <p:txBody>
          <a:bodyPr/>
          <a:lstStyle>
            <a:lvl1pPr>
              <a:defRPr>
                <a:solidFill>
                  <a:schemeClr val="bg1"/>
                </a:solidFill>
              </a:defRPr>
            </a:lvl1pPr>
          </a:lstStyle>
          <a:p>
            <a:r>
              <a:rPr lang="fr-FR"/>
              <a:t>Titre de la slide</a:t>
            </a:r>
          </a:p>
        </p:txBody>
      </p:sp>
      <p:sp>
        <p:nvSpPr>
          <p:cNvPr id="3" name="Espace réservé de la date 2">
            <a:extLst>
              <a:ext uri="{FF2B5EF4-FFF2-40B4-BE49-F238E27FC236}">
                <a16:creationId xmlns:a16="http://schemas.microsoft.com/office/drawing/2014/main" id="{58B5448A-9A45-995F-2BCA-BA97847CB905}"/>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E2FF19B5-2610-49B3-35F3-BE4F60653795}"/>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C9F756EE-39B0-6BA1-3C16-25428C4ECE4F}"/>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74B593AE-2ADC-7A1B-C66E-521AB8BB8F1B}"/>
              </a:ext>
            </a:extLst>
          </p:cNvPr>
          <p:cNvSpPr>
            <a:spLocks noGrp="1"/>
          </p:cNvSpPr>
          <p:nvPr>
            <p:ph type="body" sz="quarter" idx="14" hasCustomPrompt="1"/>
          </p:nvPr>
        </p:nvSpPr>
        <p:spPr bwMode="gray">
          <a:xfrm>
            <a:off x="558000" y="1673593"/>
            <a:ext cx="5187600" cy="3708412"/>
          </a:xfrm>
        </p:spPr>
        <p:txBody>
          <a:bodyPr/>
          <a:lstStyle>
            <a:lvl1pPr marL="0" indent="0">
              <a:spcAft>
                <a:spcPts val="0"/>
              </a:spcAft>
              <a:buNone/>
              <a:defRPr sz="2700">
                <a:solidFill>
                  <a:schemeClr val="bg1"/>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Lorem</a:t>
            </a:r>
          </a:p>
        </p:txBody>
      </p:sp>
      <p:sp>
        <p:nvSpPr>
          <p:cNvPr id="10" name="Espace réservé du texte 8">
            <a:extLst>
              <a:ext uri="{FF2B5EF4-FFF2-40B4-BE49-F238E27FC236}">
                <a16:creationId xmlns:a16="http://schemas.microsoft.com/office/drawing/2014/main" id="{A4E9A1E8-9B90-13C7-0A9B-2A907058CA68}"/>
              </a:ext>
            </a:extLst>
          </p:cNvPr>
          <p:cNvSpPr>
            <a:spLocks noGrp="1"/>
          </p:cNvSpPr>
          <p:nvPr>
            <p:ph type="body" sz="quarter" idx="19" hasCustomPrompt="1"/>
          </p:nvPr>
        </p:nvSpPr>
        <p:spPr bwMode="gray">
          <a:xfrm>
            <a:off x="6626609" y="1052455"/>
            <a:ext cx="4653968" cy="461076"/>
          </a:xfrm>
        </p:spPr>
        <p:txBody>
          <a:bodyPr anchor="t" anchorCtr="0"/>
          <a:lstStyle>
            <a:lvl1pPr marL="0" indent="0">
              <a:spcAft>
                <a:spcPts val="0"/>
              </a:spcAft>
              <a:buNone/>
              <a:defRPr sz="1900">
                <a:solidFill>
                  <a:schemeClr val="bg1"/>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9" name="Espace réservé du graphique 16">
            <a:extLst>
              <a:ext uri="{FF2B5EF4-FFF2-40B4-BE49-F238E27FC236}">
                <a16:creationId xmlns:a16="http://schemas.microsoft.com/office/drawing/2014/main" id="{4C7F7B8A-279A-A61A-7D6C-BF04A1FAB6AE}"/>
              </a:ext>
            </a:extLst>
          </p:cNvPr>
          <p:cNvSpPr>
            <a:spLocks noGrp="1"/>
          </p:cNvSpPr>
          <p:nvPr>
            <p:ph type="chart" sz="quarter" idx="18" hasCustomPrompt="1"/>
          </p:nvPr>
        </p:nvSpPr>
        <p:spPr bwMode="gray">
          <a:xfrm>
            <a:off x="6218244" y="1596142"/>
            <a:ext cx="4962564" cy="3636404"/>
          </a:xfrm>
        </p:spPr>
        <p:txBody>
          <a:bodyPr tIns="900000" anchor="ctr" anchorCtr="0"/>
          <a:lstStyle>
            <a:lvl1pPr marL="0" indent="0" algn="ctr">
              <a:buNone/>
              <a:defRPr sz="1000" baseline="0">
                <a:solidFill>
                  <a:schemeClr val="bg1"/>
                </a:solidFill>
                <a:latin typeface="+mj-lt"/>
              </a:defRPr>
            </a:lvl1pPr>
          </a:lstStyle>
          <a:p>
            <a:r>
              <a:rPr lang="fr-FR" noProof="0"/>
              <a:t>Sélectionner l’icône pour insérer un graphique</a:t>
            </a:r>
          </a:p>
        </p:txBody>
      </p:sp>
      <p:pic>
        <p:nvPicPr>
          <p:cNvPr id="11" name="Image 10" descr="Une image contenant Police, Graphique, capture d’écran, logo&#10;&#10;Description générée automatiquement">
            <a:extLst>
              <a:ext uri="{FF2B5EF4-FFF2-40B4-BE49-F238E27FC236}">
                <a16:creationId xmlns:a16="http://schemas.microsoft.com/office/drawing/2014/main" id="{F5BE36E0-4515-5298-E08A-2B7513454CB5}"/>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86495920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350">
          <p15:clr>
            <a:srgbClr val="FBAE4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userDrawn="1">
  <p:cSld name="1_Graphique_vertical_bande_bleu">
    <p:spTree>
      <p:nvGrpSpPr>
        <p:cNvPr id="1" name=""/>
        <p:cNvGrpSpPr/>
        <p:nvPr/>
      </p:nvGrpSpPr>
      <p:grpSpPr>
        <a:xfrm>
          <a:off x="0" y="0"/>
          <a:ext cx="0" cy="0"/>
          <a:chOff x="0" y="0"/>
          <a:chExt cx="0" cy="0"/>
        </a:xfrm>
      </p:grpSpPr>
      <p:sp>
        <p:nvSpPr>
          <p:cNvPr id="13" name="Espace réservé du texte 11">
            <a:extLst>
              <a:ext uri="{FF2B5EF4-FFF2-40B4-BE49-F238E27FC236}">
                <a16:creationId xmlns:a16="http://schemas.microsoft.com/office/drawing/2014/main" id="{BEC4805D-EDB6-E11F-B54F-F2BA5A1F682D}"/>
              </a:ext>
            </a:extLst>
          </p:cNvPr>
          <p:cNvSpPr>
            <a:spLocks noGrp="1"/>
          </p:cNvSpPr>
          <p:nvPr>
            <p:ph type="body" sz="quarter" idx="22" hasCustomPrompt="1"/>
          </p:nvPr>
        </p:nvSpPr>
        <p:spPr bwMode="gray">
          <a:xfrm>
            <a:off x="8028214" y="296652"/>
            <a:ext cx="3858385" cy="5992993"/>
          </a:xfrm>
          <a:solidFill>
            <a:schemeClr val="tx2"/>
          </a:solidFill>
        </p:spPr>
        <p:txBody>
          <a:bodyPr lIns="324000" tIns="2484000"/>
          <a:lstStyle>
            <a:lvl1pPr marL="0" indent="0">
              <a:spcAft>
                <a:spcPts val="400"/>
              </a:spcAft>
              <a:buFont typeface="Quicksand" pitchFamily="2" charset="0"/>
              <a:buNone/>
              <a:defRPr sz="2750">
                <a:solidFill>
                  <a:schemeClr val="bg1"/>
                </a:solidFill>
                <a:latin typeface="+mn-lt"/>
              </a:defRPr>
            </a:lvl1pPr>
            <a:lvl2pPr marL="0" indent="0">
              <a:spcAft>
                <a:spcPts val="0"/>
              </a:spcAft>
              <a:buFont typeface="Quicksand" pitchFamily="2" charset="0"/>
              <a:buNone/>
              <a:defRPr sz="2000">
                <a:solidFill>
                  <a:schemeClr val="bg1"/>
                </a:solidFill>
              </a:defRPr>
            </a:lvl2pPr>
            <a:lvl3pPr marL="0" indent="0">
              <a:spcBef>
                <a:spcPts val="0"/>
              </a:spcBef>
              <a:spcAft>
                <a:spcPts val="600"/>
              </a:spcAft>
              <a:buFont typeface="Wingdings" panose="05000000000000000000" pitchFamily="2" charset="2"/>
              <a:buNone/>
              <a:defRPr sz="800">
                <a:solidFill>
                  <a:schemeClr val="bg1"/>
                </a:solidFill>
              </a:defRPr>
            </a:lvl3pPr>
            <a:lvl4pPr marL="0" indent="0">
              <a:spcBef>
                <a:spcPts val="0"/>
              </a:spcBef>
              <a:spcAft>
                <a:spcPts val="0"/>
              </a:spcAft>
              <a:buFont typeface="Quicksand" pitchFamily="2" charset="0"/>
              <a:buNone/>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Titre</a:t>
            </a:r>
          </a:p>
          <a:p>
            <a:pPr lvl="1"/>
            <a:r>
              <a:rPr lang="fr-FR" noProof="0"/>
              <a:t>Texte</a:t>
            </a:r>
          </a:p>
        </p:txBody>
      </p:sp>
      <p:sp>
        <p:nvSpPr>
          <p:cNvPr id="2" name="Titre 1">
            <a:extLst>
              <a:ext uri="{FF2B5EF4-FFF2-40B4-BE49-F238E27FC236}">
                <a16:creationId xmlns:a16="http://schemas.microsoft.com/office/drawing/2014/main" id="{7127406D-DEFD-9B39-C6A9-158095B14FD4}"/>
              </a:ext>
            </a:extLst>
          </p:cNvPr>
          <p:cNvSpPr>
            <a:spLocks noGrp="1"/>
          </p:cNvSpPr>
          <p:nvPr>
            <p:ph type="title" hasCustomPrompt="1"/>
          </p:nvPr>
        </p:nvSpPr>
        <p:spPr bwMode="gray">
          <a:xfrm>
            <a:off x="305399" y="260649"/>
            <a:ext cx="7563385"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BD75B0FF-BE3C-406C-C83E-37B79B41C71E}"/>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42C1B6D2-46E0-D8E8-7834-002571566D41}"/>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BA88190F-29AA-6D6A-597E-530DAC5A2E32}"/>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8" name="Espace réservé du texte 8">
            <a:extLst>
              <a:ext uri="{FF2B5EF4-FFF2-40B4-BE49-F238E27FC236}">
                <a16:creationId xmlns:a16="http://schemas.microsoft.com/office/drawing/2014/main" id="{6CB4FB9C-E099-B170-7D4D-6641AF7C4AA8}"/>
              </a:ext>
            </a:extLst>
          </p:cNvPr>
          <p:cNvSpPr>
            <a:spLocks noGrp="1"/>
          </p:cNvSpPr>
          <p:nvPr>
            <p:ph type="body" sz="quarter" idx="19" hasCustomPrompt="1"/>
          </p:nvPr>
        </p:nvSpPr>
        <p:spPr bwMode="gray">
          <a:xfrm>
            <a:off x="532005" y="1246988"/>
            <a:ext cx="6860139" cy="327567"/>
          </a:xfrm>
        </p:spPr>
        <p:txBody>
          <a:bodyPr anchor="b" anchorCtr="0"/>
          <a:lstStyle>
            <a:lvl1pPr marL="0" indent="0">
              <a:spcAft>
                <a:spcPts val="0"/>
              </a:spcAft>
              <a:buNone/>
              <a:defRPr sz="1900">
                <a:solidFill>
                  <a:schemeClr val="tx2"/>
                </a:solidFill>
                <a:latin typeface="+mn-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 du graphique</a:t>
            </a:r>
          </a:p>
        </p:txBody>
      </p:sp>
      <p:sp>
        <p:nvSpPr>
          <p:cNvPr id="9" name="Espace réservé du graphique 16">
            <a:extLst>
              <a:ext uri="{FF2B5EF4-FFF2-40B4-BE49-F238E27FC236}">
                <a16:creationId xmlns:a16="http://schemas.microsoft.com/office/drawing/2014/main" id="{AF727415-9D7A-500A-4E8B-D21ADA5F6272}"/>
              </a:ext>
            </a:extLst>
          </p:cNvPr>
          <p:cNvSpPr>
            <a:spLocks noGrp="1"/>
          </p:cNvSpPr>
          <p:nvPr>
            <p:ph type="chart" sz="quarter" idx="18" hasCustomPrompt="1"/>
          </p:nvPr>
        </p:nvSpPr>
        <p:spPr bwMode="gray">
          <a:xfrm>
            <a:off x="532007" y="1601585"/>
            <a:ext cx="6860138" cy="3168352"/>
          </a:xfrm>
        </p:spPr>
        <p:txBody>
          <a:bodyPr tIns="900000" anchor="ctr" anchorCtr="0"/>
          <a:lstStyle>
            <a:lvl1pPr marL="0" indent="0" algn="ctr">
              <a:buNone/>
              <a:defRPr sz="1000" baseline="0">
                <a:solidFill>
                  <a:schemeClr val="tx2"/>
                </a:solidFill>
                <a:latin typeface="+mj-lt"/>
              </a:defRPr>
            </a:lvl1pPr>
          </a:lstStyle>
          <a:p>
            <a:r>
              <a:rPr lang="fr-FR" noProof="0"/>
              <a:t>Sélectionner l’icône pour insérer un graphique</a:t>
            </a:r>
          </a:p>
        </p:txBody>
      </p:sp>
      <p:sp>
        <p:nvSpPr>
          <p:cNvPr id="12" name="Espace réservé du texte 11">
            <a:extLst>
              <a:ext uri="{FF2B5EF4-FFF2-40B4-BE49-F238E27FC236}">
                <a16:creationId xmlns:a16="http://schemas.microsoft.com/office/drawing/2014/main" id="{91644929-05DE-9287-3E1B-442AEDE76C3F}"/>
              </a:ext>
            </a:extLst>
          </p:cNvPr>
          <p:cNvSpPr>
            <a:spLocks noGrp="1"/>
          </p:cNvSpPr>
          <p:nvPr>
            <p:ph type="body" sz="quarter" idx="21" hasCustomPrompt="1"/>
          </p:nvPr>
        </p:nvSpPr>
        <p:spPr bwMode="gray">
          <a:xfrm>
            <a:off x="9804412" y="1412777"/>
            <a:ext cx="2082187" cy="1296144"/>
          </a:xfrm>
          <a:noFill/>
        </p:spPr>
        <p:txBody>
          <a:bodyPr lIns="0" tIns="0" anchor="b" anchorCtr="0"/>
          <a:lstStyle>
            <a:lvl1pPr marL="0" indent="0">
              <a:lnSpc>
                <a:spcPct val="90000"/>
              </a:lnSpc>
              <a:spcAft>
                <a:spcPts val="0"/>
              </a:spcAft>
              <a:buFont typeface="Quicksand" pitchFamily="2" charset="0"/>
              <a:buNone/>
              <a:defRPr sz="3200">
                <a:solidFill>
                  <a:schemeClr val="bg1"/>
                </a:solidFill>
                <a:latin typeface="Arial" panose="020B0604020202020204" pitchFamily="34" charset="0"/>
              </a:defRPr>
            </a:lvl1pPr>
            <a:lvl2pPr marL="0" indent="0">
              <a:lnSpc>
                <a:spcPct val="90000"/>
              </a:lnSpc>
              <a:spcAft>
                <a:spcPts val="0"/>
              </a:spcAft>
              <a:buFont typeface="Quicksand" pitchFamily="2" charset="0"/>
              <a:buNone/>
              <a:defRPr sz="5500">
                <a:solidFill>
                  <a:schemeClr val="bg1"/>
                </a:solidFill>
                <a:latin typeface="+mn-lt"/>
              </a:defRPr>
            </a:lvl2pPr>
            <a:lvl3pPr marL="0" indent="0">
              <a:spcBef>
                <a:spcPts val="0"/>
              </a:spcBef>
              <a:spcAft>
                <a:spcPts val="600"/>
              </a:spcAft>
              <a:buFont typeface="Wingdings" panose="05000000000000000000" pitchFamily="2" charset="2"/>
              <a:buNone/>
              <a:defRPr sz="800">
                <a:solidFill>
                  <a:schemeClr val="bg1"/>
                </a:solidFill>
              </a:defRPr>
            </a:lvl3pPr>
            <a:lvl4pPr marL="0" indent="0">
              <a:spcBef>
                <a:spcPts val="0"/>
              </a:spcBef>
              <a:spcAft>
                <a:spcPts val="0"/>
              </a:spcAft>
              <a:buFont typeface="Quicksand" pitchFamily="2" charset="0"/>
              <a:buNone/>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Titre</a:t>
            </a:r>
          </a:p>
          <a:p>
            <a:pPr lvl="1"/>
            <a:r>
              <a:rPr lang="fr-FR" noProof="0"/>
              <a:t>0000</a:t>
            </a:r>
          </a:p>
        </p:txBody>
      </p:sp>
      <p:sp>
        <p:nvSpPr>
          <p:cNvPr id="7" name="Espace réservé du texte 11">
            <a:extLst>
              <a:ext uri="{FF2B5EF4-FFF2-40B4-BE49-F238E27FC236}">
                <a16:creationId xmlns:a16="http://schemas.microsoft.com/office/drawing/2014/main" id="{0A5951AB-DD56-12A8-23B5-B5C109E3ED24}"/>
              </a:ext>
            </a:extLst>
          </p:cNvPr>
          <p:cNvSpPr>
            <a:spLocks noGrp="1"/>
          </p:cNvSpPr>
          <p:nvPr>
            <p:ph type="body" sz="quarter" idx="23" hasCustomPrompt="1"/>
          </p:nvPr>
        </p:nvSpPr>
        <p:spPr bwMode="gray">
          <a:xfrm>
            <a:off x="532004" y="4872083"/>
            <a:ext cx="7336780" cy="1417561"/>
          </a:xfrm>
        </p:spPr>
        <p:txBody>
          <a:bodyPr numCol="2" spcCol="144000"/>
          <a:lstStyle>
            <a:lvl1pPr marL="0" indent="0">
              <a:lnSpc>
                <a:spcPct val="105000"/>
              </a:lnSpc>
              <a:spcAft>
                <a:spcPts val="0"/>
              </a:spcAft>
              <a:buNone/>
              <a:tabLst>
                <a:tab pos="360363" algn="l"/>
              </a:tabLst>
              <a:defRPr sz="1300">
                <a:solidFill>
                  <a:schemeClr val="tx2"/>
                </a:solidFill>
                <a:latin typeface="+mn-lt"/>
              </a:defRPr>
            </a:lvl1pPr>
            <a:lvl2pPr marL="563563" indent="0">
              <a:lnSpc>
                <a:spcPct val="105000"/>
              </a:lnSpc>
              <a:spcAft>
                <a:spcPts val="2000"/>
              </a:spcAft>
              <a:buNone/>
              <a:defRPr sz="1800">
                <a:solidFill>
                  <a:schemeClr val="tx2"/>
                </a:solidFill>
              </a:defRPr>
            </a:lvl2pPr>
          </a:lstStyle>
          <a:p>
            <a:r>
              <a:rPr lang="fr-FR"/>
              <a:t>Texte</a:t>
            </a:r>
          </a:p>
          <a:p>
            <a:endParaRPr lang="fr-FR"/>
          </a:p>
          <a:p>
            <a:endParaRPr lang="fr-FR"/>
          </a:p>
          <a:p>
            <a:endParaRPr lang="fr-FR"/>
          </a:p>
          <a:p>
            <a:endParaRPr lang="fr-FR"/>
          </a:p>
          <a:p>
            <a:endParaRPr lang="fr-FR"/>
          </a:p>
          <a:p>
            <a:endParaRPr lang="fr-FR"/>
          </a:p>
          <a:p>
            <a:r>
              <a:rPr lang="fr-FR"/>
              <a:t>Texte</a:t>
            </a:r>
          </a:p>
        </p:txBody>
      </p:sp>
    </p:spTree>
    <p:extLst>
      <p:ext uri="{BB962C8B-B14F-4D97-AF65-F5344CB8AC3E}">
        <p14:creationId xmlns:p14="http://schemas.microsoft.com/office/powerpoint/2010/main" val="1663180879"/>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userDrawn="1">
  <p:cSld name="5_blocs_bleu">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4FA41AE-C86E-C054-643B-54E9F7FA9C53}"/>
              </a:ext>
            </a:extLst>
          </p:cNvPr>
          <p:cNvSpPr/>
          <p:nvPr userDrawn="1"/>
        </p:nvSpPr>
        <p:spPr>
          <a:xfrm>
            <a:off x="305400" y="1184245"/>
            <a:ext cx="5731200" cy="2424774"/>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742B4836-DFA2-0F4C-B64D-A2A99B27BEBF}"/>
              </a:ext>
            </a:extLst>
          </p:cNvPr>
          <p:cNvSpPr>
            <a:spLocks noGrp="1"/>
          </p:cNvSpPr>
          <p:nvPr>
            <p:ph type="title" hasCustomPrompt="1"/>
          </p:nvPr>
        </p:nvSpPr>
        <p:spPr bwMode="gray">
          <a:xfrm>
            <a:off x="305400" y="260649"/>
            <a:ext cx="11581200" cy="936104"/>
          </a:xfrm>
        </p:spPr>
        <p:txBody>
          <a:bodyPr/>
          <a:lstStyle/>
          <a:p>
            <a:r>
              <a:rPr lang="fr-FR"/>
              <a:t>Titre de la slide</a:t>
            </a:r>
          </a:p>
        </p:txBody>
      </p:sp>
      <p:sp>
        <p:nvSpPr>
          <p:cNvPr id="3" name="Espace réservé de la date 2">
            <a:extLst>
              <a:ext uri="{FF2B5EF4-FFF2-40B4-BE49-F238E27FC236}">
                <a16:creationId xmlns:a16="http://schemas.microsoft.com/office/drawing/2014/main" id="{6F100527-69D4-19AC-99C4-7B3B3B361FCE}"/>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2157C49B-47AA-F8B1-89B2-E3C99F5F2F86}"/>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E085A190-A326-C7F5-F613-30E3120E24DF}"/>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sp>
        <p:nvSpPr>
          <p:cNvPr id="7" name="Espace réservé du texte 11">
            <a:extLst>
              <a:ext uri="{FF2B5EF4-FFF2-40B4-BE49-F238E27FC236}">
                <a16:creationId xmlns:a16="http://schemas.microsoft.com/office/drawing/2014/main" id="{60296A31-42B6-41EF-1450-767E039F8BCB}"/>
              </a:ext>
            </a:extLst>
          </p:cNvPr>
          <p:cNvSpPr>
            <a:spLocks noGrp="1"/>
          </p:cNvSpPr>
          <p:nvPr>
            <p:ph type="body" sz="quarter" idx="21" hasCustomPrompt="1"/>
          </p:nvPr>
        </p:nvSpPr>
        <p:spPr bwMode="gray">
          <a:xfrm>
            <a:off x="6156360" y="1184245"/>
            <a:ext cx="5730240" cy="2424775"/>
          </a:xfrm>
          <a:solidFill>
            <a:schemeClr val="tx2">
              <a:alpha val="80000"/>
            </a:schemeClr>
          </a:solidFill>
        </p:spPr>
        <p:txBody>
          <a:bodyPr lIns="216000" tIns="540000"/>
          <a:lstStyle>
            <a:lvl1pPr marL="171450" indent="-171450">
              <a:spcAft>
                <a:spcPts val="700"/>
              </a:spcAft>
              <a:buFont typeface="Quicksand" pitchFamily="2" charset="0"/>
              <a:buChar char="―"/>
              <a:defRPr sz="1100">
                <a:solidFill>
                  <a:schemeClr val="bg1"/>
                </a:solidFill>
                <a:latin typeface="+mn-lt"/>
              </a:defRPr>
            </a:lvl1pPr>
            <a:lvl2pPr marL="358775" indent="-115888">
              <a:spcAft>
                <a:spcPts val="600"/>
              </a:spcAft>
              <a:buFont typeface="Quicksand" pitchFamily="2" charset="0"/>
              <a:buChar char="&gt;"/>
              <a:defRPr sz="900">
                <a:solidFill>
                  <a:schemeClr val="bg1"/>
                </a:solidFill>
              </a:defRPr>
            </a:lvl2pPr>
            <a:lvl3pPr marL="554038" indent="-106363">
              <a:spcBef>
                <a:spcPts val="0"/>
              </a:spcBef>
              <a:spcAft>
                <a:spcPts val="600"/>
              </a:spcAft>
              <a:buFont typeface="Wingdings" panose="05000000000000000000" pitchFamily="2" charset="2"/>
              <a:buChar char="§"/>
              <a:defRPr sz="800">
                <a:solidFill>
                  <a:schemeClr val="bg1"/>
                </a:solidFill>
              </a:defRPr>
            </a:lvl3pPr>
            <a:lvl4pPr marL="701675" indent="-92075">
              <a:spcBef>
                <a:spcPts val="0"/>
              </a:spcBef>
              <a:spcAft>
                <a:spcPts val="0"/>
              </a:spcAft>
              <a:buFont typeface="Quicksand" pitchFamily="2" charset="0"/>
              <a:buChar char="•"/>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Texte de niveau 1</a:t>
            </a:r>
          </a:p>
          <a:p>
            <a:pPr lvl="1"/>
            <a:r>
              <a:rPr lang="fr-FR" noProof="0"/>
              <a:t>Texte de niveau 2</a:t>
            </a:r>
          </a:p>
          <a:p>
            <a:pPr lvl="2"/>
            <a:r>
              <a:rPr lang="fr-FR" noProof="0"/>
              <a:t>Texte de niveau 3</a:t>
            </a:r>
          </a:p>
          <a:p>
            <a:pPr lvl="3"/>
            <a:r>
              <a:rPr lang="fr-FR" noProof="0"/>
              <a:t>Texte de niveau </a:t>
            </a:r>
          </a:p>
        </p:txBody>
      </p:sp>
      <p:sp>
        <p:nvSpPr>
          <p:cNvPr id="8" name="Espace réservé du texte 8">
            <a:extLst>
              <a:ext uri="{FF2B5EF4-FFF2-40B4-BE49-F238E27FC236}">
                <a16:creationId xmlns:a16="http://schemas.microsoft.com/office/drawing/2014/main" id="{F492D2D4-80A4-EEA9-8389-3A476302423D}"/>
              </a:ext>
            </a:extLst>
          </p:cNvPr>
          <p:cNvSpPr>
            <a:spLocks noGrp="1"/>
          </p:cNvSpPr>
          <p:nvPr>
            <p:ph type="body" sz="quarter" idx="22" hasCustomPrompt="1"/>
          </p:nvPr>
        </p:nvSpPr>
        <p:spPr bwMode="gray">
          <a:xfrm>
            <a:off x="6368143" y="1251708"/>
            <a:ext cx="5306674" cy="269080"/>
          </a:xfrm>
          <a:custGeom>
            <a:avLst/>
            <a:gdLst>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Lst>
            <a:ahLst/>
            <a:cxnLst>
              <a:cxn ang="0">
                <a:pos x="connsiteX0" y="connsiteY0"/>
              </a:cxn>
              <a:cxn ang="0">
                <a:pos x="connsiteX1" y="connsiteY1"/>
              </a:cxn>
            </a:cxnLst>
            <a:rect l="l" t="t" r="r" b="b"/>
            <a:pathLst>
              <a:path w="5184576" h="269080" stroke="0" extrusionOk="0">
                <a:moveTo>
                  <a:pt x="5184576" y="269080"/>
                </a:moveTo>
                <a:lnTo>
                  <a:pt x="0" y="269077"/>
                </a:lnTo>
                <a:lnTo>
                  <a:pt x="0" y="3"/>
                </a:lnTo>
                <a:cubicBezTo>
                  <a:pt x="0" y="1"/>
                  <a:pt x="2321214" y="0"/>
                  <a:pt x="5184576" y="0"/>
                </a:cubicBezTo>
                <a:lnTo>
                  <a:pt x="5184576" y="269080"/>
                </a:lnTo>
                <a:close/>
              </a:path>
              <a:path w="5184576" h="269080" fill="none">
                <a:moveTo>
                  <a:pt x="5184576" y="269080"/>
                </a:moveTo>
                <a:lnTo>
                  <a:pt x="0" y="269077"/>
                </a:lnTo>
              </a:path>
            </a:pathLst>
          </a:custGeom>
          <a:ln>
            <a:solidFill>
              <a:schemeClr val="bg1"/>
            </a:solidFill>
          </a:ln>
        </p:spPr>
        <p:txBody>
          <a:bodyPr anchor="t" anchorCtr="0"/>
          <a:lstStyle>
            <a:lvl1pPr marL="0" indent="0">
              <a:spcAft>
                <a:spcPts val="0"/>
              </a:spcAft>
              <a:buNone/>
              <a:defRPr sz="14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9" name="Espace réservé du texte 11">
            <a:extLst>
              <a:ext uri="{FF2B5EF4-FFF2-40B4-BE49-F238E27FC236}">
                <a16:creationId xmlns:a16="http://schemas.microsoft.com/office/drawing/2014/main" id="{6BF3708E-D007-3719-61BB-15AD63A630B2}"/>
              </a:ext>
            </a:extLst>
          </p:cNvPr>
          <p:cNvSpPr>
            <a:spLocks noGrp="1"/>
          </p:cNvSpPr>
          <p:nvPr>
            <p:ph type="body" sz="quarter" idx="23" hasCustomPrompt="1"/>
          </p:nvPr>
        </p:nvSpPr>
        <p:spPr bwMode="gray">
          <a:xfrm>
            <a:off x="6156360" y="3741952"/>
            <a:ext cx="5730240" cy="2547693"/>
          </a:xfrm>
          <a:solidFill>
            <a:schemeClr val="tx2">
              <a:alpha val="40000"/>
            </a:schemeClr>
          </a:solidFill>
        </p:spPr>
        <p:txBody>
          <a:bodyPr lIns="216000" tIns="540000"/>
          <a:lstStyle>
            <a:lvl1pPr marL="171450" indent="-171450">
              <a:spcAft>
                <a:spcPts val="700"/>
              </a:spcAft>
              <a:buFont typeface="Quicksand" pitchFamily="2" charset="0"/>
              <a:buChar char="―"/>
              <a:defRPr sz="1100">
                <a:solidFill>
                  <a:schemeClr val="bg1"/>
                </a:solidFill>
                <a:latin typeface="+mn-lt"/>
              </a:defRPr>
            </a:lvl1pPr>
            <a:lvl2pPr marL="358775" indent="-115888">
              <a:spcAft>
                <a:spcPts val="600"/>
              </a:spcAft>
              <a:buFont typeface="Quicksand" pitchFamily="2" charset="0"/>
              <a:buChar char="&gt;"/>
              <a:defRPr sz="900">
                <a:solidFill>
                  <a:schemeClr val="bg1"/>
                </a:solidFill>
              </a:defRPr>
            </a:lvl2pPr>
            <a:lvl3pPr marL="554038" indent="-106363">
              <a:spcBef>
                <a:spcPts val="0"/>
              </a:spcBef>
              <a:spcAft>
                <a:spcPts val="600"/>
              </a:spcAft>
              <a:buFont typeface="Wingdings" panose="05000000000000000000" pitchFamily="2" charset="2"/>
              <a:buChar char="§"/>
              <a:defRPr sz="800">
                <a:solidFill>
                  <a:schemeClr val="bg1"/>
                </a:solidFill>
              </a:defRPr>
            </a:lvl3pPr>
            <a:lvl4pPr marL="701675" indent="-92075">
              <a:spcBef>
                <a:spcPts val="0"/>
              </a:spcBef>
              <a:spcAft>
                <a:spcPts val="0"/>
              </a:spcAft>
              <a:buFont typeface="Quicksand" pitchFamily="2" charset="0"/>
              <a:buChar char="•"/>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Texte de niveau 1</a:t>
            </a:r>
          </a:p>
          <a:p>
            <a:pPr lvl="1"/>
            <a:r>
              <a:rPr lang="fr-FR" noProof="0"/>
              <a:t>Texte de niveau 2</a:t>
            </a:r>
          </a:p>
          <a:p>
            <a:pPr lvl="2"/>
            <a:r>
              <a:rPr lang="fr-FR" noProof="0"/>
              <a:t>Texte de niveau 3</a:t>
            </a:r>
          </a:p>
          <a:p>
            <a:pPr lvl="3"/>
            <a:r>
              <a:rPr lang="fr-FR" noProof="0"/>
              <a:t>Texte de niveau </a:t>
            </a:r>
          </a:p>
        </p:txBody>
      </p:sp>
      <p:sp>
        <p:nvSpPr>
          <p:cNvPr id="10" name="Espace réservé du texte 8">
            <a:extLst>
              <a:ext uri="{FF2B5EF4-FFF2-40B4-BE49-F238E27FC236}">
                <a16:creationId xmlns:a16="http://schemas.microsoft.com/office/drawing/2014/main" id="{799F2D02-10D0-E06F-40D5-39521153B51D}"/>
              </a:ext>
            </a:extLst>
          </p:cNvPr>
          <p:cNvSpPr>
            <a:spLocks noGrp="1"/>
          </p:cNvSpPr>
          <p:nvPr>
            <p:ph type="body" sz="quarter" idx="24" hasCustomPrompt="1"/>
          </p:nvPr>
        </p:nvSpPr>
        <p:spPr bwMode="gray">
          <a:xfrm>
            <a:off x="6368143" y="3809415"/>
            <a:ext cx="5306674" cy="269080"/>
          </a:xfrm>
          <a:custGeom>
            <a:avLst/>
            <a:gdLst>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Lst>
            <a:ahLst/>
            <a:cxnLst>
              <a:cxn ang="0">
                <a:pos x="connsiteX0" y="connsiteY0"/>
              </a:cxn>
              <a:cxn ang="0">
                <a:pos x="connsiteX1" y="connsiteY1"/>
              </a:cxn>
            </a:cxnLst>
            <a:rect l="l" t="t" r="r" b="b"/>
            <a:pathLst>
              <a:path w="5184576" h="269080" stroke="0" extrusionOk="0">
                <a:moveTo>
                  <a:pt x="5184576" y="269080"/>
                </a:moveTo>
                <a:lnTo>
                  <a:pt x="0" y="269077"/>
                </a:lnTo>
                <a:lnTo>
                  <a:pt x="0" y="3"/>
                </a:lnTo>
                <a:cubicBezTo>
                  <a:pt x="0" y="1"/>
                  <a:pt x="2321214" y="0"/>
                  <a:pt x="5184576" y="0"/>
                </a:cubicBezTo>
                <a:lnTo>
                  <a:pt x="5184576" y="269080"/>
                </a:lnTo>
                <a:close/>
              </a:path>
              <a:path w="5184576" h="269080" fill="none">
                <a:moveTo>
                  <a:pt x="5184576" y="269080"/>
                </a:moveTo>
                <a:lnTo>
                  <a:pt x="0" y="269077"/>
                </a:lnTo>
              </a:path>
            </a:pathLst>
          </a:custGeom>
          <a:ln>
            <a:solidFill>
              <a:schemeClr val="bg1"/>
            </a:solidFill>
          </a:ln>
        </p:spPr>
        <p:txBody>
          <a:bodyPr anchor="t" anchorCtr="0"/>
          <a:lstStyle>
            <a:lvl1pPr marL="0" indent="0">
              <a:spcAft>
                <a:spcPts val="0"/>
              </a:spcAft>
              <a:buNone/>
              <a:defRPr sz="14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12" name="Espace réservé du texte 11">
            <a:extLst>
              <a:ext uri="{FF2B5EF4-FFF2-40B4-BE49-F238E27FC236}">
                <a16:creationId xmlns:a16="http://schemas.microsoft.com/office/drawing/2014/main" id="{A31CA3A3-E718-8B98-878A-DAB8976B69BF}"/>
              </a:ext>
            </a:extLst>
          </p:cNvPr>
          <p:cNvSpPr>
            <a:spLocks noGrp="1"/>
          </p:cNvSpPr>
          <p:nvPr>
            <p:ph type="body" sz="quarter" idx="26" hasCustomPrompt="1"/>
          </p:nvPr>
        </p:nvSpPr>
        <p:spPr bwMode="gray">
          <a:xfrm>
            <a:off x="305400" y="3741952"/>
            <a:ext cx="5730240" cy="2547693"/>
          </a:xfrm>
          <a:solidFill>
            <a:schemeClr val="tx2">
              <a:alpha val="60000"/>
            </a:schemeClr>
          </a:solidFill>
        </p:spPr>
        <p:txBody>
          <a:bodyPr lIns="216000" tIns="540000"/>
          <a:lstStyle>
            <a:lvl1pPr marL="171450" indent="-171450">
              <a:spcAft>
                <a:spcPts val="700"/>
              </a:spcAft>
              <a:buFont typeface="Quicksand" pitchFamily="2" charset="0"/>
              <a:buChar char="―"/>
              <a:defRPr sz="1100">
                <a:solidFill>
                  <a:schemeClr val="bg1"/>
                </a:solidFill>
                <a:latin typeface="+mn-lt"/>
              </a:defRPr>
            </a:lvl1pPr>
            <a:lvl2pPr marL="358775" indent="-115888">
              <a:spcAft>
                <a:spcPts val="600"/>
              </a:spcAft>
              <a:buFont typeface="Quicksand" pitchFamily="2" charset="0"/>
              <a:buChar char="&gt;"/>
              <a:defRPr sz="900">
                <a:solidFill>
                  <a:schemeClr val="bg1"/>
                </a:solidFill>
              </a:defRPr>
            </a:lvl2pPr>
            <a:lvl3pPr marL="554038" indent="-106363">
              <a:spcBef>
                <a:spcPts val="0"/>
              </a:spcBef>
              <a:spcAft>
                <a:spcPts val="600"/>
              </a:spcAft>
              <a:buFont typeface="Wingdings" panose="05000000000000000000" pitchFamily="2" charset="2"/>
              <a:buChar char="§"/>
              <a:defRPr sz="800">
                <a:solidFill>
                  <a:schemeClr val="bg1"/>
                </a:solidFill>
              </a:defRPr>
            </a:lvl3pPr>
            <a:lvl4pPr marL="701675" indent="-92075">
              <a:spcBef>
                <a:spcPts val="0"/>
              </a:spcBef>
              <a:spcAft>
                <a:spcPts val="0"/>
              </a:spcAft>
              <a:buFont typeface="Quicksand" pitchFamily="2" charset="0"/>
              <a:buChar char="•"/>
              <a:defRPr sz="700">
                <a:solidFill>
                  <a:schemeClr val="bg1"/>
                </a:solidFill>
              </a:defRPr>
            </a:lvl4pPr>
            <a:lvl5pPr marL="0" indent="0">
              <a:spcAft>
                <a:spcPts val="0"/>
              </a:spcAft>
              <a:buFont typeface="Arial" panose="020B0604020202020204" pitchFamily="34" charset="0"/>
              <a:buNone/>
              <a:defRPr sz="700">
                <a:solidFill>
                  <a:schemeClr val="accent1"/>
                </a:solidFill>
              </a:defRPr>
            </a:lvl5pPr>
          </a:lstStyle>
          <a:p>
            <a:pPr lvl="0"/>
            <a:r>
              <a:rPr lang="fr-FR" noProof="0"/>
              <a:t>Texte de niveau 1</a:t>
            </a:r>
          </a:p>
          <a:p>
            <a:pPr lvl="1"/>
            <a:r>
              <a:rPr lang="fr-FR" noProof="0"/>
              <a:t>Texte de niveau 2</a:t>
            </a:r>
          </a:p>
          <a:p>
            <a:pPr lvl="2"/>
            <a:r>
              <a:rPr lang="fr-FR" noProof="0"/>
              <a:t>Texte de niveau 3</a:t>
            </a:r>
          </a:p>
          <a:p>
            <a:pPr lvl="3"/>
            <a:r>
              <a:rPr lang="fr-FR" noProof="0"/>
              <a:t>Texte de niveau </a:t>
            </a:r>
          </a:p>
        </p:txBody>
      </p:sp>
      <p:sp>
        <p:nvSpPr>
          <p:cNvPr id="13" name="Espace réservé du texte 8">
            <a:extLst>
              <a:ext uri="{FF2B5EF4-FFF2-40B4-BE49-F238E27FC236}">
                <a16:creationId xmlns:a16="http://schemas.microsoft.com/office/drawing/2014/main" id="{FBB2F603-65B4-E94D-C221-8FB409EAAC44}"/>
              </a:ext>
            </a:extLst>
          </p:cNvPr>
          <p:cNvSpPr>
            <a:spLocks noGrp="1"/>
          </p:cNvSpPr>
          <p:nvPr>
            <p:ph type="body" sz="quarter" idx="27" hasCustomPrompt="1"/>
          </p:nvPr>
        </p:nvSpPr>
        <p:spPr bwMode="gray">
          <a:xfrm>
            <a:off x="517184" y="3809415"/>
            <a:ext cx="5306674" cy="269080"/>
          </a:xfrm>
          <a:custGeom>
            <a:avLst/>
            <a:gdLst>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Lst>
            <a:ahLst/>
            <a:cxnLst>
              <a:cxn ang="0">
                <a:pos x="connsiteX0" y="connsiteY0"/>
              </a:cxn>
              <a:cxn ang="0">
                <a:pos x="connsiteX1" y="connsiteY1"/>
              </a:cxn>
            </a:cxnLst>
            <a:rect l="l" t="t" r="r" b="b"/>
            <a:pathLst>
              <a:path w="5184576" h="269080" stroke="0" extrusionOk="0">
                <a:moveTo>
                  <a:pt x="5184576" y="269080"/>
                </a:moveTo>
                <a:lnTo>
                  <a:pt x="0" y="269077"/>
                </a:lnTo>
                <a:lnTo>
                  <a:pt x="0" y="3"/>
                </a:lnTo>
                <a:cubicBezTo>
                  <a:pt x="0" y="1"/>
                  <a:pt x="2321214" y="0"/>
                  <a:pt x="5184576" y="0"/>
                </a:cubicBezTo>
                <a:lnTo>
                  <a:pt x="5184576" y="269080"/>
                </a:lnTo>
                <a:close/>
              </a:path>
              <a:path w="5184576" h="269080" fill="none">
                <a:moveTo>
                  <a:pt x="5184576" y="269080"/>
                </a:moveTo>
                <a:lnTo>
                  <a:pt x="0" y="269077"/>
                </a:lnTo>
              </a:path>
            </a:pathLst>
          </a:custGeom>
          <a:ln>
            <a:solidFill>
              <a:schemeClr val="bg1"/>
            </a:solidFill>
          </a:ln>
        </p:spPr>
        <p:txBody>
          <a:bodyPr anchor="t" anchorCtr="0"/>
          <a:lstStyle>
            <a:lvl1pPr marL="0" indent="0">
              <a:spcAft>
                <a:spcPts val="0"/>
              </a:spcAft>
              <a:buNone/>
              <a:defRPr sz="14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17" name="Espace réservé du texte 8">
            <a:extLst>
              <a:ext uri="{FF2B5EF4-FFF2-40B4-BE49-F238E27FC236}">
                <a16:creationId xmlns:a16="http://schemas.microsoft.com/office/drawing/2014/main" id="{90C7BD1E-D4B9-E0A1-01F7-A03CCA448D83}"/>
              </a:ext>
            </a:extLst>
          </p:cNvPr>
          <p:cNvSpPr>
            <a:spLocks noGrp="1"/>
          </p:cNvSpPr>
          <p:nvPr>
            <p:ph type="body" sz="quarter" idx="29" hasCustomPrompt="1"/>
          </p:nvPr>
        </p:nvSpPr>
        <p:spPr bwMode="gray">
          <a:xfrm>
            <a:off x="517184" y="1251708"/>
            <a:ext cx="5306674" cy="269080"/>
          </a:xfrm>
          <a:custGeom>
            <a:avLst/>
            <a:gdLst>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 name="connsiteX2" fmla="*/ 0 w 5184576"/>
              <a:gd name="connsiteY2" fmla="*/ 3 h 269080"/>
              <a:gd name="connsiteX0" fmla="*/ 5184576 w 5184576"/>
              <a:gd name="connsiteY0" fmla="*/ 269080 h 269080"/>
              <a:gd name="connsiteX1" fmla="*/ 0 w 5184576"/>
              <a:gd name="connsiteY1" fmla="*/ 269077 h 269080"/>
              <a:gd name="connsiteX2" fmla="*/ 0 w 5184576"/>
              <a:gd name="connsiteY2" fmla="*/ 3 h 269080"/>
              <a:gd name="connsiteX3" fmla="*/ 5184576 w 5184576"/>
              <a:gd name="connsiteY3" fmla="*/ 0 h 269080"/>
              <a:gd name="connsiteX4" fmla="*/ 5184576 w 5184576"/>
              <a:gd name="connsiteY4" fmla="*/ 269080 h 269080"/>
              <a:gd name="connsiteX0" fmla="*/ 5184576 w 5184576"/>
              <a:gd name="connsiteY0" fmla="*/ 269080 h 269080"/>
              <a:gd name="connsiteX1" fmla="*/ 0 w 5184576"/>
              <a:gd name="connsiteY1" fmla="*/ 269077 h 269080"/>
            </a:gdLst>
            <a:ahLst/>
            <a:cxnLst>
              <a:cxn ang="0">
                <a:pos x="connsiteX0" y="connsiteY0"/>
              </a:cxn>
              <a:cxn ang="0">
                <a:pos x="connsiteX1" y="connsiteY1"/>
              </a:cxn>
            </a:cxnLst>
            <a:rect l="l" t="t" r="r" b="b"/>
            <a:pathLst>
              <a:path w="5184576" h="269080" stroke="0" extrusionOk="0">
                <a:moveTo>
                  <a:pt x="5184576" y="269080"/>
                </a:moveTo>
                <a:lnTo>
                  <a:pt x="0" y="269077"/>
                </a:lnTo>
                <a:lnTo>
                  <a:pt x="0" y="3"/>
                </a:lnTo>
                <a:cubicBezTo>
                  <a:pt x="0" y="1"/>
                  <a:pt x="2321214" y="0"/>
                  <a:pt x="5184576" y="0"/>
                </a:cubicBezTo>
                <a:lnTo>
                  <a:pt x="5184576" y="269080"/>
                </a:lnTo>
                <a:close/>
              </a:path>
              <a:path w="5184576" h="269080" fill="none">
                <a:moveTo>
                  <a:pt x="5184576" y="269080"/>
                </a:moveTo>
                <a:lnTo>
                  <a:pt x="0" y="269077"/>
                </a:lnTo>
              </a:path>
            </a:pathLst>
          </a:custGeom>
          <a:ln>
            <a:solidFill>
              <a:schemeClr val="bg1"/>
            </a:solidFill>
          </a:ln>
        </p:spPr>
        <p:txBody>
          <a:bodyPr anchor="t" anchorCtr="0"/>
          <a:lstStyle>
            <a:lvl1pPr marL="0" indent="0">
              <a:spcAft>
                <a:spcPts val="0"/>
              </a:spcAft>
              <a:buNone/>
              <a:defRPr sz="1400">
                <a:solidFill>
                  <a:schemeClr val="bg1"/>
                </a:solidFill>
                <a:latin typeface="+mj-lt"/>
              </a:defRPr>
            </a:lvl1pPr>
            <a:lvl2pPr marL="0" indent="0">
              <a:buNone/>
              <a:defRPr/>
            </a:lvl2pPr>
            <a:lvl3pPr marL="0" indent="0">
              <a:buNone/>
              <a:defRPr/>
            </a:lvl3pPr>
            <a:lvl4pPr marL="0" indent="0">
              <a:buNone/>
              <a:defRPr/>
            </a:lvl4pPr>
            <a:lvl5pPr marL="0" indent="0">
              <a:buFont typeface="Arial" panose="020B0604020202020204" pitchFamily="34" charset="0"/>
              <a:buNone/>
              <a:defRPr/>
            </a:lvl5pPr>
          </a:lstStyle>
          <a:p>
            <a:pPr lvl="0"/>
            <a:r>
              <a:rPr lang="fr-FR"/>
              <a:t>Titre</a:t>
            </a:r>
          </a:p>
        </p:txBody>
      </p:sp>
      <p:sp>
        <p:nvSpPr>
          <p:cNvPr id="15" name="Espace réservé du contenu 13">
            <a:extLst>
              <a:ext uri="{FF2B5EF4-FFF2-40B4-BE49-F238E27FC236}">
                <a16:creationId xmlns:a16="http://schemas.microsoft.com/office/drawing/2014/main" id="{A593735F-A435-B5DD-D98A-BEE3DF85CE1F}"/>
              </a:ext>
            </a:extLst>
          </p:cNvPr>
          <p:cNvSpPr>
            <a:spLocks noGrp="1"/>
          </p:cNvSpPr>
          <p:nvPr>
            <p:ph sz="quarter" idx="30" hasCustomPrompt="1"/>
          </p:nvPr>
        </p:nvSpPr>
        <p:spPr>
          <a:xfrm>
            <a:off x="550863" y="1593018"/>
            <a:ext cx="5184000" cy="1835982"/>
          </a:xfrm>
        </p:spPr>
        <p:txBody>
          <a:bodyPr tIns="900000" anchor="ctr" anchorCtr="0">
            <a:normAutofit/>
          </a:bodyPr>
          <a:lstStyle>
            <a:lvl1pPr marL="179388" indent="0" algn="ctr">
              <a:buNone/>
              <a:defRPr sz="1000" b="1">
                <a:solidFill>
                  <a:schemeClr val="bg1"/>
                </a:solidFill>
                <a:latin typeface="+mn-lt"/>
              </a:defRPr>
            </a:lvl1pPr>
          </a:lstStyle>
          <a:p>
            <a:r>
              <a:rPr lang="fr-FR" noProof="0"/>
              <a:t>Sélectionner l’icône pour insérer un média</a:t>
            </a:r>
          </a:p>
        </p:txBody>
      </p:sp>
    </p:spTree>
    <p:extLst>
      <p:ext uri="{BB962C8B-B14F-4D97-AF65-F5344CB8AC3E}">
        <p14:creationId xmlns:p14="http://schemas.microsoft.com/office/powerpoint/2010/main" val="3048707369"/>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1_Fin_merci">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9B793F01-3E93-70BD-ACBD-984437DF7D0A}"/>
              </a:ext>
            </a:extLst>
          </p:cNvPr>
          <p:cNvSpPr/>
          <p:nvPr userDrawn="1"/>
        </p:nvSpPr>
        <p:spPr bwMode="gray">
          <a:xfrm>
            <a:off x="0" y="-3"/>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10" name="Forme libre : forme 9">
            <a:extLst>
              <a:ext uri="{FF2B5EF4-FFF2-40B4-BE49-F238E27FC236}">
                <a16:creationId xmlns:a16="http://schemas.microsoft.com/office/drawing/2014/main" id="{C0684CE4-622B-938B-497B-FAD53D593F5F}"/>
              </a:ext>
            </a:extLst>
          </p:cNvPr>
          <p:cNvSpPr/>
          <p:nvPr userDrawn="1"/>
        </p:nvSpPr>
        <p:spPr bwMode="gray">
          <a:xfrm>
            <a:off x="0" y="5914428"/>
            <a:ext cx="12192000" cy="943572"/>
          </a:xfrm>
          <a:custGeom>
            <a:avLst/>
            <a:gdLst>
              <a:gd name="connsiteX0" fmla="*/ 553152 w 12192000"/>
              <a:gd name="connsiteY0" fmla="*/ 0 h 943572"/>
              <a:gd name="connsiteX1" fmla="*/ 12192000 w 12192000"/>
              <a:gd name="connsiteY1" fmla="*/ 0 h 943572"/>
              <a:gd name="connsiteX2" fmla="*/ 12192000 w 12192000"/>
              <a:gd name="connsiteY2" fmla="*/ 943572 h 943572"/>
              <a:gd name="connsiteX3" fmla="*/ 0 w 12192000"/>
              <a:gd name="connsiteY3" fmla="*/ 943572 h 943572"/>
              <a:gd name="connsiteX4" fmla="*/ 0 w 12192000"/>
              <a:gd name="connsiteY4" fmla="*/ 375217 h 943572"/>
              <a:gd name="connsiteX5" fmla="*/ 1780 w 12192000"/>
              <a:gd name="connsiteY5" fmla="*/ 375217 h 94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943572">
                <a:moveTo>
                  <a:pt x="553152" y="0"/>
                </a:moveTo>
                <a:lnTo>
                  <a:pt x="12192000" y="0"/>
                </a:lnTo>
                <a:lnTo>
                  <a:pt x="12192000" y="943572"/>
                </a:lnTo>
                <a:lnTo>
                  <a:pt x="0" y="943572"/>
                </a:lnTo>
                <a:lnTo>
                  <a:pt x="0" y="375217"/>
                </a:lnTo>
                <a:lnTo>
                  <a:pt x="1780" y="37521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 name="Titre 1">
            <a:extLst>
              <a:ext uri="{FF2B5EF4-FFF2-40B4-BE49-F238E27FC236}">
                <a16:creationId xmlns:a16="http://schemas.microsoft.com/office/drawing/2014/main" id="{D12B3D67-D7E3-94C3-22DF-955AF436A9E2}"/>
              </a:ext>
            </a:extLst>
          </p:cNvPr>
          <p:cNvSpPr>
            <a:spLocks noGrp="1"/>
          </p:cNvSpPr>
          <p:nvPr>
            <p:ph type="title" hasCustomPrompt="1"/>
          </p:nvPr>
        </p:nvSpPr>
        <p:spPr bwMode="gray">
          <a:xfrm>
            <a:off x="515389" y="2472006"/>
            <a:ext cx="11161222" cy="1193908"/>
          </a:xfrm>
        </p:spPr>
        <p:txBody>
          <a:bodyPr anchor="ctr" anchorCtr="0"/>
          <a:lstStyle>
            <a:lvl1pPr>
              <a:defRPr>
                <a:solidFill>
                  <a:schemeClr val="bg1"/>
                </a:solidFill>
              </a:defRPr>
            </a:lvl1pPr>
          </a:lstStyle>
          <a:p>
            <a:r>
              <a:rPr lang="fr-FR"/>
              <a:t>Merci !</a:t>
            </a:r>
          </a:p>
        </p:txBody>
      </p:sp>
      <p:sp>
        <p:nvSpPr>
          <p:cNvPr id="3" name="Espace réservé de la date 2">
            <a:extLst>
              <a:ext uri="{FF2B5EF4-FFF2-40B4-BE49-F238E27FC236}">
                <a16:creationId xmlns:a16="http://schemas.microsoft.com/office/drawing/2014/main" id="{3A90A8E8-5274-096B-71CD-A94C3EBC417C}"/>
              </a:ext>
            </a:extLst>
          </p:cNvPr>
          <p:cNvSpPr>
            <a:spLocks noGrp="1"/>
          </p:cNvSpPr>
          <p:nvPr>
            <p:ph type="dt" sz="half" idx="10"/>
          </p:nvPr>
        </p:nvSpPr>
        <p:spPr bwMode="gray"/>
        <p:txBody>
          <a:bodyPr/>
          <a:lstStyle/>
          <a:p>
            <a:fld id="{6C2A9E64-700C-4B6D-A00D-B9BB515F1046}" type="datetime3">
              <a:rPr lang="fr-FR" smtClean="0"/>
              <a:pPr/>
              <a:t>12.01.26</a:t>
            </a:fld>
            <a:endParaRPr lang="fr-FR"/>
          </a:p>
        </p:txBody>
      </p:sp>
      <p:sp>
        <p:nvSpPr>
          <p:cNvPr id="4" name="Espace réservé du pied de page 3">
            <a:extLst>
              <a:ext uri="{FF2B5EF4-FFF2-40B4-BE49-F238E27FC236}">
                <a16:creationId xmlns:a16="http://schemas.microsoft.com/office/drawing/2014/main" id="{B4900B0E-4AED-0178-2911-3B8B200F2AF3}"/>
              </a:ext>
            </a:extLst>
          </p:cNvPr>
          <p:cNvSpPr>
            <a:spLocks noGrp="1"/>
          </p:cNvSpPr>
          <p:nvPr>
            <p:ph type="ftr" sz="quarter" idx="11"/>
          </p:nvPr>
        </p:nvSpPr>
        <p:spPr bwMode="gray"/>
        <p:txBody>
          <a:bodyPr/>
          <a:lstStyle/>
          <a:p>
            <a:pPr algn="r"/>
            <a:r>
              <a:rPr lang="fr-FR" err="1"/>
              <a:t>Kickoff</a:t>
            </a:r>
            <a:r>
              <a:rPr lang="fr-FR"/>
              <a:t> Exercice STEBA 2025</a:t>
            </a:r>
          </a:p>
        </p:txBody>
      </p:sp>
      <p:sp>
        <p:nvSpPr>
          <p:cNvPr id="5" name="Espace réservé du numéro de diapositive 4">
            <a:extLst>
              <a:ext uri="{FF2B5EF4-FFF2-40B4-BE49-F238E27FC236}">
                <a16:creationId xmlns:a16="http://schemas.microsoft.com/office/drawing/2014/main" id="{89291DAE-7E33-C90D-903F-8C464D04C1AB}"/>
              </a:ext>
            </a:extLst>
          </p:cNvPr>
          <p:cNvSpPr>
            <a:spLocks noGrp="1"/>
          </p:cNvSpPr>
          <p:nvPr>
            <p:ph type="sldNum" sz="quarter" idx="12"/>
          </p:nvPr>
        </p:nvSpPr>
        <p:spPr bwMode="gray"/>
        <p:txBody>
          <a:bodyPr/>
          <a:lstStyle/>
          <a:p>
            <a:fld id="{733122C9-A0B9-462F-8757-0847AD287B63}" type="slidenum">
              <a:rPr lang="fr-FR" smtClean="0"/>
              <a:pPr/>
              <a:t>‹N°›</a:t>
            </a:fld>
            <a:endParaRPr lang="fr-FR"/>
          </a:p>
        </p:txBody>
      </p:sp>
      <p:pic>
        <p:nvPicPr>
          <p:cNvPr id="7" name="Image 6" descr="Une image contenant Police, Graphique, capture d’écran, logo&#10;&#10;Description générée automatiquement">
            <a:extLst>
              <a:ext uri="{FF2B5EF4-FFF2-40B4-BE49-F238E27FC236}">
                <a16:creationId xmlns:a16="http://schemas.microsoft.com/office/drawing/2014/main" id="{977BE475-0AF4-C467-A0AA-715425989784}"/>
              </a:ext>
            </a:extLst>
          </p:cNvPr>
          <p:cNvPicPr>
            <a:picLocks noChangeAspect="1"/>
          </p:cNvPicPr>
          <p:nvPr userDrawn="1"/>
        </p:nvPicPr>
        <p:blipFill>
          <a:blip r:embed="rId2"/>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690503822"/>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Couverture">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80193165-B3F4-3448-9E0C-34CDF99A4413}"/>
              </a:ext>
            </a:extLst>
          </p:cNvPr>
          <p:cNvSpPr/>
          <p:nvPr userDrawn="1"/>
        </p:nvSpPr>
        <p:spPr>
          <a:xfrm>
            <a:off x="4781883" y="-56787"/>
            <a:ext cx="5005423" cy="68579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 name="Picture 9">
            <a:extLst>
              <a:ext uri="{FF2B5EF4-FFF2-40B4-BE49-F238E27FC236}">
                <a16:creationId xmlns:a16="http://schemas.microsoft.com/office/drawing/2014/main" id="{5843A315-8FE4-3D4B-BFEF-286B904BDA61}"/>
              </a:ext>
            </a:extLst>
          </p:cNvPr>
          <p:cNvPicPr>
            <a:picLocks noChangeAspect="1"/>
          </p:cNvPicPr>
          <p:nvPr userDrawn="1"/>
        </p:nvPicPr>
        <p:blipFill rotWithShape="1">
          <a:blip r:embed="rId2" cstate="hqprint">
            <a:extLst>
              <a:ext uri="{28A0092B-C50C-407E-A947-70E740481C1C}">
                <a14:useLocalDpi xmlns:a14="http://schemas.microsoft.com/office/drawing/2010/main"/>
              </a:ext>
            </a:extLst>
          </a:blip>
          <a:srcRect/>
          <a:stretch/>
        </p:blipFill>
        <p:spPr>
          <a:xfrm>
            <a:off x="5005423" y="0"/>
            <a:ext cx="7186577" cy="6858000"/>
          </a:xfrm>
          <a:prstGeom prst="rect">
            <a:avLst/>
          </a:prstGeom>
          <a:effectLst/>
        </p:spPr>
      </p:pic>
      <p:sp>
        <p:nvSpPr>
          <p:cNvPr id="8" name="Title 12">
            <a:extLst>
              <a:ext uri="{FF2B5EF4-FFF2-40B4-BE49-F238E27FC236}">
                <a16:creationId xmlns:a16="http://schemas.microsoft.com/office/drawing/2014/main" id="{47248737-92C1-B44A-BE43-7C798FECF5E8}"/>
              </a:ext>
            </a:extLst>
          </p:cNvPr>
          <p:cNvSpPr txBox="1">
            <a:spLocks/>
          </p:cNvSpPr>
          <p:nvPr userDrawn="1"/>
        </p:nvSpPr>
        <p:spPr>
          <a:xfrm>
            <a:off x="5005423" y="0"/>
            <a:ext cx="7186577" cy="6878305"/>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grpSp>
        <p:nvGrpSpPr>
          <p:cNvPr id="12" name="Groupe 11">
            <a:extLst>
              <a:ext uri="{FF2B5EF4-FFF2-40B4-BE49-F238E27FC236}">
                <a16:creationId xmlns:a16="http://schemas.microsoft.com/office/drawing/2014/main" id="{6EA4AF5C-AA5E-8549-84A9-0E37F127B2AD}"/>
              </a:ext>
            </a:extLst>
          </p:cNvPr>
          <p:cNvGrpSpPr/>
          <p:nvPr userDrawn="1"/>
        </p:nvGrpSpPr>
        <p:grpSpPr>
          <a:xfrm>
            <a:off x="447079" y="4499811"/>
            <a:ext cx="1035293" cy="1896979"/>
            <a:chOff x="556126" y="3429000"/>
            <a:chExt cx="1035293" cy="1896979"/>
          </a:xfrm>
        </p:grpSpPr>
        <p:sp>
          <p:nvSpPr>
            <p:cNvPr id="13" name="Rectangle 12">
              <a:extLst>
                <a:ext uri="{FF2B5EF4-FFF2-40B4-BE49-F238E27FC236}">
                  <a16:creationId xmlns:a16="http://schemas.microsoft.com/office/drawing/2014/main" id="{187C5A64-78E3-2B49-9160-5FE072B117AF}"/>
                </a:ext>
              </a:extLst>
            </p:cNvPr>
            <p:cNvSpPr/>
            <p:nvPr/>
          </p:nvSpPr>
          <p:spPr>
            <a:xfrm>
              <a:off x="556126" y="3429000"/>
              <a:ext cx="294106" cy="1896979"/>
            </a:xfrm>
            <a:prstGeom prst="rect">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Rectangle 13">
              <a:extLst>
                <a:ext uri="{FF2B5EF4-FFF2-40B4-BE49-F238E27FC236}">
                  <a16:creationId xmlns:a16="http://schemas.microsoft.com/office/drawing/2014/main" id="{3A8E344C-20D0-AA4F-8DB3-C12A90BCF62F}"/>
                </a:ext>
              </a:extLst>
            </p:cNvPr>
            <p:cNvSpPr/>
            <p:nvPr/>
          </p:nvSpPr>
          <p:spPr>
            <a:xfrm rot="16200000">
              <a:off x="1071100" y="4805660"/>
              <a:ext cx="299453" cy="741184"/>
            </a:xfrm>
            <a:prstGeom prst="rect">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 name="Groupe 14">
            <a:extLst>
              <a:ext uri="{FF2B5EF4-FFF2-40B4-BE49-F238E27FC236}">
                <a16:creationId xmlns:a16="http://schemas.microsoft.com/office/drawing/2014/main" id="{A2511729-FE33-014B-B3E5-5E316468DDFC}"/>
              </a:ext>
            </a:extLst>
          </p:cNvPr>
          <p:cNvGrpSpPr/>
          <p:nvPr userDrawn="1"/>
        </p:nvGrpSpPr>
        <p:grpSpPr>
          <a:xfrm rot="10800000">
            <a:off x="10709627" y="461210"/>
            <a:ext cx="1035293" cy="1896979"/>
            <a:chOff x="556126" y="3429000"/>
            <a:chExt cx="1035293" cy="1896979"/>
          </a:xfrm>
          <a:solidFill>
            <a:schemeClr val="bg1"/>
          </a:solidFill>
        </p:grpSpPr>
        <p:sp>
          <p:nvSpPr>
            <p:cNvPr id="16" name="Rectangle 15">
              <a:extLst>
                <a:ext uri="{FF2B5EF4-FFF2-40B4-BE49-F238E27FC236}">
                  <a16:creationId xmlns:a16="http://schemas.microsoft.com/office/drawing/2014/main" id="{BB0DD731-032F-BB48-A139-2A192A9C386C}"/>
                </a:ext>
              </a:extLst>
            </p:cNvPr>
            <p:cNvSpPr/>
            <p:nvPr/>
          </p:nvSpPr>
          <p:spPr>
            <a:xfrm>
              <a:off x="556126" y="3429000"/>
              <a:ext cx="294106" cy="189697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Rectangle 16">
              <a:extLst>
                <a:ext uri="{FF2B5EF4-FFF2-40B4-BE49-F238E27FC236}">
                  <a16:creationId xmlns:a16="http://schemas.microsoft.com/office/drawing/2014/main" id="{2D2A9355-7C75-3245-A9A8-D0CD63649897}"/>
                </a:ext>
              </a:extLst>
            </p:cNvPr>
            <p:cNvSpPr/>
            <p:nvPr/>
          </p:nvSpPr>
          <p:spPr>
            <a:xfrm rot="16200000">
              <a:off x="1071100" y="4805660"/>
              <a:ext cx="299453" cy="74118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2" name="Espace réservé du texte 23">
            <a:extLst>
              <a:ext uri="{FF2B5EF4-FFF2-40B4-BE49-F238E27FC236}">
                <a16:creationId xmlns:a16="http://schemas.microsoft.com/office/drawing/2014/main" id="{064D5568-EDCB-1443-9480-BBB72E55B384}"/>
              </a:ext>
            </a:extLst>
          </p:cNvPr>
          <p:cNvSpPr>
            <a:spLocks noGrp="1"/>
          </p:cNvSpPr>
          <p:nvPr>
            <p:ph type="body" sz="quarter" idx="11" hasCustomPrompt="1"/>
          </p:nvPr>
        </p:nvSpPr>
        <p:spPr>
          <a:xfrm>
            <a:off x="587112" y="4377489"/>
            <a:ext cx="4558344" cy="2141621"/>
          </a:xfrm>
          <a:prstGeom prst="rect">
            <a:avLst/>
          </a:prstGeom>
        </p:spPr>
        <p:txBody>
          <a:bodyPr lIns="180000" rIns="180000" anchor="ctr"/>
          <a:lstStyle>
            <a:lvl1pPr marL="0" indent="0" algn="r">
              <a:buNone/>
              <a:defRPr sz="5400" b="1"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Cliquer pour modifier</a:t>
            </a:r>
          </a:p>
        </p:txBody>
      </p:sp>
      <p:sp>
        <p:nvSpPr>
          <p:cNvPr id="23" name="Espace réservé du texte 23">
            <a:extLst>
              <a:ext uri="{FF2B5EF4-FFF2-40B4-BE49-F238E27FC236}">
                <a16:creationId xmlns:a16="http://schemas.microsoft.com/office/drawing/2014/main" id="{FE4467EA-FF45-D349-AE7E-9D12174214AE}"/>
              </a:ext>
            </a:extLst>
          </p:cNvPr>
          <p:cNvSpPr>
            <a:spLocks noGrp="1"/>
          </p:cNvSpPr>
          <p:nvPr>
            <p:ph type="body" sz="quarter" idx="12" hasCustomPrompt="1"/>
          </p:nvPr>
        </p:nvSpPr>
        <p:spPr>
          <a:xfrm>
            <a:off x="2531508" y="2781147"/>
            <a:ext cx="6739497" cy="2141621"/>
          </a:xfrm>
          <a:prstGeom prst="rect">
            <a:avLst/>
          </a:prstGeom>
        </p:spPr>
        <p:txBody>
          <a:bodyPr lIns="180000" rIns="180000" anchor="ctr"/>
          <a:lstStyle>
            <a:lvl1pPr marL="0" indent="0" algn="l">
              <a:buNone/>
              <a:defRPr sz="54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Cliquer pour modifier le texte du titre</a:t>
            </a:r>
          </a:p>
        </p:txBody>
      </p:sp>
      <p:sp>
        <p:nvSpPr>
          <p:cNvPr id="25" name="Espace réservé du texte 23">
            <a:extLst>
              <a:ext uri="{FF2B5EF4-FFF2-40B4-BE49-F238E27FC236}">
                <a16:creationId xmlns:a16="http://schemas.microsoft.com/office/drawing/2014/main" id="{8E37D544-4142-144F-A5A1-C192DDE84169}"/>
              </a:ext>
            </a:extLst>
          </p:cNvPr>
          <p:cNvSpPr>
            <a:spLocks noGrp="1"/>
          </p:cNvSpPr>
          <p:nvPr>
            <p:ph type="body" sz="quarter" idx="13" hasCustomPrompt="1"/>
          </p:nvPr>
        </p:nvSpPr>
        <p:spPr>
          <a:xfrm>
            <a:off x="9060446" y="5894966"/>
            <a:ext cx="2684474" cy="501824"/>
          </a:xfrm>
          <a:prstGeom prst="rect">
            <a:avLst/>
          </a:prstGeom>
        </p:spPr>
        <p:txBody>
          <a:bodyPr lIns="0" tIns="0" rIns="0" bIns="0" anchor="b"/>
          <a:lstStyle>
            <a:lvl1pPr marL="0" indent="0" algn="r">
              <a:buNone/>
              <a:defRPr sz="18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Date</a:t>
            </a:r>
          </a:p>
        </p:txBody>
      </p:sp>
      <p:pic>
        <p:nvPicPr>
          <p:cNvPr id="3" name="Image 2" descr="Une image contenant texte&#10;&#10;Description générée automatiquement">
            <a:extLst>
              <a:ext uri="{FF2B5EF4-FFF2-40B4-BE49-F238E27FC236}">
                <a16:creationId xmlns:a16="http://schemas.microsoft.com/office/drawing/2014/main" id="{71E16D69-86E3-1E4B-FD4D-061037C55908}"/>
              </a:ext>
            </a:extLst>
          </p:cNvPr>
          <p:cNvPicPr>
            <a:picLocks noChangeAspect="1"/>
          </p:cNvPicPr>
          <p:nvPr userDrawn="1"/>
        </p:nvPicPr>
        <p:blipFill>
          <a:blip r:embed="rId3"/>
          <a:stretch>
            <a:fillRect/>
          </a:stretch>
        </p:blipFill>
        <p:spPr>
          <a:xfrm>
            <a:off x="452225" y="461210"/>
            <a:ext cx="4106118" cy="1123372"/>
          </a:xfrm>
          <a:prstGeom prst="rect">
            <a:avLst/>
          </a:prstGeom>
        </p:spPr>
      </p:pic>
    </p:spTree>
    <p:extLst>
      <p:ext uri="{BB962C8B-B14F-4D97-AF65-F5344CB8AC3E}">
        <p14:creationId xmlns:p14="http://schemas.microsoft.com/office/powerpoint/2010/main" val="1349388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Sommaire en 3">
    <p:spTree>
      <p:nvGrpSpPr>
        <p:cNvPr id="1" name=""/>
        <p:cNvGrpSpPr/>
        <p:nvPr/>
      </p:nvGrpSpPr>
      <p:grpSpPr>
        <a:xfrm>
          <a:off x="0" y="0"/>
          <a:ext cx="0" cy="0"/>
          <a:chOff x="0" y="0"/>
          <a:chExt cx="0" cy="0"/>
        </a:xfrm>
      </p:grpSpPr>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1202"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74245"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245481" y="2132702"/>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488849" y="3103549"/>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748725" y="4074396"/>
            <a:ext cx="879944" cy="795890"/>
          </a:xfrm>
          <a:prstGeom prst="parallelogram">
            <a:avLst/>
          </a:prstGeom>
          <a:solidFill>
            <a:srgbClr val="41A4C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36523"/>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315006" y="225327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911867" y="226228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532807" y="322074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781925" y="4179203"/>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911867" y="3220744"/>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911867" y="4173559"/>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Tree>
    <p:extLst>
      <p:ext uri="{BB962C8B-B14F-4D97-AF65-F5344CB8AC3E}">
        <p14:creationId xmlns:p14="http://schemas.microsoft.com/office/powerpoint/2010/main" val="3246561519"/>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1_Sommaire en 4">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DEDE16C2-F04B-5183-9F8C-CF77FAD5BA13}"/>
              </a:ext>
            </a:extLst>
          </p:cNvPr>
          <p:cNvGraphicFramePr>
            <a:graphicFrameLocks noChangeAspect="1"/>
          </p:cNvGraphicFramePr>
          <p:nvPr userDrawn="1">
            <p:custDataLst>
              <p:tags r:id="rId1"/>
            </p:custDataLst>
            <p:extLst>
              <p:ext uri="{D42A27DB-BD31-4B8C-83A1-F6EECF244321}">
                <p14:modId xmlns:p14="http://schemas.microsoft.com/office/powerpoint/2010/main" val="34964437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0" imgH="469" progId="TCLayout.ActiveDocument.1">
                  <p:embed/>
                </p:oleObj>
              </mc:Choice>
              <mc:Fallback>
                <p:oleObj name="think-cell Slide" r:id="rId3" imgW="470" imgH="469" progId="TCLayout.ActiveDocument.1">
                  <p:embed/>
                  <p:pic>
                    <p:nvPicPr>
                      <p:cNvPr id="4" name="Object 3" hidden="1">
                        <a:extLst>
                          <a:ext uri="{FF2B5EF4-FFF2-40B4-BE49-F238E27FC236}">
                            <a16:creationId xmlns:a16="http://schemas.microsoft.com/office/drawing/2014/main" id="{DEDE16C2-F04B-5183-9F8C-CF77FAD5BA1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24198"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56807"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2936705" y="1121490"/>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180073" y="2092337"/>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439949" y="3063184"/>
            <a:ext cx="879944" cy="795890"/>
          </a:xfrm>
          <a:prstGeom prst="parallelogram">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684979" y="1251074"/>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684979" y="2209532"/>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684979" y="3162347"/>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11" name="Espace réservé du texte 23">
            <a:extLst>
              <a:ext uri="{FF2B5EF4-FFF2-40B4-BE49-F238E27FC236}">
                <a16:creationId xmlns:a16="http://schemas.microsoft.com/office/drawing/2014/main" id="{CEEA810F-4B6E-A222-DC3C-89AA31D68B4F}"/>
              </a:ext>
            </a:extLst>
          </p:cNvPr>
          <p:cNvSpPr>
            <a:spLocks noGrp="1"/>
          </p:cNvSpPr>
          <p:nvPr>
            <p:ph type="body" sz="quarter" idx="21" hasCustomPrompt="1"/>
          </p:nvPr>
        </p:nvSpPr>
        <p:spPr>
          <a:xfrm>
            <a:off x="10684979" y="4132073"/>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3" name="Rectangle : avec coin rogné 2">
            <a:extLst>
              <a:ext uri="{FF2B5EF4-FFF2-40B4-BE49-F238E27FC236}">
                <a16:creationId xmlns:a16="http://schemas.microsoft.com/office/drawing/2014/main" id="{3C35B311-8A5F-959D-911C-9BEE999E88D2}"/>
              </a:ext>
            </a:extLst>
          </p:cNvPr>
          <p:cNvSpPr/>
          <p:nvPr userDrawn="1"/>
        </p:nvSpPr>
        <p:spPr>
          <a:xfrm rot="10800000">
            <a:off x="4740622" y="19559"/>
            <a:ext cx="330925" cy="6818880"/>
          </a:xfrm>
          <a:prstGeom prst="snip1Rect">
            <a:avLst>
              <a:gd name="adj" fmla="val 1943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Parallélogramme 14">
            <a:extLst>
              <a:ext uri="{FF2B5EF4-FFF2-40B4-BE49-F238E27FC236}">
                <a16:creationId xmlns:a16="http://schemas.microsoft.com/office/drawing/2014/main" id="{28918D0A-2654-D1B8-EEA4-5D6B878D5DCB}"/>
              </a:ext>
            </a:extLst>
          </p:cNvPr>
          <p:cNvSpPr/>
          <p:nvPr userDrawn="1"/>
        </p:nvSpPr>
        <p:spPr>
          <a:xfrm flipH="1">
            <a:off x="3708719" y="4079680"/>
            <a:ext cx="879944" cy="795890"/>
          </a:xfrm>
          <a:prstGeom prst="parallelogram">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4</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9560"/>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006230" y="1242058"/>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224031" y="2209532"/>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473149" y="3167991"/>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0" name="Espace réservé du texte 23">
            <a:extLst>
              <a:ext uri="{FF2B5EF4-FFF2-40B4-BE49-F238E27FC236}">
                <a16:creationId xmlns:a16="http://schemas.microsoft.com/office/drawing/2014/main" id="{EA1EE1A5-0D86-465E-AD3C-B858516DEC1A}"/>
              </a:ext>
            </a:extLst>
          </p:cNvPr>
          <p:cNvSpPr>
            <a:spLocks noGrp="1"/>
          </p:cNvSpPr>
          <p:nvPr>
            <p:ph type="body" sz="quarter" idx="20" hasCustomPrompt="1"/>
          </p:nvPr>
        </p:nvSpPr>
        <p:spPr>
          <a:xfrm>
            <a:off x="4721083" y="4137717"/>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5" name="Rectangle : avec coin rogné 4">
            <a:extLst>
              <a:ext uri="{FF2B5EF4-FFF2-40B4-BE49-F238E27FC236}">
                <a16:creationId xmlns:a16="http://schemas.microsoft.com/office/drawing/2014/main" id="{8C4061DD-7074-FBF0-E861-3B9BC2821553}"/>
              </a:ext>
            </a:extLst>
          </p:cNvPr>
          <p:cNvSpPr/>
          <p:nvPr userDrawn="1"/>
        </p:nvSpPr>
        <p:spPr>
          <a:xfrm rot="10800000">
            <a:off x="4944324" y="6218623"/>
            <a:ext cx="4640540" cy="549523"/>
          </a:xfrm>
          <a:prstGeom prst="snip1Rect">
            <a:avLst>
              <a:gd name="adj" fmla="val 16453"/>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Parallélogramme 14">
            <a:extLst>
              <a:ext uri="{FF2B5EF4-FFF2-40B4-BE49-F238E27FC236}">
                <a16:creationId xmlns:a16="http://schemas.microsoft.com/office/drawing/2014/main" id="{C725A605-2127-EEE4-1A84-4B99F0556559}"/>
              </a:ext>
            </a:extLst>
          </p:cNvPr>
          <p:cNvSpPr/>
          <p:nvPr userDrawn="1"/>
        </p:nvSpPr>
        <p:spPr>
          <a:xfrm flipH="1">
            <a:off x="3960091" y="5063539"/>
            <a:ext cx="879944" cy="795890"/>
          </a:xfrm>
          <a:prstGeom prst="parallelogram">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5</a:t>
            </a:r>
          </a:p>
        </p:txBody>
      </p:sp>
      <p:sp>
        <p:nvSpPr>
          <p:cNvPr id="7" name="Espace réservé du texte 23">
            <a:extLst>
              <a:ext uri="{FF2B5EF4-FFF2-40B4-BE49-F238E27FC236}">
                <a16:creationId xmlns:a16="http://schemas.microsoft.com/office/drawing/2014/main" id="{93D56765-4DC5-5ACE-9300-09A864726B1E}"/>
              </a:ext>
            </a:extLst>
          </p:cNvPr>
          <p:cNvSpPr>
            <a:spLocks noGrp="1"/>
          </p:cNvSpPr>
          <p:nvPr>
            <p:ph type="body" sz="quarter" idx="22" hasCustomPrompt="1"/>
          </p:nvPr>
        </p:nvSpPr>
        <p:spPr>
          <a:xfrm>
            <a:off x="4933772" y="5107443"/>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9" name="Espace réservé du texte 23">
            <a:extLst>
              <a:ext uri="{FF2B5EF4-FFF2-40B4-BE49-F238E27FC236}">
                <a16:creationId xmlns:a16="http://schemas.microsoft.com/office/drawing/2014/main" id="{54A3FB97-4A25-9A42-1CF3-BE53D026EFE2}"/>
              </a:ext>
            </a:extLst>
          </p:cNvPr>
          <p:cNvSpPr>
            <a:spLocks noGrp="1"/>
          </p:cNvSpPr>
          <p:nvPr>
            <p:ph type="body" sz="quarter" idx="23" hasCustomPrompt="1"/>
          </p:nvPr>
        </p:nvSpPr>
        <p:spPr>
          <a:xfrm>
            <a:off x="10684979" y="5101799"/>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Tree>
    <p:extLst>
      <p:ext uri="{BB962C8B-B14F-4D97-AF65-F5344CB8AC3E}">
        <p14:creationId xmlns:p14="http://schemas.microsoft.com/office/powerpoint/2010/main" val="3926141492"/>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Sommaire en 4">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DEDE16C2-F04B-5183-9F8C-CF77FAD5BA13}"/>
              </a:ext>
            </a:extLst>
          </p:cNvPr>
          <p:cNvGraphicFramePr>
            <a:graphicFrameLocks noChangeAspect="1"/>
          </p:cNvGraphicFramePr>
          <p:nvPr userDrawn="1">
            <p:custDataLst>
              <p:tags r:id="rId1"/>
            </p:custDataLst>
            <p:extLst>
              <p:ext uri="{D42A27DB-BD31-4B8C-83A1-F6EECF244321}">
                <p14:modId xmlns:p14="http://schemas.microsoft.com/office/powerpoint/2010/main" val="34964437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0" imgH="469" progId="TCLayout.ActiveDocument.1">
                  <p:embed/>
                </p:oleObj>
              </mc:Choice>
              <mc:Fallback>
                <p:oleObj name="think-cell Slide" r:id="rId3" imgW="470" imgH="469" progId="TCLayout.ActiveDocument.1">
                  <p:embed/>
                  <p:pic>
                    <p:nvPicPr>
                      <p:cNvPr id="4" name="Object 3" hidden="1">
                        <a:extLst>
                          <a:ext uri="{FF2B5EF4-FFF2-40B4-BE49-F238E27FC236}">
                            <a16:creationId xmlns:a16="http://schemas.microsoft.com/office/drawing/2014/main" id="{DEDE16C2-F04B-5183-9F8C-CF77FAD5BA1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24198" y="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56807"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9560"/>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2" name="Rectangle 1">
            <a:extLst>
              <a:ext uri="{FF2B5EF4-FFF2-40B4-BE49-F238E27FC236}">
                <a16:creationId xmlns:a16="http://schemas.microsoft.com/office/drawing/2014/main" id="{7853081C-ABF7-0C0A-3FA3-F405C3260C00}"/>
              </a:ext>
            </a:extLst>
          </p:cNvPr>
          <p:cNvSpPr/>
          <p:nvPr userDrawn="1"/>
        </p:nvSpPr>
        <p:spPr>
          <a:xfrm>
            <a:off x="4738489" y="139700"/>
            <a:ext cx="585298" cy="6718299"/>
          </a:xfrm>
          <a:prstGeom prst="rect">
            <a:avLst/>
          </a:prstGeom>
          <a:solidFill>
            <a:srgbClr val="F2F2F2"/>
          </a:solidFill>
          <a:ln>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2909281" y="1159372"/>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152649" y="2130219"/>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17" name="Parallélogramme 16">
            <a:extLst>
              <a:ext uri="{FF2B5EF4-FFF2-40B4-BE49-F238E27FC236}">
                <a16:creationId xmlns:a16="http://schemas.microsoft.com/office/drawing/2014/main" id="{89492D72-4E55-2540-9803-D9A3138FBBA4}"/>
              </a:ext>
            </a:extLst>
          </p:cNvPr>
          <p:cNvSpPr/>
          <p:nvPr userDrawn="1"/>
        </p:nvSpPr>
        <p:spPr>
          <a:xfrm flipH="1">
            <a:off x="3412525" y="3101066"/>
            <a:ext cx="879944" cy="795890"/>
          </a:xfrm>
          <a:prstGeom prst="parallelogram">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3</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3978806" y="127994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657555" y="128895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196607" y="224741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7" name="Espace réservé du texte 23">
            <a:extLst>
              <a:ext uri="{FF2B5EF4-FFF2-40B4-BE49-F238E27FC236}">
                <a16:creationId xmlns:a16="http://schemas.microsoft.com/office/drawing/2014/main" id="{B071676A-CC45-7F4A-9583-1E3BC0AAFC7C}"/>
              </a:ext>
            </a:extLst>
          </p:cNvPr>
          <p:cNvSpPr>
            <a:spLocks noGrp="1"/>
          </p:cNvSpPr>
          <p:nvPr>
            <p:ph type="body" sz="quarter" idx="15" hasCustomPrompt="1"/>
          </p:nvPr>
        </p:nvSpPr>
        <p:spPr>
          <a:xfrm>
            <a:off x="4445725" y="3205873"/>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657555" y="2247414"/>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
        <p:nvSpPr>
          <p:cNvPr id="41" name="Espace réservé du texte 23">
            <a:extLst>
              <a:ext uri="{FF2B5EF4-FFF2-40B4-BE49-F238E27FC236}">
                <a16:creationId xmlns:a16="http://schemas.microsoft.com/office/drawing/2014/main" id="{D49264BD-1864-0147-A1F0-1C724557E131}"/>
              </a:ext>
            </a:extLst>
          </p:cNvPr>
          <p:cNvSpPr>
            <a:spLocks noGrp="1"/>
          </p:cNvSpPr>
          <p:nvPr>
            <p:ph type="body" sz="quarter" idx="19" hasCustomPrompt="1"/>
          </p:nvPr>
        </p:nvSpPr>
        <p:spPr>
          <a:xfrm>
            <a:off x="10657555" y="3200229"/>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6" name="Parallélogramme 14">
            <a:extLst>
              <a:ext uri="{FF2B5EF4-FFF2-40B4-BE49-F238E27FC236}">
                <a16:creationId xmlns:a16="http://schemas.microsoft.com/office/drawing/2014/main" id="{28918D0A-2654-D1B8-EEA4-5D6B878D5DCB}"/>
              </a:ext>
            </a:extLst>
          </p:cNvPr>
          <p:cNvSpPr/>
          <p:nvPr userDrawn="1"/>
        </p:nvSpPr>
        <p:spPr>
          <a:xfrm flipH="1">
            <a:off x="3681295" y="4117562"/>
            <a:ext cx="879944" cy="795890"/>
          </a:xfrm>
          <a:prstGeom prst="parallelogram">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4</a:t>
            </a:r>
          </a:p>
        </p:txBody>
      </p:sp>
      <p:sp>
        <p:nvSpPr>
          <p:cNvPr id="7" name="Parallélogramme 14">
            <a:extLst>
              <a:ext uri="{FF2B5EF4-FFF2-40B4-BE49-F238E27FC236}">
                <a16:creationId xmlns:a16="http://schemas.microsoft.com/office/drawing/2014/main" id="{4BAA929F-8768-BC8D-540B-E108F3F96DF0}"/>
              </a:ext>
            </a:extLst>
          </p:cNvPr>
          <p:cNvSpPr/>
          <p:nvPr userDrawn="1"/>
        </p:nvSpPr>
        <p:spPr>
          <a:xfrm flipH="1">
            <a:off x="3956327" y="5134058"/>
            <a:ext cx="879944" cy="795890"/>
          </a:xfrm>
          <a:prstGeom prst="parallelogram">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5</a:t>
            </a:r>
          </a:p>
        </p:txBody>
      </p:sp>
      <p:sp>
        <p:nvSpPr>
          <p:cNvPr id="10" name="Espace réservé du texte 23">
            <a:extLst>
              <a:ext uri="{FF2B5EF4-FFF2-40B4-BE49-F238E27FC236}">
                <a16:creationId xmlns:a16="http://schemas.microsoft.com/office/drawing/2014/main" id="{EA1EE1A5-0D86-465E-AD3C-B858516DEC1A}"/>
              </a:ext>
            </a:extLst>
          </p:cNvPr>
          <p:cNvSpPr>
            <a:spLocks noGrp="1"/>
          </p:cNvSpPr>
          <p:nvPr>
            <p:ph type="body" sz="quarter" idx="20" hasCustomPrompt="1"/>
          </p:nvPr>
        </p:nvSpPr>
        <p:spPr>
          <a:xfrm>
            <a:off x="4693659" y="4175599"/>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1" name="Espace réservé du texte 23">
            <a:extLst>
              <a:ext uri="{FF2B5EF4-FFF2-40B4-BE49-F238E27FC236}">
                <a16:creationId xmlns:a16="http://schemas.microsoft.com/office/drawing/2014/main" id="{CEEA810F-4B6E-A222-DC3C-89AA31D68B4F}"/>
              </a:ext>
            </a:extLst>
          </p:cNvPr>
          <p:cNvSpPr>
            <a:spLocks noGrp="1"/>
          </p:cNvSpPr>
          <p:nvPr>
            <p:ph type="body" sz="quarter" idx="21" hasCustomPrompt="1"/>
          </p:nvPr>
        </p:nvSpPr>
        <p:spPr>
          <a:xfrm>
            <a:off x="10657555" y="4169955"/>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
        <p:nvSpPr>
          <p:cNvPr id="12" name="Espace réservé du texte 23">
            <a:extLst>
              <a:ext uri="{FF2B5EF4-FFF2-40B4-BE49-F238E27FC236}">
                <a16:creationId xmlns:a16="http://schemas.microsoft.com/office/drawing/2014/main" id="{B7B67D1E-A508-78C8-54AE-3108C86B1C40}"/>
              </a:ext>
            </a:extLst>
          </p:cNvPr>
          <p:cNvSpPr>
            <a:spLocks noGrp="1"/>
          </p:cNvSpPr>
          <p:nvPr>
            <p:ph type="body" sz="quarter" idx="22" hasCustomPrompt="1"/>
          </p:nvPr>
        </p:nvSpPr>
        <p:spPr>
          <a:xfrm>
            <a:off x="4976637" y="5226990"/>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13" name="Espace réservé du texte 23">
            <a:extLst>
              <a:ext uri="{FF2B5EF4-FFF2-40B4-BE49-F238E27FC236}">
                <a16:creationId xmlns:a16="http://schemas.microsoft.com/office/drawing/2014/main" id="{5424D280-A939-FED7-7C71-D98BBAF34542}"/>
              </a:ext>
            </a:extLst>
          </p:cNvPr>
          <p:cNvSpPr>
            <a:spLocks noGrp="1"/>
          </p:cNvSpPr>
          <p:nvPr>
            <p:ph type="body" sz="quarter" idx="23" hasCustomPrompt="1"/>
          </p:nvPr>
        </p:nvSpPr>
        <p:spPr>
          <a:xfrm>
            <a:off x="10657555" y="5221346"/>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9</a:t>
            </a:r>
          </a:p>
        </p:txBody>
      </p:sp>
    </p:spTree>
    <p:extLst>
      <p:ext uri="{BB962C8B-B14F-4D97-AF65-F5344CB8AC3E}">
        <p14:creationId xmlns:p14="http://schemas.microsoft.com/office/powerpoint/2010/main" val="2575936751"/>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Sommaire en 5">
    <p:spTree>
      <p:nvGrpSpPr>
        <p:cNvPr id="1" name=""/>
        <p:cNvGrpSpPr/>
        <p:nvPr/>
      </p:nvGrpSpPr>
      <p:grpSpPr>
        <a:xfrm>
          <a:off x="0" y="0"/>
          <a:ext cx="0" cy="0"/>
          <a:chOff x="0" y="0"/>
          <a:chExt cx="0" cy="0"/>
        </a:xfrm>
      </p:grpSpPr>
      <p:pic>
        <p:nvPicPr>
          <p:cNvPr id="28" name="Image 27">
            <a:extLst>
              <a:ext uri="{FF2B5EF4-FFF2-40B4-BE49-F238E27FC236}">
                <a16:creationId xmlns:a16="http://schemas.microsoft.com/office/drawing/2014/main" id="{2999B97C-9E1D-3F4A-995A-F1049179ACD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202" y="0"/>
            <a:ext cx="4783127" cy="6858000"/>
          </a:xfrm>
          <a:prstGeom prst="rect">
            <a:avLst/>
          </a:prstGeom>
        </p:spPr>
      </p:pic>
      <p:sp>
        <p:nvSpPr>
          <p:cNvPr id="8" name="Title 12">
            <a:extLst>
              <a:ext uri="{FF2B5EF4-FFF2-40B4-BE49-F238E27FC236}">
                <a16:creationId xmlns:a16="http://schemas.microsoft.com/office/drawing/2014/main" id="{F0FA8E8B-EB02-A348-B903-E4B6840BCF74}"/>
              </a:ext>
            </a:extLst>
          </p:cNvPr>
          <p:cNvSpPr txBox="1">
            <a:spLocks/>
          </p:cNvSpPr>
          <p:nvPr userDrawn="1"/>
        </p:nvSpPr>
        <p:spPr>
          <a:xfrm>
            <a:off x="0" y="16571"/>
            <a:ext cx="4749655" cy="6858000"/>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29" name="Triangle rectangle 28">
            <a:extLst>
              <a:ext uri="{FF2B5EF4-FFF2-40B4-BE49-F238E27FC236}">
                <a16:creationId xmlns:a16="http://schemas.microsoft.com/office/drawing/2014/main" id="{29C08C9D-CC31-5941-AFBE-260907A879A9}"/>
              </a:ext>
            </a:extLst>
          </p:cNvPr>
          <p:cNvSpPr/>
          <p:nvPr userDrawn="1"/>
        </p:nvSpPr>
        <p:spPr>
          <a:xfrm flipH="1" flipV="1">
            <a:off x="3074245" y="0"/>
            <a:ext cx="1709152" cy="685800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a:extLst>
              <a:ext uri="{FF2B5EF4-FFF2-40B4-BE49-F238E27FC236}">
                <a16:creationId xmlns:a16="http://schemas.microsoft.com/office/drawing/2014/main" id="{D91E4A71-1D20-CB44-AB87-A1134A16EA48}"/>
              </a:ext>
            </a:extLst>
          </p:cNvPr>
          <p:cNvSpPr/>
          <p:nvPr userDrawn="1"/>
        </p:nvSpPr>
        <p:spPr>
          <a:xfrm flipH="1">
            <a:off x="3236727" y="2080536"/>
            <a:ext cx="879944" cy="795890"/>
          </a:xfrm>
          <a:prstGeom prst="parallelogram">
            <a:avLst/>
          </a:prstGeom>
          <a:solidFill>
            <a:srgbClr val="1C5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1</a:t>
            </a:r>
          </a:p>
        </p:txBody>
      </p:sp>
      <p:sp>
        <p:nvSpPr>
          <p:cNvPr id="16" name="Parallélogramme 15">
            <a:extLst>
              <a:ext uri="{FF2B5EF4-FFF2-40B4-BE49-F238E27FC236}">
                <a16:creationId xmlns:a16="http://schemas.microsoft.com/office/drawing/2014/main" id="{3BB1CED9-257C-B247-9CE4-B73D78FFF169}"/>
              </a:ext>
            </a:extLst>
          </p:cNvPr>
          <p:cNvSpPr/>
          <p:nvPr userDrawn="1"/>
        </p:nvSpPr>
        <p:spPr>
          <a:xfrm flipH="1">
            <a:off x="3541641" y="3534960"/>
            <a:ext cx="879944" cy="795890"/>
          </a:xfrm>
          <a:prstGeom prst="parallelogram">
            <a:avLst/>
          </a:prstGeom>
          <a:solidFill>
            <a:srgbClr val="3E78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a:solidFill>
                  <a:schemeClr val="bg1"/>
                </a:solidFill>
                <a:latin typeface="Calibri" panose="020F0502020204030204" pitchFamily="34" charset="0"/>
                <a:ea typeface="Roboto" panose="02000000000000000000" pitchFamily="2" charset="0"/>
                <a:cs typeface="Calibri" panose="020F0502020204030204" pitchFamily="34" charset="0"/>
              </a:rPr>
              <a:t>2</a:t>
            </a:r>
          </a:p>
        </p:txBody>
      </p:sp>
      <p:sp>
        <p:nvSpPr>
          <p:cNvPr id="31" name="Espace réservé du texte 23">
            <a:extLst>
              <a:ext uri="{FF2B5EF4-FFF2-40B4-BE49-F238E27FC236}">
                <a16:creationId xmlns:a16="http://schemas.microsoft.com/office/drawing/2014/main" id="{D10D9FBB-3265-2644-93DB-52CE883DDF71}"/>
              </a:ext>
            </a:extLst>
          </p:cNvPr>
          <p:cNvSpPr>
            <a:spLocks noGrp="1"/>
          </p:cNvSpPr>
          <p:nvPr>
            <p:ph type="body" sz="quarter" idx="11" hasCustomPrompt="1"/>
          </p:nvPr>
        </p:nvSpPr>
        <p:spPr>
          <a:xfrm>
            <a:off x="3541641" y="136523"/>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
        <p:nvSpPr>
          <p:cNvPr id="33" name="Espace réservé du texte 23">
            <a:extLst>
              <a:ext uri="{FF2B5EF4-FFF2-40B4-BE49-F238E27FC236}">
                <a16:creationId xmlns:a16="http://schemas.microsoft.com/office/drawing/2014/main" id="{30D22937-16AD-1A47-8C70-4C4C58F2950C}"/>
              </a:ext>
            </a:extLst>
          </p:cNvPr>
          <p:cNvSpPr>
            <a:spLocks noGrp="1"/>
          </p:cNvSpPr>
          <p:nvPr>
            <p:ph type="body" sz="quarter" idx="12" hasCustomPrompt="1"/>
          </p:nvPr>
        </p:nvSpPr>
        <p:spPr>
          <a:xfrm>
            <a:off x="4306252" y="2201104"/>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35" name="Espace réservé du texte 23">
            <a:extLst>
              <a:ext uri="{FF2B5EF4-FFF2-40B4-BE49-F238E27FC236}">
                <a16:creationId xmlns:a16="http://schemas.microsoft.com/office/drawing/2014/main" id="{55DFE276-7539-1440-A312-0E0B16DCF332}"/>
              </a:ext>
            </a:extLst>
          </p:cNvPr>
          <p:cNvSpPr>
            <a:spLocks noGrp="1"/>
          </p:cNvSpPr>
          <p:nvPr>
            <p:ph type="body" sz="quarter" idx="13" hasCustomPrompt="1"/>
          </p:nvPr>
        </p:nvSpPr>
        <p:spPr>
          <a:xfrm>
            <a:off x="10903113" y="2210120"/>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3</a:t>
            </a:r>
          </a:p>
        </p:txBody>
      </p:sp>
      <p:sp>
        <p:nvSpPr>
          <p:cNvPr id="36" name="Espace réservé du texte 23">
            <a:extLst>
              <a:ext uri="{FF2B5EF4-FFF2-40B4-BE49-F238E27FC236}">
                <a16:creationId xmlns:a16="http://schemas.microsoft.com/office/drawing/2014/main" id="{3EA47158-C398-C04C-9775-696F09B1B16F}"/>
              </a:ext>
            </a:extLst>
          </p:cNvPr>
          <p:cNvSpPr>
            <a:spLocks noGrp="1"/>
          </p:cNvSpPr>
          <p:nvPr>
            <p:ph type="body" sz="quarter" idx="14" hasCustomPrompt="1"/>
          </p:nvPr>
        </p:nvSpPr>
        <p:spPr>
          <a:xfrm>
            <a:off x="4585599" y="3652155"/>
            <a:ext cx="5395747" cy="549522"/>
          </a:xfrm>
          <a:prstGeom prst="rect">
            <a:avLst/>
          </a:prstGeom>
        </p:spPr>
        <p:txBody>
          <a:bodyPr lIns="0" tIns="0" rIns="0" bIns="0" anchor="ctr"/>
          <a:lstStyle>
            <a:lvl1pPr marL="0" indent="0" algn="l">
              <a:buNone/>
              <a:defRPr sz="24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du chapitre</a:t>
            </a:r>
          </a:p>
        </p:txBody>
      </p:sp>
      <p:sp>
        <p:nvSpPr>
          <p:cNvPr id="40" name="Espace réservé du texte 23">
            <a:extLst>
              <a:ext uri="{FF2B5EF4-FFF2-40B4-BE49-F238E27FC236}">
                <a16:creationId xmlns:a16="http://schemas.microsoft.com/office/drawing/2014/main" id="{C2962C3B-AA93-FA49-AA1C-7DFCCA37932C}"/>
              </a:ext>
            </a:extLst>
          </p:cNvPr>
          <p:cNvSpPr>
            <a:spLocks noGrp="1"/>
          </p:cNvSpPr>
          <p:nvPr>
            <p:ph type="body" sz="quarter" idx="18" hasCustomPrompt="1"/>
          </p:nvPr>
        </p:nvSpPr>
        <p:spPr>
          <a:xfrm>
            <a:off x="10964659" y="3652155"/>
            <a:ext cx="916298" cy="549522"/>
          </a:xfrm>
          <a:prstGeom prst="rect">
            <a:avLst/>
          </a:prstGeom>
        </p:spPr>
        <p:txBody>
          <a:bodyPr lIns="0" tIns="0" rIns="0" bIns="0" anchor="ctr"/>
          <a:lstStyle>
            <a:lvl1pPr marL="0" indent="0" algn="r">
              <a:buNone/>
              <a:defRPr sz="16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page 6</a:t>
            </a:r>
          </a:p>
        </p:txBody>
      </p:sp>
    </p:spTree>
    <p:extLst>
      <p:ext uri="{BB962C8B-B14F-4D97-AF65-F5344CB8AC3E}">
        <p14:creationId xmlns:p14="http://schemas.microsoft.com/office/powerpoint/2010/main" val="104453844"/>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Texte seul">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7" name="Espace réservé du texte 23">
            <a:extLst>
              <a:ext uri="{FF2B5EF4-FFF2-40B4-BE49-F238E27FC236}">
                <a16:creationId xmlns:a16="http://schemas.microsoft.com/office/drawing/2014/main" id="{ACB70F44-1D99-394D-AB89-5318F00D0F5F}"/>
              </a:ext>
            </a:extLst>
          </p:cNvPr>
          <p:cNvSpPr>
            <a:spLocks noGrp="1"/>
          </p:cNvSpPr>
          <p:nvPr>
            <p:ph type="body" sz="quarter" idx="12" hasCustomPrompt="1"/>
          </p:nvPr>
        </p:nvSpPr>
        <p:spPr>
          <a:xfrm>
            <a:off x="685939" y="1241035"/>
            <a:ext cx="10820123"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Tree>
    <p:extLst>
      <p:ext uri="{BB962C8B-B14F-4D97-AF65-F5344CB8AC3E}">
        <p14:creationId xmlns:p14="http://schemas.microsoft.com/office/powerpoint/2010/main" val="158885010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2 colonn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54" name="Espace réservé du texte 23">
            <a:extLst>
              <a:ext uri="{FF2B5EF4-FFF2-40B4-BE49-F238E27FC236}">
                <a16:creationId xmlns:a16="http://schemas.microsoft.com/office/drawing/2014/main" id="{6BEC00FC-5FD6-9747-A4F5-1BA0C868AE09}"/>
              </a:ext>
            </a:extLst>
          </p:cNvPr>
          <p:cNvSpPr>
            <a:spLocks noGrp="1"/>
          </p:cNvSpPr>
          <p:nvPr>
            <p:ph type="body" sz="quarter" idx="12" hasCustomPrompt="1"/>
          </p:nvPr>
        </p:nvSpPr>
        <p:spPr>
          <a:xfrm>
            <a:off x="685939" y="1241035"/>
            <a:ext cx="5096545"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gauche</a:t>
            </a:r>
          </a:p>
        </p:txBody>
      </p:sp>
      <p:sp>
        <p:nvSpPr>
          <p:cNvPr id="55" name="Espace réservé du texte 23">
            <a:extLst>
              <a:ext uri="{FF2B5EF4-FFF2-40B4-BE49-F238E27FC236}">
                <a16:creationId xmlns:a16="http://schemas.microsoft.com/office/drawing/2014/main" id="{C8D64181-356C-BF4B-AD7A-BF7600F64136}"/>
              </a:ext>
            </a:extLst>
          </p:cNvPr>
          <p:cNvSpPr>
            <a:spLocks noGrp="1"/>
          </p:cNvSpPr>
          <p:nvPr>
            <p:ph type="body" sz="quarter" idx="13" hasCustomPrompt="1"/>
          </p:nvPr>
        </p:nvSpPr>
        <p:spPr>
          <a:xfrm>
            <a:off x="6409517" y="1238735"/>
            <a:ext cx="5096545"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droite</a:t>
            </a:r>
          </a:p>
        </p:txBody>
      </p:sp>
    </p:spTree>
    <p:extLst>
      <p:ext uri="{BB962C8B-B14F-4D97-AF65-F5344CB8AC3E}">
        <p14:creationId xmlns:p14="http://schemas.microsoft.com/office/powerpoint/2010/main" val="3454155886"/>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Texte et imag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54" name="Espace réservé du texte 23">
            <a:extLst>
              <a:ext uri="{FF2B5EF4-FFF2-40B4-BE49-F238E27FC236}">
                <a16:creationId xmlns:a16="http://schemas.microsoft.com/office/drawing/2014/main" id="{6BEC00FC-5FD6-9747-A4F5-1BA0C868AE09}"/>
              </a:ext>
            </a:extLst>
          </p:cNvPr>
          <p:cNvSpPr>
            <a:spLocks noGrp="1"/>
          </p:cNvSpPr>
          <p:nvPr>
            <p:ph type="body" sz="quarter" idx="12" hasCustomPrompt="1"/>
          </p:nvPr>
        </p:nvSpPr>
        <p:spPr>
          <a:xfrm>
            <a:off x="685939" y="1241035"/>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8" name="Espace réservé pour une image  2">
            <a:extLst>
              <a:ext uri="{FF2B5EF4-FFF2-40B4-BE49-F238E27FC236}">
                <a16:creationId xmlns:a16="http://schemas.microsoft.com/office/drawing/2014/main" id="{32B17CA0-7B4B-0249-8C01-D6A16678D57E}"/>
              </a:ext>
            </a:extLst>
          </p:cNvPr>
          <p:cNvSpPr>
            <a:spLocks noGrp="1"/>
          </p:cNvSpPr>
          <p:nvPr>
            <p:ph type="pic" sz="quarter" idx="14" hasCustomPrompt="1"/>
          </p:nvPr>
        </p:nvSpPr>
        <p:spPr>
          <a:xfrm>
            <a:off x="6409516" y="1238735"/>
            <a:ext cx="5096545"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une image</a:t>
            </a:r>
          </a:p>
        </p:txBody>
      </p:sp>
      <p:sp>
        <p:nvSpPr>
          <p:cNvPr id="15" name="Espace réservé du texte 23">
            <a:extLst>
              <a:ext uri="{FF2B5EF4-FFF2-40B4-BE49-F238E27FC236}">
                <a16:creationId xmlns:a16="http://schemas.microsoft.com/office/drawing/2014/main" id="{5CA10920-988C-8943-932E-EFAD26030E59}"/>
              </a:ext>
            </a:extLst>
          </p:cNvPr>
          <p:cNvSpPr>
            <a:spLocks noGrp="1"/>
          </p:cNvSpPr>
          <p:nvPr>
            <p:ph type="body" sz="quarter" idx="15" hasCustomPrompt="1"/>
          </p:nvPr>
        </p:nvSpPr>
        <p:spPr>
          <a:xfrm>
            <a:off x="685939" y="2896095"/>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17" name="Espace réservé du texte 23">
            <a:extLst>
              <a:ext uri="{FF2B5EF4-FFF2-40B4-BE49-F238E27FC236}">
                <a16:creationId xmlns:a16="http://schemas.microsoft.com/office/drawing/2014/main" id="{A59E213D-CFC8-474D-9D68-442A8AA0AC5E}"/>
              </a:ext>
            </a:extLst>
          </p:cNvPr>
          <p:cNvSpPr>
            <a:spLocks noGrp="1"/>
          </p:cNvSpPr>
          <p:nvPr>
            <p:ph type="body" sz="quarter" idx="16" hasCustomPrompt="1"/>
          </p:nvPr>
        </p:nvSpPr>
        <p:spPr>
          <a:xfrm>
            <a:off x="685939" y="4558180"/>
            <a:ext cx="5096545" cy="1293815"/>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cxnSp>
        <p:nvCxnSpPr>
          <p:cNvPr id="13" name="Connecteur droit 12">
            <a:extLst>
              <a:ext uri="{FF2B5EF4-FFF2-40B4-BE49-F238E27FC236}">
                <a16:creationId xmlns:a16="http://schemas.microsoft.com/office/drawing/2014/main" id="{F2FEFD0B-339E-AF4F-9099-7AF059A6383B}"/>
              </a:ext>
            </a:extLst>
          </p:cNvPr>
          <p:cNvCxnSpPr>
            <a:cxnSpLocks/>
          </p:cNvCxnSpPr>
          <p:nvPr userDrawn="1"/>
        </p:nvCxnSpPr>
        <p:spPr>
          <a:xfrm>
            <a:off x="685939" y="2714288"/>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A63393BA-537A-DB4C-B8A2-6AC2973373F8}"/>
              </a:ext>
            </a:extLst>
          </p:cNvPr>
          <p:cNvCxnSpPr>
            <a:cxnSpLocks/>
          </p:cNvCxnSpPr>
          <p:nvPr userDrawn="1"/>
        </p:nvCxnSpPr>
        <p:spPr>
          <a:xfrm>
            <a:off x="685939" y="4371397"/>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33207566"/>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Graphique et text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13" name="Espace réservé du graphique 2">
            <a:extLst>
              <a:ext uri="{FF2B5EF4-FFF2-40B4-BE49-F238E27FC236}">
                <a16:creationId xmlns:a16="http://schemas.microsoft.com/office/drawing/2014/main" id="{5704F82A-C2B5-874E-A712-6595A2250A46}"/>
              </a:ext>
            </a:extLst>
          </p:cNvPr>
          <p:cNvSpPr>
            <a:spLocks noGrp="1"/>
          </p:cNvSpPr>
          <p:nvPr>
            <p:ph type="chart" sz="quarter" idx="17" hasCustomPrompt="1"/>
          </p:nvPr>
        </p:nvSpPr>
        <p:spPr>
          <a:xfrm>
            <a:off x="685939" y="1238735"/>
            <a:ext cx="5096545"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 graphique</a:t>
            </a:r>
          </a:p>
        </p:txBody>
      </p:sp>
      <p:sp>
        <p:nvSpPr>
          <p:cNvPr id="10" name="Espace réservé du texte 23">
            <a:extLst>
              <a:ext uri="{FF2B5EF4-FFF2-40B4-BE49-F238E27FC236}">
                <a16:creationId xmlns:a16="http://schemas.microsoft.com/office/drawing/2014/main" id="{BED7D098-872D-7E43-A7A0-D106FBF9EF2A}"/>
              </a:ext>
            </a:extLst>
          </p:cNvPr>
          <p:cNvSpPr>
            <a:spLocks noGrp="1"/>
          </p:cNvSpPr>
          <p:nvPr>
            <p:ph type="body" sz="quarter" idx="19" hasCustomPrompt="1"/>
          </p:nvPr>
        </p:nvSpPr>
        <p:spPr>
          <a:xfrm>
            <a:off x="6409518" y="1847497"/>
            <a:ext cx="5096542" cy="4004498"/>
          </a:xfrm>
          <a:prstGeom prst="rect">
            <a:avLst/>
          </a:prstGeom>
        </p:spPr>
        <p:txBody>
          <a:bodyPr lIns="0" tIns="0" rIns="0" bIns="0" anchor="t"/>
          <a:lstStyle>
            <a:lvl1pPr marL="0" indent="0" algn="l">
              <a:buNone/>
              <a:defRPr sz="18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14" name="Espace réservé du texte 23">
            <a:extLst>
              <a:ext uri="{FF2B5EF4-FFF2-40B4-BE49-F238E27FC236}">
                <a16:creationId xmlns:a16="http://schemas.microsoft.com/office/drawing/2014/main" id="{CC481238-980B-A040-8970-40E20FB94B38}"/>
              </a:ext>
            </a:extLst>
          </p:cNvPr>
          <p:cNvSpPr>
            <a:spLocks noGrp="1"/>
          </p:cNvSpPr>
          <p:nvPr>
            <p:ph type="body" sz="quarter" idx="12" hasCustomPrompt="1"/>
          </p:nvPr>
        </p:nvSpPr>
        <p:spPr>
          <a:xfrm>
            <a:off x="6409518" y="1241279"/>
            <a:ext cx="5096541" cy="267882"/>
          </a:xfrm>
          <a:prstGeom prst="rect">
            <a:avLst/>
          </a:prstGeom>
        </p:spPr>
        <p:txBody>
          <a:bodyPr lIns="0" tIns="0" rIns="0" bIns="0" anchor="t"/>
          <a:lstStyle>
            <a:lvl1pPr marL="0" indent="0" algn="ctr">
              <a:buNone/>
              <a:defRPr sz="18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a:t>
            </a:r>
          </a:p>
        </p:txBody>
      </p:sp>
      <p:cxnSp>
        <p:nvCxnSpPr>
          <p:cNvPr id="15" name="Connecteur droit 14">
            <a:extLst>
              <a:ext uri="{FF2B5EF4-FFF2-40B4-BE49-F238E27FC236}">
                <a16:creationId xmlns:a16="http://schemas.microsoft.com/office/drawing/2014/main" id="{F3A6E393-D242-BE43-9A85-E8BA60D2DFDD}"/>
              </a:ext>
            </a:extLst>
          </p:cNvPr>
          <p:cNvCxnSpPr>
            <a:cxnSpLocks/>
          </p:cNvCxnSpPr>
          <p:nvPr userDrawn="1"/>
        </p:nvCxnSpPr>
        <p:spPr>
          <a:xfrm>
            <a:off x="6409514" y="1689904"/>
            <a:ext cx="509654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2398805"/>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3 colonn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31" name="Espace réservé du texte 23">
            <a:extLst>
              <a:ext uri="{FF2B5EF4-FFF2-40B4-BE49-F238E27FC236}">
                <a16:creationId xmlns:a16="http://schemas.microsoft.com/office/drawing/2014/main" id="{150CB36B-953F-4148-9C63-CB1D5ECBE8E2}"/>
              </a:ext>
            </a:extLst>
          </p:cNvPr>
          <p:cNvSpPr>
            <a:spLocks noGrp="1"/>
          </p:cNvSpPr>
          <p:nvPr>
            <p:ph type="body" sz="quarter" idx="12" hasCustomPrompt="1"/>
          </p:nvPr>
        </p:nvSpPr>
        <p:spPr>
          <a:xfrm>
            <a:off x="685940" y="3414534"/>
            <a:ext cx="3330475" cy="24397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gauche</a:t>
            </a:r>
          </a:p>
        </p:txBody>
      </p:sp>
      <p:sp>
        <p:nvSpPr>
          <p:cNvPr id="32" name="Espace réservé du texte 23">
            <a:extLst>
              <a:ext uri="{FF2B5EF4-FFF2-40B4-BE49-F238E27FC236}">
                <a16:creationId xmlns:a16="http://schemas.microsoft.com/office/drawing/2014/main" id="{49BE225D-4587-F642-95AA-D4CB91345E7E}"/>
              </a:ext>
            </a:extLst>
          </p:cNvPr>
          <p:cNvSpPr>
            <a:spLocks noGrp="1"/>
          </p:cNvSpPr>
          <p:nvPr>
            <p:ph type="body" sz="quarter" idx="13" hasCustomPrompt="1"/>
          </p:nvPr>
        </p:nvSpPr>
        <p:spPr>
          <a:xfrm>
            <a:off x="8175586" y="3412232"/>
            <a:ext cx="3330475" cy="2439762"/>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à droite</a:t>
            </a:r>
          </a:p>
        </p:txBody>
      </p:sp>
      <p:sp>
        <p:nvSpPr>
          <p:cNvPr id="33" name="Espace réservé du texte 23">
            <a:extLst>
              <a:ext uri="{FF2B5EF4-FFF2-40B4-BE49-F238E27FC236}">
                <a16:creationId xmlns:a16="http://schemas.microsoft.com/office/drawing/2014/main" id="{9D468986-6480-9346-9445-65F3C63C4DFC}"/>
              </a:ext>
            </a:extLst>
          </p:cNvPr>
          <p:cNvSpPr>
            <a:spLocks noGrp="1"/>
          </p:cNvSpPr>
          <p:nvPr>
            <p:ph type="body" sz="quarter" idx="14" hasCustomPrompt="1"/>
          </p:nvPr>
        </p:nvSpPr>
        <p:spPr>
          <a:xfrm>
            <a:off x="4430763" y="3412233"/>
            <a:ext cx="3330475" cy="2439761"/>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Colonne de texte au milieu</a:t>
            </a:r>
          </a:p>
        </p:txBody>
      </p:sp>
      <p:sp>
        <p:nvSpPr>
          <p:cNvPr id="35" name="Espace réservé du texte 23">
            <a:extLst>
              <a:ext uri="{FF2B5EF4-FFF2-40B4-BE49-F238E27FC236}">
                <a16:creationId xmlns:a16="http://schemas.microsoft.com/office/drawing/2014/main" id="{4BE3EBCC-3F2C-974D-B7E0-4FE0FE2B6096}"/>
              </a:ext>
            </a:extLst>
          </p:cNvPr>
          <p:cNvSpPr>
            <a:spLocks noGrp="1"/>
          </p:cNvSpPr>
          <p:nvPr>
            <p:ph type="body" sz="quarter" idx="18" hasCustomPrompt="1"/>
          </p:nvPr>
        </p:nvSpPr>
        <p:spPr>
          <a:xfrm>
            <a:off x="685940" y="2522412"/>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gauche</a:t>
            </a:r>
          </a:p>
        </p:txBody>
      </p:sp>
      <p:sp>
        <p:nvSpPr>
          <p:cNvPr id="37" name="Espace réservé du texte 23">
            <a:extLst>
              <a:ext uri="{FF2B5EF4-FFF2-40B4-BE49-F238E27FC236}">
                <a16:creationId xmlns:a16="http://schemas.microsoft.com/office/drawing/2014/main" id="{4452D0F2-BBA8-C242-BEAE-6F55B6ABE7BB}"/>
              </a:ext>
            </a:extLst>
          </p:cNvPr>
          <p:cNvSpPr>
            <a:spLocks noGrp="1"/>
          </p:cNvSpPr>
          <p:nvPr>
            <p:ph type="body" sz="quarter" idx="22" hasCustomPrompt="1"/>
          </p:nvPr>
        </p:nvSpPr>
        <p:spPr>
          <a:xfrm>
            <a:off x="4430763" y="2520112"/>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du milieu</a:t>
            </a:r>
          </a:p>
        </p:txBody>
      </p:sp>
      <p:sp>
        <p:nvSpPr>
          <p:cNvPr id="39" name="Espace réservé du texte 23">
            <a:extLst>
              <a:ext uri="{FF2B5EF4-FFF2-40B4-BE49-F238E27FC236}">
                <a16:creationId xmlns:a16="http://schemas.microsoft.com/office/drawing/2014/main" id="{1CEDCE72-7B19-5841-83CE-CE44056B04AC}"/>
              </a:ext>
            </a:extLst>
          </p:cNvPr>
          <p:cNvSpPr>
            <a:spLocks noGrp="1"/>
          </p:cNvSpPr>
          <p:nvPr>
            <p:ph type="body" sz="quarter" idx="25" hasCustomPrompt="1"/>
          </p:nvPr>
        </p:nvSpPr>
        <p:spPr>
          <a:xfrm>
            <a:off x="8156711" y="2520111"/>
            <a:ext cx="3330475" cy="517485"/>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droite</a:t>
            </a:r>
          </a:p>
        </p:txBody>
      </p:sp>
      <p:sp>
        <p:nvSpPr>
          <p:cNvPr id="40" name="Espace réservé pour une image  4">
            <a:extLst>
              <a:ext uri="{FF2B5EF4-FFF2-40B4-BE49-F238E27FC236}">
                <a16:creationId xmlns:a16="http://schemas.microsoft.com/office/drawing/2014/main" id="{B2D07E5C-865B-8D41-9F3B-3922F4A09B7B}"/>
              </a:ext>
            </a:extLst>
          </p:cNvPr>
          <p:cNvSpPr>
            <a:spLocks noGrp="1"/>
          </p:cNvSpPr>
          <p:nvPr>
            <p:ph type="pic" sz="quarter" idx="17" hasCustomPrompt="1"/>
          </p:nvPr>
        </p:nvSpPr>
        <p:spPr>
          <a:xfrm>
            <a:off x="1840305" y="1254968"/>
            <a:ext cx="1021744" cy="1021565"/>
          </a:xfrm>
          <a:prstGeom prst="ellipse">
            <a:avLst/>
          </a:prstGeom>
          <a:ln w="63500">
            <a:solidFill>
              <a:srgbClr val="539DB1"/>
            </a:solidFill>
          </a:ln>
        </p:spPr>
        <p:txBody>
          <a:bodyPr/>
          <a:lstStyle>
            <a:lvl1pPr marL="0" indent="0">
              <a:buFontTx/>
              <a:buNone/>
              <a:defRPr sz="1200"/>
            </a:lvl1pPr>
          </a:lstStyle>
          <a:p>
            <a:r>
              <a:rPr lang="fr-FR"/>
              <a:t>Picto</a:t>
            </a:r>
          </a:p>
        </p:txBody>
      </p:sp>
      <p:sp>
        <p:nvSpPr>
          <p:cNvPr id="41" name="Espace réservé pour une image  4">
            <a:extLst>
              <a:ext uri="{FF2B5EF4-FFF2-40B4-BE49-F238E27FC236}">
                <a16:creationId xmlns:a16="http://schemas.microsoft.com/office/drawing/2014/main" id="{2527B583-B4FE-9542-A875-64D734CB266A}"/>
              </a:ext>
            </a:extLst>
          </p:cNvPr>
          <p:cNvSpPr>
            <a:spLocks noGrp="1"/>
          </p:cNvSpPr>
          <p:nvPr>
            <p:ph type="pic" sz="quarter" idx="26" hasCustomPrompt="1"/>
          </p:nvPr>
        </p:nvSpPr>
        <p:spPr>
          <a:xfrm>
            <a:off x="5585127" y="1254968"/>
            <a:ext cx="1021744" cy="1021565"/>
          </a:xfrm>
          <a:prstGeom prst="ellipse">
            <a:avLst/>
          </a:prstGeom>
          <a:ln w="63500">
            <a:solidFill>
              <a:srgbClr val="539DB1"/>
            </a:solidFill>
          </a:ln>
        </p:spPr>
        <p:txBody>
          <a:bodyPr/>
          <a:lstStyle>
            <a:lvl1pPr marL="0" indent="0">
              <a:buFontTx/>
              <a:buNone/>
              <a:defRPr sz="1200"/>
            </a:lvl1pPr>
          </a:lstStyle>
          <a:p>
            <a:r>
              <a:rPr lang="fr-FR"/>
              <a:t>Picto</a:t>
            </a:r>
          </a:p>
        </p:txBody>
      </p:sp>
      <p:sp>
        <p:nvSpPr>
          <p:cNvPr id="42" name="Espace réservé pour une image  4">
            <a:extLst>
              <a:ext uri="{FF2B5EF4-FFF2-40B4-BE49-F238E27FC236}">
                <a16:creationId xmlns:a16="http://schemas.microsoft.com/office/drawing/2014/main" id="{FBD705E3-DA7E-5442-ABB1-6B0FC65466C9}"/>
              </a:ext>
            </a:extLst>
          </p:cNvPr>
          <p:cNvSpPr>
            <a:spLocks noGrp="1"/>
          </p:cNvSpPr>
          <p:nvPr>
            <p:ph type="pic" sz="quarter" idx="27" hasCustomPrompt="1"/>
          </p:nvPr>
        </p:nvSpPr>
        <p:spPr>
          <a:xfrm>
            <a:off x="9311076" y="1254968"/>
            <a:ext cx="1021744" cy="1021565"/>
          </a:xfrm>
          <a:prstGeom prst="ellipse">
            <a:avLst/>
          </a:prstGeom>
          <a:ln w="63500">
            <a:solidFill>
              <a:srgbClr val="539DB1"/>
            </a:solidFill>
          </a:ln>
        </p:spPr>
        <p:txBody>
          <a:bodyPr/>
          <a:lstStyle>
            <a:lvl1pPr marL="0" indent="0">
              <a:buFontTx/>
              <a:buNone/>
              <a:defRPr sz="1200"/>
            </a:lvl1pPr>
          </a:lstStyle>
          <a:p>
            <a:r>
              <a:rPr lang="fr-FR"/>
              <a:t>Picto</a:t>
            </a:r>
          </a:p>
        </p:txBody>
      </p:sp>
      <p:cxnSp>
        <p:nvCxnSpPr>
          <p:cNvPr id="17" name="Connecteur droit 16">
            <a:extLst>
              <a:ext uri="{FF2B5EF4-FFF2-40B4-BE49-F238E27FC236}">
                <a16:creationId xmlns:a16="http://schemas.microsoft.com/office/drawing/2014/main" id="{7CD41F5D-74DD-704C-8A46-9725BB43295A}"/>
              </a:ext>
            </a:extLst>
          </p:cNvPr>
          <p:cNvCxnSpPr>
            <a:cxnSpLocks/>
          </p:cNvCxnSpPr>
          <p:nvPr userDrawn="1"/>
        </p:nvCxnSpPr>
        <p:spPr>
          <a:xfrm>
            <a:off x="685940"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5B42D3ED-071B-0E46-A282-B8EA4FDDF8FF}"/>
              </a:ext>
            </a:extLst>
          </p:cNvPr>
          <p:cNvCxnSpPr>
            <a:cxnSpLocks/>
          </p:cNvCxnSpPr>
          <p:nvPr userDrawn="1"/>
        </p:nvCxnSpPr>
        <p:spPr>
          <a:xfrm>
            <a:off x="4430763"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id="{64679DC9-8987-5F40-93DA-66DC3C80F643}"/>
              </a:ext>
            </a:extLst>
          </p:cNvPr>
          <p:cNvCxnSpPr>
            <a:cxnSpLocks/>
          </p:cNvCxnSpPr>
          <p:nvPr userDrawn="1"/>
        </p:nvCxnSpPr>
        <p:spPr>
          <a:xfrm>
            <a:off x="8175586" y="3206187"/>
            <a:ext cx="3330475"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2580207"/>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3 rangées">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45" name="Flèche vers la droite 44">
            <a:extLst>
              <a:ext uri="{FF2B5EF4-FFF2-40B4-BE49-F238E27FC236}">
                <a16:creationId xmlns:a16="http://schemas.microsoft.com/office/drawing/2014/main" id="{073CA8F5-692E-EE4A-859C-88F4900D6ABB}"/>
              </a:ext>
            </a:extLst>
          </p:cNvPr>
          <p:cNvSpPr/>
          <p:nvPr userDrawn="1"/>
        </p:nvSpPr>
        <p:spPr>
          <a:xfrm>
            <a:off x="6858201" y="2192317"/>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Espace réservé du texte 23">
            <a:extLst>
              <a:ext uri="{FF2B5EF4-FFF2-40B4-BE49-F238E27FC236}">
                <a16:creationId xmlns:a16="http://schemas.microsoft.com/office/drawing/2014/main" id="{87BBDDC8-1C19-1B48-8CD1-F89617ACE952}"/>
              </a:ext>
            </a:extLst>
          </p:cNvPr>
          <p:cNvSpPr>
            <a:spLocks noGrp="1"/>
          </p:cNvSpPr>
          <p:nvPr>
            <p:ph type="body" sz="quarter" idx="43" hasCustomPrompt="1"/>
          </p:nvPr>
        </p:nvSpPr>
        <p:spPr>
          <a:xfrm>
            <a:off x="685940" y="136067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3" name="Espace réservé du texte 2">
            <a:extLst>
              <a:ext uri="{FF2B5EF4-FFF2-40B4-BE49-F238E27FC236}">
                <a16:creationId xmlns:a16="http://schemas.microsoft.com/office/drawing/2014/main" id="{8B588310-7C04-FA47-876B-A52F0C438078}"/>
              </a:ext>
            </a:extLst>
          </p:cNvPr>
          <p:cNvSpPr>
            <a:spLocks noGrp="1"/>
          </p:cNvSpPr>
          <p:nvPr>
            <p:ph type="body" sz="quarter" idx="44" hasCustomPrompt="1"/>
          </p:nvPr>
        </p:nvSpPr>
        <p:spPr>
          <a:xfrm>
            <a:off x="1183929" y="149880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57" name="Espace réservé du texte 23">
            <a:extLst>
              <a:ext uri="{FF2B5EF4-FFF2-40B4-BE49-F238E27FC236}">
                <a16:creationId xmlns:a16="http://schemas.microsoft.com/office/drawing/2014/main" id="{3DA65E65-4FD3-8043-9BA3-ACEC849F4F5C}"/>
              </a:ext>
            </a:extLst>
          </p:cNvPr>
          <p:cNvSpPr>
            <a:spLocks noGrp="1"/>
          </p:cNvSpPr>
          <p:nvPr>
            <p:ph type="body" sz="quarter" idx="46" hasCustomPrompt="1"/>
          </p:nvPr>
        </p:nvSpPr>
        <p:spPr>
          <a:xfrm>
            <a:off x="685940" y="291173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58" name="Espace réservé du texte 2">
            <a:extLst>
              <a:ext uri="{FF2B5EF4-FFF2-40B4-BE49-F238E27FC236}">
                <a16:creationId xmlns:a16="http://schemas.microsoft.com/office/drawing/2014/main" id="{D83069BD-A53E-A348-84D5-0A24A9664289}"/>
              </a:ext>
            </a:extLst>
          </p:cNvPr>
          <p:cNvSpPr>
            <a:spLocks noGrp="1"/>
          </p:cNvSpPr>
          <p:nvPr>
            <p:ph type="body" sz="quarter" idx="47" hasCustomPrompt="1"/>
          </p:nvPr>
        </p:nvSpPr>
        <p:spPr>
          <a:xfrm>
            <a:off x="1183929" y="304986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59" name="Espace réservé du texte 23">
            <a:extLst>
              <a:ext uri="{FF2B5EF4-FFF2-40B4-BE49-F238E27FC236}">
                <a16:creationId xmlns:a16="http://schemas.microsoft.com/office/drawing/2014/main" id="{EC46E71F-5144-8F44-B9D5-9D84DAA45237}"/>
              </a:ext>
            </a:extLst>
          </p:cNvPr>
          <p:cNvSpPr>
            <a:spLocks noGrp="1"/>
          </p:cNvSpPr>
          <p:nvPr>
            <p:ph type="body" sz="quarter" idx="48" hasCustomPrompt="1"/>
          </p:nvPr>
        </p:nvSpPr>
        <p:spPr>
          <a:xfrm>
            <a:off x="685940" y="4462795"/>
            <a:ext cx="1440000" cy="1440000"/>
          </a:xfrm>
          <a:prstGeom prst="rect">
            <a:avLst/>
          </a:prstGeom>
          <a:solidFill>
            <a:srgbClr val="539DB1"/>
          </a:solidFill>
        </p:spPr>
        <p:txBody>
          <a:bodyPr tIns="180000" bIns="180000" anchor="b"/>
          <a:lstStyle>
            <a:lvl1pPr marL="0" indent="0" algn="ctr">
              <a:buNone/>
              <a:defRPr sz="1200" b="1"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60" name="Espace réservé du texte 2">
            <a:extLst>
              <a:ext uri="{FF2B5EF4-FFF2-40B4-BE49-F238E27FC236}">
                <a16:creationId xmlns:a16="http://schemas.microsoft.com/office/drawing/2014/main" id="{24C0B415-2568-0545-9429-F952CB47A605}"/>
              </a:ext>
            </a:extLst>
          </p:cNvPr>
          <p:cNvSpPr>
            <a:spLocks noGrp="1"/>
          </p:cNvSpPr>
          <p:nvPr>
            <p:ph type="body" sz="quarter" idx="49" hasCustomPrompt="1"/>
          </p:nvPr>
        </p:nvSpPr>
        <p:spPr>
          <a:xfrm>
            <a:off x="1183929" y="4600923"/>
            <a:ext cx="444021" cy="444021"/>
          </a:xfrm>
          <a:prstGeom prst="ellipse">
            <a:avLst/>
          </a:prstGeom>
          <a:solidFill>
            <a:schemeClr val="bg1"/>
          </a:solidFill>
          <a:ln>
            <a:noFill/>
          </a:ln>
        </p:spPr>
        <p:txBody>
          <a:bodyPr lIns="0" tIns="0" rIns="0" bIns="0" anchor="ctr"/>
          <a:lstStyle>
            <a:lvl1pPr marL="0" indent="0" algn="ctr">
              <a:buNone/>
              <a:defRPr sz="1600" b="1">
                <a:solidFill>
                  <a:srgbClr val="539DB1"/>
                </a:solidFill>
                <a:latin typeface="Calibri" panose="020F0502020204030204" pitchFamily="34" charset="0"/>
                <a:cs typeface="Calibri" panose="020F0502020204030204" pitchFamily="34" charset="0"/>
              </a:defRPr>
            </a:lvl1pPr>
            <a:lvl2pPr>
              <a:defRPr sz="1000">
                <a:solidFill>
                  <a:srgbClr val="539DB1"/>
                </a:solidFill>
                <a:latin typeface="Calibri" panose="020F0502020204030204" pitchFamily="34" charset="0"/>
                <a:cs typeface="Calibri" panose="020F0502020204030204" pitchFamily="34" charset="0"/>
              </a:defRPr>
            </a:lvl2pPr>
            <a:lvl3pPr>
              <a:defRPr sz="900">
                <a:solidFill>
                  <a:srgbClr val="539DB1"/>
                </a:solidFill>
                <a:latin typeface="Calibri" panose="020F0502020204030204" pitchFamily="34" charset="0"/>
                <a:cs typeface="Calibri" panose="020F0502020204030204" pitchFamily="34" charset="0"/>
              </a:defRPr>
            </a:lvl3pPr>
            <a:lvl4pPr>
              <a:defRPr sz="800">
                <a:solidFill>
                  <a:srgbClr val="539DB1"/>
                </a:solidFill>
                <a:latin typeface="Calibri" panose="020F0502020204030204" pitchFamily="34" charset="0"/>
                <a:cs typeface="Calibri" panose="020F0502020204030204" pitchFamily="34" charset="0"/>
              </a:defRPr>
            </a:lvl4pPr>
            <a:lvl5pPr algn="ctr">
              <a:defRPr sz="1600">
                <a:solidFill>
                  <a:srgbClr val="539DB1"/>
                </a:solidFill>
                <a:latin typeface="Calibri" panose="020F0502020204030204" pitchFamily="34" charset="0"/>
                <a:cs typeface="Calibri" panose="020F0502020204030204" pitchFamily="34" charset="0"/>
              </a:defRPr>
            </a:lvl5pPr>
          </a:lstStyle>
          <a:p>
            <a:pPr lvl="0"/>
            <a:r>
              <a:rPr lang="fr-FR"/>
              <a:t>n°</a:t>
            </a:r>
          </a:p>
        </p:txBody>
      </p:sp>
      <p:sp>
        <p:nvSpPr>
          <p:cNvPr id="61" name="Espace réservé du texte 23">
            <a:extLst>
              <a:ext uri="{FF2B5EF4-FFF2-40B4-BE49-F238E27FC236}">
                <a16:creationId xmlns:a16="http://schemas.microsoft.com/office/drawing/2014/main" id="{B4F766C0-256D-D042-830F-614269DF0181}"/>
              </a:ext>
            </a:extLst>
          </p:cNvPr>
          <p:cNvSpPr>
            <a:spLocks noGrp="1"/>
          </p:cNvSpPr>
          <p:nvPr>
            <p:ph type="body" sz="quarter" idx="12" hasCustomPrompt="1"/>
          </p:nvPr>
        </p:nvSpPr>
        <p:spPr>
          <a:xfrm>
            <a:off x="2623929" y="1863525"/>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62" name="Espace réservé du texte 23">
            <a:extLst>
              <a:ext uri="{FF2B5EF4-FFF2-40B4-BE49-F238E27FC236}">
                <a16:creationId xmlns:a16="http://schemas.microsoft.com/office/drawing/2014/main" id="{C757A226-440B-EF4B-9F88-75585B0C26FD}"/>
              </a:ext>
            </a:extLst>
          </p:cNvPr>
          <p:cNvSpPr>
            <a:spLocks noGrp="1"/>
          </p:cNvSpPr>
          <p:nvPr>
            <p:ph type="body" sz="quarter" idx="50" hasCustomPrompt="1"/>
          </p:nvPr>
        </p:nvSpPr>
        <p:spPr>
          <a:xfrm>
            <a:off x="7442522" y="1863525"/>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2" name="Flèche vers la droite 71">
            <a:extLst>
              <a:ext uri="{FF2B5EF4-FFF2-40B4-BE49-F238E27FC236}">
                <a16:creationId xmlns:a16="http://schemas.microsoft.com/office/drawing/2014/main" id="{7FDE90DB-FA27-F04A-84A7-4B3D563C9502}"/>
              </a:ext>
            </a:extLst>
          </p:cNvPr>
          <p:cNvSpPr/>
          <p:nvPr userDrawn="1"/>
        </p:nvSpPr>
        <p:spPr>
          <a:xfrm>
            <a:off x="6858201" y="3590409"/>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Espace réservé du texte 23">
            <a:extLst>
              <a:ext uri="{FF2B5EF4-FFF2-40B4-BE49-F238E27FC236}">
                <a16:creationId xmlns:a16="http://schemas.microsoft.com/office/drawing/2014/main" id="{A6692E30-33D1-504F-B0CB-D86F1EB98EF8}"/>
              </a:ext>
            </a:extLst>
          </p:cNvPr>
          <p:cNvSpPr>
            <a:spLocks noGrp="1"/>
          </p:cNvSpPr>
          <p:nvPr>
            <p:ph type="body" sz="quarter" idx="51" hasCustomPrompt="1"/>
          </p:nvPr>
        </p:nvSpPr>
        <p:spPr>
          <a:xfrm>
            <a:off x="2623929" y="3261617"/>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4" name="Espace réservé du texte 23">
            <a:extLst>
              <a:ext uri="{FF2B5EF4-FFF2-40B4-BE49-F238E27FC236}">
                <a16:creationId xmlns:a16="http://schemas.microsoft.com/office/drawing/2014/main" id="{35EF68A7-BA92-024E-A76C-6290D9F095DC}"/>
              </a:ext>
            </a:extLst>
          </p:cNvPr>
          <p:cNvSpPr>
            <a:spLocks noGrp="1"/>
          </p:cNvSpPr>
          <p:nvPr>
            <p:ph type="body" sz="quarter" idx="52" hasCustomPrompt="1"/>
          </p:nvPr>
        </p:nvSpPr>
        <p:spPr>
          <a:xfrm>
            <a:off x="7442522" y="3261617"/>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6" name="Flèche vers la droite 75">
            <a:extLst>
              <a:ext uri="{FF2B5EF4-FFF2-40B4-BE49-F238E27FC236}">
                <a16:creationId xmlns:a16="http://schemas.microsoft.com/office/drawing/2014/main" id="{084179CB-67CF-2B41-BD9E-81583A7C9857}"/>
              </a:ext>
            </a:extLst>
          </p:cNvPr>
          <p:cNvSpPr/>
          <p:nvPr userDrawn="1"/>
        </p:nvSpPr>
        <p:spPr>
          <a:xfrm>
            <a:off x="6847153" y="4988501"/>
            <a:ext cx="391886" cy="333829"/>
          </a:xfrm>
          <a:prstGeom prst="rightArrow">
            <a:avLst/>
          </a:prstGeom>
          <a:solidFill>
            <a:srgbClr val="90C9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Espace réservé du texte 23">
            <a:extLst>
              <a:ext uri="{FF2B5EF4-FFF2-40B4-BE49-F238E27FC236}">
                <a16:creationId xmlns:a16="http://schemas.microsoft.com/office/drawing/2014/main" id="{ECED7B8D-5808-BA4A-B728-678A97FE757B}"/>
              </a:ext>
            </a:extLst>
          </p:cNvPr>
          <p:cNvSpPr>
            <a:spLocks noGrp="1"/>
          </p:cNvSpPr>
          <p:nvPr>
            <p:ph type="body" sz="quarter" idx="53" hasCustomPrompt="1"/>
          </p:nvPr>
        </p:nvSpPr>
        <p:spPr>
          <a:xfrm>
            <a:off x="2623929" y="4659709"/>
            <a:ext cx="4063536" cy="1071341"/>
          </a:xfrm>
          <a:prstGeom prst="rect">
            <a:avLst/>
          </a:prstGeom>
        </p:spPr>
        <p:txBody>
          <a:bodyPr lIns="0" tIns="0" rIns="0" bIns="0" anchor="ctr"/>
          <a:lstStyle>
            <a:lvl1pPr marL="171450" indent="-171450" algn="l">
              <a:buClr>
                <a:srgbClr val="3E7888"/>
              </a:buClr>
              <a:buFont typeface="Wingdings" pitchFamily="2" charset="2"/>
              <a:buChar char="§"/>
              <a:defRPr sz="12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78" name="Espace réservé du texte 23">
            <a:extLst>
              <a:ext uri="{FF2B5EF4-FFF2-40B4-BE49-F238E27FC236}">
                <a16:creationId xmlns:a16="http://schemas.microsoft.com/office/drawing/2014/main" id="{D98057D3-CED6-844F-A727-B5DF3F9EEC54}"/>
              </a:ext>
            </a:extLst>
          </p:cNvPr>
          <p:cNvSpPr>
            <a:spLocks noGrp="1"/>
          </p:cNvSpPr>
          <p:nvPr>
            <p:ph type="body" sz="quarter" idx="54" hasCustomPrompt="1"/>
          </p:nvPr>
        </p:nvSpPr>
        <p:spPr>
          <a:xfrm>
            <a:off x="7442522" y="4667481"/>
            <a:ext cx="4063536" cy="1071336"/>
          </a:xfrm>
          <a:prstGeom prst="rect">
            <a:avLst/>
          </a:prstGeom>
        </p:spPr>
        <p:txBody>
          <a:bodyPr lIns="0" tIns="0" rIns="0" bIns="0" anchor="ctr"/>
          <a:lstStyle>
            <a:lvl1pPr marL="171450" indent="-171450" algn="l">
              <a:buClr>
                <a:srgbClr val="3E7888"/>
              </a:buClr>
              <a:buFont typeface="Wingdings" pitchFamily="2" charset="2"/>
              <a:buChar char="§"/>
              <a:defRPr sz="12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
        <p:nvSpPr>
          <p:cNvPr id="29" name="Espace réservé du texte 23">
            <a:extLst>
              <a:ext uri="{FF2B5EF4-FFF2-40B4-BE49-F238E27FC236}">
                <a16:creationId xmlns:a16="http://schemas.microsoft.com/office/drawing/2014/main" id="{E8F9E77E-9B08-2748-BA8C-1877E990BA82}"/>
              </a:ext>
            </a:extLst>
          </p:cNvPr>
          <p:cNvSpPr>
            <a:spLocks noGrp="1"/>
          </p:cNvSpPr>
          <p:nvPr>
            <p:ph type="body" sz="quarter" idx="18" hasCustomPrompt="1"/>
          </p:nvPr>
        </p:nvSpPr>
        <p:spPr>
          <a:xfrm>
            <a:off x="2623930" y="1298086"/>
            <a:ext cx="4063536" cy="342180"/>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gauche</a:t>
            </a:r>
          </a:p>
        </p:txBody>
      </p:sp>
      <p:sp>
        <p:nvSpPr>
          <p:cNvPr id="30" name="Espace réservé du texte 23">
            <a:extLst>
              <a:ext uri="{FF2B5EF4-FFF2-40B4-BE49-F238E27FC236}">
                <a16:creationId xmlns:a16="http://schemas.microsoft.com/office/drawing/2014/main" id="{ABFE6774-E465-CC44-A5B7-8A9023E7895D}"/>
              </a:ext>
            </a:extLst>
          </p:cNvPr>
          <p:cNvSpPr>
            <a:spLocks noGrp="1"/>
          </p:cNvSpPr>
          <p:nvPr>
            <p:ph type="body" sz="quarter" idx="45" hasCustomPrompt="1"/>
          </p:nvPr>
        </p:nvSpPr>
        <p:spPr>
          <a:xfrm>
            <a:off x="7442522" y="1311393"/>
            <a:ext cx="4063536" cy="342180"/>
          </a:xfrm>
          <a:prstGeom prst="rect">
            <a:avLst/>
          </a:prstGeom>
        </p:spPr>
        <p:txBody>
          <a:bodyPr lIns="0" tIns="0" rIns="0" bIns="0" anchor="t"/>
          <a:lstStyle>
            <a:lvl1pPr marL="0" indent="0" algn="ctr">
              <a:spcBef>
                <a:spcPts val="400"/>
              </a:spcBef>
              <a:buNone/>
              <a:defRPr sz="1600" b="1"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colonne de droite</a:t>
            </a:r>
          </a:p>
        </p:txBody>
      </p:sp>
      <p:cxnSp>
        <p:nvCxnSpPr>
          <p:cNvPr id="31" name="Connecteur droit 30">
            <a:extLst>
              <a:ext uri="{FF2B5EF4-FFF2-40B4-BE49-F238E27FC236}">
                <a16:creationId xmlns:a16="http://schemas.microsoft.com/office/drawing/2014/main" id="{1BA8053A-F605-3E4C-BCAA-A462125DD707}"/>
              </a:ext>
            </a:extLst>
          </p:cNvPr>
          <p:cNvCxnSpPr>
            <a:cxnSpLocks/>
          </p:cNvCxnSpPr>
          <p:nvPr userDrawn="1"/>
        </p:nvCxnSpPr>
        <p:spPr>
          <a:xfrm>
            <a:off x="2621788" y="1759351"/>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5" name="Connecteur droit 34">
            <a:extLst>
              <a:ext uri="{FF2B5EF4-FFF2-40B4-BE49-F238E27FC236}">
                <a16:creationId xmlns:a16="http://schemas.microsoft.com/office/drawing/2014/main" id="{24308253-88C6-CC42-8669-C8E31D959CF5}"/>
              </a:ext>
            </a:extLst>
          </p:cNvPr>
          <p:cNvCxnSpPr>
            <a:cxnSpLocks/>
          </p:cNvCxnSpPr>
          <p:nvPr userDrawn="1"/>
        </p:nvCxnSpPr>
        <p:spPr>
          <a:xfrm>
            <a:off x="2621788" y="3115517"/>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6" name="Connecteur droit 35">
            <a:extLst>
              <a:ext uri="{FF2B5EF4-FFF2-40B4-BE49-F238E27FC236}">
                <a16:creationId xmlns:a16="http://schemas.microsoft.com/office/drawing/2014/main" id="{366C964C-6A11-F54A-91F4-BFA62F9C7059}"/>
              </a:ext>
            </a:extLst>
          </p:cNvPr>
          <p:cNvCxnSpPr>
            <a:cxnSpLocks/>
          </p:cNvCxnSpPr>
          <p:nvPr userDrawn="1"/>
        </p:nvCxnSpPr>
        <p:spPr>
          <a:xfrm>
            <a:off x="2621788" y="4508324"/>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37" name="Connecteur droit 36">
            <a:extLst>
              <a:ext uri="{FF2B5EF4-FFF2-40B4-BE49-F238E27FC236}">
                <a16:creationId xmlns:a16="http://schemas.microsoft.com/office/drawing/2014/main" id="{641D7C50-2D19-A54B-BDE6-BE45329F7F6F}"/>
              </a:ext>
            </a:extLst>
          </p:cNvPr>
          <p:cNvCxnSpPr>
            <a:cxnSpLocks/>
          </p:cNvCxnSpPr>
          <p:nvPr userDrawn="1"/>
        </p:nvCxnSpPr>
        <p:spPr>
          <a:xfrm>
            <a:off x="2621788" y="5898922"/>
            <a:ext cx="8884270"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6163609"/>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Équip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cxnSp>
        <p:nvCxnSpPr>
          <p:cNvPr id="54" name="Connecteur droit 53">
            <a:extLst>
              <a:ext uri="{FF2B5EF4-FFF2-40B4-BE49-F238E27FC236}">
                <a16:creationId xmlns:a16="http://schemas.microsoft.com/office/drawing/2014/main" id="{CBA568A4-37CD-CA45-8DCB-151D439348E1}"/>
              </a:ext>
            </a:extLst>
          </p:cNvPr>
          <p:cNvCxnSpPr>
            <a:cxnSpLocks/>
          </p:cNvCxnSpPr>
          <p:nvPr userDrawn="1"/>
        </p:nvCxnSpPr>
        <p:spPr>
          <a:xfrm>
            <a:off x="190063" y="3650477"/>
            <a:ext cx="11853802"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68" name="Espace réservé du texte 23">
            <a:extLst>
              <a:ext uri="{FF2B5EF4-FFF2-40B4-BE49-F238E27FC236}">
                <a16:creationId xmlns:a16="http://schemas.microsoft.com/office/drawing/2014/main" id="{9285F349-F057-E044-BA63-42802881E285}"/>
              </a:ext>
            </a:extLst>
          </p:cNvPr>
          <p:cNvSpPr>
            <a:spLocks noGrp="1"/>
          </p:cNvSpPr>
          <p:nvPr>
            <p:ph type="body" sz="quarter" idx="42" hasCustomPrompt="1"/>
          </p:nvPr>
        </p:nvSpPr>
        <p:spPr>
          <a:xfrm>
            <a:off x="9009369" y="1226703"/>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69" name="Espace réservé du texte 23">
            <a:extLst>
              <a:ext uri="{FF2B5EF4-FFF2-40B4-BE49-F238E27FC236}">
                <a16:creationId xmlns:a16="http://schemas.microsoft.com/office/drawing/2014/main" id="{6DA645EB-9B7E-B142-81B9-911160CC3BA6}"/>
              </a:ext>
            </a:extLst>
          </p:cNvPr>
          <p:cNvSpPr>
            <a:spLocks noGrp="1"/>
          </p:cNvSpPr>
          <p:nvPr>
            <p:ph type="body" sz="quarter" idx="43" hasCustomPrompt="1"/>
          </p:nvPr>
        </p:nvSpPr>
        <p:spPr>
          <a:xfrm>
            <a:off x="9009369" y="1634384"/>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0" name="Espace réservé du texte 23">
            <a:extLst>
              <a:ext uri="{FF2B5EF4-FFF2-40B4-BE49-F238E27FC236}">
                <a16:creationId xmlns:a16="http://schemas.microsoft.com/office/drawing/2014/main" id="{F8651C12-DE8D-CC4F-8CE2-5A8AE5B06FE0}"/>
              </a:ext>
            </a:extLst>
          </p:cNvPr>
          <p:cNvSpPr>
            <a:spLocks noGrp="1"/>
          </p:cNvSpPr>
          <p:nvPr>
            <p:ph type="body" sz="quarter" idx="44" hasCustomPrompt="1"/>
          </p:nvPr>
        </p:nvSpPr>
        <p:spPr>
          <a:xfrm>
            <a:off x="7779165" y="2410352"/>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1" name="Espace réservé pour une image  4">
            <a:extLst>
              <a:ext uri="{FF2B5EF4-FFF2-40B4-BE49-F238E27FC236}">
                <a16:creationId xmlns:a16="http://schemas.microsoft.com/office/drawing/2014/main" id="{923BD13F-6B3A-274E-BB1D-710DF4428967}"/>
              </a:ext>
            </a:extLst>
          </p:cNvPr>
          <p:cNvSpPr>
            <a:spLocks noGrp="1"/>
          </p:cNvSpPr>
          <p:nvPr>
            <p:ph type="pic" sz="quarter" idx="45" hasCustomPrompt="1"/>
          </p:nvPr>
        </p:nvSpPr>
        <p:spPr>
          <a:xfrm>
            <a:off x="7764559" y="122495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73" name="Espace réservé du texte 23">
            <a:extLst>
              <a:ext uri="{FF2B5EF4-FFF2-40B4-BE49-F238E27FC236}">
                <a16:creationId xmlns:a16="http://schemas.microsoft.com/office/drawing/2014/main" id="{EBB8FAA2-1466-4C4E-8F48-9D30F07F2B5C}"/>
              </a:ext>
            </a:extLst>
          </p:cNvPr>
          <p:cNvSpPr>
            <a:spLocks noGrp="1"/>
          </p:cNvSpPr>
          <p:nvPr>
            <p:ph type="body" sz="quarter" idx="47" hasCustomPrompt="1"/>
          </p:nvPr>
        </p:nvSpPr>
        <p:spPr>
          <a:xfrm>
            <a:off x="1412121" y="3926785"/>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74" name="Espace réservé du texte 23">
            <a:extLst>
              <a:ext uri="{FF2B5EF4-FFF2-40B4-BE49-F238E27FC236}">
                <a16:creationId xmlns:a16="http://schemas.microsoft.com/office/drawing/2014/main" id="{5DAE32A5-7F7F-CF42-8158-4D719435DFC6}"/>
              </a:ext>
            </a:extLst>
          </p:cNvPr>
          <p:cNvSpPr>
            <a:spLocks noGrp="1"/>
          </p:cNvSpPr>
          <p:nvPr>
            <p:ph type="body" sz="quarter" idx="48" hasCustomPrompt="1"/>
          </p:nvPr>
        </p:nvSpPr>
        <p:spPr>
          <a:xfrm>
            <a:off x="1412121" y="4320590"/>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5" name="Espace réservé du texte 23">
            <a:extLst>
              <a:ext uri="{FF2B5EF4-FFF2-40B4-BE49-F238E27FC236}">
                <a16:creationId xmlns:a16="http://schemas.microsoft.com/office/drawing/2014/main" id="{ACB44A5B-D369-5B4E-87EE-418603224C2F}"/>
              </a:ext>
            </a:extLst>
          </p:cNvPr>
          <p:cNvSpPr>
            <a:spLocks noGrp="1"/>
          </p:cNvSpPr>
          <p:nvPr>
            <p:ph type="body" sz="quarter" idx="49" hasCustomPrompt="1"/>
          </p:nvPr>
        </p:nvSpPr>
        <p:spPr>
          <a:xfrm>
            <a:off x="181917" y="5096556"/>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76" name="Espace réservé pour une image  4">
            <a:extLst>
              <a:ext uri="{FF2B5EF4-FFF2-40B4-BE49-F238E27FC236}">
                <a16:creationId xmlns:a16="http://schemas.microsoft.com/office/drawing/2014/main" id="{CD0B8505-EB75-BA48-A46A-885CB89DACB5}"/>
              </a:ext>
            </a:extLst>
          </p:cNvPr>
          <p:cNvSpPr>
            <a:spLocks noGrp="1"/>
          </p:cNvSpPr>
          <p:nvPr>
            <p:ph type="pic" sz="quarter" idx="50" hasCustomPrompt="1"/>
          </p:nvPr>
        </p:nvSpPr>
        <p:spPr>
          <a:xfrm>
            <a:off x="167311" y="3911158"/>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46" name="Espace réservé du texte 23">
            <a:extLst>
              <a:ext uri="{FF2B5EF4-FFF2-40B4-BE49-F238E27FC236}">
                <a16:creationId xmlns:a16="http://schemas.microsoft.com/office/drawing/2014/main" id="{702AFC75-5274-DA4D-A5BF-9B3AFB7488CC}"/>
              </a:ext>
            </a:extLst>
          </p:cNvPr>
          <p:cNvSpPr>
            <a:spLocks noGrp="1"/>
          </p:cNvSpPr>
          <p:nvPr>
            <p:ph type="body" sz="quarter" idx="51" hasCustomPrompt="1"/>
          </p:nvPr>
        </p:nvSpPr>
        <p:spPr>
          <a:xfrm>
            <a:off x="4478409" y="3943165"/>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47" name="Espace réservé du texte 23">
            <a:extLst>
              <a:ext uri="{FF2B5EF4-FFF2-40B4-BE49-F238E27FC236}">
                <a16:creationId xmlns:a16="http://schemas.microsoft.com/office/drawing/2014/main" id="{CFAB0BF0-BA0C-C544-BD92-BB8D69F6CAE1}"/>
              </a:ext>
            </a:extLst>
          </p:cNvPr>
          <p:cNvSpPr>
            <a:spLocks noGrp="1"/>
          </p:cNvSpPr>
          <p:nvPr>
            <p:ph type="body" sz="quarter" idx="52" hasCustomPrompt="1"/>
          </p:nvPr>
        </p:nvSpPr>
        <p:spPr>
          <a:xfrm>
            <a:off x="4478409" y="4336970"/>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48" name="Espace réservé du texte 23">
            <a:extLst>
              <a:ext uri="{FF2B5EF4-FFF2-40B4-BE49-F238E27FC236}">
                <a16:creationId xmlns:a16="http://schemas.microsoft.com/office/drawing/2014/main" id="{03788535-FDE8-6843-AD0A-A2D734E411AD}"/>
              </a:ext>
            </a:extLst>
          </p:cNvPr>
          <p:cNvSpPr>
            <a:spLocks noGrp="1"/>
          </p:cNvSpPr>
          <p:nvPr>
            <p:ph type="body" sz="quarter" idx="53" hasCustomPrompt="1"/>
          </p:nvPr>
        </p:nvSpPr>
        <p:spPr>
          <a:xfrm>
            <a:off x="3248205" y="5112936"/>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49" name="Espace réservé pour une image  4">
            <a:extLst>
              <a:ext uri="{FF2B5EF4-FFF2-40B4-BE49-F238E27FC236}">
                <a16:creationId xmlns:a16="http://schemas.microsoft.com/office/drawing/2014/main" id="{7F4AA648-DA73-1A49-B136-1632C96BA5C5}"/>
              </a:ext>
            </a:extLst>
          </p:cNvPr>
          <p:cNvSpPr>
            <a:spLocks noGrp="1"/>
          </p:cNvSpPr>
          <p:nvPr>
            <p:ph type="pic" sz="quarter" idx="54" hasCustomPrompt="1"/>
          </p:nvPr>
        </p:nvSpPr>
        <p:spPr>
          <a:xfrm>
            <a:off x="3233599" y="3927538"/>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0" name="Espace réservé du texte 23">
            <a:extLst>
              <a:ext uri="{FF2B5EF4-FFF2-40B4-BE49-F238E27FC236}">
                <a16:creationId xmlns:a16="http://schemas.microsoft.com/office/drawing/2014/main" id="{B32F9C20-21F3-E445-B8F1-AC78571F6E03}"/>
              </a:ext>
            </a:extLst>
          </p:cNvPr>
          <p:cNvSpPr>
            <a:spLocks noGrp="1"/>
          </p:cNvSpPr>
          <p:nvPr>
            <p:ph type="body" sz="quarter" idx="55" hasCustomPrompt="1"/>
          </p:nvPr>
        </p:nvSpPr>
        <p:spPr>
          <a:xfrm>
            <a:off x="7552734" y="3908072"/>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51" name="Espace réservé du texte 23">
            <a:extLst>
              <a:ext uri="{FF2B5EF4-FFF2-40B4-BE49-F238E27FC236}">
                <a16:creationId xmlns:a16="http://schemas.microsoft.com/office/drawing/2014/main" id="{2F5BC84D-BBB9-9A42-AB3F-98AB7978D424}"/>
              </a:ext>
            </a:extLst>
          </p:cNvPr>
          <p:cNvSpPr>
            <a:spLocks noGrp="1"/>
          </p:cNvSpPr>
          <p:nvPr>
            <p:ph type="body" sz="quarter" idx="56" hasCustomPrompt="1"/>
          </p:nvPr>
        </p:nvSpPr>
        <p:spPr>
          <a:xfrm>
            <a:off x="7552734" y="4301877"/>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55" name="Espace réservé du texte 23">
            <a:extLst>
              <a:ext uri="{FF2B5EF4-FFF2-40B4-BE49-F238E27FC236}">
                <a16:creationId xmlns:a16="http://schemas.microsoft.com/office/drawing/2014/main" id="{B4F0EAEB-1756-084F-B710-1F9E25AB5CC5}"/>
              </a:ext>
            </a:extLst>
          </p:cNvPr>
          <p:cNvSpPr>
            <a:spLocks noGrp="1"/>
          </p:cNvSpPr>
          <p:nvPr>
            <p:ph type="body" sz="quarter" idx="57" hasCustomPrompt="1"/>
          </p:nvPr>
        </p:nvSpPr>
        <p:spPr>
          <a:xfrm>
            <a:off x="6322530" y="5077843"/>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56" name="Espace réservé pour une image  4">
            <a:extLst>
              <a:ext uri="{FF2B5EF4-FFF2-40B4-BE49-F238E27FC236}">
                <a16:creationId xmlns:a16="http://schemas.microsoft.com/office/drawing/2014/main" id="{E08B2C3C-5F8E-014F-87B8-D46582E3EB0F}"/>
              </a:ext>
            </a:extLst>
          </p:cNvPr>
          <p:cNvSpPr>
            <a:spLocks noGrp="1"/>
          </p:cNvSpPr>
          <p:nvPr>
            <p:ph type="pic" sz="quarter" idx="58" hasCustomPrompt="1"/>
          </p:nvPr>
        </p:nvSpPr>
        <p:spPr>
          <a:xfrm>
            <a:off x="6307924" y="38924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7" name="Espace réservé du texte 23">
            <a:extLst>
              <a:ext uri="{FF2B5EF4-FFF2-40B4-BE49-F238E27FC236}">
                <a16:creationId xmlns:a16="http://schemas.microsoft.com/office/drawing/2014/main" id="{DFC4B421-BEBE-E54E-8A9C-827E6DF281ED}"/>
              </a:ext>
            </a:extLst>
          </p:cNvPr>
          <p:cNvSpPr>
            <a:spLocks noGrp="1"/>
          </p:cNvSpPr>
          <p:nvPr>
            <p:ph type="body" sz="quarter" idx="59" hasCustomPrompt="1"/>
          </p:nvPr>
        </p:nvSpPr>
        <p:spPr>
          <a:xfrm>
            <a:off x="10604642" y="3830584"/>
            <a:ext cx="1439223" cy="377425"/>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88" name="Espace réservé du texte 23">
            <a:extLst>
              <a:ext uri="{FF2B5EF4-FFF2-40B4-BE49-F238E27FC236}">
                <a16:creationId xmlns:a16="http://schemas.microsoft.com/office/drawing/2014/main" id="{FEA20074-0875-6344-91A1-E98FAA3A5FE1}"/>
              </a:ext>
            </a:extLst>
          </p:cNvPr>
          <p:cNvSpPr>
            <a:spLocks noGrp="1"/>
          </p:cNvSpPr>
          <p:nvPr>
            <p:ph type="body" sz="quarter" idx="60" hasCustomPrompt="1"/>
          </p:nvPr>
        </p:nvSpPr>
        <p:spPr>
          <a:xfrm>
            <a:off x="10604642" y="4224389"/>
            <a:ext cx="1439223" cy="57734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89" name="Espace réservé du texte 23">
            <a:extLst>
              <a:ext uri="{FF2B5EF4-FFF2-40B4-BE49-F238E27FC236}">
                <a16:creationId xmlns:a16="http://schemas.microsoft.com/office/drawing/2014/main" id="{90CD6637-B776-3345-8328-36503E80870F}"/>
              </a:ext>
            </a:extLst>
          </p:cNvPr>
          <p:cNvSpPr>
            <a:spLocks noGrp="1"/>
          </p:cNvSpPr>
          <p:nvPr>
            <p:ph type="body" sz="quarter" idx="61" hasCustomPrompt="1"/>
          </p:nvPr>
        </p:nvSpPr>
        <p:spPr>
          <a:xfrm>
            <a:off x="9374438" y="5000355"/>
            <a:ext cx="2669428" cy="1097323"/>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0" name="Espace réservé pour une image  4">
            <a:extLst>
              <a:ext uri="{FF2B5EF4-FFF2-40B4-BE49-F238E27FC236}">
                <a16:creationId xmlns:a16="http://schemas.microsoft.com/office/drawing/2014/main" id="{DA54D27D-6737-4147-9056-5C0961E9A3DD}"/>
              </a:ext>
            </a:extLst>
          </p:cNvPr>
          <p:cNvSpPr>
            <a:spLocks noGrp="1"/>
          </p:cNvSpPr>
          <p:nvPr>
            <p:ph type="pic" sz="quarter" idx="62" hasCustomPrompt="1"/>
          </p:nvPr>
        </p:nvSpPr>
        <p:spPr>
          <a:xfrm>
            <a:off x="9359832" y="3814957"/>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cxnSp>
        <p:nvCxnSpPr>
          <p:cNvPr id="91" name="Connecteur droit 90">
            <a:extLst>
              <a:ext uri="{FF2B5EF4-FFF2-40B4-BE49-F238E27FC236}">
                <a16:creationId xmlns:a16="http://schemas.microsoft.com/office/drawing/2014/main" id="{597A3344-E9EF-9F43-8BF6-8E4A4F97A8A7}"/>
              </a:ext>
            </a:extLst>
          </p:cNvPr>
          <p:cNvCxnSpPr>
            <a:cxnSpLocks/>
          </p:cNvCxnSpPr>
          <p:nvPr userDrawn="1"/>
        </p:nvCxnSpPr>
        <p:spPr>
          <a:xfrm flipV="1">
            <a:off x="6140805" y="366161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2" name="Connecteur droit 91">
            <a:extLst>
              <a:ext uri="{FF2B5EF4-FFF2-40B4-BE49-F238E27FC236}">
                <a16:creationId xmlns:a16="http://schemas.microsoft.com/office/drawing/2014/main" id="{326AE1F6-3523-D54D-9A4B-F1279A73519F}"/>
              </a:ext>
            </a:extLst>
          </p:cNvPr>
          <p:cNvCxnSpPr>
            <a:cxnSpLocks/>
          </p:cNvCxnSpPr>
          <p:nvPr userDrawn="1"/>
        </p:nvCxnSpPr>
        <p:spPr>
          <a:xfrm flipV="1">
            <a:off x="3086709" y="365047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3" name="Connecteur droit 92">
            <a:extLst>
              <a:ext uri="{FF2B5EF4-FFF2-40B4-BE49-F238E27FC236}">
                <a16:creationId xmlns:a16="http://schemas.microsoft.com/office/drawing/2014/main" id="{1F5924AF-27C0-6643-A8C2-9B3A8430792B}"/>
              </a:ext>
            </a:extLst>
          </p:cNvPr>
          <p:cNvCxnSpPr>
            <a:cxnSpLocks/>
          </p:cNvCxnSpPr>
          <p:nvPr userDrawn="1"/>
        </p:nvCxnSpPr>
        <p:spPr>
          <a:xfrm flipV="1">
            <a:off x="9182709" y="3650477"/>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4" name="Connecteur droit 93">
            <a:extLst>
              <a:ext uri="{FF2B5EF4-FFF2-40B4-BE49-F238E27FC236}">
                <a16:creationId xmlns:a16="http://schemas.microsoft.com/office/drawing/2014/main" id="{0921032E-D40D-C740-8C6A-FAF1B4676D85}"/>
              </a:ext>
            </a:extLst>
          </p:cNvPr>
          <p:cNvCxnSpPr>
            <a:cxnSpLocks/>
          </p:cNvCxnSpPr>
          <p:nvPr userDrawn="1"/>
        </p:nvCxnSpPr>
        <p:spPr>
          <a:xfrm flipV="1">
            <a:off x="4517118" y="1047204"/>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95" name="Connecteur droit 94">
            <a:extLst>
              <a:ext uri="{FF2B5EF4-FFF2-40B4-BE49-F238E27FC236}">
                <a16:creationId xmlns:a16="http://schemas.microsoft.com/office/drawing/2014/main" id="{8BBA6C04-D7A1-2D42-8AB6-AF487DD911EF}"/>
              </a:ext>
            </a:extLst>
          </p:cNvPr>
          <p:cNvCxnSpPr>
            <a:cxnSpLocks/>
          </p:cNvCxnSpPr>
          <p:nvPr userDrawn="1"/>
        </p:nvCxnSpPr>
        <p:spPr>
          <a:xfrm flipV="1">
            <a:off x="7577100" y="1047204"/>
            <a:ext cx="0" cy="259200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96" name="Espace réservé du texte 23">
            <a:extLst>
              <a:ext uri="{FF2B5EF4-FFF2-40B4-BE49-F238E27FC236}">
                <a16:creationId xmlns:a16="http://schemas.microsoft.com/office/drawing/2014/main" id="{EFADFAC6-FFD9-3E46-9B84-064E3109D8EE}"/>
              </a:ext>
            </a:extLst>
          </p:cNvPr>
          <p:cNvSpPr>
            <a:spLocks noGrp="1"/>
          </p:cNvSpPr>
          <p:nvPr>
            <p:ph type="body" sz="quarter" idx="63" hasCustomPrompt="1"/>
          </p:nvPr>
        </p:nvSpPr>
        <p:spPr>
          <a:xfrm>
            <a:off x="5934040" y="1194995"/>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97" name="Espace réservé du texte 23">
            <a:extLst>
              <a:ext uri="{FF2B5EF4-FFF2-40B4-BE49-F238E27FC236}">
                <a16:creationId xmlns:a16="http://schemas.microsoft.com/office/drawing/2014/main" id="{A23DDE5E-765E-8646-AF52-103E6D7727CD}"/>
              </a:ext>
            </a:extLst>
          </p:cNvPr>
          <p:cNvSpPr>
            <a:spLocks noGrp="1"/>
          </p:cNvSpPr>
          <p:nvPr>
            <p:ph type="body" sz="quarter" idx="64" hasCustomPrompt="1"/>
          </p:nvPr>
        </p:nvSpPr>
        <p:spPr>
          <a:xfrm>
            <a:off x="5934040" y="1602676"/>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8" name="Espace réservé du texte 23">
            <a:extLst>
              <a:ext uri="{FF2B5EF4-FFF2-40B4-BE49-F238E27FC236}">
                <a16:creationId xmlns:a16="http://schemas.microsoft.com/office/drawing/2014/main" id="{55DFCCA3-2FA7-EF43-9261-E5472DDA4A09}"/>
              </a:ext>
            </a:extLst>
          </p:cNvPr>
          <p:cNvSpPr>
            <a:spLocks noGrp="1"/>
          </p:cNvSpPr>
          <p:nvPr>
            <p:ph type="body" sz="quarter" idx="65" hasCustomPrompt="1"/>
          </p:nvPr>
        </p:nvSpPr>
        <p:spPr>
          <a:xfrm>
            <a:off x="4703836" y="2378644"/>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99" name="Espace réservé pour une image  4">
            <a:extLst>
              <a:ext uri="{FF2B5EF4-FFF2-40B4-BE49-F238E27FC236}">
                <a16:creationId xmlns:a16="http://schemas.microsoft.com/office/drawing/2014/main" id="{39015A28-F0E8-184D-A77B-FE17868DA6E9}"/>
              </a:ext>
            </a:extLst>
          </p:cNvPr>
          <p:cNvSpPr>
            <a:spLocks noGrp="1"/>
          </p:cNvSpPr>
          <p:nvPr>
            <p:ph type="pic" sz="quarter" idx="66" hasCustomPrompt="1"/>
          </p:nvPr>
        </p:nvSpPr>
        <p:spPr>
          <a:xfrm>
            <a:off x="4689230" y="11932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100" name="Espace réservé du texte 23">
            <a:extLst>
              <a:ext uri="{FF2B5EF4-FFF2-40B4-BE49-F238E27FC236}">
                <a16:creationId xmlns:a16="http://schemas.microsoft.com/office/drawing/2014/main" id="{B5E81CF3-C567-5B45-8A47-62555B0F9354}"/>
              </a:ext>
            </a:extLst>
          </p:cNvPr>
          <p:cNvSpPr>
            <a:spLocks noGrp="1"/>
          </p:cNvSpPr>
          <p:nvPr>
            <p:ph type="body" sz="quarter" idx="67" hasCustomPrompt="1"/>
          </p:nvPr>
        </p:nvSpPr>
        <p:spPr>
          <a:xfrm>
            <a:off x="2874058" y="1197903"/>
            <a:ext cx="1440996" cy="378000"/>
          </a:xfrm>
          <a:prstGeom prst="rect">
            <a:avLst/>
          </a:prstGeom>
        </p:spPr>
        <p:txBody>
          <a:bodyPr lIns="0" tIns="0" rIns="0" bIns="0" anchor="t"/>
          <a:lstStyle>
            <a:lvl1pPr marL="0" indent="0" algn="l">
              <a:buNone/>
              <a:defRPr sz="1400" b="1" i="0" spc="0">
                <a:solidFill>
                  <a:srgbClr val="41A4C7"/>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Prénom Nom</a:t>
            </a:r>
          </a:p>
        </p:txBody>
      </p:sp>
      <p:sp>
        <p:nvSpPr>
          <p:cNvPr id="101" name="Espace réservé du texte 23">
            <a:extLst>
              <a:ext uri="{FF2B5EF4-FFF2-40B4-BE49-F238E27FC236}">
                <a16:creationId xmlns:a16="http://schemas.microsoft.com/office/drawing/2014/main" id="{F5104BF3-562F-2742-A598-DD29624E9C42}"/>
              </a:ext>
            </a:extLst>
          </p:cNvPr>
          <p:cNvSpPr>
            <a:spLocks noGrp="1"/>
          </p:cNvSpPr>
          <p:nvPr>
            <p:ph type="body" sz="quarter" idx="68" hasCustomPrompt="1"/>
          </p:nvPr>
        </p:nvSpPr>
        <p:spPr>
          <a:xfrm>
            <a:off x="2874058" y="1605584"/>
            <a:ext cx="1440996" cy="576000"/>
          </a:xfrm>
          <a:prstGeom prst="rect">
            <a:avLst/>
          </a:prstGeom>
        </p:spPr>
        <p:txBody>
          <a:bodyPr lIns="0" tIns="0" rIns="0" bIns="0" anchor="t"/>
          <a:lstStyle>
            <a:lvl1pPr marL="0" indent="0" algn="l">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02" name="Espace réservé du texte 23">
            <a:extLst>
              <a:ext uri="{FF2B5EF4-FFF2-40B4-BE49-F238E27FC236}">
                <a16:creationId xmlns:a16="http://schemas.microsoft.com/office/drawing/2014/main" id="{E7DAF3A5-3763-8C4B-8677-0F138AAC36D7}"/>
              </a:ext>
            </a:extLst>
          </p:cNvPr>
          <p:cNvSpPr>
            <a:spLocks noGrp="1"/>
          </p:cNvSpPr>
          <p:nvPr>
            <p:ph type="body" sz="quarter" idx="69" hasCustomPrompt="1"/>
          </p:nvPr>
        </p:nvSpPr>
        <p:spPr>
          <a:xfrm>
            <a:off x="1643854" y="2381552"/>
            <a:ext cx="2671200" cy="1098000"/>
          </a:xfrm>
          <a:prstGeom prst="rect">
            <a:avLst/>
          </a:prstGeom>
        </p:spPr>
        <p:txBody>
          <a:bodyPr lIns="0" tIns="0" rIns="0" bIns="0" anchor="t"/>
          <a:lstStyle>
            <a:lvl1pPr marL="171450" indent="-171450" algn="l">
              <a:buFont typeface="Arial" panose="020B0604020202020204" pitchFamily="34" charset="0"/>
              <a:buChar char="•"/>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03" name="Espace réservé pour une image  4">
            <a:extLst>
              <a:ext uri="{FF2B5EF4-FFF2-40B4-BE49-F238E27FC236}">
                <a16:creationId xmlns:a16="http://schemas.microsoft.com/office/drawing/2014/main" id="{4BABB430-907D-C04B-A46C-E0CEB9E10509}"/>
              </a:ext>
            </a:extLst>
          </p:cNvPr>
          <p:cNvSpPr>
            <a:spLocks noGrp="1"/>
          </p:cNvSpPr>
          <p:nvPr>
            <p:ph type="pic" sz="quarter" idx="70" hasCustomPrompt="1"/>
          </p:nvPr>
        </p:nvSpPr>
        <p:spPr>
          <a:xfrm>
            <a:off x="1629248" y="119615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Tree>
    <p:extLst>
      <p:ext uri="{BB962C8B-B14F-4D97-AF65-F5344CB8AC3E}">
        <p14:creationId xmlns:p14="http://schemas.microsoft.com/office/powerpoint/2010/main" val="528314012"/>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Schéma">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38" name="Espace réservé du texte 23">
            <a:extLst>
              <a:ext uri="{FF2B5EF4-FFF2-40B4-BE49-F238E27FC236}">
                <a16:creationId xmlns:a16="http://schemas.microsoft.com/office/drawing/2014/main" id="{1B69723A-750D-AF46-BD7B-DA5FC3C52AAC}"/>
              </a:ext>
            </a:extLst>
          </p:cNvPr>
          <p:cNvSpPr>
            <a:spLocks noGrp="1"/>
          </p:cNvSpPr>
          <p:nvPr>
            <p:ph type="body" sz="quarter" idx="36" hasCustomPrompt="1"/>
          </p:nvPr>
        </p:nvSpPr>
        <p:spPr>
          <a:xfrm>
            <a:off x="685939" y="1241035"/>
            <a:ext cx="2220601" cy="506379"/>
          </a:xfrm>
          <a:prstGeom prst="rect">
            <a:avLst/>
          </a:prstGeom>
          <a:solidFill>
            <a:srgbClr val="1B445F"/>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39" name="Espace réservé du texte 23">
            <a:extLst>
              <a:ext uri="{FF2B5EF4-FFF2-40B4-BE49-F238E27FC236}">
                <a16:creationId xmlns:a16="http://schemas.microsoft.com/office/drawing/2014/main" id="{CE7A6769-F238-FF4E-8F4E-FD06AA230284}"/>
              </a:ext>
            </a:extLst>
          </p:cNvPr>
          <p:cNvSpPr>
            <a:spLocks noGrp="1"/>
          </p:cNvSpPr>
          <p:nvPr>
            <p:ph type="body" sz="quarter" idx="37" hasCustomPrompt="1"/>
          </p:nvPr>
        </p:nvSpPr>
        <p:spPr>
          <a:xfrm>
            <a:off x="685941" y="1905196"/>
            <a:ext cx="2220601" cy="506379"/>
          </a:xfrm>
          <a:prstGeom prst="rect">
            <a:avLst/>
          </a:prstGeom>
          <a:solidFill>
            <a:srgbClr val="539DB1"/>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40" name="Espace réservé du texte 23">
            <a:extLst>
              <a:ext uri="{FF2B5EF4-FFF2-40B4-BE49-F238E27FC236}">
                <a16:creationId xmlns:a16="http://schemas.microsoft.com/office/drawing/2014/main" id="{8DAE4A22-9E53-9E44-B9C8-BEF40E18E53C}"/>
              </a:ext>
            </a:extLst>
          </p:cNvPr>
          <p:cNvSpPr>
            <a:spLocks noGrp="1"/>
          </p:cNvSpPr>
          <p:nvPr>
            <p:ph type="body" sz="quarter" idx="38" hasCustomPrompt="1"/>
          </p:nvPr>
        </p:nvSpPr>
        <p:spPr>
          <a:xfrm>
            <a:off x="685939" y="2569357"/>
            <a:ext cx="2220601" cy="506379"/>
          </a:xfrm>
          <a:prstGeom prst="rect">
            <a:avLst/>
          </a:prstGeom>
          <a:solidFill>
            <a:srgbClr val="90C9D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41" name="Espace réservé du texte 23">
            <a:extLst>
              <a:ext uri="{FF2B5EF4-FFF2-40B4-BE49-F238E27FC236}">
                <a16:creationId xmlns:a16="http://schemas.microsoft.com/office/drawing/2014/main" id="{F69CC65E-0416-8748-8D00-F93A2366C606}"/>
              </a:ext>
            </a:extLst>
          </p:cNvPr>
          <p:cNvSpPr>
            <a:spLocks noGrp="1"/>
          </p:cNvSpPr>
          <p:nvPr>
            <p:ph type="body" sz="quarter" idx="39" hasCustomPrompt="1"/>
          </p:nvPr>
        </p:nvSpPr>
        <p:spPr>
          <a:xfrm>
            <a:off x="685938" y="3233518"/>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51" name="Espace réservé du texte 23">
            <a:extLst>
              <a:ext uri="{FF2B5EF4-FFF2-40B4-BE49-F238E27FC236}">
                <a16:creationId xmlns:a16="http://schemas.microsoft.com/office/drawing/2014/main" id="{6A1E629E-1AE0-5147-9CD7-06329F571879}"/>
              </a:ext>
            </a:extLst>
          </p:cNvPr>
          <p:cNvSpPr>
            <a:spLocks noGrp="1"/>
          </p:cNvSpPr>
          <p:nvPr>
            <p:ph type="body" sz="quarter" idx="12" hasCustomPrompt="1"/>
          </p:nvPr>
        </p:nvSpPr>
        <p:spPr>
          <a:xfrm>
            <a:off x="685939" y="5347915"/>
            <a:ext cx="10820123" cy="50638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 de bas de page</a:t>
            </a:r>
          </a:p>
        </p:txBody>
      </p:sp>
      <p:sp>
        <p:nvSpPr>
          <p:cNvPr id="56" name="Espace réservé du texte 23">
            <a:extLst>
              <a:ext uri="{FF2B5EF4-FFF2-40B4-BE49-F238E27FC236}">
                <a16:creationId xmlns:a16="http://schemas.microsoft.com/office/drawing/2014/main" id="{680F8411-7B5B-D54F-8143-D243AC37E830}"/>
              </a:ext>
            </a:extLst>
          </p:cNvPr>
          <p:cNvSpPr>
            <a:spLocks noGrp="1"/>
          </p:cNvSpPr>
          <p:nvPr>
            <p:ph type="body" sz="quarter" idx="40" hasCustomPrompt="1"/>
          </p:nvPr>
        </p:nvSpPr>
        <p:spPr>
          <a:xfrm>
            <a:off x="685938" y="3897679"/>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88" name="Espace réservé du texte 23">
            <a:extLst>
              <a:ext uri="{FF2B5EF4-FFF2-40B4-BE49-F238E27FC236}">
                <a16:creationId xmlns:a16="http://schemas.microsoft.com/office/drawing/2014/main" id="{D4591BC7-2817-1F45-88D2-A34A3B65720A}"/>
              </a:ext>
            </a:extLst>
          </p:cNvPr>
          <p:cNvSpPr>
            <a:spLocks noGrp="1"/>
          </p:cNvSpPr>
          <p:nvPr>
            <p:ph type="body" sz="quarter" idx="41" hasCustomPrompt="1"/>
          </p:nvPr>
        </p:nvSpPr>
        <p:spPr>
          <a:xfrm>
            <a:off x="685938" y="4561840"/>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89" name="Espace réservé du texte 23">
            <a:extLst>
              <a:ext uri="{FF2B5EF4-FFF2-40B4-BE49-F238E27FC236}">
                <a16:creationId xmlns:a16="http://schemas.microsoft.com/office/drawing/2014/main" id="{5D7E2B6C-2C17-3645-B1C4-D3C5AC78A821}"/>
              </a:ext>
            </a:extLst>
          </p:cNvPr>
          <p:cNvSpPr>
            <a:spLocks noGrp="1"/>
          </p:cNvSpPr>
          <p:nvPr>
            <p:ph type="body" sz="quarter" idx="42" hasCustomPrompt="1"/>
          </p:nvPr>
        </p:nvSpPr>
        <p:spPr>
          <a:xfrm>
            <a:off x="3072253" y="1241035"/>
            <a:ext cx="2220601" cy="506379"/>
          </a:xfrm>
          <a:prstGeom prst="rect">
            <a:avLst/>
          </a:prstGeom>
          <a:solidFill>
            <a:srgbClr val="1B445F"/>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0" name="Espace réservé du texte 23">
            <a:extLst>
              <a:ext uri="{FF2B5EF4-FFF2-40B4-BE49-F238E27FC236}">
                <a16:creationId xmlns:a16="http://schemas.microsoft.com/office/drawing/2014/main" id="{BD3BAEEB-2D03-2944-80B0-7B19DE4CAB1D}"/>
              </a:ext>
            </a:extLst>
          </p:cNvPr>
          <p:cNvSpPr>
            <a:spLocks noGrp="1"/>
          </p:cNvSpPr>
          <p:nvPr>
            <p:ph type="body" sz="quarter" idx="43" hasCustomPrompt="1"/>
          </p:nvPr>
        </p:nvSpPr>
        <p:spPr>
          <a:xfrm>
            <a:off x="3072255" y="1905196"/>
            <a:ext cx="2220601" cy="506379"/>
          </a:xfrm>
          <a:prstGeom prst="rect">
            <a:avLst/>
          </a:prstGeom>
          <a:solidFill>
            <a:srgbClr val="539DB1"/>
          </a:solidFill>
        </p:spPr>
        <p:txBody>
          <a:bodyPr anchor="ctr"/>
          <a:lstStyle>
            <a:lvl1pPr marL="0" indent="0" algn="ctr">
              <a:buNone/>
              <a:defRPr sz="1200" b="0" i="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1" name="Espace réservé du texte 23">
            <a:extLst>
              <a:ext uri="{FF2B5EF4-FFF2-40B4-BE49-F238E27FC236}">
                <a16:creationId xmlns:a16="http://schemas.microsoft.com/office/drawing/2014/main" id="{20789B73-2345-B344-89EC-9AFEC2CD70BF}"/>
              </a:ext>
            </a:extLst>
          </p:cNvPr>
          <p:cNvSpPr>
            <a:spLocks noGrp="1"/>
          </p:cNvSpPr>
          <p:nvPr>
            <p:ph type="body" sz="quarter" idx="44" hasCustomPrompt="1"/>
          </p:nvPr>
        </p:nvSpPr>
        <p:spPr>
          <a:xfrm>
            <a:off x="3072253" y="2569357"/>
            <a:ext cx="2220601" cy="506379"/>
          </a:xfrm>
          <a:prstGeom prst="rect">
            <a:avLst/>
          </a:prstGeom>
          <a:solidFill>
            <a:srgbClr val="90C9D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2" name="Espace réservé du texte 23">
            <a:extLst>
              <a:ext uri="{FF2B5EF4-FFF2-40B4-BE49-F238E27FC236}">
                <a16:creationId xmlns:a16="http://schemas.microsoft.com/office/drawing/2014/main" id="{115DA821-2917-754E-AAD9-01F3C9A43A5F}"/>
              </a:ext>
            </a:extLst>
          </p:cNvPr>
          <p:cNvSpPr>
            <a:spLocks noGrp="1"/>
          </p:cNvSpPr>
          <p:nvPr>
            <p:ph type="body" sz="quarter" idx="45" hasCustomPrompt="1"/>
          </p:nvPr>
        </p:nvSpPr>
        <p:spPr>
          <a:xfrm>
            <a:off x="3072252" y="3233518"/>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3" name="Espace réservé du texte 23">
            <a:extLst>
              <a:ext uri="{FF2B5EF4-FFF2-40B4-BE49-F238E27FC236}">
                <a16:creationId xmlns:a16="http://schemas.microsoft.com/office/drawing/2014/main" id="{C9EE8ECA-72D9-3F40-82BB-D2613EE18AF4}"/>
              </a:ext>
            </a:extLst>
          </p:cNvPr>
          <p:cNvSpPr>
            <a:spLocks noGrp="1"/>
          </p:cNvSpPr>
          <p:nvPr>
            <p:ph type="body" sz="quarter" idx="46" hasCustomPrompt="1"/>
          </p:nvPr>
        </p:nvSpPr>
        <p:spPr>
          <a:xfrm>
            <a:off x="3072252" y="3897679"/>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
        <p:nvSpPr>
          <p:cNvPr id="94" name="Espace réservé du texte 23">
            <a:extLst>
              <a:ext uri="{FF2B5EF4-FFF2-40B4-BE49-F238E27FC236}">
                <a16:creationId xmlns:a16="http://schemas.microsoft.com/office/drawing/2014/main" id="{C12537C3-55A7-F142-82FE-7D10176C9C51}"/>
              </a:ext>
            </a:extLst>
          </p:cNvPr>
          <p:cNvSpPr>
            <a:spLocks noGrp="1"/>
          </p:cNvSpPr>
          <p:nvPr>
            <p:ph type="body" sz="quarter" idx="47" hasCustomPrompt="1"/>
          </p:nvPr>
        </p:nvSpPr>
        <p:spPr>
          <a:xfrm>
            <a:off x="3072252" y="4561840"/>
            <a:ext cx="2220601" cy="506379"/>
          </a:xfrm>
          <a:prstGeom prst="rect">
            <a:avLst/>
          </a:prstGeom>
          <a:solidFill>
            <a:srgbClr val="E1E6EB"/>
          </a:solidFill>
        </p:spPr>
        <p:txBody>
          <a:bodyPr anchor="ctr"/>
          <a:lstStyle>
            <a:lvl1pPr marL="0" indent="0" algn="ctr">
              <a:buNone/>
              <a:defRPr sz="1200" b="0" i="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 Texte</a:t>
            </a:r>
          </a:p>
        </p:txBody>
      </p:sp>
    </p:spTree>
    <p:extLst>
      <p:ext uri="{BB962C8B-B14F-4D97-AF65-F5344CB8AC3E}">
        <p14:creationId xmlns:p14="http://schemas.microsoft.com/office/powerpoint/2010/main" val="500928078"/>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Image seul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10" name="Espace réservé pour une image  2">
            <a:extLst>
              <a:ext uri="{FF2B5EF4-FFF2-40B4-BE49-F238E27FC236}">
                <a16:creationId xmlns:a16="http://schemas.microsoft.com/office/drawing/2014/main" id="{7D9C95A2-C8E2-DE45-A2FD-E16C973C27C5}"/>
              </a:ext>
            </a:extLst>
          </p:cNvPr>
          <p:cNvSpPr>
            <a:spLocks noGrp="1"/>
          </p:cNvSpPr>
          <p:nvPr>
            <p:ph type="pic" sz="quarter" idx="14" hasCustomPrompt="1"/>
          </p:nvPr>
        </p:nvSpPr>
        <p:spPr>
          <a:xfrm>
            <a:off x="685938" y="1238735"/>
            <a:ext cx="10820123" cy="4613260"/>
          </a:xfrm>
          <a:prstGeom prst="rect">
            <a:avLst/>
          </a:prstGeom>
        </p:spPr>
        <p:txBody>
          <a:bodyPr/>
          <a:lstStyle>
            <a:lvl1pPr marL="0" indent="0">
              <a:buFontTx/>
              <a:buNone/>
              <a:defRPr sz="2000">
                <a:solidFill>
                  <a:srgbClr val="1B445F"/>
                </a:solidFill>
                <a:latin typeface="Calibri" panose="020F0502020204030204" pitchFamily="34" charset="0"/>
                <a:cs typeface="Calibri" panose="020F0502020204030204" pitchFamily="34" charset="0"/>
              </a:defRPr>
            </a:lvl1pPr>
          </a:lstStyle>
          <a:p>
            <a:r>
              <a:rPr lang="fr-FR"/>
              <a:t>Cliquer pour insérer une image</a:t>
            </a:r>
          </a:p>
        </p:txBody>
      </p:sp>
    </p:spTree>
    <p:extLst>
      <p:ext uri="{BB962C8B-B14F-4D97-AF65-F5344CB8AC3E}">
        <p14:creationId xmlns:p14="http://schemas.microsoft.com/office/powerpoint/2010/main" val="367540471"/>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Vierge">
    <p:spTree>
      <p:nvGrpSpPr>
        <p:cNvPr id="1" name=""/>
        <p:cNvGrpSpPr/>
        <p:nvPr/>
      </p:nvGrpSpPr>
      <p:grpSpPr>
        <a:xfrm>
          <a:off x="0" y="0"/>
          <a:ext cx="0" cy="0"/>
          <a:chOff x="0" y="0"/>
          <a:chExt cx="0" cy="0"/>
        </a:xfrm>
      </p:grpSpPr>
      <p:pic>
        <p:nvPicPr>
          <p:cNvPr id="43" name="Image 42">
            <a:extLst>
              <a:ext uri="{FF2B5EF4-FFF2-40B4-BE49-F238E27FC236}">
                <a16:creationId xmlns:a16="http://schemas.microsoft.com/office/drawing/2014/main" id="{86C06759-3B92-ED4D-AEE4-7401404E029E}"/>
              </a:ext>
            </a:extLst>
          </p:cNvPr>
          <p:cNvPicPr>
            <a:picLocks noChangeAspect="1"/>
          </p:cNvPicPr>
          <p:nvPr userDrawn="1"/>
        </p:nvPicPr>
        <p:blipFill>
          <a:blip r:embed="rId2"/>
          <a:stretch>
            <a:fillRect/>
          </a:stretch>
        </p:blipFill>
        <p:spPr>
          <a:xfrm>
            <a:off x="1" y="-5035"/>
            <a:ext cx="12192000" cy="759633"/>
          </a:xfrm>
          <a:prstGeom prst="rect">
            <a:avLst/>
          </a:prstGeom>
        </p:spPr>
      </p:pic>
      <p:sp>
        <p:nvSpPr>
          <p:cNvPr id="52" name="Title 12">
            <a:extLst>
              <a:ext uri="{FF2B5EF4-FFF2-40B4-BE49-F238E27FC236}">
                <a16:creationId xmlns:a16="http://schemas.microsoft.com/office/drawing/2014/main" id="{7ED219E2-95A1-0943-AD7A-101DF2F5A920}"/>
              </a:ext>
            </a:extLst>
          </p:cNvPr>
          <p:cNvSpPr txBox="1">
            <a:spLocks/>
          </p:cNvSpPr>
          <p:nvPr userDrawn="1"/>
        </p:nvSpPr>
        <p:spPr>
          <a:xfrm>
            <a:off x="1" y="-20305"/>
            <a:ext cx="12192000" cy="774904"/>
          </a:xfrm>
          <a:prstGeom prst="rect">
            <a:avLst/>
          </a:prstGeom>
          <a:solidFill>
            <a:srgbClr val="1F5363">
              <a:alpha val="50000"/>
            </a:srgbClr>
          </a:solidFill>
        </p:spPr>
        <p:txBody>
          <a:bodyPr anchor="ctr"/>
          <a:lstStyle>
            <a:lvl1pPr algn="l" defTabSz="914400" rtl="0" eaLnBrk="1" latinLnBrk="0" hangingPunct="1">
              <a:lnSpc>
                <a:spcPct val="90000"/>
              </a:lnSpc>
              <a:spcBef>
                <a:spcPct val="0"/>
              </a:spcBef>
              <a:buNone/>
              <a:defRPr sz="1600" b="1" kern="1200">
                <a:solidFill>
                  <a:srgbClr val="1B445F"/>
                </a:solidFill>
                <a:latin typeface="AvantGarGotItcT"/>
                <a:ea typeface="+mj-ea"/>
                <a:cs typeface="+mj-cs"/>
              </a:defRPr>
            </a:lvl1pPr>
          </a:lstStyle>
          <a:p>
            <a:pPr marL="180000">
              <a:buClrTx/>
              <a:buFontTx/>
            </a:pPr>
            <a:endParaRPr lang="fr-FR" sz="2800">
              <a:solidFill>
                <a:schemeClr val="bg1"/>
              </a:solidFill>
              <a:latin typeface="Calibri" panose="020F0502020204030204" pitchFamily="34" charset="0"/>
              <a:cs typeface="Calibri" panose="020F0502020204030204" pitchFamily="34" charset="0"/>
            </a:endParaRPr>
          </a:p>
        </p:txBody>
      </p:sp>
      <p:sp>
        <p:nvSpPr>
          <p:cNvPr id="53" name="Espace réservé du texte 23">
            <a:extLst>
              <a:ext uri="{FF2B5EF4-FFF2-40B4-BE49-F238E27FC236}">
                <a16:creationId xmlns:a16="http://schemas.microsoft.com/office/drawing/2014/main" id="{F41D184B-0509-9344-87BD-F44776E00A48}"/>
              </a:ext>
            </a:extLst>
          </p:cNvPr>
          <p:cNvSpPr>
            <a:spLocks noGrp="1"/>
          </p:cNvSpPr>
          <p:nvPr>
            <p:ph type="body" sz="quarter" idx="11" hasCustomPrompt="1"/>
          </p:nvPr>
        </p:nvSpPr>
        <p:spPr>
          <a:xfrm>
            <a:off x="0" y="-1"/>
            <a:ext cx="12191999" cy="754597"/>
          </a:xfrm>
          <a:prstGeom prst="rect">
            <a:avLst/>
          </a:prstGeom>
        </p:spPr>
        <p:txBody>
          <a:bodyPr lIns="27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Tree>
    <p:extLst>
      <p:ext uri="{BB962C8B-B14F-4D97-AF65-F5344CB8AC3E}">
        <p14:creationId xmlns:p14="http://schemas.microsoft.com/office/powerpoint/2010/main" val="1817025823"/>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_Contacts en 5">
    <p:bg>
      <p:bgPr>
        <a:solidFill>
          <a:srgbClr val="E1E6EB"/>
        </a:solidFill>
        <a:effectLst/>
      </p:bgPr>
    </p:bg>
    <p:spTree>
      <p:nvGrpSpPr>
        <p:cNvPr id="1" name=""/>
        <p:cNvGrpSpPr/>
        <p:nvPr/>
      </p:nvGrpSpPr>
      <p:grpSpPr>
        <a:xfrm>
          <a:off x="0" y="0"/>
          <a:ext cx="0" cy="0"/>
          <a:chOff x="0" y="0"/>
          <a:chExt cx="0" cy="0"/>
        </a:xfrm>
      </p:grpSpPr>
      <p:grpSp>
        <p:nvGrpSpPr>
          <p:cNvPr id="19" name="Groupe 18">
            <a:extLst>
              <a:ext uri="{FF2B5EF4-FFF2-40B4-BE49-F238E27FC236}">
                <a16:creationId xmlns:a16="http://schemas.microsoft.com/office/drawing/2014/main" id="{00E7E6CF-74B3-DA4E-8C67-8227EDDA7AAB}"/>
              </a:ext>
            </a:extLst>
          </p:cNvPr>
          <p:cNvGrpSpPr/>
          <p:nvPr userDrawn="1"/>
        </p:nvGrpSpPr>
        <p:grpSpPr>
          <a:xfrm>
            <a:off x="2943532" y="3394359"/>
            <a:ext cx="1035293" cy="1013989"/>
            <a:chOff x="556126" y="4311990"/>
            <a:chExt cx="1035293" cy="1013989"/>
          </a:xfrm>
        </p:grpSpPr>
        <p:sp>
          <p:nvSpPr>
            <p:cNvPr id="20" name="Rectangle 19">
              <a:extLst>
                <a:ext uri="{FF2B5EF4-FFF2-40B4-BE49-F238E27FC236}">
                  <a16:creationId xmlns:a16="http://schemas.microsoft.com/office/drawing/2014/main" id="{2773A585-9E83-DD4B-8D68-6A444547E8B8}"/>
                </a:ext>
              </a:extLst>
            </p:cNvPr>
            <p:cNvSpPr/>
            <p:nvPr/>
          </p:nvSpPr>
          <p:spPr>
            <a:xfrm>
              <a:off x="556126" y="4311990"/>
              <a:ext cx="294108" cy="1013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Rectangle 20">
              <a:extLst>
                <a:ext uri="{FF2B5EF4-FFF2-40B4-BE49-F238E27FC236}">
                  <a16:creationId xmlns:a16="http://schemas.microsoft.com/office/drawing/2014/main" id="{7360EE6C-98DC-D746-A335-B57A0B3ECC6F}"/>
                </a:ext>
              </a:extLst>
            </p:cNvPr>
            <p:cNvSpPr/>
            <p:nvPr/>
          </p:nvSpPr>
          <p:spPr>
            <a:xfrm rot="16200000">
              <a:off x="1071100" y="4805660"/>
              <a:ext cx="299453" cy="7411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2" name="Groupe 21">
            <a:extLst>
              <a:ext uri="{FF2B5EF4-FFF2-40B4-BE49-F238E27FC236}">
                <a16:creationId xmlns:a16="http://schemas.microsoft.com/office/drawing/2014/main" id="{6B913E42-0CA4-F740-8CF9-E221CF7EB0DD}"/>
              </a:ext>
            </a:extLst>
          </p:cNvPr>
          <p:cNvGrpSpPr/>
          <p:nvPr userDrawn="1"/>
        </p:nvGrpSpPr>
        <p:grpSpPr>
          <a:xfrm rot="10800000">
            <a:off x="8220858" y="2421946"/>
            <a:ext cx="1061675" cy="1007054"/>
            <a:chOff x="529744" y="4318924"/>
            <a:chExt cx="1061675" cy="1007054"/>
          </a:xfrm>
          <a:solidFill>
            <a:schemeClr val="bg1"/>
          </a:solidFill>
        </p:grpSpPr>
        <p:sp>
          <p:nvSpPr>
            <p:cNvPr id="23" name="Rectangle 22">
              <a:extLst>
                <a:ext uri="{FF2B5EF4-FFF2-40B4-BE49-F238E27FC236}">
                  <a16:creationId xmlns:a16="http://schemas.microsoft.com/office/drawing/2014/main" id="{9A582717-A057-C541-B69E-2DB4590C87F2}"/>
                </a:ext>
              </a:extLst>
            </p:cNvPr>
            <p:cNvSpPr/>
            <p:nvPr/>
          </p:nvSpPr>
          <p:spPr>
            <a:xfrm>
              <a:off x="529744" y="4318924"/>
              <a:ext cx="320490" cy="1000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Rectangle 23">
              <a:extLst>
                <a:ext uri="{FF2B5EF4-FFF2-40B4-BE49-F238E27FC236}">
                  <a16:creationId xmlns:a16="http://schemas.microsoft.com/office/drawing/2014/main" id="{3E5B0188-42B0-0E4B-BCD4-DE083C4842DC}"/>
                </a:ext>
              </a:extLst>
            </p:cNvPr>
            <p:cNvSpPr/>
            <p:nvPr/>
          </p:nvSpPr>
          <p:spPr>
            <a:xfrm rot="16200000">
              <a:off x="1071100" y="4805660"/>
              <a:ext cx="299453" cy="7411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5" name="Espace réservé du texte 23">
            <a:extLst>
              <a:ext uri="{FF2B5EF4-FFF2-40B4-BE49-F238E27FC236}">
                <a16:creationId xmlns:a16="http://schemas.microsoft.com/office/drawing/2014/main" id="{42C7297B-9020-DF4C-8BF0-A8B862F4FAAE}"/>
              </a:ext>
            </a:extLst>
          </p:cNvPr>
          <p:cNvSpPr>
            <a:spLocks noGrp="1"/>
          </p:cNvSpPr>
          <p:nvPr>
            <p:ph type="body" sz="quarter" idx="11" hasCustomPrompt="1"/>
          </p:nvPr>
        </p:nvSpPr>
        <p:spPr>
          <a:xfrm>
            <a:off x="3541642" y="3051701"/>
            <a:ext cx="5108717" cy="754598"/>
          </a:xfrm>
          <a:prstGeom prst="rect">
            <a:avLst/>
          </a:prstGeom>
        </p:spPr>
        <p:txBody>
          <a:bodyPr lIns="0" tIns="0" rIns="0" bIns="0" anchor="ctr"/>
          <a:lstStyle>
            <a:lvl1pPr marL="0" indent="0" algn="ctr">
              <a:buNone/>
              <a:defRPr sz="3200" b="1" i="0" spc="30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TITRE</a:t>
            </a:r>
          </a:p>
        </p:txBody>
      </p:sp>
    </p:spTree>
    <p:extLst>
      <p:ext uri="{BB962C8B-B14F-4D97-AF65-F5344CB8AC3E}">
        <p14:creationId xmlns:p14="http://schemas.microsoft.com/office/powerpoint/2010/main" val="95936992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Contacts en 5">
    <p:bg>
      <p:bgPr>
        <a:solidFill>
          <a:srgbClr val="E1E6EB"/>
        </a:solidFill>
        <a:effectLst/>
      </p:bgPr>
    </p:bg>
    <p:spTree>
      <p:nvGrpSpPr>
        <p:cNvPr id="1" name=""/>
        <p:cNvGrpSpPr/>
        <p:nvPr/>
      </p:nvGrpSpPr>
      <p:grpSpPr>
        <a:xfrm>
          <a:off x="0" y="0"/>
          <a:ext cx="0" cy="0"/>
          <a:chOff x="0" y="0"/>
          <a:chExt cx="0" cy="0"/>
        </a:xfrm>
      </p:grpSpPr>
      <p:pic>
        <p:nvPicPr>
          <p:cNvPr id="10" name="Picture 4">
            <a:extLst>
              <a:ext uri="{FF2B5EF4-FFF2-40B4-BE49-F238E27FC236}">
                <a16:creationId xmlns:a16="http://schemas.microsoft.com/office/drawing/2014/main" id="{DE0B3A84-7641-E849-9F22-19BE3BFD8E6C}"/>
              </a:ext>
            </a:extLst>
          </p:cNvPr>
          <p:cNvPicPr>
            <a:picLocks noChangeAspect="1"/>
          </p:cNvPicPr>
          <p:nvPr userDrawn="1"/>
        </p:nvPicPr>
        <p:blipFill>
          <a:blip r:embed="rId2"/>
          <a:stretch>
            <a:fillRect/>
          </a:stretch>
        </p:blipFill>
        <p:spPr>
          <a:xfrm>
            <a:off x="4286451" y="530021"/>
            <a:ext cx="3619098" cy="792950"/>
          </a:xfrm>
          <a:prstGeom prst="rect">
            <a:avLst/>
          </a:prstGeom>
        </p:spPr>
      </p:pic>
      <p:sp>
        <p:nvSpPr>
          <p:cNvPr id="12" name="Rectangle 11">
            <a:extLst>
              <a:ext uri="{FF2B5EF4-FFF2-40B4-BE49-F238E27FC236}">
                <a16:creationId xmlns:a16="http://schemas.microsoft.com/office/drawing/2014/main" id="{C528CACF-90FE-2244-AF50-50352D75EEEC}"/>
              </a:ext>
            </a:extLst>
          </p:cNvPr>
          <p:cNvSpPr/>
          <p:nvPr userDrawn="1"/>
        </p:nvSpPr>
        <p:spPr>
          <a:xfrm>
            <a:off x="685939" y="5292106"/>
            <a:ext cx="10820121" cy="792950"/>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just">
              <a:spcAft>
                <a:spcPts val="600"/>
              </a:spcAft>
            </a:pPr>
            <a:r>
              <a:rPr lang="fr-FR" b="1">
                <a:solidFill>
                  <a:srgbClr val="1B445F"/>
                </a:solidFill>
                <a:latin typeface="Calibri" panose="020F0502020204030204" pitchFamily="34" charset="0"/>
                <a:cs typeface="Calibri" panose="020F0502020204030204" pitchFamily="34" charset="0"/>
              </a:rPr>
              <a:t>Disclaimer: </a:t>
            </a:r>
            <a:r>
              <a:rPr lang="fr-FR">
                <a:solidFill>
                  <a:srgbClr val="1B445F"/>
                </a:solidFill>
                <a:latin typeface="Calibri" panose="020F0502020204030204" pitchFamily="34" charset="0"/>
                <a:cs typeface="Calibri" panose="020F0502020204030204" pitchFamily="34" charset="0"/>
              </a:rPr>
              <a:t>The information contained </a:t>
            </a:r>
            <a:r>
              <a:rPr lang="fr-FR" err="1">
                <a:solidFill>
                  <a:srgbClr val="1B445F"/>
                </a:solidFill>
                <a:latin typeface="Calibri" panose="020F0502020204030204" pitchFamily="34" charset="0"/>
                <a:cs typeface="Calibri" panose="020F0502020204030204" pitchFamily="34" charset="0"/>
              </a:rPr>
              <a:t>here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of a </a:t>
            </a:r>
            <a:r>
              <a:rPr lang="fr-FR" err="1">
                <a:solidFill>
                  <a:srgbClr val="1B445F"/>
                </a:solidFill>
                <a:latin typeface="Calibri" panose="020F0502020204030204" pitchFamily="34" charset="0"/>
                <a:cs typeface="Calibri" panose="020F0502020204030204" pitchFamily="34" charset="0"/>
              </a:rPr>
              <a:t>general</a:t>
            </a:r>
            <a:r>
              <a:rPr lang="fr-FR">
                <a:solidFill>
                  <a:srgbClr val="1B445F"/>
                </a:solidFill>
                <a:latin typeface="Calibri" panose="020F0502020204030204" pitchFamily="34" charset="0"/>
                <a:cs typeface="Calibri" panose="020F0502020204030204" pitchFamily="34" charset="0"/>
              </a:rPr>
              <a:t> nature and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not </a:t>
            </a:r>
            <a:r>
              <a:rPr lang="fr-FR" err="1">
                <a:solidFill>
                  <a:srgbClr val="1B445F"/>
                </a:solidFill>
                <a:latin typeface="Calibri" panose="020F0502020204030204" pitchFamily="34" charset="0"/>
                <a:cs typeface="Calibri" panose="020F0502020204030204" pitchFamily="34" charset="0"/>
              </a:rPr>
              <a:t>intended</a:t>
            </a:r>
            <a:r>
              <a:rPr lang="fr-FR">
                <a:solidFill>
                  <a:srgbClr val="1B445F"/>
                </a:solidFill>
                <a:latin typeface="Calibri" panose="020F0502020204030204" pitchFamily="34" charset="0"/>
                <a:cs typeface="Calibri" panose="020F0502020204030204" pitchFamily="34" charset="0"/>
              </a:rPr>
              <a:t> to </a:t>
            </a:r>
            <a:r>
              <a:rPr lang="fr-FR" err="1">
                <a:solidFill>
                  <a:srgbClr val="1B445F"/>
                </a:solidFill>
                <a:latin typeface="Calibri" panose="020F0502020204030204" pitchFamily="34" charset="0"/>
                <a:cs typeface="Calibri" panose="020F0502020204030204" pitchFamily="34" charset="0"/>
              </a:rPr>
              <a:t>reflect</a:t>
            </a:r>
            <a:r>
              <a:rPr lang="fr-FR">
                <a:solidFill>
                  <a:srgbClr val="1B445F"/>
                </a:solidFill>
                <a:latin typeface="Calibri" panose="020F0502020204030204" pitchFamily="34" charset="0"/>
                <a:cs typeface="Calibri" panose="020F0502020204030204" pitchFamily="34" charset="0"/>
              </a:rPr>
              <a:t> the </a:t>
            </a:r>
            <a:r>
              <a:rPr lang="fr-FR" err="1">
                <a:solidFill>
                  <a:srgbClr val="1B445F"/>
                </a:solidFill>
                <a:latin typeface="Calibri" panose="020F0502020204030204" pitchFamily="34" charset="0"/>
                <a:cs typeface="Calibri" panose="020F0502020204030204" pitchFamily="34" charset="0"/>
              </a:rPr>
              <a:t>characteristics</a:t>
            </a:r>
            <a:r>
              <a:rPr lang="fr-FR">
                <a:solidFill>
                  <a:srgbClr val="1B445F"/>
                </a:solidFill>
                <a:latin typeface="Calibri" panose="020F0502020204030204" pitchFamily="34" charset="0"/>
                <a:cs typeface="Calibri" panose="020F0502020204030204" pitchFamily="34" charset="0"/>
              </a:rPr>
              <a:t> of a </a:t>
            </a:r>
            <a:r>
              <a:rPr lang="fr-FR" err="1">
                <a:solidFill>
                  <a:srgbClr val="1B445F"/>
                </a:solidFill>
                <a:latin typeface="Calibri" panose="020F0502020204030204" pitchFamily="34" charset="0"/>
                <a:cs typeface="Calibri" panose="020F0502020204030204" pitchFamily="34" charset="0"/>
              </a:rPr>
              <a:t>particular</a:t>
            </a:r>
            <a:r>
              <a:rPr lang="fr-FR">
                <a:solidFill>
                  <a:srgbClr val="1B445F"/>
                </a:solidFill>
                <a:latin typeface="Calibri" panose="020F0502020204030204" pitchFamily="34" charset="0"/>
                <a:cs typeface="Calibri" panose="020F0502020204030204" pitchFamily="34" charset="0"/>
              </a:rPr>
              <a:t> institution. </a:t>
            </a:r>
            <a:r>
              <a:rPr lang="fr-FR" err="1">
                <a:solidFill>
                  <a:srgbClr val="1B445F"/>
                </a:solidFill>
                <a:latin typeface="Calibri" panose="020F0502020204030204" pitchFamily="34" charset="0"/>
                <a:cs typeface="Calibri" panose="020F0502020204030204" pitchFamily="34" charset="0"/>
              </a:rPr>
              <a:t>Although</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we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endeavor</a:t>
            </a:r>
            <a:r>
              <a:rPr lang="fr-FR">
                <a:solidFill>
                  <a:srgbClr val="1B445F"/>
                </a:solidFill>
                <a:latin typeface="Calibri" panose="020F0502020204030204" pitchFamily="34" charset="0"/>
                <a:cs typeface="Calibri" panose="020F0502020204030204" pitchFamily="34" charset="0"/>
              </a:rPr>
              <a:t> to </a:t>
            </a:r>
            <a:r>
              <a:rPr lang="fr-FR" err="1">
                <a:solidFill>
                  <a:srgbClr val="1B445F"/>
                </a:solidFill>
                <a:latin typeface="Calibri" panose="020F0502020204030204" pitchFamily="34" charset="0"/>
                <a:cs typeface="Calibri" panose="020F0502020204030204" pitchFamily="34" charset="0"/>
              </a:rPr>
              <a:t>provide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and </a:t>
            </a:r>
            <a:r>
              <a:rPr lang="fr-FR" err="1">
                <a:solidFill>
                  <a:srgbClr val="1B445F"/>
                </a:solidFill>
                <a:latin typeface="Calibri" panose="020F0502020204030204" pitchFamily="34" charset="0"/>
                <a:cs typeface="Calibri" panose="020F0502020204030204" pitchFamily="34" charset="0"/>
              </a:rPr>
              <a:t>timely</a:t>
            </a:r>
            <a:r>
              <a:rPr lang="fr-FR">
                <a:solidFill>
                  <a:srgbClr val="1B445F"/>
                </a:solidFill>
                <a:latin typeface="Calibri" panose="020F0502020204030204" pitchFamily="34" charset="0"/>
                <a:cs typeface="Calibri" panose="020F0502020204030204" pitchFamily="34" charset="0"/>
              </a:rPr>
              <a:t> information, </a:t>
            </a:r>
            <a:r>
              <a:rPr lang="fr-FR" err="1">
                <a:solidFill>
                  <a:srgbClr val="1B445F"/>
                </a:solidFill>
                <a:latin typeface="Calibri" panose="020F0502020204030204" pitchFamily="34" charset="0"/>
                <a:cs typeface="Calibri" panose="020F0502020204030204" pitchFamily="34" charset="0"/>
              </a:rPr>
              <a:t>there</a:t>
            </a:r>
            <a:r>
              <a:rPr lang="fr-FR">
                <a:solidFill>
                  <a:srgbClr val="1B445F"/>
                </a:solidFill>
                <a:latin typeface="Calibri" panose="020F0502020204030204" pitchFamily="34" charset="0"/>
                <a:cs typeface="Calibri" panose="020F0502020204030204" pitchFamily="34" charset="0"/>
              </a:rPr>
              <a:t> can </a:t>
            </a:r>
            <a:r>
              <a:rPr lang="fr-FR" err="1">
                <a:solidFill>
                  <a:srgbClr val="1B445F"/>
                </a:solidFill>
                <a:latin typeface="Calibri" panose="020F0502020204030204" pitchFamily="34" charset="0"/>
                <a:cs typeface="Calibri" panose="020F0502020204030204" pitchFamily="34" charset="0"/>
              </a:rPr>
              <a:t>be</a:t>
            </a:r>
            <a:r>
              <a:rPr lang="fr-FR">
                <a:solidFill>
                  <a:srgbClr val="1B445F"/>
                </a:solidFill>
                <a:latin typeface="Calibri" panose="020F0502020204030204" pitchFamily="34" charset="0"/>
                <a:cs typeface="Calibri" panose="020F0502020204030204" pitchFamily="34" charset="0"/>
              </a:rPr>
              <a:t> no </a:t>
            </a:r>
            <a:r>
              <a:rPr lang="fr-FR" err="1">
                <a:solidFill>
                  <a:srgbClr val="1B445F"/>
                </a:solidFill>
                <a:latin typeface="Calibri" panose="020F0502020204030204" pitchFamily="34" charset="0"/>
                <a:cs typeface="Calibri" panose="020F0502020204030204" pitchFamily="34" charset="0"/>
              </a:rPr>
              <a:t>guarantee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that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such</a:t>
            </a:r>
            <a:r>
              <a:rPr lang="fr-FR">
                <a:solidFill>
                  <a:srgbClr val="1B445F"/>
                </a:solidFill>
                <a:latin typeface="Calibri" panose="020F0502020204030204" pitchFamily="34" charset="0"/>
                <a:cs typeface="Calibri" panose="020F0502020204030204" pitchFamily="34" charset="0"/>
              </a:rPr>
              <a:t> information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as of the date </a:t>
            </a:r>
            <a:r>
              <a:rPr lang="fr-FR" err="1">
                <a:solidFill>
                  <a:srgbClr val="1B445F"/>
                </a:solidFill>
                <a:latin typeface="Calibri" panose="020F0502020204030204" pitchFamily="34" charset="0"/>
                <a:cs typeface="Calibri" panose="020F0502020204030204" pitchFamily="34" charset="0"/>
              </a:rPr>
              <a:t>it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received</a:t>
            </a:r>
            <a:r>
              <a:rPr lang="fr-FR">
                <a:solidFill>
                  <a:srgbClr val="1B445F"/>
                </a:solidFill>
                <a:latin typeface="Calibri" panose="020F0502020204030204" pitchFamily="34" charset="0"/>
                <a:cs typeface="Calibri" panose="020F0502020204030204" pitchFamily="34" charset="0"/>
              </a:rPr>
              <a:t> or </a:t>
            </a:r>
            <a:r>
              <a:rPr lang="fr-FR" err="1">
                <a:solidFill>
                  <a:srgbClr val="1B445F"/>
                </a:solidFill>
                <a:latin typeface="Calibri" panose="020F0502020204030204" pitchFamily="34" charset="0"/>
                <a:cs typeface="Calibri" panose="020F0502020204030204" pitchFamily="34" charset="0"/>
              </a:rPr>
              <a:t>that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will</a:t>
            </a:r>
            <a:r>
              <a:rPr lang="fr-FR">
                <a:solidFill>
                  <a:srgbClr val="1B445F"/>
                </a:solidFill>
                <a:latin typeface="Calibri" panose="020F0502020204030204" pitchFamily="34" charset="0"/>
                <a:cs typeface="Calibri" panose="020F0502020204030204" pitchFamily="34" charset="0"/>
              </a:rPr>
              <a:t> continue to </a:t>
            </a:r>
            <a:r>
              <a:rPr lang="fr-FR" err="1">
                <a:solidFill>
                  <a:srgbClr val="1B445F"/>
                </a:solidFill>
                <a:latin typeface="Calibri" panose="020F0502020204030204" pitchFamily="34" charset="0"/>
                <a:cs typeface="Calibri" panose="020F0502020204030204" pitchFamily="34" charset="0"/>
              </a:rPr>
              <a:t>be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in the future.</a:t>
            </a:r>
          </a:p>
        </p:txBody>
      </p:sp>
      <p:sp>
        <p:nvSpPr>
          <p:cNvPr id="4" name="Espace réservé pour une image  4">
            <a:extLst>
              <a:ext uri="{FF2B5EF4-FFF2-40B4-BE49-F238E27FC236}">
                <a16:creationId xmlns:a16="http://schemas.microsoft.com/office/drawing/2014/main" id="{346B39B8-F985-C24E-B036-CD09034F89B5}"/>
              </a:ext>
            </a:extLst>
          </p:cNvPr>
          <p:cNvSpPr>
            <a:spLocks noGrp="1"/>
          </p:cNvSpPr>
          <p:nvPr>
            <p:ph type="pic" sz="quarter" idx="17" hasCustomPrompt="1"/>
          </p:nvPr>
        </p:nvSpPr>
        <p:spPr>
          <a:xfrm>
            <a:off x="1268102" y="2270045"/>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5" name="Espace réservé pour une image  4">
            <a:extLst>
              <a:ext uri="{FF2B5EF4-FFF2-40B4-BE49-F238E27FC236}">
                <a16:creationId xmlns:a16="http://schemas.microsoft.com/office/drawing/2014/main" id="{C471FAB8-DE9E-764F-A20B-6E1240636A51}"/>
              </a:ext>
            </a:extLst>
          </p:cNvPr>
          <p:cNvSpPr>
            <a:spLocks noGrp="1"/>
          </p:cNvSpPr>
          <p:nvPr>
            <p:ph type="pic" sz="quarter" idx="18" hasCustomPrompt="1"/>
          </p:nvPr>
        </p:nvSpPr>
        <p:spPr>
          <a:xfrm>
            <a:off x="3426614"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6" name="Espace réservé pour une image  4">
            <a:extLst>
              <a:ext uri="{FF2B5EF4-FFF2-40B4-BE49-F238E27FC236}">
                <a16:creationId xmlns:a16="http://schemas.microsoft.com/office/drawing/2014/main" id="{28A6D991-AFE3-3742-A641-D958134B3AD2}"/>
              </a:ext>
            </a:extLst>
          </p:cNvPr>
          <p:cNvSpPr>
            <a:spLocks noGrp="1"/>
          </p:cNvSpPr>
          <p:nvPr>
            <p:ph type="pic" sz="quarter" idx="19" hasCustomPrompt="1"/>
          </p:nvPr>
        </p:nvSpPr>
        <p:spPr>
          <a:xfrm>
            <a:off x="5585127"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7" name="Espace réservé pour une image  4">
            <a:extLst>
              <a:ext uri="{FF2B5EF4-FFF2-40B4-BE49-F238E27FC236}">
                <a16:creationId xmlns:a16="http://schemas.microsoft.com/office/drawing/2014/main" id="{2C845469-64D0-F149-93A9-7E82F0DFFF55}"/>
              </a:ext>
            </a:extLst>
          </p:cNvPr>
          <p:cNvSpPr>
            <a:spLocks noGrp="1"/>
          </p:cNvSpPr>
          <p:nvPr>
            <p:ph type="pic" sz="quarter" idx="20" hasCustomPrompt="1"/>
          </p:nvPr>
        </p:nvSpPr>
        <p:spPr>
          <a:xfrm>
            <a:off x="7743641"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8" name="Espace réservé pour une image  4">
            <a:extLst>
              <a:ext uri="{FF2B5EF4-FFF2-40B4-BE49-F238E27FC236}">
                <a16:creationId xmlns:a16="http://schemas.microsoft.com/office/drawing/2014/main" id="{5E7B4EF7-1E08-294C-9899-11C5C3AA4551}"/>
              </a:ext>
            </a:extLst>
          </p:cNvPr>
          <p:cNvSpPr>
            <a:spLocks noGrp="1"/>
          </p:cNvSpPr>
          <p:nvPr>
            <p:ph type="pic" sz="quarter" idx="21" hasCustomPrompt="1"/>
          </p:nvPr>
        </p:nvSpPr>
        <p:spPr>
          <a:xfrm>
            <a:off x="9902154" y="2270043"/>
            <a:ext cx="1021744" cy="1021565"/>
          </a:xfrm>
          <a:prstGeom prst="ellipse">
            <a:avLst/>
          </a:prstGeom>
          <a:ln w="63500">
            <a:solidFill>
              <a:srgbClr val="539DB1"/>
            </a:solidFill>
          </a:ln>
        </p:spPr>
        <p:txBody>
          <a:bodyPr/>
          <a:lstStyle>
            <a:lvl1pPr marL="0" indent="0">
              <a:buFontTx/>
              <a:buNone/>
              <a:defRPr sz="1200"/>
            </a:lvl1pPr>
          </a:lstStyle>
          <a:p>
            <a:r>
              <a:rPr lang="fr-FR"/>
              <a:t>Photo</a:t>
            </a:r>
          </a:p>
        </p:txBody>
      </p:sp>
      <p:sp>
        <p:nvSpPr>
          <p:cNvPr id="9" name="Espace réservé du texte 23">
            <a:extLst>
              <a:ext uri="{FF2B5EF4-FFF2-40B4-BE49-F238E27FC236}">
                <a16:creationId xmlns:a16="http://schemas.microsoft.com/office/drawing/2014/main" id="{5B1D51E9-169E-3448-8456-4DA2F04B88A0}"/>
              </a:ext>
            </a:extLst>
          </p:cNvPr>
          <p:cNvSpPr>
            <a:spLocks noGrp="1"/>
          </p:cNvSpPr>
          <p:nvPr>
            <p:ph type="body" sz="quarter" idx="14" hasCustomPrompt="1"/>
          </p:nvPr>
        </p:nvSpPr>
        <p:spPr>
          <a:xfrm>
            <a:off x="725438"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1" name="Espace réservé du texte 23">
            <a:extLst>
              <a:ext uri="{FF2B5EF4-FFF2-40B4-BE49-F238E27FC236}">
                <a16:creationId xmlns:a16="http://schemas.microsoft.com/office/drawing/2014/main" id="{7278057E-1AA3-324B-AA0A-58D771966824}"/>
              </a:ext>
            </a:extLst>
          </p:cNvPr>
          <p:cNvSpPr>
            <a:spLocks noGrp="1"/>
          </p:cNvSpPr>
          <p:nvPr>
            <p:ph type="body" sz="quarter" idx="22" hasCustomPrompt="1"/>
          </p:nvPr>
        </p:nvSpPr>
        <p:spPr>
          <a:xfrm>
            <a:off x="2883950"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3" name="Espace réservé du texte 23">
            <a:extLst>
              <a:ext uri="{FF2B5EF4-FFF2-40B4-BE49-F238E27FC236}">
                <a16:creationId xmlns:a16="http://schemas.microsoft.com/office/drawing/2014/main" id="{1776C3AB-F8D6-ED46-8EE1-42B0DD1D714D}"/>
              </a:ext>
            </a:extLst>
          </p:cNvPr>
          <p:cNvSpPr>
            <a:spLocks noGrp="1"/>
          </p:cNvSpPr>
          <p:nvPr>
            <p:ph type="body" sz="quarter" idx="23" hasCustomPrompt="1"/>
          </p:nvPr>
        </p:nvSpPr>
        <p:spPr>
          <a:xfrm>
            <a:off x="5042462"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4" name="Espace réservé du texte 23">
            <a:extLst>
              <a:ext uri="{FF2B5EF4-FFF2-40B4-BE49-F238E27FC236}">
                <a16:creationId xmlns:a16="http://schemas.microsoft.com/office/drawing/2014/main" id="{80213029-391D-664E-8F79-8D7C4ED1237E}"/>
              </a:ext>
            </a:extLst>
          </p:cNvPr>
          <p:cNvSpPr>
            <a:spLocks noGrp="1"/>
          </p:cNvSpPr>
          <p:nvPr>
            <p:ph type="body" sz="quarter" idx="24" hasCustomPrompt="1"/>
          </p:nvPr>
        </p:nvSpPr>
        <p:spPr>
          <a:xfrm>
            <a:off x="7200978" y="3586170"/>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15" name="Espace réservé du texte 23">
            <a:extLst>
              <a:ext uri="{FF2B5EF4-FFF2-40B4-BE49-F238E27FC236}">
                <a16:creationId xmlns:a16="http://schemas.microsoft.com/office/drawing/2014/main" id="{93D5A8F6-C5B1-8247-B926-67F48D762A97}"/>
              </a:ext>
            </a:extLst>
          </p:cNvPr>
          <p:cNvSpPr>
            <a:spLocks noGrp="1"/>
          </p:cNvSpPr>
          <p:nvPr>
            <p:ph type="body" sz="quarter" idx="25" hasCustomPrompt="1"/>
          </p:nvPr>
        </p:nvSpPr>
        <p:spPr>
          <a:xfrm>
            <a:off x="9359494" y="3586169"/>
            <a:ext cx="2107072" cy="1021565"/>
          </a:xfrm>
          <a:prstGeom prst="rect">
            <a:avLst/>
          </a:prstGeom>
        </p:spPr>
        <p:txBody>
          <a:bodyPr lIns="0" tIns="0" rIns="0" bIns="0" anchor="t"/>
          <a:lstStyle>
            <a:lvl1pPr marL="0" indent="0" algn="ctr">
              <a:buNone/>
              <a:defRPr sz="11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cxnSp>
        <p:nvCxnSpPr>
          <p:cNvPr id="16" name="Connecteur droit 15">
            <a:extLst>
              <a:ext uri="{FF2B5EF4-FFF2-40B4-BE49-F238E27FC236}">
                <a16:creationId xmlns:a16="http://schemas.microsoft.com/office/drawing/2014/main" id="{915C36DC-E286-5943-85D5-87CF475B44FC}"/>
              </a:ext>
            </a:extLst>
          </p:cNvPr>
          <p:cNvCxnSpPr>
            <a:cxnSpLocks/>
          </p:cNvCxnSpPr>
          <p:nvPr userDrawn="1"/>
        </p:nvCxnSpPr>
        <p:spPr>
          <a:xfrm>
            <a:off x="685940" y="1855907"/>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id="{13CC7F2B-C83E-8B4F-A5B8-59193414067D}"/>
              </a:ext>
            </a:extLst>
          </p:cNvPr>
          <p:cNvCxnSpPr>
            <a:cxnSpLocks/>
          </p:cNvCxnSpPr>
          <p:nvPr userDrawn="1"/>
        </p:nvCxnSpPr>
        <p:spPr>
          <a:xfrm>
            <a:off x="685939" y="4960054"/>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76534594"/>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Contacts en 6">
    <p:bg>
      <p:bgPr>
        <a:solidFill>
          <a:srgbClr val="E1E6EB"/>
        </a:solidFill>
        <a:effectLst/>
      </p:bgPr>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528CACF-90FE-2244-AF50-50352D75EEEC}"/>
              </a:ext>
            </a:extLst>
          </p:cNvPr>
          <p:cNvSpPr/>
          <p:nvPr userDrawn="1"/>
        </p:nvSpPr>
        <p:spPr>
          <a:xfrm>
            <a:off x="685939" y="5292106"/>
            <a:ext cx="10820121" cy="792950"/>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just">
              <a:spcAft>
                <a:spcPts val="600"/>
              </a:spcAft>
            </a:pPr>
            <a:r>
              <a:rPr lang="fr-FR" b="1">
                <a:solidFill>
                  <a:srgbClr val="1B445F"/>
                </a:solidFill>
                <a:latin typeface="Calibri" panose="020F0502020204030204" pitchFamily="34" charset="0"/>
                <a:cs typeface="Calibri" panose="020F0502020204030204" pitchFamily="34" charset="0"/>
              </a:rPr>
              <a:t>Disclaimer: </a:t>
            </a:r>
            <a:r>
              <a:rPr lang="fr-FR">
                <a:solidFill>
                  <a:srgbClr val="1B445F"/>
                </a:solidFill>
                <a:latin typeface="Calibri" panose="020F0502020204030204" pitchFamily="34" charset="0"/>
                <a:cs typeface="Calibri" panose="020F0502020204030204" pitchFamily="34" charset="0"/>
              </a:rPr>
              <a:t>The information contained </a:t>
            </a:r>
            <a:r>
              <a:rPr lang="fr-FR" err="1">
                <a:solidFill>
                  <a:srgbClr val="1B445F"/>
                </a:solidFill>
                <a:latin typeface="Calibri" panose="020F0502020204030204" pitchFamily="34" charset="0"/>
                <a:cs typeface="Calibri" panose="020F0502020204030204" pitchFamily="34" charset="0"/>
              </a:rPr>
              <a:t>here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of a </a:t>
            </a:r>
            <a:r>
              <a:rPr lang="fr-FR" err="1">
                <a:solidFill>
                  <a:srgbClr val="1B445F"/>
                </a:solidFill>
                <a:latin typeface="Calibri" panose="020F0502020204030204" pitchFamily="34" charset="0"/>
                <a:cs typeface="Calibri" panose="020F0502020204030204" pitchFamily="34" charset="0"/>
              </a:rPr>
              <a:t>general</a:t>
            </a:r>
            <a:r>
              <a:rPr lang="fr-FR">
                <a:solidFill>
                  <a:srgbClr val="1B445F"/>
                </a:solidFill>
                <a:latin typeface="Calibri" panose="020F0502020204030204" pitchFamily="34" charset="0"/>
                <a:cs typeface="Calibri" panose="020F0502020204030204" pitchFamily="34" charset="0"/>
              </a:rPr>
              <a:t> nature and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not </a:t>
            </a:r>
            <a:r>
              <a:rPr lang="fr-FR" err="1">
                <a:solidFill>
                  <a:srgbClr val="1B445F"/>
                </a:solidFill>
                <a:latin typeface="Calibri" panose="020F0502020204030204" pitchFamily="34" charset="0"/>
                <a:cs typeface="Calibri" panose="020F0502020204030204" pitchFamily="34" charset="0"/>
              </a:rPr>
              <a:t>intended</a:t>
            </a:r>
            <a:r>
              <a:rPr lang="fr-FR">
                <a:solidFill>
                  <a:srgbClr val="1B445F"/>
                </a:solidFill>
                <a:latin typeface="Calibri" panose="020F0502020204030204" pitchFamily="34" charset="0"/>
                <a:cs typeface="Calibri" panose="020F0502020204030204" pitchFamily="34" charset="0"/>
              </a:rPr>
              <a:t> to </a:t>
            </a:r>
            <a:r>
              <a:rPr lang="fr-FR" err="1">
                <a:solidFill>
                  <a:srgbClr val="1B445F"/>
                </a:solidFill>
                <a:latin typeface="Calibri" panose="020F0502020204030204" pitchFamily="34" charset="0"/>
                <a:cs typeface="Calibri" panose="020F0502020204030204" pitchFamily="34" charset="0"/>
              </a:rPr>
              <a:t>reflect</a:t>
            </a:r>
            <a:r>
              <a:rPr lang="fr-FR">
                <a:solidFill>
                  <a:srgbClr val="1B445F"/>
                </a:solidFill>
                <a:latin typeface="Calibri" panose="020F0502020204030204" pitchFamily="34" charset="0"/>
                <a:cs typeface="Calibri" panose="020F0502020204030204" pitchFamily="34" charset="0"/>
              </a:rPr>
              <a:t> the </a:t>
            </a:r>
            <a:r>
              <a:rPr lang="fr-FR" err="1">
                <a:solidFill>
                  <a:srgbClr val="1B445F"/>
                </a:solidFill>
                <a:latin typeface="Calibri" panose="020F0502020204030204" pitchFamily="34" charset="0"/>
                <a:cs typeface="Calibri" panose="020F0502020204030204" pitchFamily="34" charset="0"/>
              </a:rPr>
              <a:t>characteristics</a:t>
            </a:r>
            <a:r>
              <a:rPr lang="fr-FR">
                <a:solidFill>
                  <a:srgbClr val="1B445F"/>
                </a:solidFill>
                <a:latin typeface="Calibri" panose="020F0502020204030204" pitchFamily="34" charset="0"/>
                <a:cs typeface="Calibri" panose="020F0502020204030204" pitchFamily="34" charset="0"/>
              </a:rPr>
              <a:t> of a </a:t>
            </a:r>
            <a:r>
              <a:rPr lang="fr-FR" err="1">
                <a:solidFill>
                  <a:srgbClr val="1B445F"/>
                </a:solidFill>
                <a:latin typeface="Calibri" panose="020F0502020204030204" pitchFamily="34" charset="0"/>
                <a:cs typeface="Calibri" panose="020F0502020204030204" pitchFamily="34" charset="0"/>
              </a:rPr>
              <a:t>particular</a:t>
            </a:r>
            <a:r>
              <a:rPr lang="fr-FR">
                <a:solidFill>
                  <a:srgbClr val="1B445F"/>
                </a:solidFill>
                <a:latin typeface="Calibri" panose="020F0502020204030204" pitchFamily="34" charset="0"/>
                <a:cs typeface="Calibri" panose="020F0502020204030204" pitchFamily="34" charset="0"/>
              </a:rPr>
              <a:t> institution. </a:t>
            </a:r>
            <a:r>
              <a:rPr lang="fr-FR" err="1">
                <a:solidFill>
                  <a:srgbClr val="1B445F"/>
                </a:solidFill>
                <a:latin typeface="Calibri" panose="020F0502020204030204" pitchFamily="34" charset="0"/>
                <a:cs typeface="Calibri" panose="020F0502020204030204" pitchFamily="34" charset="0"/>
              </a:rPr>
              <a:t>Although</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we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endeavor</a:t>
            </a:r>
            <a:r>
              <a:rPr lang="fr-FR">
                <a:solidFill>
                  <a:srgbClr val="1B445F"/>
                </a:solidFill>
                <a:latin typeface="Calibri" panose="020F0502020204030204" pitchFamily="34" charset="0"/>
                <a:cs typeface="Calibri" panose="020F0502020204030204" pitchFamily="34" charset="0"/>
              </a:rPr>
              <a:t> to </a:t>
            </a:r>
            <a:r>
              <a:rPr lang="fr-FR" err="1">
                <a:solidFill>
                  <a:srgbClr val="1B445F"/>
                </a:solidFill>
                <a:latin typeface="Calibri" panose="020F0502020204030204" pitchFamily="34" charset="0"/>
                <a:cs typeface="Calibri" panose="020F0502020204030204" pitchFamily="34" charset="0"/>
              </a:rPr>
              <a:t>provide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and </a:t>
            </a:r>
            <a:r>
              <a:rPr lang="fr-FR" err="1">
                <a:solidFill>
                  <a:srgbClr val="1B445F"/>
                </a:solidFill>
                <a:latin typeface="Calibri" panose="020F0502020204030204" pitchFamily="34" charset="0"/>
                <a:cs typeface="Calibri" panose="020F0502020204030204" pitchFamily="34" charset="0"/>
              </a:rPr>
              <a:t>timely</a:t>
            </a:r>
            <a:r>
              <a:rPr lang="fr-FR">
                <a:solidFill>
                  <a:srgbClr val="1B445F"/>
                </a:solidFill>
                <a:latin typeface="Calibri" panose="020F0502020204030204" pitchFamily="34" charset="0"/>
                <a:cs typeface="Calibri" panose="020F0502020204030204" pitchFamily="34" charset="0"/>
              </a:rPr>
              <a:t> information, </a:t>
            </a:r>
            <a:r>
              <a:rPr lang="fr-FR" err="1">
                <a:solidFill>
                  <a:srgbClr val="1B445F"/>
                </a:solidFill>
                <a:latin typeface="Calibri" panose="020F0502020204030204" pitchFamily="34" charset="0"/>
                <a:cs typeface="Calibri" panose="020F0502020204030204" pitchFamily="34" charset="0"/>
              </a:rPr>
              <a:t>there</a:t>
            </a:r>
            <a:r>
              <a:rPr lang="fr-FR">
                <a:solidFill>
                  <a:srgbClr val="1B445F"/>
                </a:solidFill>
                <a:latin typeface="Calibri" panose="020F0502020204030204" pitchFamily="34" charset="0"/>
                <a:cs typeface="Calibri" panose="020F0502020204030204" pitchFamily="34" charset="0"/>
              </a:rPr>
              <a:t> can </a:t>
            </a:r>
            <a:r>
              <a:rPr lang="fr-FR" err="1">
                <a:solidFill>
                  <a:srgbClr val="1B445F"/>
                </a:solidFill>
                <a:latin typeface="Calibri" panose="020F0502020204030204" pitchFamily="34" charset="0"/>
                <a:cs typeface="Calibri" panose="020F0502020204030204" pitchFamily="34" charset="0"/>
              </a:rPr>
              <a:t>be</a:t>
            </a:r>
            <a:r>
              <a:rPr lang="fr-FR">
                <a:solidFill>
                  <a:srgbClr val="1B445F"/>
                </a:solidFill>
                <a:latin typeface="Calibri" panose="020F0502020204030204" pitchFamily="34" charset="0"/>
                <a:cs typeface="Calibri" panose="020F0502020204030204" pitchFamily="34" charset="0"/>
              </a:rPr>
              <a:t> no </a:t>
            </a:r>
            <a:r>
              <a:rPr lang="fr-FR" err="1">
                <a:solidFill>
                  <a:srgbClr val="1B445F"/>
                </a:solidFill>
                <a:latin typeface="Calibri" panose="020F0502020204030204" pitchFamily="34" charset="0"/>
                <a:cs typeface="Calibri" panose="020F0502020204030204" pitchFamily="34" charset="0"/>
              </a:rPr>
              <a:t>guarantee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that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such</a:t>
            </a:r>
            <a:r>
              <a:rPr lang="fr-FR">
                <a:solidFill>
                  <a:srgbClr val="1B445F"/>
                </a:solidFill>
                <a:latin typeface="Calibri" panose="020F0502020204030204" pitchFamily="34" charset="0"/>
                <a:cs typeface="Calibri" panose="020F0502020204030204" pitchFamily="34" charset="0"/>
              </a:rPr>
              <a:t> information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as of the date </a:t>
            </a:r>
            <a:r>
              <a:rPr lang="fr-FR" err="1">
                <a:solidFill>
                  <a:srgbClr val="1B445F"/>
                </a:solidFill>
                <a:latin typeface="Calibri" panose="020F0502020204030204" pitchFamily="34" charset="0"/>
                <a:cs typeface="Calibri" panose="020F0502020204030204" pitchFamily="34" charset="0"/>
              </a:rPr>
              <a:t>it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is</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received</a:t>
            </a:r>
            <a:r>
              <a:rPr lang="fr-FR">
                <a:solidFill>
                  <a:srgbClr val="1B445F"/>
                </a:solidFill>
                <a:latin typeface="Calibri" panose="020F0502020204030204" pitchFamily="34" charset="0"/>
                <a:cs typeface="Calibri" panose="020F0502020204030204" pitchFamily="34" charset="0"/>
              </a:rPr>
              <a:t> or </a:t>
            </a:r>
            <a:r>
              <a:rPr lang="fr-FR" err="1">
                <a:solidFill>
                  <a:srgbClr val="1B445F"/>
                </a:solidFill>
                <a:latin typeface="Calibri" panose="020F0502020204030204" pitchFamily="34" charset="0"/>
                <a:cs typeface="Calibri" panose="020F0502020204030204" pitchFamily="34" charset="0"/>
              </a:rPr>
              <a:t>that</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will</a:t>
            </a:r>
            <a:r>
              <a:rPr lang="fr-FR">
                <a:solidFill>
                  <a:srgbClr val="1B445F"/>
                </a:solidFill>
                <a:latin typeface="Calibri" panose="020F0502020204030204" pitchFamily="34" charset="0"/>
                <a:cs typeface="Calibri" panose="020F0502020204030204" pitchFamily="34" charset="0"/>
              </a:rPr>
              <a:t> continue to </a:t>
            </a:r>
            <a:r>
              <a:rPr lang="fr-FR" err="1">
                <a:solidFill>
                  <a:srgbClr val="1B445F"/>
                </a:solidFill>
                <a:latin typeface="Calibri" panose="020F0502020204030204" pitchFamily="34" charset="0"/>
                <a:cs typeface="Calibri" panose="020F0502020204030204" pitchFamily="34" charset="0"/>
              </a:rPr>
              <a:t>be</a:t>
            </a:r>
            <a:r>
              <a:rPr lang="fr-FR">
                <a:solidFill>
                  <a:srgbClr val="1B445F"/>
                </a:solidFill>
                <a:latin typeface="Calibri" panose="020F0502020204030204" pitchFamily="34" charset="0"/>
                <a:cs typeface="Calibri" panose="020F0502020204030204" pitchFamily="34" charset="0"/>
              </a:rPr>
              <a:t> </a:t>
            </a:r>
            <a:r>
              <a:rPr lang="fr-FR" err="1">
                <a:solidFill>
                  <a:srgbClr val="1B445F"/>
                </a:solidFill>
                <a:latin typeface="Calibri" panose="020F0502020204030204" pitchFamily="34" charset="0"/>
                <a:cs typeface="Calibri" panose="020F0502020204030204" pitchFamily="34" charset="0"/>
              </a:rPr>
              <a:t>accurate</a:t>
            </a:r>
            <a:r>
              <a:rPr lang="fr-FR">
                <a:solidFill>
                  <a:srgbClr val="1B445F"/>
                </a:solidFill>
                <a:latin typeface="Calibri" panose="020F0502020204030204" pitchFamily="34" charset="0"/>
                <a:cs typeface="Calibri" panose="020F0502020204030204" pitchFamily="34" charset="0"/>
              </a:rPr>
              <a:t> in the future.</a:t>
            </a:r>
          </a:p>
        </p:txBody>
      </p:sp>
      <p:sp>
        <p:nvSpPr>
          <p:cNvPr id="4" name="Espace réservé pour une image  4">
            <a:extLst>
              <a:ext uri="{FF2B5EF4-FFF2-40B4-BE49-F238E27FC236}">
                <a16:creationId xmlns:a16="http://schemas.microsoft.com/office/drawing/2014/main" id="{346B39B8-F985-C24E-B036-CD09034F89B5}"/>
              </a:ext>
            </a:extLst>
          </p:cNvPr>
          <p:cNvSpPr>
            <a:spLocks noGrp="1"/>
          </p:cNvSpPr>
          <p:nvPr>
            <p:ph type="pic" sz="quarter" idx="17" hasCustomPrompt="1"/>
          </p:nvPr>
        </p:nvSpPr>
        <p:spPr>
          <a:xfrm>
            <a:off x="1117037" y="2330409"/>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9" name="Espace réservé du texte 23">
            <a:extLst>
              <a:ext uri="{FF2B5EF4-FFF2-40B4-BE49-F238E27FC236}">
                <a16:creationId xmlns:a16="http://schemas.microsoft.com/office/drawing/2014/main" id="{5B1D51E9-169E-3448-8456-4DA2F04B88A0}"/>
              </a:ext>
            </a:extLst>
          </p:cNvPr>
          <p:cNvSpPr>
            <a:spLocks noGrp="1"/>
          </p:cNvSpPr>
          <p:nvPr>
            <p:ph type="body" sz="quarter" idx="14" hasCustomPrompt="1"/>
          </p:nvPr>
        </p:nvSpPr>
        <p:spPr>
          <a:xfrm>
            <a:off x="685939" y="3582110"/>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cxnSp>
        <p:nvCxnSpPr>
          <p:cNvPr id="16" name="Connecteur droit 15">
            <a:extLst>
              <a:ext uri="{FF2B5EF4-FFF2-40B4-BE49-F238E27FC236}">
                <a16:creationId xmlns:a16="http://schemas.microsoft.com/office/drawing/2014/main" id="{915C36DC-E286-5943-85D5-87CF475B44FC}"/>
              </a:ext>
            </a:extLst>
          </p:cNvPr>
          <p:cNvCxnSpPr>
            <a:cxnSpLocks/>
          </p:cNvCxnSpPr>
          <p:nvPr userDrawn="1"/>
        </p:nvCxnSpPr>
        <p:spPr>
          <a:xfrm>
            <a:off x="685940" y="1855907"/>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id="{13CC7F2B-C83E-8B4F-A5B8-59193414067D}"/>
              </a:ext>
            </a:extLst>
          </p:cNvPr>
          <p:cNvCxnSpPr>
            <a:cxnSpLocks/>
          </p:cNvCxnSpPr>
          <p:nvPr userDrawn="1"/>
        </p:nvCxnSpPr>
        <p:spPr>
          <a:xfrm>
            <a:off x="685939" y="4960054"/>
            <a:ext cx="10820121" cy="0"/>
          </a:xfrm>
          <a:prstGeom prst="line">
            <a:avLst/>
          </a:prstGeom>
          <a:ln w="25400">
            <a:solidFill>
              <a:srgbClr val="41A4C7"/>
            </a:solidFill>
            <a:prstDash val="sysDot"/>
          </a:ln>
        </p:spPr>
        <p:style>
          <a:lnRef idx="1">
            <a:schemeClr val="accent1"/>
          </a:lnRef>
          <a:fillRef idx="0">
            <a:schemeClr val="accent1"/>
          </a:fillRef>
          <a:effectRef idx="0">
            <a:schemeClr val="accent1"/>
          </a:effectRef>
          <a:fontRef idx="minor">
            <a:schemeClr val="tx1"/>
          </a:fontRef>
        </p:style>
      </p:cxnSp>
      <p:sp>
        <p:nvSpPr>
          <p:cNvPr id="18" name="Espace réservé pour une image  4">
            <a:extLst>
              <a:ext uri="{FF2B5EF4-FFF2-40B4-BE49-F238E27FC236}">
                <a16:creationId xmlns:a16="http://schemas.microsoft.com/office/drawing/2014/main" id="{CE743C43-E5B3-FD43-ACEE-795FCAE1C407}"/>
              </a:ext>
            </a:extLst>
          </p:cNvPr>
          <p:cNvSpPr>
            <a:spLocks noGrp="1"/>
          </p:cNvSpPr>
          <p:nvPr>
            <p:ph type="pic" sz="quarter" idx="26" hasCustomPrompt="1"/>
          </p:nvPr>
        </p:nvSpPr>
        <p:spPr>
          <a:xfrm>
            <a:off x="2934211" y="2330412"/>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28" name="Espace réservé du texte 23">
            <a:extLst>
              <a:ext uri="{FF2B5EF4-FFF2-40B4-BE49-F238E27FC236}">
                <a16:creationId xmlns:a16="http://schemas.microsoft.com/office/drawing/2014/main" id="{87A26503-3DF3-D84D-8CA5-0C91E5C41175}"/>
              </a:ext>
            </a:extLst>
          </p:cNvPr>
          <p:cNvSpPr>
            <a:spLocks noGrp="1"/>
          </p:cNvSpPr>
          <p:nvPr>
            <p:ph type="body" sz="quarter" idx="31" hasCustomPrompt="1"/>
          </p:nvPr>
        </p:nvSpPr>
        <p:spPr>
          <a:xfrm>
            <a:off x="2503115" y="3582112"/>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3" name="Espace réservé du texte 23">
            <a:extLst>
              <a:ext uri="{FF2B5EF4-FFF2-40B4-BE49-F238E27FC236}">
                <a16:creationId xmlns:a16="http://schemas.microsoft.com/office/drawing/2014/main" id="{0A2ADEE0-807B-6141-B406-1CDF99F8A191}"/>
              </a:ext>
            </a:extLst>
          </p:cNvPr>
          <p:cNvSpPr>
            <a:spLocks noGrp="1"/>
          </p:cNvSpPr>
          <p:nvPr>
            <p:ph type="body" sz="quarter" idx="32" hasCustomPrompt="1"/>
          </p:nvPr>
        </p:nvSpPr>
        <p:spPr>
          <a:xfrm>
            <a:off x="4311814" y="3582112"/>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4" name="Espace réservé du texte 23">
            <a:extLst>
              <a:ext uri="{FF2B5EF4-FFF2-40B4-BE49-F238E27FC236}">
                <a16:creationId xmlns:a16="http://schemas.microsoft.com/office/drawing/2014/main" id="{48E4C2A0-F1A8-744E-87B1-19E361844B25}"/>
              </a:ext>
            </a:extLst>
          </p:cNvPr>
          <p:cNvSpPr>
            <a:spLocks noGrp="1"/>
          </p:cNvSpPr>
          <p:nvPr>
            <p:ph type="body" sz="quarter" idx="33" hasCustomPrompt="1"/>
          </p:nvPr>
        </p:nvSpPr>
        <p:spPr>
          <a:xfrm>
            <a:off x="6121472" y="3582111"/>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7" name="Espace réservé du texte 23">
            <a:extLst>
              <a:ext uri="{FF2B5EF4-FFF2-40B4-BE49-F238E27FC236}">
                <a16:creationId xmlns:a16="http://schemas.microsoft.com/office/drawing/2014/main" id="{C5541B0C-4423-FF45-8009-3BAC197DE6C9}"/>
              </a:ext>
            </a:extLst>
          </p:cNvPr>
          <p:cNvSpPr>
            <a:spLocks noGrp="1"/>
          </p:cNvSpPr>
          <p:nvPr>
            <p:ph type="body" sz="quarter" idx="34" hasCustomPrompt="1"/>
          </p:nvPr>
        </p:nvSpPr>
        <p:spPr>
          <a:xfrm>
            <a:off x="7932693" y="3582111"/>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8" name="Espace réservé du texte 23">
            <a:extLst>
              <a:ext uri="{FF2B5EF4-FFF2-40B4-BE49-F238E27FC236}">
                <a16:creationId xmlns:a16="http://schemas.microsoft.com/office/drawing/2014/main" id="{C048F24D-2DC8-5B4A-A354-0328B500B8A6}"/>
              </a:ext>
            </a:extLst>
          </p:cNvPr>
          <p:cNvSpPr>
            <a:spLocks noGrp="1"/>
          </p:cNvSpPr>
          <p:nvPr>
            <p:ph type="body" sz="quarter" idx="35" hasCustomPrompt="1"/>
          </p:nvPr>
        </p:nvSpPr>
        <p:spPr>
          <a:xfrm>
            <a:off x="9740271" y="3582110"/>
            <a:ext cx="1765789" cy="1021565"/>
          </a:xfrm>
          <a:prstGeom prst="rect">
            <a:avLst/>
          </a:prstGeom>
        </p:spPr>
        <p:txBody>
          <a:bodyPr lIns="0" tIns="0" rIns="0" bIns="0" anchor="t"/>
          <a:lstStyle>
            <a:lvl1pPr marL="0" indent="0" algn="ctr">
              <a:buNone/>
              <a:defRPr sz="9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Informations</a:t>
            </a:r>
          </a:p>
        </p:txBody>
      </p:sp>
      <p:sp>
        <p:nvSpPr>
          <p:cNvPr id="39" name="Espace réservé pour une image  4">
            <a:extLst>
              <a:ext uri="{FF2B5EF4-FFF2-40B4-BE49-F238E27FC236}">
                <a16:creationId xmlns:a16="http://schemas.microsoft.com/office/drawing/2014/main" id="{F7434E2E-7990-2F44-95C4-23B90179453C}"/>
              </a:ext>
            </a:extLst>
          </p:cNvPr>
          <p:cNvSpPr>
            <a:spLocks noGrp="1"/>
          </p:cNvSpPr>
          <p:nvPr>
            <p:ph type="pic" sz="quarter" idx="36" hasCustomPrompt="1"/>
          </p:nvPr>
        </p:nvSpPr>
        <p:spPr>
          <a:xfrm>
            <a:off x="4742910" y="2330412"/>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0" name="Espace réservé pour une image  4">
            <a:extLst>
              <a:ext uri="{FF2B5EF4-FFF2-40B4-BE49-F238E27FC236}">
                <a16:creationId xmlns:a16="http://schemas.microsoft.com/office/drawing/2014/main" id="{944E060F-F495-4843-B9C5-0500C18BFBF3}"/>
              </a:ext>
            </a:extLst>
          </p:cNvPr>
          <p:cNvSpPr>
            <a:spLocks noGrp="1"/>
          </p:cNvSpPr>
          <p:nvPr>
            <p:ph type="pic" sz="quarter" idx="37" hasCustomPrompt="1"/>
          </p:nvPr>
        </p:nvSpPr>
        <p:spPr>
          <a:xfrm>
            <a:off x="6552568"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1" name="Espace réservé pour une image  4">
            <a:extLst>
              <a:ext uri="{FF2B5EF4-FFF2-40B4-BE49-F238E27FC236}">
                <a16:creationId xmlns:a16="http://schemas.microsoft.com/office/drawing/2014/main" id="{E8C667B2-DF7B-A34B-9117-D884CDD3B6E8}"/>
              </a:ext>
            </a:extLst>
          </p:cNvPr>
          <p:cNvSpPr>
            <a:spLocks noGrp="1"/>
          </p:cNvSpPr>
          <p:nvPr>
            <p:ph type="pic" sz="quarter" idx="38" hasCustomPrompt="1"/>
          </p:nvPr>
        </p:nvSpPr>
        <p:spPr>
          <a:xfrm>
            <a:off x="8363789"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sp>
        <p:nvSpPr>
          <p:cNvPr id="42" name="Espace réservé pour une image  4">
            <a:extLst>
              <a:ext uri="{FF2B5EF4-FFF2-40B4-BE49-F238E27FC236}">
                <a16:creationId xmlns:a16="http://schemas.microsoft.com/office/drawing/2014/main" id="{23675D11-CE12-B84E-A3E4-10E2DE2F3A16}"/>
              </a:ext>
            </a:extLst>
          </p:cNvPr>
          <p:cNvSpPr>
            <a:spLocks noGrp="1"/>
          </p:cNvSpPr>
          <p:nvPr>
            <p:ph type="pic" sz="quarter" idx="39" hasCustomPrompt="1"/>
          </p:nvPr>
        </p:nvSpPr>
        <p:spPr>
          <a:xfrm>
            <a:off x="10171367" y="2330411"/>
            <a:ext cx="903595" cy="903437"/>
          </a:xfrm>
          <a:prstGeom prst="ellipse">
            <a:avLst/>
          </a:prstGeom>
          <a:ln w="63500">
            <a:solidFill>
              <a:srgbClr val="539DB1"/>
            </a:solidFill>
          </a:ln>
        </p:spPr>
        <p:txBody>
          <a:bodyPr/>
          <a:lstStyle>
            <a:lvl1pPr marL="0" indent="0">
              <a:buFontTx/>
              <a:buNone/>
              <a:defRPr sz="1200"/>
            </a:lvl1pPr>
          </a:lstStyle>
          <a:p>
            <a:r>
              <a:rPr lang="fr-FR"/>
              <a:t>Photo</a:t>
            </a:r>
          </a:p>
        </p:txBody>
      </p:sp>
      <p:pic>
        <p:nvPicPr>
          <p:cNvPr id="6" name="Image 5" descr="Une image contenant texte&#10;&#10;Description générée automatiquement">
            <a:extLst>
              <a:ext uri="{FF2B5EF4-FFF2-40B4-BE49-F238E27FC236}">
                <a16:creationId xmlns:a16="http://schemas.microsoft.com/office/drawing/2014/main" id="{2E6B2E63-51C6-B65D-C59D-AA2456E0D149}"/>
              </a:ext>
            </a:extLst>
          </p:cNvPr>
          <p:cNvPicPr>
            <a:picLocks noChangeAspect="1"/>
          </p:cNvPicPr>
          <p:nvPr userDrawn="1"/>
        </p:nvPicPr>
        <p:blipFill>
          <a:blip r:embed="rId2"/>
          <a:stretch>
            <a:fillRect/>
          </a:stretch>
        </p:blipFill>
        <p:spPr>
          <a:xfrm>
            <a:off x="3292116" y="168968"/>
            <a:ext cx="5315171" cy="1077195"/>
          </a:xfrm>
          <a:prstGeom prst="rect">
            <a:avLst/>
          </a:prstGeom>
        </p:spPr>
      </p:pic>
    </p:spTree>
    <p:extLst>
      <p:ext uri="{BB962C8B-B14F-4D97-AF65-F5344CB8AC3E}">
        <p14:creationId xmlns:p14="http://schemas.microsoft.com/office/powerpoint/2010/main" val="1326905880"/>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7" name="Espace réservé du texte 23">
            <a:extLst>
              <a:ext uri="{FF2B5EF4-FFF2-40B4-BE49-F238E27FC236}">
                <a16:creationId xmlns:a16="http://schemas.microsoft.com/office/drawing/2014/main" id="{2A53E9A1-5744-5C24-216E-05F5B58C8D0E}"/>
              </a:ext>
            </a:extLst>
          </p:cNvPr>
          <p:cNvSpPr>
            <a:spLocks noGrp="1"/>
          </p:cNvSpPr>
          <p:nvPr>
            <p:ph type="body" sz="quarter" idx="12" hasCustomPrompt="1"/>
          </p:nvPr>
        </p:nvSpPr>
        <p:spPr>
          <a:xfrm>
            <a:off x="685939" y="1241035"/>
            <a:ext cx="10820123" cy="4613260"/>
          </a:xfrm>
          <a:prstGeom prst="rect">
            <a:avLst/>
          </a:prstGeom>
        </p:spPr>
        <p:txBody>
          <a:bodyPr lIns="0" tIns="0" rIns="0" bIns="0" anchor="t"/>
          <a:lstStyle>
            <a:lvl1pPr marL="0" indent="0" algn="l">
              <a:buNone/>
              <a:defRPr sz="1400" b="0" i="0" spc="0">
                <a:solidFill>
                  <a:srgbClr val="1B445F"/>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Texte</a:t>
            </a:r>
          </a:p>
        </p:txBody>
      </p:sp>
    </p:spTree>
    <p:extLst>
      <p:ext uri="{BB962C8B-B14F-4D97-AF65-F5344CB8AC3E}">
        <p14:creationId xmlns:p14="http://schemas.microsoft.com/office/powerpoint/2010/main" val="215694304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E38F62-92EC-BF6B-E306-C1557877D7D9}"/>
              </a:ext>
            </a:extLst>
          </p:cNvPr>
          <p:cNvSpPr>
            <a:spLocks noGrp="1"/>
          </p:cNvSpPr>
          <p:nvPr>
            <p:ph type="title"/>
          </p:nvPr>
        </p:nvSpPr>
        <p:spPr>
          <a:xfrm>
            <a:off x="0" y="0"/>
            <a:ext cx="10515600" cy="752193"/>
          </a:xfrm>
          <a:prstGeom prst="rect">
            <a:avLst/>
          </a:prstGeom>
        </p:spPr>
        <p:txBody>
          <a:bodyPr/>
          <a:lstStyle/>
          <a:p>
            <a:r>
              <a:rPr lang="en-US"/>
              <a:t>Click to edit Master title style</a:t>
            </a:r>
            <a:endParaRPr lang="fr-FR"/>
          </a:p>
        </p:txBody>
      </p:sp>
    </p:spTree>
    <p:extLst>
      <p:ext uri="{BB962C8B-B14F-4D97-AF65-F5344CB8AC3E}">
        <p14:creationId xmlns:p14="http://schemas.microsoft.com/office/powerpoint/2010/main" val="1661937024"/>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obj">
  <p:cSld name="Titre et conten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D82953D-D531-16DA-7401-476C65645E05}"/>
              </a:ext>
            </a:extLst>
          </p:cNvPr>
          <p:cNvSpPr>
            <a:spLocks noGrp="1"/>
          </p:cNvSpPr>
          <p:nvPr>
            <p:ph type="title"/>
          </p:nvPr>
        </p:nvSpPr>
        <p:spPr/>
        <p:txBody>
          <a:bodyPr/>
          <a:lstStyle/>
          <a:p>
            <a:r>
              <a:rPr lang="fr-FR"/>
              <a:t>Modifiez le style du titre</a:t>
            </a:r>
          </a:p>
        </p:txBody>
      </p:sp>
      <p:sp>
        <p:nvSpPr>
          <p:cNvPr id="3" name="Espace réservé du contenu 2">
            <a:extLst>
              <a:ext uri="{FF2B5EF4-FFF2-40B4-BE49-F238E27FC236}">
                <a16:creationId xmlns:a16="http://schemas.microsoft.com/office/drawing/2014/main" id="{60C4B40F-2BCF-C6CF-8E5B-1BFF28D21A3D}"/>
              </a:ext>
            </a:extLst>
          </p:cNvPr>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71CA0C77-B69C-6A6B-BC05-6805C467A6DF}"/>
              </a:ext>
            </a:extLst>
          </p:cNvPr>
          <p:cNvSpPr>
            <a:spLocks noGrp="1"/>
          </p:cNvSpPr>
          <p:nvPr>
            <p:ph type="dt" sz="half" idx="10"/>
          </p:nvPr>
        </p:nvSpPr>
        <p:spPr/>
        <p:txBody>
          <a:bodyPr/>
          <a:lstStyle/>
          <a:p>
            <a:fld id="{42B27596-AB02-4A4E-85CD-C173CF0480AE}"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57038861-9E38-F975-139B-234533FCD2C7}"/>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C33097D3-6341-E102-9D10-F0F9C3530737}"/>
              </a:ext>
            </a:extLst>
          </p:cNvPr>
          <p:cNvSpPr>
            <a:spLocks noGrp="1"/>
          </p:cNvSpPr>
          <p:nvPr>
            <p:ph type="sldNum" sz="quarter" idx="12"/>
          </p:nvPr>
        </p:nvSpPr>
        <p:spPr/>
        <p:txBody>
          <a:bodyPr/>
          <a:lstStyle/>
          <a:p>
            <a:fld id="{BC25920D-2601-4830-B620-BF7BC4A38779}" type="slidenum">
              <a:rPr lang="fr-FR" smtClean="0"/>
              <a:t>‹N°›</a:t>
            </a:fld>
            <a:endParaRPr lang="fr-FR"/>
          </a:p>
        </p:txBody>
      </p:sp>
    </p:spTree>
    <p:extLst>
      <p:ext uri="{BB962C8B-B14F-4D97-AF65-F5344CB8AC3E}">
        <p14:creationId xmlns:p14="http://schemas.microsoft.com/office/powerpoint/2010/main" val="38578553"/>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userDrawn="1">
  <p:cSld name="1_Vierge">
    <p:spTree>
      <p:nvGrpSpPr>
        <p:cNvPr id="1" name=""/>
        <p:cNvGrpSpPr/>
        <p:nvPr/>
      </p:nvGrpSpPr>
      <p:grpSpPr>
        <a:xfrm>
          <a:off x="0" y="0"/>
          <a:ext cx="0" cy="0"/>
          <a:chOff x="0" y="0"/>
          <a:chExt cx="0" cy="0"/>
        </a:xfrm>
      </p:grpSpPr>
      <p:pic>
        <p:nvPicPr>
          <p:cNvPr id="8" name="Espace réservé pour une image  19" descr="Une image contenant bâtiment, extérieur, ciel, grand&#10;&#10;Description générée automatiquement">
            <a:extLst>
              <a:ext uri="{FF2B5EF4-FFF2-40B4-BE49-F238E27FC236}">
                <a16:creationId xmlns:a16="http://schemas.microsoft.com/office/drawing/2014/main" id="{CD779B8A-CADE-4396-B8D8-A45C55B9D299}"/>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6" name="Espace réservé du texte 23">
            <a:extLst>
              <a:ext uri="{FF2B5EF4-FFF2-40B4-BE49-F238E27FC236}">
                <a16:creationId xmlns:a16="http://schemas.microsoft.com/office/drawing/2014/main" id="{EF8D8815-4EEC-844F-A9F2-12C869A26C95}"/>
              </a:ext>
            </a:extLst>
          </p:cNvPr>
          <p:cNvSpPr>
            <a:spLocks noGrp="1"/>
          </p:cNvSpPr>
          <p:nvPr>
            <p:ph type="body" sz="quarter" idx="11" hasCustomPrompt="1"/>
          </p:nvPr>
        </p:nvSpPr>
        <p:spPr>
          <a:xfrm>
            <a:off x="2" y="-20305"/>
            <a:ext cx="12191998" cy="754597"/>
          </a:xfrm>
          <a:prstGeom prst="rect">
            <a:avLst/>
          </a:prstGeom>
          <a:solidFill>
            <a:srgbClr val="1F5363">
              <a:alpha val="50000"/>
            </a:srgbClr>
          </a:solidFill>
        </p:spPr>
        <p:txBody>
          <a:bodyPr lIns="900000" tIns="46800" rIns="270000" bIns="46800" anchor="ctr"/>
          <a:lstStyle>
            <a:lvl1pPr marL="0" indent="0" algn="l">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Changer titre de la diapositive</a:t>
            </a:r>
          </a:p>
        </p:txBody>
      </p:sp>
      <p:sp>
        <p:nvSpPr>
          <p:cNvPr id="7" name="Espace réservé du texte 23">
            <a:extLst>
              <a:ext uri="{FF2B5EF4-FFF2-40B4-BE49-F238E27FC236}">
                <a16:creationId xmlns:a16="http://schemas.microsoft.com/office/drawing/2014/main" id="{C68E6838-74F8-244D-9463-8B6BB9DD377F}"/>
              </a:ext>
            </a:extLst>
          </p:cNvPr>
          <p:cNvSpPr>
            <a:spLocks noGrp="1"/>
          </p:cNvSpPr>
          <p:nvPr>
            <p:ph type="body" sz="quarter" idx="22" hasCustomPrompt="1"/>
          </p:nvPr>
        </p:nvSpPr>
        <p:spPr>
          <a:xfrm flipH="1">
            <a:off x="154398" y="100490"/>
            <a:ext cx="585329" cy="529417"/>
          </a:xfrm>
          <a:prstGeom prst="parallelogram">
            <a:avLst/>
          </a:prstGeom>
          <a:solidFill>
            <a:srgbClr val="1F5363"/>
          </a:solidFill>
        </p:spPr>
        <p:txBody>
          <a:bodyPr lIns="0" tIns="0" rIns="0" bIns="0" anchor="ctr"/>
          <a:lstStyle>
            <a:lvl1pPr marL="0" indent="0" algn="ctr">
              <a:buNone/>
              <a:defRPr sz="2800" b="1" i="0" spc="0">
                <a:solidFill>
                  <a:schemeClr val="bg1"/>
                </a:solidFill>
                <a:latin typeface="Calibri" panose="020F0502020204030204" pitchFamily="34" charset="0"/>
                <a:cs typeface="Calibri" panose="020F0502020204030204" pitchFamily="34" charset="0"/>
              </a:defRPr>
            </a:lvl1pPr>
            <a:lvl2pPr marL="457200" indent="0">
              <a:buNone/>
              <a:defRPr b="0" i="0">
                <a:latin typeface="Noe Display" panose="020A0500090400000002" pitchFamily="18" charset="77"/>
              </a:defRPr>
            </a:lvl2pPr>
            <a:lvl3pPr marL="914400" indent="0">
              <a:buNone/>
              <a:defRPr b="0" i="0">
                <a:latin typeface="Noe Display" panose="020A0500090400000002" pitchFamily="18" charset="77"/>
              </a:defRPr>
            </a:lvl3pPr>
            <a:lvl4pPr marL="1371600" indent="0">
              <a:buNone/>
              <a:defRPr b="0" i="0">
                <a:latin typeface="Noe Display" panose="020A0500090400000002" pitchFamily="18" charset="77"/>
              </a:defRPr>
            </a:lvl4pPr>
            <a:lvl5pPr marL="1828800" indent="0">
              <a:buNone/>
              <a:defRPr b="0" i="0">
                <a:latin typeface="Noe Display" panose="020A0500090400000002" pitchFamily="18" charset="77"/>
              </a:defRPr>
            </a:lvl5pPr>
          </a:lstStyle>
          <a:p>
            <a:pPr lvl="0"/>
            <a:r>
              <a:rPr lang="fr-FR"/>
              <a:t>X</a:t>
            </a:r>
          </a:p>
        </p:txBody>
      </p:sp>
    </p:spTree>
    <p:extLst>
      <p:ext uri="{BB962C8B-B14F-4D97-AF65-F5344CB8AC3E}">
        <p14:creationId xmlns:p14="http://schemas.microsoft.com/office/powerpoint/2010/main" val="1769823285"/>
      </p:ext>
    </p:extLst>
  </p:cSld>
  <p:clrMapOvr>
    <a:masterClrMapping/>
  </p:clrMapOvr>
  <p:hf hdr="0" dt="0"/>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ags" Target="../tags/tag2.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image" Target="../media/image2.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image" Target="../media/image1.emf"/><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oleObject" Target="../embeddings/oleObject1.bin"/></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7.xml"/><Relationship Id="rId13" Type="http://schemas.openxmlformats.org/officeDocument/2006/relationships/slideLayout" Target="../slideLayouts/slideLayout32.xml"/><Relationship Id="rId18" Type="http://schemas.openxmlformats.org/officeDocument/2006/relationships/slideLayout" Target="../slideLayouts/slideLayout37.xml"/><Relationship Id="rId3" Type="http://schemas.openxmlformats.org/officeDocument/2006/relationships/slideLayout" Target="../slideLayouts/slideLayout22.xml"/><Relationship Id="rId21" Type="http://schemas.openxmlformats.org/officeDocument/2006/relationships/tags" Target="../tags/tag5.xml"/><Relationship Id="rId7" Type="http://schemas.openxmlformats.org/officeDocument/2006/relationships/slideLayout" Target="../slideLayouts/slideLayout26.xml"/><Relationship Id="rId12" Type="http://schemas.openxmlformats.org/officeDocument/2006/relationships/slideLayout" Target="../slideLayouts/slideLayout31.xml"/><Relationship Id="rId17" Type="http://schemas.openxmlformats.org/officeDocument/2006/relationships/slideLayout" Target="../slideLayouts/slideLayout36.xml"/><Relationship Id="rId2" Type="http://schemas.openxmlformats.org/officeDocument/2006/relationships/slideLayout" Target="../slideLayouts/slideLayout21.xml"/><Relationship Id="rId16" Type="http://schemas.openxmlformats.org/officeDocument/2006/relationships/slideLayout" Target="../slideLayouts/slideLayout35.xml"/><Relationship Id="rId20" Type="http://schemas.openxmlformats.org/officeDocument/2006/relationships/theme" Target="../theme/theme2.xml"/><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slideLayout" Target="../slideLayouts/slideLayout30.xml"/><Relationship Id="rId24" Type="http://schemas.openxmlformats.org/officeDocument/2006/relationships/image" Target="../media/image2.png"/><Relationship Id="rId5" Type="http://schemas.openxmlformats.org/officeDocument/2006/relationships/slideLayout" Target="../slideLayouts/slideLayout24.xml"/><Relationship Id="rId15" Type="http://schemas.openxmlformats.org/officeDocument/2006/relationships/slideLayout" Target="../slideLayouts/slideLayout34.xml"/><Relationship Id="rId23" Type="http://schemas.openxmlformats.org/officeDocument/2006/relationships/image" Target="../media/image1.emf"/><Relationship Id="rId10" Type="http://schemas.openxmlformats.org/officeDocument/2006/relationships/slideLayout" Target="../slideLayouts/slideLayout29.xml"/><Relationship Id="rId19" Type="http://schemas.openxmlformats.org/officeDocument/2006/relationships/slideLayout" Target="../slideLayouts/slideLayout38.xml"/><Relationship Id="rId4" Type="http://schemas.openxmlformats.org/officeDocument/2006/relationships/slideLayout" Target="../slideLayouts/slideLayout23.xml"/><Relationship Id="rId9" Type="http://schemas.openxmlformats.org/officeDocument/2006/relationships/slideLayout" Target="../slideLayouts/slideLayout28.xml"/><Relationship Id="rId14" Type="http://schemas.openxmlformats.org/officeDocument/2006/relationships/slideLayout" Target="../slideLayouts/slideLayout33.xml"/><Relationship Id="rId22" Type="http://schemas.openxmlformats.org/officeDocument/2006/relationships/oleObject" Target="../embeddings/oleObject1.bin"/></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6.xml"/><Relationship Id="rId13" Type="http://schemas.openxmlformats.org/officeDocument/2006/relationships/tags" Target="../tags/tag9.xml"/><Relationship Id="rId3" Type="http://schemas.openxmlformats.org/officeDocument/2006/relationships/slideLayout" Target="../slideLayouts/slideLayout41.xml"/><Relationship Id="rId7" Type="http://schemas.openxmlformats.org/officeDocument/2006/relationships/slideLayout" Target="../slideLayouts/slideLayout45.xml"/><Relationship Id="rId12" Type="http://schemas.openxmlformats.org/officeDocument/2006/relationships/theme" Target="../theme/theme3.xml"/><Relationship Id="rId2" Type="http://schemas.openxmlformats.org/officeDocument/2006/relationships/slideLayout" Target="../slideLayouts/slideLayout40.xml"/><Relationship Id="rId1" Type="http://schemas.openxmlformats.org/officeDocument/2006/relationships/slideLayout" Target="../slideLayouts/slideLayout39.xml"/><Relationship Id="rId6" Type="http://schemas.openxmlformats.org/officeDocument/2006/relationships/slideLayout" Target="../slideLayouts/slideLayout44.xml"/><Relationship Id="rId11" Type="http://schemas.openxmlformats.org/officeDocument/2006/relationships/slideLayout" Target="../slideLayouts/slideLayout49.xml"/><Relationship Id="rId5" Type="http://schemas.openxmlformats.org/officeDocument/2006/relationships/slideLayout" Target="../slideLayouts/slideLayout43.xml"/><Relationship Id="rId15" Type="http://schemas.openxmlformats.org/officeDocument/2006/relationships/image" Target="../media/image12.emf"/><Relationship Id="rId10" Type="http://schemas.openxmlformats.org/officeDocument/2006/relationships/slideLayout" Target="../slideLayouts/slideLayout48.xml"/><Relationship Id="rId4" Type="http://schemas.openxmlformats.org/officeDocument/2006/relationships/slideLayout" Target="../slideLayouts/slideLayout42.xml"/><Relationship Id="rId9" Type="http://schemas.openxmlformats.org/officeDocument/2006/relationships/slideLayout" Target="../slideLayouts/slideLayout47.xml"/><Relationship Id="rId14" Type="http://schemas.openxmlformats.org/officeDocument/2006/relationships/oleObject" Target="../embeddings/oleObject4.bin"/></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7.xml"/><Relationship Id="rId13" Type="http://schemas.openxmlformats.org/officeDocument/2006/relationships/tags" Target="../tags/tag10.xml"/><Relationship Id="rId3" Type="http://schemas.openxmlformats.org/officeDocument/2006/relationships/slideLayout" Target="../slideLayouts/slideLayout52.xml"/><Relationship Id="rId7" Type="http://schemas.openxmlformats.org/officeDocument/2006/relationships/slideLayout" Target="../slideLayouts/slideLayout56.xml"/><Relationship Id="rId12" Type="http://schemas.openxmlformats.org/officeDocument/2006/relationships/theme" Target="../theme/theme4.xml"/><Relationship Id="rId2" Type="http://schemas.openxmlformats.org/officeDocument/2006/relationships/slideLayout" Target="../slideLayouts/slideLayout51.xml"/><Relationship Id="rId1" Type="http://schemas.openxmlformats.org/officeDocument/2006/relationships/slideLayout" Target="../slideLayouts/slideLayout50.xml"/><Relationship Id="rId6" Type="http://schemas.openxmlformats.org/officeDocument/2006/relationships/slideLayout" Target="../slideLayouts/slideLayout55.xml"/><Relationship Id="rId11" Type="http://schemas.openxmlformats.org/officeDocument/2006/relationships/slideLayout" Target="../slideLayouts/slideLayout60.xml"/><Relationship Id="rId5" Type="http://schemas.openxmlformats.org/officeDocument/2006/relationships/slideLayout" Target="../slideLayouts/slideLayout54.xml"/><Relationship Id="rId15" Type="http://schemas.openxmlformats.org/officeDocument/2006/relationships/image" Target="../media/image12.emf"/><Relationship Id="rId10" Type="http://schemas.openxmlformats.org/officeDocument/2006/relationships/slideLayout" Target="../slideLayouts/slideLayout59.xml"/><Relationship Id="rId4" Type="http://schemas.openxmlformats.org/officeDocument/2006/relationships/slideLayout" Target="../slideLayouts/slideLayout53.xml"/><Relationship Id="rId9" Type="http://schemas.openxmlformats.org/officeDocument/2006/relationships/slideLayout" Target="../slideLayouts/slideLayout58.xml"/><Relationship Id="rId14" Type="http://schemas.openxmlformats.org/officeDocument/2006/relationships/oleObject" Target="../embeddings/oleObject4.bin"/></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8.xml"/><Relationship Id="rId13" Type="http://schemas.openxmlformats.org/officeDocument/2006/relationships/image" Target="../media/image13.emf"/><Relationship Id="rId3" Type="http://schemas.openxmlformats.org/officeDocument/2006/relationships/slideLayout" Target="../slideLayouts/slideLayout63.xml"/><Relationship Id="rId7" Type="http://schemas.openxmlformats.org/officeDocument/2006/relationships/slideLayout" Target="../slideLayouts/slideLayout67.xml"/><Relationship Id="rId12" Type="http://schemas.openxmlformats.org/officeDocument/2006/relationships/oleObject" Target="../embeddings/oleObject5.bin"/><Relationship Id="rId2" Type="http://schemas.openxmlformats.org/officeDocument/2006/relationships/slideLayout" Target="../slideLayouts/slideLayout62.xml"/><Relationship Id="rId1" Type="http://schemas.openxmlformats.org/officeDocument/2006/relationships/slideLayout" Target="../slideLayouts/slideLayout61.xml"/><Relationship Id="rId6" Type="http://schemas.openxmlformats.org/officeDocument/2006/relationships/slideLayout" Target="../slideLayouts/slideLayout66.xml"/><Relationship Id="rId11" Type="http://schemas.openxmlformats.org/officeDocument/2006/relationships/tags" Target="../tags/tag11.xml"/><Relationship Id="rId5" Type="http://schemas.openxmlformats.org/officeDocument/2006/relationships/slideLayout" Target="../slideLayouts/slideLayout65.xml"/><Relationship Id="rId10" Type="http://schemas.openxmlformats.org/officeDocument/2006/relationships/theme" Target="../theme/theme5.xml"/><Relationship Id="rId4" Type="http://schemas.openxmlformats.org/officeDocument/2006/relationships/slideLayout" Target="../slideLayouts/slideLayout64.xml"/><Relationship Id="rId9" Type="http://schemas.openxmlformats.org/officeDocument/2006/relationships/slideLayout" Target="../slideLayouts/slideLayout69.xml"/><Relationship Id="rId14" Type="http://schemas.openxmlformats.org/officeDocument/2006/relationships/image" Target="../media/image14.pn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77.xml"/><Relationship Id="rId13" Type="http://schemas.openxmlformats.org/officeDocument/2006/relationships/slideLayout" Target="../slideLayouts/slideLayout82.xml"/><Relationship Id="rId18" Type="http://schemas.openxmlformats.org/officeDocument/2006/relationships/slideLayout" Target="../slideLayouts/slideLayout87.xml"/><Relationship Id="rId3" Type="http://schemas.openxmlformats.org/officeDocument/2006/relationships/slideLayout" Target="../slideLayouts/slideLayout72.xml"/><Relationship Id="rId21" Type="http://schemas.openxmlformats.org/officeDocument/2006/relationships/oleObject" Target="../embeddings/oleObject1.bin"/><Relationship Id="rId7" Type="http://schemas.openxmlformats.org/officeDocument/2006/relationships/slideLayout" Target="../slideLayouts/slideLayout76.xml"/><Relationship Id="rId12" Type="http://schemas.openxmlformats.org/officeDocument/2006/relationships/slideLayout" Target="../slideLayouts/slideLayout81.xml"/><Relationship Id="rId17" Type="http://schemas.openxmlformats.org/officeDocument/2006/relationships/slideLayout" Target="../slideLayouts/slideLayout86.xml"/><Relationship Id="rId2" Type="http://schemas.openxmlformats.org/officeDocument/2006/relationships/slideLayout" Target="../slideLayouts/slideLayout71.xml"/><Relationship Id="rId16" Type="http://schemas.openxmlformats.org/officeDocument/2006/relationships/slideLayout" Target="../slideLayouts/slideLayout85.xml"/><Relationship Id="rId20" Type="http://schemas.openxmlformats.org/officeDocument/2006/relationships/tags" Target="../tags/tag12.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5" Type="http://schemas.openxmlformats.org/officeDocument/2006/relationships/slideLayout" Target="../slideLayouts/slideLayout74.xml"/><Relationship Id="rId15" Type="http://schemas.openxmlformats.org/officeDocument/2006/relationships/slideLayout" Target="../slideLayouts/slideLayout84.xml"/><Relationship Id="rId23" Type="http://schemas.openxmlformats.org/officeDocument/2006/relationships/image" Target="../media/image2.png"/><Relationship Id="rId10" Type="http://schemas.openxmlformats.org/officeDocument/2006/relationships/slideLayout" Target="../slideLayouts/slideLayout79.xml"/><Relationship Id="rId19" Type="http://schemas.openxmlformats.org/officeDocument/2006/relationships/theme" Target="../theme/theme6.xml"/><Relationship Id="rId4" Type="http://schemas.openxmlformats.org/officeDocument/2006/relationships/slideLayout" Target="../slideLayouts/slideLayout73.xml"/><Relationship Id="rId9" Type="http://schemas.openxmlformats.org/officeDocument/2006/relationships/slideLayout" Target="../slideLayouts/slideLayout78.xml"/><Relationship Id="rId14" Type="http://schemas.openxmlformats.org/officeDocument/2006/relationships/slideLayout" Target="../slideLayouts/slideLayout83.xml"/><Relationship Id="rId22" Type="http://schemas.openxmlformats.org/officeDocument/2006/relationships/image" Target="../media/image1.emf"/></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100.xml"/><Relationship Id="rId18" Type="http://schemas.openxmlformats.org/officeDocument/2006/relationships/slideLayout" Target="../slideLayouts/slideLayout105.xml"/><Relationship Id="rId26" Type="http://schemas.openxmlformats.org/officeDocument/2006/relationships/slideLayout" Target="../slideLayouts/slideLayout113.xml"/><Relationship Id="rId39" Type="http://schemas.openxmlformats.org/officeDocument/2006/relationships/slideLayout" Target="../slideLayouts/slideLayout126.xml"/><Relationship Id="rId21" Type="http://schemas.openxmlformats.org/officeDocument/2006/relationships/slideLayout" Target="../slideLayouts/slideLayout108.xml"/><Relationship Id="rId34" Type="http://schemas.openxmlformats.org/officeDocument/2006/relationships/slideLayout" Target="../slideLayouts/slideLayout121.xml"/><Relationship Id="rId42" Type="http://schemas.openxmlformats.org/officeDocument/2006/relationships/slideLayout" Target="../slideLayouts/slideLayout129.xml"/><Relationship Id="rId47" Type="http://schemas.openxmlformats.org/officeDocument/2006/relationships/slideLayout" Target="../slideLayouts/slideLayout134.xml"/><Relationship Id="rId50" Type="http://schemas.openxmlformats.org/officeDocument/2006/relationships/slideLayout" Target="../slideLayouts/slideLayout137.xml"/><Relationship Id="rId55" Type="http://schemas.openxmlformats.org/officeDocument/2006/relationships/slideLayout" Target="../slideLayouts/slideLayout142.xml"/><Relationship Id="rId7" Type="http://schemas.openxmlformats.org/officeDocument/2006/relationships/slideLayout" Target="../slideLayouts/slideLayout94.xml"/><Relationship Id="rId2" Type="http://schemas.openxmlformats.org/officeDocument/2006/relationships/slideLayout" Target="../slideLayouts/slideLayout89.xml"/><Relationship Id="rId16" Type="http://schemas.openxmlformats.org/officeDocument/2006/relationships/slideLayout" Target="../slideLayouts/slideLayout103.xml"/><Relationship Id="rId29" Type="http://schemas.openxmlformats.org/officeDocument/2006/relationships/slideLayout" Target="../slideLayouts/slideLayout116.xml"/><Relationship Id="rId11" Type="http://schemas.openxmlformats.org/officeDocument/2006/relationships/slideLayout" Target="../slideLayouts/slideLayout98.xml"/><Relationship Id="rId24" Type="http://schemas.openxmlformats.org/officeDocument/2006/relationships/slideLayout" Target="../slideLayouts/slideLayout111.xml"/><Relationship Id="rId32" Type="http://schemas.openxmlformats.org/officeDocument/2006/relationships/slideLayout" Target="../slideLayouts/slideLayout119.xml"/><Relationship Id="rId37" Type="http://schemas.openxmlformats.org/officeDocument/2006/relationships/slideLayout" Target="../slideLayouts/slideLayout124.xml"/><Relationship Id="rId40" Type="http://schemas.openxmlformats.org/officeDocument/2006/relationships/slideLayout" Target="../slideLayouts/slideLayout127.xml"/><Relationship Id="rId45" Type="http://schemas.openxmlformats.org/officeDocument/2006/relationships/slideLayout" Target="../slideLayouts/slideLayout132.xml"/><Relationship Id="rId53" Type="http://schemas.openxmlformats.org/officeDocument/2006/relationships/slideLayout" Target="../slideLayouts/slideLayout140.xml"/><Relationship Id="rId58" Type="http://schemas.openxmlformats.org/officeDocument/2006/relationships/slideLayout" Target="../slideLayouts/slideLayout145.xml"/><Relationship Id="rId5" Type="http://schemas.openxmlformats.org/officeDocument/2006/relationships/slideLayout" Target="../slideLayouts/slideLayout92.xml"/><Relationship Id="rId61" Type="http://schemas.openxmlformats.org/officeDocument/2006/relationships/image" Target="../media/image15.png"/><Relationship Id="rId19" Type="http://schemas.openxmlformats.org/officeDocument/2006/relationships/slideLayout" Target="../slideLayouts/slideLayout106.xml"/><Relationship Id="rId14" Type="http://schemas.openxmlformats.org/officeDocument/2006/relationships/slideLayout" Target="../slideLayouts/slideLayout101.xml"/><Relationship Id="rId22" Type="http://schemas.openxmlformats.org/officeDocument/2006/relationships/slideLayout" Target="../slideLayouts/slideLayout109.xml"/><Relationship Id="rId27" Type="http://schemas.openxmlformats.org/officeDocument/2006/relationships/slideLayout" Target="../slideLayouts/slideLayout114.xml"/><Relationship Id="rId30" Type="http://schemas.openxmlformats.org/officeDocument/2006/relationships/slideLayout" Target="../slideLayouts/slideLayout117.xml"/><Relationship Id="rId35" Type="http://schemas.openxmlformats.org/officeDocument/2006/relationships/slideLayout" Target="../slideLayouts/slideLayout122.xml"/><Relationship Id="rId43" Type="http://schemas.openxmlformats.org/officeDocument/2006/relationships/slideLayout" Target="../slideLayouts/slideLayout130.xml"/><Relationship Id="rId48" Type="http://schemas.openxmlformats.org/officeDocument/2006/relationships/slideLayout" Target="../slideLayouts/slideLayout135.xml"/><Relationship Id="rId56" Type="http://schemas.openxmlformats.org/officeDocument/2006/relationships/slideLayout" Target="../slideLayouts/slideLayout143.xml"/><Relationship Id="rId8" Type="http://schemas.openxmlformats.org/officeDocument/2006/relationships/slideLayout" Target="../slideLayouts/slideLayout95.xml"/><Relationship Id="rId51" Type="http://schemas.openxmlformats.org/officeDocument/2006/relationships/slideLayout" Target="../slideLayouts/slideLayout138.xml"/><Relationship Id="rId3" Type="http://schemas.openxmlformats.org/officeDocument/2006/relationships/slideLayout" Target="../slideLayouts/slideLayout90.xml"/><Relationship Id="rId12" Type="http://schemas.openxmlformats.org/officeDocument/2006/relationships/slideLayout" Target="../slideLayouts/slideLayout99.xml"/><Relationship Id="rId17" Type="http://schemas.openxmlformats.org/officeDocument/2006/relationships/slideLayout" Target="../slideLayouts/slideLayout104.xml"/><Relationship Id="rId25" Type="http://schemas.openxmlformats.org/officeDocument/2006/relationships/slideLayout" Target="../slideLayouts/slideLayout112.xml"/><Relationship Id="rId33" Type="http://schemas.openxmlformats.org/officeDocument/2006/relationships/slideLayout" Target="../slideLayouts/slideLayout120.xml"/><Relationship Id="rId38" Type="http://schemas.openxmlformats.org/officeDocument/2006/relationships/slideLayout" Target="../slideLayouts/slideLayout125.xml"/><Relationship Id="rId46" Type="http://schemas.openxmlformats.org/officeDocument/2006/relationships/slideLayout" Target="../slideLayouts/slideLayout133.xml"/><Relationship Id="rId59" Type="http://schemas.openxmlformats.org/officeDocument/2006/relationships/slideLayout" Target="../slideLayouts/slideLayout146.xml"/><Relationship Id="rId20" Type="http://schemas.openxmlformats.org/officeDocument/2006/relationships/slideLayout" Target="../slideLayouts/slideLayout107.xml"/><Relationship Id="rId41" Type="http://schemas.openxmlformats.org/officeDocument/2006/relationships/slideLayout" Target="../slideLayouts/slideLayout128.xml"/><Relationship Id="rId54" Type="http://schemas.openxmlformats.org/officeDocument/2006/relationships/slideLayout" Target="../slideLayouts/slideLayout141.xml"/><Relationship Id="rId1" Type="http://schemas.openxmlformats.org/officeDocument/2006/relationships/slideLayout" Target="../slideLayouts/slideLayout88.xml"/><Relationship Id="rId6" Type="http://schemas.openxmlformats.org/officeDocument/2006/relationships/slideLayout" Target="../slideLayouts/slideLayout93.xml"/><Relationship Id="rId15" Type="http://schemas.openxmlformats.org/officeDocument/2006/relationships/slideLayout" Target="../slideLayouts/slideLayout102.xml"/><Relationship Id="rId23" Type="http://schemas.openxmlformats.org/officeDocument/2006/relationships/slideLayout" Target="../slideLayouts/slideLayout110.xml"/><Relationship Id="rId28" Type="http://schemas.openxmlformats.org/officeDocument/2006/relationships/slideLayout" Target="../slideLayouts/slideLayout115.xml"/><Relationship Id="rId36" Type="http://schemas.openxmlformats.org/officeDocument/2006/relationships/slideLayout" Target="../slideLayouts/slideLayout123.xml"/><Relationship Id="rId49" Type="http://schemas.openxmlformats.org/officeDocument/2006/relationships/slideLayout" Target="../slideLayouts/slideLayout136.xml"/><Relationship Id="rId57" Type="http://schemas.openxmlformats.org/officeDocument/2006/relationships/slideLayout" Target="../slideLayouts/slideLayout144.xml"/><Relationship Id="rId10" Type="http://schemas.openxmlformats.org/officeDocument/2006/relationships/slideLayout" Target="../slideLayouts/slideLayout97.xml"/><Relationship Id="rId31" Type="http://schemas.openxmlformats.org/officeDocument/2006/relationships/slideLayout" Target="../slideLayouts/slideLayout118.xml"/><Relationship Id="rId44" Type="http://schemas.openxmlformats.org/officeDocument/2006/relationships/slideLayout" Target="../slideLayouts/slideLayout131.xml"/><Relationship Id="rId52" Type="http://schemas.openxmlformats.org/officeDocument/2006/relationships/slideLayout" Target="../slideLayouts/slideLayout139.xml"/><Relationship Id="rId60" Type="http://schemas.openxmlformats.org/officeDocument/2006/relationships/theme" Target="../theme/theme7.xml"/><Relationship Id="rId4" Type="http://schemas.openxmlformats.org/officeDocument/2006/relationships/slideLayout" Target="../slideLayouts/slideLayout91.xml"/><Relationship Id="rId9" Type="http://schemas.openxmlformats.org/officeDocument/2006/relationships/slideLayout" Target="../slideLayouts/slideLayout9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54.xml"/><Relationship Id="rId13" Type="http://schemas.openxmlformats.org/officeDocument/2006/relationships/slideLayout" Target="../slideLayouts/slideLayout159.xml"/><Relationship Id="rId18" Type="http://schemas.openxmlformats.org/officeDocument/2006/relationships/slideLayout" Target="../slideLayouts/slideLayout164.xml"/><Relationship Id="rId26" Type="http://schemas.openxmlformats.org/officeDocument/2006/relationships/image" Target="../media/image1.emf"/><Relationship Id="rId3" Type="http://schemas.openxmlformats.org/officeDocument/2006/relationships/slideLayout" Target="../slideLayouts/slideLayout149.xml"/><Relationship Id="rId21" Type="http://schemas.openxmlformats.org/officeDocument/2006/relationships/slideLayout" Target="../slideLayouts/slideLayout167.xml"/><Relationship Id="rId7" Type="http://schemas.openxmlformats.org/officeDocument/2006/relationships/slideLayout" Target="../slideLayouts/slideLayout153.xml"/><Relationship Id="rId12" Type="http://schemas.openxmlformats.org/officeDocument/2006/relationships/slideLayout" Target="../slideLayouts/slideLayout158.xml"/><Relationship Id="rId17" Type="http://schemas.openxmlformats.org/officeDocument/2006/relationships/slideLayout" Target="../slideLayouts/slideLayout163.xml"/><Relationship Id="rId25" Type="http://schemas.openxmlformats.org/officeDocument/2006/relationships/oleObject" Target="../embeddings/oleObject6.bin"/><Relationship Id="rId2" Type="http://schemas.openxmlformats.org/officeDocument/2006/relationships/slideLayout" Target="../slideLayouts/slideLayout148.xml"/><Relationship Id="rId16" Type="http://schemas.openxmlformats.org/officeDocument/2006/relationships/slideLayout" Target="../slideLayouts/slideLayout162.xml"/><Relationship Id="rId20" Type="http://schemas.openxmlformats.org/officeDocument/2006/relationships/slideLayout" Target="../slideLayouts/slideLayout166.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11" Type="http://schemas.openxmlformats.org/officeDocument/2006/relationships/slideLayout" Target="../slideLayouts/slideLayout157.xml"/><Relationship Id="rId24" Type="http://schemas.openxmlformats.org/officeDocument/2006/relationships/tags" Target="../tags/tag15.xml"/><Relationship Id="rId5" Type="http://schemas.openxmlformats.org/officeDocument/2006/relationships/slideLayout" Target="../slideLayouts/slideLayout151.xml"/><Relationship Id="rId15" Type="http://schemas.openxmlformats.org/officeDocument/2006/relationships/slideLayout" Target="../slideLayouts/slideLayout161.xml"/><Relationship Id="rId23" Type="http://schemas.openxmlformats.org/officeDocument/2006/relationships/theme" Target="../theme/theme8.xml"/><Relationship Id="rId10" Type="http://schemas.openxmlformats.org/officeDocument/2006/relationships/slideLayout" Target="../slideLayouts/slideLayout156.xml"/><Relationship Id="rId19" Type="http://schemas.openxmlformats.org/officeDocument/2006/relationships/slideLayout" Target="../slideLayouts/slideLayout165.xml"/><Relationship Id="rId4" Type="http://schemas.openxmlformats.org/officeDocument/2006/relationships/slideLayout" Target="../slideLayouts/slideLayout150.xml"/><Relationship Id="rId9" Type="http://schemas.openxmlformats.org/officeDocument/2006/relationships/slideLayout" Target="../slideLayouts/slideLayout155.xml"/><Relationship Id="rId14" Type="http://schemas.openxmlformats.org/officeDocument/2006/relationships/slideLayout" Target="../slideLayouts/slideLayout160.xml"/><Relationship Id="rId22" Type="http://schemas.openxmlformats.org/officeDocument/2006/relationships/slideLayout" Target="../slideLayouts/slideLayout168.xml"/><Relationship Id="rId27"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lumMod val="95000"/>
          </a:schemeClr>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CB4014D5-5931-1D49-888A-F5254344328A}"/>
              </a:ext>
            </a:extLst>
          </p:cNvPr>
          <p:cNvGraphicFramePr>
            <a:graphicFrameLocks noChangeAspect="1"/>
          </p:cNvGraphicFramePr>
          <p:nvPr userDrawn="1">
            <p:custDataLst>
              <p:tags r:id="rId21"/>
            </p:custDataLst>
            <p:extLst>
              <p:ext uri="{D42A27DB-BD31-4B8C-83A1-F6EECF244321}">
                <p14:modId xmlns:p14="http://schemas.microsoft.com/office/powerpoint/2010/main" val="2895403192"/>
              </p:ext>
            </p:ext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22" imgW="7772400" imgH="10058400" progId="TCLayout.ActiveDocument.1">
                  <p:embed/>
                </p:oleObj>
              </mc:Choice>
              <mc:Fallback>
                <p:oleObj name="think-cell Slide" r:id="rId22" imgW="7772400" imgH="10058400" progId="TCLayout.ActiveDocument.1">
                  <p:embed/>
                  <p:pic>
                    <p:nvPicPr>
                      <p:cNvPr id="2" name="Object 1" hidden="1">
                        <a:extLst>
                          <a:ext uri="{FF2B5EF4-FFF2-40B4-BE49-F238E27FC236}">
                            <a16:creationId xmlns:a16="http://schemas.microsoft.com/office/drawing/2014/main" id="{CB4014D5-5931-1D49-888A-F5254344328A}"/>
                          </a:ext>
                        </a:extLst>
                      </p:cNvPr>
                      <p:cNvPicPr/>
                      <p:nvPr/>
                    </p:nvPicPr>
                    <p:blipFill>
                      <a:blip r:embed="rId23"/>
                      <a:stretch>
                        <a:fillRect/>
                      </a:stretch>
                    </p:blipFill>
                    <p:spPr>
                      <a:xfrm>
                        <a:off x="1588" y="1588"/>
                        <a:ext cx="1227" cy="1588"/>
                      </a:xfrm>
                      <a:prstGeom prst="rect">
                        <a:avLst/>
                      </a:prstGeom>
                    </p:spPr>
                  </p:pic>
                </p:oleObj>
              </mc:Fallback>
            </mc:AlternateContent>
          </a:graphicData>
        </a:graphic>
      </p:graphicFrame>
      <p:sp>
        <p:nvSpPr>
          <p:cNvPr id="19" name="ZoneTexte 7">
            <a:extLst>
              <a:ext uri="{FF2B5EF4-FFF2-40B4-BE49-F238E27FC236}">
                <a16:creationId xmlns:a16="http://schemas.microsoft.com/office/drawing/2014/main" id="{9A2B92D7-C801-2745-A2F6-E1D3A52B4ABB}"/>
              </a:ext>
            </a:extLst>
          </p:cNvPr>
          <p:cNvSpPr txBox="1"/>
          <p:nvPr userDrawn="1"/>
        </p:nvSpPr>
        <p:spPr>
          <a:xfrm>
            <a:off x="233085" y="6395153"/>
            <a:ext cx="458780" cy="276999"/>
          </a:xfrm>
          <a:prstGeom prst="rect">
            <a:avLst/>
          </a:prstGeom>
          <a:noFill/>
        </p:spPr>
        <p:txBody>
          <a:bodyPr wrap="none" rtlCol="0" anchor="ctr">
            <a:spAutoFit/>
          </a:bodyPr>
          <a:lstStyle/>
          <a:p>
            <a:fld id="{E9B0AB11-93FE-46B5-A744-5A729A269390}" type="slidenum">
              <a:rPr lang="en-GB" sz="1200" smtClean="0">
                <a:solidFill>
                  <a:schemeClr val="bg1">
                    <a:lumMod val="50000"/>
                  </a:schemeClr>
                </a:solidFill>
                <a:latin typeface="Calibri" panose="020F0502020204030204" pitchFamily="34" charset="0"/>
                <a:cs typeface="Calibri" panose="020F0502020204030204" pitchFamily="34" charset="0"/>
              </a:rPr>
              <a:pPr/>
              <a:t>‹N°›</a:t>
            </a:fld>
            <a:endParaRPr lang="en-GB" sz="120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endParaRPr>
          </a:p>
        </p:txBody>
      </p:sp>
      <p:pic>
        <p:nvPicPr>
          <p:cNvPr id="3" name="Image 2" descr="Une image contenant texte&#10;&#10;Description générée automatiquement">
            <a:extLst>
              <a:ext uri="{FF2B5EF4-FFF2-40B4-BE49-F238E27FC236}">
                <a16:creationId xmlns:a16="http://schemas.microsoft.com/office/drawing/2014/main" id="{6DD5FD66-43BC-610B-0335-FFDD589BF87A}"/>
              </a:ext>
            </a:extLst>
          </p:cNvPr>
          <p:cNvPicPr>
            <a:picLocks noChangeAspect="1"/>
          </p:cNvPicPr>
          <p:nvPr userDrawn="1"/>
        </p:nvPicPr>
        <p:blipFill>
          <a:blip r:embed="rId24"/>
          <a:stretch>
            <a:fillRect/>
          </a:stretch>
        </p:blipFill>
        <p:spPr>
          <a:xfrm>
            <a:off x="9706775" y="6151418"/>
            <a:ext cx="2342260" cy="640807"/>
          </a:xfrm>
          <a:prstGeom prst="rect">
            <a:avLst/>
          </a:prstGeom>
        </p:spPr>
      </p:pic>
    </p:spTree>
    <p:extLst>
      <p:ext uri="{BB962C8B-B14F-4D97-AF65-F5344CB8AC3E}">
        <p14:creationId xmlns:p14="http://schemas.microsoft.com/office/powerpoint/2010/main" val="2157473117"/>
      </p:ext>
    </p:extLst>
  </p:cSld>
  <p:clrMap bg1="lt1" tx1="dk1" bg2="lt2" tx2="dk2" accent1="accent1" accent2="accent2" accent3="accent3" accent4="accent4" accent5="accent5" accent6="accent6" hlink="hlink" folHlink="folHlink"/>
  <p:sldLayoutIdLst>
    <p:sldLayoutId id="2147483728" r:id="rId1"/>
    <p:sldLayoutId id="2147483731" r:id="rId2"/>
    <p:sldLayoutId id="2147483782" r:id="rId3"/>
    <p:sldLayoutId id="2147483730" r:id="rId4"/>
    <p:sldLayoutId id="2147483727" r:id="rId5"/>
    <p:sldLayoutId id="2147483751" r:id="rId6"/>
    <p:sldLayoutId id="2147483735" r:id="rId7"/>
    <p:sldLayoutId id="2147483753" r:id="rId8"/>
    <p:sldLayoutId id="2147483755" r:id="rId9"/>
    <p:sldLayoutId id="2147483743" r:id="rId10"/>
    <p:sldLayoutId id="2147483745" r:id="rId11"/>
    <p:sldLayoutId id="2147483740" r:id="rId12"/>
    <p:sldLayoutId id="2147483742" r:id="rId13"/>
    <p:sldLayoutId id="2147483749" r:id="rId14"/>
    <p:sldLayoutId id="2147483747" r:id="rId15"/>
    <p:sldLayoutId id="2147483768" r:id="rId16"/>
    <p:sldLayoutId id="2147483737" r:id="rId17"/>
    <p:sldLayoutId id="2147483756" r:id="rId18"/>
    <p:sldLayoutId id="2147483846" r:id="rId1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lumMod val="95000"/>
          </a:schemeClr>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CB4014D5-5931-1D49-888A-F5254344328A}"/>
              </a:ext>
            </a:extLst>
          </p:cNvPr>
          <p:cNvGraphicFramePr>
            <a:graphicFrameLocks noChangeAspect="1"/>
          </p:cNvGraphicFramePr>
          <p:nvPr userDrawn="1">
            <p:custDataLst>
              <p:tags r:id="rId21"/>
            </p:custDataLst>
            <p:extLst>
              <p:ext uri="{D42A27DB-BD31-4B8C-83A1-F6EECF244321}">
                <p14:modId xmlns:p14="http://schemas.microsoft.com/office/powerpoint/2010/main" val="2895403192"/>
              </p:ext>
            </p:ext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22" imgW="7772400" imgH="10058400" progId="TCLayout.ActiveDocument.1">
                  <p:embed/>
                </p:oleObj>
              </mc:Choice>
              <mc:Fallback>
                <p:oleObj name="think-cell Slide" r:id="rId22" imgW="7772400" imgH="10058400" progId="TCLayout.ActiveDocument.1">
                  <p:embed/>
                  <p:pic>
                    <p:nvPicPr>
                      <p:cNvPr id="2" name="Object 1" hidden="1">
                        <a:extLst>
                          <a:ext uri="{FF2B5EF4-FFF2-40B4-BE49-F238E27FC236}">
                            <a16:creationId xmlns:a16="http://schemas.microsoft.com/office/drawing/2014/main" id="{CB4014D5-5931-1D49-888A-F5254344328A}"/>
                          </a:ext>
                        </a:extLst>
                      </p:cNvPr>
                      <p:cNvPicPr/>
                      <p:nvPr/>
                    </p:nvPicPr>
                    <p:blipFill>
                      <a:blip r:embed="rId23"/>
                      <a:stretch>
                        <a:fillRect/>
                      </a:stretch>
                    </p:blipFill>
                    <p:spPr>
                      <a:xfrm>
                        <a:off x="1588" y="1588"/>
                        <a:ext cx="1227" cy="1588"/>
                      </a:xfrm>
                      <a:prstGeom prst="rect">
                        <a:avLst/>
                      </a:prstGeom>
                    </p:spPr>
                  </p:pic>
                </p:oleObj>
              </mc:Fallback>
            </mc:AlternateContent>
          </a:graphicData>
        </a:graphic>
      </p:graphicFrame>
      <p:sp>
        <p:nvSpPr>
          <p:cNvPr id="16" name="ZoneTexte 7">
            <a:extLst>
              <a:ext uri="{FF2B5EF4-FFF2-40B4-BE49-F238E27FC236}">
                <a16:creationId xmlns:a16="http://schemas.microsoft.com/office/drawing/2014/main" id="{90517A11-D876-4B42-85EB-6440A60FC80A}"/>
              </a:ext>
            </a:extLst>
          </p:cNvPr>
          <p:cNvSpPr txBox="1"/>
          <p:nvPr userDrawn="1"/>
        </p:nvSpPr>
        <p:spPr>
          <a:xfrm>
            <a:off x="592711" y="6395153"/>
            <a:ext cx="1806905" cy="276999"/>
          </a:xfrm>
          <a:prstGeom prst="rect">
            <a:avLst/>
          </a:prstGeom>
          <a:noFill/>
        </p:spPr>
        <p:txBody>
          <a:bodyPr wrap="none" rtlCol="0" anchor="ctr">
            <a:spAutoFit/>
          </a:bodyPr>
          <a:lstStyle/>
          <a:p>
            <a:r>
              <a:rPr lang="en-GB" sz="1200" b="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a:t>
            </a:r>
            <a:r>
              <a:rPr lang="en-GB" sz="1200" b="1"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 </a:t>
            </a:r>
            <a:r>
              <a:rPr lang="en-GB" sz="1200" noProof="0" err="1">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Strictement</a:t>
            </a:r>
            <a:r>
              <a:rPr lang="en-GB" sz="120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 </a:t>
            </a:r>
            <a:r>
              <a:rPr lang="en-GB" sz="1200" noProof="0" err="1">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confidentiel</a:t>
            </a:r>
            <a:endParaRPr lang="en-GB" sz="120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endParaRPr>
          </a:p>
        </p:txBody>
      </p:sp>
      <p:sp>
        <p:nvSpPr>
          <p:cNvPr id="19" name="ZoneTexte 7">
            <a:extLst>
              <a:ext uri="{FF2B5EF4-FFF2-40B4-BE49-F238E27FC236}">
                <a16:creationId xmlns:a16="http://schemas.microsoft.com/office/drawing/2014/main" id="{9A2B92D7-C801-2745-A2F6-E1D3A52B4ABB}"/>
              </a:ext>
            </a:extLst>
          </p:cNvPr>
          <p:cNvSpPr txBox="1"/>
          <p:nvPr userDrawn="1"/>
        </p:nvSpPr>
        <p:spPr>
          <a:xfrm>
            <a:off x="233085" y="6395153"/>
            <a:ext cx="458780" cy="276999"/>
          </a:xfrm>
          <a:prstGeom prst="rect">
            <a:avLst/>
          </a:prstGeom>
          <a:noFill/>
        </p:spPr>
        <p:txBody>
          <a:bodyPr wrap="none" rtlCol="0" anchor="ctr">
            <a:spAutoFit/>
          </a:bodyPr>
          <a:lstStyle/>
          <a:p>
            <a:fld id="{E9B0AB11-93FE-46B5-A744-5A729A269390}" type="slidenum">
              <a:rPr lang="en-GB" sz="1200" smtClean="0">
                <a:solidFill>
                  <a:schemeClr val="bg1">
                    <a:lumMod val="50000"/>
                  </a:schemeClr>
                </a:solidFill>
                <a:latin typeface="Calibri" panose="020F0502020204030204" pitchFamily="34" charset="0"/>
                <a:cs typeface="Calibri" panose="020F0502020204030204" pitchFamily="34" charset="0"/>
              </a:rPr>
              <a:pPr/>
              <a:t>‹N°›</a:t>
            </a:fld>
            <a:endParaRPr lang="en-GB" sz="120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endParaRPr>
          </a:p>
        </p:txBody>
      </p:sp>
      <p:pic>
        <p:nvPicPr>
          <p:cNvPr id="3" name="Image 2" descr="Une image contenant texte&#10;&#10;Description générée automatiquement">
            <a:extLst>
              <a:ext uri="{FF2B5EF4-FFF2-40B4-BE49-F238E27FC236}">
                <a16:creationId xmlns:a16="http://schemas.microsoft.com/office/drawing/2014/main" id="{6DD5FD66-43BC-610B-0335-FFDD589BF87A}"/>
              </a:ext>
            </a:extLst>
          </p:cNvPr>
          <p:cNvPicPr>
            <a:picLocks noChangeAspect="1"/>
          </p:cNvPicPr>
          <p:nvPr userDrawn="1"/>
        </p:nvPicPr>
        <p:blipFill>
          <a:blip r:embed="rId24"/>
          <a:stretch>
            <a:fillRect/>
          </a:stretch>
        </p:blipFill>
        <p:spPr>
          <a:xfrm>
            <a:off x="9706775" y="6151418"/>
            <a:ext cx="2342260" cy="640807"/>
          </a:xfrm>
          <a:prstGeom prst="rect">
            <a:avLst/>
          </a:prstGeom>
        </p:spPr>
      </p:pic>
    </p:spTree>
    <p:extLst>
      <p:ext uri="{BB962C8B-B14F-4D97-AF65-F5344CB8AC3E}">
        <p14:creationId xmlns:p14="http://schemas.microsoft.com/office/powerpoint/2010/main" val="3903031678"/>
      </p:ext>
    </p:extLst>
  </p:cSld>
  <p:clrMap bg1="lt1" tx1="dk1" bg2="lt2" tx2="dk2" accent1="accent1" accent2="accent2" accent3="accent3" accent4="accent4" accent5="accent5" accent6="accent6" hlink="hlink" folHlink="folHlink"/>
  <p:sldLayoutIdLst>
    <p:sldLayoutId id="2147483808" r:id="rId1"/>
    <p:sldLayoutId id="2147483809" r:id="rId2"/>
    <p:sldLayoutId id="2147483810" r:id="rId3"/>
    <p:sldLayoutId id="2147483811" r:id="rId4"/>
    <p:sldLayoutId id="2147483812" r:id="rId5"/>
    <p:sldLayoutId id="2147483813" r:id="rId6"/>
    <p:sldLayoutId id="2147483814" r:id="rId7"/>
    <p:sldLayoutId id="2147483815" r:id="rId8"/>
    <p:sldLayoutId id="2147483816" r:id="rId9"/>
    <p:sldLayoutId id="2147483817" r:id="rId10"/>
    <p:sldLayoutId id="2147483818" r:id="rId11"/>
    <p:sldLayoutId id="2147483819" r:id="rId12"/>
    <p:sldLayoutId id="2147483820" r:id="rId13"/>
    <p:sldLayoutId id="2147483821" r:id="rId14"/>
    <p:sldLayoutId id="2147483822" r:id="rId15"/>
    <p:sldLayoutId id="2147483823" r:id="rId16"/>
    <p:sldLayoutId id="2147483824" r:id="rId17"/>
    <p:sldLayoutId id="2147483825" r:id="rId18"/>
    <p:sldLayoutId id="2147483826" r:id="rId1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AD8C473-19CA-062A-40B5-F4911F96B6C3}"/>
              </a:ext>
            </a:extLst>
          </p:cNvPr>
          <p:cNvGraphicFramePr>
            <a:graphicFrameLocks noChangeAspect="1"/>
          </p:cNvGraphicFramePr>
          <p:nvPr userDrawn="1">
            <p:custDataLst>
              <p:tags r:id="rId13"/>
            </p:custDataLst>
            <p:extLst>
              <p:ext uri="{D42A27DB-BD31-4B8C-83A1-F6EECF244321}">
                <p14:modId xmlns:p14="http://schemas.microsoft.com/office/powerpoint/2010/main" val="221254535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4" imgW="426" imgH="428" progId="TCLayout.ActiveDocument.1">
                  <p:embed/>
                </p:oleObj>
              </mc:Choice>
              <mc:Fallback>
                <p:oleObj name="think-cell Slide" r:id="rId14" imgW="426" imgH="428" progId="TCLayout.ActiveDocument.1">
                  <p:embed/>
                  <p:pic>
                    <p:nvPicPr>
                      <p:cNvPr id="8" name="think-cell data - do not delete" hidden="1">
                        <a:extLst>
                          <a:ext uri="{FF2B5EF4-FFF2-40B4-BE49-F238E27FC236}">
                            <a16:creationId xmlns:a16="http://schemas.microsoft.com/office/drawing/2014/main" id="{EAD8C473-19CA-062A-40B5-F4911F96B6C3}"/>
                          </a:ext>
                        </a:extLst>
                      </p:cNvPr>
                      <p:cNvPicPr/>
                      <p:nvPr/>
                    </p:nvPicPr>
                    <p:blipFill>
                      <a:blip r:embed="rId15"/>
                      <a:stretch>
                        <a:fillRect/>
                      </a:stretch>
                    </p:blipFill>
                    <p:spPr>
                      <a:xfrm>
                        <a:off x="1588" y="1588"/>
                        <a:ext cx="1588" cy="1588"/>
                      </a:xfrm>
                      <a:prstGeom prst="rect">
                        <a:avLst/>
                      </a:prstGeom>
                    </p:spPr>
                  </p:pic>
                </p:oleObj>
              </mc:Fallback>
            </mc:AlternateContent>
          </a:graphicData>
        </a:graphic>
      </p:graphicFrame>
      <p:sp>
        <p:nvSpPr>
          <p:cNvPr id="2" name="Espace réservé du titre 1">
            <a:extLst>
              <a:ext uri="{FF2B5EF4-FFF2-40B4-BE49-F238E27FC236}">
                <a16:creationId xmlns:a16="http://schemas.microsoft.com/office/drawing/2014/main" id="{7F7AFF3E-F139-73E5-FDC5-DCDF62CC4B6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a:extLst>
              <a:ext uri="{FF2B5EF4-FFF2-40B4-BE49-F238E27FC236}">
                <a16:creationId xmlns:a16="http://schemas.microsoft.com/office/drawing/2014/main" id="{8AEE8242-6056-45C5-C49B-6574A33E7D2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2729DF01-C5B1-90A6-A85F-EA9172461F8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7804560-C4E2-4E38-B2E4-F793773D9972}"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A849A6E9-F630-60A2-F22C-068C8015586A}"/>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a:extLst>
              <a:ext uri="{FF2B5EF4-FFF2-40B4-BE49-F238E27FC236}">
                <a16:creationId xmlns:a16="http://schemas.microsoft.com/office/drawing/2014/main" id="{5BBE180A-1003-4918-E8FB-7E300FAAB697}"/>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2278FE1-BAE5-40E1-9857-CFD5D86D2CAC}" type="slidenum">
              <a:rPr lang="fr-FR" smtClean="0"/>
              <a:t>‹N°›</a:t>
            </a:fld>
            <a:endParaRPr lang="fr-FR"/>
          </a:p>
        </p:txBody>
      </p:sp>
    </p:spTree>
    <p:extLst>
      <p:ext uri="{BB962C8B-B14F-4D97-AF65-F5344CB8AC3E}">
        <p14:creationId xmlns:p14="http://schemas.microsoft.com/office/powerpoint/2010/main" val="2948569672"/>
      </p:ext>
    </p:extLst>
  </p:cSld>
  <p:clrMap bg1="lt1" tx1="dk1" bg2="lt2" tx2="dk2" accent1="accent1" accent2="accent2" accent3="accent3" accent4="accent4" accent5="accent5" accent6="accent6" hlink="hlink" folHlink="folHlink"/>
  <p:sldLayoutIdLst>
    <p:sldLayoutId id="2147483796" r:id="rId1"/>
    <p:sldLayoutId id="2147483797" r:id="rId2"/>
    <p:sldLayoutId id="2147483798" r:id="rId3"/>
    <p:sldLayoutId id="2147483799" r:id="rId4"/>
    <p:sldLayoutId id="2147483800" r:id="rId5"/>
    <p:sldLayoutId id="2147483801" r:id="rId6"/>
    <p:sldLayoutId id="2147483802" r:id="rId7"/>
    <p:sldLayoutId id="2147483803" r:id="rId8"/>
    <p:sldLayoutId id="2147483804" r:id="rId9"/>
    <p:sldLayoutId id="2147483805" r:id="rId10"/>
    <p:sldLayoutId id="2147483806"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7D218CED-96F6-14AD-6BF3-6DC73EE27DFD}"/>
              </a:ext>
            </a:extLst>
          </p:cNvPr>
          <p:cNvGraphicFramePr>
            <a:graphicFrameLocks noChangeAspect="1"/>
          </p:cNvGraphicFramePr>
          <p:nvPr userDrawn="1">
            <p:custDataLst>
              <p:tags r:id="rId13"/>
            </p:custDataLst>
            <p:extLst>
              <p:ext uri="{D42A27DB-BD31-4B8C-83A1-F6EECF244321}">
                <p14:modId xmlns:p14="http://schemas.microsoft.com/office/powerpoint/2010/main" val="423488973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4" imgW="426" imgH="428" progId="TCLayout.ActiveDocument.1">
                  <p:embed/>
                </p:oleObj>
              </mc:Choice>
              <mc:Fallback>
                <p:oleObj name="think-cell Slide" r:id="rId14" imgW="426" imgH="428" progId="TCLayout.ActiveDocument.1">
                  <p:embed/>
                  <p:pic>
                    <p:nvPicPr>
                      <p:cNvPr id="8" name="think-cell data - do not delete" hidden="1">
                        <a:extLst>
                          <a:ext uri="{FF2B5EF4-FFF2-40B4-BE49-F238E27FC236}">
                            <a16:creationId xmlns:a16="http://schemas.microsoft.com/office/drawing/2014/main" id="{7D218CED-96F6-14AD-6BF3-6DC73EE27DFD}"/>
                          </a:ext>
                        </a:extLst>
                      </p:cNvPr>
                      <p:cNvPicPr/>
                      <p:nvPr/>
                    </p:nvPicPr>
                    <p:blipFill>
                      <a:blip r:embed="rId15"/>
                      <a:stretch>
                        <a:fillRect/>
                      </a:stretch>
                    </p:blipFill>
                    <p:spPr>
                      <a:xfrm>
                        <a:off x="1588" y="1588"/>
                        <a:ext cx="1588" cy="1588"/>
                      </a:xfrm>
                      <a:prstGeom prst="rect">
                        <a:avLst/>
                      </a:prstGeom>
                    </p:spPr>
                  </p:pic>
                </p:oleObj>
              </mc:Fallback>
            </mc:AlternateContent>
          </a:graphicData>
        </a:graphic>
      </p:graphicFrame>
      <p:sp>
        <p:nvSpPr>
          <p:cNvPr id="2" name="Espace réservé du titre 1">
            <a:extLst>
              <a:ext uri="{FF2B5EF4-FFF2-40B4-BE49-F238E27FC236}">
                <a16:creationId xmlns:a16="http://schemas.microsoft.com/office/drawing/2014/main" id="{C80418FC-C9E6-C4ED-A066-D9F485E21B4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a:extLst>
              <a:ext uri="{FF2B5EF4-FFF2-40B4-BE49-F238E27FC236}">
                <a16:creationId xmlns:a16="http://schemas.microsoft.com/office/drawing/2014/main" id="{58C72DA1-01F0-2352-2145-4528763A8A48}"/>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80AB87B7-F45F-487B-66D7-647490AA379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F2E3FA7-314F-4555-90AC-9B6411DA3631}" type="datetimeFigureOut">
              <a:rPr lang="fr-FR" smtClean="0"/>
              <a:t>12/01/2026</a:t>
            </a:fld>
            <a:endParaRPr lang="fr-FR"/>
          </a:p>
        </p:txBody>
      </p:sp>
      <p:sp>
        <p:nvSpPr>
          <p:cNvPr id="5" name="Espace réservé du pied de page 4">
            <a:extLst>
              <a:ext uri="{FF2B5EF4-FFF2-40B4-BE49-F238E27FC236}">
                <a16:creationId xmlns:a16="http://schemas.microsoft.com/office/drawing/2014/main" id="{54573207-6C5E-99B8-40EC-57032980EDF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a:extLst>
              <a:ext uri="{FF2B5EF4-FFF2-40B4-BE49-F238E27FC236}">
                <a16:creationId xmlns:a16="http://schemas.microsoft.com/office/drawing/2014/main" id="{88CBE210-DBCC-5EEB-4432-2670D7999E3D}"/>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5C054BA-49B0-4935-8296-5DCDC3167D0F}" type="slidenum">
              <a:rPr lang="fr-FR" smtClean="0"/>
              <a:t>‹N°›</a:t>
            </a:fld>
            <a:endParaRPr lang="fr-FR"/>
          </a:p>
        </p:txBody>
      </p:sp>
    </p:spTree>
    <p:extLst>
      <p:ext uri="{BB962C8B-B14F-4D97-AF65-F5344CB8AC3E}">
        <p14:creationId xmlns:p14="http://schemas.microsoft.com/office/powerpoint/2010/main" val="1713511422"/>
      </p:ext>
    </p:extLst>
  </p:cSld>
  <p:clrMap bg1="lt1" tx1="dk1" bg2="lt2" tx2="dk2" accent1="accent1" accent2="accent2" accent3="accent3" accent4="accent4" accent5="accent5" accent6="accent6" hlink="hlink" folHlink="folHlink"/>
  <p:sldLayoutIdLst>
    <p:sldLayoutId id="2147483784" r:id="rId1"/>
    <p:sldLayoutId id="2147483785" r:id="rId2"/>
    <p:sldLayoutId id="2147483786" r:id="rId3"/>
    <p:sldLayoutId id="2147483787" r:id="rId4"/>
    <p:sldLayoutId id="2147483788" r:id="rId5"/>
    <p:sldLayoutId id="2147483789" r:id="rId6"/>
    <p:sldLayoutId id="2147483790" r:id="rId7"/>
    <p:sldLayoutId id="2147483791" r:id="rId8"/>
    <p:sldLayoutId id="2147483792" r:id="rId9"/>
    <p:sldLayoutId id="2147483793" r:id="rId10"/>
    <p:sldLayoutId id="2147483794"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5" name="Objet 4" hidden="1">
            <a:extLst>
              <a:ext uri="{FF2B5EF4-FFF2-40B4-BE49-F238E27FC236}">
                <a16:creationId xmlns:a16="http://schemas.microsoft.com/office/drawing/2014/main" id="{5F3ED921-1614-4D2F-B5B7-83B979415BAD}"/>
              </a:ext>
            </a:extLst>
          </p:cNvPr>
          <p:cNvGraphicFramePr>
            <a:graphicFrameLocks noChangeAspect="1"/>
          </p:cNvGraphicFramePr>
          <p:nvPr userDrawn="1">
            <p:custDataLst>
              <p:tags r:id="rId11"/>
            </p:custDataLst>
            <p:extLst>
              <p:ext uri="{D42A27DB-BD31-4B8C-83A1-F6EECF244321}">
                <p14:modId xmlns:p14="http://schemas.microsoft.com/office/powerpoint/2010/main" val="396082080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2" imgW="498" imgH="499" progId="TCLayout.ActiveDocument.1">
                  <p:embed/>
                </p:oleObj>
              </mc:Choice>
              <mc:Fallback>
                <p:oleObj name="think-cell Slide" r:id="rId12" imgW="498" imgH="499" progId="TCLayout.ActiveDocument.1">
                  <p:embed/>
                  <p:pic>
                    <p:nvPicPr>
                      <p:cNvPr id="5" name="Objet 4" hidden="1">
                        <a:extLst>
                          <a:ext uri="{FF2B5EF4-FFF2-40B4-BE49-F238E27FC236}">
                            <a16:creationId xmlns:a16="http://schemas.microsoft.com/office/drawing/2014/main" id="{5F3ED921-1614-4D2F-B5B7-83B979415BAD}"/>
                          </a:ext>
                        </a:extLst>
                      </p:cNvPr>
                      <p:cNvPicPr/>
                      <p:nvPr/>
                    </p:nvPicPr>
                    <p:blipFill>
                      <a:blip r:embed="rId13"/>
                      <a:stretch>
                        <a:fillRect/>
                      </a:stretch>
                    </p:blipFill>
                    <p:spPr>
                      <a:xfrm>
                        <a:off x="1588" y="1588"/>
                        <a:ext cx="1588" cy="1588"/>
                      </a:xfrm>
                      <a:prstGeom prst="rect">
                        <a:avLst/>
                      </a:prstGeom>
                    </p:spPr>
                  </p:pic>
                </p:oleObj>
              </mc:Fallback>
            </mc:AlternateContent>
          </a:graphicData>
        </a:graphic>
      </p:graphicFrame>
      <p:sp>
        <p:nvSpPr>
          <p:cNvPr id="2" name="Title Placeholder 1">
            <a:extLst>
              <a:ext uri="{FF2B5EF4-FFF2-40B4-BE49-F238E27FC236}">
                <a16:creationId xmlns:a16="http://schemas.microsoft.com/office/drawing/2014/main" id="{61690219-CA9B-5943-A970-13C9C0645FF7}"/>
              </a:ext>
            </a:extLst>
          </p:cNvPr>
          <p:cNvSpPr>
            <a:spLocks noGrp="1"/>
          </p:cNvSpPr>
          <p:nvPr>
            <p:ph type="title"/>
          </p:nvPr>
        </p:nvSpPr>
        <p:spPr>
          <a:xfrm>
            <a:off x="391887" y="365125"/>
            <a:ext cx="11351622" cy="524891"/>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605B130E-7C78-8041-87BE-CF7B135F683A}"/>
              </a:ext>
            </a:extLst>
          </p:cNvPr>
          <p:cNvSpPr>
            <a:spLocks noGrp="1"/>
          </p:cNvSpPr>
          <p:nvPr>
            <p:ph type="body" idx="1"/>
          </p:nvPr>
        </p:nvSpPr>
        <p:spPr>
          <a:xfrm>
            <a:off x="391887" y="1048512"/>
            <a:ext cx="11351617" cy="5128451"/>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Google Shape;20;p39">
            <a:extLst>
              <a:ext uri="{FF2B5EF4-FFF2-40B4-BE49-F238E27FC236}">
                <a16:creationId xmlns:a16="http://schemas.microsoft.com/office/drawing/2014/main" id="{EAD4843C-67CA-054D-8FE8-5436618725FA}"/>
              </a:ext>
            </a:extLst>
          </p:cNvPr>
          <p:cNvSpPr txBox="1">
            <a:spLocks noGrp="1"/>
          </p:cNvSpPr>
          <p:nvPr>
            <p:ph type="sldNum" idx="4"/>
          </p:nvPr>
        </p:nvSpPr>
        <p:spPr>
          <a:xfrm>
            <a:off x="391887" y="6378575"/>
            <a:ext cx="2743200" cy="365125"/>
          </a:xfrm>
          <a:prstGeom prst="rect">
            <a:avLst/>
          </a:prstGeom>
          <a:noFill/>
          <a:ln>
            <a:noFill/>
          </a:ln>
        </p:spPr>
        <p:txBody>
          <a:bodyPr spcFirstLastPara="1" wrap="square" lIns="91425" tIns="45700" rIns="91425" bIns="45700" anchor="ctr" anchorCtr="0">
            <a:noAutofit/>
          </a:bodyPr>
          <a:lstStyle>
            <a:lvl1pPr marL="0" marR="0" lvl="0" indent="0" algn="l" rtl="0">
              <a:spcBef>
                <a:spcPts val="0"/>
              </a:spcBef>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L="0" marR="0" lvl="1" indent="0" algn="l" rtl="0">
              <a:spcBef>
                <a:spcPts val="0"/>
              </a:spcBef>
              <a:buNone/>
              <a:defRPr sz="1200" b="0" i="0" u="none" strike="noStrike" cap="none">
                <a:solidFill>
                  <a:srgbClr val="888888"/>
                </a:solidFill>
                <a:latin typeface="Calibri"/>
                <a:ea typeface="Calibri"/>
                <a:cs typeface="Calibri"/>
                <a:sym typeface="Calibri"/>
              </a:defRPr>
            </a:lvl2pPr>
            <a:lvl3pPr marL="0" marR="0" lvl="2" indent="0" algn="l" rtl="0">
              <a:spcBef>
                <a:spcPts val="0"/>
              </a:spcBef>
              <a:buNone/>
              <a:defRPr sz="1200" b="0" i="0" u="none" strike="noStrike" cap="none">
                <a:solidFill>
                  <a:srgbClr val="888888"/>
                </a:solidFill>
                <a:latin typeface="Calibri"/>
                <a:ea typeface="Calibri"/>
                <a:cs typeface="Calibri"/>
                <a:sym typeface="Calibri"/>
              </a:defRPr>
            </a:lvl3pPr>
            <a:lvl4pPr marL="0" marR="0" lvl="3" indent="0" algn="l" rtl="0">
              <a:spcBef>
                <a:spcPts val="0"/>
              </a:spcBef>
              <a:buNone/>
              <a:defRPr sz="1200" b="0" i="0" u="none" strike="noStrike" cap="none">
                <a:solidFill>
                  <a:srgbClr val="888888"/>
                </a:solidFill>
                <a:latin typeface="Calibri"/>
                <a:ea typeface="Calibri"/>
                <a:cs typeface="Calibri"/>
                <a:sym typeface="Calibri"/>
              </a:defRPr>
            </a:lvl4pPr>
            <a:lvl5pPr marL="0" marR="0" lvl="4" indent="0" algn="l" rtl="0">
              <a:spcBef>
                <a:spcPts val="0"/>
              </a:spcBef>
              <a:buNone/>
              <a:defRPr sz="1200" b="0" i="0" u="none" strike="noStrike" cap="none">
                <a:solidFill>
                  <a:srgbClr val="888888"/>
                </a:solidFill>
                <a:latin typeface="Calibri"/>
                <a:ea typeface="Calibri"/>
                <a:cs typeface="Calibri"/>
                <a:sym typeface="Calibri"/>
              </a:defRPr>
            </a:lvl5pPr>
            <a:lvl6pPr marL="0" marR="0" lvl="5" indent="0" algn="l" rtl="0">
              <a:spcBef>
                <a:spcPts val="0"/>
              </a:spcBef>
              <a:buNone/>
              <a:defRPr sz="1200" b="0" i="0" u="none" strike="noStrike" cap="none">
                <a:solidFill>
                  <a:srgbClr val="888888"/>
                </a:solidFill>
                <a:latin typeface="Calibri"/>
                <a:ea typeface="Calibri"/>
                <a:cs typeface="Calibri"/>
                <a:sym typeface="Calibri"/>
              </a:defRPr>
            </a:lvl6pPr>
            <a:lvl7pPr marL="0" marR="0" lvl="6" indent="0" algn="l" rtl="0">
              <a:spcBef>
                <a:spcPts val="0"/>
              </a:spcBef>
              <a:buNone/>
              <a:defRPr sz="1200" b="0" i="0" u="none" strike="noStrike" cap="none">
                <a:solidFill>
                  <a:srgbClr val="888888"/>
                </a:solidFill>
                <a:latin typeface="Calibri"/>
                <a:ea typeface="Calibri"/>
                <a:cs typeface="Calibri"/>
                <a:sym typeface="Calibri"/>
              </a:defRPr>
            </a:lvl7pPr>
            <a:lvl8pPr marL="0" marR="0" lvl="7" indent="0" algn="l" rtl="0">
              <a:spcBef>
                <a:spcPts val="0"/>
              </a:spcBef>
              <a:buNone/>
              <a:defRPr sz="1200" b="0" i="0" u="none" strike="noStrike" cap="none">
                <a:solidFill>
                  <a:srgbClr val="888888"/>
                </a:solidFill>
                <a:latin typeface="Calibri"/>
                <a:ea typeface="Calibri"/>
                <a:cs typeface="Calibri"/>
                <a:sym typeface="Calibri"/>
              </a:defRPr>
            </a:lvl8pPr>
            <a:lvl9pPr marL="0" marR="0" lvl="8" indent="0" algn="l" rtl="0">
              <a:spcBef>
                <a:spcPts val="0"/>
              </a:spcBef>
              <a:buNone/>
              <a:defRPr sz="1200" b="0" i="0" u="none" strike="noStrike" cap="none">
                <a:solidFill>
                  <a:srgbClr val="888888"/>
                </a:solidFill>
                <a:latin typeface="Calibri"/>
                <a:ea typeface="Calibri"/>
                <a:cs typeface="Calibri"/>
                <a:sym typeface="Calibri"/>
              </a:defRPr>
            </a:lvl9pPr>
          </a:lstStyle>
          <a:p>
            <a:fld id="{00000000-1234-1234-1234-123412341234}" type="slidenum">
              <a:rPr lang="en-US" smtClean="0"/>
              <a:pPr/>
              <a:t>‹N°›</a:t>
            </a:fld>
            <a:endParaRPr lang="en-US"/>
          </a:p>
        </p:txBody>
      </p:sp>
      <p:pic>
        <p:nvPicPr>
          <p:cNvPr id="10" name="Google Shape;23;p39">
            <a:extLst>
              <a:ext uri="{FF2B5EF4-FFF2-40B4-BE49-F238E27FC236}">
                <a16:creationId xmlns:a16="http://schemas.microsoft.com/office/drawing/2014/main" id="{90CCD25C-ADC0-D54E-AF13-8581070AD952}"/>
              </a:ext>
            </a:extLst>
          </p:cNvPr>
          <p:cNvPicPr preferRelativeResize="0"/>
          <p:nvPr userDrawn="1"/>
        </p:nvPicPr>
        <p:blipFill rotWithShape="1">
          <a:blip r:embed="rId14" cstate="screen">
            <a:alphaModFix/>
            <a:extLst>
              <a:ext uri="{28A0092B-C50C-407E-A947-70E740481C1C}">
                <a14:useLocalDpi xmlns:a14="http://schemas.microsoft.com/office/drawing/2010/main"/>
              </a:ext>
            </a:extLst>
          </a:blip>
          <a:srcRect/>
          <a:stretch/>
        </p:blipFill>
        <p:spPr>
          <a:xfrm>
            <a:off x="5866783" y="6325431"/>
            <a:ext cx="458433" cy="432051"/>
          </a:xfrm>
          <a:prstGeom prst="rect">
            <a:avLst/>
          </a:prstGeom>
          <a:noFill/>
          <a:ln>
            <a:noFill/>
          </a:ln>
        </p:spPr>
      </p:pic>
      <p:sp>
        <p:nvSpPr>
          <p:cNvPr id="13" name="Google Shape;18;p39">
            <a:extLst>
              <a:ext uri="{FF2B5EF4-FFF2-40B4-BE49-F238E27FC236}">
                <a16:creationId xmlns:a16="http://schemas.microsoft.com/office/drawing/2014/main" id="{B506D1A7-2EF6-4E14-BC8B-70EAF55B86C9}"/>
              </a:ext>
            </a:extLst>
          </p:cNvPr>
          <p:cNvSpPr txBox="1">
            <a:spLocks noGrp="1"/>
          </p:cNvSpPr>
          <p:nvPr>
            <p:ph type="dt" idx="2"/>
          </p:nvPr>
        </p:nvSpPr>
        <p:spPr>
          <a:xfrm>
            <a:off x="8749293" y="6358895"/>
            <a:ext cx="1634833" cy="365125"/>
          </a:xfrm>
          <a:prstGeom prst="rect">
            <a:avLst/>
          </a:prstGeom>
          <a:noFill/>
          <a:ln>
            <a:noFill/>
          </a:ln>
        </p:spPr>
        <p:txBody>
          <a:bodyPr spcFirstLastPara="1" wrap="square" lIns="91425" tIns="45700" rIns="91425" bIns="45700" anchor="ctr" anchorCtr="0">
            <a:noAutofit/>
          </a:bodyPr>
          <a:lstStyle>
            <a:lvl1pPr marR="0" lvl="0" algn="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fld id="{5C6FB74E-5068-4EDC-BB86-77370937BB9A}" type="datetime1">
              <a:rPr lang="fr-FR" smtClean="0"/>
              <a:t>12/01/2026</a:t>
            </a:fld>
            <a:endParaRPr lang="fr-FR"/>
          </a:p>
        </p:txBody>
      </p:sp>
      <p:sp>
        <p:nvSpPr>
          <p:cNvPr id="14" name="Google Shape;19;p39">
            <a:extLst>
              <a:ext uri="{FF2B5EF4-FFF2-40B4-BE49-F238E27FC236}">
                <a16:creationId xmlns:a16="http://schemas.microsoft.com/office/drawing/2014/main" id="{60EC1D00-B434-48A5-98E0-8EA47C25CC55}"/>
              </a:ext>
            </a:extLst>
          </p:cNvPr>
          <p:cNvSpPr txBox="1">
            <a:spLocks noGrp="1"/>
          </p:cNvSpPr>
          <p:nvPr>
            <p:ph type="ftr" idx="3"/>
          </p:nvPr>
        </p:nvSpPr>
        <p:spPr>
          <a:xfrm>
            <a:off x="10516530" y="6358895"/>
            <a:ext cx="1226974"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B9C1D3"/>
                </a:solidFill>
                <a:latin typeface="Verdana" panose="020B0604030504040204" pitchFamily="34" charset="0"/>
                <a:ea typeface="Verdana" panose="020B0604030504040204" pitchFamily="34" charset="0"/>
                <a:cs typeface="Verdana" panose="020B0604030504040204" pitchFamily="34" charset="0"/>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r>
              <a:rPr lang="en-US"/>
              <a:t>Confidential</a:t>
            </a:r>
          </a:p>
        </p:txBody>
      </p:sp>
      <p:cxnSp>
        <p:nvCxnSpPr>
          <p:cNvPr id="15" name="Straight Connector 14">
            <a:extLst>
              <a:ext uri="{FF2B5EF4-FFF2-40B4-BE49-F238E27FC236}">
                <a16:creationId xmlns:a16="http://schemas.microsoft.com/office/drawing/2014/main" id="{EBEA40CB-9CAD-4311-AB30-CBB54B1C6DCE}"/>
              </a:ext>
            </a:extLst>
          </p:cNvPr>
          <p:cNvCxnSpPr/>
          <p:nvPr userDrawn="1"/>
        </p:nvCxnSpPr>
        <p:spPr>
          <a:xfrm>
            <a:off x="10465730" y="6364020"/>
            <a:ext cx="0" cy="360000"/>
          </a:xfrm>
          <a:prstGeom prst="line">
            <a:avLst/>
          </a:prstGeom>
          <a:ln>
            <a:solidFill>
              <a:srgbClr val="B9C1D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6100083"/>
      </p:ext>
    </p:extLst>
  </p:cSld>
  <p:clrMap bg1="lt1" tx1="dk1" bg2="lt2" tx2="dk2" accent1="accent1" accent2="accent2" accent3="accent3" accent4="accent4" accent5="accent5" accent6="accent6" hlink="hlink" folHlink="folHlink"/>
  <p:sldLayoutIdLst>
    <p:sldLayoutId id="2147483770" r:id="rId1"/>
    <p:sldLayoutId id="2147483771" r:id="rId2"/>
    <p:sldLayoutId id="2147483772" r:id="rId3"/>
    <p:sldLayoutId id="2147483773" r:id="rId4"/>
    <p:sldLayoutId id="2147483774" r:id="rId5"/>
    <p:sldLayoutId id="2147483775" r:id="rId6"/>
    <p:sldLayoutId id="2147483776" r:id="rId7"/>
    <p:sldLayoutId id="2147483777" r:id="rId8"/>
    <p:sldLayoutId id="2147483778" r:id="rId9"/>
  </p:sldLayoutIdLst>
  <p:hf hdr="0"/>
  <p:txStyles>
    <p:titleStyle>
      <a:lvl1pPr algn="l" defTabSz="914400" rtl="0" eaLnBrk="1" latinLnBrk="0" hangingPunct="1">
        <a:lnSpc>
          <a:spcPct val="90000"/>
        </a:lnSpc>
        <a:spcBef>
          <a:spcPct val="0"/>
        </a:spcBef>
        <a:buNone/>
        <a:defRPr sz="2000" b="1" kern="1200">
          <a:solidFill>
            <a:srgbClr val="3E7888"/>
          </a:solidFill>
          <a:latin typeface="Verdana" panose="020B0604030504040204" pitchFamily="34" charset="0"/>
          <a:ea typeface="Verdana" panose="020B0604030504040204" pitchFamily="34" charset="0"/>
          <a:cs typeface="Verdana" panose="020B060403050404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Verdana" panose="020B0604030504040204" pitchFamily="34" charset="0"/>
          <a:ea typeface="Verdana" panose="020B0604030504040204" pitchFamily="34" charset="0"/>
          <a:cs typeface="Verdan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208">
          <p15:clr>
            <a:srgbClr val="F26B43"/>
          </p15:clr>
        </p15:guide>
        <p15:guide id="2" pos="3840">
          <p15:clr>
            <a:srgbClr val="F26B43"/>
          </p15:clr>
        </p15:guide>
        <p15:guide id="3" pos="7584">
          <p15:clr>
            <a:srgbClr val="F26B43"/>
          </p15:clr>
        </p15:guide>
        <p15:guide id="4" pos="96">
          <p15:clr>
            <a:srgbClr val="F26B43"/>
          </p15:clr>
        </p15:guide>
        <p15:guide id="5" orient="horz" pos="4248">
          <p15:clr>
            <a:srgbClr val="F26B43"/>
          </p15:clr>
        </p15:guide>
        <p15:guide id="6" orient="horz" pos="72">
          <p15:clr>
            <a:srgbClr val="F26B43"/>
          </p15:clr>
        </p15:guide>
        <p15:guide id="7" pos="7416">
          <p15:clr>
            <a:srgbClr val="F26B43"/>
          </p15:clr>
        </p15:guide>
        <p15:guide id="8" pos="240">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lumMod val="95000"/>
          </a:schemeClr>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CB4014D5-5931-1D49-888A-F5254344328A}"/>
              </a:ext>
            </a:extLst>
          </p:cNvPr>
          <p:cNvGraphicFramePr>
            <a:graphicFrameLocks noChangeAspect="1"/>
          </p:cNvGraphicFramePr>
          <p:nvPr userDrawn="1">
            <p:custDataLst>
              <p:tags r:id="rId20"/>
            </p:custDataLst>
            <p:extLst>
              <p:ext uri="{D42A27DB-BD31-4B8C-83A1-F6EECF244321}">
                <p14:modId xmlns:p14="http://schemas.microsoft.com/office/powerpoint/2010/main" val="2895403192"/>
              </p:ext>
            </p:ext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21" imgW="7772400" imgH="10058400" progId="TCLayout.ActiveDocument.1">
                  <p:embed/>
                </p:oleObj>
              </mc:Choice>
              <mc:Fallback>
                <p:oleObj name="think-cell Slide" r:id="rId21" imgW="7772400" imgH="10058400" progId="TCLayout.ActiveDocument.1">
                  <p:embed/>
                  <p:pic>
                    <p:nvPicPr>
                      <p:cNvPr id="2" name="Object 1" hidden="1">
                        <a:extLst>
                          <a:ext uri="{FF2B5EF4-FFF2-40B4-BE49-F238E27FC236}">
                            <a16:creationId xmlns:a16="http://schemas.microsoft.com/office/drawing/2014/main" id="{CB4014D5-5931-1D49-888A-F5254344328A}"/>
                          </a:ext>
                        </a:extLst>
                      </p:cNvPr>
                      <p:cNvPicPr/>
                      <p:nvPr/>
                    </p:nvPicPr>
                    <p:blipFill>
                      <a:blip r:embed="rId22"/>
                      <a:stretch>
                        <a:fillRect/>
                      </a:stretch>
                    </p:blipFill>
                    <p:spPr>
                      <a:xfrm>
                        <a:off x="1588" y="1588"/>
                        <a:ext cx="1227" cy="1588"/>
                      </a:xfrm>
                      <a:prstGeom prst="rect">
                        <a:avLst/>
                      </a:prstGeom>
                    </p:spPr>
                  </p:pic>
                </p:oleObj>
              </mc:Fallback>
            </mc:AlternateContent>
          </a:graphicData>
        </a:graphic>
      </p:graphicFrame>
      <p:sp>
        <p:nvSpPr>
          <p:cNvPr id="16" name="ZoneTexte 7">
            <a:extLst>
              <a:ext uri="{FF2B5EF4-FFF2-40B4-BE49-F238E27FC236}">
                <a16:creationId xmlns:a16="http://schemas.microsoft.com/office/drawing/2014/main" id="{90517A11-D876-4B42-85EB-6440A60FC80A}"/>
              </a:ext>
            </a:extLst>
          </p:cNvPr>
          <p:cNvSpPr txBox="1"/>
          <p:nvPr userDrawn="1"/>
        </p:nvSpPr>
        <p:spPr>
          <a:xfrm>
            <a:off x="592711" y="6395153"/>
            <a:ext cx="1499128" cy="276999"/>
          </a:xfrm>
          <a:prstGeom prst="rect">
            <a:avLst/>
          </a:prstGeom>
          <a:noFill/>
        </p:spPr>
        <p:txBody>
          <a:bodyPr wrap="none" rtlCol="0" anchor="ctr">
            <a:spAutoFit/>
          </a:bodyPr>
          <a:lstStyle/>
          <a:p>
            <a:r>
              <a:rPr lang="en-GB" sz="1200" b="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a:t>
            </a:r>
            <a:r>
              <a:rPr lang="en-GB" sz="1200" b="1"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 </a:t>
            </a:r>
            <a:r>
              <a:rPr lang="en-GB" sz="120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Strictly confidential</a:t>
            </a:r>
          </a:p>
        </p:txBody>
      </p:sp>
      <p:sp>
        <p:nvSpPr>
          <p:cNvPr id="18" name="ZoneTexte 7">
            <a:extLst>
              <a:ext uri="{FF2B5EF4-FFF2-40B4-BE49-F238E27FC236}">
                <a16:creationId xmlns:a16="http://schemas.microsoft.com/office/drawing/2014/main" id="{44F9DC56-4957-5748-85A9-2CF03BA27D69}"/>
              </a:ext>
            </a:extLst>
          </p:cNvPr>
          <p:cNvSpPr txBox="1"/>
          <p:nvPr userDrawn="1"/>
        </p:nvSpPr>
        <p:spPr>
          <a:xfrm>
            <a:off x="3878792" y="6395153"/>
            <a:ext cx="4965651" cy="276999"/>
          </a:xfrm>
          <a:prstGeom prst="rect">
            <a:avLst/>
          </a:prstGeom>
          <a:noFill/>
        </p:spPr>
        <p:txBody>
          <a:bodyPr wrap="square" rtlCol="0" anchor="ctr">
            <a:spAutoFit/>
          </a:bodyPr>
          <a:lstStyle/>
          <a:p>
            <a:pPr algn="ctr" rtl="0"/>
            <a:r>
              <a:rPr lang="en-GB" sz="1200" noProof="0">
                <a:solidFill>
                  <a:prstClr val="black">
                    <a:tint val="75000"/>
                  </a:prstClr>
                </a:solidFill>
                <a:latin typeface="Calibri" panose="020F0502020204030204" pitchFamily="34" charset="0"/>
                <a:ea typeface="Roboto" panose="02000000000000000000" pitchFamily="2" charset="0"/>
                <a:cs typeface="Calibri" panose="020F0502020204030204" pitchFamily="34" charset="0"/>
              </a:rPr>
              <a:t>IRRBB Methodology</a:t>
            </a:r>
          </a:p>
        </p:txBody>
      </p:sp>
      <p:sp>
        <p:nvSpPr>
          <p:cNvPr id="19" name="ZoneTexte 7">
            <a:extLst>
              <a:ext uri="{FF2B5EF4-FFF2-40B4-BE49-F238E27FC236}">
                <a16:creationId xmlns:a16="http://schemas.microsoft.com/office/drawing/2014/main" id="{9A2B92D7-C801-2745-A2F6-E1D3A52B4ABB}"/>
              </a:ext>
            </a:extLst>
          </p:cNvPr>
          <p:cNvSpPr txBox="1"/>
          <p:nvPr userDrawn="1"/>
        </p:nvSpPr>
        <p:spPr>
          <a:xfrm>
            <a:off x="233085" y="6395153"/>
            <a:ext cx="458780" cy="276999"/>
          </a:xfrm>
          <a:prstGeom prst="rect">
            <a:avLst/>
          </a:prstGeom>
          <a:noFill/>
        </p:spPr>
        <p:txBody>
          <a:bodyPr wrap="none" rtlCol="0" anchor="ctr">
            <a:spAutoFit/>
          </a:bodyPr>
          <a:lstStyle/>
          <a:p>
            <a:fld id="{E9B0AB11-93FE-46B5-A744-5A729A269390}" type="slidenum">
              <a:rPr lang="en-GB" sz="1200" smtClean="0">
                <a:solidFill>
                  <a:schemeClr val="bg1">
                    <a:lumMod val="50000"/>
                  </a:schemeClr>
                </a:solidFill>
                <a:latin typeface="Calibri" panose="020F0502020204030204" pitchFamily="34" charset="0"/>
                <a:cs typeface="Calibri" panose="020F0502020204030204" pitchFamily="34" charset="0"/>
              </a:rPr>
              <a:pPr/>
              <a:t>‹N°›</a:t>
            </a:fld>
            <a:endParaRPr lang="en-GB" sz="120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endParaRPr>
          </a:p>
        </p:txBody>
      </p:sp>
      <p:pic>
        <p:nvPicPr>
          <p:cNvPr id="3" name="Image 2" descr="Une image contenant texte&#10;&#10;Description générée automatiquement">
            <a:extLst>
              <a:ext uri="{FF2B5EF4-FFF2-40B4-BE49-F238E27FC236}">
                <a16:creationId xmlns:a16="http://schemas.microsoft.com/office/drawing/2014/main" id="{6DD5FD66-43BC-610B-0335-FFDD589BF87A}"/>
              </a:ext>
            </a:extLst>
          </p:cNvPr>
          <p:cNvPicPr>
            <a:picLocks noChangeAspect="1"/>
          </p:cNvPicPr>
          <p:nvPr userDrawn="1"/>
        </p:nvPicPr>
        <p:blipFill>
          <a:blip r:embed="rId23"/>
          <a:stretch>
            <a:fillRect/>
          </a:stretch>
        </p:blipFill>
        <p:spPr>
          <a:xfrm>
            <a:off x="9706775" y="6151418"/>
            <a:ext cx="2342260" cy="640807"/>
          </a:xfrm>
          <a:prstGeom prst="rect">
            <a:avLst/>
          </a:prstGeom>
        </p:spPr>
      </p:pic>
    </p:spTree>
    <p:extLst>
      <p:ext uri="{BB962C8B-B14F-4D97-AF65-F5344CB8AC3E}">
        <p14:creationId xmlns:p14="http://schemas.microsoft.com/office/powerpoint/2010/main" val="2707461280"/>
      </p:ext>
    </p:extLst>
  </p:cSld>
  <p:clrMap bg1="lt1" tx1="dk1" bg2="lt2" tx2="dk2" accent1="accent1" accent2="accent2" accent3="accent3" accent4="accent4" accent5="accent5" accent6="accent6" hlink="hlink" folHlink="folHlink"/>
  <p:sldLayoutIdLst>
    <p:sldLayoutId id="2147483828" r:id="rId1"/>
    <p:sldLayoutId id="2147483829" r:id="rId2"/>
    <p:sldLayoutId id="2147483830" r:id="rId3"/>
    <p:sldLayoutId id="2147483831" r:id="rId4"/>
    <p:sldLayoutId id="2147483832" r:id="rId5"/>
    <p:sldLayoutId id="2147483833" r:id="rId6"/>
    <p:sldLayoutId id="2147483834" r:id="rId7"/>
    <p:sldLayoutId id="2147483835" r:id="rId8"/>
    <p:sldLayoutId id="2147483836" r:id="rId9"/>
    <p:sldLayoutId id="2147483837" r:id="rId10"/>
    <p:sldLayoutId id="2147483838" r:id="rId11"/>
    <p:sldLayoutId id="2147483839" r:id="rId12"/>
    <p:sldLayoutId id="2147483840" r:id="rId13"/>
    <p:sldLayoutId id="2147483841" r:id="rId14"/>
    <p:sldLayoutId id="2147483842" r:id="rId15"/>
    <p:sldLayoutId id="2147483843" r:id="rId16"/>
    <p:sldLayoutId id="2147483844" r:id="rId17"/>
    <p:sldLayoutId id="2147483845"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bwMode="gray">
          <a:xfrm>
            <a:off x="305400" y="260649"/>
            <a:ext cx="11581200" cy="936104"/>
          </a:xfrm>
          <a:prstGeom prst="rect">
            <a:avLst/>
          </a:prstGeom>
        </p:spPr>
        <p:txBody>
          <a:bodyPr vert="horz" lIns="0" tIns="0" rIns="0" bIns="0" rtlCol="0" anchor="t" anchorCtr="0">
            <a:normAutofit/>
          </a:bodyPr>
          <a:lstStyle/>
          <a:p>
            <a:r>
              <a:rPr lang="fr-FR" noProof="0"/>
              <a:t>Titre</a:t>
            </a:r>
          </a:p>
        </p:txBody>
      </p:sp>
      <p:sp>
        <p:nvSpPr>
          <p:cNvPr id="3" name="Espace réservé du texte 2"/>
          <p:cNvSpPr>
            <a:spLocks noGrp="1"/>
          </p:cNvSpPr>
          <p:nvPr>
            <p:ph type="body" idx="1"/>
          </p:nvPr>
        </p:nvSpPr>
        <p:spPr bwMode="gray">
          <a:xfrm>
            <a:off x="305400" y="1817742"/>
            <a:ext cx="11581200" cy="4320000"/>
          </a:xfrm>
          <a:prstGeom prst="rect">
            <a:avLst/>
          </a:prstGeom>
        </p:spPr>
        <p:txBody>
          <a:bodyPr vert="horz" lIns="0" tIns="0" rIns="0" bIns="0" rtlCol="0" anchor="t" anchorCtr="0">
            <a:normAutofit/>
          </a:bodyPr>
          <a:lstStyle/>
          <a:p>
            <a:pPr lvl="0"/>
            <a:r>
              <a:rPr lang="fr-FR" noProof="0"/>
              <a:t>Texte de niveau 1</a:t>
            </a:r>
          </a:p>
          <a:p>
            <a:pPr lvl="1"/>
            <a:r>
              <a:rPr lang="fr-FR" noProof="0"/>
              <a:t>Texte de niveau 2</a:t>
            </a:r>
          </a:p>
          <a:p>
            <a:pPr lvl="2"/>
            <a:r>
              <a:rPr lang="fr-FR" noProof="0"/>
              <a:t>Texte de niveau 3</a:t>
            </a:r>
          </a:p>
          <a:p>
            <a:pPr lvl="3"/>
            <a:r>
              <a:rPr lang="fr-FR" noProof="0"/>
              <a:t>Texte de niveau 4</a:t>
            </a:r>
          </a:p>
        </p:txBody>
      </p:sp>
      <p:sp>
        <p:nvSpPr>
          <p:cNvPr id="4" name="Espace réservé de la date 3"/>
          <p:cNvSpPr>
            <a:spLocks noGrp="1"/>
          </p:cNvSpPr>
          <p:nvPr>
            <p:ph type="dt" sz="half" idx="2"/>
          </p:nvPr>
        </p:nvSpPr>
        <p:spPr bwMode="gray">
          <a:xfrm>
            <a:off x="4072240" y="6391792"/>
            <a:ext cx="2286254" cy="466210"/>
          </a:xfrm>
          <a:prstGeom prst="rect">
            <a:avLst/>
          </a:prstGeom>
        </p:spPr>
        <p:txBody>
          <a:bodyPr vert="horz" lIns="0" tIns="0" rIns="0" bIns="0" rtlCol="0" anchor="ctr" anchorCtr="0">
            <a:noAutofit/>
          </a:bodyPr>
          <a:lstStyle>
            <a:lvl1pPr algn="l">
              <a:defRPr sz="1000" b="0">
                <a:solidFill>
                  <a:schemeClr val="tx2"/>
                </a:solidFill>
                <a:latin typeface="+mn-lt"/>
              </a:defRPr>
            </a:lvl1pPr>
          </a:lstStyle>
          <a:p>
            <a:r>
              <a:rPr lang="fr-FR"/>
              <a:t>04/10/2024</a:t>
            </a:r>
          </a:p>
        </p:txBody>
      </p:sp>
      <p:sp>
        <p:nvSpPr>
          <p:cNvPr id="5" name="Espace réservé du pied de page 4"/>
          <p:cNvSpPr>
            <a:spLocks noGrp="1"/>
          </p:cNvSpPr>
          <p:nvPr>
            <p:ph type="ftr" sz="quarter" idx="3"/>
          </p:nvPr>
        </p:nvSpPr>
        <p:spPr bwMode="gray">
          <a:xfrm>
            <a:off x="6492044" y="6391792"/>
            <a:ext cx="4788532" cy="466210"/>
          </a:xfrm>
          <a:prstGeom prst="rect">
            <a:avLst/>
          </a:prstGeom>
        </p:spPr>
        <p:txBody>
          <a:bodyPr vert="horz" lIns="0" tIns="0" rIns="0" bIns="0" rtlCol="0" anchor="ctr" anchorCtr="0">
            <a:noAutofit/>
          </a:bodyPr>
          <a:lstStyle>
            <a:lvl1pPr algn="ctr">
              <a:defRPr sz="1000" b="0">
                <a:solidFill>
                  <a:schemeClr val="tx2"/>
                </a:solidFill>
                <a:latin typeface="+mn-lt"/>
              </a:defRPr>
            </a:lvl1pPr>
          </a:lstStyle>
          <a:p>
            <a:endParaRPr lang="fr-FR"/>
          </a:p>
        </p:txBody>
      </p:sp>
      <p:sp>
        <p:nvSpPr>
          <p:cNvPr id="6" name="Espace réservé du numéro de diapositive 5"/>
          <p:cNvSpPr>
            <a:spLocks noGrp="1"/>
          </p:cNvSpPr>
          <p:nvPr>
            <p:ph type="sldNum" sz="quarter" idx="4"/>
          </p:nvPr>
        </p:nvSpPr>
        <p:spPr bwMode="gray">
          <a:xfrm>
            <a:off x="11388588" y="6391792"/>
            <a:ext cx="498012" cy="466209"/>
          </a:xfrm>
          <a:prstGeom prst="rect">
            <a:avLst/>
          </a:prstGeom>
        </p:spPr>
        <p:txBody>
          <a:bodyPr vert="horz" lIns="0" tIns="0" rIns="0" bIns="0" rtlCol="0" anchor="ctr" anchorCtr="0">
            <a:noAutofit/>
          </a:bodyPr>
          <a:lstStyle>
            <a:lvl1pPr algn="r">
              <a:defRPr sz="1000" b="0">
                <a:solidFill>
                  <a:schemeClr val="tx2"/>
                </a:solidFill>
                <a:latin typeface="+mn-lt"/>
              </a:defRPr>
            </a:lvl1pPr>
          </a:lstStyle>
          <a:p>
            <a:fld id="{47836B8D-228F-4EE0-A684-33707F12BC77}" type="slidenum">
              <a:rPr lang="fr-FR" smtClean="0"/>
              <a:t>‹N°›</a:t>
            </a:fld>
            <a:endParaRPr lang="fr-FR"/>
          </a:p>
        </p:txBody>
      </p:sp>
      <p:sp>
        <p:nvSpPr>
          <p:cNvPr id="8" name="ZoneTexte 7">
            <a:extLst>
              <a:ext uri="{FF2B5EF4-FFF2-40B4-BE49-F238E27FC236}">
                <a16:creationId xmlns:a16="http://schemas.microsoft.com/office/drawing/2014/main" id="{91116D8B-D1A1-21AB-EADF-7775C769449E}"/>
              </a:ext>
            </a:extLst>
          </p:cNvPr>
          <p:cNvSpPr txBox="1"/>
          <p:nvPr>
            <p:extLst>
              <p:ext uri="{1162E1C5-73C7-4A58-AE30-91384D911F3F}">
                <p184:classification xmlns:p184="http://schemas.microsoft.com/office/powerpoint/2018/4/main" val="ftr"/>
              </p:ext>
            </p:extLst>
          </p:nvPr>
        </p:nvSpPr>
        <p:spPr>
          <a:xfrm>
            <a:off x="63500" y="6642100"/>
            <a:ext cx="1339850" cy="152400"/>
          </a:xfrm>
          <a:prstGeom prst="rect">
            <a:avLst/>
          </a:prstGeom>
        </p:spPr>
        <p:txBody>
          <a:bodyPr horzOverflow="overflow" lIns="0" tIns="0" rIns="0" bIns="0">
            <a:spAutoFit/>
          </a:bodyPr>
          <a:lstStyle/>
          <a:p>
            <a:pPr algn="l"/>
            <a:r>
              <a:rPr lang="fr-FR" sz="1000">
                <a:solidFill>
                  <a:srgbClr val="000000"/>
                </a:solidFill>
                <a:latin typeface="Calibri" panose="020F0502020204030204" pitchFamily="34" charset="0"/>
                <a:ea typeface="Calibri" panose="020F0502020204030204" pitchFamily="34" charset="0"/>
                <a:cs typeface="Calibri" panose="020F0502020204030204" pitchFamily="34" charset="0"/>
              </a:rPr>
              <a:t>C1. Informations internes</a:t>
            </a:r>
          </a:p>
        </p:txBody>
      </p:sp>
      <p:pic>
        <p:nvPicPr>
          <p:cNvPr id="11" name="Image 10" descr="Une image contenant Police, Graphique, capture d’écran, logo&#10;&#10;Description générée automatiquement">
            <a:extLst>
              <a:ext uri="{FF2B5EF4-FFF2-40B4-BE49-F238E27FC236}">
                <a16:creationId xmlns:a16="http://schemas.microsoft.com/office/drawing/2014/main" id="{E849B634-CEEC-712E-7F73-FCE7A605A242}"/>
              </a:ext>
            </a:extLst>
          </p:cNvPr>
          <p:cNvPicPr>
            <a:picLocks noChangeAspect="1"/>
          </p:cNvPicPr>
          <p:nvPr/>
        </p:nvPicPr>
        <p:blipFill>
          <a:blip r:embed="rId61"/>
          <a:stretch>
            <a:fillRect/>
          </a:stretch>
        </p:blipFill>
        <p:spPr>
          <a:xfrm>
            <a:off x="191344" y="6157729"/>
            <a:ext cx="2253137" cy="700271"/>
          </a:xfrm>
          <a:prstGeom prst="rect">
            <a:avLst/>
          </a:prstGeom>
        </p:spPr>
      </p:pic>
    </p:spTree>
    <p:extLst>
      <p:ext uri="{BB962C8B-B14F-4D97-AF65-F5344CB8AC3E}">
        <p14:creationId xmlns:p14="http://schemas.microsoft.com/office/powerpoint/2010/main" val="4027539988"/>
      </p:ext>
    </p:extLst>
  </p:cSld>
  <p:clrMap bg1="lt1" tx1="dk1" bg2="lt2" tx2="dk2" accent1="accent1" accent2="accent2" accent3="accent3" accent4="accent4" accent5="accent5" accent6="accent6" hlink="hlink" folHlink="folHlink"/>
  <p:sldLayoutIdLst>
    <p:sldLayoutId id="2147483887" r:id="rId1"/>
    <p:sldLayoutId id="2147483888" r:id="rId2"/>
    <p:sldLayoutId id="2147483889" r:id="rId3"/>
    <p:sldLayoutId id="2147483890" r:id="rId4"/>
    <p:sldLayoutId id="2147483891" r:id="rId5"/>
    <p:sldLayoutId id="2147483892" r:id="rId6"/>
    <p:sldLayoutId id="2147483893" r:id="rId7"/>
    <p:sldLayoutId id="2147483894" r:id="rId8"/>
    <p:sldLayoutId id="2147483895" r:id="rId9"/>
    <p:sldLayoutId id="2147483896" r:id="rId10"/>
    <p:sldLayoutId id="2147483897" r:id="rId11"/>
    <p:sldLayoutId id="2147483898" r:id="rId12"/>
    <p:sldLayoutId id="2147483899" r:id="rId13"/>
    <p:sldLayoutId id="2147483900" r:id="rId14"/>
    <p:sldLayoutId id="2147483901" r:id="rId15"/>
    <p:sldLayoutId id="2147483902" r:id="rId16"/>
    <p:sldLayoutId id="2147483903" r:id="rId17"/>
    <p:sldLayoutId id="2147483904" r:id="rId18"/>
    <p:sldLayoutId id="2147483905" r:id="rId19"/>
    <p:sldLayoutId id="2147483906" r:id="rId20"/>
    <p:sldLayoutId id="2147483907" r:id="rId21"/>
    <p:sldLayoutId id="2147483908" r:id="rId22"/>
    <p:sldLayoutId id="2147483909" r:id="rId23"/>
    <p:sldLayoutId id="2147483910" r:id="rId24"/>
    <p:sldLayoutId id="2147483911" r:id="rId25"/>
    <p:sldLayoutId id="2147483912" r:id="rId26"/>
    <p:sldLayoutId id="2147483913" r:id="rId27"/>
    <p:sldLayoutId id="2147483914" r:id="rId28"/>
    <p:sldLayoutId id="2147483915" r:id="rId29"/>
    <p:sldLayoutId id="2147483916" r:id="rId30"/>
    <p:sldLayoutId id="2147483917" r:id="rId31"/>
    <p:sldLayoutId id="2147483918" r:id="rId32"/>
    <p:sldLayoutId id="2147483919" r:id="rId33"/>
    <p:sldLayoutId id="2147483920" r:id="rId34"/>
    <p:sldLayoutId id="2147483921" r:id="rId35"/>
    <p:sldLayoutId id="2147483922" r:id="rId36"/>
    <p:sldLayoutId id="2147483923" r:id="rId37"/>
    <p:sldLayoutId id="2147483924" r:id="rId38"/>
    <p:sldLayoutId id="2147483925" r:id="rId39"/>
    <p:sldLayoutId id="2147483926" r:id="rId40"/>
    <p:sldLayoutId id="2147483927" r:id="rId41"/>
    <p:sldLayoutId id="2147483928" r:id="rId42"/>
    <p:sldLayoutId id="2147483929" r:id="rId43"/>
    <p:sldLayoutId id="2147483930" r:id="rId44"/>
    <p:sldLayoutId id="2147483932" r:id="rId45"/>
    <p:sldLayoutId id="2147483933" r:id="rId46"/>
    <p:sldLayoutId id="2147483934" r:id="rId47"/>
    <p:sldLayoutId id="2147483935" r:id="rId48"/>
    <p:sldLayoutId id="2147483936" r:id="rId49"/>
    <p:sldLayoutId id="2147483937" r:id="rId50"/>
    <p:sldLayoutId id="2147483938" r:id="rId51"/>
    <p:sldLayoutId id="2147483939" r:id="rId52"/>
    <p:sldLayoutId id="2147483940" r:id="rId53"/>
    <p:sldLayoutId id="2147483941" r:id="rId54"/>
    <p:sldLayoutId id="2147483943" r:id="rId55"/>
    <p:sldLayoutId id="2147483946" r:id="rId56"/>
    <p:sldLayoutId id="2147483949" r:id="rId57"/>
    <p:sldLayoutId id="2147483952" r:id="rId58"/>
    <p:sldLayoutId id="2147483953" r:id="rId59"/>
  </p:sldLayoutIdLst>
  <p:txStyles>
    <p:titleStyle>
      <a:lvl1pPr algn="l" defTabSz="1219170" rtl="0" eaLnBrk="1" latinLnBrk="0" hangingPunct="1">
        <a:lnSpc>
          <a:spcPct val="100000"/>
        </a:lnSpc>
        <a:spcBef>
          <a:spcPct val="0"/>
        </a:spcBef>
        <a:buNone/>
        <a:defRPr sz="2800" b="0" kern="1200">
          <a:solidFill>
            <a:schemeClr val="tx2"/>
          </a:solidFill>
          <a:latin typeface="+mj-lt"/>
          <a:ea typeface="+mj-ea"/>
          <a:cs typeface="+mj-cs"/>
        </a:defRPr>
      </a:lvl1pPr>
    </p:titleStyle>
    <p:bodyStyle>
      <a:lvl1pPr marL="522288" indent="-342900" algn="l" defTabSz="1219170" rtl="0" eaLnBrk="1" latinLnBrk="0" hangingPunct="1">
        <a:lnSpc>
          <a:spcPct val="100000"/>
        </a:lnSpc>
        <a:spcBef>
          <a:spcPts val="0"/>
        </a:spcBef>
        <a:spcAft>
          <a:spcPts val="2300"/>
        </a:spcAft>
        <a:buFont typeface="Quicksand" panose="00000500000000000000" pitchFamily="2" charset="0"/>
        <a:buChar char="―"/>
        <a:defRPr sz="2000" kern="1200">
          <a:solidFill>
            <a:schemeClr val="tx2"/>
          </a:solidFill>
          <a:latin typeface="+mn-lt"/>
          <a:ea typeface="+mn-ea"/>
          <a:cs typeface="+mn-cs"/>
        </a:defRPr>
      </a:lvl1pPr>
      <a:lvl2pPr marL="990000" indent="-234000" algn="l" defTabSz="1219170" rtl="0" eaLnBrk="1" latinLnBrk="0" hangingPunct="1">
        <a:lnSpc>
          <a:spcPct val="100000"/>
        </a:lnSpc>
        <a:spcBef>
          <a:spcPts val="0"/>
        </a:spcBef>
        <a:spcAft>
          <a:spcPts val="1200"/>
        </a:spcAft>
        <a:buFont typeface="Quicksand" panose="00000500000000000000" pitchFamily="2" charset="0"/>
        <a:buChar char="&gt;"/>
        <a:defRPr sz="1800" kern="1200">
          <a:solidFill>
            <a:schemeClr val="tx2"/>
          </a:solidFill>
          <a:latin typeface="+mn-lt"/>
          <a:ea typeface="+mn-ea"/>
          <a:cs typeface="+mn-cs"/>
        </a:defRPr>
      </a:lvl2pPr>
      <a:lvl3pPr marL="1404000" indent="-233363" algn="l" defTabSz="1219170" rtl="0" eaLnBrk="1" latinLnBrk="0" hangingPunct="1">
        <a:lnSpc>
          <a:spcPct val="100000"/>
        </a:lnSpc>
        <a:spcBef>
          <a:spcPts val="600"/>
        </a:spcBef>
        <a:spcAft>
          <a:spcPts val="1200"/>
        </a:spcAft>
        <a:buSzPct val="100000"/>
        <a:buFont typeface="Wingdings" panose="05000000000000000000" pitchFamily="2" charset="2"/>
        <a:buChar char="§"/>
        <a:defRPr sz="1600" kern="1200">
          <a:solidFill>
            <a:schemeClr val="tx2"/>
          </a:solidFill>
          <a:latin typeface="+mn-lt"/>
          <a:ea typeface="+mn-ea"/>
          <a:cs typeface="+mn-cs"/>
        </a:defRPr>
      </a:lvl3pPr>
      <a:lvl4pPr marL="1760400" indent="-234000" algn="l" defTabSz="1219170" rtl="0" eaLnBrk="1" latinLnBrk="0" hangingPunct="1">
        <a:lnSpc>
          <a:spcPct val="100000"/>
        </a:lnSpc>
        <a:spcBef>
          <a:spcPts val="600"/>
        </a:spcBef>
        <a:spcAft>
          <a:spcPts val="1200"/>
        </a:spcAft>
        <a:buSzPct val="100000"/>
        <a:buFont typeface="Quicksand" panose="00000500000000000000" pitchFamily="2" charset="0"/>
        <a:buChar char="•"/>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fr-FR"/>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lumMod val="95000"/>
          </a:schemeClr>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CB4014D5-5931-1D49-888A-F5254344328A}"/>
              </a:ext>
            </a:extLst>
          </p:cNvPr>
          <p:cNvGraphicFramePr>
            <a:graphicFrameLocks noChangeAspect="1"/>
          </p:cNvGraphicFramePr>
          <p:nvPr userDrawn="1">
            <p:custDataLst>
              <p:tags r:id="rId24"/>
            </p:custDataLst>
            <p:extLst>
              <p:ext uri="{D42A27DB-BD31-4B8C-83A1-F6EECF244321}">
                <p14:modId xmlns:p14="http://schemas.microsoft.com/office/powerpoint/2010/main" val="2895403192"/>
              </p:ext>
            </p:ext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25" imgW="7772400" imgH="10058400" progId="TCLayout.ActiveDocument.1">
                  <p:embed/>
                </p:oleObj>
              </mc:Choice>
              <mc:Fallback>
                <p:oleObj name="think-cell Slide" r:id="rId25" imgW="7772400" imgH="10058400" progId="TCLayout.ActiveDocument.1">
                  <p:embed/>
                  <p:pic>
                    <p:nvPicPr>
                      <p:cNvPr id="2" name="Object 1" hidden="1">
                        <a:extLst>
                          <a:ext uri="{FF2B5EF4-FFF2-40B4-BE49-F238E27FC236}">
                            <a16:creationId xmlns:a16="http://schemas.microsoft.com/office/drawing/2014/main" id="{CB4014D5-5931-1D49-888A-F5254344328A}"/>
                          </a:ext>
                        </a:extLst>
                      </p:cNvPr>
                      <p:cNvPicPr/>
                      <p:nvPr/>
                    </p:nvPicPr>
                    <p:blipFill>
                      <a:blip r:embed="rId26"/>
                      <a:stretch>
                        <a:fillRect/>
                      </a:stretch>
                    </p:blipFill>
                    <p:spPr>
                      <a:xfrm>
                        <a:off x="1588" y="1588"/>
                        <a:ext cx="1227" cy="1588"/>
                      </a:xfrm>
                      <a:prstGeom prst="rect">
                        <a:avLst/>
                      </a:prstGeom>
                    </p:spPr>
                  </p:pic>
                </p:oleObj>
              </mc:Fallback>
            </mc:AlternateContent>
          </a:graphicData>
        </a:graphic>
      </p:graphicFrame>
      <p:sp>
        <p:nvSpPr>
          <p:cNvPr id="16" name="ZoneTexte 7">
            <a:extLst>
              <a:ext uri="{FF2B5EF4-FFF2-40B4-BE49-F238E27FC236}">
                <a16:creationId xmlns:a16="http://schemas.microsoft.com/office/drawing/2014/main" id="{90517A11-D876-4B42-85EB-6440A60FC80A}"/>
              </a:ext>
            </a:extLst>
          </p:cNvPr>
          <p:cNvSpPr txBox="1"/>
          <p:nvPr userDrawn="1"/>
        </p:nvSpPr>
        <p:spPr>
          <a:xfrm>
            <a:off x="592711" y="6395153"/>
            <a:ext cx="1806905" cy="276999"/>
          </a:xfrm>
          <a:prstGeom prst="rect">
            <a:avLst/>
          </a:prstGeom>
          <a:noFill/>
        </p:spPr>
        <p:txBody>
          <a:bodyPr wrap="none" rtlCol="0" anchor="ctr">
            <a:spAutoFit/>
          </a:bodyPr>
          <a:lstStyle/>
          <a:p>
            <a:r>
              <a:rPr lang="en-GB" sz="1200" b="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a:t>
            </a:r>
            <a:r>
              <a:rPr lang="en-GB" sz="1200" b="1"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 </a:t>
            </a:r>
            <a:r>
              <a:rPr lang="en-GB" sz="120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rPr>
              <a:t>Strictement confidentiel</a:t>
            </a:r>
          </a:p>
        </p:txBody>
      </p:sp>
      <p:sp>
        <p:nvSpPr>
          <p:cNvPr id="18" name="ZoneTexte 7">
            <a:extLst>
              <a:ext uri="{FF2B5EF4-FFF2-40B4-BE49-F238E27FC236}">
                <a16:creationId xmlns:a16="http://schemas.microsoft.com/office/drawing/2014/main" id="{44F9DC56-4957-5748-85A9-2CF03BA27D69}"/>
              </a:ext>
            </a:extLst>
          </p:cNvPr>
          <p:cNvSpPr txBox="1"/>
          <p:nvPr userDrawn="1"/>
        </p:nvSpPr>
        <p:spPr>
          <a:xfrm>
            <a:off x="3878792" y="6395153"/>
            <a:ext cx="4965651" cy="276999"/>
          </a:xfrm>
          <a:prstGeom prst="rect">
            <a:avLst/>
          </a:prstGeom>
          <a:noFill/>
        </p:spPr>
        <p:txBody>
          <a:bodyPr wrap="square" rtlCol="0" anchor="ctr">
            <a:spAutoFit/>
          </a:bodyPr>
          <a:lstStyle/>
          <a:p>
            <a:pPr algn="ctr" rtl="0"/>
            <a:r>
              <a:rPr lang="en-GB" sz="1200" noProof="0">
                <a:solidFill>
                  <a:prstClr val="black">
                    <a:tint val="75000"/>
                  </a:prstClr>
                </a:solidFill>
                <a:latin typeface="Calibri" panose="020F0502020204030204" pitchFamily="34" charset="0"/>
                <a:ea typeface="Roboto" panose="02000000000000000000" pitchFamily="2" charset="0"/>
                <a:cs typeface="Calibri" panose="020F0502020204030204" pitchFamily="34" charset="0"/>
              </a:rPr>
              <a:t>Modèle de MLA</a:t>
            </a:r>
          </a:p>
        </p:txBody>
      </p:sp>
      <p:sp>
        <p:nvSpPr>
          <p:cNvPr id="19" name="ZoneTexte 7">
            <a:extLst>
              <a:ext uri="{FF2B5EF4-FFF2-40B4-BE49-F238E27FC236}">
                <a16:creationId xmlns:a16="http://schemas.microsoft.com/office/drawing/2014/main" id="{9A2B92D7-C801-2745-A2F6-E1D3A52B4ABB}"/>
              </a:ext>
            </a:extLst>
          </p:cNvPr>
          <p:cNvSpPr txBox="1"/>
          <p:nvPr userDrawn="1"/>
        </p:nvSpPr>
        <p:spPr>
          <a:xfrm>
            <a:off x="233085" y="6395153"/>
            <a:ext cx="458780" cy="276999"/>
          </a:xfrm>
          <a:prstGeom prst="rect">
            <a:avLst/>
          </a:prstGeom>
          <a:noFill/>
        </p:spPr>
        <p:txBody>
          <a:bodyPr wrap="none" rtlCol="0" anchor="ctr">
            <a:spAutoFit/>
          </a:bodyPr>
          <a:lstStyle/>
          <a:p>
            <a:fld id="{E9B0AB11-93FE-46B5-A744-5A729A269390}" type="slidenum">
              <a:rPr lang="en-GB" sz="1200" smtClean="0">
                <a:solidFill>
                  <a:schemeClr val="bg1">
                    <a:lumMod val="50000"/>
                  </a:schemeClr>
                </a:solidFill>
                <a:latin typeface="Calibri" panose="020F0502020204030204" pitchFamily="34" charset="0"/>
                <a:cs typeface="Calibri" panose="020F0502020204030204" pitchFamily="34" charset="0"/>
              </a:rPr>
              <a:pPr/>
              <a:t>‹N°›</a:t>
            </a:fld>
            <a:endParaRPr lang="en-GB" sz="1200" noProof="0">
              <a:solidFill>
                <a:schemeClr val="bg1">
                  <a:lumMod val="50000"/>
                </a:schemeClr>
              </a:solidFill>
              <a:latin typeface="Calibri" panose="020F0502020204030204" pitchFamily="34" charset="0"/>
              <a:ea typeface="Roboto" panose="02000000000000000000" pitchFamily="2" charset="0"/>
              <a:cs typeface="Calibri" panose="020F0502020204030204" pitchFamily="34" charset="0"/>
            </a:endParaRPr>
          </a:p>
        </p:txBody>
      </p:sp>
      <p:pic>
        <p:nvPicPr>
          <p:cNvPr id="3" name="Image 2" descr="Une image contenant texte&#10;&#10;Description générée automatiquement">
            <a:extLst>
              <a:ext uri="{FF2B5EF4-FFF2-40B4-BE49-F238E27FC236}">
                <a16:creationId xmlns:a16="http://schemas.microsoft.com/office/drawing/2014/main" id="{6DD5FD66-43BC-610B-0335-FFDD589BF87A}"/>
              </a:ext>
            </a:extLst>
          </p:cNvPr>
          <p:cNvPicPr>
            <a:picLocks noChangeAspect="1"/>
          </p:cNvPicPr>
          <p:nvPr userDrawn="1"/>
        </p:nvPicPr>
        <p:blipFill>
          <a:blip r:embed="rId27"/>
          <a:stretch>
            <a:fillRect/>
          </a:stretch>
        </p:blipFill>
        <p:spPr>
          <a:xfrm>
            <a:off x="9706775" y="6151418"/>
            <a:ext cx="2342260" cy="640807"/>
          </a:xfrm>
          <a:prstGeom prst="rect">
            <a:avLst/>
          </a:prstGeom>
        </p:spPr>
      </p:pic>
    </p:spTree>
    <p:extLst>
      <p:ext uri="{BB962C8B-B14F-4D97-AF65-F5344CB8AC3E}">
        <p14:creationId xmlns:p14="http://schemas.microsoft.com/office/powerpoint/2010/main" val="1205195"/>
      </p:ext>
    </p:extLst>
  </p:cSld>
  <p:clrMap bg1="lt1" tx1="dk1" bg2="lt2" tx2="dk2" accent1="accent1" accent2="accent2" accent3="accent3" accent4="accent4" accent5="accent5" accent6="accent6" hlink="hlink" folHlink="folHlink"/>
  <p:sldLayoutIdLst>
    <p:sldLayoutId id="2147483957" r:id="rId1"/>
    <p:sldLayoutId id="2147483958" r:id="rId2"/>
    <p:sldLayoutId id="2147483959" r:id="rId3"/>
    <p:sldLayoutId id="2147483960" r:id="rId4"/>
    <p:sldLayoutId id="2147483961" r:id="rId5"/>
    <p:sldLayoutId id="2147483962" r:id="rId6"/>
    <p:sldLayoutId id="2147483963" r:id="rId7"/>
    <p:sldLayoutId id="2147483964" r:id="rId8"/>
    <p:sldLayoutId id="2147483965" r:id="rId9"/>
    <p:sldLayoutId id="2147483966" r:id="rId10"/>
    <p:sldLayoutId id="2147483967" r:id="rId11"/>
    <p:sldLayoutId id="2147483968" r:id="rId12"/>
    <p:sldLayoutId id="2147483969" r:id="rId13"/>
    <p:sldLayoutId id="2147483970" r:id="rId14"/>
    <p:sldLayoutId id="2147483971" r:id="rId15"/>
    <p:sldLayoutId id="2147483972" r:id="rId16"/>
    <p:sldLayoutId id="2147483973" r:id="rId17"/>
    <p:sldLayoutId id="2147483974" r:id="rId18"/>
    <p:sldLayoutId id="2147483975" r:id="rId19"/>
    <p:sldLayoutId id="2147483976" r:id="rId20"/>
    <p:sldLayoutId id="2147483977" r:id="rId21"/>
    <p:sldLayoutId id="2147483978" r:id="rId2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19.xml"/><Relationship Id="rId1" Type="http://schemas.openxmlformats.org/officeDocument/2006/relationships/tags" Target="../tags/tag18.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7" Type="http://schemas.openxmlformats.org/officeDocument/2006/relationships/image" Target="../media/image17.png"/><Relationship Id="rId2" Type="http://schemas.openxmlformats.org/officeDocument/2006/relationships/slideLayout" Target="../slideLayouts/slideLayout19.xml"/><Relationship Id="rId1" Type="http://schemas.openxmlformats.org/officeDocument/2006/relationships/tags" Target="../tags/tag19.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9.xml"/><Relationship Id="rId1" Type="http://schemas.openxmlformats.org/officeDocument/2006/relationships/tags" Target="../tags/tag20.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9.xml"/><Relationship Id="rId1" Type="http://schemas.openxmlformats.org/officeDocument/2006/relationships/tags" Target="../tags/tag21.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19.xml"/><Relationship Id="rId1" Type="http://schemas.openxmlformats.org/officeDocument/2006/relationships/tags" Target="../tags/tag22.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19.xml"/><Relationship Id="rId1" Type="http://schemas.openxmlformats.org/officeDocument/2006/relationships/tags" Target="../tags/tag23.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19.xml"/><Relationship Id="rId1" Type="http://schemas.openxmlformats.org/officeDocument/2006/relationships/tags" Target="../tags/tag24.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19.xml"/><Relationship Id="rId1" Type="http://schemas.openxmlformats.org/officeDocument/2006/relationships/tags" Target="../tags/tag25.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19.xml"/><Relationship Id="rId1" Type="http://schemas.openxmlformats.org/officeDocument/2006/relationships/tags" Target="../tags/tag26.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19.xml"/><Relationship Id="rId1" Type="http://schemas.openxmlformats.org/officeDocument/2006/relationships/tags" Target="../tags/tag27.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19.xml"/><Relationship Id="rId1" Type="http://schemas.openxmlformats.org/officeDocument/2006/relationships/tags" Target="../tags/tag28.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19.xml"/><Relationship Id="rId1" Type="http://schemas.openxmlformats.org/officeDocument/2006/relationships/tags" Target="../tags/tag29.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19.xml"/><Relationship Id="rId1" Type="http://schemas.openxmlformats.org/officeDocument/2006/relationships/tags" Target="../tags/tag30.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19.xml"/><Relationship Id="rId1" Type="http://schemas.openxmlformats.org/officeDocument/2006/relationships/tags" Target="../tags/tag31.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19.xml"/><Relationship Id="rId1" Type="http://schemas.openxmlformats.org/officeDocument/2006/relationships/tags" Target="../tags/tag32.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9.xml"/><Relationship Id="rId1" Type="http://schemas.openxmlformats.org/officeDocument/2006/relationships/tags" Target="../tags/tag33.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1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8.xml"/><Relationship Id="rId1" Type="http://schemas.openxmlformats.org/officeDocument/2006/relationships/slideLayout" Target="../slideLayouts/slideLayout19.xml"/></Relationships>
</file>

<file path=ppt/slides/_rels/slide1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9.xml"/><Relationship Id="rId1" Type="http://schemas.openxmlformats.org/officeDocument/2006/relationships/slideLayout" Target="../slideLayouts/slideLayout19.xml"/></Relationships>
</file>

<file path=ppt/slides/_rels/slide2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0.xml"/><Relationship Id="rId1" Type="http://schemas.openxmlformats.org/officeDocument/2006/relationships/slideLayout" Target="../slideLayouts/slideLayout19.xml"/></Relationships>
</file>

<file path=ppt/slides/_rels/slide2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1.xml"/><Relationship Id="rId1" Type="http://schemas.openxmlformats.org/officeDocument/2006/relationships/slideLayout" Target="../slideLayouts/slideLayout19.xml"/></Relationships>
</file>

<file path=ppt/slides/_rels/slide2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8" Type="http://schemas.openxmlformats.org/officeDocument/2006/relationships/image" Target="../media/image160.png"/><Relationship Id="rId13" Type="http://schemas.openxmlformats.org/officeDocument/2006/relationships/image" Target="../media/image21.png"/><Relationship Id="rId3" Type="http://schemas.openxmlformats.org/officeDocument/2006/relationships/notesSlide" Target="../notesSlides/notesSlide23.xml"/><Relationship Id="rId7" Type="http://schemas.openxmlformats.org/officeDocument/2006/relationships/chart" Target="../charts/chart1.xml"/><Relationship Id="rId12" Type="http://schemas.openxmlformats.org/officeDocument/2006/relationships/image" Target="../media/image20.png"/><Relationship Id="rId2" Type="http://schemas.openxmlformats.org/officeDocument/2006/relationships/slideLayout" Target="../slideLayouts/slideLayout19.xml"/><Relationship Id="rId1" Type="http://schemas.openxmlformats.org/officeDocument/2006/relationships/tags" Target="../tags/tag34.xml"/><Relationship Id="rId6" Type="http://schemas.openxmlformats.org/officeDocument/2006/relationships/image" Target="../media/image9.jpeg"/><Relationship Id="rId11" Type="http://schemas.openxmlformats.org/officeDocument/2006/relationships/image" Target="../media/image19.png"/><Relationship Id="rId5" Type="http://schemas.openxmlformats.org/officeDocument/2006/relationships/image" Target="../media/image12.emf"/><Relationship Id="rId10" Type="http://schemas.openxmlformats.org/officeDocument/2006/relationships/image" Target="../media/image18.png"/><Relationship Id="rId4" Type="http://schemas.openxmlformats.org/officeDocument/2006/relationships/oleObject" Target="../embeddings/oleObject9.bin"/><Relationship Id="rId9" Type="http://schemas.openxmlformats.org/officeDocument/2006/relationships/image" Target="../media/image170.png"/></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7" Type="http://schemas.openxmlformats.org/officeDocument/2006/relationships/image" Target="../media/image22.png"/><Relationship Id="rId2" Type="http://schemas.openxmlformats.org/officeDocument/2006/relationships/slideLayout" Target="../slideLayouts/slideLayout19.xml"/><Relationship Id="rId1" Type="http://schemas.openxmlformats.org/officeDocument/2006/relationships/tags" Target="../tags/tag35.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2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5.xml"/><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6.xml"/><Relationship Id="rId1" Type="http://schemas.openxmlformats.org/officeDocument/2006/relationships/slideLayout" Target="../slideLayouts/slideLayout19.xml"/></Relationships>
</file>

<file path=ppt/slides/_rels/slide2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7.xml"/><Relationship Id="rId1" Type="http://schemas.openxmlformats.org/officeDocument/2006/relationships/slideLayout" Target="../slideLayouts/slideLayout1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8" Type="http://schemas.openxmlformats.org/officeDocument/2006/relationships/hyperlink" Target="https://kth.diva-portal.org/smash/get/diva2:1799813/FULLTEXT01.pdf" TargetMode="External"/><Relationship Id="rId3" Type="http://schemas.openxmlformats.org/officeDocument/2006/relationships/hyperlink" Target="https://www.eba.europa.eu/sites/default/files/document_library/Publications/Draft%20Technical%20Standards/2022/EBA-RTS-2022-10%20RTS%20on%20SOTs/1041756/Final%20draft%20RTS%20on%20SOTs.pdf" TargetMode="External"/><Relationship Id="rId7" Type="http://schemas.openxmlformats.org/officeDocument/2006/relationships/hyperlink" Target="https://www.banque-france.fr/fr/espace-presse/communiques-bce/la-bce-ajuste-la-remuneration-des-reserves-obligatoires-0#:~:text=Les%20r%C3%A9serves%20obligatoires%20seront%20r%C3%A9mun%C3%A9r%C3%A9es%20%C3%A0%200%20%25.,la%20r%C3%A9mun%C3%A9ration%20des%20r%C3%A9serves%20obligatoires%20%C3%A0%200%20%25." TargetMode="External"/><Relationship Id="rId2" Type="http://schemas.openxmlformats.org/officeDocument/2006/relationships/hyperlink" Target="https://www.eba.europa.eu/sites/default/files/document_library/Publications/Draft%20Technical%20Standards/2022/EBA-RTS-2022-09%20RTS%20on%20SA/1041755/Final%20draft%20RTS%20on%20SA.pdf" TargetMode="External"/><Relationship Id="rId1" Type="http://schemas.openxmlformats.org/officeDocument/2006/relationships/slideLayout" Target="../slideLayouts/slideLayout19.xml"/><Relationship Id="rId6" Type="http://schemas.openxmlformats.org/officeDocument/2006/relationships/hyperlink" Target="https://eur-lex.europa.eu/legal-content/FR/TXT/PDF/?uri=OJ:L_202400857" TargetMode="External"/><Relationship Id="rId5" Type="http://schemas.openxmlformats.org/officeDocument/2006/relationships/hyperlink" Target="https://eur-lex.europa.eu/legal-content/FR/TXT/PDF/?uri=OJ:L_202400856#:~:text=(6)%20R%C3%A8glement%20d%C3%A9l%C3%A9gu%C3%A9%20(UE,d%C3%A9coulant%20d'%C3%A9ventuelles%20variations%20des" TargetMode="External"/><Relationship Id="rId4" Type="http://schemas.openxmlformats.org/officeDocument/2006/relationships/hyperlink" Target="https://eur-lex.europa.eu/legal-content/FR/TXT/PDF/?uri=OJ:L_202400855&amp;qid=1721320385926" TargetMode="External"/></Relationships>
</file>

<file path=ppt/slides/_rels/slide31.xml.rels><?xml version="1.0" encoding="UTF-8" standalone="yes"?>
<Relationships xmlns="http://schemas.openxmlformats.org/package/2006/relationships"><Relationship Id="rId8" Type="http://schemas.openxmlformats.org/officeDocument/2006/relationships/image" Target="../media/image24.svg"/><Relationship Id="rId13" Type="http://schemas.openxmlformats.org/officeDocument/2006/relationships/image" Target="../media/image29.png"/><Relationship Id="rId3" Type="http://schemas.openxmlformats.org/officeDocument/2006/relationships/notesSlide" Target="../notesSlides/notesSlide30.xml"/><Relationship Id="rId7" Type="http://schemas.openxmlformats.org/officeDocument/2006/relationships/image" Target="../media/image23.png"/><Relationship Id="rId12" Type="http://schemas.openxmlformats.org/officeDocument/2006/relationships/image" Target="../media/image28.svg"/><Relationship Id="rId2" Type="http://schemas.openxmlformats.org/officeDocument/2006/relationships/slideLayout" Target="../slideLayouts/slideLayout19.xml"/><Relationship Id="rId16" Type="http://schemas.openxmlformats.org/officeDocument/2006/relationships/image" Target="../media/image32.svg"/><Relationship Id="rId1" Type="http://schemas.openxmlformats.org/officeDocument/2006/relationships/tags" Target="../tags/tag36.xml"/><Relationship Id="rId6" Type="http://schemas.openxmlformats.org/officeDocument/2006/relationships/image" Target="../media/image9.jpeg"/><Relationship Id="rId11" Type="http://schemas.openxmlformats.org/officeDocument/2006/relationships/image" Target="../media/image27.png"/><Relationship Id="rId5" Type="http://schemas.openxmlformats.org/officeDocument/2006/relationships/image" Target="../media/image12.emf"/><Relationship Id="rId15" Type="http://schemas.openxmlformats.org/officeDocument/2006/relationships/image" Target="../media/image31.png"/><Relationship Id="rId10" Type="http://schemas.openxmlformats.org/officeDocument/2006/relationships/image" Target="../media/image26.svg"/><Relationship Id="rId4" Type="http://schemas.openxmlformats.org/officeDocument/2006/relationships/oleObject" Target="../embeddings/oleObject9.bin"/><Relationship Id="rId9" Type="http://schemas.openxmlformats.org/officeDocument/2006/relationships/image" Target="../media/image25.png"/><Relationship Id="rId14" Type="http://schemas.openxmlformats.org/officeDocument/2006/relationships/image" Target="../media/image30.svg"/></Relationships>
</file>

<file path=ppt/slides/_rels/slide32.xml.rels><?xml version="1.0" encoding="UTF-8" standalone="yes"?>
<Relationships xmlns="http://schemas.openxmlformats.org/package/2006/relationships"><Relationship Id="rId8" Type="http://schemas.openxmlformats.org/officeDocument/2006/relationships/image" Target="../media/image34.svg"/><Relationship Id="rId3" Type="http://schemas.openxmlformats.org/officeDocument/2006/relationships/notesSlide" Target="../notesSlides/notesSlide31.xml"/><Relationship Id="rId7" Type="http://schemas.openxmlformats.org/officeDocument/2006/relationships/image" Target="../media/image33.png"/><Relationship Id="rId12" Type="http://schemas.openxmlformats.org/officeDocument/2006/relationships/image" Target="../media/image38.svg"/><Relationship Id="rId2" Type="http://schemas.openxmlformats.org/officeDocument/2006/relationships/slideLayout" Target="../slideLayouts/slideLayout19.xml"/><Relationship Id="rId1" Type="http://schemas.openxmlformats.org/officeDocument/2006/relationships/tags" Target="../tags/tag37.xml"/><Relationship Id="rId6" Type="http://schemas.openxmlformats.org/officeDocument/2006/relationships/image" Target="../media/image9.jpeg"/><Relationship Id="rId11" Type="http://schemas.openxmlformats.org/officeDocument/2006/relationships/image" Target="../media/image37.png"/><Relationship Id="rId5" Type="http://schemas.openxmlformats.org/officeDocument/2006/relationships/image" Target="../media/image12.emf"/><Relationship Id="rId10" Type="http://schemas.openxmlformats.org/officeDocument/2006/relationships/image" Target="../media/image36.svg"/><Relationship Id="rId4" Type="http://schemas.openxmlformats.org/officeDocument/2006/relationships/oleObject" Target="../embeddings/oleObject9.bin"/><Relationship Id="rId9" Type="http://schemas.openxmlformats.org/officeDocument/2006/relationships/image" Target="../media/image35.png"/></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19.xml"/><Relationship Id="rId1" Type="http://schemas.openxmlformats.org/officeDocument/2006/relationships/tags" Target="../tags/tag38.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34.xml.rels><?xml version="1.0" encoding="UTF-8" standalone="yes"?>
<Relationships xmlns="http://schemas.openxmlformats.org/package/2006/relationships"><Relationship Id="rId8" Type="http://schemas.openxmlformats.org/officeDocument/2006/relationships/chart" Target="../charts/chart3.xml"/><Relationship Id="rId3" Type="http://schemas.openxmlformats.org/officeDocument/2006/relationships/notesSlide" Target="../notesSlides/notesSlide33.xml"/><Relationship Id="rId7" Type="http://schemas.openxmlformats.org/officeDocument/2006/relationships/chart" Target="../charts/chart2.xml"/><Relationship Id="rId12" Type="http://schemas.openxmlformats.org/officeDocument/2006/relationships/chart" Target="../charts/chart7.xml"/><Relationship Id="rId2" Type="http://schemas.openxmlformats.org/officeDocument/2006/relationships/slideLayout" Target="../slideLayouts/slideLayout19.xml"/><Relationship Id="rId1" Type="http://schemas.openxmlformats.org/officeDocument/2006/relationships/tags" Target="../tags/tag39.xml"/><Relationship Id="rId6" Type="http://schemas.openxmlformats.org/officeDocument/2006/relationships/image" Target="../media/image9.jpeg"/><Relationship Id="rId11" Type="http://schemas.openxmlformats.org/officeDocument/2006/relationships/chart" Target="../charts/chart6.xml"/><Relationship Id="rId5" Type="http://schemas.openxmlformats.org/officeDocument/2006/relationships/image" Target="../media/image12.emf"/><Relationship Id="rId10" Type="http://schemas.openxmlformats.org/officeDocument/2006/relationships/chart" Target="../charts/chart5.xml"/><Relationship Id="rId4" Type="http://schemas.openxmlformats.org/officeDocument/2006/relationships/oleObject" Target="../embeddings/oleObject9.bin"/><Relationship Id="rId9" Type="http://schemas.openxmlformats.org/officeDocument/2006/relationships/chart" Target="../charts/chart4.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19.xml"/><Relationship Id="rId1" Type="http://schemas.openxmlformats.org/officeDocument/2006/relationships/tags" Target="../tags/tag40.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19.xml"/><Relationship Id="rId1" Type="http://schemas.openxmlformats.org/officeDocument/2006/relationships/tags" Target="../tags/tag41.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19.xml"/><Relationship Id="rId1" Type="http://schemas.openxmlformats.org/officeDocument/2006/relationships/tags" Target="../tags/tag42.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19.xml"/><Relationship Id="rId1" Type="http://schemas.openxmlformats.org/officeDocument/2006/relationships/tags" Target="../tags/tag43.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19.xml"/><Relationship Id="rId1" Type="http://schemas.openxmlformats.org/officeDocument/2006/relationships/tags" Target="../tags/tag44.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19.xml"/><Relationship Id="rId1" Type="http://schemas.openxmlformats.org/officeDocument/2006/relationships/tags" Target="../tags/tag45.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19.xml"/><Relationship Id="rId1" Type="http://schemas.openxmlformats.org/officeDocument/2006/relationships/tags" Target="../tags/tag46.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19.xml"/><Relationship Id="rId1" Type="http://schemas.openxmlformats.org/officeDocument/2006/relationships/tags" Target="../tags/tag47.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19.xml"/><Relationship Id="rId1" Type="http://schemas.openxmlformats.org/officeDocument/2006/relationships/tags" Target="../tags/tag48.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19.xml"/><Relationship Id="rId1" Type="http://schemas.openxmlformats.org/officeDocument/2006/relationships/tags" Target="../tags/tag49.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19.xml"/><Relationship Id="rId1" Type="http://schemas.openxmlformats.org/officeDocument/2006/relationships/tags" Target="../tags/tag50.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4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5.xml"/><Relationship Id="rId1" Type="http://schemas.openxmlformats.org/officeDocument/2006/relationships/slideLayout" Target="../slideLayouts/slideLayout19.xml"/></Relationships>
</file>

<file path=ppt/slides/_rels/slide4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6.xml"/><Relationship Id="rId1" Type="http://schemas.openxmlformats.org/officeDocument/2006/relationships/slideLayout" Target="../slideLayouts/slideLayout19.xml"/></Relationships>
</file>

<file path=ppt/slides/_rels/slide4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7.xml"/><Relationship Id="rId1" Type="http://schemas.openxmlformats.org/officeDocument/2006/relationships/slideLayout" Target="../slideLayouts/slideLayout19.xml"/></Relationships>
</file>

<file path=ppt/slides/_rels/slide4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8.xml"/><Relationship Id="rId1" Type="http://schemas.openxmlformats.org/officeDocument/2006/relationships/slideLayout" Target="../slideLayouts/slideLayout19.xml"/></Relationships>
</file>

<file path=ppt/slides/_rels/slide5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9.xml"/><Relationship Id="rId1" Type="http://schemas.openxmlformats.org/officeDocument/2006/relationships/slideLayout" Target="../slideLayouts/slideLayout19.xml"/></Relationships>
</file>

<file path=ppt/slides/_rels/slide51.xml.rels><?xml version="1.0" encoding="UTF-8" standalone="yes"?>
<Relationships xmlns="http://schemas.openxmlformats.org/package/2006/relationships"><Relationship Id="rId8" Type="http://schemas.openxmlformats.org/officeDocument/2006/relationships/image" Target="../media/image160.png"/><Relationship Id="rId13" Type="http://schemas.openxmlformats.org/officeDocument/2006/relationships/image" Target="../media/image21.png"/><Relationship Id="rId3" Type="http://schemas.openxmlformats.org/officeDocument/2006/relationships/notesSlide" Target="../notesSlides/notesSlide50.xml"/><Relationship Id="rId7" Type="http://schemas.openxmlformats.org/officeDocument/2006/relationships/chart" Target="../charts/chart8.xml"/><Relationship Id="rId12" Type="http://schemas.openxmlformats.org/officeDocument/2006/relationships/image" Target="../media/image20.png"/><Relationship Id="rId2" Type="http://schemas.openxmlformats.org/officeDocument/2006/relationships/slideLayout" Target="../slideLayouts/slideLayout19.xml"/><Relationship Id="rId1" Type="http://schemas.openxmlformats.org/officeDocument/2006/relationships/tags" Target="../tags/tag51.xml"/><Relationship Id="rId6" Type="http://schemas.openxmlformats.org/officeDocument/2006/relationships/image" Target="../media/image9.jpeg"/><Relationship Id="rId11" Type="http://schemas.openxmlformats.org/officeDocument/2006/relationships/image" Target="../media/image19.png"/><Relationship Id="rId5" Type="http://schemas.openxmlformats.org/officeDocument/2006/relationships/image" Target="../media/image12.emf"/><Relationship Id="rId10" Type="http://schemas.openxmlformats.org/officeDocument/2006/relationships/image" Target="../media/image18.png"/><Relationship Id="rId4" Type="http://schemas.openxmlformats.org/officeDocument/2006/relationships/oleObject" Target="../embeddings/oleObject9.bin"/><Relationship Id="rId9" Type="http://schemas.openxmlformats.org/officeDocument/2006/relationships/image" Target="../media/image170.png"/></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51.xml"/><Relationship Id="rId7" Type="http://schemas.openxmlformats.org/officeDocument/2006/relationships/image" Target="../media/image22.png"/><Relationship Id="rId2" Type="http://schemas.openxmlformats.org/officeDocument/2006/relationships/slideLayout" Target="../slideLayouts/slideLayout19.xml"/><Relationship Id="rId1" Type="http://schemas.openxmlformats.org/officeDocument/2006/relationships/tags" Target="../tags/tag52.xml"/><Relationship Id="rId6" Type="http://schemas.openxmlformats.org/officeDocument/2006/relationships/image" Target="../media/image9.jpeg"/><Relationship Id="rId5" Type="http://schemas.openxmlformats.org/officeDocument/2006/relationships/image" Target="../media/image12.emf"/><Relationship Id="rId4" Type="http://schemas.openxmlformats.org/officeDocument/2006/relationships/oleObject" Target="../embeddings/oleObject9.bin"/></Relationships>
</file>

<file path=ppt/slides/_rels/slide5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2.xml"/><Relationship Id="rId1" Type="http://schemas.openxmlformats.org/officeDocument/2006/relationships/slideLayout" Target="../slideLayouts/slideLayout19.xml"/></Relationships>
</file>

<file path=ppt/slides/_rels/slide5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3.xml"/><Relationship Id="rId1" Type="http://schemas.openxmlformats.org/officeDocument/2006/relationships/slideLayout" Target="../slideLayouts/slideLayout19.xml"/></Relationships>
</file>

<file path=ppt/slides/_rels/slide5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4.xml"/><Relationship Id="rId1" Type="http://schemas.openxmlformats.org/officeDocument/2006/relationships/slideLayout" Target="../slideLayouts/slideLayout19.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8" Type="http://schemas.openxmlformats.org/officeDocument/2006/relationships/hyperlink" Target="https://kth.diva-portal.org/smash/get/diva2:1799813/FULLTEXT01.pdf" TargetMode="External"/><Relationship Id="rId3" Type="http://schemas.openxmlformats.org/officeDocument/2006/relationships/hyperlink" Target="https://www.eba.europa.eu/sites/default/files/document_library/Publications/Draft%20Technical%20Standards/2022/EBA-RTS-2022-10%20RTS%20on%20SOTs/1041756/Final%20draft%20RTS%20on%20SOTs.pdf" TargetMode="External"/><Relationship Id="rId7" Type="http://schemas.openxmlformats.org/officeDocument/2006/relationships/hyperlink" Target="https://www.banque-france.fr/fr/espace-presse/communiques-bce/la-bce-ajuste-la-remuneration-des-reserves-obligatoires-0#:~:text=Les%20r%C3%A9serves%20obligatoires%20seront%20r%C3%A9mun%C3%A9r%C3%A9es%20%C3%A0%200%20%25.,la%20r%C3%A9mun%C3%A9ration%20des%20r%C3%A9serves%20obligatoires%20%C3%A0%200%20%25." TargetMode="External"/><Relationship Id="rId2" Type="http://schemas.openxmlformats.org/officeDocument/2006/relationships/hyperlink" Target="https://www.eba.europa.eu/sites/default/files/document_library/Publications/Draft%20Technical%20Standards/2022/EBA-RTS-2022-09%20RTS%20on%20SA/1041755/Final%20draft%20RTS%20on%20SA.pdf" TargetMode="External"/><Relationship Id="rId1" Type="http://schemas.openxmlformats.org/officeDocument/2006/relationships/slideLayout" Target="../slideLayouts/slideLayout19.xml"/><Relationship Id="rId6" Type="http://schemas.openxmlformats.org/officeDocument/2006/relationships/hyperlink" Target="https://eur-lex.europa.eu/legal-content/FR/TXT/PDF/?uri=OJ:L_202400857" TargetMode="External"/><Relationship Id="rId5" Type="http://schemas.openxmlformats.org/officeDocument/2006/relationships/hyperlink" Target="https://eur-lex.europa.eu/legal-content/FR/TXT/PDF/?uri=OJ:L_202400856#:~:text=(6)%20R%C3%A8glement%20d%C3%A9l%C3%A9gu%C3%A9%20(UE,d%C3%A9coulant%20d'%C3%A9ventuelles%20variations%20des" TargetMode="External"/><Relationship Id="rId4" Type="http://schemas.openxmlformats.org/officeDocument/2006/relationships/hyperlink" Target="https://eur-lex.europa.eu/legal-content/FR/TXT/PDF/?uri=OJ:L_202400855&amp;qid=1721320385926" TargetMode="Externa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19.xml"/></Relationships>
</file>

<file path=ppt/slides/_rels/slide6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19.xml"/><Relationship Id="rId4" Type="http://schemas.openxmlformats.org/officeDocument/2006/relationships/image" Target="../media/image4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Layout" Target="../slideLayouts/slideLayout19.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0.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19.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3.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19.xml"/></Relationships>
</file>

<file path=ppt/slides/_rels/slide74.xml.rels><?xml version="1.0" encoding="UTF-8" standalone="yes"?>
<Relationships xmlns="http://schemas.openxmlformats.org/package/2006/relationships"><Relationship Id="rId2" Type="http://schemas.openxmlformats.org/officeDocument/2006/relationships/hyperlink" Target="https://www.eba.europa.eu/publications-and-media/press-releases/eba-publishes-methodology-draft-templates-and-key-milestones-its-2025-eu-wide-stress-test" TargetMode="External"/><Relationship Id="rId1" Type="http://schemas.openxmlformats.org/officeDocument/2006/relationships/slideLayout" Target="../slideLayouts/slideLayout19.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19.xml"/></Relationships>
</file>

<file path=ppt/slides/_rels/slide8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19.xml"/><Relationship Id="rId4" Type="http://schemas.openxmlformats.org/officeDocument/2006/relationships/image" Target="../media/image42.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Layout" Target="../slideLayouts/slideLayout19.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6.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19.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9.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19.xml"/></Relationships>
</file>

<file path=ppt/slides/_rels/slide90.xml.rels><?xml version="1.0" encoding="UTF-8" standalone="yes"?>
<Relationships xmlns="http://schemas.openxmlformats.org/package/2006/relationships"><Relationship Id="rId2" Type="http://schemas.openxmlformats.org/officeDocument/2006/relationships/hyperlink" Target="https://www.eba.europa.eu/publications-and-media/press-releases/eba-publishes-methodology-draft-templates-and-key-milestones-its-2025-eu-wide-stress-test" TargetMode="External"/><Relationship Id="rId1" Type="http://schemas.openxmlformats.org/officeDocument/2006/relationships/slideLayout" Target="../slideLayouts/slideLayout19.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2.xml.rels><?xml version="1.0" encoding="UTF-8" standalone="yes"?>
<Relationships xmlns="http://schemas.openxmlformats.org/package/2006/relationships"><Relationship Id="rId8" Type="http://schemas.openxmlformats.org/officeDocument/2006/relationships/image" Target="../media/image52.png"/><Relationship Id="rId3" Type="http://schemas.openxmlformats.org/officeDocument/2006/relationships/image" Target="../media/image47.png"/><Relationship Id="rId7" Type="http://schemas.openxmlformats.org/officeDocument/2006/relationships/image" Target="../media/image51.png"/><Relationship Id="rId2" Type="http://schemas.openxmlformats.org/officeDocument/2006/relationships/notesSlide" Target="../notesSlides/notesSlide57.xml"/><Relationship Id="rId1" Type="http://schemas.openxmlformats.org/officeDocument/2006/relationships/slideLayout" Target="../slideLayouts/slideLayout152.xml"/><Relationship Id="rId6" Type="http://schemas.openxmlformats.org/officeDocument/2006/relationships/image" Target="../media/image50.png"/><Relationship Id="rId5" Type="http://schemas.openxmlformats.org/officeDocument/2006/relationships/image" Target="../media/image49.png"/><Relationship Id="rId10" Type="http://schemas.openxmlformats.org/officeDocument/2006/relationships/image" Target="../media/image54.png"/><Relationship Id="rId4" Type="http://schemas.openxmlformats.org/officeDocument/2006/relationships/image" Target="../media/image48.png"/><Relationship Id="rId9" Type="http://schemas.openxmlformats.org/officeDocument/2006/relationships/image" Target="../media/image53.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68.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68.xml"/></Relationships>
</file>

<file path=ppt/slides/_rels/slide95.xml.rels><?xml version="1.0" encoding="UTF-8" standalone="yes"?>
<Relationships xmlns="http://schemas.openxmlformats.org/package/2006/relationships"><Relationship Id="rId8" Type="http://schemas.openxmlformats.org/officeDocument/2006/relationships/image" Target="../media/image52.png"/><Relationship Id="rId3" Type="http://schemas.openxmlformats.org/officeDocument/2006/relationships/image" Target="../media/image47.png"/><Relationship Id="rId7" Type="http://schemas.openxmlformats.org/officeDocument/2006/relationships/image" Target="../media/image51.png"/><Relationship Id="rId2" Type="http://schemas.openxmlformats.org/officeDocument/2006/relationships/notesSlide" Target="../notesSlides/notesSlide58.xml"/><Relationship Id="rId1" Type="http://schemas.openxmlformats.org/officeDocument/2006/relationships/slideLayout" Target="../slideLayouts/slideLayout152.xml"/><Relationship Id="rId6" Type="http://schemas.openxmlformats.org/officeDocument/2006/relationships/image" Target="../media/image50.png"/><Relationship Id="rId5" Type="http://schemas.openxmlformats.org/officeDocument/2006/relationships/image" Target="../media/image49.png"/><Relationship Id="rId10" Type="http://schemas.openxmlformats.org/officeDocument/2006/relationships/image" Target="../media/image54.png"/><Relationship Id="rId4" Type="http://schemas.openxmlformats.org/officeDocument/2006/relationships/image" Target="../media/image48.png"/><Relationship Id="rId9" Type="http://schemas.openxmlformats.org/officeDocument/2006/relationships/image" Target="../media/image53.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6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62ABF999-A0FF-FA4C-AE9F-05E06C841A13}"/>
              </a:ext>
            </a:extLst>
          </p:cNvPr>
          <p:cNvSpPr>
            <a:spLocks noGrp="1"/>
          </p:cNvSpPr>
          <p:nvPr>
            <p:ph type="body" sz="quarter" idx="11"/>
          </p:nvPr>
        </p:nvSpPr>
        <p:spPr>
          <a:xfrm>
            <a:off x="0" y="1978127"/>
            <a:ext cx="5005423" cy="2141621"/>
          </a:xfrm>
        </p:spPr>
        <p:txBody>
          <a:bodyPr lIns="180000" tIns="45720" rIns="180000" bIns="45720" anchor="ctr"/>
          <a:lstStyle/>
          <a:p>
            <a:r>
              <a:rPr lang="fr-FR" sz="3600" dirty="0">
                <a:latin typeface="Calibri"/>
                <a:cs typeface="Calibri"/>
              </a:rPr>
              <a:t>Missions ALM</a:t>
            </a:r>
          </a:p>
        </p:txBody>
      </p:sp>
      <p:sp>
        <p:nvSpPr>
          <p:cNvPr id="3" name="Espace réservé du texte 2">
            <a:extLst>
              <a:ext uri="{FF2B5EF4-FFF2-40B4-BE49-F238E27FC236}">
                <a16:creationId xmlns:a16="http://schemas.microsoft.com/office/drawing/2014/main" id="{A84EA7E3-E49F-3D4F-B202-FCE041465F0B}"/>
              </a:ext>
            </a:extLst>
          </p:cNvPr>
          <p:cNvSpPr>
            <a:spLocks noGrp="1"/>
          </p:cNvSpPr>
          <p:nvPr>
            <p:ph type="body" sz="quarter" idx="12"/>
          </p:nvPr>
        </p:nvSpPr>
        <p:spPr>
          <a:xfrm>
            <a:off x="5005423" y="1668383"/>
            <a:ext cx="6739497" cy="2141621"/>
          </a:xfrm>
        </p:spPr>
        <p:txBody>
          <a:bodyPr/>
          <a:lstStyle/>
          <a:p>
            <a:endParaRPr lang="en-US" sz="3200" b="0" dirty="0"/>
          </a:p>
          <a:p>
            <a:r>
              <a:rPr lang="en-US" sz="3200" b="0" dirty="0"/>
              <a:t>Format PPT pour les </a:t>
            </a:r>
            <a:r>
              <a:rPr lang="en-US" sz="3200" b="0" dirty="0" err="1"/>
              <a:t>différentes</a:t>
            </a:r>
            <a:r>
              <a:rPr lang="en-US" sz="3200" b="0" dirty="0"/>
              <a:t> missions sur la </a:t>
            </a:r>
            <a:r>
              <a:rPr lang="en-US" sz="3200" b="0" dirty="0" err="1"/>
              <a:t>thématique</a:t>
            </a:r>
            <a:r>
              <a:rPr lang="en-US" sz="3200" b="0" dirty="0"/>
              <a:t> ALM</a:t>
            </a:r>
          </a:p>
        </p:txBody>
      </p:sp>
      <p:sp>
        <p:nvSpPr>
          <p:cNvPr id="4" name="Espace réservé du texte 3">
            <a:extLst>
              <a:ext uri="{FF2B5EF4-FFF2-40B4-BE49-F238E27FC236}">
                <a16:creationId xmlns:a16="http://schemas.microsoft.com/office/drawing/2014/main" id="{6CB5626A-EAA3-C844-B8A5-7D5BFB168CDA}"/>
              </a:ext>
            </a:extLst>
          </p:cNvPr>
          <p:cNvSpPr>
            <a:spLocks noGrp="1"/>
          </p:cNvSpPr>
          <p:nvPr>
            <p:ph type="body" sz="quarter" idx="13"/>
          </p:nvPr>
        </p:nvSpPr>
        <p:spPr/>
        <p:txBody>
          <a:bodyPr/>
          <a:lstStyle/>
          <a:p>
            <a:endParaRPr lang="en-GB" dirty="0"/>
          </a:p>
          <a:p>
            <a:endParaRPr lang="en-GB" dirty="0"/>
          </a:p>
        </p:txBody>
      </p:sp>
    </p:spTree>
    <p:extLst>
      <p:ext uri="{BB962C8B-B14F-4D97-AF65-F5344CB8AC3E}">
        <p14:creationId xmlns:p14="http://schemas.microsoft.com/office/powerpoint/2010/main" val="176771345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Trame PPT la thématique IRRBB</a:t>
            </a: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 name="TextBox 3">
            <a:extLst>
              <a:ext uri="{FF2B5EF4-FFF2-40B4-BE49-F238E27FC236}">
                <a16:creationId xmlns:a16="http://schemas.microsoft.com/office/drawing/2014/main" id="{020829B5-73A9-2920-AC3A-8174F536D744}"/>
              </a:ext>
            </a:extLst>
          </p:cNvPr>
          <p:cNvSpPr txBox="1"/>
          <p:nvPr/>
        </p:nvSpPr>
        <p:spPr>
          <a:xfrm>
            <a:off x="524933" y="1490133"/>
            <a:ext cx="11514667" cy="4616648"/>
          </a:xfrm>
          <a:prstGeom prst="rect">
            <a:avLst/>
          </a:prstGeom>
          <a:noFill/>
        </p:spPr>
        <p:txBody>
          <a:bodyPr wrap="square" rtlCol="0">
            <a:spAutoFit/>
          </a:bodyPr>
          <a:lstStyle/>
          <a:p>
            <a:pPr marL="285750" indent="-285750">
              <a:buFont typeface="Wingdings" panose="05000000000000000000" pitchFamily="2" charset="2"/>
              <a:buChar char="è"/>
            </a:pPr>
            <a:r>
              <a:rPr lang="fr-FR" dirty="0"/>
              <a:t>Cadre et évolution réglementaire</a:t>
            </a:r>
          </a:p>
          <a:p>
            <a:pPr lvl="4"/>
            <a:r>
              <a:rPr lang="fr-FR" dirty="0"/>
              <a:t>	Evolution du package IRRBB</a:t>
            </a:r>
          </a:p>
          <a:p>
            <a:pPr lvl="4"/>
            <a:r>
              <a:rPr lang="fr-FR" dirty="0"/>
              <a:t>	Présentation des templates</a:t>
            </a:r>
          </a:p>
          <a:p>
            <a:pPr lvl="4"/>
            <a:r>
              <a:rPr lang="fr-FR" dirty="0"/>
              <a:t>	Présentation des indicateurs IRRBB et de la méthodologie de calcul associée</a:t>
            </a:r>
          </a:p>
          <a:p>
            <a:pPr lvl="4"/>
            <a:endParaRPr lang="fr-FR" dirty="0"/>
          </a:p>
          <a:p>
            <a:pPr lvl="4"/>
            <a:endParaRPr lang="fr-FR" dirty="0"/>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è"/>
              <a:tabLst/>
              <a:defRPr/>
            </a:pPr>
            <a:r>
              <a:rPr lang="fr-FR" dirty="0"/>
              <a:t>Analyse des encours (Actif/Passif)</a:t>
            </a:r>
          </a:p>
          <a:p>
            <a:pPr lvl="1">
              <a:defRPr/>
            </a:pPr>
            <a:r>
              <a:rPr lang="fr-FR" dirty="0"/>
              <a:t>	Détail des encours (A/P) par nature de taux et par durée résiduelle</a:t>
            </a:r>
          </a:p>
          <a:p>
            <a:pPr>
              <a:defRPr/>
            </a:pPr>
            <a:r>
              <a:rPr lang="fr-FR" dirty="0"/>
              <a:t>	Détail du hors-bilan par nature de taux et par durée résiduelle (swaps principalement)</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è"/>
              <a:tabLst/>
              <a:defRPr/>
            </a:pPr>
            <a:endParaRPr lang="fr-FR" dirty="0"/>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è"/>
              <a:tabLst/>
              <a:defRPr/>
            </a:pPr>
            <a:endParaRPr lang="fr-FR" dirty="0"/>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è"/>
              <a:tabLst/>
              <a:defRPr/>
            </a:pPr>
            <a:r>
              <a:rPr kumimoji="0" lang="fr-FR" sz="1400" b="0" i="0" u="none" strike="noStrike" kern="0" cap="none" spc="0" normalizeH="0" baseline="0" noProof="0" dirty="0">
                <a:ln>
                  <a:noFill/>
                </a:ln>
                <a:solidFill>
                  <a:srgbClr val="000000"/>
                </a:solidFill>
                <a:effectLst/>
                <a:uLnTx/>
                <a:uFillTx/>
                <a:latin typeface="Arial"/>
                <a:cs typeface="Arial"/>
                <a:sym typeface="Arial"/>
              </a:rPr>
              <a:t>Analyse des facteurs de sensibilité de la MNI</a:t>
            </a:r>
          </a:p>
          <a:p>
            <a:pPr lvl="1">
              <a:defRPr/>
            </a:pPr>
            <a:r>
              <a:rPr lang="fr-FR" dirty="0"/>
              <a:t>	Décomposition du bilan par index de taux</a:t>
            </a:r>
            <a:endParaRPr kumimoji="0" lang="fr-FR" b="0" i="0" u="none" strike="noStrike" kern="0" cap="none" spc="0" normalizeH="0" baseline="0" noProof="0" dirty="0">
              <a:ln>
                <a:noFill/>
              </a:ln>
              <a:solidFill>
                <a:srgbClr val="000000"/>
              </a:solidFill>
              <a:effectLst/>
              <a:uLnTx/>
              <a:uFillTx/>
              <a:latin typeface="Arial"/>
              <a:cs typeface="Arial"/>
              <a:sym typeface="Arial"/>
            </a:endParaRPr>
          </a:p>
          <a:p>
            <a:pPr marR="0" lvl="0" algn="l" defTabSz="914400" rtl="0" eaLnBrk="1" fontAlgn="auto" latinLnBrk="0" hangingPunct="1">
              <a:lnSpc>
                <a:spcPct val="100000"/>
              </a:lnSpc>
              <a:spcBef>
                <a:spcPts val="0"/>
              </a:spcBef>
              <a:spcAft>
                <a:spcPts val="0"/>
              </a:spcAft>
              <a:buClr>
                <a:srgbClr val="000000"/>
              </a:buClr>
              <a:buSzTx/>
              <a:tabLst/>
              <a:defRPr/>
            </a:pPr>
            <a:r>
              <a:rPr lang="fr-FR" dirty="0"/>
              <a:t>	Analyse sur le stock</a:t>
            </a:r>
          </a:p>
          <a:p>
            <a:pPr marR="0" lvl="0" algn="l" defTabSz="914400" rtl="0" eaLnBrk="1" fontAlgn="auto" latinLnBrk="0" hangingPunct="1">
              <a:lnSpc>
                <a:spcPct val="100000"/>
              </a:lnSpc>
              <a:spcBef>
                <a:spcPts val="0"/>
              </a:spcBef>
              <a:spcAft>
                <a:spcPts val="0"/>
              </a:spcAft>
              <a:buClr>
                <a:srgbClr val="000000"/>
              </a:buClr>
              <a:buSzTx/>
              <a:tabLst/>
              <a:defRPr/>
            </a:pPr>
            <a:r>
              <a:rPr kumimoji="0" lang="fr-FR" sz="1400" b="0" i="0" u="none" strike="noStrike" kern="0" cap="none" spc="0" normalizeH="0" baseline="0" noProof="0" dirty="0">
                <a:ln>
                  <a:noFill/>
                </a:ln>
                <a:solidFill>
                  <a:srgbClr val="000000"/>
                </a:solidFill>
                <a:effectLst/>
                <a:uLnTx/>
                <a:uFillTx/>
                <a:latin typeface="Arial"/>
                <a:cs typeface="Arial"/>
                <a:sym typeface="Arial"/>
              </a:rPr>
              <a:t>	Analyse s</a:t>
            </a:r>
            <a:r>
              <a:rPr lang="fr-FR" dirty="0" err="1"/>
              <a:t>ur</a:t>
            </a:r>
            <a:r>
              <a:rPr lang="fr-FR" dirty="0"/>
              <a:t> la PN</a:t>
            </a:r>
            <a:endParaRPr kumimoji="0" lang="fr-FR" sz="1400" b="0" i="0" u="none" strike="noStrike" kern="0" cap="none" spc="0" normalizeH="0" baseline="0" noProof="0" dirty="0">
              <a:ln>
                <a:noFill/>
              </a:ln>
              <a:solidFill>
                <a:srgbClr val="000000"/>
              </a:solidFill>
              <a:effectLst/>
              <a:uLnTx/>
              <a:uFillTx/>
              <a:latin typeface="Arial"/>
              <a:cs typeface="Arial"/>
              <a:sym typeface="Arial"/>
            </a:endParaRP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è"/>
              <a:tabLst/>
              <a:defRPr/>
            </a:pPr>
            <a:endParaRPr kumimoji="0" lang="fr-FR" sz="1400" b="0" i="0" u="none" strike="noStrike" kern="0" cap="none" spc="0" normalizeH="0" baseline="0" noProof="0" dirty="0">
              <a:ln>
                <a:noFill/>
              </a:ln>
              <a:solidFill>
                <a:srgbClr val="000000"/>
              </a:solidFill>
              <a:effectLst/>
              <a:uLnTx/>
              <a:uFillTx/>
              <a:latin typeface="Arial"/>
              <a:cs typeface="Arial"/>
              <a:sym typeface="Arial"/>
            </a:endParaRP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è"/>
              <a:tabLst/>
              <a:defRPr/>
            </a:pPr>
            <a:endParaRPr kumimoji="0" lang="fr-FR" sz="1400" b="0" i="0" u="none" strike="noStrike" kern="0" cap="none" spc="0" normalizeH="0" baseline="0" noProof="0" dirty="0">
              <a:ln>
                <a:noFill/>
              </a:ln>
              <a:solidFill>
                <a:srgbClr val="000000"/>
              </a:solidFill>
              <a:effectLst/>
              <a:uLnTx/>
              <a:uFillTx/>
              <a:latin typeface="Arial"/>
              <a:cs typeface="Arial"/>
              <a:sym typeface="Arial"/>
            </a:endParaRP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è"/>
              <a:tabLst/>
              <a:defRPr/>
            </a:pPr>
            <a:r>
              <a:rPr kumimoji="0" lang="fr-FR" sz="1400" b="0" i="0" u="none" strike="noStrike" kern="0" cap="none" spc="0" normalizeH="0" baseline="0" noProof="0" dirty="0">
                <a:ln>
                  <a:noFill/>
                </a:ln>
                <a:solidFill>
                  <a:srgbClr val="000000"/>
                </a:solidFill>
                <a:effectLst/>
                <a:uLnTx/>
                <a:uFillTx/>
                <a:latin typeface="Arial"/>
                <a:cs typeface="Arial"/>
                <a:sym typeface="Arial"/>
              </a:rPr>
              <a:t>Détermination</a:t>
            </a:r>
            <a:r>
              <a:rPr lang="fr-FR" dirty="0"/>
              <a:t> des montants d’encours sensibles pour chacun des risques identifiés</a:t>
            </a:r>
          </a:p>
          <a:p>
            <a:pPr lvl="1">
              <a:defRPr/>
            </a:pPr>
            <a:r>
              <a:rPr kumimoji="0" lang="fr-FR" b="0" i="0" u="none" strike="noStrike" kern="0" cap="none" spc="0" normalizeH="0" baseline="0" noProof="0" dirty="0">
                <a:ln>
                  <a:noFill/>
                </a:ln>
                <a:solidFill>
                  <a:srgbClr val="000000"/>
                </a:solidFill>
                <a:effectLst/>
                <a:uLnTx/>
                <a:uFillTx/>
                <a:latin typeface="Arial"/>
                <a:cs typeface="Arial"/>
                <a:sym typeface="Arial"/>
              </a:rPr>
              <a:t>	Montants sensibles sur le stock</a:t>
            </a:r>
          </a:p>
          <a:p>
            <a:pPr lvl="1">
              <a:defRPr/>
            </a:pPr>
            <a:r>
              <a:rPr lang="fr-FR" dirty="0"/>
              <a:t>	Montants sensibles sur la PN</a:t>
            </a:r>
            <a:endParaRPr kumimoji="0" lang="fr-FR" b="0" i="0" u="none" strike="noStrike" kern="0" cap="none" spc="0" normalizeH="0" baseline="0" noProof="0" dirty="0">
              <a:ln>
                <a:noFill/>
              </a:ln>
              <a:solidFill>
                <a:srgbClr val="000000"/>
              </a:solidFill>
              <a:effectLst/>
              <a:uLnTx/>
              <a:uFillTx/>
              <a:latin typeface="Arial"/>
              <a:cs typeface="Arial"/>
              <a:sym typeface="Arial"/>
            </a:endParaRPr>
          </a:p>
          <a:p>
            <a:pPr lvl="4"/>
            <a:endParaRPr lang="fr-FR" dirty="0"/>
          </a:p>
        </p:txBody>
      </p:sp>
    </p:spTree>
    <p:extLst>
      <p:ext uri="{BB962C8B-B14F-4D97-AF65-F5344CB8AC3E}">
        <p14:creationId xmlns:p14="http://schemas.microsoft.com/office/powerpoint/2010/main" val="301496516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3544F16-B4A0-ABA5-D680-53EBDF1FCFE4}"/>
              </a:ext>
            </a:extLst>
          </p:cNvPr>
          <p:cNvSpPr/>
          <p:nvPr/>
        </p:nvSpPr>
        <p:spPr>
          <a:xfrm>
            <a:off x="9195262" y="5871900"/>
            <a:ext cx="2919613" cy="895149"/>
          </a:xfrm>
          <a:prstGeom prst="rect">
            <a:avLst/>
          </a:prstGeom>
          <a:solidFill>
            <a:srgbClr val="F2F2F2"/>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dirty="0">
                <a:latin typeface="Calibri"/>
                <a:cs typeface="Calibri"/>
              </a:rPr>
              <a:t>a- Templates et taille d’institution</a:t>
            </a: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7" name="ZoneTexte 6">
            <a:extLst>
              <a:ext uri="{FF2B5EF4-FFF2-40B4-BE49-F238E27FC236}">
                <a16:creationId xmlns:a16="http://schemas.microsoft.com/office/drawing/2014/main" id="{719920D1-78BE-017C-0359-4E178C901634}"/>
              </a:ext>
            </a:extLst>
          </p:cNvPr>
          <p:cNvSpPr txBox="1"/>
          <p:nvPr/>
        </p:nvSpPr>
        <p:spPr>
          <a:xfrm>
            <a:off x="509676" y="873177"/>
            <a:ext cx="10555111" cy="1600438"/>
          </a:xfrm>
          <a:prstGeom prst="rect">
            <a:avLst/>
          </a:prstGeom>
          <a:noFill/>
          <a:ln>
            <a:solidFill>
              <a:schemeClr val="tx1">
                <a:lumMod val="50000"/>
              </a:schemeClr>
            </a:solidFill>
          </a:ln>
        </p:spPr>
        <p:txBody>
          <a:bodyPr wrap="square" rtlCol="0">
            <a:spAutoFit/>
          </a:bodyPr>
          <a:lstStyle/>
          <a:p>
            <a:r>
              <a:rPr lang="fr-FR" dirty="0">
                <a:solidFill>
                  <a:schemeClr val="tx1">
                    <a:lumMod val="50000"/>
                  </a:schemeClr>
                </a:solidFill>
                <a:latin typeface="Calibri (body)"/>
              </a:rPr>
              <a:t>Dans le cadre de la </a:t>
            </a:r>
            <a:r>
              <a:rPr lang="fr-FR" dirty="0" err="1">
                <a:solidFill>
                  <a:schemeClr val="tx1">
                    <a:lumMod val="50000"/>
                  </a:schemeClr>
                </a:solidFill>
                <a:latin typeface="Calibri (body)"/>
              </a:rPr>
              <a:t>gesiton</a:t>
            </a:r>
            <a:r>
              <a:rPr lang="fr-FR" dirty="0">
                <a:solidFill>
                  <a:schemeClr val="tx1">
                    <a:lumMod val="50000"/>
                  </a:schemeClr>
                </a:solidFill>
                <a:latin typeface="Calibri (body)"/>
              </a:rPr>
              <a:t> du risque de taux, des nouveaux templates sont à renseigner.</a:t>
            </a:r>
          </a:p>
          <a:p>
            <a:pPr marL="285750" indent="-285750">
              <a:buFontTx/>
              <a:buChar char="-"/>
            </a:pPr>
            <a:r>
              <a:rPr lang="fr-FR" b="1" dirty="0">
                <a:solidFill>
                  <a:schemeClr val="tx1">
                    <a:lumMod val="50000"/>
                  </a:schemeClr>
                </a:solidFill>
                <a:latin typeface="Calibri (body)"/>
              </a:rPr>
              <a:t>J01 </a:t>
            </a:r>
            <a:r>
              <a:rPr lang="fr-FR" sz="1400" b="1" dirty="0">
                <a:solidFill>
                  <a:schemeClr val="tx1">
                    <a:lumMod val="50000"/>
                  </a:schemeClr>
                </a:solidFill>
                <a:latin typeface="Calibri (body)"/>
                <a:cs typeface="Calibri"/>
              </a:rPr>
              <a:t>Evaluation of the IRRBB : EVE/NII SOT and MV changes</a:t>
            </a:r>
          </a:p>
          <a:p>
            <a:pPr marL="285750" indent="-285750">
              <a:buFontTx/>
              <a:buChar char="-"/>
            </a:pPr>
            <a:r>
              <a:rPr lang="fr-FR" b="1" dirty="0">
                <a:solidFill>
                  <a:schemeClr val="tx1">
                    <a:lumMod val="50000"/>
                  </a:schemeClr>
                </a:solidFill>
                <a:latin typeface="Calibri (body)"/>
                <a:cs typeface="Calibri"/>
              </a:rPr>
              <a:t>J02/3/4</a:t>
            </a:r>
            <a:r>
              <a:rPr lang="fr-FR" sz="1400" b="1" dirty="0">
                <a:solidFill>
                  <a:schemeClr val="tx1">
                    <a:lumMod val="50000"/>
                  </a:schemeClr>
                </a:solidFill>
                <a:latin typeface="Calibri (body)"/>
                <a:cs typeface="Calibri"/>
              </a:rPr>
              <a:t> Breakdown of </a:t>
            </a:r>
            <a:r>
              <a:rPr lang="fr-FR" sz="1400" b="1" dirty="0" err="1">
                <a:solidFill>
                  <a:schemeClr val="tx1">
                    <a:lumMod val="50000"/>
                  </a:schemeClr>
                </a:solidFill>
                <a:latin typeface="Calibri (body)"/>
                <a:cs typeface="Calibri"/>
              </a:rPr>
              <a:t>sensitivity</a:t>
            </a:r>
            <a:r>
              <a:rPr lang="fr-FR" sz="1400" b="1" dirty="0">
                <a:solidFill>
                  <a:schemeClr val="tx1">
                    <a:lumMod val="50000"/>
                  </a:schemeClr>
                </a:solidFill>
                <a:latin typeface="Calibri (body)"/>
                <a:cs typeface="Calibri"/>
              </a:rPr>
              <a:t> </a:t>
            </a:r>
            <a:r>
              <a:rPr lang="fr-FR" sz="1400" b="1" dirty="0" err="1">
                <a:solidFill>
                  <a:schemeClr val="tx1">
                    <a:lumMod val="50000"/>
                  </a:schemeClr>
                </a:solidFill>
                <a:latin typeface="Calibri (body)"/>
                <a:cs typeface="Calibri"/>
              </a:rPr>
              <a:t>estimates</a:t>
            </a:r>
            <a:endParaRPr lang="fr-FR" sz="1400" b="1" dirty="0">
              <a:solidFill>
                <a:schemeClr val="tx1">
                  <a:lumMod val="50000"/>
                </a:schemeClr>
              </a:solidFill>
              <a:latin typeface="Calibri (body)"/>
              <a:cs typeface="Calibri"/>
            </a:endParaRPr>
          </a:p>
          <a:p>
            <a:pPr marL="285750" indent="-285750">
              <a:buFontTx/>
              <a:buChar char="-"/>
            </a:pPr>
            <a:r>
              <a:rPr lang="fr-FR" b="1" dirty="0">
                <a:solidFill>
                  <a:schemeClr val="tx1">
                    <a:lumMod val="50000"/>
                  </a:schemeClr>
                </a:solidFill>
                <a:latin typeface="Calibri (body)"/>
                <a:cs typeface="Calibri"/>
              </a:rPr>
              <a:t>J05/6/7 </a:t>
            </a:r>
            <a:r>
              <a:rPr lang="fr-FR" sz="1400" b="1" dirty="0" err="1">
                <a:solidFill>
                  <a:schemeClr val="tx1">
                    <a:lumMod val="50000"/>
                  </a:schemeClr>
                </a:solidFill>
                <a:latin typeface="Calibri (body)"/>
                <a:cs typeface="Calibri"/>
              </a:rPr>
              <a:t>Repricing</a:t>
            </a:r>
            <a:r>
              <a:rPr lang="fr-FR" sz="1400" b="1" dirty="0">
                <a:solidFill>
                  <a:schemeClr val="tx1">
                    <a:lumMod val="50000"/>
                  </a:schemeClr>
                </a:solidFill>
                <a:latin typeface="Calibri (body)"/>
                <a:cs typeface="Calibri"/>
              </a:rPr>
              <a:t> cash-flows</a:t>
            </a:r>
          </a:p>
          <a:p>
            <a:pPr marL="285750" indent="-285750">
              <a:buFontTx/>
              <a:buChar char="-"/>
            </a:pPr>
            <a:r>
              <a:rPr lang="fr-FR" b="1" dirty="0">
                <a:solidFill>
                  <a:schemeClr val="tx1">
                    <a:lumMod val="50000"/>
                  </a:schemeClr>
                </a:solidFill>
                <a:latin typeface="Calibri (body)"/>
                <a:cs typeface="Calibri"/>
              </a:rPr>
              <a:t>J08/9 </a:t>
            </a:r>
            <a:r>
              <a:rPr lang="fr-FR" sz="1400" b="1" dirty="0">
                <a:solidFill>
                  <a:schemeClr val="tx1">
                    <a:lumMod val="50000"/>
                  </a:schemeClr>
                </a:solidFill>
                <a:latin typeface="Calibri (body)"/>
                <a:cs typeface="Calibri"/>
              </a:rPr>
              <a:t>Relevant </a:t>
            </a:r>
            <a:r>
              <a:rPr lang="fr-FR" sz="1400" b="1" dirty="0" err="1">
                <a:solidFill>
                  <a:schemeClr val="tx1">
                    <a:lumMod val="50000"/>
                  </a:schemeClr>
                </a:solidFill>
                <a:latin typeface="Calibri (body)"/>
                <a:cs typeface="Calibri"/>
              </a:rPr>
              <a:t>parameters</a:t>
            </a:r>
            <a:endParaRPr lang="fr-FR" sz="1400" b="1" dirty="0">
              <a:solidFill>
                <a:schemeClr val="tx1">
                  <a:lumMod val="50000"/>
                </a:schemeClr>
              </a:solidFill>
              <a:latin typeface="Calibri (body)"/>
              <a:cs typeface="Calibri"/>
            </a:endParaRPr>
          </a:p>
          <a:p>
            <a:pPr marL="285750" indent="-285750">
              <a:buFontTx/>
              <a:buChar char="-"/>
            </a:pPr>
            <a:r>
              <a:rPr lang="fr-FR" b="1" dirty="0">
                <a:solidFill>
                  <a:schemeClr val="tx1">
                    <a:lumMod val="50000"/>
                  </a:schemeClr>
                </a:solidFill>
                <a:latin typeface="Calibri (body)"/>
                <a:cs typeface="Calibri"/>
              </a:rPr>
              <a:t>J10/11 Qualitative information</a:t>
            </a:r>
          </a:p>
          <a:p>
            <a:r>
              <a:rPr lang="fr-FR" dirty="0">
                <a:solidFill>
                  <a:schemeClr val="tx1">
                    <a:lumMod val="50000"/>
                  </a:schemeClr>
                </a:solidFill>
                <a:latin typeface="Calibri (body)"/>
              </a:rPr>
              <a:t>Les critères permettant de définir la taille de l’institution se trouvent dans le tableau ci-dessous.</a:t>
            </a:r>
            <a:endParaRPr lang="fr-FR" sz="1400" b="1" dirty="0">
              <a:solidFill>
                <a:schemeClr val="tx1">
                  <a:lumMod val="50000"/>
                </a:schemeClr>
              </a:solidFill>
              <a:latin typeface="Calibri (body)"/>
              <a:cs typeface="Calibri"/>
            </a:endParaRPr>
          </a:p>
        </p:txBody>
      </p:sp>
      <p:sp>
        <p:nvSpPr>
          <p:cNvPr id="2" name="Espace réservé du texte 15">
            <a:extLst>
              <a:ext uri="{FF2B5EF4-FFF2-40B4-BE49-F238E27FC236}">
                <a16:creationId xmlns:a16="http://schemas.microsoft.com/office/drawing/2014/main" id="{69E5D344-ADD3-F380-D170-9A5CC8A62B61}"/>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pic>
        <p:nvPicPr>
          <p:cNvPr id="1026" name="Image 1">
            <a:extLst>
              <a:ext uri="{FF2B5EF4-FFF2-40B4-BE49-F238E27FC236}">
                <a16:creationId xmlns:a16="http://schemas.microsoft.com/office/drawing/2014/main" id="{3E3E29CC-304D-7C9F-6537-3847AF7B023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96738" y="2904630"/>
            <a:ext cx="5707708" cy="3679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1624026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3544F16-B4A0-ABA5-D680-53EBDF1FCFE4}"/>
              </a:ext>
            </a:extLst>
          </p:cNvPr>
          <p:cNvSpPr/>
          <p:nvPr/>
        </p:nvSpPr>
        <p:spPr>
          <a:xfrm>
            <a:off x="9182499" y="5962851"/>
            <a:ext cx="2919613" cy="895149"/>
          </a:xfrm>
          <a:prstGeom prst="rect">
            <a:avLst/>
          </a:prstGeom>
          <a:solidFill>
            <a:srgbClr val="F2F2F2"/>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dirty="0">
                <a:latin typeface="Calibri"/>
                <a:cs typeface="Calibri"/>
              </a:rPr>
              <a:t>b- Inventaire des templates à renseigner</a:t>
            </a: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7" name="ZoneTexte 6">
            <a:extLst>
              <a:ext uri="{FF2B5EF4-FFF2-40B4-BE49-F238E27FC236}">
                <a16:creationId xmlns:a16="http://schemas.microsoft.com/office/drawing/2014/main" id="{719920D1-78BE-017C-0359-4E178C901634}"/>
              </a:ext>
            </a:extLst>
          </p:cNvPr>
          <p:cNvSpPr txBox="1"/>
          <p:nvPr/>
        </p:nvSpPr>
        <p:spPr>
          <a:xfrm>
            <a:off x="388542" y="1218532"/>
            <a:ext cx="11238776" cy="954107"/>
          </a:xfrm>
          <a:prstGeom prst="rect">
            <a:avLst/>
          </a:prstGeom>
          <a:noFill/>
          <a:ln>
            <a:solidFill>
              <a:schemeClr val="tx1">
                <a:lumMod val="50000"/>
              </a:schemeClr>
            </a:solidFill>
          </a:ln>
        </p:spPr>
        <p:txBody>
          <a:bodyPr wrap="square" rtlCol="0">
            <a:spAutoFit/>
          </a:bodyPr>
          <a:lstStyle/>
          <a:p>
            <a:r>
              <a:rPr lang="fr-FR" dirty="0">
                <a:solidFill>
                  <a:schemeClr val="tx1">
                    <a:lumMod val="50000"/>
                  </a:schemeClr>
                </a:solidFill>
                <a:latin typeface="Calibri (body)"/>
              </a:rPr>
              <a:t>Selon la taille de l’institution, les templates à compléter diffèrent. </a:t>
            </a:r>
          </a:p>
          <a:p>
            <a:r>
              <a:rPr lang="fr-FR" dirty="0">
                <a:solidFill>
                  <a:schemeClr val="tx1">
                    <a:lumMod val="50000"/>
                  </a:schemeClr>
                </a:solidFill>
                <a:latin typeface="Calibri (body)"/>
              </a:rPr>
              <a:t>De plus, il est attendu un certain nombre d’exemplaire des différents templates qui sont à réaliser séparément par devise significative identifiée.</a:t>
            </a:r>
          </a:p>
          <a:p>
            <a:r>
              <a:rPr lang="fr-FR" dirty="0">
                <a:solidFill>
                  <a:schemeClr val="tx1">
                    <a:lumMod val="50000"/>
                  </a:schemeClr>
                </a:solidFill>
                <a:latin typeface="Calibri (body)"/>
              </a:rPr>
              <a:t> </a:t>
            </a:r>
          </a:p>
          <a:p>
            <a:r>
              <a:rPr lang="fr-FR" dirty="0">
                <a:solidFill>
                  <a:schemeClr val="tx1">
                    <a:lumMod val="50000"/>
                  </a:schemeClr>
                </a:solidFill>
                <a:latin typeface="Calibri (body)"/>
              </a:rPr>
              <a:t>Ci-dessous une synthèse des exemplaires attendus.</a:t>
            </a:r>
          </a:p>
        </p:txBody>
      </p:sp>
      <p:sp>
        <p:nvSpPr>
          <p:cNvPr id="2" name="Espace réservé du texte 15">
            <a:extLst>
              <a:ext uri="{FF2B5EF4-FFF2-40B4-BE49-F238E27FC236}">
                <a16:creationId xmlns:a16="http://schemas.microsoft.com/office/drawing/2014/main" id="{69E5D344-ADD3-F380-D170-9A5CC8A62B61}"/>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6" name="Table 5">
            <a:extLst>
              <a:ext uri="{FF2B5EF4-FFF2-40B4-BE49-F238E27FC236}">
                <a16:creationId xmlns:a16="http://schemas.microsoft.com/office/drawing/2014/main" id="{DBA41522-AD69-D8EB-6F64-570FBAE566FE}"/>
              </a:ext>
            </a:extLst>
          </p:cNvPr>
          <p:cNvGraphicFramePr>
            <a:graphicFrameLocks noGrp="1"/>
          </p:cNvGraphicFramePr>
          <p:nvPr>
            <p:extLst>
              <p:ext uri="{D42A27DB-BD31-4B8C-83A1-F6EECF244321}">
                <p14:modId xmlns:p14="http://schemas.microsoft.com/office/powerpoint/2010/main" val="33224451"/>
              </p:ext>
            </p:extLst>
          </p:nvPr>
        </p:nvGraphicFramePr>
        <p:xfrm>
          <a:off x="687197" y="2772076"/>
          <a:ext cx="10468483" cy="2499360"/>
        </p:xfrm>
        <a:graphic>
          <a:graphicData uri="http://schemas.openxmlformats.org/drawingml/2006/table">
            <a:tbl>
              <a:tblPr firstRow="1" bandRow="1">
                <a:tableStyleId>{B1798C55-09AD-4454-950D-8970D776B629}</a:tableStyleId>
              </a:tblPr>
              <a:tblGrid>
                <a:gridCol w="1805747">
                  <a:extLst>
                    <a:ext uri="{9D8B030D-6E8A-4147-A177-3AD203B41FA5}">
                      <a16:colId xmlns:a16="http://schemas.microsoft.com/office/drawing/2014/main" val="3173037345"/>
                    </a:ext>
                  </a:extLst>
                </a:gridCol>
                <a:gridCol w="2338939">
                  <a:extLst>
                    <a:ext uri="{9D8B030D-6E8A-4147-A177-3AD203B41FA5}">
                      <a16:colId xmlns:a16="http://schemas.microsoft.com/office/drawing/2014/main" val="2165765620"/>
                    </a:ext>
                  </a:extLst>
                </a:gridCol>
                <a:gridCol w="6323797">
                  <a:extLst>
                    <a:ext uri="{9D8B030D-6E8A-4147-A177-3AD203B41FA5}">
                      <a16:colId xmlns:a16="http://schemas.microsoft.com/office/drawing/2014/main" val="1598881852"/>
                    </a:ext>
                  </a:extLst>
                </a:gridCol>
              </a:tblGrid>
              <a:tr h="278305">
                <a:tc>
                  <a:txBody>
                    <a:bodyPr/>
                    <a:lstStyle/>
                    <a:p>
                      <a:pPr algn="ctr"/>
                      <a:r>
                        <a:rPr lang="fr-FR" sz="1400" dirty="0"/>
                        <a:t>Taille de l’institution</a:t>
                      </a:r>
                    </a:p>
                  </a:txBody>
                  <a:tcPr/>
                </a:tc>
                <a:tc>
                  <a:txBody>
                    <a:bodyPr/>
                    <a:lstStyle/>
                    <a:p>
                      <a:pPr algn="ctr"/>
                      <a:r>
                        <a:rPr lang="fr-FR" sz="1400" dirty="0"/>
                        <a:t>Templates à renseigner</a:t>
                      </a:r>
                    </a:p>
                  </a:txBody>
                  <a:tcPr/>
                </a:tc>
                <a:tc>
                  <a:txBody>
                    <a:bodyPr/>
                    <a:lstStyle/>
                    <a:p>
                      <a:pPr algn="ctr"/>
                      <a:r>
                        <a:rPr lang="fr-FR" sz="1400" dirty="0"/>
                        <a:t>Nombre d’exemplaire</a:t>
                      </a:r>
                    </a:p>
                  </a:txBody>
                  <a:tcPr/>
                </a:tc>
                <a:extLst>
                  <a:ext uri="{0D108BD9-81ED-4DB2-BD59-A6C34878D82A}">
                    <a16:rowId xmlns:a16="http://schemas.microsoft.com/office/drawing/2014/main" val="236326838"/>
                  </a:ext>
                </a:extLst>
              </a:tr>
              <a:tr h="370840">
                <a:tc>
                  <a:txBody>
                    <a:bodyPr/>
                    <a:lstStyle/>
                    <a:p>
                      <a:pPr algn="ctr"/>
                      <a:r>
                        <a:rPr lang="fr-FR" sz="1400" dirty="0"/>
                        <a:t>Small institution</a:t>
                      </a:r>
                    </a:p>
                  </a:txBody>
                  <a:tcPr anchor="ctr"/>
                </a:tc>
                <a:tc>
                  <a:txBody>
                    <a:bodyPr/>
                    <a:lstStyle/>
                    <a:p>
                      <a:pPr algn="ctr"/>
                      <a:r>
                        <a:rPr lang="fr-FR" sz="1400" dirty="0"/>
                        <a:t>J01, J04,J07,J09,J11</a:t>
                      </a:r>
                    </a:p>
                  </a:txBody>
                  <a:tcPr anchor="ctr"/>
                </a:tc>
                <a:tc>
                  <a:txBody>
                    <a:bodyPr/>
                    <a:lstStyle/>
                    <a:p>
                      <a:pPr algn="ctr"/>
                      <a:r>
                        <a:rPr lang="fr-FR" sz="1400" b="1" dirty="0"/>
                        <a:t>J01 </a:t>
                      </a:r>
                      <a:r>
                        <a:rPr lang="fr-FR" sz="1400" dirty="0"/>
                        <a:t>: 1 exemplaire par devise significative + 1 exemplaire devise significative agrégée</a:t>
                      </a:r>
                    </a:p>
                    <a:p>
                      <a:pPr algn="ctr"/>
                      <a:endParaRPr lang="fr-FR" sz="1400" dirty="0"/>
                    </a:p>
                    <a:p>
                      <a:pPr algn="l"/>
                      <a:r>
                        <a:rPr lang="fr-FR" sz="1400" b="1" dirty="0"/>
                        <a:t>J04,J07,J09,J11 : </a:t>
                      </a:r>
                      <a:r>
                        <a:rPr lang="fr-FR" sz="1400" dirty="0"/>
                        <a:t>1 exemplaire de chaque </a:t>
                      </a:r>
                      <a:r>
                        <a:rPr lang="fr-FR" sz="1400" dirty="0" err="1"/>
                        <a:t>template</a:t>
                      </a:r>
                      <a:r>
                        <a:rPr lang="fr-FR" sz="1400" dirty="0"/>
                        <a:t> </a:t>
                      </a:r>
                      <a:r>
                        <a:rPr lang="fr-FR" sz="1400" b="1" dirty="0"/>
                        <a:t>par</a:t>
                      </a:r>
                      <a:r>
                        <a:rPr lang="fr-FR" sz="1400" dirty="0"/>
                        <a:t> devise significative </a:t>
                      </a:r>
                    </a:p>
                  </a:txBody>
                  <a:tcPr anchor="ctr"/>
                </a:tc>
                <a:extLst>
                  <a:ext uri="{0D108BD9-81ED-4DB2-BD59-A6C34878D82A}">
                    <a16:rowId xmlns:a16="http://schemas.microsoft.com/office/drawing/2014/main" val="4271231467"/>
                  </a:ext>
                </a:extLst>
              </a:tr>
              <a:tr h="370840">
                <a:tc>
                  <a:txBody>
                    <a:bodyPr/>
                    <a:lstStyle/>
                    <a:p>
                      <a:pPr algn="ctr"/>
                      <a:r>
                        <a:rPr lang="fr-FR" sz="1400" dirty="0" err="1"/>
                        <a:t>Other</a:t>
                      </a:r>
                      <a:r>
                        <a:rPr lang="fr-FR" sz="1400" dirty="0"/>
                        <a:t> institution</a:t>
                      </a:r>
                    </a:p>
                  </a:txBody>
                  <a:tcPr anchor="ctr"/>
                </a:tc>
                <a:tc>
                  <a:txBody>
                    <a:bodyPr/>
                    <a:lstStyle/>
                    <a:p>
                      <a:pPr algn="ctr"/>
                      <a:r>
                        <a:rPr lang="fr-FR" sz="1400" dirty="0"/>
                        <a:t>J01,J03,J06,J09,J11</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dirty="0"/>
                        <a:t>J01 : </a:t>
                      </a:r>
                      <a:r>
                        <a:rPr lang="fr-FR" sz="1400" dirty="0"/>
                        <a:t>1 exemplaire par devise significative + 1 exemplaire devise significative agrégée</a:t>
                      </a:r>
                    </a:p>
                    <a:p>
                      <a:pPr algn="ctr"/>
                      <a:endParaRPr lang="fr-FR" sz="1400" dirty="0"/>
                    </a:p>
                    <a:p>
                      <a:pPr marL="0" marR="0" lvl="0" indent="0" algn="l" defTabSz="914400" rtl="0" eaLnBrk="1" fontAlgn="auto" latinLnBrk="0" hangingPunct="1">
                        <a:lnSpc>
                          <a:spcPct val="100000"/>
                        </a:lnSpc>
                        <a:spcBef>
                          <a:spcPts val="0"/>
                        </a:spcBef>
                        <a:spcAft>
                          <a:spcPts val="0"/>
                        </a:spcAft>
                        <a:buClrTx/>
                        <a:buSzTx/>
                        <a:buFontTx/>
                        <a:buNone/>
                        <a:tabLst/>
                        <a:defRPr/>
                      </a:pPr>
                      <a:r>
                        <a:rPr lang="fr-FR" sz="1400" b="1" dirty="0"/>
                        <a:t>J03,J06,J09,J11 : </a:t>
                      </a:r>
                      <a:r>
                        <a:rPr lang="fr-FR" sz="1400" dirty="0"/>
                        <a:t>1 exemplaire de chaque </a:t>
                      </a:r>
                      <a:r>
                        <a:rPr lang="fr-FR" sz="1400" dirty="0" err="1"/>
                        <a:t>template</a:t>
                      </a:r>
                      <a:r>
                        <a:rPr lang="fr-FR" sz="1400" dirty="0"/>
                        <a:t> </a:t>
                      </a:r>
                      <a:r>
                        <a:rPr lang="fr-FR" sz="1400" b="1" dirty="0"/>
                        <a:t>par</a:t>
                      </a:r>
                      <a:r>
                        <a:rPr lang="fr-FR" sz="1400" dirty="0"/>
                        <a:t> devise significative </a:t>
                      </a:r>
                    </a:p>
                  </a:txBody>
                  <a:tcPr anchor="ctr"/>
                </a:tc>
                <a:extLst>
                  <a:ext uri="{0D108BD9-81ED-4DB2-BD59-A6C34878D82A}">
                    <a16:rowId xmlns:a16="http://schemas.microsoft.com/office/drawing/2014/main" val="3099899454"/>
                  </a:ext>
                </a:extLst>
              </a:tr>
              <a:tr h="370840">
                <a:tc>
                  <a:txBody>
                    <a:bodyPr/>
                    <a:lstStyle/>
                    <a:p>
                      <a:pPr algn="ctr"/>
                      <a:r>
                        <a:rPr lang="fr-FR" sz="1400" dirty="0"/>
                        <a:t>Large institution</a:t>
                      </a:r>
                    </a:p>
                  </a:txBody>
                  <a:tcPr anchor="ctr"/>
                </a:tc>
                <a:tc>
                  <a:txBody>
                    <a:bodyPr/>
                    <a:lstStyle/>
                    <a:p>
                      <a:pPr algn="ctr"/>
                      <a:r>
                        <a:rPr lang="fr-FR" sz="1400" dirty="0"/>
                        <a:t>J01,J02,J05,J08,J10</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dirty="0"/>
                        <a:t>J01 : </a:t>
                      </a:r>
                      <a:r>
                        <a:rPr lang="fr-FR" sz="1400" dirty="0"/>
                        <a:t>1 exemplaire par devise significative + 1 exemplaire devise significative agrégée</a:t>
                      </a:r>
                    </a:p>
                    <a:p>
                      <a:pPr algn="ctr"/>
                      <a:endParaRPr lang="fr-FR" sz="1400" dirty="0"/>
                    </a:p>
                    <a:p>
                      <a:pPr marL="0" marR="0" lvl="0" indent="0" algn="l" defTabSz="914400" rtl="0" eaLnBrk="1" fontAlgn="auto" latinLnBrk="0" hangingPunct="1">
                        <a:lnSpc>
                          <a:spcPct val="100000"/>
                        </a:lnSpc>
                        <a:spcBef>
                          <a:spcPts val="0"/>
                        </a:spcBef>
                        <a:spcAft>
                          <a:spcPts val="0"/>
                        </a:spcAft>
                        <a:buClrTx/>
                        <a:buSzTx/>
                        <a:buFontTx/>
                        <a:buNone/>
                        <a:tabLst/>
                        <a:defRPr/>
                      </a:pPr>
                      <a:r>
                        <a:rPr lang="fr-FR" sz="1400" b="1" dirty="0"/>
                        <a:t>J02,J05,J09,J11 : </a:t>
                      </a:r>
                      <a:r>
                        <a:rPr lang="fr-FR" sz="1400" dirty="0"/>
                        <a:t>1 exemplaire de chaque </a:t>
                      </a:r>
                      <a:r>
                        <a:rPr lang="fr-FR" sz="1400" dirty="0" err="1"/>
                        <a:t>template</a:t>
                      </a:r>
                      <a:r>
                        <a:rPr lang="fr-FR" sz="1400" dirty="0"/>
                        <a:t> </a:t>
                      </a:r>
                      <a:r>
                        <a:rPr lang="fr-FR" sz="1400" b="1" dirty="0"/>
                        <a:t>par</a:t>
                      </a:r>
                      <a:r>
                        <a:rPr lang="fr-FR" sz="1400" dirty="0"/>
                        <a:t> devise significative </a:t>
                      </a:r>
                    </a:p>
                  </a:txBody>
                  <a:tcPr anchor="ctr"/>
                </a:tc>
                <a:extLst>
                  <a:ext uri="{0D108BD9-81ED-4DB2-BD59-A6C34878D82A}">
                    <a16:rowId xmlns:a16="http://schemas.microsoft.com/office/drawing/2014/main" val="3933325019"/>
                  </a:ext>
                </a:extLst>
              </a:tr>
            </a:tbl>
          </a:graphicData>
        </a:graphic>
      </p:graphicFrame>
    </p:spTree>
    <p:extLst>
      <p:ext uri="{BB962C8B-B14F-4D97-AF65-F5344CB8AC3E}">
        <p14:creationId xmlns:p14="http://schemas.microsoft.com/office/powerpoint/2010/main" val="105947674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a- Template </a:t>
            </a:r>
            <a:r>
              <a:rPr lang="fr-FR" sz="2000" i="1" dirty="0">
                <a:highlight>
                  <a:srgbClr val="FF0000"/>
                </a:highlight>
                <a:latin typeface="Calibri (body)"/>
                <a:cs typeface="Calibri"/>
              </a:rPr>
              <a:t>J02/3/4</a:t>
            </a:r>
            <a:r>
              <a:rPr lang="fr-FR" sz="2000" i="1" dirty="0">
                <a:latin typeface="Calibri (body)"/>
                <a:cs typeface="Calibri"/>
              </a:rPr>
              <a:t> – Breakdown of </a:t>
            </a:r>
            <a:r>
              <a:rPr lang="fr-FR" sz="2000" i="1" dirty="0" err="1">
                <a:latin typeface="Calibri (body)"/>
                <a:cs typeface="Calibri"/>
              </a:rPr>
              <a:t>sensitivity</a:t>
            </a:r>
            <a:r>
              <a:rPr lang="fr-FR" sz="2000" i="1" dirty="0">
                <a:latin typeface="Calibri (body)"/>
                <a:cs typeface="Calibri"/>
              </a:rPr>
              <a:t> </a:t>
            </a:r>
            <a:r>
              <a:rPr lang="fr-FR" sz="2000" i="1" dirty="0" err="1">
                <a:latin typeface="Calibri (body)"/>
                <a:cs typeface="Calibri"/>
              </a:rPr>
              <a:t>estimates</a:t>
            </a:r>
            <a:endParaRPr lang="fr-FR" dirty="0">
              <a:latin typeface="Calibri"/>
              <a:cs typeface="Calibri"/>
            </a:endParaRP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7" name="ZoneTexte 6">
            <a:extLst>
              <a:ext uri="{FF2B5EF4-FFF2-40B4-BE49-F238E27FC236}">
                <a16:creationId xmlns:a16="http://schemas.microsoft.com/office/drawing/2014/main" id="{719920D1-78BE-017C-0359-4E178C901634}"/>
              </a:ext>
            </a:extLst>
          </p:cNvPr>
          <p:cNvSpPr txBox="1"/>
          <p:nvPr/>
        </p:nvSpPr>
        <p:spPr>
          <a:xfrm>
            <a:off x="714847" y="1228397"/>
            <a:ext cx="10762306" cy="4616648"/>
          </a:xfrm>
          <a:prstGeom prst="rect">
            <a:avLst/>
          </a:prstGeom>
          <a:noFill/>
          <a:ln>
            <a:solidFill>
              <a:schemeClr val="tx1">
                <a:lumMod val="50000"/>
              </a:schemeClr>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Le Template </a:t>
            </a:r>
            <a:r>
              <a:rPr lang="fr-FR" dirty="0">
                <a:solidFill>
                  <a:schemeClr val="tx1">
                    <a:lumMod val="50000"/>
                  </a:schemeClr>
                </a:solidFill>
                <a:highlight>
                  <a:srgbClr val="FF0000"/>
                </a:highlight>
                <a:latin typeface="Calibri (body)"/>
              </a:rPr>
              <a:t>J02/3/4</a:t>
            </a:r>
            <a:r>
              <a:rPr lang="fr-FR" dirty="0">
                <a:solidFill>
                  <a:schemeClr val="tx1">
                    <a:lumMod val="50000"/>
                  </a:schemeClr>
                </a:solidFill>
                <a:latin typeface="Calibri (body)"/>
              </a:rPr>
              <a:t> a pour objectif </a:t>
            </a:r>
            <a:r>
              <a:rPr lang="fr-FR" b="1" dirty="0">
                <a:solidFill>
                  <a:schemeClr val="tx1">
                    <a:lumMod val="50000"/>
                  </a:schemeClr>
                </a:solidFill>
                <a:latin typeface="Calibri (body)"/>
              </a:rPr>
              <a:t>de renseigner la contribution de chaque encours </a:t>
            </a:r>
            <a:r>
              <a:rPr lang="fr-FR" dirty="0">
                <a:solidFill>
                  <a:schemeClr val="tx1">
                    <a:lumMod val="50000"/>
                  </a:schemeClr>
                </a:solidFill>
                <a:latin typeface="Calibri (body)"/>
              </a:rPr>
              <a:t>de bilan et hors-bilan :</a:t>
            </a:r>
          </a:p>
          <a:p>
            <a:r>
              <a:rPr lang="fr-FR" dirty="0">
                <a:solidFill>
                  <a:schemeClr val="tx1">
                    <a:lumMod val="50000"/>
                  </a:schemeClr>
                </a:solidFill>
                <a:latin typeface="Calibri (body)"/>
              </a:rPr>
              <a:t>- au niveau des indicateurs d’EVE, de MNI et de Valeur de marché avant application des stress scenarii </a:t>
            </a:r>
            <a:r>
              <a:rPr lang="fr-FR" u="sng" dirty="0">
                <a:solidFill>
                  <a:schemeClr val="tx1">
                    <a:lumMod val="50000"/>
                  </a:schemeClr>
                </a:solidFill>
                <a:latin typeface="Calibri (body)"/>
              </a:rPr>
              <a:t>(montant en </a:t>
            </a:r>
            <a:r>
              <a:rPr lang="fr-FR" u="sng" dirty="0" err="1">
                <a:solidFill>
                  <a:schemeClr val="tx1">
                    <a:lumMod val="50000"/>
                  </a:schemeClr>
                </a:solidFill>
                <a:latin typeface="Calibri (body)"/>
              </a:rPr>
              <a:t>baseline</a:t>
            </a:r>
            <a:r>
              <a:rPr lang="fr-FR" u="sng" dirty="0">
                <a:solidFill>
                  <a:schemeClr val="tx1">
                    <a:lumMod val="50000"/>
                  </a:schemeClr>
                </a:solidFill>
                <a:latin typeface="Calibri (body)"/>
              </a:rPr>
              <a:t>)</a:t>
            </a:r>
          </a:p>
          <a:p>
            <a:r>
              <a:rPr lang="fr-FR" dirty="0">
                <a:solidFill>
                  <a:schemeClr val="tx1">
                    <a:lumMod val="50000"/>
                  </a:schemeClr>
                </a:solidFill>
                <a:latin typeface="Calibri (body)"/>
              </a:rPr>
              <a:t>- à la sensibilité de ces indicateurs après application des stress scenarii </a:t>
            </a:r>
            <a:r>
              <a:rPr lang="fr-FR" u="sng" dirty="0">
                <a:solidFill>
                  <a:schemeClr val="tx1">
                    <a:lumMod val="50000"/>
                  </a:schemeClr>
                </a:solidFill>
                <a:latin typeface="Calibri (body)"/>
              </a:rPr>
              <a:t>(montant choqué) </a:t>
            </a:r>
          </a:p>
          <a:p>
            <a:endParaRPr lang="fr-FR" dirty="0">
              <a:solidFill>
                <a:schemeClr val="tx1">
                  <a:lumMod val="50000"/>
                </a:schemeClr>
              </a:solidFill>
              <a:latin typeface="Calibri (body)"/>
            </a:endParaRPr>
          </a:p>
          <a:p>
            <a:endParaRPr lang="fr-FR" dirty="0">
              <a:solidFill>
                <a:schemeClr val="tx1">
                  <a:lumMod val="50000"/>
                </a:schemeClr>
              </a:solidFill>
              <a:latin typeface="Calibri (body)"/>
            </a:endParaRPr>
          </a:p>
          <a:p>
            <a:r>
              <a:rPr lang="fr-FR" b="1" dirty="0">
                <a:solidFill>
                  <a:schemeClr val="tx1">
                    <a:lumMod val="50000"/>
                  </a:schemeClr>
                </a:solidFill>
                <a:latin typeface="Calibri (body)"/>
              </a:rPr>
              <a:t>Les stress scénarii </a:t>
            </a:r>
            <a:r>
              <a:rPr lang="fr-FR" dirty="0">
                <a:solidFill>
                  <a:schemeClr val="tx1">
                    <a:lumMod val="50000"/>
                  </a:schemeClr>
                </a:solidFill>
                <a:latin typeface="Calibri (body)"/>
              </a:rPr>
              <a:t>à appliquer dans le cadre de </a:t>
            </a:r>
            <a:r>
              <a:rPr lang="fr-FR" b="1" dirty="0">
                <a:solidFill>
                  <a:schemeClr val="tx1">
                    <a:lumMod val="50000"/>
                  </a:schemeClr>
                </a:solidFill>
                <a:latin typeface="Calibri (body)"/>
              </a:rPr>
              <a:t>l’EVE sont au nombre de 6 </a:t>
            </a:r>
            <a:r>
              <a:rPr lang="fr-FR" dirty="0">
                <a:solidFill>
                  <a:schemeClr val="tx1">
                    <a:lumMod val="50000"/>
                  </a:schemeClr>
                </a:solidFill>
                <a:latin typeface="Calibri (body)"/>
              </a:rPr>
              <a:t>:</a:t>
            </a:r>
          </a:p>
          <a:p>
            <a:pPr marL="285750" indent="-285750">
              <a:buFont typeface="Arial" panose="020B0604020202020204" pitchFamily="34" charset="0"/>
              <a:buChar char="•"/>
            </a:pPr>
            <a:r>
              <a:rPr lang="fr-FR" dirty="0">
                <a:solidFill>
                  <a:schemeClr val="tx1">
                    <a:lumMod val="50000"/>
                  </a:schemeClr>
                </a:solidFill>
                <a:latin typeface="Calibri (body)"/>
              </a:rPr>
              <a:t>Variation parallèle des taux à la hausse et à la baisse d’une ampleur de 200 bps (en €), </a:t>
            </a:r>
            <a:r>
              <a:rPr lang="fr-FR" u="sng" dirty="0">
                <a:solidFill>
                  <a:schemeClr val="tx1">
                    <a:lumMod val="50000"/>
                  </a:schemeClr>
                </a:solidFill>
                <a:latin typeface="Calibri (body)"/>
              </a:rPr>
              <a:t>(</a:t>
            </a:r>
            <a:r>
              <a:rPr lang="fr-FR" u="sng" dirty="0" err="1">
                <a:solidFill>
                  <a:schemeClr val="tx1">
                    <a:lumMod val="50000"/>
                  </a:schemeClr>
                </a:solidFill>
                <a:latin typeface="Calibri (body)"/>
              </a:rPr>
              <a:t>parallel</a:t>
            </a:r>
            <a:r>
              <a:rPr lang="fr-FR" u="sng" dirty="0">
                <a:solidFill>
                  <a:schemeClr val="tx1">
                    <a:lumMod val="50000"/>
                  </a:schemeClr>
                </a:solidFill>
                <a:latin typeface="Calibri (body)"/>
              </a:rPr>
              <a:t> up/down)</a:t>
            </a:r>
          </a:p>
          <a:p>
            <a:pPr marL="285750" indent="-285750">
              <a:buFont typeface="Arial" panose="020B0604020202020204" pitchFamily="34" charset="0"/>
              <a:buChar char="•"/>
            </a:pPr>
            <a:r>
              <a:rPr lang="fr-FR" dirty="0">
                <a:solidFill>
                  <a:schemeClr val="tx1">
                    <a:lumMod val="50000"/>
                  </a:schemeClr>
                </a:solidFill>
                <a:latin typeface="Calibri (body)"/>
              </a:rPr>
              <a:t>Pentification et aplatissement de la courbe des taux, </a:t>
            </a:r>
            <a:r>
              <a:rPr lang="fr-FR" u="sng" dirty="0">
                <a:solidFill>
                  <a:schemeClr val="tx1">
                    <a:lumMod val="50000"/>
                  </a:schemeClr>
                </a:solidFill>
                <a:latin typeface="Calibri (body)"/>
              </a:rPr>
              <a:t>(</a:t>
            </a:r>
            <a:r>
              <a:rPr lang="fr-FR" u="sng" dirty="0" err="1">
                <a:solidFill>
                  <a:schemeClr val="tx1">
                    <a:lumMod val="50000"/>
                  </a:schemeClr>
                </a:solidFill>
                <a:latin typeface="Calibri (body)"/>
              </a:rPr>
              <a:t>steepener</a:t>
            </a:r>
            <a:r>
              <a:rPr lang="fr-FR" u="sng" dirty="0">
                <a:solidFill>
                  <a:schemeClr val="tx1">
                    <a:lumMod val="50000"/>
                  </a:schemeClr>
                </a:solidFill>
                <a:latin typeface="Calibri (body)"/>
              </a:rPr>
              <a:t>/</a:t>
            </a:r>
            <a:r>
              <a:rPr lang="fr-FR" u="sng" dirty="0" err="1">
                <a:solidFill>
                  <a:schemeClr val="tx1">
                    <a:lumMod val="50000"/>
                  </a:schemeClr>
                </a:solidFill>
                <a:latin typeface="Calibri (body)"/>
              </a:rPr>
              <a:t>flattener</a:t>
            </a:r>
            <a:r>
              <a:rPr lang="fr-FR" u="sng" dirty="0">
                <a:solidFill>
                  <a:schemeClr val="tx1">
                    <a:lumMod val="50000"/>
                  </a:schemeClr>
                </a:solidFill>
                <a:latin typeface="Calibri (body)"/>
              </a:rPr>
              <a:t>)</a:t>
            </a:r>
          </a:p>
          <a:p>
            <a:pPr marL="285750" indent="-285750">
              <a:buFont typeface="Arial" panose="020B0604020202020204" pitchFamily="34" charset="0"/>
              <a:buChar char="•"/>
            </a:pPr>
            <a:r>
              <a:rPr lang="fr-FR" dirty="0">
                <a:solidFill>
                  <a:schemeClr val="tx1">
                    <a:lumMod val="50000"/>
                  </a:schemeClr>
                </a:solidFill>
                <a:latin typeface="Calibri (body)"/>
              </a:rPr>
              <a:t>Choc à la hausse et à la baisse des taux courts </a:t>
            </a:r>
            <a:r>
              <a:rPr lang="fr-FR" u="sng" dirty="0">
                <a:solidFill>
                  <a:schemeClr val="tx1">
                    <a:lumMod val="50000"/>
                  </a:schemeClr>
                </a:solidFill>
                <a:latin typeface="Calibri (body)"/>
              </a:rPr>
              <a:t>(short rates up/down)</a:t>
            </a:r>
          </a:p>
          <a:p>
            <a:pPr marL="285750" indent="-285750">
              <a:buFont typeface="Arial" panose="020B0604020202020204" pitchFamily="34" charset="0"/>
              <a:buChar char="•"/>
            </a:pPr>
            <a:endParaRPr lang="fr-FR" dirty="0">
              <a:solidFill>
                <a:schemeClr val="tx1">
                  <a:lumMod val="50000"/>
                </a:schemeClr>
              </a:solidFill>
              <a:latin typeface="Calibri (body)"/>
            </a:endParaRPr>
          </a:p>
          <a:p>
            <a:pPr marL="285750" indent="-285750">
              <a:buFont typeface="Arial" panose="020B0604020202020204" pitchFamily="34" charset="0"/>
              <a:buChar char="•"/>
            </a:pPr>
            <a:endParaRPr lang="fr-FR" dirty="0">
              <a:solidFill>
                <a:schemeClr val="tx1">
                  <a:lumMod val="50000"/>
                </a:schemeClr>
              </a:solidFill>
              <a:latin typeface="Calibri (body)"/>
            </a:endParaRPr>
          </a:p>
          <a:p>
            <a:r>
              <a:rPr lang="fr-FR" dirty="0">
                <a:solidFill>
                  <a:schemeClr val="tx1">
                    <a:lumMod val="50000"/>
                  </a:schemeClr>
                </a:solidFill>
                <a:latin typeface="Calibri (body)"/>
              </a:rPr>
              <a:t>Les 2 stress scénarii à appliquer dans le cadre de la MNI et de la valeur de marché sont identiques et correspondent aux variations parallèles des taux à la hausse et à la baisse d’une ampleur de 200 bps (en €), (</a:t>
            </a:r>
            <a:r>
              <a:rPr lang="fr-FR" dirty="0" err="1">
                <a:solidFill>
                  <a:schemeClr val="tx1">
                    <a:lumMod val="50000"/>
                  </a:schemeClr>
                </a:solidFill>
                <a:latin typeface="Calibri (body)"/>
              </a:rPr>
              <a:t>parallel</a:t>
            </a:r>
            <a:r>
              <a:rPr lang="fr-FR" dirty="0">
                <a:solidFill>
                  <a:schemeClr val="tx1">
                    <a:lumMod val="50000"/>
                  </a:schemeClr>
                </a:solidFill>
                <a:latin typeface="Calibri (body)"/>
              </a:rPr>
              <a:t> up/down).</a:t>
            </a:r>
          </a:p>
          <a:p>
            <a:endParaRPr lang="fr-FR" dirty="0">
              <a:solidFill>
                <a:schemeClr val="tx1">
                  <a:lumMod val="50000"/>
                </a:schemeClr>
              </a:solidFill>
              <a:latin typeface="Calibri (body)"/>
            </a:endParaRPr>
          </a:p>
          <a:p>
            <a:endParaRPr lang="fr-FR" dirty="0">
              <a:solidFill>
                <a:schemeClr val="tx1">
                  <a:lumMod val="50000"/>
                </a:schemeClr>
              </a:solidFill>
              <a:latin typeface="Calibri (body)"/>
            </a:endParaRPr>
          </a:p>
          <a:p>
            <a:r>
              <a:rPr lang="fr-FR" dirty="0">
                <a:solidFill>
                  <a:schemeClr val="tx1">
                    <a:lumMod val="50000"/>
                  </a:schemeClr>
                </a:solidFill>
                <a:latin typeface="Calibri (body)"/>
              </a:rPr>
              <a:t>Un nouvel indicateur est également à renseigner :</a:t>
            </a:r>
            <a:r>
              <a:rPr lang="fr-FR" b="1" dirty="0">
                <a:solidFill>
                  <a:schemeClr val="tx1">
                    <a:lumMod val="50000"/>
                  </a:schemeClr>
                </a:solidFill>
                <a:latin typeface="Calibri (body)"/>
              </a:rPr>
              <a:t> la duration</a:t>
            </a:r>
            <a:r>
              <a:rPr lang="fr-FR" dirty="0">
                <a:solidFill>
                  <a:schemeClr val="tx1">
                    <a:lumMod val="50000"/>
                  </a:schemeClr>
                </a:solidFill>
                <a:latin typeface="Calibri (body)"/>
              </a:rPr>
              <a:t>, dont la formule de calcul correspond à la sensibilité de la valeur économique à 1 point de base.</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Ce Template est à produire </a:t>
            </a:r>
            <a:r>
              <a:rPr lang="fr-FR" b="1" dirty="0">
                <a:solidFill>
                  <a:schemeClr val="tx1">
                    <a:lumMod val="50000"/>
                  </a:schemeClr>
                </a:solidFill>
                <a:latin typeface="Calibri (body)"/>
              </a:rPr>
              <a:t>par devise significative</a:t>
            </a:r>
            <a:r>
              <a:rPr lang="fr-FR" dirty="0">
                <a:solidFill>
                  <a:schemeClr val="tx1">
                    <a:lumMod val="50000"/>
                  </a:schemeClr>
                </a:solidFill>
                <a:latin typeface="Calibri (body)"/>
              </a:rPr>
              <a:t>.</a:t>
            </a:r>
            <a:endParaRPr lang="fr-FR" dirty="0">
              <a:solidFill>
                <a:schemeClr val="tx1">
                  <a:lumMod val="50000"/>
                </a:schemeClr>
              </a:solidFill>
            </a:endParaRPr>
          </a:p>
          <a:p>
            <a:endParaRPr lang="fr-FR" dirty="0"/>
          </a:p>
        </p:txBody>
      </p:sp>
      <p:sp>
        <p:nvSpPr>
          <p:cNvPr id="2" name="Espace réservé du texte 15">
            <a:extLst>
              <a:ext uri="{FF2B5EF4-FFF2-40B4-BE49-F238E27FC236}">
                <a16:creationId xmlns:a16="http://schemas.microsoft.com/office/drawing/2014/main" id="{69E5D344-ADD3-F380-D170-9A5CC8A62B61}"/>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305678482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a- Template </a:t>
            </a:r>
            <a:r>
              <a:rPr lang="fr-FR" sz="2000" i="1" dirty="0">
                <a:highlight>
                  <a:srgbClr val="FF0000"/>
                </a:highlight>
                <a:latin typeface="Calibri (body)"/>
                <a:cs typeface="Calibri"/>
              </a:rPr>
              <a:t>J04</a:t>
            </a:r>
            <a:r>
              <a:rPr lang="fr-FR" sz="2000" i="1" dirty="0">
                <a:latin typeface="Calibri (body)"/>
                <a:cs typeface="Calibri"/>
              </a:rPr>
              <a:t> – Breakdown of </a:t>
            </a:r>
            <a:r>
              <a:rPr lang="fr-FR" sz="2000" i="1" dirty="0" err="1">
                <a:latin typeface="Calibri (body)"/>
                <a:cs typeface="Calibri"/>
              </a:rPr>
              <a:t>sensitivity</a:t>
            </a:r>
            <a:r>
              <a:rPr lang="fr-FR" sz="2000" i="1" dirty="0">
                <a:latin typeface="Calibri (body)"/>
                <a:cs typeface="Calibri"/>
              </a:rPr>
              <a:t> </a:t>
            </a:r>
            <a:r>
              <a:rPr lang="fr-FR" sz="2000" i="1" dirty="0" err="1">
                <a:latin typeface="Calibri (body)"/>
                <a:cs typeface="Calibri"/>
              </a:rPr>
              <a:t>estimates</a:t>
            </a:r>
            <a:endParaRPr lang="fr-FR" sz="2000" dirty="0">
              <a:latin typeface="Calibri"/>
              <a:cs typeface="Calibri"/>
            </a:endParaRPr>
          </a:p>
        </p:txBody>
      </p:sp>
      <p:sp>
        <p:nvSpPr>
          <p:cNvPr id="25" name="Rectangle 24">
            <a:extLst>
              <a:ext uri="{FF2B5EF4-FFF2-40B4-BE49-F238E27FC236}">
                <a16:creationId xmlns:a16="http://schemas.microsoft.com/office/drawing/2014/main" id="{129773B8-2EA0-180F-04F4-F7CDFC6BFB28}"/>
              </a:ext>
            </a:extLst>
          </p:cNvPr>
          <p:cNvSpPr/>
          <p:nvPr/>
        </p:nvSpPr>
        <p:spPr>
          <a:xfrm>
            <a:off x="8994606" y="5314557"/>
            <a:ext cx="95250" cy="1138911"/>
          </a:xfrm>
          <a:prstGeom prst="rect">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2" name="Table 1">
            <a:extLst>
              <a:ext uri="{FF2B5EF4-FFF2-40B4-BE49-F238E27FC236}">
                <a16:creationId xmlns:a16="http://schemas.microsoft.com/office/drawing/2014/main" id="{9D992956-896C-7A96-363F-CEF6C547E54D}"/>
              </a:ext>
            </a:extLst>
          </p:cNvPr>
          <p:cNvGraphicFramePr>
            <a:graphicFrameLocks noGrp="1"/>
          </p:cNvGraphicFramePr>
          <p:nvPr/>
        </p:nvGraphicFramePr>
        <p:xfrm>
          <a:off x="388542" y="996659"/>
          <a:ext cx="11551917" cy="3194341"/>
        </p:xfrm>
        <a:graphic>
          <a:graphicData uri="http://schemas.openxmlformats.org/drawingml/2006/table">
            <a:tbl>
              <a:tblPr/>
              <a:tblGrid>
                <a:gridCol w="3352780">
                  <a:extLst>
                    <a:ext uri="{9D8B030D-6E8A-4147-A177-3AD203B41FA5}">
                      <a16:colId xmlns:a16="http://schemas.microsoft.com/office/drawing/2014/main" val="2640330744"/>
                    </a:ext>
                  </a:extLst>
                </a:gridCol>
                <a:gridCol w="404512">
                  <a:extLst>
                    <a:ext uri="{9D8B030D-6E8A-4147-A177-3AD203B41FA5}">
                      <a16:colId xmlns:a16="http://schemas.microsoft.com/office/drawing/2014/main" val="2898214813"/>
                    </a:ext>
                  </a:extLst>
                </a:gridCol>
                <a:gridCol w="451186">
                  <a:extLst>
                    <a:ext uri="{9D8B030D-6E8A-4147-A177-3AD203B41FA5}">
                      <a16:colId xmlns:a16="http://schemas.microsoft.com/office/drawing/2014/main" val="2908756857"/>
                    </a:ext>
                  </a:extLst>
                </a:gridCol>
                <a:gridCol w="404512">
                  <a:extLst>
                    <a:ext uri="{9D8B030D-6E8A-4147-A177-3AD203B41FA5}">
                      <a16:colId xmlns:a16="http://schemas.microsoft.com/office/drawing/2014/main" val="607173436"/>
                    </a:ext>
                  </a:extLst>
                </a:gridCol>
                <a:gridCol w="505640">
                  <a:extLst>
                    <a:ext uri="{9D8B030D-6E8A-4147-A177-3AD203B41FA5}">
                      <a16:colId xmlns:a16="http://schemas.microsoft.com/office/drawing/2014/main" val="2869253494"/>
                    </a:ext>
                  </a:extLst>
                </a:gridCol>
                <a:gridCol w="458966">
                  <a:extLst>
                    <a:ext uri="{9D8B030D-6E8A-4147-A177-3AD203B41FA5}">
                      <a16:colId xmlns:a16="http://schemas.microsoft.com/office/drawing/2014/main" val="602303904"/>
                    </a:ext>
                  </a:extLst>
                </a:gridCol>
                <a:gridCol w="560093">
                  <a:extLst>
                    <a:ext uri="{9D8B030D-6E8A-4147-A177-3AD203B41FA5}">
                      <a16:colId xmlns:a16="http://schemas.microsoft.com/office/drawing/2014/main" val="1000253755"/>
                    </a:ext>
                  </a:extLst>
                </a:gridCol>
                <a:gridCol w="560093">
                  <a:extLst>
                    <a:ext uri="{9D8B030D-6E8A-4147-A177-3AD203B41FA5}">
                      <a16:colId xmlns:a16="http://schemas.microsoft.com/office/drawing/2014/main" val="3957881004"/>
                    </a:ext>
                  </a:extLst>
                </a:gridCol>
                <a:gridCol w="560093">
                  <a:extLst>
                    <a:ext uri="{9D8B030D-6E8A-4147-A177-3AD203B41FA5}">
                      <a16:colId xmlns:a16="http://schemas.microsoft.com/office/drawing/2014/main" val="653896934"/>
                    </a:ext>
                  </a:extLst>
                </a:gridCol>
                <a:gridCol w="560093">
                  <a:extLst>
                    <a:ext uri="{9D8B030D-6E8A-4147-A177-3AD203B41FA5}">
                      <a16:colId xmlns:a16="http://schemas.microsoft.com/office/drawing/2014/main" val="1899017381"/>
                    </a:ext>
                  </a:extLst>
                </a:gridCol>
                <a:gridCol w="560093">
                  <a:extLst>
                    <a:ext uri="{9D8B030D-6E8A-4147-A177-3AD203B41FA5}">
                      <a16:colId xmlns:a16="http://schemas.microsoft.com/office/drawing/2014/main" val="1337612822"/>
                    </a:ext>
                  </a:extLst>
                </a:gridCol>
                <a:gridCol w="528976">
                  <a:extLst>
                    <a:ext uri="{9D8B030D-6E8A-4147-A177-3AD203B41FA5}">
                      <a16:colId xmlns:a16="http://schemas.microsoft.com/office/drawing/2014/main" val="1461766156"/>
                    </a:ext>
                  </a:extLst>
                </a:gridCol>
                <a:gridCol w="528976">
                  <a:extLst>
                    <a:ext uri="{9D8B030D-6E8A-4147-A177-3AD203B41FA5}">
                      <a16:colId xmlns:a16="http://schemas.microsoft.com/office/drawing/2014/main" val="1287544738"/>
                    </a:ext>
                  </a:extLst>
                </a:gridCol>
                <a:gridCol w="528976">
                  <a:extLst>
                    <a:ext uri="{9D8B030D-6E8A-4147-A177-3AD203B41FA5}">
                      <a16:colId xmlns:a16="http://schemas.microsoft.com/office/drawing/2014/main" val="4281480943"/>
                    </a:ext>
                  </a:extLst>
                </a:gridCol>
                <a:gridCol w="528976">
                  <a:extLst>
                    <a:ext uri="{9D8B030D-6E8A-4147-A177-3AD203B41FA5}">
                      <a16:colId xmlns:a16="http://schemas.microsoft.com/office/drawing/2014/main" val="1369115467"/>
                    </a:ext>
                  </a:extLst>
                </a:gridCol>
                <a:gridCol w="528976">
                  <a:extLst>
                    <a:ext uri="{9D8B030D-6E8A-4147-A177-3AD203B41FA5}">
                      <a16:colId xmlns:a16="http://schemas.microsoft.com/office/drawing/2014/main" val="3871220882"/>
                    </a:ext>
                  </a:extLst>
                </a:gridCol>
                <a:gridCol w="528976">
                  <a:extLst>
                    <a:ext uri="{9D8B030D-6E8A-4147-A177-3AD203B41FA5}">
                      <a16:colId xmlns:a16="http://schemas.microsoft.com/office/drawing/2014/main" val="2830104695"/>
                    </a:ext>
                  </a:extLst>
                </a:gridCol>
              </a:tblGrid>
              <a:tr h="254274">
                <a:tc>
                  <a:txBody>
                    <a:bodyPr/>
                    <a:lstStyle/>
                    <a:p>
                      <a:pPr algn="l" fontAlgn="ctr"/>
                      <a:r>
                        <a:rPr lang="en-US" sz="700" b="1" i="0" u="none" strike="noStrike" dirty="0">
                          <a:solidFill>
                            <a:srgbClr val="000000"/>
                          </a:solidFill>
                          <a:effectLst/>
                          <a:latin typeface="Verdana" panose="020B0604030504040204" pitchFamily="34" charset="0"/>
                        </a:rPr>
                        <a:t>J 04.00 - BREAKDOWN OF SENSITIVITY ESTIMATES  (SIMPLIFIED FOR SNCIS)</a:t>
                      </a:r>
                    </a:p>
                  </a:txBody>
                  <a:tcPr marL="2656" marR="2656" marT="2656"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dirty="0">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400" b="1" i="0" u="none" strike="noStrike">
                          <a:solidFill>
                            <a:srgbClr val="000000"/>
                          </a:solidFill>
                          <a:effectLst/>
                          <a:latin typeface="Verdana" panose="020B0604030504040204" pitchFamily="34" charset="0"/>
                        </a:rPr>
                        <a:t> </a:t>
                      </a:r>
                    </a:p>
                  </a:txBody>
                  <a:tcPr marL="2656" marR="2656" marT="2656"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141219982"/>
                  </a:ext>
                </a:extLst>
              </a:tr>
              <a:tr h="102273">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1378530045"/>
                  </a:ext>
                </a:extLst>
              </a:tr>
              <a:tr h="107009">
                <a:tc>
                  <a:txBody>
                    <a:bodyPr/>
                    <a:lstStyle/>
                    <a:p>
                      <a:pPr algn="r" fontAlgn="ctr"/>
                      <a:r>
                        <a:rPr lang="fr-FR" sz="600" b="1" i="0" u="none" strike="noStrike">
                          <a:solidFill>
                            <a:srgbClr val="000000"/>
                          </a:solidFill>
                          <a:effectLst/>
                          <a:latin typeface="Verdana" panose="020B0604030504040204" pitchFamily="34" charset="0"/>
                        </a:rPr>
                        <a:t>Currency:</a:t>
                      </a:r>
                    </a:p>
                  </a:txBody>
                  <a:tcPr marL="2656" marR="2656" marT="2656"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2656" marR="2656" marT="2656"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2656" marR="2656" marT="2656"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2656" marR="2656" marT="2656"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w="6350" cap="flat" cmpd="sng" algn="ctr">
                      <a:solidFill>
                        <a:srgbClr val="000000"/>
                      </a:solidFill>
                      <a:prstDash val="solid"/>
                      <a:round/>
                      <a:headEnd type="none" w="med" len="med"/>
                      <a:tailEnd type="none" w="med" len="med"/>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extLst>
                  <a:ext uri="{0D108BD9-81ED-4DB2-BD59-A6C34878D82A}">
                    <a16:rowId xmlns:a16="http://schemas.microsoft.com/office/drawing/2014/main" val="1073435280"/>
                  </a:ext>
                </a:extLst>
              </a:tr>
              <a:tr h="102273">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2656" marR="2656" marT="2656"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2656" marR="2656" marT="2656"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2656" marR="2656" marT="2656"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a:noFill/>
                    </a:lnB>
                    <a:noFill/>
                  </a:tcPr>
                </a:tc>
                <a:extLst>
                  <a:ext uri="{0D108BD9-81ED-4DB2-BD59-A6C34878D82A}">
                    <a16:rowId xmlns:a16="http://schemas.microsoft.com/office/drawing/2014/main" val="2843005140"/>
                  </a:ext>
                </a:extLst>
              </a:tr>
              <a:tr h="107009">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2656" marR="2656" marT="2656"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53699527"/>
                  </a:ext>
                </a:extLst>
              </a:tr>
              <a:tr h="120392">
                <a:tc>
                  <a:txBody>
                    <a:bodyPr/>
                    <a:lstStyle/>
                    <a:p>
                      <a:pPr algn="l" fontAlgn="ctr"/>
                      <a:r>
                        <a:rPr lang="fr-FR" sz="600" b="1" i="0" u="none" strike="noStrike">
                          <a:solidFill>
                            <a:srgbClr val="000000"/>
                          </a:solidFill>
                          <a:effectLst/>
                          <a:latin typeface="Verdana" panose="020B0604030504040204" pitchFamily="34" charset="0"/>
                        </a:rPr>
                        <a:t> </a:t>
                      </a:r>
                    </a:p>
                  </a:txBody>
                  <a:tcPr marL="2656" marR="2656" marT="2656"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D9D9D9"/>
                    </a:solidFill>
                  </a:tcPr>
                </a:tc>
                <a:tc>
                  <a:txBody>
                    <a:bodyPr/>
                    <a:lstStyle/>
                    <a:p>
                      <a:pPr algn="l" fontAlgn="ctr"/>
                      <a:r>
                        <a:rPr lang="fr-FR" sz="600" b="1" i="0" u="none" strike="noStrike">
                          <a:solidFill>
                            <a:srgbClr val="000000"/>
                          </a:solidFill>
                          <a:effectLst/>
                          <a:latin typeface="Verdana" panose="020B0604030504040204" pitchFamily="34" charset="0"/>
                        </a:rPr>
                        <a:t> </a:t>
                      </a:r>
                    </a:p>
                  </a:txBody>
                  <a:tcPr marL="2656" marR="2656" marT="2656" marB="0" anchor="ctr">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9D9D9"/>
                    </a:solidFill>
                  </a:tcPr>
                </a:tc>
                <a:tc rowSpan="4">
                  <a:txBody>
                    <a:bodyPr/>
                    <a:lstStyle/>
                    <a:p>
                      <a:pPr algn="ctr" fontAlgn="ctr"/>
                      <a:r>
                        <a:rPr lang="fr-FR" sz="600" b="0" i="0" u="none" strike="noStrike">
                          <a:solidFill>
                            <a:srgbClr val="000000"/>
                          </a:solidFill>
                          <a:effectLst/>
                          <a:latin typeface="Verdana" panose="020B0604030504040204" pitchFamily="34" charset="0"/>
                        </a:rPr>
                        <a:t>Carrying amount</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4">
                  <a:txBody>
                    <a:bodyPr/>
                    <a:lstStyle/>
                    <a:p>
                      <a:pPr algn="ctr" fontAlgn="ctr"/>
                      <a:r>
                        <a:rPr lang="fr-FR" sz="600" b="0" i="0" u="none" strike="noStrike">
                          <a:solidFill>
                            <a:srgbClr val="000000"/>
                          </a:solidFill>
                          <a:effectLst/>
                          <a:latin typeface="Verdana" panose="020B0604030504040204" pitchFamily="34" charset="0"/>
                        </a:rPr>
                        <a:t>Duration</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gridSpan="13">
                  <a:txBody>
                    <a:bodyPr/>
                    <a:lstStyle/>
                    <a:p>
                      <a:pPr algn="ctr" fontAlgn="ctr"/>
                      <a:r>
                        <a:rPr lang="en-US" sz="600" b="1" i="0" u="none" strike="noStrike">
                          <a:solidFill>
                            <a:srgbClr val="000000"/>
                          </a:solidFill>
                          <a:effectLst/>
                          <a:latin typeface="Verdana" panose="020B0604030504040204" pitchFamily="34" charset="0"/>
                        </a:rPr>
                        <a:t>Bank estimate of IRRBB sensivitities including behavioural, conditional and automatic optionality</a:t>
                      </a:r>
                    </a:p>
                  </a:txBody>
                  <a:tcPr marL="2656" marR="2656" marT="2656"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2166476007"/>
                  </a:ext>
                </a:extLst>
              </a:tr>
              <a:tr h="120392">
                <a:tc>
                  <a:txBody>
                    <a:bodyPr/>
                    <a:lstStyle/>
                    <a:p>
                      <a:pPr algn="l" fontAlgn="ctr"/>
                      <a:r>
                        <a:rPr lang="fr-FR" sz="600" b="1" i="0" u="none" strike="noStrike">
                          <a:solidFill>
                            <a:srgbClr val="000000"/>
                          </a:solidFill>
                          <a:effectLst/>
                          <a:latin typeface="Verdana" panose="020B0604030504040204" pitchFamily="34" charset="0"/>
                        </a:rPr>
                        <a:t> </a:t>
                      </a:r>
                    </a:p>
                  </a:txBody>
                  <a:tcPr marL="2656" marR="2656" marT="2656" marB="0" anchor="ctr">
                    <a:lnL w="12700" cap="flat" cmpd="sng" algn="ctr">
                      <a:solidFill>
                        <a:srgbClr val="000000"/>
                      </a:solidFill>
                      <a:prstDash val="solid"/>
                      <a:round/>
                      <a:headEnd type="none" w="med" len="med"/>
                      <a:tailEnd type="none" w="med" len="med"/>
                    </a:lnL>
                    <a:lnR>
                      <a:noFill/>
                    </a:lnR>
                    <a:lnT>
                      <a:noFill/>
                    </a:lnT>
                    <a:lnB>
                      <a:noFill/>
                    </a:lnB>
                    <a:solidFill>
                      <a:srgbClr val="D9D9D9"/>
                    </a:solidFill>
                  </a:tcPr>
                </a:tc>
                <a:tc>
                  <a:txBody>
                    <a:bodyPr/>
                    <a:lstStyle/>
                    <a:p>
                      <a:pPr algn="l" fontAlgn="ctr"/>
                      <a:r>
                        <a:rPr lang="fr-FR" sz="600" b="1" i="0" u="none" strike="noStrike">
                          <a:solidFill>
                            <a:srgbClr val="000000"/>
                          </a:solidFill>
                          <a:effectLst/>
                          <a:latin typeface="Verdana" panose="020B0604030504040204" pitchFamily="34" charset="0"/>
                        </a:rPr>
                        <a:t> </a:t>
                      </a:r>
                    </a:p>
                  </a:txBody>
                  <a:tcPr marL="2656" marR="2656" marT="2656" marB="0" anchor="ctr">
                    <a:lnL>
                      <a:noFill/>
                    </a:lnL>
                    <a:lnR w="6350" cap="flat" cmpd="sng" algn="ctr">
                      <a:solidFill>
                        <a:srgbClr val="000000"/>
                      </a:solidFill>
                      <a:prstDash val="solid"/>
                      <a:round/>
                      <a:headEnd type="none" w="med" len="med"/>
                      <a:tailEnd type="none" w="med" len="med"/>
                    </a:lnR>
                    <a:lnT>
                      <a:noFill/>
                    </a:lnT>
                    <a:lnB>
                      <a:noFill/>
                    </a:lnB>
                    <a:solidFill>
                      <a:srgbClr val="D9D9D9"/>
                    </a:solidFill>
                  </a:tcPr>
                </a:tc>
                <a:tc vMerge="1">
                  <a:txBody>
                    <a:bodyPr/>
                    <a:lstStyle/>
                    <a:p>
                      <a:endParaRPr lang="fr-FR"/>
                    </a:p>
                  </a:txBody>
                  <a:tcPr/>
                </a:tc>
                <a:tc vMerge="1">
                  <a:txBody>
                    <a:bodyPr/>
                    <a:lstStyle/>
                    <a:p>
                      <a:endParaRPr lang="fr-FR"/>
                    </a:p>
                  </a:txBody>
                  <a:tcPr/>
                </a:tc>
                <a:tc gridSpan="13"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2215125455"/>
                  </a:ext>
                </a:extLst>
              </a:tr>
              <a:tr h="301584">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12700" cap="flat" cmpd="sng" algn="ctr">
                      <a:solidFill>
                        <a:srgbClr val="000000"/>
                      </a:solidFill>
                      <a:prstDash val="solid"/>
                      <a:round/>
                      <a:headEnd type="none" w="med" len="med"/>
                      <a:tailEnd type="none" w="med" len="med"/>
                    </a:lnL>
                    <a:lnR>
                      <a:noFill/>
                    </a:lnR>
                    <a:lnT>
                      <a:noFill/>
                    </a:lnT>
                    <a:lnB>
                      <a:noFill/>
                    </a:lnB>
                    <a:solidFill>
                      <a:srgbClr val="D8D8D8"/>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a:noFill/>
                    </a:lnL>
                    <a:lnR w="6350" cap="flat" cmpd="sng" algn="ctr">
                      <a:solidFill>
                        <a:srgbClr val="000000"/>
                      </a:solidFill>
                      <a:prstDash val="solid"/>
                      <a:round/>
                      <a:headEnd type="none" w="med" len="med"/>
                      <a:tailEnd type="none" w="med" len="med"/>
                    </a:lnR>
                    <a:lnT>
                      <a:noFill/>
                    </a:lnT>
                    <a:lnB>
                      <a:noFill/>
                    </a:lnB>
                    <a:solidFill>
                      <a:srgbClr val="D8D8D8"/>
                    </a:solidFill>
                  </a:tcPr>
                </a:tc>
                <a:tc vMerge="1">
                  <a:txBody>
                    <a:bodyPr/>
                    <a:lstStyle/>
                    <a:p>
                      <a:endParaRPr lang="fr-FR"/>
                    </a:p>
                  </a:txBody>
                  <a:tcPr/>
                </a:tc>
                <a:tc vMerge="1">
                  <a:txBody>
                    <a:bodyPr/>
                    <a:lstStyle/>
                    <a:p>
                      <a:endParaRPr lang="fr-FR"/>
                    </a:p>
                  </a:txBody>
                  <a:tcPr/>
                </a:tc>
                <a:tc gridSpan="7">
                  <a:txBody>
                    <a:bodyPr/>
                    <a:lstStyle/>
                    <a:p>
                      <a:pPr algn="ctr" fontAlgn="ctr"/>
                      <a:r>
                        <a:rPr lang="fr-FR" sz="600" b="1" i="0" u="none" strike="noStrike">
                          <a:solidFill>
                            <a:srgbClr val="000000"/>
                          </a:solidFill>
                          <a:effectLst/>
                          <a:latin typeface="Verdana" panose="020B0604030504040204" pitchFamily="34" charset="0"/>
                        </a:rPr>
                        <a:t>Economic value of equity</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3">
                  <a:txBody>
                    <a:bodyPr/>
                    <a:lstStyle/>
                    <a:p>
                      <a:pPr algn="ctr" fontAlgn="ctr"/>
                      <a:r>
                        <a:rPr lang="fr-FR" sz="600" b="1" i="0" u="none" strike="noStrike">
                          <a:solidFill>
                            <a:srgbClr val="000000"/>
                          </a:solidFill>
                          <a:effectLst/>
                          <a:latin typeface="Verdana" panose="020B0604030504040204" pitchFamily="34" charset="0"/>
                        </a:rPr>
                        <a:t>Net interest income</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gridSpan="3">
                  <a:txBody>
                    <a:bodyPr/>
                    <a:lstStyle/>
                    <a:p>
                      <a:pPr algn="ctr" fontAlgn="ctr"/>
                      <a:r>
                        <a:rPr lang="fr-FR" sz="600" b="1" i="0" u="none" strike="noStrike">
                          <a:solidFill>
                            <a:srgbClr val="000000"/>
                          </a:solidFill>
                          <a:effectLst/>
                          <a:latin typeface="Verdana" panose="020B0604030504040204" pitchFamily="34" charset="0"/>
                        </a:rPr>
                        <a:t>Market value</a:t>
                      </a:r>
                    </a:p>
                  </a:txBody>
                  <a:tcPr marL="2656" marR="2656" marT="2656"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677443596"/>
                  </a:ext>
                </a:extLst>
              </a:tr>
              <a:tr h="459021">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12700" cap="flat" cmpd="sng" algn="ctr">
                      <a:solidFill>
                        <a:srgbClr val="000000"/>
                      </a:solidFill>
                      <a:prstDash val="solid"/>
                      <a:round/>
                      <a:headEnd type="none" w="med" len="med"/>
                      <a:tailEnd type="none" w="med" len="med"/>
                    </a:lnL>
                    <a:lnR>
                      <a:noFill/>
                    </a:lnR>
                    <a:lnT>
                      <a:noFill/>
                    </a:lnT>
                    <a:lnB>
                      <a:noFill/>
                    </a:lnB>
                    <a:solidFill>
                      <a:srgbClr val="D8D8D8"/>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a:noFill/>
                    </a:lnL>
                    <a:lnR w="6350" cap="flat" cmpd="sng" algn="ctr">
                      <a:solidFill>
                        <a:srgbClr val="000000"/>
                      </a:solidFill>
                      <a:prstDash val="solid"/>
                      <a:round/>
                      <a:headEnd type="none" w="med" len="med"/>
                      <a:tailEnd type="none" w="med" len="med"/>
                    </a:lnR>
                    <a:lnT>
                      <a:noFill/>
                    </a:lnT>
                    <a:lnB>
                      <a:noFill/>
                    </a:lnB>
                    <a:solidFill>
                      <a:srgbClr val="D8D8D8"/>
                    </a:solidFill>
                  </a:tcPr>
                </a:tc>
                <a:tc vMerge="1">
                  <a:txBody>
                    <a:bodyPr/>
                    <a:lstStyle/>
                    <a:p>
                      <a:endParaRPr lang="fr-FR"/>
                    </a:p>
                  </a:txBody>
                  <a:tcPr/>
                </a:tc>
                <a:tc vMerge="1">
                  <a:txBody>
                    <a:bodyPr/>
                    <a:lstStyle/>
                    <a:p>
                      <a:endParaRPr lang="fr-FR"/>
                    </a:p>
                  </a:txBody>
                  <a:tcPr/>
                </a:tc>
                <a:tc>
                  <a:txBody>
                    <a:bodyPr/>
                    <a:lstStyle/>
                    <a:p>
                      <a:pPr algn="ctr" fontAlgn="ctr"/>
                      <a:r>
                        <a:rPr lang="en-US" sz="600" b="0" i="0" u="none" strike="noStrike">
                          <a:solidFill>
                            <a:srgbClr val="000000"/>
                          </a:solidFill>
                          <a:effectLst/>
                          <a:latin typeface="Verdana" panose="020B0604030504040204" pitchFamily="34" charset="0"/>
                        </a:rPr>
                        <a:t>Level of EVE - Baseline scenario</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dirty="0">
                          <a:solidFill>
                            <a:srgbClr val="000000"/>
                          </a:solidFill>
                          <a:effectLst/>
                          <a:latin typeface="Verdana" panose="020B0604030504040204" pitchFamily="34" charset="0"/>
                        </a:rPr>
                        <a:t>∆ EVE - Parallel </a:t>
                      </a:r>
                      <a:r>
                        <a:rPr lang="fr-FR" sz="600" b="0" i="0" u="none" strike="noStrike" dirty="0" err="1">
                          <a:solidFill>
                            <a:srgbClr val="000000"/>
                          </a:solidFill>
                          <a:effectLst/>
                          <a:latin typeface="Verdana" panose="020B0604030504040204" pitchFamily="34" charset="0"/>
                        </a:rPr>
                        <a:t>shock</a:t>
                      </a:r>
                      <a:r>
                        <a:rPr lang="fr-FR" sz="600" b="0" i="0" u="none" strike="noStrike" dirty="0">
                          <a:solidFill>
                            <a:srgbClr val="000000"/>
                          </a:solidFill>
                          <a:effectLst/>
                          <a:latin typeface="Verdana" panose="020B0604030504040204" pitchFamily="34" charset="0"/>
                        </a:rPr>
                        <a:t> up</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dirty="0">
                          <a:solidFill>
                            <a:srgbClr val="000000"/>
                          </a:solidFill>
                          <a:effectLst/>
                          <a:latin typeface="Verdana" panose="020B0604030504040204" pitchFamily="34" charset="0"/>
                        </a:rPr>
                        <a:t>∆EVE -  Parallel </a:t>
                      </a:r>
                      <a:r>
                        <a:rPr lang="fr-FR" sz="600" b="0" i="0" u="none" strike="noStrike" dirty="0" err="1">
                          <a:solidFill>
                            <a:srgbClr val="000000"/>
                          </a:solidFill>
                          <a:effectLst/>
                          <a:latin typeface="Verdana" panose="020B0604030504040204" pitchFamily="34" charset="0"/>
                        </a:rPr>
                        <a:t>shock</a:t>
                      </a:r>
                      <a:r>
                        <a:rPr lang="fr-FR" sz="600" b="0" i="0" u="none" strike="noStrike" dirty="0">
                          <a:solidFill>
                            <a:srgbClr val="000000"/>
                          </a:solidFill>
                          <a:effectLst/>
                          <a:latin typeface="Verdana" panose="020B0604030504040204" pitchFamily="34" charset="0"/>
                        </a:rPr>
                        <a:t> down</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∆EVE - Steepener shock</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∆EVE - Flattener shock</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600" b="0" i="0" u="none" strike="noStrike">
                          <a:solidFill>
                            <a:srgbClr val="000000"/>
                          </a:solidFill>
                          <a:effectLst/>
                          <a:latin typeface="Verdana" panose="020B0604030504040204" pitchFamily="34" charset="0"/>
                        </a:rPr>
                        <a:t>∆EVE - Short rates shock up</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600" b="0" i="0" u="none" strike="noStrike">
                          <a:solidFill>
                            <a:srgbClr val="000000"/>
                          </a:solidFill>
                          <a:effectLst/>
                          <a:latin typeface="Verdana" panose="020B0604030504040204" pitchFamily="34" charset="0"/>
                        </a:rPr>
                        <a:t>∆EVE -  Short rates shock down</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600" b="0" i="0" u="none" strike="noStrike">
                          <a:solidFill>
                            <a:srgbClr val="000000"/>
                          </a:solidFill>
                          <a:effectLst/>
                          <a:latin typeface="Verdana" panose="020B0604030504040204" pitchFamily="34" charset="0"/>
                        </a:rPr>
                        <a:t>Level of NII - Baseline scenario</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dirty="0">
                          <a:solidFill>
                            <a:srgbClr val="000000"/>
                          </a:solidFill>
                          <a:effectLst/>
                          <a:latin typeface="Verdana" panose="020B0604030504040204" pitchFamily="34" charset="0"/>
                        </a:rPr>
                        <a:t>∆NII - Parallel </a:t>
                      </a:r>
                      <a:r>
                        <a:rPr lang="fr-FR" sz="600" b="0" i="0" u="none" strike="noStrike" dirty="0" err="1">
                          <a:solidFill>
                            <a:srgbClr val="000000"/>
                          </a:solidFill>
                          <a:effectLst/>
                          <a:latin typeface="Verdana" panose="020B0604030504040204" pitchFamily="34" charset="0"/>
                        </a:rPr>
                        <a:t>shock</a:t>
                      </a:r>
                      <a:r>
                        <a:rPr lang="fr-FR" sz="600" b="0" i="0" u="none" strike="noStrike" dirty="0">
                          <a:solidFill>
                            <a:srgbClr val="000000"/>
                          </a:solidFill>
                          <a:effectLst/>
                          <a:latin typeface="Verdana" panose="020B0604030504040204" pitchFamily="34" charset="0"/>
                        </a:rPr>
                        <a:t> up</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dirty="0">
                          <a:solidFill>
                            <a:srgbClr val="000000"/>
                          </a:solidFill>
                          <a:effectLst/>
                          <a:latin typeface="Verdana" panose="020B0604030504040204" pitchFamily="34" charset="0"/>
                        </a:rPr>
                        <a:t>∆EVE -  Parallel </a:t>
                      </a:r>
                      <a:r>
                        <a:rPr lang="fr-FR" sz="600" b="0" i="0" u="none" strike="noStrike" dirty="0" err="1">
                          <a:solidFill>
                            <a:srgbClr val="000000"/>
                          </a:solidFill>
                          <a:effectLst/>
                          <a:latin typeface="Verdana" panose="020B0604030504040204" pitchFamily="34" charset="0"/>
                        </a:rPr>
                        <a:t>shock</a:t>
                      </a:r>
                      <a:r>
                        <a:rPr lang="fr-FR" sz="600" b="0" i="0" u="none" strike="noStrike" dirty="0">
                          <a:solidFill>
                            <a:srgbClr val="000000"/>
                          </a:solidFill>
                          <a:effectLst/>
                          <a:latin typeface="Verdana" panose="020B0604030504040204" pitchFamily="34" charset="0"/>
                        </a:rPr>
                        <a:t> down</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600" b="0" i="0" u="none" strike="noStrike">
                          <a:solidFill>
                            <a:srgbClr val="000000"/>
                          </a:solidFill>
                          <a:effectLst/>
                          <a:latin typeface="Verdana" panose="020B0604030504040204" pitchFamily="34" charset="0"/>
                        </a:rPr>
                        <a:t>Level of MV - Baseline scenario</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dirty="0">
                          <a:solidFill>
                            <a:srgbClr val="000000"/>
                          </a:solidFill>
                          <a:effectLst/>
                          <a:latin typeface="Verdana" panose="020B0604030504040204" pitchFamily="34" charset="0"/>
                        </a:rPr>
                        <a:t>∆MV - Parallel </a:t>
                      </a:r>
                      <a:r>
                        <a:rPr lang="fr-FR" sz="600" b="0" i="0" u="none" strike="noStrike" dirty="0" err="1">
                          <a:solidFill>
                            <a:srgbClr val="000000"/>
                          </a:solidFill>
                          <a:effectLst/>
                          <a:latin typeface="Verdana" panose="020B0604030504040204" pitchFamily="34" charset="0"/>
                        </a:rPr>
                        <a:t>shock</a:t>
                      </a:r>
                      <a:r>
                        <a:rPr lang="fr-FR" sz="600" b="0" i="0" u="none" strike="noStrike" dirty="0">
                          <a:solidFill>
                            <a:srgbClr val="000000"/>
                          </a:solidFill>
                          <a:effectLst/>
                          <a:latin typeface="Verdana" panose="020B0604030504040204" pitchFamily="34" charset="0"/>
                        </a:rPr>
                        <a:t> up</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dirty="0">
                          <a:solidFill>
                            <a:srgbClr val="000000"/>
                          </a:solidFill>
                          <a:effectLst/>
                          <a:latin typeface="Verdana" panose="020B0604030504040204" pitchFamily="34" charset="0"/>
                        </a:rPr>
                        <a:t>∆MV -  Parallel </a:t>
                      </a:r>
                      <a:r>
                        <a:rPr lang="fr-FR" sz="600" b="0" i="0" u="none" strike="noStrike" dirty="0" err="1">
                          <a:solidFill>
                            <a:srgbClr val="000000"/>
                          </a:solidFill>
                          <a:effectLst/>
                          <a:latin typeface="Verdana" panose="020B0604030504040204" pitchFamily="34" charset="0"/>
                        </a:rPr>
                        <a:t>shock</a:t>
                      </a:r>
                      <a:r>
                        <a:rPr lang="fr-FR" sz="600" b="0" i="0" u="none" strike="noStrike" dirty="0">
                          <a:solidFill>
                            <a:srgbClr val="000000"/>
                          </a:solidFill>
                          <a:effectLst/>
                          <a:latin typeface="Verdana" panose="020B0604030504040204" pitchFamily="34" charset="0"/>
                        </a:rPr>
                        <a:t> down</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63045622"/>
                  </a:ext>
                </a:extLst>
              </a:tr>
              <a:tr h="108715">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0010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0020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0030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0040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0050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0060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0070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0080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0090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0100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0110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0120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0130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0140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600" b="0" i="0" u="none" strike="noStrike">
                          <a:solidFill>
                            <a:srgbClr val="000000"/>
                          </a:solidFill>
                          <a:effectLst/>
                          <a:latin typeface="Verdana" panose="020B0604030504040204" pitchFamily="34" charset="0"/>
                        </a:rPr>
                        <a:t>0150</a:t>
                      </a:r>
                    </a:p>
                  </a:txBody>
                  <a:tcPr marL="2656" marR="2656" marT="2656"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647554143"/>
                  </a:ext>
                </a:extLst>
              </a:tr>
              <a:tr h="107009">
                <a:tc>
                  <a:txBody>
                    <a:bodyPr/>
                    <a:lstStyle/>
                    <a:p>
                      <a:pPr algn="l" fontAlgn="ctr"/>
                      <a:r>
                        <a:rPr lang="fr-FR" sz="600" b="1" i="0" u="none" strike="noStrike">
                          <a:solidFill>
                            <a:srgbClr val="000000"/>
                          </a:solidFill>
                          <a:effectLst/>
                          <a:latin typeface="Verdana" panose="020B0604030504040204" pitchFamily="34" charset="0"/>
                        </a:rPr>
                        <a:t>TOTAL ASSETS</a:t>
                      </a:r>
                    </a:p>
                  </a:txBody>
                  <a:tcPr marL="2656" marR="2656" marT="2656"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0010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872949999"/>
                  </a:ext>
                </a:extLst>
              </a:tr>
              <a:tr h="108715">
                <a:tc>
                  <a:txBody>
                    <a:bodyPr/>
                    <a:lstStyle/>
                    <a:p>
                      <a:pPr algn="l" fontAlgn="ctr"/>
                      <a:r>
                        <a:rPr lang="en-US" sz="600" b="1" i="0" u="none" strike="noStrike">
                          <a:solidFill>
                            <a:srgbClr val="000000"/>
                          </a:solidFill>
                          <a:effectLst/>
                          <a:latin typeface="Verdana" panose="020B0604030504040204" pitchFamily="34" charset="0"/>
                        </a:rPr>
                        <a:t>Off-balance sheet assets: contingent assets</a:t>
                      </a:r>
                    </a:p>
                  </a:txBody>
                  <a:tcPr marL="2656" marR="2656" marT="2656"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0190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10692781"/>
                  </a:ext>
                </a:extLst>
              </a:tr>
              <a:tr h="108715">
                <a:tc>
                  <a:txBody>
                    <a:bodyPr/>
                    <a:lstStyle/>
                    <a:p>
                      <a:pPr algn="l" fontAlgn="ctr"/>
                      <a:r>
                        <a:rPr lang="fr-FR" sz="600" b="1" i="0" u="none" strike="noStrike">
                          <a:solidFill>
                            <a:srgbClr val="000000"/>
                          </a:solidFill>
                          <a:effectLst/>
                          <a:latin typeface="Verdana" panose="020B0604030504040204" pitchFamily="34" charset="0"/>
                        </a:rPr>
                        <a:t>TOTAL LIABILITIES</a:t>
                      </a:r>
                    </a:p>
                  </a:txBody>
                  <a:tcPr marL="2656" marR="2656" marT="2656"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0200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095275533"/>
                  </a:ext>
                </a:extLst>
              </a:tr>
              <a:tr h="108715">
                <a:tc>
                  <a:txBody>
                    <a:bodyPr/>
                    <a:lstStyle/>
                    <a:p>
                      <a:pPr algn="l" fontAlgn="ctr"/>
                      <a:r>
                        <a:rPr lang="fr-FR" sz="600" b="1" i="0" u="none" strike="noStrike">
                          <a:solidFill>
                            <a:srgbClr val="000000"/>
                          </a:solidFill>
                          <a:effectLst/>
                          <a:latin typeface="Verdana" panose="020B0604030504040204" pitchFamily="34" charset="0"/>
                        </a:rPr>
                        <a:t>Off-balance sheet liabilities: contingent liabilities</a:t>
                      </a:r>
                    </a:p>
                  </a:txBody>
                  <a:tcPr marL="2656" marR="2656" marT="2656"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0520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593457068"/>
                  </a:ext>
                </a:extLst>
              </a:tr>
              <a:tr h="108715">
                <a:tc gridSpan="17">
                  <a:txBody>
                    <a:bodyPr/>
                    <a:lstStyle/>
                    <a:p>
                      <a:pPr algn="l" fontAlgn="ctr"/>
                      <a:r>
                        <a:rPr lang="fr-FR" sz="600" b="1" i="0" u="none" strike="noStrike">
                          <a:solidFill>
                            <a:srgbClr val="000000"/>
                          </a:solidFill>
                          <a:effectLst/>
                          <a:latin typeface="Verdana" panose="020B0604030504040204" pitchFamily="34" charset="0"/>
                        </a:rPr>
                        <a:t>MEMORANDUM ITEMS</a:t>
                      </a:r>
                    </a:p>
                  </a:txBody>
                  <a:tcPr marL="2656" marR="2656" marT="2656"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658105994"/>
                  </a:ext>
                </a:extLst>
              </a:tr>
              <a:tr h="107009">
                <a:tc>
                  <a:txBody>
                    <a:bodyPr/>
                    <a:lstStyle/>
                    <a:p>
                      <a:pPr algn="l" fontAlgn="ctr"/>
                      <a:r>
                        <a:rPr lang="en-US" sz="600" b="1" i="0" u="none" strike="noStrike">
                          <a:solidFill>
                            <a:srgbClr val="000000"/>
                          </a:solidFill>
                          <a:effectLst/>
                          <a:latin typeface="Verdana" panose="020B0604030504040204" pitchFamily="34" charset="0"/>
                        </a:rPr>
                        <a:t>Total Assets with MV impact</a:t>
                      </a:r>
                    </a:p>
                  </a:txBody>
                  <a:tcPr marL="2656" marR="2656" marT="2656"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0570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953269125"/>
                  </a:ext>
                </a:extLst>
              </a:tr>
              <a:tr h="108715">
                <a:tc>
                  <a:txBody>
                    <a:bodyPr/>
                    <a:lstStyle/>
                    <a:p>
                      <a:pPr algn="l" fontAlgn="ctr"/>
                      <a:r>
                        <a:rPr lang="fr-FR" sz="600" b="0" i="0" u="none" strike="noStrike">
                          <a:solidFill>
                            <a:srgbClr val="000000"/>
                          </a:solidFill>
                          <a:effectLst/>
                          <a:latin typeface="Verdana" panose="020B0604030504040204" pitchFamily="34" charset="0"/>
                        </a:rPr>
                        <a:t>Debt securities</a:t>
                      </a:r>
                    </a:p>
                  </a:txBody>
                  <a:tcPr marL="111529" marR="2656" marT="2656"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0580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573301827"/>
                  </a:ext>
                </a:extLst>
              </a:tr>
              <a:tr h="108715">
                <a:tc>
                  <a:txBody>
                    <a:bodyPr/>
                    <a:lstStyle/>
                    <a:p>
                      <a:pPr algn="l" fontAlgn="ctr"/>
                      <a:r>
                        <a:rPr lang="fr-FR" sz="600" b="0" i="0" u="none" strike="noStrike">
                          <a:solidFill>
                            <a:srgbClr val="000000"/>
                          </a:solidFill>
                          <a:effectLst/>
                          <a:latin typeface="Verdana" panose="020B0604030504040204" pitchFamily="34" charset="0"/>
                        </a:rPr>
                        <a:t>Derivatives</a:t>
                      </a:r>
                    </a:p>
                  </a:txBody>
                  <a:tcPr marL="111529" marR="2656" marT="2656"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0590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661164161"/>
                  </a:ext>
                </a:extLst>
              </a:tr>
              <a:tr h="108715">
                <a:tc>
                  <a:txBody>
                    <a:bodyPr/>
                    <a:lstStyle/>
                    <a:p>
                      <a:pPr algn="l" fontAlgn="ctr"/>
                      <a:r>
                        <a:rPr lang="fr-FR" sz="600" b="0" i="0" u="none" strike="noStrike">
                          <a:solidFill>
                            <a:srgbClr val="000000"/>
                          </a:solidFill>
                          <a:effectLst/>
                          <a:latin typeface="Verdana" panose="020B0604030504040204" pitchFamily="34" charset="0"/>
                        </a:rPr>
                        <a:t>Other</a:t>
                      </a:r>
                    </a:p>
                  </a:txBody>
                  <a:tcPr marL="111529" marR="2656" marT="2656"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0600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43794732"/>
                  </a:ext>
                </a:extLst>
              </a:tr>
              <a:tr h="107009">
                <a:tc>
                  <a:txBody>
                    <a:bodyPr/>
                    <a:lstStyle/>
                    <a:p>
                      <a:pPr algn="l" fontAlgn="ctr"/>
                      <a:r>
                        <a:rPr lang="en-US" sz="600" b="1" i="0" u="none" strike="noStrike">
                          <a:solidFill>
                            <a:srgbClr val="000000"/>
                          </a:solidFill>
                          <a:effectLst/>
                          <a:latin typeface="Verdana" panose="020B0604030504040204" pitchFamily="34" charset="0"/>
                        </a:rPr>
                        <a:t>Total Liabilities with MV impact</a:t>
                      </a:r>
                    </a:p>
                  </a:txBody>
                  <a:tcPr marL="2656" marR="2656" marT="2656"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0610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531315035"/>
                  </a:ext>
                </a:extLst>
              </a:tr>
              <a:tr h="108715">
                <a:tc>
                  <a:txBody>
                    <a:bodyPr/>
                    <a:lstStyle/>
                    <a:p>
                      <a:pPr algn="l" fontAlgn="ctr"/>
                      <a:r>
                        <a:rPr lang="fr-FR" sz="600" b="0" i="0" u="none" strike="noStrike">
                          <a:solidFill>
                            <a:srgbClr val="000000"/>
                          </a:solidFill>
                          <a:effectLst/>
                          <a:latin typeface="Verdana" panose="020B0604030504040204" pitchFamily="34" charset="0"/>
                        </a:rPr>
                        <a:t>Debt securities issued</a:t>
                      </a:r>
                    </a:p>
                  </a:txBody>
                  <a:tcPr marL="111529" marR="2656" marT="2656"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0620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226435717"/>
                  </a:ext>
                </a:extLst>
              </a:tr>
              <a:tr h="108715">
                <a:tc>
                  <a:txBody>
                    <a:bodyPr/>
                    <a:lstStyle/>
                    <a:p>
                      <a:pPr algn="l" fontAlgn="b"/>
                      <a:r>
                        <a:rPr lang="fr-FR" sz="600" b="0" i="0" u="none" strike="noStrike">
                          <a:solidFill>
                            <a:srgbClr val="000000"/>
                          </a:solidFill>
                          <a:effectLst/>
                          <a:latin typeface="Verdana" panose="020B0604030504040204" pitchFamily="34" charset="0"/>
                        </a:rPr>
                        <a:t>Derivatives </a:t>
                      </a:r>
                    </a:p>
                  </a:txBody>
                  <a:tcPr marL="111529" marR="2656" marT="2656"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0630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608370494"/>
                  </a:ext>
                </a:extLst>
              </a:tr>
              <a:tr h="111937">
                <a:tc>
                  <a:txBody>
                    <a:bodyPr/>
                    <a:lstStyle/>
                    <a:p>
                      <a:pPr algn="l" fontAlgn="b"/>
                      <a:r>
                        <a:rPr lang="fr-FR" sz="600" b="0" i="0" u="none" strike="noStrike">
                          <a:solidFill>
                            <a:srgbClr val="000000"/>
                          </a:solidFill>
                          <a:effectLst/>
                          <a:latin typeface="Verdana" panose="020B0604030504040204" pitchFamily="34" charset="0"/>
                        </a:rPr>
                        <a:t>Other</a:t>
                      </a:r>
                    </a:p>
                  </a:txBody>
                  <a:tcPr marL="111529" marR="2656" marT="2656"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0640</a:t>
                      </a:r>
                    </a:p>
                  </a:txBody>
                  <a:tcPr marL="2656" marR="2656" marT="2656"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dirty="0">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dirty="0">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2656" marR="2656" marT="2656"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dirty="0">
                          <a:solidFill>
                            <a:srgbClr val="000000"/>
                          </a:solidFill>
                          <a:effectLst/>
                          <a:latin typeface="Verdana" panose="020B0604030504040204" pitchFamily="34" charset="0"/>
                        </a:rPr>
                        <a:t> </a:t>
                      </a:r>
                    </a:p>
                  </a:txBody>
                  <a:tcPr marL="2656" marR="2656" marT="2656"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50484558"/>
                  </a:ext>
                </a:extLst>
              </a:tr>
            </a:tbl>
          </a:graphicData>
        </a:graphic>
      </p:graphicFrame>
      <p:sp>
        <p:nvSpPr>
          <p:cNvPr id="19" name="Rectangle 18">
            <a:extLst>
              <a:ext uri="{FF2B5EF4-FFF2-40B4-BE49-F238E27FC236}">
                <a16:creationId xmlns:a16="http://schemas.microsoft.com/office/drawing/2014/main" id="{5A518491-3980-9A2B-CCC9-45CA3FA87ADE}"/>
              </a:ext>
            </a:extLst>
          </p:cNvPr>
          <p:cNvSpPr/>
          <p:nvPr/>
        </p:nvSpPr>
        <p:spPr>
          <a:xfrm>
            <a:off x="388542" y="3215640"/>
            <a:ext cx="11551916" cy="975360"/>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TextBox 3">
            <a:extLst>
              <a:ext uri="{FF2B5EF4-FFF2-40B4-BE49-F238E27FC236}">
                <a16:creationId xmlns:a16="http://schemas.microsoft.com/office/drawing/2014/main" id="{6D1B1F1A-3AE2-C8D1-F4D4-D5955879DECE}"/>
              </a:ext>
            </a:extLst>
          </p:cNvPr>
          <p:cNvSpPr txBox="1"/>
          <p:nvPr/>
        </p:nvSpPr>
        <p:spPr>
          <a:xfrm>
            <a:off x="388542" y="4630748"/>
            <a:ext cx="11551916" cy="954107"/>
          </a:xfrm>
          <a:prstGeom prst="rect">
            <a:avLst/>
          </a:prstGeom>
          <a:noFill/>
          <a:ln>
            <a:solidFill>
              <a:schemeClr val="tx1">
                <a:lumMod val="50000"/>
              </a:schemeClr>
            </a:solidFill>
          </a:ln>
        </p:spPr>
        <p:txBody>
          <a:bodyPr wrap="square" rtlCol="0">
            <a:spAutoFit/>
          </a:bodyPr>
          <a:lstStyle/>
          <a:p>
            <a:r>
              <a:rPr lang="fr-FR" dirty="0">
                <a:solidFill>
                  <a:schemeClr val="tx1">
                    <a:lumMod val="50000"/>
                  </a:schemeClr>
                </a:solidFill>
                <a:latin typeface="Calibri (body)"/>
              </a:rPr>
              <a:t>Ce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permet d’alimenter 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J01.</a:t>
            </a:r>
          </a:p>
          <a:p>
            <a:r>
              <a:rPr lang="fr-FR" dirty="0">
                <a:solidFill>
                  <a:schemeClr val="tx1">
                    <a:lumMod val="50000"/>
                  </a:schemeClr>
                </a:solidFill>
                <a:latin typeface="Calibri (body)"/>
              </a:rPr>
              <a:t>Il présente les résultats obtenus de façon légèrement plus détaillé, permettant de décomposer la contribution Actif/Passif des différentes métriques dans chaque devise significative.</a:t>
            </a:r>
          </a:p>
          <a:p>
            <a:r>
              <a:rPr lang="fr-FR" dirty="0">
                <a:solidFill>
                  <a:schemeClr val="tx1">
                    <a:lumMod val="50000"/>
                  </a:schemeClr>
                </a:solidFill>
                <a:latin typeface="Calibri (body)"/>
              </a:rPr>
              <a:t>Il introduit également la notion de </a:t>
            </a:r>
            <a:r>
              <a:rPr lang="fr-FR" b="1" dirty="0">
                <a:solidFill>
                  <a:schemeClr val="tx1">
                    <a:lumMod val="50000"/>
                  </a:schemeClr>
                </a:solidFill>
                <a:latin typeface="Calibri (body)"/>
              </a:rPr>
              <a:t>duration, une « métrique » additionnelle correspondant à un choc de + 1bp de la valeur économique.</a:t>
            </a:r>
          </a:p>
        </p:txBody>
      </p:sp>
      <p:sp>
        <p:nvSpPr>
          <p:cNvPr id="5" name="Espace réservé du texte 15">
            <a:extLst>
              <a:ext uri="{FF2B5EF4-FFF2-40B4-BE49-F238E27FC236}">
                <a16:creationId xmlns:a16="http://schemas.microsoft.com/office/drawing/2014/main" id="{A31FE1E5-5E95-B912-4217-41AAD2A5E848}"/>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153057128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997B170-99F2-48D7-7939-42F8EB21D799}"/>
              </a:ext>
            </a:extLst>
          </p:cNvPr>
          <p:cNvSpPr/>
          <p:nvPr/>
        </p:nvSpPr>
        <p:spPr>
          <a:xfrm>
            <a:off x="8556859" y="6063916"/>
            <a:ext cx="3551722" cy="794084"/>
          </a:xfrm>
          <a:prstGeom prst="rect">
            <a:avLst/>
          </a:prstGeom>
          <a:solidFill>
            <a:srgbClr val="F2F2F2"/>
          </a:solidFill>
          <a:ln>
            <a:solidFill>
              <a:srgbClr val="F2F2F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a- Template </a:t>
            </a:r>
            <a:r>
              <a:rPr lang="fr-FR" sz="2000" i="1" dirty="0">
                <a:highlight>
                  <a:srgbClr val="FF0000"/>
                </a:highlight>
                <a:latin typeface="Calibri (body)"/>
                <a:cs typeface="Calibri"/>
              </a:rPr>
              <a:t>J03</a:t>
            </a:r>
            <a:r>
              <a:rPr lang="fr-FR" sz="2000" i="1" dirty="0">
                <a:latin typeface="Calibri (body)"/>
                <a:cs typeface="Calibri"/>
              </a:rPr>
              <a:t> – Breakdown of </a:t>
            </a:r>
            <a:r>
              <a:rPr lang="fr-FR" sz="2000" i="1" dirty="0" err="1">
                <a:latin typeface="Calibri (body)"/>
                <a:cs typeface="Calibri"/>
              </a:rPr>
              <a:t>sensitivity</a:t>
            </a:r>
            <a:r>
              <a:rPr lang="fr-FR" sz="2000" i="1" dirty="0">
                <a:latin typeface="Calibri (body)"/>
                <a:cs typeface="Calibri"/>
              </a:rPr>
              <a:t> </a:t>
            </a:r>
            <a:r>
              <a:rPr lang="fr-FR" sz="2000" i="1" dirty="0" err="1">
                <a:latin typeface="Calibri (body)"/>
                <a:cs typeface="Calibri"/>
              </a:rPr>
              <a:t>estimates</a:t>
            </a:r>
            <a:endParaRPr lang="fr-FR" sz="2000" dirty="0">
              <a:latin typeface="Calibri"/>
              <a:cs typeface="Calibri"/>
            </a:endParaRPr>
          </a:p>
        </p:txBody>
      </p:sp>
      <p:sp>
        <p:nvSpPr>
          <p:cNvPr id="25" name="Rectangle 24">
            <a:extLst>
              <a:ext uri="{FF2B5EF4-FFF2-40B4-BE49-F238E27FC236}">
                <a16:creationId xmlns:a16="http://schemas.microsoft.com/office/drawing/2014/main" id="{129773B8-2EA0-180F-04F4-F7CDFC6BFB28}"/>
              </a:ext>
            </a:extLst>
          </p:cNvPr>
          <p:cNvSpPr/>
          <p:nvPr/>
        </p:nvSpPr>
        <p:spPr>
          <a:xfrm>
            <a:off x="8994606" y="5314557"/>
            <a:ext cx="95250" cy="1138911"/>
          </a:xfrm>
          <a:prstGeom prst="rect">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TextBox 3">
            <a:extLst>
              <a:ext uri="{FF2B5EF4-FFF2-40B4-BE49-F238E27FC236}">
                <a16:creationId xmlns:a16="http://schemas.microsoft.com/office/drawing/2014/main" id="{6D1B1F1A-3AE2-C8D1-F4D4-D5955879DECE}"/>
              </a:ext>
            </a:extLst>
          </p:cNvPr>
          <p:cNvSpPr txBox="1"/>
          <p:nvPr/>
        </p:nvSpPr>
        <p:spPr>
          <a:xfrm>
            <a:off x="320042" y="5662005"/>
            <a:ext cx="11466412" cy="954107"/>
          </a:xfrm>
          <a:prstGeom prst="rect">
            <a:avLst/>
          </a:prstGeom>
          <a:noFill/>
          <a:ln>
            <a:solidFill>
              <a:schemeClr val="tx1">
                <a:lumMod val="50000"/>
              </a:schemeClr>
            </a:solidFill>
          </a:ln>
        </p:spPr>
        <p:txBody>
          <a:bodyPr wrap="square" rtlCol="0">
            <a:spAutoFit/>
          </a:bodyPr>
          <a:lstStyle/>
          <a:p>
            <a:r>
              <a:rPr lang="fr-FR" dirty="0">
                <a:solidFill>
                  <a:schemeClr val="tx1">
                    <a:lumMod val="50000"/>
                  </a:schemeClr>
                </a:solidFill>
                <a:latin typeface="Calibri (body)"/>
              </a:rPr>
              <a:t>Ce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permet d’alimenter 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J01.</a:t>
            </a:r>
          </a:p>
          <a:p>
            <a:r>
              <a:rPr lang="fr-FR" dirty="0">
                <a:solidFill>
                  <a:schemeClr val="tx1">
                    <a:lumMod val="50000"/>
                  </a:schemeClr>
                </a:solidFill>
                <a:latin typeface="Calibri (body)"/>
              </a:rPr>
              <a:t>Il présente les résultats obtenus de façon détaillé, permettant de décomposer la contribution des différentes typologies d’encours à chaque métrique dans chaque devise significative.</a:t>
            </a:r>
          </a:p>
          <a:p>
            <a:r>
              <a:rPr lang="fr-FR" dirty="0">
                <a:solidFill>
                  <a:schemeClr val="tx1">
                    <a:lumMod val="50000"/>
                  </a:schemeClr>
                </a:solidFill>
                <a:latin typeface="Calibri (body)"/>
              </a:rPr>
              <a:t>Il introduit également la notion de </a:t>
            </a:r>
            <a:r>
              <a:rPr lang="fr-FR" b="1" dirty="0">
                <a:solidFill>
                  <a:schemeClr val="tx1">
                    <a:lumMod val="50000"/>
                  </a:schemeClr>
                </a:solidFill>
                <a:latin typeface="Calibri (body)"/>
              </a:rPr>
              <a:t>duration, une « métrique » additionnelle correspondant à un choc de + 1bp de la valeur économique.</a:t>
            </a:r>
          </a:p>
        </p:txBody>
      </p:sp>
      <p:sp>
        <p:nvSpPr>
          <p:cNvPr id="5" name="Espace réservé du texte 15">
            <a:extLst>
              <a:ext uri="{FF2B5EF4-FFF2-40B4-BE49-F238E27FC236}">
                <a16:creationId xmlns:a16="http://schemas.microsoft.com/office/drawing/2014/main" id="{A31FE1E5-5E95-B912-4217-41AAD2A5E848}"/>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6" name="Table 5">
            <a:extLst>
              <a:ext uri="{FF2B5EF4-FFF2-40B4-BE49-F238E27FC236}">
                <a16:creationId xmlns:a16="http://schemas.microsoft.com/office/drawing/2014/main" id="{B4C10AFF-B6F4-045E-5F0A-D7C222F1D0DC}"/>
              </a:ext>
            </a:extLst>
          </p:cNvPr>
          <p:cNvGraphicFramePr>
            <a:graphicFrameLocks noGrp="1"/>
          </p:cNvGraphicFramePr>
          <p:nvPr>
            <p:extLst>
              <p:ext uri="{D42A27DB-BD31-4B8C-83A1-F6EECF244321}">
                <p14:modId xmlns:p14="http://schemas.microsoft.com/office/powerpoint/2010/main" val="4221864564"/>
              </p:ext>
            </p:extLst>
          </p:nvPr>
        </p:nvGraphicFramePr>
        <p:xfrm>
          <a:off x="335926" y="864716"/>
          <a:ext cx="11450528" cy="4678262"/>
        </p:xfrm>
        <a:graphic>
          <a:graphicData uri="http://schemas.openxmlformats.org/drawingml/2006/table">
            <a:tbl>
              <a:tblPr/>
              <a:tblGrid>
                <a:gridCol w="3946934">
                  <a:extLst>
                    <a:ext uri="{9D8B030D-6E8A-4147-A177-3AD203B41FA5}">
                      <a16:colId xmlns:a16="http://schemas.microsoft.com/office/drawing/2014/main" val="316525989"/>
                    </a:ext>
                  </a:extLst>
                </a:gridCol>
                <a:gridCol w="375548">
                  <a:extLst>
                    <a:ext uri="{9D8B030D-6E8A-4147-A177-3AD203B41FA5}">
                      <a16:colId xmlns:a16="http://schemas.microsoft.com/office/drawing/2014/main" val="420036453"/>
                    </a:ext>
                  </a:extLst>
                </a:gridCol>
                <a:gridCol w="405003">
                  <a:extLst>
                    <a:ext uri="{9D8B030D-6E8A-4147-A177-3AD203B41FA5}">
                      <a16:colId xmlns:a16="http://schemas.microsoft.com/office/drawing/2014/main" val="3559322497"/>
                    </a:ext>
                  </a:extLst>
                </a:gridCol>
                <a:gridCol w="441821">
                  <a:extLst>
                    <a:ext uri="{9D8B030D-6E8A-4147-A177-3AD203B41FA5}">
                      <a16:colId xmlns:a16="http://schemas.microsoft.com/office/drawing/2014/main" val="1943892693"/>
                    </a:ext>
                  </a:extLst>
                </a:gridCol>
                <a:gridCol w="471275">
                  <a:extLst>
                    <a:ext uri="{9D8B030D-6E8A-4147-A177-3AD203B41FA5}">
                      <a16:colId xmlns:a16="http://schemas.microsoft.com/office/drawing/2014/main" val="3374340559"/>
                    </a:ext>
                  </a:extLst>
                </a:gridCol>
                <a:gridCol w="427093">
                  <a:extLst>
                    <a:ext uri="{9D8B030D-6E8A-4147-A177-3AD203B41FA5}">
                      <a16:colId xmlns:a16="http://schemas.microsoft.com/office/drawing/2014/main" val="2992530140"/>
                    </a:ext>
                  </a:extLst>
                </a:gridCol>
                <a:gridCol w="522822">
                  <a:extLst>
                    <a:ext uri="{9D8B030D-6E8A-4147-A177-3AD203B41FA5}">
                      <a16:colId xmlns:a16="http://schemas.microsoft.com/office/drawing/2014/main" val="1345617447"/>
                    </a:ext>
                  </a:extLst>
                </a:gridCol>
                <a:gridCol w="522822">
                  <a:extLst>
                    <a:ext uri="{9D8B030D-6E8A-4147-A177-3AD203B41FA5}">
                      <a16:colId xmlns:a16="http://schemas.microsoft.com/office/drawing/2014/main" val="3393357723"/>
                    </a:ext>
                  </a:extLst>
                </a:gridCol>
                <a:gridCol w="522822">
                  <a:extLst>
                    <a:ext uri="{9D8B030D-6E8A-4147-A177-3AD203B41FA5}">
                      <a16:colId xmlns:a16="http://schemas.microsoft.com/office/drawing/2014/main" val="4190825257"/>
                    </a:ext>
                  </a:extLst>
                </a:gridCol>
                <a:gridCol w="522822">
                  <a:extLst>
                    <a:ext uri="{9D8B030D-6E8A-4147-A177-3AD203B41FA5}">
                      <a16:colId xmlns:a16="http://schemas.microsoft.com/office/drawing/2014/main" val="3754748530"/>
                    </a:ext>
                  </a:extLst>
                </a:gridCol>
                <a:gridCol w="522822">
                  <a:extLst>
                    <a:ext uri="{9D8B030D-6E8A-4147-A177-3AD203B41FA5}">
                      <a16:colId xmlns:a16="http://schemas.microsoft.com/office/drawing/2014/main" val="766147871"/>
                    </a:ext>
                  </a:extLst>
                </a:gridCol>
                <a:gridCol w="441821">
                  <a:extLst>
                    <a:ext uri="{9D8B030D-6E8A-4147-A177-3AD203B41FA5}">
                      <a16:colId xmlns:a16="http://schemas.microsoft.com/office/drawing/2014/main" val="1072316583"/>
                    </a:ext>
                  </a:extLst>
                </a:gridCol>
                <a:gridCol w="427093">
                  <a:extLst>
                    <a:ext uri="{9D8B030D-6E8A-4147-A177-3AD203B41FA5}">
                      <a16:colId xmlns:a16="http://schemas.microsoft.com/office/drawing/2014/main" val="3973861476"/>
                    </a:ext>
                  </a:extLst>
                </a:gridCol>
                <a:gridCol w="574367">
                  <a:extLst>
                    <a:ext uri="{9D8B030D-6E8A-4147-A177-3AD203B41FA5}">
                      <a16:colId xmlns:a16="http://schemas.microsoft.com/office/drawing/2014/main" val="1290549321"/>
                    </a:ext>
                  </a:extLst>
                </a:gridCol>
                <a:gridCol w="441821">
                  <a:extLst>
                    <a:ext uri="{9D8B030D-6E8A-4147-A177-3AD203B41FA5}">
                      <a16:colId xmlns:a16="http://schemas.microsoft.com/office/drawing/2014/main" val="3380664297"/>
                    </a:ext>
                  </a:extLst>
                </a:gridCol>
                <a:gridCol w="441821">
                  <a:extLst>
                    <a:ext uri="{9D8B030D-6E8A-4147-A177-3AD203B41FA5}">
                      <a16:colId xmlns:a16="http://schemas.microsoft.com/office/drawing/2014/main" val="2410573626"/>
                    </a:ext>
                  </a:extLst>
                </a:gridCol>
                <a:gridCol w="441821">
                  <a:extLst>
                    <a:ext uri="{9D8B030D-6E8A-4147-A177-3AD203B41FA5}">
                      <a16:colId xmlns:a16="http://schemas.microsoft.com/office/drawing/2014/main" val="1450615427"/>
                    </a:ext>
                  </a:extLst>
                </a:gridCol>
              </a:tblGrid>
              <a:tr h="206548">
                <a:tc>
                  <a:txBody>
                    <a:bodyPr/>
                    <a:lstStyle/>
                    <a:p>
                      <a:pPr algn="l" fontAlgn="ctr"/>
                      <a:r>
                        <a:rPr lang="en-US" sz="600" b="1" i="0" u="none" strike="noStrike">
                          <a:solidFill>
                            <a:srgbClr val="000000"/>
                          </a:solidFill>
                          <a:effectLst/>
                          <a:latin typeface="Verdana" panose="020B0604030504040204" pitchFamily="34" charset="0"/>
                        </a:rPr>
                        <a:t>J 03.00 - BREAKDOWN OF SENSITIVITY ESTIMATES (SIMPLIFIED FOR 'OTHER' INSTITUTIONS)</a:t>
                      </a:r>
                    </a:p>
                  </a:txBody>
                  <a:tcPr marL="3009" marR="3009" marT="3009"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200" b="1" i="0" u="none" strike="noStrike">
                          <a:solidFill>
                            <a:srgbClr val="000000"/>
                          </a:solidFill>
                          <a:effectLst/>
                          <a:latin typeface="Verdana" panose="020B0604030504040204" pitchFamily="34" charset="0"/>
                        </a:rPr>
                        <a:t> </a:t>
                      </a:r>
                    </a:p>
                  </a:txBody>
                  <a:tcPr marL="3009" marR="3009" marT="3009"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602366341"/>
                  </a:ext>
                </a:extLst>
              </a:tr>
              <a:tr h="68614">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3011020870"/>
                  </a:ext>
                </a:extLst>
              </a:tr>
              <a:tr h="87137">
                <a:tc>
                  <a:txBody>
                    <a:bodyPr/>
                    <a:lstStyle/>
                    <a:p>
                      <a:pPr algn="r" fontAlgn="ctr"/>
                      <a:r>
                        <a:rPr lang="fr-FR" sz="500" b="1" i="0" u="none" strike="noStrike">
                          <a:solidFill>
                            <a:srgbClr val="000000"/>
                          </a:solidFill>
                          <a:effectLst/>
                          <a:latin typeface="Verdana" panose="020B0604030504040204" pitchFamily="34" charset="0"/>
                        </a:rPr>
                        <a:t>Currency:</a:t>
                      </a:r>
                    </a:p>
                  </a:txBody>
                  <a:tcPr marL="3009" marR="3009" marT="3009"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09" marR="3009" marT="3009"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09" marR="3009" marT="3009"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09" marR="3009" marT="3009"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w="6350" cap="flat" cmpd="sng" algn="ctr">
                      <a:solidFill>
                        <a:srgbClr val="000000"/>
                      </a:solidFill>
                      <a:prstDash val="solid"/>
                      <a:round/>
                      <a:headEnd type="none" w="med" len="med"/>
                      <a:tailEnd type="none" w="med" len="med"/>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extLst>
                  <a:ext uri="{0D108BD9-81ED-4DB2-BD59-A6C34878D82A}">
                    <a16:rowId xmlns:a16="http://schemas.microsoft.com/office/drawing/2014/main" val="1691578854"/>
                  </a:ext>
                </a:extLst>
              </a:tr>
              <a:tr h="87137">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09" marR="3009" marT="3009"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09" marR="3009" marT="3009"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09" marR="3009" marT="3009"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a:noFill/>
                    </a:lnB>
                    <a:noFill/>
                  </a:tcPr>
                </a:tc>
                <a:extLst>
                  <a:ext uri="{0D108BD9-81ED-4DB2-BD59-A6C34878D82A}">
                    <a16:rowId xmlns:a16="http://schemas.microsoft.com/office/drawing/2014/main" val="224398805"/>
                  </a:ext>
                </a:extLst>
              </a:tr>
              <a:tr h="93591">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26323095"/>
                  </a:ext>
                </a:extLst>
              </a:tr>
              <a:tr h="96819">
                <a:tc>
                  <a:txBody>
                    <a:bodyPr/>
                    <a:lstStyle/>
                    <a:p>
                      <a:pPr algn="l" fontAlgn="ctr"/>
                      <a:r>
                        <a:rPr lang="fr-FR" sz="500" b="1" i="0" u="none" strike="noStrike">
                          <a:solidFill>
                            <a:srgbClr val="000000"/>
                          </a:solidFill>
                          <a:effectLst/>
                          <a:latin typeface="Verdana" panose="020B0604030504040204" pitchFamily="34" charset="0"/>
                        </a:rPr>
                        <a:t> </a:t>
                      </a:r>
                    </a:p>
                  </a:txBody>
                  <a:tcPr marL="3009" marR="3009" marT="3009"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D9D9D9"/>
                    </a:solidFill>
                  </a:tcPr>
                </a:tc>
                <a:tc>
                  <a:txBody>
                    <a:bodyPr/>
                    <a:lstStyle/>
                    <a:p>
                      <a:pPr algn="l" fontAlgn="ctr"/>
                      <a:r>
                        <a:rPr lang="fr-FR" sz="500" b="1" i="0" u="none" strike="noStrike">
                          <a:solidFill>
                            <a:srgbClr val="000000"/>
                          </a:solidFill>
                          <a:effectLst/>
                          <a:latin typeface="Verdana" panose="020B0604030504040204" pitchFamily="34" charset="0"/>
                        </a:rPr>
                        <a:t> </a:t>
                      </a:r>
                    </a:p>
                  </a:txBody>
                  <a:tcPr marL="3009" marR="3009" marT="3009" marB="0" anchor="ctr">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9D9D9"/>
                    </a:solidFill>
                  </a:tcPr>
                </a:tc>
                <a:tc rowSpan="4">
                  <a:txBody>
                    <a:bodyPr/>
                    <a:lstStyle/>
                    <a:p>
                      <a:pPr algn="ctr" fontAlgn="ctr"/>
                      <a:r>
                        <a:rPr lang="fr-FR" sz="500" b="0" i="0" u="none" strike="noStrike">
                          <a:solidFill>
                            <a:srgbClr val="000000"/>
                          </a:solidFill>
                          <a:effectLst/>
                          <a:latin typeface="Verdana" panose="020B0604030504040204" pitchFamily="34" charset="0"/>
                        </a:rPr>
                        <a:t>Carrying amount</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4">
                  <a:txBody>
                    <a:bodyPr/>
                    <a:lstStyle/>
                    <a:p>
                      <a:pPr algn="ctr" fontAlgn="ctr"/>
                      <a:r>
                        <a:rPr lang="fr-FR" sz="500" b="0" i="0" u="none" strike="noStrike">
                          <a:solidFill>
                            <a:srgbClr val="000000"/>
                          </a:solidFill>
                          <a:effectLst/>
                          <a:latin typeface="Verdana" panose="020B0604030504040204" pitchFamily="34" charset="0"/>
                        </a:rPr>
                        <a:t>Duration</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gridSpan="13">
                  <a:txBody>
                    <a:bodyPr/>
                    <a:lstStyle/>
                    <a:p>
                      <a:pPr algn="ctr" fontAlgn="ctr"/>
                      <a:r>
                        <a:rPr lang="en-US" sz="500" b="1" i="0" u="none" strike="noStrike">
                          <a:solidFill>
                            <a:srgbClr val="000000"/>
                          </a:solidFill>
                          <a:effectLst/>
                          <a:latin typeface="Verdana" panose="020B0604030504040204" pitchFamily="34" charset="0"/>
                        </a:rPr>
                        <a:t>Bank estimate of IRRBB sensivitities including behavioural, conditional and automatic optionality</a:t>
                      </a:r>
                    </a:p>
                  </a:txBody>
                  <a:tcPr marL="3009" marR="3009" marT="3009"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308086276"/>
                  </a:ext>
                </a:extLst>
              </a:tr>
              <a:tr h="90365">
                <a:tc>
                  <a:txBody>
                    <a:bodyPr/>
                    <a:lstStyle/>
                    <a:p>
                      <a:pPr algn="l" fontAlgn="ctr"/>
                      <a:r>
                        <a:rPr lang="fr-FR" sz="500" b="1" i="0" u="none" strike="noStrike">
                          <a:solidFill>
                            <a:srgbClr val="000000"/>
                          </a:solidFill>
                          <a:effectLst/>
                          <a:latin typeface="Verdana" panose="020B0604030504040204" pitchFamily="34" charset="0"/>
                        </a:rPr>
                        <a:t> </a:t>
                      </a:r>
                    </a:p>
                  </a:txBody>
                  <a:tcPr marL="3009" marR="3009" marT="3009" marB="0" anchor="ctr">
                    <a:lnL w="12700" cap="flat" cmpd="sng" algn="ctr">
                      <a:solidFill>
                        <a:srgbClr val="000000"/>
                      </a:solidFill>
                      <a:prstDash val="solid"/>
                      <a:round/>
                      <a:headEnd type="none" w="med" len="med"/>
                      <a:tailEnd type="none" w="med" len="med"/>
                    </a:lnL>
                    <a:lnR>
                      <a:noFill/>
                    </a:lnR>
                    <a:lnT>
                      <a:noFill/>
                    </a:lnT>
                    <a:lnB>
                      <a:noFill/>
                    </a:lnB>
                    <a:solidFill>
                      <a:srgbClr val="D9D9D9"/>
                    </a:solidFill>
                  </a:tcPr>
                </a:tc>
                <a:tc>
                  <a:txBody>
                    <a:bodyPr/>
                    <a:lstStyle/>
                    <a:p>
                      <a:pPr algn="l" fontAlgn="ctr"/>
                      <a:r>
                        <a:rPr lang="fr-FR" sz="500" b="1" i="0" u="none" strike="noStrike">
                          <a:solidFill>
                            <a:srgbClr val="000000"/>
                          </a:solidFill>
                          <a:effectLst/>
                          <a:latin typeface="Verdana" panose="020B0604030504040204" pitchFamily="34" charset="0"/>
                        </a:rPr>
                        <a:t> </a:t>
                      </a:r>
                    </a:p>
                  </a:txBody>
                  <a:tcPr marL="3009" marR="3009" marT="3009" marB="0" anchor="ctr">
                    <a:lnL>
                      <a:noFill/>
                    </a:lnL>
                    <a:lnR w="6350" cap="flat" cmpd="sng" algn="ctr">
                      <a:solidFill>
                        <a:srgbClr val="000000"/>
                      </a:solidFill>
                      <a:prstDash val="solid"/>
                      <a:round/>
                      <a:headEnd type="none" w="med" len="med"/>
                      <a:tailEnd type="none" w="med" len="med"/>
                    </a:lnR>
                    <a:lnT>
                      <a:noFill/>
                    </a:lnT>
                    <a:lnB>
                      <a:noFill/>
                    </a:lnB>
                    <a:solidFill>
                      <a:srgbClr val="D9D9D9"/>
                    </a:solidFill>
                  </a:tcPr>
                </a:tc>
                <a:tc vMerge="1">
                  <a:txBody>
                    <a:bodyPr/>
                    <a:lstStyle/>
                    <a:p>
                      <a:endParaRPr lang="fr-FR"/>
                    </a:p>
                  </a:txBody>
                  <a:tcPr/>
                </a:tc>
                <a:tc vMerge="1">
                  <a:txBody>
                    <a:bodyPr/>
                    <a:lstStyle/>
                    <a:p>
                      <a:endParaRPr lang="fr-FR"/>
                    </a:p>
                  </a:txBody>
                  <a:tcPr/>
                </a:tc>
                <a:tc gridSpan="13"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3894187290"/>
                  </a:ext>
                </a:extLst>
              </a:tr>
              <a:tr h="154911">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12700" cap="flat" cmpd="sng" algn="ctr">
                      <a:solidFill>
                        <a:srgbClr val="000000"/>
                      </a:solidFill>
                      <a:prstDash val="solid"/>
                      <a:round/>
                      <a:headEnd type="none" w="med" len="med"/>
                      <a:tailEnd type="none" w="med" len="med"/>
                    </a:lnL>
                    <a:lnR>
                      <a:noFill/>
                    </a:lnR>
                    <a:lnT>
                      <a:noFill/>
                    </a:lnT>
                    <a:lnB>
                      <a:noFill/>
                    </a:lnB>
                    <a:solidFill>
                      <a:srgbClr val="D8D8D8"/>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a:noFill/>
                    </a:lnL>
                    <a:lnR w="6350" cap="flat" cmpd="sng" algn="ctr">
                      <a:solidFill>
                        <a:srgbClr val="000000"/>
                      </a:solidFill>
                      <a:prstDash val="solid"/>
                      <a:round/>
                      <a:headEnd type="none" w="med" len="med"/>
                      <a:tailEnd type="none" w="med" len="med"/>
                    </a:lnR>
                    <a:lnT>
                      <a:noFill/>
                    </a:lnT>
                    <a:lnB>
                      <a:noFill/>
                    </a:lnB>
                    <a:solidFill>
                      <a:srgbClr val="D8D8D8"/>
                    </a:solidFill>
                  </a:tcPr>
                </a:tc>
                <a:tc vMerge="1">
                  <a:txBody>
                    <a:bodyPr/>
                    <a:lstStyle/>
                    <a:p>
                      <a:endParaRPr lang="fr-FR"/>
                    </a:p>
                  </a:txBody>
                  <a:tcPr/>
                </a:tc>
                <a:tc vMerge="1">
                  <a:txBody>
                    <a:bodyPr/>
                    <a:lstStyle/>
                    <a:p>
                      <a:endParaRPr lang="fr-FR"/>
                    </a:p>
                  </a:txBody>
                  <a:tcPr/>
                </a:tc>
                <a:tc gridSpan="7">
                  <a:txBody>
                    <a:bodyPr/>
                    <a:lstStyle/>
                    <a:p>
                      <a:pPr algn="ctr" fontAlgn="ctr"/>
                      <a:r>
                        <a:rPr lang="fr-FR" sz="500" b="1" i="0" u="none" strike="noStrike">
                          <a:solidFill>
                            <a:srgbClr val="000000"/>
                          </a:solidFill>
                          <a:effectLst/>
                          <a:latin typeface="Verdana" panose="020B0604030504040204" pitchFamily="34" charset="0"/>
                        </a:rPr>
                        <a:t>Economic value of equity</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3">
                  <a:txBody>
                    <a:bodyPr/>
                    <a:lstStyle/>
                    <a:p>
                      <a:pPr algn="ctr" fontAlgn="ctr"/>
                      <a:r>
                        <a:rPr lang="fr-FR" sz="500" b="1" i="0" u="none" strike="noStrike">
                          <a:solidFill>
                            <a:srgbClr val="000000"/>
                          </a:solidFill>
                          <a:effectLst/>
                          <a:latin typeface="Verdana" panose="020B0604030504040204" pitchFamily="34" charset="0"/>
                        </a:rPr>
                        <a:t>Net interest income</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gridSpan="3">
                  <a:txBody>
                    <a:bodyPr/>
                    <a:lstStyle/>
                    <a:p>
                      <a:pPr algn="ctr" fontAlgn="ctr"/>
                      <a:r>
                        <a:rPr lang="fr-FR" sz="500" b="1" i="0" u="none" strike="noStrike">
                          <a:solidFill>
                            <a:srgbClr val="000000"/>
                          </a:solidFill>
                          <a:effectLst/>
                          <a:latin typeface="Verdana" panose="020B0604030504040204" pitchFamily="34" charset="0"/>
                        </a:rPr>
                        <a:t>Market value</a:t>
                      </a:r>
                    </a:p>
                  </a:txBody>
                  <a:tcPr marL="3009" marR="3009" marT="3009"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732361018"/>
                  </a:ext>
                </a:extLst>
              </a:tr>
              <a:tr h="348549">
                <a:tc>
                  <a:txBody>
                    <a:bodyPr/>
                    <a:lstStyle/>
                    <a:p>
                      <a:pPr algn="ctr" fontAlgn="ctr"/>
                      <a:r>
                        <a:rPr lang="fr-FR" sz="500" b="0" i="0" u="none" strike="noStrike" dirty="0">
                          <a:solidFill>
                            <a:srgbClr val="000000"/>
                          </a:solidFill>
                          <a:effectLst/>
                          <a:latin typeface="Verdana" panose="020B0604030504040204" pitchFamily="34" charset="0"/>
                        </a:rPr>
                        <a:t> </a:t>
                      </a:r>
                    </a:p>
                  </a:txBody>
                  <a:tcPr marL="3009" marR="3009" marT="3009" marB="0" anchor="ctr">
                    <a:lnL w="12700" cap="flat" cmpd="sng" algn="ctr">
                      <a:solidFill>
                        <a:srgbClr val="000000"/>
                      </a:solidFill>
                      <a:prstDash val="solid"/>
                      <a:round/>
                      <a:headEnd type="none" w="med" len="med"/>
                      <a:tailEnd type="none" w="med" len="med"/>
                    </a:lnL>
                    <a:lnR>
                      <a:noFill/>
                    </a:lnR>
                    <a:lnT>
                      <a:noFill/>
                    </a:lnT>
                    <a:lnB>
                      <a:noFill/>
                    </a:lnB>
                    <a:solidFill>
                      <a:srgbClr val="D8D8D8"/>
                    </a:solidFill>
                  </a:tcPr>
                </a:tc>
                <a:tc>
                  <a:txBody>
                    <a:bodyPr/>
                    <a:lstStyle/>
                    <a:p>
                      <a:pPr algn="ctr" fontAlgn="ctr"/>
                      <a:r>
                        <a:rPr lang="fr-FR" sz="500" b="0" i="0" u="none" strike="noStrike">
                          <a:solidFill>
                            <a:srgbClr val="000000"/>
                          </a:solidFill>
                          <a:effectLst/>
                          <a:latin typeface="Verdana" panose="020B0604030504040204" pitchFamily="34" charset="0"/>
                        </a:rPr>
                        <a:t> </a:t>
                      </a:r>
                    </a:p>
                  </a:txBody>
                  <a:tcPr marL="3009" marR="3009" marT="3009" marB="0" anchor="ctr">
                    <a:lnL>
                      <a:noFill/>
                    </a:lnL>
                    <a:lnR w="6350" cap="flat" cmpd="sng" algn="ctr">
                      <a:solidFill>
                        <a:srgbClr val="000000"/>
                      </a:solidFill>
                      <a:prstDash val="solid"/>
                      <a:round/>
                      <a:headEnd type="none" w="med" len="med"/>
                      <a:tailEnd type="none" w="med" len="med"/>
                    </a:lnR>
                    <a:lnT>
                      <a:noFill/>
                    </a:lnT>
                    <a:lnB>
                      <a:noFill/>
                    </a:lnB>
                    <a:solidFill>
                      <a:srgbClr val="D8D8D8"/>
                    </a:solidFill>
                  </a:tcPr>
                </a:tc>
                <a:tc vMerge="1">
                  <a:txBody>
                    <a:bodyPr/>
                    <a:lstStyle/>
                    <a:p>
                      <a:endParaRPr lang="fr-FR"/>
                    </a:p>
                  </a:txBody>
                  <a:tcPr/>
                </a:tc>
                <a:tc vMerge="1">
                  <a:txBody>
                    <a:bodyPr/>
                    <a:lstStyle/>
                    <a:p>
                      <a:endParaRPr lang="fr-FR"/>
                    </a:p>
                  </a:txBody>
                  <a:tcPr/>
                </a:tc>
                <a:tc>
                  <a:txBody>
                    <a:bodyPr/>
                    <a:lstStyle/>
                    <a:p>
                      <a:pPr algn="ctr" fontAlgn="ctr"/>
                      <a:r>
                        <a:rPr lang="en-US" sz="500" b="0" i="0" u="none" strike="noStrike">
                          <a:solidFill>
                            <a:srgbClr val="000000"/>
                          </a:solidFill>
                          <a:effectLst/>
                          <a:latin typeface="Verdana" panose="020B0604030504040204" pitchFamily="34" charset="0"/>
                        </a:rPr>
                        <a:t>Level of EVE - Baseline scenario</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 EVE - Parallel shock up</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∆EVE -  Parallel shock down</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∆EVE - Steepener shock</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∆EVE - Flattener shock</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500" b="0" i="0" u="none" strike="noStrike">
                          <a:solidFill>
                            <a:srgbClr val="000000"/>
                          </a:solidFill>
                          <a:effectLst/>
                          <a:latin typeface="Verdana" panose="020B0604030504040204" pitchFamily="34" charset="0"/>
                        </a:rPr>
                        <a:t>∆EVE - Short rates shock up</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500" b="0" i="0" u="none" strike="noStrike">
                          <a:solidFill>
                            <a:srgbClr val="000000"/>
                          </a:solidFill>
                          <a:effectLst/>
                          <a:latin typeface="Verdana" panose="020B0604030504040204" pitchFamily="34" charset="0"/>
                        </a:rPr>
                        <a:t>∆EVE -  Short rates shock down</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500" b="0" i="0" u="none" strike="noStrike">
                          <a:solidFill>
                            <a:srgbClr val="000000"/>
                          </a:solidFill>
                          <a:effectLst/>
                          <a:latin typeface="Verdana" panose="020B0604030504040204" pitchFamily="34" charset="0"/>
                        </a:rPr>
                        <a:t>Level of NII - Baseline scenario</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∆NII - Parallel shock up</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∆EVE -  Parallel shock down</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500" b="0" i="0" u="none" strike="noStrike">
                          <a:solidFill>
                            <a:srgbClr val="000000"/>
                          </a:solidFill>
                          <a:effectLst/>
                          <a:latin typeface="Verdana" panose="020B0604030504040204" pitchFamily="34" charset="0"/>
                        </a:rPr>
                        <a:t>Level of MV - Baseline scenario</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∆MV - Parallel shock up</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∆MV -  Parallel shock down</a:t>
                      </a:r>
                    </a:p>
                  </a:txBody>
                  <a:tcPr marL="3009" marR="3009" marT="3009"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13938494"/>
                  </a:ext>
                </a:extLst>
              </a:tr>
              <a:tr h="90365">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500" b="0" i="0" u="none" strike="noStrike">
                          <a:solidFill>
                            <a:srgbClr val="000000"/>
                          </a:solidFill>
                          <a:effectLst/>
                          <a:latin typeface="Verdana" panose="020B0604030504040204" pitchFamily="34" charset="0"/>
                        </a:rPr>
                        <a:t>0010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0020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0030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0040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0050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0060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0070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0080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0090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0100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0110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0120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0130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a:solidFill>
                            <a:srgbClr val="000000"/>
                          </a:solidFill>
                          <a:effectLst/>
                          <a:latin typeface="Verdana" panose="020B0604030504040204" pitchFamily="34" charset="0"/>
                        </a:rPr>
                        <a:t>0140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0150</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79201570"/>
                  </a:ext>
                </a:extLst>
              </a:tr>
              <a:tr h="90365">
                <a:tc>
                  <a:txBody>
                    <a:bodyPr/>
                    <a:lstStyle/>
                    <a:p>
                      <a:pPr algn="l" fontAlgn="ctr"/>
                      <a:r>
                        <a:rPr lang="fr-FR" sz="500" b="1" i="0" u="none" strike="noStrike">
                          <a:solidFill>
                            <a:srgbClr val="000000"/>
                          </a:solidFill>
                          <a:effectLst/>
                          <a:latin typeface="Verdana" panose="020B0604030504040204" pitchFamily="34" charset="0"/>
                        </a:rPr>
                        <a:t>TOTAL ASSETS</a:t>
                      </a:r>
                    </a:p>
                  </a:txBody>
                  <a:tcPr marL="3009"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0010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4265290707"/>
                  </a:ext>
                </a:extLst>
              </a:tr>
              <a:tr h="90365">
                <a:tc>
                  <a:txBody>
                    <a:bodyPr/>
                    <a:lstStyle/>
                    <a:p>
                      <a:pPr algn="l" fontAlgn="ctr"/>
                      <a:r>
                        <a:rPr lang="fr-FR" sz="500" b="1" i="0" u="none" strike="noStrike">
                          <a:solidFill>
                            <a:srgbClr val="000000"/>
                          </a:solidFill>
                          <a:effectLst/>
                          <a:latin typeface="Verdana" panose="020B0604030504040204" pitchFamily="34" charset="0"/>
                        </a:rPr>
                        <a:t>Central bank</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0030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690479555"/>
                  </a:ext>
                </a:extLst>
              </a:tr>
              <a:tr h="90365">
                <a:tc>
                  <a:txBody>
                    <a:bodyPr/>
                    <a:lstStyle/>
                    <a:p>
                      <a:pPr algn="l" fontAlgn="ctr"/>
                      <a:r>
                        <a:rPr lang="fr-FR" sz="500" b="1" i="0" u="none" strike="noStrike">
                          <a:solidFill>
                            <a:srgbClr val="000000"/>
                          </a:solidFill>
                          <a:effectLst/>
                          <a:latin typeface="Verdana" panose="020B0604030504040204" pitchFamily="34" charset="0"/>
                        </a:rPr>
                        <a:t>Interbank</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0040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147928027"/>
                  </a:ext>
                </a:extLst>
              </a:tr>
              <a:tr h="90365">
                <a:tc>
                  <a:txBody>
                    <a:bodyPr/>
                    <a:lstStyle/>
                    <a:p>
                      <a:pPr algn="l" fontAlgn="ctr"/>
                      <a:r>
                        <a:rPr lang="fr-FR" sz="500" b="1" i="0" u="none" strike="noStrike">
                          <a:solidFill>
                            <a:srgbClr val="000000"/>
                          </a:solidFill>
                          <a:effectLst/>
                          <a:latin typeface="Verdana" panose="020B0604030504040204" pitchFamily="34" charset="0"/>
                        </a:rPr>
                        <a:t>Loans and advances</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0050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146753303"/>
                  </a:ext>
                </a:extLst>
              </a:tr>
              <a:tr h="90365">
                <a:tc>
                  <a:txBody>
                    <a:bodyPr/>
                    <a:lstStyle/>
                    <a:p>
                      <a:pPr algn="l" fontAlgn="ctr"/>
                      <a:r>
                        <a:rPr lang="fr-FR" sz="500" b="1" i="0" u="none" strike="noStrike">
                          <a:solidFill>
                            <a:srgbClr val="000000"/>
                          </a:solidFill>
                          <a:effectLst/>
                          <a:latin typeface="Verdana" panose="020B0604030504040204" pitchFamily="34" charset="0"/>
                        </a:rPr>
                        <a:t>Debt securities</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0120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086896372"/>
                  </a:ext>
                </a:extLst>
              </a:tr>
              <a:tr h="90365">
                <a:tc>
                  <a:txBody>
                    <a:bodyPr/>
                    <a:lstStyle/>
                    <a:p>
                      <a:pPr algn="l" fontAlgn="ctr"/>
                      <a:r>
                        <a:rPr lang="fr-FR" sz="500" b="1" i="0" u="none" strike="noStrike">
                          <a:solidFill>
                            <a:srgbClr val="000000"/>
                          </a:solidFill>
                          <a:effectLst/>
                          <a:latin typeface="Verdana" panose="020B0604030504040204" pitchFamily="34" charset="0"/>
                        </a:rPr>
                        <a:t>Derivatives hedging assets</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0140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075082518"/>
                  </a:ext>
                </a:extLst>
              </a:tr>
              <a:tr h="90365">
                <a:tc>
                  <a:txBody>
                    <a:bodyPr/>
                    <a:lstStyle/>
                    <a:p>
                      <a:pPr algn="l" fontAlgn="ctr"/>
                      <a:r>
                        <a:rPr lang="fr-FR" sz="500" b="0" i="0" u="none" strike="noStrike">
                          <a:solidFill>
                            <a:srgbClr val="000000"/>
                          </a:solidFill>
                          <a:effectLst/>
                          <a:latin typeface="Verdana" panose="020B0604030504040204" pitchFamily="34" charset="0"/>
                        </a:rPr>
                        <a:t>Hedging debt securities</a:t>
                      </a:r>
                    </a:p>
                  </a:txBody>
                  <a:tcPr marL="180528"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0160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444851472"/>
                  </a:ext>
                </a:extLst>
              </a:tr>
              <a:tr h="90365">
                <a:tc>
                  <a:txBody>
                    <a:bodyPr/>
                    <a:lstStyle/>
                    <a:p>
                      <a:pPr algn="l" fontAlgn="ctr"/>
                      <a:r>
                        <a:rPr lang="fr-FR" sz="500" b="0" i="0" u="none" strike="noStrike">
                          <a:solidFill>
                            <a:srgbClr val="000000"/>
                          </a:solidFill>
                          <a:effectLst/>
                          <a:latin typeface="Verdana" panose="020B0604030504040204" pitchFamily="34" charset="0"/>
                        </a:rPr>
                        <a:t>Hedging other assets</a:t>
                      </a:r>
                    </a:p>
                  </a:txBody>
                  <a:tcPr marL="180528"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0170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066808489"/>
                  </a:ext>
                </a:extLst>
              </a:tr>
              <a:tr h="90365">
                <a:tc>
                  <a:txBody>
                    <a:bodyPr/>
                    <a:lstStyle/>
                    <a:p>
                      <a:pPr algn="l" fontAlgn="ctr"/>
                      <a:r>
                        <a:rPr lang="fr-FR" sz="500" b="1" i="0" u="none" strike="noStrike">
                          <a:solidFill>
                            <a:srgbClr val="000000"/>
                          </a:solidFill>
                          <a:effectLst/>
                          <a:latin typeface="Verdana" panose="020B0604030504040204" pitchFamily="34" charset="0"/>
                        </a:rPr>
                        <a:t>Other</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0180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169384074"/>
                  </a:ext>
                </a:extLst>
              </a:tr>
              <a:tr h="90365">
                <a:tc>
                  <a:txBody>
                    <a:bodyPr/>
                    <a:lstStyle/>
                    <a:p>
                      <a:pPr algn="l" fontAlgn="ctr"/>
                      <a:r>
                        <a:rPr lang="en-US" sz="500" b="1" i="0" u="none" strike="noStrike">
                          <a:solidFill>
                            <a:srgbClr val="000000"/>
                          </a:solidFill>
                          <a:effectLst/>
                          <a:latin typeface="Verdana" panose="020B0604030504040204" pitchFamily="34" charset="0"/>
                        </a:rPr>
                        <a:t>Off-balance sheet assets: contingent assets</a:t>
                      </a:r>
                    </a:p>
                  </a:txBody>
                  <a:tcPr marL="3009"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0190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482276884"/>
                  </a:ext>
                </a:extLst>
              </a:tr>
              <a:tr h="90365">
                <a:tc>
                  <a:txBody>
                    <a:bodyPr/>
                    <a:lstStyle/>
                    <a:p>
                      <a:pPr algn="l" fontAlgn="ctr"/>
                      <a:r>
                        <a:rPr lang="fr-FR" sz="500" b="1" i="0" u="none" strike="noStrike">
                          <a:solidFill>
                            <a:srgbClr val="000000"/>
                          </a:solidFill>
                          <a:effectLst/>
                          <a:latin typeface="Verdana" panose="020B0604030504040204" pitchFamily="34" charset="0"/>
                        </a:rPr>
                        <a:t>TOTAL LIABILITIES</a:t>
                      </a:r>
                    </a:p>
                  </a:txBody>
                  <a:tcPr marL="3009"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0200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a:noFill/>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01518647"/>
                  </a:ext>
                </a:extLst>
              </a:tr>
              <a:tr h="90365">
                <a:tc>
                  <a:txBody>
                    <a:bodyPr/>
                    <a:lstStyle/>
                    <a:p>
                      <a:pPr algn="l" fontAlgn="ctr"/>
                      <a:r>
                        <a:rPr lang="fr-FR" sz="500" b="1" i="0" u="none" strike="noStrike">
                          <a:solidFill>
                            <a:srgbClr val="000000"/>
                          </a:solidFill>
                          <a:effectLst/>
                          <a:latin typeface="Verdana" panose="020B0604030504040204" pitchFamily="34" charset="0"/>
                        </a:rPr>
                        <a:t>Central bank</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0220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788466579"/>
                  </a:ext>
                </a:extLst>
              </a:tr>
              <a:tr h="90365">
                <a:tc>
                  <a:txBody>
                    <a:bodyPr/>
                    <a:lstStyle/>
                    <a:p>
                      <a:pPr algn="l" fontAlgn="ctr"/>
                      <a:r>
                        <a:rPr lang="fr-FR" sz="500" b="1" i="0" u="none" strike="noStrike">
                          <a:solidFill>
                            <a:srgbClr val="000000"/>
                          </a:solidFill>
                          <a:effectLst/>
                          <a:latin typeface="Verdana" panose="020B0604030504040204" pitchFamily="34" charset="0"/>
                        </a:rPr>
                        <a:t>Interbank</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0230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82912547"/>
                  </a:ext>
                </a:extLst>
              </a:tr>
              <a:tr h="90365">
                <a:tc>
                  <a:txBody>
                    <a:bodyPr/>
                    <a:lstStyle/>
                    <a:p>
                      <a:pPr algn="l" fontAlgn="ctr"/>
                      <a:r>
                        <a:rPr lang="fr-FR" sz="500" b="1" i="0" u="none" strike="noStrike">
                          <a:solidFill>
                            <a:srgbClr val="000000"/>
                          </a:solidFill>
                          <a:effectLst/>
                          <a:latin typeface="Verdana" panose="020B0604030504040204" pitchFamily="34" charset="0"/>
                        </a:rPr>
                        <a:t>Debt securities issued</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0240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4233960924"/>
                  </a:ext>
                </a:extLst>
              </a:tr>
              <a:tr h="97860">
                <a:tc>
                  <a:txBody>
                    <a:bodyPr/>
                    <a:lstStyle/>
                    <a:p>
                      <a:pPr algn="l" fontAlgn="b"/>
                      <a:r>
                        <a:rPr lang="fr-FR" sz="500" b="1" i="0" u="none" strike="noStrike">
                          <a:solidFill>
                            <a:srgbClr val="000000"/>
                          </a:solidFill>
                          <a:effectLst/>
                          <a:latin typeface="Verdana" panose="020B0604030504040204" pitchFamily="34" charset="0"/>
                        </a:rPr>
                        <a:t>NMDs: Retail transactional</a:t>
                      </a:r>
                    </a:p>
                  </a:txBody>
                  <a:tcPr marL="90264" marR="3009" marT="300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0270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450402425"/>
                  </a:ext>
                </a:extLst>
              </a:tr>
              <a:tr h="90365">
                <a:tc>
                  <a:txBody>
                    <a:bodyPr/>
                    <a:lstStyle/>
                    <a:p>
                      <a:pPr algn="l" fontAlgn="b"/>
                      <a:r>
                        <a:rPr lang="fr-FR" sz="500" b="1" i="0" u="none" strike="noStrike">
                          <a:solidFill>
                            <a:srgbClr val="000000"/>
                          </a:solidFill>
                          <a:effectLst/>
                          <a:latin typeface="Verdana" panose="020B0604030504040204" pitchFamily="34" charset="0"/>
                        </a:rPr>
                        <a:t>NMDs: Retail non-transactional</a:t>
                      </a:r>
                    </a:p>
                  </a:txBody>
                  <a:tcPr marL="90264" marR="3009" marT="300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0310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a:noFill/>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226913542"/>
                  </a:ext>
                </a:extLst>
              </a:tr>
              <a:tr h="90365">
                <a:tc>
                  <a:txBody>
                    <a:bodyPr/>
                    <a:lstStyle/>
                    <a:p>
                      <a:pPr algn="l" fontAlgn="b"/>
                      <a:r>
                        <a:rPr lang="fr-FR" sz="500" b="1" i="0" u="none" strike="noStrike">
                          <a:solidFill>
                            <a:srgbClr val="000000"/>
                          </a:solidFill>
                          <a:effectLst/>
                          <a:latin typeface="Verdana" panose="020B0604030504040204" pitchFamily="34" charset="0"/>
                        </a:rPr>
                        <a:t>NMDs: Wholesale non-financial</a:t>
                      </a:r>
                    </a:p>
                  </a:txBody>
                  <a:tcPr marL="90264" marR="3009" marT="300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0350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a:noFill/>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891565726"/>
                  </a:ext>
                </a:extLst>
              </a:tr>
              <a:tr h="90365">
                <a:tc>
                  <a:txBody>
                    <a:bodyPr/>
                    <a:lstStyle/>
                    <a:p>
                      <a:pPr algn="l" fontAlgn="b"/>
                      <a:r>
                        <a:rPr lang="fr-FR" sz="500" b="1" i="0" u="none" strike="noStrike">
                          <a:solidFill>
                            <a:srgbClr val="000000"/>
                          </a:solidFill>
                          <a:effectLst/>
                          <a:latin typeface="Verdana" panose="020B0604030504040204" pitchFamily="34" charset="0"/>
                        </a:rPr>
                        <a:t>NMDs: Wholesale financial</a:t>
                      </a:r>
                    </a:p>
                  </a:txBody>
                  <a:tcPr marL="90264" marR="3009" marT="300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0390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746512872"/>
                  </a:ext>
                </a:extLst>
              </a:tr>
              <a:tr h="90365">
                <a:tc>
                  <a:txBody>
                    <a:bodyPr/>
                    <a:lstStyle/>
                    <a:p>
                      <a:pPr algn="l" fontAlgn="b"/>
                      <a:r>
                        <a:rPr lang="fr-FR" sz="500" b="1" i="0" u="none" strike="noStrike">
                          <a:solidFill>
                            <a:srgbClr val="000000"/>
                          </a:solidFill>
                          <a:effectLst/>
                          <a:latin typeface="Verdana" panose="020B0604030504040204" pitchFamily="34" charset="0"/>
                        </a:rPr>
                        <a:t>Term deposits</a:t>
                      </a:r>
                    </a:p>
                  </a:txBody>
                  <a:tcPr marL="90264" marR="3009" marT="300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0420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311568220"/>
                  </a:ext>
                </a:extLst>
              </a:tr>
              <a:tr h="90365">
                <a:tc>
                  <a:txBody>
                    <a:bodyPr/>
                    <a:lstStyle/>
                    <a:p>
                      <a:pPr algn="l" fontAlgn="ctr"/>
                      <a:r>
                        <a:rPr lang="fr-FR" sz="500" b="1" i="0" u="none" strike="noStrike">
                          <a:solidFill>
                            <a:srgbClr val="000000"/>
                          </a:solidFill>
                          <a:effectLst/>
                          <a:latin typeface="Verdana" panose="020B0604030504040204" pitchFamily="34" charset="0"/>
                        </a:rPr>
                        <a:t>Derivatives hedging liabilities</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0470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188359131"/>
                  </a:ext>
                </a:extLst>
              </a:tr>
              <a:tr h="90365">
                <a:tc>
                  <a:txBody>
                    <a:bodyPr/>
                    <a:lstStyle/>
                    <a:p>
                      <a:pPr algn="l" fontAlgn="ctr"/>
                      <a:r>
                        <a:rPr lang="fr-FR" sz="500" b="0" i="0" u="none" strike="noStrike">
                          <a:solidFill>
                            <a:srgbClr val="000000"/>
                          </a:solidFill>
                          <a:effectLst/>
                          <a:latin typeface="Verdana" panose="020B0604030504040204" pitchFamily="34" charset="0"/>
                        </a:rPr>
                        <a:t>Hedging debt securities</a:t>
                      </a:r>
                    </a:p>
                  </a:txBody>
                  <a:tcPr marL="180528"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0490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028131374"/>
                  </a:ext>
                </a:extLst>
              </a:tr>
              <a:tr h="90365">
                <a:tc>
                  <a:txBody>
                    <a:bodyPr/>
                    <a:lstStyle/>
                    <a:p>
                      <a:pPr algn="l" fontAlgn="ctr"/>
                      <a:r>
                        <a:rPr lang="fr-FR" sz="500" b="0" i="0" u="none" strike="noStrike">
                          <a:solidFill>
                            <a:srgbClr val="000000"/>
                          </a:solidFill>
                          <a:effectLst/>
                          <a:latin typeface="Verdana" panose="020B0604030504040204" pitchFamily="34" charset="0"/>
                        </a:rPr>
                        <a:t>Hedging other liabilities</a:t>
                      </a:r>
                    </a:p>
                  </a:txBody>
                  <a:tcPr marL="180528"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0500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600020945"/>
                  </a:ext>
                </a:extLst>
              </a:tr>
              <a:tr h="90365">
                <a:tc>
                  <a:txBody>
                    <a:bodyPr/>
                    <a:lstStyle/>
                    <a:p>
                      <a:pPr algn="l" fontAlgn="b"/>
                      <a:r>
                        <a:rPr lang="fr-FR" sz="500" b="1" i="0" u="none" strike="noStrike">
                          <a:solidFill>
                            <a:srgbClr val="000000"/>
                          </a:solidFill>
                          <a:effectLst/>
                          <a:latin typeface="Verdana" panose="020B0604030504040204" pitchFamily="34" charset="0"/>
                        </a:rPr>
                        <a:t>Other</a:t>
                      </a:r>
                    </a:p>
                  </a:txBody>
                  <a:tcPr marL="90264" marR="3009" marT="300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0510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924550984"/>
                  </a:ext>
                </a:extLst>
              </a:tr>
              <a:tr h="90365">
                <a:tc>
                  <a:txBody>
                    <a:bodyPr/>
                    <a:lstStyle/>
                    <a:p>
                      <a:pPr algn="l" fontAlgn="ctr"/>
                      <a:r>
                        <a:rPr lang="fr-FR" sz="500" b="1" i="0" u="none" strike="noStrike">
                          <a:solidFill>
                            <a:srgbClr val="000000"/>
                          </a:solidFill>
                          <a:effectLst/>
                          <a:latin typeface="Verdana" panose="020B0604030504040204" pitchFamily="34" charset="0"/>
                        </a:rPr>
                        <a:t>Off-balance sheet liabilities: Contingent liabilities</a:t>
                      </a:r>
                    </a:p>
                  </a:txBody>
                  <a:tcPr marL="3009"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0520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450780004"/>
                  </a:ext>
                </a:extLst>
              </a:tr>
              <a:tr h="90365">
                <a:tc>
                  <a:txBody>
                    <a:bodyPr/>
                    <a:lstStyle/>
                    <a:p>
                      <a:pPr algn="l" fontAlgn="ctr"/>
                      <a:r>
                        <a:rPr lang="fr-FR" sz="500" b="1" i="0" u="none" strike="noStrike">
                          <a:solidFill>
                            <a:srgbClr val="000000"/>
                          </a:solidFill>
                          <a:effectLst/>
                          <a:latin typeface="Verdana" panose="020B0604030504040204" pitchFamily="34" charset="0"/>
                        </a:rPr>
                        <a:t>Other derivatives (Net asset/liability)</a:t>
                      </a:r>
                    </a:p>
                  </a:txBody>
                  <a:tcPr marL="3009"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0530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05870569"/>
                  </a:ext>
                </a:extLst>
              </a:tr>
              <a:tr h="90365">
                <a:tc gridSpan="17">
                  <a:txBody>
                    <a:bodyPr/>
                    <a:lstStyle/>
                    <a:p>
                      <a:pPr algn="l" fontAlgn="ctr"/>
                      <a:r>
                        <a:rPr lang="fr-FR" sz="500" b="1" i="0" u="none" strike="noStrike" dirty="0">
                          <a:solidFill>
                            <a:srgbClr val="000000"/>
                          </a:solidFill>
                          <a:effectLst/>
                          <a:latin typeface="Verdana" panose="020B0604030504040204" pitchFamily="34" charset="0"/>
                        </a:rPr>
                        <a:t>MEMORANDUM ITEMS</a:t>
                      </a:r>
                    </a:p>
                  </a:txBody>
                  <a:tcPr marL="3009" marR="3009" marT="3009"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64794012"/>
                  </a:ext>
                </a:extLst>
              </a:tr>
              <a:tr h="90365">
                <a:tc>
                  <a:txBody>
                    <a:bodyPr/>
                    <a:lstStyle/>
                    <a:p>
                      <a:pPr algn="l" fontAlgn="ctr"/>
                      <a:r>
                        <a:rPr lang="fr-FR" sz="500" b="1" i="0" u="none" strike="noStrike">
                          <a:solidFill>
                            <a:srgbClr val="000000"/>
                          </a:solidFill>
                          <a:effectLst/>
                          <a:latin typeface="Verdana" panose="020B0604030504040204" pitchFamily="34" charset="0"/>
                        </a:rPr>
                        <a:t>Net derivatives</a:t>
                      </a:r>
                    </a:p>
                  </a:txBody>
                  <a:tcPr marL="3009"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0540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675674118"/>
                  </a:ext>
                </a:extLst>
              </a:tr>
              <a:tr h="90365">
                <a:tc>
                  <a:txBody>
                    <a:bodyPr/>
                    <a:lstStyle/>
                    <a:p>
                      <a:pPr algn="l" fontAlgn="ctr"/>
                      <a:r>
                        <a:rPr lang="en-US" sz="500" b="1" i="0" u="none" strike="noStrike">
                          <a:solidFill>
                            <a:srgbClr val="000000"/>
                          </a:solidFill>
                          <a:effectLst/>
                          <a:latin typeface="Verdana" panose="020B0604030504040204" pitchFamily="34" charset="0"/>
                        </a:rPr>
                        <a:t>Net interest rate position without derivatives</a:t>
                      </a:r>
                    </a:p>
                  </a:txBody>
                  <a:tcPr marL="3009"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0550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728084288"/>
                  </a:ext>
                </a:extLst>
              </a:tr>
              <a:tr h="90365">
                <a:tc>
                  <a:txBody>
                    <a:bodyPr/>
                    <a:lstStyle/>
                    <a:p>
                      <a:pPr algn="l" fontAlgn="ctr"/>
                      <a:r>
                        <a:rPr lang="en-US" sz="500" b="1" i="0" u="none" strike="noStrike">
                          <a:solidFill>
                            <a:srgbClr val="000000"/>
                          </a:solidFill>
                          <a:effectLst/>
                          <a:latin typeface="Verdana" panose="020B0604030504040204" pitchFamily="34" charset="0"/>
                        </a:rPr>
                        <a:t>Net interest rate position with derivatives</a:t>
                      </a:r>
                    </a:p>
                  </a:txBody>
                  <a:tcPr marL="3009"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0560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67344068"/>
                  </a:ext>
                </a:extLst>
              </a:tr>
              <a:tr h="90365">
                <a:tc>
                  <a:txBody>
                    <a:bodyPr/>
                    <a:lstStyle/>
                    <a:p>
                      <a:pPr algn="l" fontAlgn="ctr"/>
                      <a:r>
                        <a:rPr lang="en-US" sz="500" b="1" i="0" u="none" strike="noStrike">
                          <a:solidFill>
                            <a:srgbClr val="000000"/>
                          </a:solidFill>
                          <a:effectLst/>
                          <a:latin typeface="Verdana" panose="020B0604030504040204" pitchFamily="34" charset="0"/>
                        </a:rPr>
                        <a:t>Total Assets with MV impact</a:t>
                      </a:r>
                    </a:p>
                  </a:txBody>
                  <a:tcPr marL="3009"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0570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446594753"/>
                  </a:ext>
                </a:extLst>
              </a:tr>
              <a:tr h="90365">
                <a:tc>
                  <a:txBody>
                    <a:bodyPr/>
                    <a:lstStyle/>
                    <a:p>
                      <a:pPr algn="l" fontAlgn="ctr"/>
                      <a:r>
                        <a:rPr lang="fr-FR" sz="500" b="0" i="0" u="none" strike="noStrike">
                          <a:solidFill>
                            <a:srgbClr val="000000"/>
                          </a:solidFill>
                          <a:effectLst/>
                          <a:latin typeface="Verdana" panose="020B0604030504040204" pitchFamily="34" charset="0"/>
                        </a:rPr>
                        <a:t>Debt securities</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0580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800623030"/>
                  </a:ext>
                </a:extLst>
              </a:tr>
              <a:tr h="90365">
                <a:tc>
                  <a:txBody>
                    <a:bodyPr/>
                    <a:lstStyle/>
                    <a:p>
                      <a:pPr algn="l" fontAlgn="ctr"/>
                      <a:r>
                        <a:rPr lang="fr-FR" sz="500" b="0" i="0" u="none" strike="noStrike">
                          <a:solidFill>
                            <a:srgbClr val="000000"/>
                          </a:solidFill>
                          <a:effectLst/>
                          <a:latin typeface="Verdana" panose="020B0604030504040204" pitchFamily="34" charset="0"/>
                        </a:rPr>
                        <a:t>Derivatives</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0590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442980563"/>
                  </a:ext>
                </a:extLst>
              </a:tr>
              <a:tr h="90365">
                <a:tc>
                  <a:txBody>
                    <a:bodyPr/>
                    <a:lstStyle/>
                    <a:p>
                      <a:pPr algn="l" fontAlgn="ctr"/>
                      <a:r>
                        <a:rPr lang="fr-FR" sz="500" b="0" i="0" u="none" strike="noStrike">
                          <a:solidFill>
                            <a:srgbClr val="000000"/>
                          </a:solidFill>
                          <a:effectLst/>
                          <a:latin typeface="Verdana" panose="020B0604030504040204" pitchFamily="34" charset="0"/>
                        </a:rPr>
                        <a:t>Other</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0600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46977471"/>
                  </a:ext>
                </a:extLst>
              </a:tr>
              <a:tr h="90365">
                <a:tc>
                  <a:txBody>
                    <a:bodyPr/>
                    <a:lstStyle/>
                    <a:p>
                      <a:pPr algn="l" fontAlgn="ctr"/>
                      <a:r>
                        <a:rPr lang="en-US" sz="500" b="1" i="0" u="none" strike="noStrike">
                          <a:solidFill>
                            <a:srgbClr val="000000"/>
                          </a:solidFill>
                          <a:effectLst/>
                          <a:latin typeface="Verdana" panose="020B0604030504040204" pitchFamily="34" charset="0"/>
                        </a:rPr>
                        <a:t>Total Liabilities with MV impact</a:t>
                      </a:r>
                    </a:p>
                  </a:txBody>
                  <a:tcPr marL="3009"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0610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369325578"/>
                  </a:ext>
                </a:extLst>
              </a:tr>
              <a:tr h="90365">
                <a:tc>
                  <a:txBody>
                    <a:bodyPr/>
                    <a:lstStyle/>
                    <a:p>
                      <a:pPr algn="l" fontAlgn="ctr"/>
                      <a:r>
                        <a:rPr lang="fr-FR" sz="500" b="0" i="0" u="none" strike="noStrike">
                          <a:solidFill>
                            <a:srgbClr val="000000"/>
                          </a:solidFill>
                          <a:effectLst/>
                          <a:latin typeface="Verdana" panose="020B0604030504040204" pitchFamily="34" charset="0"/>
                        </a:rPr>
                        <a:t>Debt securities issued</a:t>
                      </a:r>
                    </a:p>
                  </a:txBody>
                  <a:tcPr marL="90264" marR="3009" marT="3009"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0620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766422561"/>
                  </a:ext>
                </a:extLst>
              </a:tr>
              <a:tr h="90365">
                <a:tc>
                  <a:txBody>
                    <a:bodyPr/>
                    <a:lstStyle/>
                    <a:p>
                      <a:pPr algn="l" fontAlgn="b"/>
                      <a:r>
                        <a:rPr lang="fr-FR" sz="500" b="0" i="0" u="none" strike="noStrike">
                          <a:solidFill>
                            <a:srgbClr val="000000"/>
                          </a:solidFill>
                          <a:effectLst/>
                          <a:latin typeface="Verdana" panose="020B0604030504040204" pitchFamily="34" charset="0"/>
                        </a:rPr>
                        <a:t>Derivatives </a:t>
                      </a:r>
                    </a:p>
                  </a:txBody>
                  <a:tcPr marL="90264" marR="3009" marT="300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0630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050879965"/>
                  </a:ext>
                </a:extLst>
              </a:tr>
              <a:tr h="93591">
                <a:tc>
                  <a:txBody>
                    <a:bodyPr/>
                    <a:lstStyle/>
                    <a:p>
                      <a:pPr algn="l" fontAlgn="b"/>
                      <a:r>
                        <a:rPr lang="fr-FR" sz="500" b="0" i="0" u="none" strike="noStrike" dirty="0" err="1">
                          <a:solidFill>
                            <a:srgbClr val="000000"/>
                          </a:solidFill>
                          <a:effectLst/>
                          <a:latin typeface="Verdana" panose="020B0604030504040204" pitchFamily="34" charset="0"/>
                        </a:rPr>
                        <a:t>Other</a:t>
                      </a:r>
                      <a:endParaRPr lang="fr-FR" sz="500" b="0" i="0" u="none" strike="noStrike" dirty="0">
                        <a:solidFill>
                          <a:srgbClr val="000000"/>
                        </a:solidFill>
                        <a:effectLst/>
                        <a:latin typeface="Verdana" panose="020B0604030504040204" pitchFamily="34" charset="0"/>
                      </a:endParaRPr>
                    </a:p>
                  </a:txBody>
                  <a:tcPr marL="90264" marR="3009" marT="300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0640</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3009" marR="3009" marT="3009"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dirty="0">
                          <a:solidFill>
                            <a:srgbClr val="000000"/>
                          </a:solidFill>
                          <a:effectLst/>
                          <a:latin typeface="Verdana" panose="020B0604030504040204" pitchFamily="34" charset="0"/>
                        </a:rPr>
                        <a:t> </a:t>
                      </a:r>
                    </a:p>
                  </a:txBody>
                  <a:tcPr marL="3009" marR="3009" marT="3009"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95089237"/>
                  </a:ext>
                </a:extLst>
              </a:tr>
            </a:tbl>
          </a:graphicData>
        </a:graphic>
      </p:graphicFrame>
      <p:sp>
        <p:nvSpPr>
          <p:cNvPr id="19" name="Rectangle 18">
            <a:extLst>
              <a:ext uri="{FF2B5EF4-FFF2-40B4-BE49-F238E27FC236}">
                <a16:creationId xmlns:a16="http://schemas.microsoft.com/office/drawing/2014/main" id="{5A518491-3980-9A2B-CCC9-45CA3FA87ADE}"/>
              </a:ext>
            </a:extLst>
          </p:cNvPr>
          <p:cNvSpPr/>
          <p:nvPr/>
        </p:nvSpPr>
        <p:spPr>
          <a:xfrm>
            <a:off x="335926" y="4768076"/>
            <a:ext cx="11450528" cy="774902"/>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29540050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997B170-99F2-48D7-7939-42F8EB21D799}"/>
              </a:ext>
            </a:extLst>
          </p:cNvPr>
          <p:cNvSpPr/>
          <p:nvPr/>
        </p:nvSpPr>
        <p:spPr>
          <a:xfrm>
            <a:off x="8556859" y="6063916"/>
            <a:ext cx="3551722" cy="794084"/>
          </a:xfrm>
          <a:prstGeom prst="rect">
            <a:avLst/>
          </a:prstGeom>
          <a:solidFill>
            <a:srgbClr val="F2F2F2"/>
          </a:solidFill>
          <a:ln>
            <a:solidFill>
              <a:srgbClr val="F2F2F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a- Template </a:t>
            </a:r>
            <a:r>
              <a:rPr lang="fr-FR" sz="2000" i="1" dirty="0">
                <a:highlight>
                  <a:srgbClr val="FF0000"/>
                </a:highlight>
                <a:latin typeface="Calibri (body)"/>
                <a:cs typeface="Calibri"/>
              </a:rPr>
              <a:t>J02</a:t>
            </a:r>
            <a:r>
              <a:rPr lang="fr-FR" sz="2000" i="1" dirty="0">
                <a:latin typeface="Calibri (body)"/>
                <a:cs typeface="Calibri"/>
              </a:rPr>
              <a:t> – Breakdown of </a:t>
            </a:r>
            <a:r>
              <a:rPr lang="fr-FR" sz="2000" i="1" dirty="0" err="1">
                <a:latin typeface="Calibri (body)"/>
                <a:cs typeface="Calibri"/>
              </a:rPr>
              <a:t>sensitivity</a:t>
            </a:r>
            <a:r>
              <a:rPr lang="fr-FR" sz="2000" i="1" dirty="0">
                <a:latin typeface="Calibri (body)"/>
                <a:cs typeface="Calibri"/>
              </a:rPr>
              <a:t> </a:t>
            </a:r>
            <a:r>
              <a:rPr lang="fr-FR" sz="2000" i="1" dirty="0" err="1">
                <a:latin typeface="Calibri (body)"/>
                <a:cs typeface="Calibri"/>
              </a:rPr>
              <a:t>estimates</a:t>
            </a:r>
            <a:r>
              <a:rPr lang="fr-FR" sz="2000" i="1" dirty="0">
                <a:latin typeface="Calibri (body)"/>
                <a:cs typeface="Calibri"/>
              </a:rPr>
              <a:t> (1)</a:t>
            </a:r>
            <a:endParaRPr lang="fr-FR" sz="2000" dirty="0">
              <a:latin typeface="Calibri"/>
              <a:cs typeface="Calibri"/>
            </a:endParaRPr>
          </a:p>
        </p:txBody>
      </p:sp>
      <p:sp>
        <p:nvSpPr>
          <p:cNvPr id="25" name="Rectangle 24">
            <a:extLst>
              <a:ext uri="{FF2B5EF4-FFF2-40B4-BE49-F238E27FC236}">
                <a16:creationId xmlns:a16="http://schemas.microsoft.com/office/drawing/2014/main" id="{129773B8-2EA0-180F-04F4-F7CDFC6BFB28}"/>
              </a:ext>
            </a:extLst>
          </p:cNvPr>
          <p:cNvSpPr/>
          <p:nvPr/>
        </p:nvSpPr>
        <p:spPr>
          <a:xfrm>
            <a:off x="8994606" y="5314557"/>
            <a:ext cx="95250" cy="1138911"/>
          </a:xfrm>
          <a:prstGeom prst="rect">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TextBox 3">
            <a:extLst>
              <a:ext uri="{FF2B5EF4-FFF2-40B4-BE49-F238E27FC236}">
                <a16:creationId xmlns:a16="http://schemas.microsoft.com/office/drawing/2014/main" id="{6D1B1F1A-3AE2-C8D1-F4D4-D5955879DECE}"/>
              </a:ext>
            </a:extLst>
          </p:cNvPr>
          <p:cNvSpPr txBox="1"/>
          <p:nvPr/>
        </p:nvSpPr>
        <p:spPr>
          <a:xfrm>
            <a:off x="320042" y="5662005"/>
            <a:ext cx="11466412" cy="954107"/>
          </a:xfrm>
          <a:prstGeom prst="rect">
            <a:avLst/>
          </a:prstGeom>
          <a:noFill/>
          <a:ln>
            <a:solidFill>
              <a:schemeClr val="tx1">
                <a:lumMod val="50000"/>
              </a:schemeClr>
            </a:solidFill>
          </a:ln>
        </p:spPr>
        <p:txBody>
          <a:bodyPr wrap="square" rtlCol="0">
            <a:spAutoFit/>
          </a:bodyPr>
          <a:lstStyle/>
          <a:p>
            <a:r>
              <a:rPr lang="fr-FR" dirty="0">
                <a:solidFill>
                  <a:schemeClr val="tx1">
                    <a:lumMod val="50000"/>
                  </a:schemeClr>
                </a:solidFill>
                <a:latin typeface="Calibri (body)"/>
              </a:rPr>
              <a:t>Ce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permet d’alimenter 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J01.</a:t>
            </a:r>
          </a:p>
          <a:p>
            <a:r>
              <a:rPr lang="fr-FR" dirty="0">
                <a:solidFill>
                  <a:schemeClr val="tx1">
                    <a:lumMod val="50000"/>
                  </a:schemeClr>
                </a:solidFill>
                <a:latin typeface="Calibri (body)"/>
              </a:rPr>
              <a:t>Il présente les résultats obtenus de façon très détaillé, permettant de décomposer la contribution des différentes typologies d’encours et type de contrepartie pour chaque métrique et dans chacune des devises significatives.</a:t>
            </a:r>
          </a:p>
          <a:p>
            <a:r>
              <a:rPr lang="fr-FR" dirty="0">
                <a:solidFill>
                  <a:schemeClr val="tx1">
                    <a:lumMod val="50000"/>
                  </a:schemeClr>
                </a:solidFill>
                <a:latin typeface="Calibri (body)"/>
              </a:rPr>
              <a:t>Il introduit également la notion de </a:t>
            </a:r>
            <a:r>
              <a:rPr lang="fr-FR" b="1" dirty="0">
                <a:solidFill>
                  <a:schemeClr val="tx1">
                    <a:lumMod val="50000"/>
                  </a:schemeClr>
                </a:solidFill>
                <a:latin typeface="Calibri (body)"/>
              </a:rPr>
              <a:t>duration, une « métrique » additionnelle correspondant à un choc de + 1bp de la valeur économique.</a:t>
            </a:r>
          </a:p>
        </p:txBody>
      </p:sp>
      <p:sp>
        <p:nvSpPr>
          <p:cNvPr id="5" name="Espace réservé du texte 15">
            <a:extLst>
              <a:ext uri="{FF2B5EF4-FFF2-40B4-BE49-F238E27FC236}">
                <a16:creationId xmlns:a16="http://schemas.microsoft.com/office/drawing/2014/main" id="{A31FE1E5-5E95-B912-4217-41AAD2A5E848}"/>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2" name="Table 1">
            <a:extLst>
              <a:ext uri="{FF2B5EF4-FFF2-40B4-BE49-F238E27FC236}">
                <a16:creationId xmlns:a16="http://schemas.microsoft.com/office/drawing/2014/main" id="{D302DB79-E42E-D87D-DB66-CC238FE5498E}"/>
              </a:ext>
            </a:extLst>
          </p:cNvPr>
          <p:cNvGraphicFramePr>
            <a:graphicFrameLocks noGrp="1"/>
          </p:cNvGraphicFramePr>
          <p:nvPr>
            <p:extLst>
              <p:ext uri="{D42A27DB-BD31-4B8C-83A1-F6EECF244321}">
                <p14:modId xmlns:p14="http://schemas.microsoft.com/office/powerpoint/2010/main" val="1675477622"/>
              </p:ext>
            </p:extLst>
          </p:nvPr>
        </p:nvGraphicFramePr>
        <p:xfrm>
          <a:off x="320041" y="842177"/>
          <a:ext cx="11450526" cy="4729973"/>
        </p:xfrm>
        <a:graphic>
          <a:graphicData uri="http://schemas.openxmlformats.org/drawingml/2006/table">
            <a:tbl>
              <a:tblPr/>
              <a:tblGrid>
                <a:gridCol w="1624239">
                  <a:extLst>
                    <a:ext uri="{9D8B030D-6E8A-4147-A177-3AD203B41FA5}">
                      <a16:colId xmlns:a16="http://schemas.microsoft.com/office/drawing/2014/main" val="2086500056"/>
                    </a:ext>
                  </a:extLst>
                </a:gridCol>
                <a:gridCol w="489874">
                  <a:extLst>
                    <a:ext uri="{9D8B030D-6E8A-4147-A177-3AD203B41FA5}">
                      <a16:colId xmlns:a16="http://schemas.microsoft.com/office/drawing/2014/main" val="2092426177"/>
                    </a:ext>
                  </a:extLst>
                </a:gridCol>
                <a:gridCol w="566718">
                  <a:extLst>
                    <a:ext uri="{9D8B030D-6E8A-4147-A177-3AD203B41FA5}">
                      <a16:colId xmlns:a16="http://schemas.microsoft.com/office/drawing/2014/main" val="2134420415"/>
                    </a:ext>
                  </a:extLst>
                </a:gridCol>
                <a:gridCol w="576323">
                  <a:extLst>
                    <a:ext uri="{9D8B030D-6E8A-4147-A177-3AD203B41FA5}">
                      <a16:colId xmlns:a16="http://schemas.microsoft.com/office/drawing/2014/main" val="1873710742"/>
                    </a:ext>
                  </a:extLst>
                </a:gridCol>
                <a:gridCol w="614743">
                  <a:extLst>
                    <a:ext uri="{9D8B030D-6E8A-4147-A177-3AD203B41FA5}">
                      <a16:colId xmlns:a16="http://schemas.microsoft.com/office/drawing/2014/main" val="943786039"/>
                    </a:ext>
                  </a:extLst>
                </a:gridCol>
                <a:gridCol w="557112">
                  <a:extLst>
                    <a:ext uri="{9D8B030D-6E8A-4147-A177-3AD203B41FA5}">
                      <a16:colId xmlns:a16="http://schemas.microsoft.com/office/drawing/2014/main" val="2417551475"/>
                    </a:ext>
                  </a:extLst>
                </a:gridCol>
                <a:gridCol w="681979">
                  <a:extLst>
                    <a:ext uri="{9D8B030D-6E8A-4147-A177-3AD203B41FA5}">
                      <a16:colId xmlns:a16="http://schemas.microsoft.com/office/drawing/2014/main" val="2166498399"/>
                    </a:ext>
                  </a:extLst>
                </a:gridCol>
                <a:gridCol w="681979">
                  <a:extLst>
                    <a:ext uri="{9D8B030D-6E8A-4147-A177-3AD203B41FA5}">
                      <a16:colId xmlns:a16="http://schemas.microsoft.com/office/drawing/2014/main" val="2365292147"/>
                    </a:ext>
                  </a:extLst>
                </a:gridCol>
                <a:gridCol w="681979">
                  <a:extLst>
                    <a:ext uri="{9D8B030D-6E8A-4147-A177-3AD203B41FA5}">
                      <a16:colId xmlns:a16="http://schemas.microsoft.com/office/drawing/2014/main" val="821518178"/>
                    </a:ext>
                  </a:extLst>
                </a:gridCol>
                <a:gridCol w="681979">
                  <a:extLst>
                    <a:ext uri="{9D8B030D-6E8A-4147-A177-3AD203B41FA5}">
                      <a16:colId xmlns:a16="http://schemas.microsoft.com/office/drawing/2014/main" val="3266274563"/>
                    </a:ext>
                  </a:extLst>
                </a:gridCol>
                <a:gridCol w="681979">
                  <a:extLst>
                    <a:ext uri="{9D8B030D-6E8A-4147-A177-3AD203B41FA5}">
                      <a16:colId xmlns:a16="http://schemas.microsoft.com/office/drawing/2014/main" val="590682527"/>
                    </a:ext>
                  </a:extLst>
                </a:gridCol>
                <a:gridCol w="576323">
                  <a:extLst>
                    <a:ext uri="{9D8B030D-6E8A-4147-A177-3AD203B41FA5}">
                      <a16:colId xmlns:a16="http://schemas.microsoft.com/office/drawing/2014/main" val="846273948"/>
                    </a:ext>
                  </a:extLst>
                </a:gridCol>
                <a:gridCol w="557112">
                  <a:extLst>
                    <a:ext uri="{9D8B030D-6E8A-4147-A177-3AD203B41FA5}">
                      <a16:colId xmlns:a16="http://schemas.microsoft.com/office/drawing/2014/main" val="4222730293"/>
                    </a:ext>
                  </a:extLst>
                </a:gridCol>
                <a:gridCol w="749218">
                  <a:extLst>
                    <a:ext uri="{9D8B030D-6E8A-4147-A177-3AD203B41FA5}">
                      <a16:colId xmlns:a16="http://schemas.microsoft.com/office/drawing/2014/main" val="1446057983"/>
                    </a:ext>
                  </a:extLst>
                </a:gridCol>
                <a:gridCol w="576323">
                  <a:extLst>
                    <a:ext uri="{9D8B030D-6E8A-4147-A177-3AD203B41FA5}">
                      <a16:colId xmlns:a16="http://schemas.microsoft.com/office/drawing/2014/main" val="307960714"/>
                    </a:ext>
                  </a:extLst>
                </a:gridCol>
                <a:gridCol w="576323">
                  <a:extLst>
                    <a:ext uri="{9D8B030D-6E8A-4147-A177-3AD203B41FA5}">
                      <a16:colId xmlns:a16="http://schemas.microsoft.com/office/drawing/2014/main" val="151569567"/>
                    </a:ext>
                  </a:extLst>
                </a:gridCol>
                <a:gridCol w="576323">
                  <a:extLst>
                    <a:ext uri="{9D8B030D-6E8A-4147-A177-3AD203B41FA5}">
                      <a16:colId xmlns:a16="http://schemas.microsoft.com/office/drawing/2014/main" val="3541296213"/>
                    </a:ext>
                  </a:extLst>
                </a:gridCol>
              </a:tblGrid>
              <a:tr h="135798">
                <a:tc>
                  <a:txBody>
                    <a:bodyPr/>
                    <a:lstStyle/>
                    <a:p>
                      <a:pPr algn="l" fontAlgn="ctr"/>
                      <a:r>
                        <a:rPr lang="en-US" sz="400" b="1" i="0" u="none" strike="noStrike">
                          <a:solidFill>
                            <a:srgbClr val="000000"/>
                          </a:solidFill>
                          <a:effectLst/>
                          <a:latin typeface="Verdana" panose="020B0604030504040204" pitchFamily="34" charset="0"/>
                        </a:rPr>
                        <a:t>J 02.00 - BREAKDOWN OF SENSITIVITY ESTIMATES</a:t>
                      </a:r>
                    </a:p>
                  </a:txBody>
                  <a:tcPr marL="1952" marR="1952" marT="1952"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1" i="0" u="none" strike="noStrike">
                          <a:solidFill>
                            <a:srgbClr val="000000"/>
                          </a:solidFill>
                          <a:effectLst/>
                          <a:latin typeface="Verdana" panose="020B0604030504040204" pitchFamily="34" charset="0"/>
                        </a:rPr>
                        <a:t> </a:t>
                      </a:r>
                    </a:p>
                  </a:txBody>
                  <a:tcPr marL="1952" marR="1952" marT="1952"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037282372"/>
                  </a:ext>
                </a:extLst>
              </a:tr>
              <a:tr h="42861">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1" i="0" u="sng"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200" b="1" i="0" u="sng"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200" b="1" i="0" u="sng"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2531351306"/>
                  </a:ext>
                </a:extLst>
              </a:tr>
              <a:tr h="57290">
                <a:tc>
                  <a:txBody>
                    <a:bodyPr/>
                    <a:lstStyle/>
                    <a:p>
                      <a:pPr algn="r" fontAlgn="ctr"/>
                      <a:r>
                        <a:rPr lang="fr-FR" sz="300" b="1" i="0" u="none" strike="noStrike">
                          <a:solidFill>
                            <a:srgbClr val="000000"/>
                          </a:solidFill>
                          <a:effectLst/>
                          <a:latin typeface="Verdana" panose="020B0604030504040204" pitchFamily="34" charset="0"/>
                        </a:rPr>
                        <a:t>Currency:</a:t>
                      </a:r>
                    </a:p>
                  </a:txBody>
                  <a:tcPr marL="1952" marR="1952" marT="1952"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2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200" b="0" i="0" u="none" strike="noStrike">
                          <a:solidFill>
                            <a:srgbClr val="000000"/>
                          </a:solidFill>
                          <a:effectLst/>
                          <a:latin typeface="Verdana" panose="020B0604030504040204" pitchFamily="34" charset="0"/>
                        </a:rPr>
                        <a:t> </a:t>
                      </a:r>
                    </a:p>
                  </a:txBody>
                  <a:tcPr marL="1952" marR="1952" marT="1952"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200" b="0" i="0" u="none" strike="noStrike">
                          <a:solidFill>
                            <a:srgbClr val="000000"/>
                          </a:solidFill>
                          <a:effectLst/>
                          <a:latin typeface="Verdana" panose="020B0604030504040204" pitchFamily="34" charset="0"/>
                        </a:rPr>
                        <a:t> </a:t>
                      </a:r>
                    </a:p>
                  </a:txBody>
                  <a:tcPr marL="1952" marR="1952" marT="1952"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200" b="0" i="0" u="none" strike="noStrike">
                          <a:solidFill>
                            <a:srgbClr val="000000"/>
                          </a:solidFill>
                          <a:effectLst/>
                          <a:latin typeface="Verdana" panose="020B0604030504040204" pitchFamily="34" charset="0"/>
                        </a:rPr>
                        <a:t> </a:t>
                      </a:r>
                    </a:p>
                  </a:txBody>
                  <a:tcPr marL="1952" marR="1952" marT="1952"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w="6350" cap="flat" cmpd="sng" algn="ctr">
                      <a:solidFill>
                        <a:srgbClr val="000000"/>
                      </a:solidFill>
                      <a:prstDash val="solid"/>
                      <a:round/>
                      <a:headEnd type="none" w="med" len="med"/>
                      <a:tailEnd type="none" w="med" len="med"/>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extLst>
                  <a:ext uri="{0D108BD9-81ED-4DB2-BD59-A6C34878D82A}">
                    <a16:rowId xmlns:a16="http://schemas.microsoft.com/office/drawing/2014/main" val="1797118159"/>
                  </a:ext>
                </a:extLst>
              </a:tr>
              <a:tr h="57290">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1" i="0" u="none" strike="noStrike">
                        <a:solidFill>
                          <a:srgbClr val="000000"/>
                        </a:solidFill>
                        <a:effectLst/>
                        <a:latin typeface="Verdana" panose="020B0604030504040204" pitchFamily="34" charset="0"/>
                      </a:endParaRPr>
                    </a:p>
                  </a:txBody>
                  <a:tcPr marL="1952" marR="1952" marT="1952"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200" b="1" i="0" u="none" strike="noStrike">
                        <a:solidFill>
                          <a:srgbClr val="000000"/>
                        </a:solidFill>
                        <a:effectLst/>
                        <a:latin typeface="Verdana" panose="020B0604030504040204" pitchFamily="34" charset="0"/>
                      </a:endParaRPr>
                    </a:p>
                  </a:txBody>
                  <a:tcPr marL="1952" marR="1952" marT="1952"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200" b="1" i="0" u="none" strike="noStrike">
                        <a:solidFill>
                          <a:srgbClr val="000000"/>
                        </a:solidFill>
                        <a:effectLst/>
                        <a:latin typeface="Verdana" panose="020B0604030504040204" pitchFamily="34" charset="0"/>
                      </a:endParaRPr>
                    </a:p>
                  </a:txBody>
                  <a:tcPr marL="1952" marR="1952" marT="1952"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tc>
                  <a:txBody>
                    <a:bodyPr/>
                    <a:lstStyle/>
                    <a:p>
                      <a:pPr algn="l" fontAlgn="b"/>
                      <a:endParaRPr lang="fr-FR" sz="2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a:noFill/>
                    </a:lnB>
                    <a:noFill/>
                  </a:tcPr>
                </a:tc>
                <a:extLst>
                  <a:ext uri="{0D108BD9-81ED-4DB2-BD59-A6C34878D82A}">
                    <a16:rowId xmlns:a16="http://schemas.microsoft.com/office/drawing/2014/main" val="1779624837"/>
                  </a:ext>
                </a:extLst>
              </a:tr>
              <a:tr h="61533">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19847724"/>
                  </a:ext>
                </a:extLst>
              </a:tr>
              <a:tr h="63655">
                <a:tc>
                  <a:txBody>
                    <a:bodyPr/>
                    <a:lstStyle/>
                    <a:p>
                      <a:pPr algn="l" fontAlgn="ctr"/>
                      <a:r>
                        <a:rPr lang="fr-FR" sz="300" b="1" i="0" u="none" strike="noStrike">
                          <a:solidFill>
                            <a:srgbClr val="000000"/>
                          </a:solidFill>
                          <a:effectLst/>
                          <a:latin typeface="Verdana" panose="020B0604030504040204" pitchFamily="34" charset="0"/>
                        </a:rPr>
                        <a:t> </a:t>
                      </a:r>
                    </a:p>
                  </a:txBody>
                  <a:tcPr marL="1952" marR="1952" marT="1952"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D9D9D9"/>
                    </a:solidFill>
                  </a:tcPr>
                </a:tc>
                <a:tc>
                  <a:txBody>
                    <a:bodyPr/>
                    <a:lstStyle/>
                    <a:p>
                      <a:pPr algn="l" fontAlgn="ctr"/>
                      <a:r>
                        <a:rPr lang="fr-FR" sz="300" b="1" i="0" u="none" strike="noStrike">
                          <a:solidFill>
                            <a:srgbClr val="000000"/>
                          </a:solidFill>
                          <a:effectLst/>
                          <a:latin typeface="Verdana" panose="020B0604030504040204" pitchFamily="34" charset="0"/>
                        </a:rPr>
                        <a:t> </a:t>
                      </a:r>
                    </a:p>
                  </a:txBody>
                  <a:tcPr marL="1952" marR="1952" marT="1952" marB="0" anchor="ctr">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9D9D9"/>
                    </a:solidFill>
                  </a:tcPr>
                </a:tc>
                <a:tc rowSpan="4">
                  <a:txBody>
                    <a:bodyPr/>
                    <a:lstStyle/>
                    <a:p>
                      <a:pPr algn="ctr" fontAlgn="ctr"/>
                      <a:r>
                        <a:rPr lang="fr-FR" sz="300" b="0" i="0" u="none" strike="noStrike">
                          <a:solidFill>
                            <a:srgbClr val="000000"/>
                          </a:solidFill>
                          <a:effectLst/>
                          <a:latin typeface="Verdana" panose="020B0604030504040204" pitchFamily="34" charset="0"/>
                        </a:rPr>
                        <a:t>Carrying amount</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4">
                  <a:txBody>
                    <a:bodyPr/>
                    <a:lstStyle/>
                    <a:p>
                      <a:pPr algn="ctr" fontAlgn="ctr"/>
                      <a:r>
                        <a:rPr lang="fr-FR" sz="300" b="0" i="0" u="none" strike="noStrike">
                          <a:solidFill>
                            <a:srgbClr val="000000"/>
                          </a:solidFill>
                          <a:effectLst/>
                          <a:latin typeface="Verdana" panose="020B0604030504040204" pitchFamily="34" charset="0"/>
                        </a:rPr>
                        <a:t>Duration</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gridSpan="13">
                  <a:txBody>
                    <a:bodyPr/>
                    <a:lstStyle/>
                    <a:p>
                      <a:pPr algn="ctr" fontAlgn="ctr"/>
                      <a:r>
                        <a:rPr lang="en-US" sz="300" b="1" i="0" u="none" strike="noStrike">
                          <a:solidFill>
                            <a:srgbClr val="000000"/>
                          </a:solidFill>
                          <a:effectLst/>
                          <a:latin typeface="Verdana" panose="020B0604030504040204" pitchFamily="34" charset="0"/>
                        </a:rPr>
                        <a:t>Bank estimate of IRRBB sensivitities including behavioural, conditional and automatic optionality</a:t>
                      </a:r>
                    </a:p>
                  </a:txBody>
                  <a:tcPr marL="1952" marR="1952" marT="195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3919056564"/>
                  </a:ext>
                </a:extLst>
              </a:tr>
              <a:tr h="59411">
                <a:tc>
                  <a:txBody>
                    <a:bodyPr/>
                    <a:lstStyle/>
                    <a:p>
                      <a:pPr algn="l" fontAlgn="ctr"/>
                      <a:r>
                        <a:rPr lang="fr-FR" sz="300" b="1" i="0" u="none" strike="noStrike">
                          <a:solidFill>
                            <a:srgbClr val="000000"/>
                          </a:solidFill>
                          <a:effectLst/>
                          <a:latin typeface="Verdana" panose="020B0604030504040204" pitchFamily="34" charset="0"/>
                        </a:rPr>
                        <a:t> </a:t>
                      </a:r>
                    </a:p>
                  </a:txBody>
                  <a:tcPr marL="1952" marR="1952" marT="1952" marB="0" anchor="ctr">
                    <a:lnL w="12700" cap="flat" cmpd="sng" algn="ctr">
                      <a:solidFill>
                        <a:srgbClr val="000000"/>
                      </a:solidFill>
                      <a:prstDash val="solid"/>
                      <a:round/>
                      <a:headEnd type="none" w="med" len="med"/>
                      <a:tailEnd type="none" w="med" len="med"/>
                    </a:lnL>
                    <a:lnR>
                      <a:noFill/>
                    </a:lnR>
                    <a:lnT>
                      <a:noFill/>
                    </a:lnT>
                    <a:lnB>
                      <a:noFill/>
                    </a:lnB>
                    <a:solidFill>
                      <a:srgbClr val="D9D9D9"/>
                    </a:solidFill>
                  </a:tcPr>
                </a:tc>
                <a:tc>
                  <a:txBody>
                    <a:bodyPr/>
                    <a:lstStyle/>
                    <a:p>
                      <a:pPr algn="l" fontAlgn="ctr"/>
                      <a:r>
                        <a:rPr lang="fr-FR" sz="300" b="1" i="0" u="none" strike="noStrike">
                          <a:solidFill>
                            <a:srgbClr val="000000"/>
                          </a:solidFill>
                          <a:effectLst/>
                          <a:latin typeface="Verdana" panose="020B0604030504040204" pitchFamily="34" charset="0"/>
                        </a:rPr>
                        <a:t> </a:t>
                      </a:r>
                    </a:p>
                  </a:txBody>
                  <a:tcPr marL="1952" marR="1952" marT="1952" marB="0" anchor="ctr">
                    <a:lnL>
                      <a:noFill/>
                    </a:lnL>
                    <a:lnR w="6350" cap="flat" cmpd="sng" algn="ctr">
                      <a:solidFill>
                        <a:srgbClr val="000000"/>
                      </a:solidFill>
                      <a:prstDash val="solid"/>
                      <a:round/>
                      <a:headEnd type="none" w="med" len="med"/>
                      <a:tailEnd type="none" w="med" len="med"/>
                    </a:lnR>
                    <a:lnT>
                      <a:noFill/>
                    </a:lnT>
                    <a:lnB>
                      <a:noFill/>
                    </a:lnB>
                    <a:solidFill>
                      <a:srgbClr val="D9D9D9"/>
                    </a:solidFill>
                  </a:tcPr>
                </a:tc>
                <a:tc vMerge="1">
                  <a:txBody>
                    <a:bodyPr/>
                    <a:lstStyle/>
                    <a:p>
                      <a:endParaRPr lang="fr-FR"/>
                    </a:p>
                  </a:txBody>
                  <a:tcPr/>
                </a:tc>
                <a:tc vMerge="1">
                  <a:txBody>
                    <a:bodyPr/>
                    <a:lstStyle/>
                    <a:p>
                      <a:endParaRPr lang="fr-FR"/>
                    </a:p>
                  </a:txBody>
                  <a:tcPr/>
                </a:tc>
                <a:tc gridSpan="13"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3937833355"/>
                  </a:ext>
                </a:extLst>
              </a:tr>
              <a:tr h="101849">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12700" cap="flat" cmpd="sng" algn="ctr">
                      <a:solidFill>
                        <a:srgbClr val="000000"/>
                      </a:solidFill>
                      <a:prstDash val="solid"/>
                      <a:round/>
                      <a:headEnd type="none" w="med" len="med"/>
                      <a:tailEnd type="none" w="med" len="med"/>
                    </a:lnL>
                    <a:lnR>
                      <a:noFill/>
                    </a:lnR>
                    <a:lnT>
                      <a:noFill/>
                    </a:lnT>
                    <a:lnB>
                      <a:noFill/>
                    </a:lnB>
                    <a:solidFill>
                      <a:srgbClr val="D8D8D8"/>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a:noFill/>
                    </a:lnL>
                    <a:lnR w="6350" cap="flat" cmpd="sng" algn="ctr">
                      <a:solidFill>
                        <a:srgbClr val="000000"/>
                      </a:solidFill>
                      <a:prstDash val="solid"/>
                      <a:round/>
                      <a:headEnd type="none" w="med" len="med"/>
                      <a:tailEnd type="none" w="med" len="med"/>
                    </a:lnR>
                    <a:lnT>
                      <a:noFill/>
                    </a:lnT>
                    <a:lnB>
                      <a:noFill/>
                    </a:lnB>
                    <a:solidFill>
                      <a:srgbClr val="D8D8D8"/>
                    </a:solidFill>
                  </a:tcPr>
                </a:tc>
                <a:tc vMerge="1">
                  <a:txBody>
                    <a:bodyPr/>
                    <a:lstStyle/>
                    <a:p>
                      <a:endParaRPr lang="fr-FR"/>
                    </a:p>
                  </a:txBody>
                  <a:tcPr/>
                </a:tc>
                <a:tc vMerge="1">
                  <a:txBody>
                    <a:bodyPr/>
                    <a:lstStyle/>
                    <a:p>
                      <a:endParaRPr lang="fr-FR"/>
                    </a:p>
                  </a:txBody>
                  <a:tcPr/>
                </a:tc>
                <a:tc gridSpan="7">
                  <a:txBody>
                    <a:bodyPr/>
                    <a:lstStyle/>
                    <a:p>
                      <a:pPr algn="ctr" fontAlgn="ctr"/>
                      <a:r>
                        <a:rPr lang="fr-FR" sz="300" b="1" i="0" u="none" strike="noStrike">
                          <a:solidFill>
                            <a:srgbClr val="000000"/>
                          </a:solidFill>
                          <a:effectLst/>
                          <a:latin typeface="Verdana" panose="020B0604030504040204" pitchFamily="34" charset="0"/>
                        </a:rPr>
                        <a:t>Economic value of equity</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3">
                  <a:txBody>
                    <a:bodyPr/>
                    <a:lstStyle/>
                    <a:p>
                      <a:pPr algn="ctr" fontAlgn="ctr"/>
                      <a:r>
                        <a:rPr lang="fr-FR" sz="300" b="1" i="0" u="none" strike="noStrike">
                          <a:solidFill>
                            <a:srgbClr val="000000"/>
                          </a:solidFill>
                          <a:effectLst/>
                          <a:latin typeface="Verdana" panose="020B0604030504040204" pitchFamily="34" charset="0"/>
                        </a:rPr>
                        <a:t>Net interest income</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gridSpan="3">
                  <a:txBody>
                    <a:bodyPr/>
                    <a:lstStyle/>
                    <a:p>
                      <a:pPr algn="ctr" fontAlgn="ctr"/>
                      <a:r>
                        <a:rPr lang="fr-FR" sz="300" b="1" i="0" u="none" strike="noStrike">
                          <a:solidFill>
                            <a:srgbClr val="000000"/>
                          </a:solidFill>
                          <a:effectLst/>
                          <a:latin typeface="Verdana" panose="020B0604030504040204" pitchFamily="34" charset="0"/>
                        </a:rPr>
                        <a:t>Market value</a:t>
                      </a:r>
                    </a:p>
                  </a:txBody>
                  <a:tcPr marL="1952" marR="1952" marT="195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603033704"/>
                  </a:ext>
                </a:extLst>
              </a:tr>
              <a:tr h="229159">
                <a:tc>
                  <a:txBody>
                    <a:bodyPr/>
                    <a:lstStyle/>
                    <a:p>
                      <a:pPr algn="ctr" fontAlgn="ctr"/>
                      <a:r>
                        <a:rPr lang="fr-FR" sz="300" b="0" i="0" u="none" strike="noStrike" dirty="0">
                          <a:solidFill>
                            <a:srgbClr val="000000"/>
                          </a:solidFill>
                          <a:effectLst/>
                          <a:latin typeface="Verdana" panose="020B0604030504040204" pitchFamily="34" charset="0"/>
                        </a:rPr>
                        <a:t> </a:t>
                      </a:r>
                    </a:p>
                  </a:txBody>
                  <a:tcPr marL="1952" marR="1952" marT="1952" marB="0" anchor="ctr">
                    <a:lnL w="12700" cap="flat" cmpd="sng" algn="ctr">
                      <a:solidFill>
                        <a:srgbClr val="000000"/>
                      </a:solidFill>
                      <a:prstDash val="solid"/>
                      <a:round/>
                      <a:headEnd type="none" w="med" len="med"/>
                      <a:tailEnd type="none" w="med" len="med"/>
                    </a:lnL>
                    <a:lnR>
                      <a:noFill/>
                    </a:lnR>
                    <a:lnT>
                      <a:noFill/>
                    </a:lnT>
                    <a:lnB>
                      <a:noFill/>
                    </a:lnB>
                    <a:solidFill>
                      <a:srgbClr val="D8D8D8"/>
                    </a:solidFill>
                  </a:tcPr>
                </a:tc>
                <a:tc>
                  <a:txBody>
                    <a:bodyPr/>
                    <a:lstStyle/>
                    <a:p>
                      <a:pPr algn="ctr" fontAlgn="ctr"/>
                      <a:r>
                        <a:rPr lang="fr-FR" sz="300" b="0" i="0" u="none" strike="noStrike">
                          <a:solidFill>
                            <a:srgbClr val="000000"/>
                          </a:solidFill>
                          <a:effectLst/>
                          <a:latin typeface="Verdana" panose="020B0604030504040204" pitchFamily="34" charset="0"/>
                        </a:rPr>
                        <a:t> </a:t>
                      </a:r>
                    </a:p>
                  </a:txBody>
                  <a:tcPr marL="1952" marR="1952" marT="1952" marB="0" anchor="ctr">
                    <a:lnL>
                      <a:noFill/>
                    </a:lnL>
                    <a:lnR w="6350" cap="flat" cmpd="sng" algn="ctr">
                      <a:solidFill>
                        <a:srgbClr val="000000"/>
                      </a:solidFill>
                      <a:prstDash val="solid"/>
                      <a:round/>
                      <a:headEnd type="none" w="med" len="med"/>
                      <a:tailEnd type="none" w="med" len="med"/>
                    </a:lnR>
                    <a:lnT>
                      <a:noFill/>
                    </a:lnT>
                    <a:lnB>
                      <a:noFill/>
                    </a:lnB>
                    <a:solidFill>
                      <a:srgbClr val="D8D8D8"/>
                    </a:solidFill>
                  </a:tcPr>
                </a:tc>
                <a:tc vMerge="1">
                  <a:txBody>
                    <a:bodyPr/>
                    <a:lstStyle/>
                    <a:p>
                      <a:endParaRPr lang="fr-FR"/>
                    </a:p>
                  </a:txBody>
                  <a:tcPr/>
                </a:tc>
                <a:tc vMerge="1">
                  <a:txBody>
                    <a:bodyPr/>
                    <a:lstStyle/>
                    <a:p>
                      <a:endParaRPr lang="fr-FR"/>
                    </a:p>
                  </a:txBody>
                  <a:tcPr/>
                </a:tc>
                <a:tc>
                  <a:txBody>
                    <a:bodyPr/>
                    <a:lstStyle/>
                    <a:p>
                      <a:pPr algn="ctr" fontAlgn="ctr"/>
                      <a:r>
                        <a:rPr lang="en-US" sz="300" b="0" i="0" u="none" strike="noStrike">
                          <a:solidFill>
                            <a:srgbClr val="000000"/>
                          </a:solidFill>
                          <a:effectLst/>
                          <a:latin typeface="Verdana" panose="020B0604030504040204" pitchFamily="34" charset="0"/>
                        </a:rPr>
                        <a:t>Level of EVE - Baseline scenario</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 EVE - Parallel shock up</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∆EVE -  Parallel shock down</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∆EVE - Steepener shock</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∆EVE - Flattener shock</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300" b="0" i="0" u="none" strike="noStrike">
                          <a:solidFill>
                            <a:srgbClr val="000000"/>
                          </a:solidFill>
                          <a:effectLst/>
                          <a:latin typeface="Verdana" panose="020B0604030504040204" pitchFamily="34" charset="0"/>
                        </a:rPr>
                        <a:t>∆EVE - Short rates shock up</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300" b="0" i="0" u="none" strike="noStrike">
                          <a:solidFill>
                            <a:srgbClr val="000000"/>
                          </a:solidFill>
                          <a:effectLst/>
                          <a:latin typeface="Verdana" panose="020B0604030504040204" pitchFamily="34" charset="0"/>
                        </a:rPr>
                        <a:t>∆EVE -  Short rates shock down</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300" b="0" i="0" u="none" strike="noStrike">
                          <a:solidFill>
                            <a:srgbClr val="000000"/>
                          </a:solidFill>
                          <a:effectLst/>
                          <a:latin typeface="Verdana" panose="020B0604030504040204" pitchFamily="34" charset="0"/>
                        </a:rPr>
                        <a:t>Level of NII - Baseline scenario</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∆NII - Parallel shock up</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∆EVE -  Parallel shock down</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300" b="0" i="0" u="none" strike="noStrike">
                          <a:solidFill>
                            <a:srgbClr val="000000"/>
                          </a:solidFill>
                          <a:effectLst/>
                          <a:latin typeface="Verdana" panose="020B0604030504040204" pitchFamily="34" charset="0"/>
                        </a:rPr>
                        <a:t>Level of MV - Baseline scenario</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∆MV - Parallel shock up</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∆MV -  Parallel shock down</a:t>
                      </a:r>
                    </a:p>
                  </a:txBody>
                  <a:tcPr marL="1952" marR="1952" marT="195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545961053"/>
                  </a:ext>
                </a:extLst>
              </a:tr>
              <a:tr h="59411">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300" b="0" i="0" u="none" strike="noStrike">
                          <a:solidFill>
                            <a:srgbClr val="000000"/>
                          </a:solidFill>
                          <a:effectLst/>
                          <a:latin typeface="Verdana" panose="020B0604030504040204" pitchFamily="34" charset="0"/>
                        </a:rPr>
                        <a:t>0010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0020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0030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0040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0050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0060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0070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0080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0090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0100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0110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0120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0130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300" b="0" i="0" u="none" strike="noStrike">
                          <a:solidFill>
                            <a:srgbClr val="000000"/>
                          </a:solidFill>
                          <a:effectLst/>
                          <a:latin typeface="Verdana" panose="020B0604030504040204" pitchFamily="34" charset="0"/>
                        </a:rPr>
                        <a:t>0140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300" b="0" i="0" u="none" strike="noStrike">
                          <a:solidFill>
                            <a:srgbClr val="000000"/>
                          </a:solidFill>
                          <a:effectLst/>
                          <a:latin typeface="Verdana" panose="020B0604030504040204" pitchFamily="34" charset="0"/>
                        </a:rPr>
                        <a:t>0150</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98771155"/>
                  </a:ext>
                </a:extLst>
              </a:tr>
              <a:tr h="59411">
                <a:tc>
                  <a:txBody>
                    <a:bodyPr/>
                    <a:lstStyle/>
                    <a:p>
                      <a:pPr algn="l" fontAlgn="ctr"/>
                      <a:r>
                        <a:rPr lang="fr-FR" sz="300" b="1" i="0" u="none" strike="noStrike">
                          <a:solidFill>
                            <a:srgbClr val="000000"/>
                          </a:solidFill>
                          <a:effectLst/>
                          <a:latin typeface="Verdana" panose="020B0604030504040204" pitchFamily="34" charset="0"/>
                        </a:rPr>
                        <a:t>TOTAL ASSETS</a:t>
                      </a:r>
                    </a:p>
                  </a:txBody>
                  <a:tcPr marL="1952"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0010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940062348"/>
                  </a:ext>
                </a:extLst>
              </a:tr>
              <a:tr h="59411">
                <a:tc>
                  <a:txBody>
                    <a:bodyPr/>
                    <a:lstStyle/>
                    <a:p>
                      <a:pPr algn="l" fontAlgn="ctr"/>
                      <a:r>
                        <a:rPr lang="en-US" sz="300" b="0" i="0" u="none" strike="noStrike">
                          <a:solidFill>
                            <a:srgbClr val="000000"/>
                          </a:solidFill>
                          <a:effectLst/>
                          <a:latin typeface="Verdana" panose="020B0604030504040204" pitchFamily="34" charset="0"/>
                        </a:rPr>
                        <a:t>of which: due to automatic optionality</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0020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086980381"/>
                  </a:ext>
                </a:extLst>
              </a:tr>
              <a:tr h="59411">
                <a:tc>
                  <a:txBody>
                    <a:bodyPr/>
                    <a:lstStyle/>
                    <a:p>
                      <a:pPr algn="l" fontAlgn="ctr"/>
                      <a:r>
                        <a:rPr lang="fr-FR" sz="300" b="1" i="0" u="none" strike="noStrike">
                          <a:solidFill>
                            <a:srgbClr val="000000"/>
                          </a:solidFill>
                          <a:effectLst/>
                          <a:latin typeface="Verdana" panose="020B0604030504040204" pitchFamily="34" charset="0"/>
                        </a:rPr>
                        <a:t>Central bank</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0030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884381052"/>
                  </a:ext>
                </a:extLst>
              </a:tr>
              <a:tr h="59411">
                <a:tc>
                  <a:txBody>
                    <a:bodyPr/>
                    <a:lstStyle/>
                    <a:p>
                      <a:pPr algn="l" fontAlgn="ctr"/>
                      <a:r>
                        <a:rPr lang="fr-FR" sz="300" b="1" i="0" u="none" strike="noStrike">
                          <a:solidFill>
                            <a:srgbClr val="000000"/>
                          </a:solidFill>
                          <a:effectLst/>
                          <a:latin typeface="Verdana" panose="020B0604030504040204" pitchFamily="34" charset="0"/>
                        </a:rPr>
                        <a:t>Interbank</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0040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33075458"/>
                  </a:ext>
                </a:extLst>
              </a:tr>
              <a:tr h="59411">
                <a:tc>
                  <a:txBody>
                    <a:bodyPr/>
                    <a:lstStyle/>
                    <a:p>
                      <a:pPr algn="l" fontAlgn="ctr"/>
                      <a:r>
                        <a:rPr lang="fr-FR" sz="300" b="1" i="0" u="none" strike="noStrike">
                          <a:solidFill>
                            <a:srgbClr val="000000"/>
                          </a:solidFill>
                          <a:effectLst/>
                          <a:latin typeface="Verdana" panose="020B0604030504040204" pitchFamily="34" charset="0"/>
                        </a:rPr>
                        <a:t>Loans and advances</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0050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29135123"/>
                  </a:ext>
                </a:extLst>
              </a:tr>
              <a:tr h="59411">
                <a:tc>
                  <a:txBody>
                    <a:bodyPr/>
                    <a:lstStyle/>
                    <a:p>
                      <a:pPr algn="l" fontAlgn="ctr"/>
                      <a:r>
                        <a:rPr lang="fr-FR" sz="300" b="0" i="0" u="none" strike="noStrike">
                          <a:solidFill>
                            <a:srgbClr val="000000"/>
                          </a:solidFill>
                          <a:effectLst/>
                          <a:latin typeface="Verdana" panose="020B0604030504040204" pitchFamily="34" charset="0"/>
                        </a:rPr>
                        <a:t>of which: fixed rate</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0060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479543319"/>
                  </a:ext>
                </a:extLst>
              </a:tr>
              <a:tr h="59411">
                <a:tc>
                  <a:txBody>
                    <a:bodyPr/>
                    <a:lstStyle/>
                    <a:p>
                      <a:pPr algn="l" fontAlgn="ctr"/>
                      <a:r>
                        <a:rPr lang="fr-FR" sz="300" b="0" i="0" u="none" strike="noStrike">
                          <a:solidFill>
                            <a:srgbClr val="000000"/>
                          </a:solidFill>
                          <a:effectLst/>
                          <a:latin typeface="Verdana" panose="020B0604030504040204" pitchFamily="34" charset="0"/>
                        </a:rPr>
                        <a:t>of which: non-performing</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0070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833798231"/>
                  </a:ext>
                </a:extLst>
              </a:tr>
              <a:tr h="59411">
                <a:tc>
                  <a:txBody>
                    <a:bodyPr/>
                    <a:lstStyle/>
                    <a:p>
                      <a:pPr algn="l" fontAlgn="ctr"/>
                      <a:r>
                        <a:rPr lang="fr-FR" sz="300" b="0" i="0" u="none" strike="noStrike">
                          <a:solidFill>
                            <a:srgbClr val="000000"/>
                          </a:solidFill>
                          <a:effectLst/>
                          <a:latin typeface="Verdana" panose="020B0604030504040204" pitchFamily="34" charset="0"/>
                        </a:rPr>
                        <a:t>Retail</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0080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977747889"/>
                  </a:ext>
                </a:extLst>
              </a:tr>
              <a:tr h="57290">
                <a:tc>
                  <a:txBody>
                    <a:bodyPr/>
                    <a:lstStyle/>
                    <a:p>
                      <a:pPr algn="l" fontAlgn="ctr"/>
                      <a:r>
                        <a:rPr lang="en-US" sz="300" b="0" i="0" u="none" strike="noStrike">
                          <a:solidFill>
                            <a:srgbClr val="000000"/>
                          </a:solidFill>
                          <a:effectLst/>
                          <a:latin typeface="Verdana" panose="020B0604030504040204" pitchFamily="34" charset="0"/>
                        </a:rPr>
                        <a:t>of which: secured by residential real estate </a:t>
                      </a:r>
                    </a:p>
                  </a:txBody>
                  <a:tcPr marL="17567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0090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628198545"/>
                  </a:ext>
                </a:extLst>
              </a:tr>
              <a:tr h="59411">
                <a:tc>
                  <a:txBody>
                    <a:bodyPr/>
                    <a:lstStyle/>
                    <a:p>
                      <a:pPr algn="l" fontAlgn="ctr"/>
                      <a:r>
                        <a:rPr lang="fr-FR" sz="300" b="0" i="0" u="none" strike="noStrike">
                          <a:solidFill>
                            <a:srgbClr val="000000"/>
                          </a:solidFill>
                          <a:effectLst/>
                          <a:latin typeface="Verdana" panose="020B0604030504040204" pitchFamily="34" charset="0"/>
                        </a:rPr>
                        <a:t>Wholesale non-financial</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0100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551487266"/>
                  </a:ext>
                </a:extLst>
              </a:tr>
              <a:tr h="59411">
                <a:tc>
                  <a:txBody>
                    <a:bodyPr/>
                    <a:lstStyle/>
                    <a:p>
                      <a:pPr algn="l" fontAlgn="ctr"/>
                      <a:r>
                        <a:rPr lang="fr-FR" sz="300" b="0" i="0" u="none" strike="noStrike">
                          <a:solidFill>
                            <a:srgbClr val="000000"/>
                          </a:solidFill>
                          <a:effectLst/>
                          <a:latin typeface="Verdana" panose="020B0604030504040204" pitchFamily="34" charset="0"/>
                        </a:rPr>
                        <a:t>Wholesale financial</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0110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073954607"/>
                  </a:ext>
                </a:extLst>
              </a:tr>
              <a:tr h="59411">
                <a:tc>
                  <a:txBody>
                    <a:bodyPr/>
                    <a:lstStyle/>
                    <a:p>
                      <a:pPr algn="l" fontAlgn="ctr"/>
                      <a:r>
                        <a:rPr lang="fr-FR" sz="300" b="1" i="0" u="none" strike="noStrike">
                          <a:solidFill>
                            <a:srgbClr val="000000"/>
                          </a:solidFill>
                          <a:effectLst/>
                          <a:latin typeface="Verdana" panose="020B0604030504040204" pitchFamily="34" charset="0"/>
                        </a:rPr>
                        <a:t>Debt securities</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0120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w="6350" cap="flat" cmpd="sng" algn="ctr">
                      <a:solidFill>
                        <a:srgbClr val="D9D9D9"/>
                      </a:solidFill>
                      <a:prstDash val="dash"/>
                      <a:round/>
                      <a:headEnd type="none" w="med" len="med"/>
                      <a:tailEnd type="none" w="med" len="med"/>
                    </a:lnL>
                    <a:lnR>
                      <a:noFill/>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a:noFill/>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09301034"/>
                  </a:ext>
                </a:extLst>
              </a:tr>
              <a:tr h="59411">
                <a:tc>
                  <a:txBody>
                    <a:bodyPr/>
                    <a:lstStyle/>
                    <a:p>
                      <a:pPr algn="l" fontAlgn="ctr"/>
                      <a:r>
                        <a:rPr lang="fr-FR" sz="300" b="0" i="0" u="none" strike="noStrike">
                          <a:solidFill>
                            <a:srgbClr val="000000"/>
                          </a:solidFill>
                          <a:effectLst/>
                          <a:latin typeface="Verdana" panose="020B0604030504040204" pitchFamily="34" charset="0"/>
                        </a:rPr>
                        <a:t>of which: fixed rate</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0130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4102405035"/>
                  </a:ext>
                </a:extLst>
              </a:tr>
              <a:tr h="59411">
                <a:tc>
                  <a:txBody>
                    <a:bodyPr/>
                    <a:lstStyle/>
                    <a:p>
                      <a:pPr algn="l" fontAlgn="ctr"/>
                      <a:r>
                        <a:rPr lang="fr-FR" sz="300" b="1" i="0" u="none" strike="noStrike">
                          <a:solidFill>
                            <a:srgbClr val="000000"/>
                          </a:solidFill>
                          <a:effectLst/>
                          <a:latin typeface="Verdana" panose="020B0604030504040204" pitchFamily="34" charset="0"/>
                        </a:rPr>
                        <a:t>Derivatives hedging assets</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0140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971749131"/>
                  </a:ext>
                </a:extLst>
              </a:tr>
              <a:tr h="59411">
                <a:tc>
                  <a:txBody>
                    <a:bodyPr/>
                    <a:lstStyle/>
                    <a:p>
                      <a:pPr algn="l" fontAlgn="ctr"/>
                      <a:r>
                        <a:rPr lang="fr-FR" sz="300" b="0" i="0" u="none" strike="noStrike">
                          <a:solidFill>
                            <a:srgbClr val="000000"/>
                          </a:solidFill>
                          <a:effectLst/>
                          <a:latin typeface="Verdana" panose="020B0604030504040204" pitchFamily="34" charset="0"/>
                        </a:rPr>
                        <a:t>of which: fixed rate</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0150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532877220"/>
                  </a:ext>
                </a:extLst>
              </a:tr>
              <a:tr h="59411">
                <a:tc>
                  <a:txBody>
                    <a:bodyPr/>
                    <a:lstStyle/>
                    <a:p>
                      <a:pPr algn="l" fontAlgn="ctr"/>
                      <a:r>
                        <a:rPr lang="fr-FR" sz="300" b="0" i="0" u="none" strike="noStrike">
                          <a:solidFill>
                            <a:srgbClr val="000000"/>
                          </a:solidFill>
                          <a:effectLst/>
                          <a:latin typeface="Verdana" panose="020B0604030504040204" pitchFamily="34" charset="0"/>
                        </a:rPr>
                        <a:t>Hedging debt securities</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0160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dirty="0">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051151116"/>
                  </a:ext>
                </a:extLst>
              </a:tr>
              <a:tr h="59411">
                <a:tc>
                  <a:txBody>
                    <a:bodyPr/>
                    <a:lstStyle/>
                    <a:p>
                      <a:pPr algn="l" fontAlgn="ctr"/>
                      <a:r>
                        <a:rPr lang="fr-FR" sz="300" b="0" i="0" u="none" strike="noStrike">
                          <a:solidFill>
                            <a:srgbClr val="000000"/>
                          </a:solidFill>
                          <a:effectLst/>
                          <a:latin typeface="Verdana" panose="020B0604030504040204" pitchFamily="34" charset="0"/>
                        </a:rPr>
                        <a:t>Hedging other assets</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0170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538863008"/>
                  </a:ext>
                </a:extLst>
              </a:tr>
              <a:tr h="59411">
                <a:tc>
                  <a:txBody>
                    <a:bodyPr/>
                    <a:lstStyle/>
                    <a:p>
                      <a:pPr algn="l" fontAlgn="ctr"/>
                      <a:r>
                        <a:rPr lang="fr-FR" sz="300" b="1" i="0" u="none" strike="noStrike">
                          <a:solidFill>
                            <a:srgbClr val="000000"/>
                          </a:solidFill>
                          <a:effectLst/>
                          <a:latin typeface="Verdana" panose="020B0604030504040204" pitchFamily="34" charset="0"/>
                        </a:rPr>
                        <a:t>Other</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0180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936154586"/>
                  </a:ext>
                </a:extLst>
              </a:tr>
              <a:tr h="59411">
                <a:tc>
                  <a:txBody>
                    <a:bodyPr/>
                    <a:lstStyle/>
                    <a:p>
                      <a:pPr algn="l" fontAlgn="ctr"/>
                      <a:r>
                        <a:rPr lang="en-US" sz="300" b="1" i="0" u="none" strike="noStrike">
                          <a:solidFill>
                            <a:srgbClr val="000000"/>
                          </a:solidFill>
                          <a:effectLst/>
                          <a:latin typeface="Verdana" panose="020B0604030504040204" pitchFamily="34" charset="0"/>
                        </a:rPr>
                        <a:t>Off-balance sheet assets: contingent assets</a:t>
                      </a:r>
                    </a:p>
                  </a:txBody>
                  <a:tcPr marL="1952"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0190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392392533"/>
                  </a:ext>
                </a:extLst>
              </a:tr>
              <a:tr h="59411">
                <a:tc>
                  <a:txBody>
                    <a:bodyPr/>
                    <a:lstStyle/>
                    <a:p>
                      <a:pPr algn="l" fontAlgn="ctr"/>
                      <a:r>
                        <a:rPr lang="fr-FR" sz="300" b="1" i="0" u="none" strike="noStrike">
                          <a:solidFill>
                            <a:srgbClr val="000000"/>
                          </a:solidFill>
                          <a:effectLst/>
                          <a:latin typeface="Verdana" panose="020B0604030504040204" pitchFamily="34" charset="0"/>
                        </a:rPr>
                        <a:t>TOTAL LIABILITIES</a:t>
                      </a:r>
                    </a:p>
                  </a:txBody>
                  <a:tcPr marL="1952"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0200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621830619"/>
                  </a:ext>
                </a:extLst>
              </a:tr>
              <a:tr h="59411">
                <a:tc>
                  <a:txBody>
                    <a:bodyPr/>
                    <a:lstStyle/>
                    <a:p>
                      <a:pPr algn="l" fontAlgn="ctr"/>
                      <a:r>
                        <a:rPr lang="en-US" sz="300" b="0" i="0" u="none" strike="noStrike">
                          <a:solidFill>
                            <a:srgbClr val="000000"/>
                          </a:solidFill>
                          <a:effectLst/>
                          <a:latin typeface="Verdana" panose="020B0604030504040204" pitchFamily="34" charset="0"/>
                        </a:rPr>
                        <a:t>of which: due to automatic optionality</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0210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526868236"/>
                  </a:ext>
                </a:extLst>
              </a:tr>
              <a:tr h="59411">
                <a:tc>
                  <a:txBody>
                    <a:bodyPr/>
                    <a:lstStyle/>
                    <a:p>
                      <a:pPr algn="l" fontAlgn="ctr"/>
                      <a:r>
                        <a:rPr lang="fr-FR" sz="300" b="1" i="0" u="none" strike="noStrike">
                          <a:solidFill>
                            <a:srgbClr val="000000"/>
                          </a:solidFill>
                          <a:effectLst/>
                          <a:latin typeface="Verdana" panose="020B0604030504040204" pitchFamily="34" charset="0"/>
                        </a:rPr>
                        <a:t>Central bank</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0220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485656457"/>
                  </a:ext>
                </a:extLst>
              </a:tr>
              <a:tr h="59411">
                <a:tc>
                  <a:txBody>
                    <a:bodyPr/>
                    <a:lstStyle/>
                    <a:p>
                      <a:pPr algn="l" fontAlgn="ctr"/>
                      <a:r>
                        <a:rPr lang="fr-FR" sz="300" b="1" i="0" u="none" strike="noStrike">
                          <a:solidFill>
                            <a:srgbClr val="000000"/>
                          </a:solidFill>
                          <a:effectLst/>
                          <a:latin typeface="Verdana" panose="020B0604030504040204" pitchFamily="34" charset="0"/>
                        </a:rPr>
                        <a:t>Interbank</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0230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959676726"/>
                  </a:ext>
                </a:extLst>
              </a:tr>
              <a:tr h="59411">
                <a:tc>
                  <a:txBody>
                    <a:bodyPr/>
                    <a:lstStyle/>
                    <a:p>
                      <a:pPr algn="l" fontAlgn="ctr"/>
                      <a:r>
                        <a:rPr lang="fr-FR" sz="300" b="1" i="0" u="none" strike="noStrike">
                          <a:solidFill>
                            <a:srgbClr val="000000"/>
                          </a:solidFill>
                          <a:effectLst/>
                          <a:latin typeface="Verdana" panose="020B0604030504040204" pitchFamily="34" charset="0"/>
                        </a:rPr>
                        <a:t>Debt securities issued</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0240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662132736"/>
                  </a:ext>
                </a:extLst>
              </a:tr>
              <a:tr h="59411">
                <a:tc>
                  <a:txBody>
                    <a:bodyPr/>
                    <a:lstStyle/>
                    <a:p>
                      <a:pPr algn="l" fontAlgn="ctr"/>
                      <a:r>
                        <a:rPr lang="fr-FR" sz="300" b="0" i="0" u="none" strike="noStrike">
                          <a:solidFill>
                            <a:srgbClr val="000000"/>
                          </a:solidFill>
                          <a:effectLst/>
                          <a:latin typeface="Verdana" panose="020B0604030504040204" pitchFamily="34" charset="0"/>
                        </a:rPr>
                        <a:t>of which: fixed rate</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0250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4016256329"/>
                  </a:ext>
                </a:extLst>
              </a:tr>
              <a:tr h="59411">
                <a:tc>
                  <a:txBody>
                    <a:bodyPr/>
                    <a:lstStyle/>
                    <a:p>
                      <a:pPr algn="l" fontAlgn="ctr"/>
                      <a:r>
                        <a:rPr lang="en-US" sz="300" b="0" i="0" u="none" strike="noStrike">
                          <a:solidFill>
                            <a:srgbClr val="000000"/>
                          </a:solidFill>
                          <a:effectLst/>
                          <a:latin typeface="Verdana" panose="020B0604030504040204" pitchFamily="34" charset="0"/>
                        </a:rPr>
                        <a:t>of which: AT1 or T2</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0260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76990729"/>
                  </a:ext>
                </a:extLst>
              </a:tr>
              <a:tr h="59411">
                <a:tc>
                  <a:txBody>
                    <a:bodyPr/>
                    <a:lstStyle/>
                    <a:p>
                      <a:pPr algn="l" fontAlgn="b"/>
                      <a:r>
                        <a:rPr lang="fr-FR" sz="300" b="1" i="0" u="none" strike="noStrike">
                          <a:solidFill>
                            <a:srgbClr val="000000"/>
                          </a:solidFill>
                          <a:effectLst/>
                          <a:latin typeface="Verdana" panose="020B0604030504040204" pitchFamily="34" charset="0"/>
                        </a:rPr>
                        <a:t>NMDs: Retail transactional</a:t>
                      </a:r>
                    </a:p>
                  </a:txBody>
                  <a:tcPr marL="58559"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0270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21577249"/>
                  </a:ext>
                </a:extLst>
              </a:tr>
              <a:tr h="59411">
                <a:tc>
                  <a:txBody>
                    <a:bodyPr/>
                    <a:lstStyle/>
                    <a:p>
                      <a:pPr algn="l" fontAlgn="ctr"/>
                      <a:r>
                        <a:rPr lang="fr-FR" sz="300" b="0" i="0" u="none" strike="noStrike">
                          <a:solidFill>
                            <a:srgbClr val="000000"/>
                          </a:solidFill>
                          <a:effectLst/>
                          <a:latin typeface="Verdana" panose="020B0604030504040204" pitchFamily="34" charset="0"/>
                        </a:rPr>
                        <a:t>of which: fixed rate</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0280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041421839"/>
                  </a:ext>
                </a:extLst>
              </a:tr>
              <a:tr h="59411">
                <a:tc>
                  <a:txBody>
                    <a:bodyPr/>
                    <a:lstStyle/>
                    <a:p>
                      <a:pPr algn="l" fontAlgn="ctr"/>
                      <a:r>
                        <a:rPr lang="fr-FR" sz="300" b="0" i="0" u="none" strike="noStrike">
                          <a:solidFill>
                            <a:srgbClr val="000000"/>
                          </a:solidFill>
                          <a:effectLst/>
                          <a:latin typeface="Verdana" panose="020B0604030504040204" pitchFamily="34" charset="0"/>
                        </a:rPr>
                        <a:t>of which: core component</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0290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dirty="0">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236923580"/>
                  </a:ext>
                </a:extLst>
              </a:tr>
              <a:tr h="59411">
                <a:tc>
                  <a:txBody>
                    <a:bodyPr/>
                    <a:lstStyle/>
                    <a:p>
                      <a:pPr algn="l" fontAlgn="ctr"/>
                      <a:r>
                        <a:rPr lang="en-US" sz="300" b="0" i="0" u="none" strike="noStrike">
                          <a:solidFill>
                            <a:srgbClr val="000000"/>
                          </a:solidFill>
                          <a:effectLst/>
                          <a:latin typeface="Verdana" panose="020B0604030504040204" pitchFamily="34" charset="0"/>
                        </a:rPr>
                        <a:t>of which: exempted from the 5Y cap</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0300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393366890"/>
                  </a:ext>
                </a:extLst>
              </a:tr>
              <a:tr h="59411">
                <a:tc>
                  <a:txBody>
                    <a:bodyPr/>
                    <a:lstStyle/>
                    <a:p>
                      <a:pPr algn="l" fontAlgn="b"/>
                      <a:r>
                        <a:rPr lang="fr-FR" sz="300" b="1" i="0" u="none" strike="noStrike">
                          <a:solidFill>
                            <a:srgbClr val="000000"/>
                          </a:solidFill>
                          <a:effectLst/>
                          <a:latin typeface="Verdana" panose="020B0604030504040204" pitchFamily="34" charset="0"/>
                        </a:rPr>
                        <a:t>NMDs: Retail non-transactional</a:t>
                      </a:r>
                    </a:p>
                  </a:txBody>
                  <a:tcPr marL="58559"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0310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598614314"/>
                  </a:ext>
                </a:extLst>
              </a:tr>
              <a:tr h="59411">
                <a:tc>
                  <a:txBody>
                    <a:bodyPr/>
                    <a:lstStyle/>
                    <a:p>
                      <a:pPr algn="l" fontAlgn="ctr"/>
                      <a:r>
                        <a:rPr lang="fr-FR" sz="300" b="0" i="0" u="none" strike="noStrike">
                          <a:solidFill>
                            <a:srgbClr val="000000"/>
                          </a:solidFill>
                          <a:effectLst/>
                          <a:latin typeface="Verdana" panose="020B0604030504040204" pitchFamily="34" charset="0"/>
                        </a:rPr>
                        <a:t>of which: fixed rate</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0320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095889040"/>
                  </a:ext>
                </a:extLst>
              </a:tr>
              <a:tr h="59411">
                <a:tc>
                  <a:txBody>
                    <a:bodyPr/>
                    <a:lstStyle/>
                    <a:p>
                      <a:pPr algn="l" fontAlgn="ctr"/>
                      <a:r>
                        <a:rPr lang="fr-FR" sz="300" b="0" i="0" u="none" strike="noStrike">
                          <a:solidFill>
                            <a:srgbClr val="000000"/>
                          </a:solidFill>
                          <a:effectLst/>
                          <a:latin typeface="Verdana" panose="020B0604030504040204" pitchFamily="34" charset="0"/>
                        </a:rPr>
                        <a:t>of which: core component</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0330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583863171"/>
                  </a:ext>
                </a:extLst>
              </a:tr>
              <a:tr h="59411">
                <a:tc>
                  <a:txBody>
                    <a:bodyPr/>
                    <a:lstStyle/>
                    <a:p>
                      <a:pPr algn="l" fontAlgn="ctr"/>
                      <a:r>
                        <a:rPr lang="en-US" sz="300" b="0" i="0" u="none" strike="noStrike">
                          <a:solidFill>
                            <a:srgbClr val="000000"/>
                          </a:solidFill>
                          <a:effectLst/>
                          <a:latin typeface="Verdana" panose="020B0604030504040204" pitchFamily="34" charset="0"/>
                        </a:rPr>
                        <a:t>of which: exempted from the 5Y cap</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0340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endParaRPr lang="fr-FR" sz="300" b="0" i="0" u="none" strike="noStrike">
                        <a:solidFill>
                          <a:srgbClr val="202124"/>
                        </a:solidFill>
                        <a:effectLst/>
                        <a:latin typeface="Arial" panose="020B0604020202020204" pitchFamily="34" charset="0"/>
                      </a:endParaRP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961702471"/>
                  </a:ext>
                </a:extLst>
              </a:tr>
              <a:tr h="59411">
                <a:tc>
                  <a:txBody>
                    <a:bodyPr/>
                    <a:lstStyle/>
                    <a:p>
                      <a:pPr algn="l" fontAlgn="b"/>
                      <a:r>
                        <a:rPr lang="fr-FR" sz="300" b="1" i="0" u="none" strike="noStrike">
                          <a:solidFill>
                            <a:srgbClr val="000000"/>
                          </a:solidFill>
                          <a:effectLst/>
                          <a:latin typeface="Verdana" panose="020B0604030504040204" pitchFamily="34" charset="0"/>
                        </a:rPr>
                        <a:t>NMDs: Wholesale non-financial</a:t>
                      </a:r>
                    </a:p>
                  </a:txBody>
                  <a:tcPr marL="58559"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0350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360036075"/>
                  </a:ext>
                </a:extLst>
              </a:tr>
              <a:tr h="59411">
                <a:tc>
                  <a:txBody>
                    <a:bodyPr/>
                    <a:lstStyle/>
                    <a:p>
                      <a:pPr algn="l" fontAlgn="ctr"/>
                      <a:r>
                        <a:rPr lang="fr-FR" sz="300" b="0" i="0" u="none" strike="noStrike">
                          <a:solidFill>
                            <a:srgbClr val="000000"/>
                          </a:solidFill>
                          <a:effectLst/>
                          <a:latin typeface="Verdana" panose="020B0604030504040204" pitchFamily="34" charset="0"/>
                        </a:rPr>
                        <a:t>of which: fixed rate</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0360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725649366"/>
                  </a:ext>
                </a:extLst>
              </a:tr>
              <a:tr h="59411">
                <a:tc>
                  <a:txBody>
                    <a:bodyPr/>
                    <a:lstStyle/>
                    <a:p>
                      <a:pPr algn="l" fontAlgn="ctr"/>
                      <a:r>
                        <a:rPr lang="fr-FR" sz="300" b="0" i="0" u="none" strike="noStrike">
                          <a:solidFill>
                            <a:srgbClr val="000000"/>
                          </a:solidFill>
                          <a:effectLst/>
                          <a:latin typeface="Verdana" panose="020B0604030504040204" pitchFamily="34" charset="0"/>
                        </a:rPr>
                        <a:t>of which: core component</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0370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923736419"/>
                  </a:ext>
                </a:extLst>
              </a:tr>
              <a:tr h="59411">
                <a:tc>
                  <a:txBody>
                    <a:bodyPr/>
                    <a:lstStyle/>
                    <a:p>
                      <a:pPr algn="l" fontAlgn="ctr"/>
                      <a:r>
                        <a:rPr lang="en-US" sz="300" b="0" i="0" u="none" strike="noStrike">
                          <a:solidFill>
                            <a:srgbClr val="000000"/>
                          </a:solidFill>
                          <a:effectLst/>
                          <a:latin typeface="Verdana" panose="020B0604030504040204" pitchFamily="34" charset="0"/>
                        </a:rPr>
                        <a:t>of which: exempted from the 5Y cap</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0380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360352402"/>
                  </a:ext>
                </a:extLst>
              </a:tr>
              <a:tr h="59411">
                <a:tc>
                  <a:txBody>
                    <a:bodyPr/>
                    <a:lstStyle/>
                    <a:p>
                      <a:pPr algn="l" fontAlgn="b"/>
                      <a:r>
                        <a:rPr lang="fr-FR" sz="300" b="1" i="0" u="none" strike="noStrike">
                          <a:solidFill>
                            <a:srgbClr val="000000"/>
                          </a:solidFill>
                          <a:effectLst/>
                          <a:latin typeface="Verdana" panose="020B0604030504040204" pitchFamily="34" charset="0"/>
                        </a:rPr>
                        <a:t>NMDs: Wholesale financial</a:t>
                      </a:r>
                    </a:p>
                  </a:txBody>
                  <a:tcPr marL="58559"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0390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483216699"/>
                  </a:ext>
                </a:extLst>
              </a:tr>
              <a:tr h="59411">
                <a:tc>
                  <a:txBody>
                    <a:bodyPr/>
                    <a:lstStyle/>
                    <a:p>
                      <a:pPr algn="l" fontAlgn="ctr"/>
                      <a:r>
                        <a:rPr lang="fr-FR" sz="300" b="0" i="0" u="none" strike="noStrike">
                          <a:solidFill>
                            <a:srgbClr val="000000"/>
                          </a:solidFill>
                          <a:effectLst/>
                          <a:latin typeface="Verdana" panose="020B0604030504040204" pitchFamily="34" charset="0"/>
                        </a:rPr>
                        <a:t>of which: fixed rate</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0400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781064244"/>
                  </a:ext>
                </a:extLst>
              </a:tr>
              <a:tr h="59411">
                <a:tc>
                  <a:txBody>
                    <a:bodyPr/>
                    <a:lstStyle/>
                    <a:p>
                      <a:pPr algn="l" fontAlgn="ctr"/>
                      <a:r>
                        <a:rPr lang="fr-FR" sz="300" b="0" i="0" u="none" strike="noStrike">
                          <a:solidFill>
                            <a:srgbClr val="000000"/>
                          </a:solidFill>
                          <a:effectLst/>
                          <a:latin typeface="Verdana" panose="020B0604030504040204" pitchFamily="34" charset="0"/>
                        </a:rPr>
                        <a:t>of which: operational deposits</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0410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868684907"/>
                  </a:ext>
                </a:extLst>
              </a:tr>
              <a:tr h="59411">
                <a:tc>
                  <a:txBody>
                    <a:bodyPr/>
                    <a:lstStyle/>
                    <a:p>
                      <a:pPr algn="l" fontAlgn="b"/>
                      <a:r>
                        <a:rPr lang="fr-FR" sz="300" b="1" i="0" u="none" strike="noStrike">
                          <a:solidFill>
                            <a:srgbClr val="000000"/>
                          </a:solidFill>
                          <a:effectLst/>
                          <a:latin typeface="Verdana" panose="020B0604030504040204" pitchFamily="34" charset="0"/>
                        </a:rPr>
                        <a:t>Term deposits</a:t>
                      </a:r>
                    </a:p>
                  </a:txBody>
                  <a:tcPr marL="58559"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0420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867716579"/>
                  </a:ext>
                </a:extLst>
              </a:tr>
              <a:tr h="59411">
                <a:tc>
                  <a:txBody>
                    <a:bodyPr/>
                    <a:lstStyle/>
                    <a:p>
                      <a:pPr algn="l" fontAlgn="ctr"/>
                      <a:r>
                        <a:rPr lang="fr-FR" sz="300" b="0" i="0" u="none" strike="noStrike">
                          <a:solidFill>
                            <a:srgbClr val="000000"/>
                          </a:solidFill>
                          <a:effectLst/>
                          <a:latin typeface="Verdana" panose="020B0604030504040204" pitchFamily="34" charset="0"/>
                        </a:rPr>
                        <a:t>of which: fixed rate</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0430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697550826"/>
                  </a:ext>
                </a:extLst>
              </a:tr>
              <a:tr h="59411">
                <a:tc>
                  <a:txBody>
                    <a:bodyPr/>
                    <a:lstStyle/>
                    <a:p>
                      <a:pPr algn="l" fontAlgn="b"/>
                      <a:r>
                        <a:rPr lang="fr-FR" sz="300" b="0" i="0" u="none" strike="noStrike">
                          <a:solidFill>
                            <a:srgbClr val="000000"/>
                          </a:solidFill>
                          <a:effectLst/>
                          <a:latin typeface="Verdana" panose="020B0604030504040204" pitchFamily="34" charset="0"/>
                        </a:rPr>
                        <a:t>Retail</a:t>
                      </a:r>
                    </a:p>
                  </a:txBody>
                  <a:tcPr marL="117118"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0440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66605128"/>
                  </a:ext>
                </a:extLst>
              </a:tr>
              <a:tr h="59411">
                <a:tc>
                  <a:txBody>
                    <a:bodyPr/>
                    <a:lstStyle/>
                    <a:p>
                      <a:pPr algn="l" fontAlgn="b"/>
                      <a:r>
                        <a:rPr lang="fr-FR" sz="300" b="0" i="0" u="none" strike="noStrike">
                          <a:solidFill>
                            <a:srgbClr val="000000"/>
                          </a:solidFill>
                          <a:effectLst/>
                          <a:latin typeface="Verdana" panose="020B0604030504040204" pitchFamily="34" charset="0"/>
                        </a:rPr>
                        <a:t>Wholesale non-financial</a:t>
                      </a:r>
                    </a:p>
                  </a:txBody>
                  <a:tcPr marL="117118"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0450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09391155"/>
                  </a:ext>
                </a:extLst>
              </a:tr>
              <a:tr h="59411">
                <a:tc>
                  <a:txBody>
                    <a:bodyPr/>
                    <a:lstStyle/>
                    <a:p>
                      <a:pPr algn="l" fontAlgn="b"/>
                      <a:r>
                        <a:rPr lang="fr-FR" sz="300" b="0" i="0" u="none" strike="noStrike">
                          <a:solidFill>
                            <a:srgbClr val="000000"/>
                          </a:solidFill>
                          <a:effectLst/>
                          <a:latin typeface="Verdana" panose="020B0604030504040204" pitchFamily="34" charset="0"/>
                        </a:rPr>
                        <a:t>Wholesale financial</a:t>
                      </a:r>
                    </a:p>
                  </a:txBody>
                  <a:tcPr marL="117118"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0460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237511008"/>
                  </a:ext>
                </a:extLst>
              </a:tr>
              <a:tr h="59411">
                <a:tc>
                  <a:txBody>
                    <a:bodyPr/>
                    <a:lstStyle/>
                    <a:p>
                      <a:pPr algn="l" fontAlgn="b"/>
                      <a:r>
                        <a:rPr lang="fr-FR" sz="300" b="1" i="0" u="none" strike="noStrike">
                          <a:solidFill>
                            <a:srgbClr val="000000"/>
                          </a:solidFill>
                          <a:effectLst/>
                          <a:latin typeface="Verdana" panose="020B0604030504040204" pitchFamily="34" charset="0"/>
                        </a:rPr>
                        <a:t>Derivatives hedging liabilities</a:t>
                      </a:r>
                    </a:p>
                  </a:txBody>
                  <a:tcPr marL="58559"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0470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655614144"/>
                  </a:ext>
                </a:extLst>
              </a:tr>
              <a:tr h="59411">
                <a:tc>
                  <a:txBody>
                    <a:bodyPr/>
                    <a:lstStyle/>
                    <a:p>
                      <a:pPr algn="l" fontAlgn="ctr"/>
                      <a:r>
                        <a:rPr lang="fr-FR" sz="300" b="0" i="0" u="none" strike="noStrike">
                          <a:solidFill>
                            <a:srgbClr val="000000"/>
                          </a:solidFill>
                          <a:effectLst/>
                          <a:latin typeface="Verdana" panose="020B0604030504040204" pitchFamily="34" charset="0"/>
                        </a:rPr>
                        <a:t>of which: fixed rate</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0480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689867099"/>
                  </a:ext>
                </a:extLst>
              </a:tr>
              <a:tr h="59411">
                <a:tc>
                  <a:txBody>
                    <a:bodyPr/>
                    <a:lstStyle/>
                    <a:p>
                      <a:pPr algn="l" fontAlgn="ctr"/>
                      <a:r>
                        <a:rPr lang="fr-FR" sz="300" b="0" i="0" u="none" strike="noStrike">
                          <a:solidFill>
                            <a:srgbClr val="000000"/>
                          </a:solidFill>
                          <a:effectLst/>
                          <a:latin typeface="Verdana" panose="020B0604030504040204" pitchFamily="34" charset="0"/>
                        </a:rPr>
                        <a:t>Hedging debt securities</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0490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267081994"/>
                  </a:ext>
                </a:extLst>
              </a:tr>
              <a:tr h="59411">
                <a:tc>
                  <a:txBody>
                    <a:bodyPr/>
                    <a:lstStyle/>
                    <a:p>
                      <a:pPr algn="l" fontAlgn="ctr"/>
                      <a:r>
                        <a:rPr lang="fr-FR" sz="300" b="0" i="0" u="none" strike="noStrike">
                          <a:solidFill>
                            <a:srgbClr val="000000"/>
                          </a:solidFill>
                          <a:effectLst/>
                          <a:latin typeface="Verdana" panose="020B0604030504040204" pitchFamily="34" charset="0"/>
                        </a:rPr>
                        <a:t>Hedging other liabilities</a:t>
                      </a:r>
                    </a:p>
                  </a:txBody>
                  <a:tcPr marL="117118"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0500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665824109"/>
                  </a:ext>
                </a:extLst>
              </a:tr>
              <a:tr h="59411">
                <a:tc>
                  <a:txBody>
                    <a:bodyPr/>
                    <a:lstStyle/>
                    <a:p>
                      <a:pPr algn="l" fontAlgn="b"/>
                      <a:r>
                        <a:rPr lang="fr-FR" sz="300" b="1" i="0" u="none" strike="noStrike">
                          <a:solidFill>
                            <a:srgbClr val="000000"/>
                          </a:solidFill>
                          <a:effectLst/>
                          <a:latin typeface="Verdana" panose="020B0604030504040204" pitchFamily="34" charset="0"/>
                        </a:rPr>
                        <a:t>Other</a:t>
                      </a:r>
                    </a:p>
                  </a:txBody>
                  <a:tcPr marL="58559"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0510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173826480"/>
                  </a:ext>
                </a:extLst>
              </a:tr>
              <a:tr h="59411">
                <a:tc>
                  <a:txBody>
                    <a:bodyPr/>
                    <a:lstStyle/>
                    <a:p>
                      <a:pPr algn="l" fontAlgn="ctr"/>
                      <a:r>
                        <a:rPr lang="fr-FR" sz="300" b="1" i="0" u="none" strike="noStrike">
                          <a:solidFill>
                            <a:srgbClr val="000000"/>
                          </a:solidFill>
                          <a:effectLst/>
                          <a:latin typeface="Verdana" panose="020B0604030504040204" pitchFamily="34" charset="0"/>
                        </a:rPr>
                        <a:t>Off-balance sheet liabilities: Contingent liabilities</a:t>
                      </a:r>
                    </a:p>
                  </a:txBody>
                  <a:tcPr marL="1952"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0520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1828982963"/>
                  </a:ext>
                </a:extLst>
              </a:tr>
              <a:tr h="59411">
                <a:tc>
                  <a:txBody>
                    <a:bodyPr/>
                    <a:lstStyle/>
                    <a:p>
                      <a:pPr algn="l" fontAlgn="ctr"/>
                      <a:r>
                        <a:rPr lang="fr-FR" sz="300" b="1" i="0" u="none" strike="noStrike">
                          <a:solidFill>
                            <a:srgbClr val="000000"/>
                          </a:solidFill>
                          <a:effectLst/>
                          <a:latin typeface="Verdana" panose="020B0604030504040204" pitchFamily="34" charset="0"/>
                        </a:rPr>
                        <a:t>Other derivatives (Net asset/liability)</a:t>
                      </a:r>
                    </a:p>
                  </a:txBody>
                  <a:tcPr marL="1952"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dirty="0">
                          <a:solidFill>
                            <a:srgbClr val="000000"/>
                          </a:solidFill>
                          <a:effectLst/>
                          <a:latin typeface="Verdana" panose="020B0604030504040204" pitchFamily="34" charset="0"/>
                        </a:rPr>
                        <a:t>0530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dirty="0">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71122176"/>
                  </a:ext>
                </a:extLst>
              </a:tr>
              <a:tr h="59411">
                <a:tc gridSpan="17">
                  <a:txBody>
                    <a:bodyPr/>
                    <a:lstStyle/>
                    <a:p>
                      <a:pPr algn="l" fontAlgn="ctr"/>
                      <a:r>
                        <a:rPr lang="fr-FR" sz="300" b="1" i="0" u="none" strike="noStrike">
                          <a:solidFill>
                            <a:srgbClr val="000000"/>
                          </a:solidFill>
                          <a:effectLst/>
                          <a:latin typeface="Verdana" panose="020B0604030504040204" pitchFamily="34" charset="0"/>
                        </a:rPr>
                        <a:t>MEMORANDUM ITEMS</a:t>
                      </a:r>
                    </a:p>
                  </a:txBody>
                  <a:tcPr marL="1952" marR="1952" marT="195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lnL w="1270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fr-FR"/>
                    </a:p>
                  </a:txBody>
                  <a:tcPr>
                    <a:lnL w="1270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766330316"/>
                  </a:ext>
                </a:extLst>
              </a:tr>
              <a:tr h="59411">
                <a:tc>
                  <a:txBody>
                    <a:bodyPr/>
                    <a:lstStyle/>
                    <a:p>
                      <a:pPr algn="l" fontAlgn="ctr"/>
                      <a:r>
                        <a:rPr lang="fr-FR" sz="300" b="1" i="0" u="none" strike="noStrike">
                          <a:solidFill>
                            <a:srgbClr val="000000"/>
                          </a:solidFill>
                          <a:effectLst/>
                          <a:latin typeface="Verdana" panose="020B0604030504040204" pitchFamily="34" charset="0"/>
                        </a:rPr>
                        <a:t>Net derivatives</a:t>
                      </a:r>
                    </a:p>
                  </a:txBody>
                  <a:tcPr marL="1952"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0540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936909630"/>
                  </a:ext>
                </a:extLst>
              </a:tr>
              <a:tr h="59411">
                <a:tc>
                  <a:txBody>
                    <a:bodyPr/>
                    <a:lstStyle/>
                    <a:p>
                      <a:pPr algn="l" fontAlgn="ctr"/>
                      <a:r>
                        <a:rPr lang="en-US" sz="300" b="1" i="0" u="none" strike="noStrike">
                          <a:solidFill>
                            <a:srgbClr val="000000"/>
                          </a:solidFill>
                          <a:effectLst/>
                          <a:latin typeface="Verdana" panose="020B0604030504040204" pitchFamily="34" charset="0"/>
                        </a:rPr>
                        <a:t>Net interest rate position without derivatives</a:t>
                      </a:r>
                    </a:p>
                  </a:txBody>
                  <a:tcPr marL="1952"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0550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3037183192"/>
                  </a:ext>
                </a:extLst>
              </a:tr>
              <a:tr h="59411">
                <a:tc>
                  <a:txBody>
                    <a:bodyPr/>
                    <a:lstStyle/>
                    <a:p>
                      <a:pPr algn="l" fontAlgn="ctr"/>
                      <a:r>
                        <a:rPr lang="en-US" sz="300" b="1" i="0" u="none" strike="noStrike">
                          <a:solidFill>
                            <a:srgbClr val="000000"/>
                          </a:solidFill>
                          <a:effectLst/>
                          <a:latin typeface="Verdana" panose="020B0604030504040204" pitchFamily="34" charset="0"/>
                        </a:rPr>
                        <a:t>Net interest rate position with derivatives</a:t>
                      </a:r>
                    </a:p>
                  </a:txBody>
                  <a:tcPr marL="1952"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0560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extLst>
                  <a:ext uri="{0D108BD9-81ED-4DB2-BD59-A6C34878D82A}">
                    <a16:rowId xmlns:a16="http://schemas.microsoft.com/office/drawing/2014/main" val="2158897446"/>
                  </a:ext>
                </a:extLst>
              </a:tr>
              <a:tr h="59411">
                <a:tc>
                  <a:txBody>
                    <a:bodyPr/>
                    <a:lstStyle/>
                    <a:p>
                      <a:pPr algn="l" fontAlgn="ctr"/>
                      <a:r>
                        <a:rPr lang="en-US" sz="300" b="1" i="0" u="none" strike="noStrike">
                          <a:solidFill>
                            <a:srgbClr val="000000"/>
                          </a:solidFill>
                          <a:effectLst/>
                          <a:latin typeface="Verdana" panose="020B0604030504040204" pitchFamily="34" charset="0"/>
                        </a:rPr>
                        <a:t>Total Assets with MV impact</a:t>
                      </a:r>
                    </a:p>
                  </a:txBody>
                  <a:tcPr marL="1952"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0570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606272734"/>
                  </a:ext>
                </a:extLst>
              </a:tr>
              <a:tr h="59411">
                <a:tc>
                  <a:txBody>
                    <a:bodyPr/>
                    <a:lstStyle/>
                    <a:p>
                      <a:pPr algn="l" fontAlgn="ctr"/>
                      <a:r>
                        <a:rPr lang="fr-FR" sz="300" b="0" i="0" u="none" strike="noStrike">
                          <a:solidFill>
                            <a:srgbClr val="000000"/>
                          </a:solidFill>
                          <a:effectLst/>
                          <a:latin typeface="Verdana" panose="020B0604030504040204" pitchFamily="34" charset="0"/>
                        </a:rPr>
                        <a:t>Debt securities</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0580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475254493"/>
                  </a:ext>
                </a:extLst>
              </a:tr>
              <a:tr h="59411">
                <a:tc>
                  <a:txBody>
                    <a:bodyPr/>
                    <a:lstStyle/>
                    <a:p>
                      <a:pPr algn="l" fontAlgn="ctr"/>
                      <a:r>
                        <a:rPr lang="fr-FR" sz="300" b="0" i="0" u="none" strike="noStrike">
                          <a:solidFill>
                            <a:srgbClr val="000000"/>
                          </a:solidFill>
                          <a:effectLst/>
                          <a:latin typeface="Verdana" panose="020B0604030504040204" pitchFamily="34" charset="0"/>
                        </a:rPr>
                        <a:t>Derivatives</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0590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647949643"/>
                  </a:ext>
                </a:extLst>
              </a:tr>
              <a:tr h="59411">
                <a:tc>
                  <a:txBody>
                    <a:bodyPr/>
                    <a:lstStyle/>
                    <a:p>
                      <a:pPr algn="l" fontAlgn="ctr"/>
                      <a:r>
                        <a:rPr lang="fr-FR" sz="300" b="0" i="0" u="none" strike="noStrike">
                          <a:solidFill>
                            <a:srgbClr val="000000"/>
                          </a:solidFill>
                          <a:effectLst/>
                          <a:latin typeface="Verdana" panose="020B0604030504040204" pitchFamily="34" charset="0"/>
                        </a:rPr>
                        <a:t>Other</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0600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606446740"/>
                  </a:ext>
                </a:extLst>
              </a:tr>
              <a:tr h="59411">
                <a:tc>
                  <a:txBody>
                    <a:bodyPr/>
                    <a:lstStyle/>
                    <a:p>
                      <a:pPr algn="l" fontAlgn="ctr"/>
                      <a:r>
                        <a:rPr lang="en-US" sz="300" b="1" i="0" u="none" strike="noStrike">
                          <a:solidFill>
                            <a:srgbClr val="000000"/>
                          </a:solidFill>
                          <a:effectLst/>
                          <a:latin typeface="Verdana" panose="020B0604030504040204" pitchFamily="34" charset="0"/>
                        </a:rPr>
                        <a:t>Total Liabilities with MV impact</a:t>
                      </a:r>
                    </a:p>
                  </a:txBody>
                  <a:tcPr marL="1952"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0610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07179270"/>
                  </a:ext>
                </a:extLst>
              </a:tr>
              <a:tr h="59411">
                <a:tc>
                  <a:txBody>
                    <a:bodyPr/>
                    <a:lstStyle/>
                    <a:p>
                      <a:pPr algn="l" fontAlgn="ctr"/>
                      <a:r>
                        <a:rPr lang="fr-FR" sz="300" b="0" i="0" u="none" strike="noStrike">
                          <a:solidFill>
                            <a:srgbClr val="000000"/>
                          </a:solidFill>
                          <a:effectLst/>
                          <a:latin typeface="Verdana" panose="020B0604030504040204" pitchFamily="34" charset="0"/>
                        </a:rPr>
                        <a:t>Debt securities issued</a:t>
                      </a:r>
                    </a:p>
                  </a:txBody>
                  <a:tcPr marL="58559" marR="1952" marT="195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0620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696223870"/>
                  </a:ext>
                </a:extLst>
              </a:tr>
              <a:tr h="59411">
                <a:tc>
                  <a:txBody>
                    <a:bodyPr/>
                    <a:lstStyle/>
                    <a:p>
                      <a:pPr algn="l" fontAlgn="b"/>
                      <a:r>
                        <a:rPr lang="fr-FR" sz="300" b="0" i="0" u="none" strike="noStrike">
                          <a:solidFill>
                            <a:srgbClr val="000000"/>
                          </a:solidFill>
                          <a:effectLst/>
                          <a:latin typeface="Verdana" panose="020B0604030504040204" pitchFamily="34" charset="0"/>
                        </a:rPr>
                        <a:t>Derivatives </a:t>
                      </a:r>
                    </a:p>
                  </a:txBody>
                  <a:tcPr marL="58559"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0630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763636229"/>
                  </a:ext>
                </a:extLst>
              </a:tr>
              <a:tr h="61533">
                <a:tc>
                  <a:txBody>
                    <a:bodyPr/>
                    <a:lstStyle/>
                    <a:p>
                      <a:pPr algn="l" fontAlgn="b"/>
                      <a:r>
                        <a:rPr lang="fr-FR" sz="300" b="0" i="0" u="none" strike="noStrike">
                          <a:solidFill>
                            <a:srgbClr val="000000"/>
                          </a:solidFill>
                          <a:effectLst/>
                          <a:latin typeface="Verdana" panose="020B0604030504040204" pitchFamily="34" charset="0"/>
                        </a:rPr>
                        <a:t>Other</a:t>
                      </a:r>
                    </a:p>
                  </a:txBody>
                  <a:tcPr marL="58559" marR="1952" marT="1952"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0640</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300" b="0" i="0" u="none" strike="noStrike">
                          <a:solidFill>
                            <a:srgbClr val="000000"/>
                          </a:solidFill>
                          <a:effectLst/>
                          <a:latin typeface="Verdana" panose="020B0604030504040204" pitchFamily="34" charset="0"/>
                        </a:rPr>
                        <a:t> </a:t>
                      </a:r>
                    </a:p>
                  </a:txBody>
                  <a:tcPr marL="1952" marR="1952" marT="1952"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dirty="0">
                          <a:solidFill>
                            <a:srgbClr val="000000"/>
                          </a:solidFill>
                          <a:effectLst/>
                          <a:latin typeface="Verdana" panose="020B0604030504040204" pitchFamily="34" charset="0"/>
                        </a:rPr>
                        <a:t> </a:t>
                      </a:r>
                    </a:p>
                  </a:txBody>
                  <a:tcPr marL="1952" marR="1952" marT="1952"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10525073"/>
                  </a:ext>
                </a:extLst>
              </a:tr>
            </a:tbl>
          </a:graphicData>
        </a:graphic>
      </p:graphicFrame>
      <p:sp>
        <p:nvSpPr>
          <p:cNvPr id="19" name="Rectangle 18">
            <a:extLst>
              <a:ext uri="{FF2B5EF4-FFF2-40B4-BE49-F238E27FC236}">
                <a16:creationId xmlns:a16="http://schemas.microsoft.com/office/drawing/2014/main" id="{5A518491-3980-9A2B-CCC9-45CA3FA87ADE}"/>
              </a:ext>
            </a:extLst>
          </p:cNvPr>
          <p:cNvSpPr/>
          <p:nvPr/>
        </p:nvSpPr>
        <p:spPr>
          <a:xfrm>
            <a:off x="320041" y="5062888"/>
            <a:ext cx="11450528" cy="509262"/>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138403748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b- Template J01 – Evaluation of the IRRBB : EVE/NII SOT and MV changes</a:t>
            </a:r>
            <a:endParaRPr lang="fr-FR" dirty="0">
              <a:latin typeface="Calibri"/>
              <a:cs typeface="Calibri"/>
            </a:endParaRP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graphicFrame>
        <p:nvGraphicFramePr>
          <p:cNvPr id="2" name="Table 1">
            <a:extLst>
              <a:ext uri="{FF2B5EF4-FFF2-40B4-BE49-F238E27FC236}">
                <a16:creationId xmlns:a16="http://schemas.microsoft.com/office/drawing/2014/main" id="{77111028-3BF5-D3DE-4D39-5AECC0A33560}"/>
              </a:ext>
            </a:extLst>
          </p:cNvPr>
          <p:cNvGraphicFramePr>
            <a:graphicFrameLocks noGrp="1"/>
          </p:cNvGraphicFramePr>
          <p:nvPr/>
        </p:nvGraphicFramePr>
        <p:xfrm>
          <a:off x="687196" y="979343"/>
          <a:ext cx="6716055" cy="5041576"/>
        </p:xfrm>
        <a:graphic>
          <a:graphicData uri="http://schemas.openxmlformats.org/drawingml/2006/table">
            <a:tbl>
              <a:tblPr/>
              <a:tblGrid>
                <a:gridCol w="5312247">
                  <a:extLst>
                    <a:ext uri="{9D8B030D-6E8A-4147-A177-3AD203B41FA5}">
                      <a16:colId xmlns:a16="http://schemas.microsoft.com/office/drawing/2014/main" val="2408253642"/>
                    </a:ext>
                  </a:extLst>
                </a:gridCol>
                <a:gridCol w="525166">
                  <a:extLst>
                    <a:ext uri="{9D8B030D-6E8A-4147-A177-3AD203B41FA5}">
                      <a16:colId xmlns:a16="http://schemas.microsoft.com/office/drawing/2014/main" val="3912336325"/>
                    </a:ext>
                  </a:extLst>
                </a:gridCol>
                <a:gridCol w="878642">
                  <a:extLst>
                    <a:ext uri="{9D8B030D-6E8A-4147-A177-3AD203B41FA5}">
                      <a16:colId xmlns:a16="http://schemas.microsoft.com/office/drawing/2014/main" val="2166420611"/>
                    </a:ext>
                  </a:extLst>
                </a:gridCol>
              </a:tblGrid>
              <a:tr h="324096">
                <a:tc>
                  <a:txBody>
                    <a:bodyPr/>
                    <a:lstStyle/>
                    <a:p>
                      <a:pPr algn="l" fontAlgn="ctr"/>
                      <a:r>
                        <a:rPr lang="en-US" sz="800" b="1" i="0" u="none" strike="noStrike">
                          <a:solidFill>
                            <a:srgbClr val="000000"/>
                          </a:solidFill>
                          <a:effectLst/>
                          <a:latin typeface="Verdana" panose="020B0604030504040204" pitchFamily="34" charset="0"/>
                        </a:rPr>
                        <a:t>J 01.00 - EVALUATION OF THE IRRBB: EVE/NII SOT AND MV CHANGES</a:t>
                      </a:r>
                    </a:p>
                  </a:txBody>
                  <a:tcPr marL="3322" marR="3322" marT="3322"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800" b="1" i="0" u="none" strike="noStrike">
                          <a:solidFill>
                            <a:srgbClr val="000000"/>
                          </a:solidFill>
                          <a:effectLst/>
                          <a:latin typeface="Verdana" panose="020B0604030504040204" pitchFamily="34" charset="0"/>
                        </a:rPr>
                        <a:t> </a:t>
                      </a:r>
                    </a:p>
                  </a:txBody>
                  <a:tcPr marL="3322" marR="3322" marT="3322"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800" b="1" i="0" u="none" strike="noStrike">
                          <a:solidFill>
                            <a:srgbClr val="000000"/>
                          </a:solidFill>
                          <a:effectLst/>
                          <a:latin typeface="Verdana" panose="020B0604030504040204" pitchFamily="34" charset="0"/>
                        </a:rPr>
                        <a:t> </a:t>
                      </a:r>
                    </a:p>
                  </a:txBody>
                  <a:tcPr marL="3322" marR="3322" marT="3322"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935246162"/>
                  </a:ext>
                </a:extLst>
              </a:tr>
              <a:tr h="130357">
                <a:tc>
                  <a:txBody>
                    <a:bodyPr/>
                    <a:lstStyle/>
                    <a:p>
                      <a:pPr algn="l" fontAlgn="b"/>
                      <a:endParaRPr lang="fr-FR" sz="600" b="0" i="0" u="none" strike="noStrike">
                        <a:solidFill>
                          <a:srgbClr val="000000"/>
                        </a:solidFill>
                        <a:effectLst/>
                        <a:latin typeface="Verdana" panose="020B0604030504040204" pitchFamily="34" charset="0"/>
                      </a:endParaRPr>
                    </a:p>
                  </a:txBody>
                  <a:tcPr marL="3322" marR="3322" marT="3322"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600" b="1" i="0" u="sng" strike="noStrike">
                        <a:solidFill>
                          <a:srgbClr val="000000"/>
                        </a:solidFill>
                        <a:effectLst/>
                        <a:latin typeface="Verdana" panose="020B0604030504040204" pitchFamily="34" charset="0"/>
                      </a:endParaRPr>
                    </a:p>
                  </a:txBody>
                  <a:tcPr marL="3322" marR="3322" marT="3322"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600" b="0" i="0" u="sng" strike="noStrike">
                        <a:solidFill>
                          <a:srgbClr val="000000"/>
                        </a:solidFill>
                        <a:effectLst/>
                        <a:latin typeface="Verdana" panose="020B0604030504040204" pitchFamily="34" charset="0"/>
                      </a:endParaRPr>
                    </a:p>
                  </a:txBody>
                  <a:tcPr marL="3322" marR="3322" marT="3322"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57012565"/>
                  </a:ext>
                </a:extLst>
              </a:tr>
              <a:tr h="130870">
                <a:tc>
                  <a:txBody>
                    <a:bodyPr/>
                    <a:lstStyle/>
                    <a:p>
                      <a:pPr algn="r" fontAlgn="ctr"/>
                      <a:r>
                        <a:rPr lang="fr-FR" sz="700" b="1" i="0" u="none" strike="noStrike">
                          <a:solidFill>
                            <a:srgbClr val="000000"/>
                          </a:solidFill>
                          <a:effectLst/>
                          <a:latin typeface="Verdana" panose="020B0604030504040204" pitchFamily="34" charset="0"/>
                        </a:rPr>
                        <a:t>Currency: </a:t>
                      </a:r>
                    </a:p>
                  </a:txBody>
                  <a:tcPr marL="3322" marR="3322" marT="3322"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3322" marR="3322" marT="3322"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600" b="0" i="0" u="none" strike="noStrike">
                          <a:solidFill>
                            <a:srgbClr val="000000"/>
                          </a:solidFill>
                          <a:effectLst/>
                          <a:latin typeface="Verdana" panose="020B0604030504040204" pitchFamily="34" charset="0"/>
                        </a:rPr>
                        <a:t> </a:t>
                      </a:r>
                    </a:p>
                  </a:txBody>
                  <a:tcPr marL="3322" marR="3322" marT="3322"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57280997"/>
                  </a:ext>
                </a:extLst>
              </a:tr>
              <a:tr h="130357">
                <a:tc>
                  <a:txBody>
                    <a:bodyPr/>
                    <a:lstStyle/>
                    <a:p>
                      <a:pPr algn="l" fontAlgn="b"/>
                      <a:endParaRPr lang="fr-FR" sz="600" b="0" i="0" u="none" strike="noStrike">
                        <a:solidFill>
                          <a:srgbClr val="000000"/>
                        </a:solidFill>
                        <a:effectLst/>
                        <a:latin typeface="Verdana" panose="020B0604030504040204" pitchFamily="34" charset="0"/>
                      </a:endParaRPr>
                    </a:p>
                  </a:txBody>
                  <a:tcPr marL="3322" marR="3322" marT="3322" marB="0" anchor="b">
                    <a:lnL>
                      <a:noFill/>
                    </a:lnL>
                    <a:lnR>
                      <a:noFill/>
                    </a:lnR>
                    <a:lnT>
                      <a:noFill/>
                    </a:lnT>
                    <a:lnB>
                      <a:noFill/>
                    </a:lnB>
                    <a:noFill/>
                  </a:tcPr>
                </a:tc>
                <a:tc>
                  <a:txBody>
                    <a:bodyPr/>
                    <a:lstStyle/>
                    <a:p>
                      <a:pPr algn="l" fontAlgn="b"/>
                      <a:endParaRPr lang="fr-FR" sz="600" b="1" i="0" u="none" strike="noStrike">
                        <a:solidFill>
                          <a:srgbClr val="000000"/>
                        </a:solidFill>
                        <a:effectLst/>
                        <a:latin typeface="Verdana" panose="020B0604030504040204" pitchFamily="34" charset="0"/>
                      </a:endParaRPr>
                    </a:p>
                  </a:txBody>
                  <a:tcPr marL="3322" marR="3322" marT="3322"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3322" marR="3322" marT="3322" marB="0" anchor="b">
                    <a:lnL>
                      <a:noFill/>
                    </a:lnL>
                    <a:lnR>
                      <a:noFill/>
                    </a:lnR>
                    <a:lnT w="635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414819744"/>
                  </a:ext>
                </a:extLst>
              </a:tr>
              <a:tr h="130870">
                <a:tc>
                  <a:txBody>
                    <a:bodyPr/>
                    <a:lstStyle/>
                    <a:p>
                      <a:pPr algn="l" fontAlgn="b"/>
                      <a:endParaRPr lang="fr-FR" sz="700" b="0" i="0" u="none" strike="noStrike">
                        <a:solidFill>
                          <a:srgbClr val="000000"/>
                        </a:solidFill>
                        <a:effectLst/>
                        <a:latin typeface="Verdana" panose="020B0604030504040204" pitchFamily="34" charset="0"/>
                      </a:endParaRPr>
                    </a:p>
                  </a:txBody>
                  <a:tcPr marL="3322" marR="3322" marT="332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3322" marR="3322" marT="3322"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3322" marR="3322" marT="3322"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80796120"/>
                  </a:ext>
                </a:extLst>
              </a:tr>
              <a:tr h="454196">
                <a:tc>
                  <a:txBody>
                    <a:bodyPr/>
                    <a:lstStyle/>
                    <a:p>
                      <a:pPr algn="l" fontAlgn="ctr"/>
                      <a:r>
                        <a:rPr lang="fr-FR" sz="700" b="1" i="0" u="none" strike="noStrike" dirty="0">
                          <a:solidFill>
                            <a:srgbClr val="000000"/>
                          </a:solidFill>
                          <a:effectLst/>
                          <a:latin typeface="Verdana" panose="020B0604030504040204" pitchFamily="34" charset="0"/>
                        </a:rPr>
                        <a:t> </a:t>
                      </a:r>
                    </a:p>
                  </a:txBody>
                  <a:tcPr marL="3322" marR="3322" marT="3322"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D9D9D9"/>
                    </a:solidFill>
                  </a:tcPr>
                </a:tc>
                <a:tc>
                  <a:txBody>
                    <a:bodyPr/>
                    <a:lstStyle/>
                    <a:p>
                      <a:pPr algn="l" fontAlgn="ctr"/>
                      <a:r>
                        <a:rPr lang="fr-FR" sz="700" b="1" i="0" u="none" strike="noStrike">
                          <a:solidFill>
                            <a:srgbClr val="000000"/>
                          </a:solidFill>
                          <a:effectLst/>
                          <a:latin typeface="Verdana" panose="020B0604030504040204" pitchFamily="34" charset="0"/>
                        </a:rPr>
                        <a:t> </a:t>
                      </a:r>
                    </a:p>
                  </a:txBody>
                  <a:tcPr marL="3322" marR="3322" marT="3322" marB="0" anchor="ctr">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9D9D9"/>
                    </a:solidFill>
                  </a:tcPr>
                </a:tc>
                <a:tc>
                  <a:txBody>
                    <a:bodyPr/>
                    <a:lstStyle/>
                    <a:p>
                      <a:pPr algn="ctr" fontAlgn="ctr"/>
                      <a:r>
                        <a:rPr lang="fr-FR" sz="700" b="0" i="0" u="none" strike="noStrike">
                          <a:solidFill>
                            <a:srgbClr val="000000"/>
                          </a:solidFill>
                          <a:effectLst/>
                          <a:latin typeface="Verdana" panose="020B0604030504040204" pitchFamily="34" charset="0"/>
                        </a:rPr>
                        <a:t>Amount</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222050406"/>
                  </a:ext>
                </a:extLst>
              </a:tr>
              <a:tr h="207340">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700" b="0" i="0" u="none" strike="noStrike">
                          <a:solidFill>
                            <a:srgbClr val="000000"/>
                          </a:solidFill>
                          <a:effectLst/>
                          <a:latin typeface="Verdana" panose="020B0604030504040204" pitchFamily="34" charset="0"/>
                        </a:rPr>
                        <a:t>0010</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75761220"/>
                  </a:ext>
                </a:extLst>
              </a:tr>
              <a:tr h="130870">
                <a:tc gridSpan="3">
                  <a:txBody>
                    <a:bodyPr/>
                    <a:lstStyle/>
                    <a:p>
                      <a:pPr algn="l" fontAlgn="ctr"/>
                      <a:r>
                        <a:rPr lang="fr-FR" sz="700" b="1" i="0" u="none" strike="noStrike">
                          <a:solidFill>
                            <a:srgbClr val="000000"/>
                          </a:solidFill>
                          <a:effectLst/>
                          <a:latin typeface="Verdana" panose="020B0604030504040204" pitchFamily="34" charset="0"/>
                        </a:rPr>
                        <a:t>Economic value of equity</a:t>
                      </a:r>
                    </a:p>
                  </a:txBody>
                  <a:tcPr marL="3322" marR="3322" marT="332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EAAAA"/>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066832856"/>
                  </a:ext>
                </a:extLst>
              </a:tr>
              <a:tr h="130870">
                <a:tc>
                  <a:txBody>
                    <a:bodyPr/>
                    <a:lstStyle/>
                    <a:p>
                      <a:pPr algn="l" fontAlgn="ctr"/>
                      <a:r>
                        <a:rPr lang="fr-FR" sz="700" b="0" i="0" u="none" strike="noStrike">
                          <a:solidFill>
                            <a:srgbClr val="000000"/>
                          </a:solidFill>
                          <a:effectLst/>
                          <a:latin typeface="Verdana" panose="020B0604030504040204" pitchFamily="34" charset="0"/>
                        </a:rPr>
                        <a:t>∆ EVE under worst scenario</a:t>
                      </a:r>
                    </a:p>
                  </a:txBody>
                  <a:tcPr marL="69765"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0010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81665414"/>
                  </a:ext>
                </a:extLst>
              </a:tr>
              <a:tr h="130870">
                <a:tc>
                  <a:txBody>
                    <a:bodyPr/>
                    <a:lstStyle/>
                    <a:p>
                      <a:pPr algn="l" fontAlgn="ctr"/>
                      <a:r>
                        <a:rPr lang="en-US" sz="700" b="0" i="0" u="none" strike="noStrike">
                          <a:solidFill>
                            <a:srgbClr val="000000"/>
                          </a:solidFill>
                          <a:effectLst/>
                          <a:latin typeface="Verdana" panose="020B0604030504040204" pitchFamily="34" charset="0"/>
                        </a:rPr>
                        <a:t>∆ EVE ratio under worst scenario</a:t>
                      </a:r>
                    </a:p>
                  </a:txBody>
                  <a:tcPr marL="69765"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0020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15100873"/>
                  </a:ext>
                </a:extLst>
              </a:tr>
              <a:tr h="130870">
                <a:tc gridSpan="3">
                  <a:txBody>
                    <a:bodyPr/>
                    <a:lstStyle/>
                    <a:p>
                      <a:pPr algn="l" fontAlgn="ctr"/>
                      <a:r>
                        <a:rPr lang="en-US" sz="700" b="1" i="0" u="none" strike="noStrike">
                          <a:solidFill>
                            <a:srgbClr val="000000"/>
                          </a:solidFill>
                          <a:effectLst/>
                          <a:latin typeface="Verdana" panose="020B0604030504040204" pitchFamily="34" charset="0"/>
                        </a:rPr>
                        <a:t>EVE under baseline and supervisory shock scenarios </a:t>
                      </a:r>
                    </a:p>
                  </a:txBody>
                  <a:tcPr marL="69765" marR="3322" marT="332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5693417"/>
                  </a:ext>
                </a:extLst>
              </a:tr>
              <a:tr h="130870">
                <a:tc>
                  <a:txBody>
                    <a:bodyPr/>
                    <a:lstStyle/>
                    <a:p>
                      <a:pPr algn="l" fontAlgn="ctr"/>
                      <a:r>
                        <a:rPr lang="en-US" sz="700" b="0" i="0" u="none" strike="noStrike">
                          <a:solidFill>
                            <a:srgbClr val="000000"/>
                          </a:solidFill>
                          <a:effectLst/>
                          <a:latin typeface="Verdana" panose="020B0604030504040204" pitchFamily="34" charset="0"/>
                        </a:rPr>
                        <a:t>Level of EVE under baseline scenario</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0030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517600869"/>
                  </a:ext>
                </a:extLst>
              </a:tr>
              <a:tr h="130870">
                <a:tc>
                  <a:txBody>
                    <a:bodyPr/>
                    <a:lstStyle/>
                    <a:p>
                      <a:pPr algn="l" fontAlgn="ctr"/>
                      <a:r>
                        <a:rPr lang="en-US" sz="700" b="0" i="0" u="none" strike="noStrike">
                          <a:solidFill>
                            <a:srgbClr val="000000"/>
                          </a:solidFill>
                          <a:effectLst/>
                          <a:latin typeface="Verdana" panose="020B0604030504040204" pitchFamily="34" charset="0"/>
                        </a:rPr>
                        <a:t>∆ EVE under parallel shock up</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0040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165536853"/>
                  </a:ext>
                </a:extLst>
              </a:tr>
              <a:tr h="130870">
                <a:tc>
                  <a:txBody>
                    <a:bodyPr/>
                    <a:lstStyle/>
                    <a:p>
                      <a:pPr algn="l" fontAlgn="ctr"/>
                      <a:r>
                        <a:rPr lang="en-US" sz="700" b="0" i="0" u="none" strike="noStrike">
                          <a:solidFill>
                            <a:srgbClr val="000000"/>
                          </a:solidFill>
                          <a:effectLst/>
                          <a:latin typeface="Verdana" panose="020B0604030504040204" pitchFamily="34" charset="0"/>
                        </a:rPr>
                        <a:t>∆ EVE under parallel shock down</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0050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252754556"/>
                  </a:ext>
                </a:extLst>
              </a:tr>
              <a:tr h="130870">
                <a:tc>
                  <a:txBody>
                    <a:bodyPr/>
                    <a:lstStyle/>
                    <a:p>
                      <a:pPr algn="l" fontAlgn="ctr"/>
                      <a:r>
                        <a:rPr lang="fr-FR" sz="700" b="0" i="0" u="none" strike="noStrike">
                          <a:solidFill>
                            <a:srgbClr val="000000"/>
                          </a:solidFill>
                          <a:effectLst/>
                          <a:latin typeface="Verdana" panose="020B0604030504040204" pitchFamily="34" charset="0"/>
                        </a:rPr>
                        <a:t>∆ EVE under steepener shock</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0060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614898353"/>
                  </a:ext>
                </a:extLst>
              </a:tr>
              <a:tr h="130870">
                <a:tc>
                  <a:txBody>
                    <a:bodyPr/>
                    <a:lstStyle/>
                    <a:p>
                      <a:pPr algn="l" fontAlgn="ctr"/>
                      <a:r>
                        <a:rPr lang="fr-FR" sz="700" b="0" i="0" u="none" strike="noStrike">
                          <a:solidFill>
                            <a:srgbClr val="000000"/>
                          </a:solidFill>
                          <a:effectLst/>
                          <a:latin typeface="Verdana" panose="020B0604030504040204" pitchFamily="34" charset="0"/>
                        </a:rPr>
                        <a:t>∆ EVE under flattener shock</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0070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266579911"/>
                  </a:ext>
                </a:extLst>
              </a:tr>
              <a:tr h="130870">
                <a:tc>
                  <a:txBody>
                    <a:bodyPr/>
                    <a:lstStyle/>
                    <a:p>
                      <a:pPr algn="l" fontAlgn="ctr"/>
                      <a:r>
                        <a:rPr lang="en-US" sz="700" b="0" i="0" u="none" strike="noStrike">
                          <a:solidFill>
                            <a:srgbClr val="000000"/>
                          </a:solidFill>
                          <a:effectLst/>
                          <a:latin typeface="Verdana" panose="020B0604030504040204" pitchFamily="34" charset="0"/>
                        </a:rPr>
                        <a:t>∆ EVE under short rates shock up</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0080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71227351"/>
                  </a:ext>
                </a:extLst>
              </a:tr>
              <a:tr h="130870">
                <a:tc>
                  <a:txBody>
                    <a:bodyPr/>
                    <a:lstStyle/>
                    <a:p>
                      <a:pPr algn="l" fontAlgn="ctr"/>
                      <a:r>
                        <a:rPr lang="en-US" sz="700" b="0" i="0" u="none" strike="noStrike">
                          <a:solidFill>
                            <a:srgbClr val="000000"/>
                          </a:solidFill>
                          <a:effectLst/>
                          <a:latin typeface="Verdana" panose="020B0604030504040204" pitchFamily="34" charset="0"/>
                        </a:rPr>
                        <a:t>∆ EVE under short rates shock down</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0090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75987466"/>
                  </a:ext>
                </a:extLst>
              </a:tr>
              <a:tr h="130870">
                <a:tc gridSpan="3">
                  <a:txBody>
                    <a:bodyPr/>
                    <a:lstStyle/>
                    <a:p>
                      <a:pPr algn="l" fontAlgn="ctr"/>
                      <a:r>
                        <a:rPr lang="fr-FR" sz="700" b="1" i="0" u="none" strike="noStrike">
                          <a:solidFill>
                            <a:srgbClr val="000000"/>
                          </a:solidFill>
                          <a:effectLst/>
                          <a:latin typeface="Verdana" panose="020B0604030504040204" pitchFamily="34" charset="0"/>
                        </a:rPr>
                        <a:t>Net interest income</a:t>
                      </a:r>
                    </a:p>
                  </a:txBody>
                  <a:tcPr marL="3322" marR="3322" marT="332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EAAAA"/>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893678229"/>
                  </a:ext>
                </a:extLst>
              </a:tr>
              <a:tr h="130870">
                <a:tc>
                  <a:txBody>
                    <a:bodyPr/>
                    <a:lstStyle/>
                    <a:p>
                      <a:pPr algn="l" fontAlgn="ctr"/>
                      <a:r>
                        <a:rPr lang="fr-FR" sz="700" b="0" i="0" u="none" strike="noStrike">
                          <a:solidFill>
                            <a:srgbClr val="000000"/>
                          </a:solidFill>
                          <a:effectLst/>
                          <a:latin typeface="Verdana" panose="020B0604030504040204" pitchFamily="34" charset="0"/>
                        </a:rPr>
                        <a:t>∆ NII under worst scenario</a:t>
                      </a:r>
                    </a:p>
                  </a:txBody>
                  <a:tcPr marL="69765"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0100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955642956"/>
                  </a:ext>
                </a:extLst>
              </a:tr>
              <a:tr h="130870">
                <a:tc>
                  <a:txBody>
                    <a:bodyPr/>
                    <a:lstStyle/>
                    <a:p>
                      <a:pPr algn="l" fontAlgn="ctr"/>
                      <a:r>
                        <a:rPr lang="fr-FR" sz="700" b="0" i="0" u="none" strike="noStrike">
                          <a:solidFill>
                            <a:srgbClr val="000000"/>
                          </a:solidFill>
                          <a:effectLst/>
                          <a:latin typeface="Verdana" panose="020B0604030504040204" pitchFamily="34" charset="0"/>
                        </a:rPr>
                        <a:t>∆ NII ratio under worst scenario</a:t>
                      </a:r>
                    </a:p>
                  </a:txBody>
                  <a:tcPr marL="69765"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0110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51686181"/>
                  </a:ext>
                </a:extLst>
              </a:tr>
              <a:tr h="130870">
                <a:tc gridSpan="3">
                  <a:txBody>
                    <a:bodyPr/>
                    <a:lstStyle/>
                    <a:p>
                      <a:pPr algn="l" fontAlgn="ctr"/>
                      <a:r>
                        <a:rPr lang="en-US" sz="700" b="1" i="0" u="none" strike="noStrike">
                          <a:solidFill>
                            <a:srgbClr val="000000"/>
                          </a:solidFill>
                          <a:effectLst/>
                          <a:latin typeface="Verdana" panose="020B0604030504040204" pitchFamily="34" charset="0"/>
                        </a:rPr>
                        <a:t>NII under baseline and supervisory shock scenarios</a:t>
                      </a:r>
                    </a:p>
                  </a:txBody>
                  <a:tcPr marL="69765" marR="3322" marT="332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4137011354"/>
                  </a:ext>
                </a:extLst>
              </a:tr>
              <a:tr h="130870">
                <a:tc>
                  <a:txBody>
                    <a:bodyPr/>
                    <a:lstStyle/>
                    <a:p>
                      <a:pPr algn="l" fontAlgn="ctr"/>
                      <a:r>
                        <a:rPr lang="en-US" sz="700" b="0" i="0" u="none" strike="noStrike">
                          <a:solidFill>
                            <a:srgbClr val="000000"/>
                          </a:solidFill>
                          <a:effectLst/>
                          <a:latin typeface="Verdana" panose="020B0604030504040204" pitchFamily="34" charset="0"/>
                        </a:rPr>
                        <a:t>Level of NII under baseline scenario</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0120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69765"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102181445"/>
                  </a:ext>
                </a:extLst>
              </a:tr>
              <a:tr h="130870">
                <a:tc>
                  <a:txBody>
                    <a:bodyPr/>
                    <a:lstStyle/>
                    <a:p>
                      <a:pPr algn="l" fontAlgn="ctr"/>
                      <a:r>
                        <a:rPr lang="en-US" sz="700" b="0" i="0" u="none" strike="noStrike">
                          <a:solidFill>
                            <a:srgbClr val="000000"/>
                          </a:solidFill>
                          <a:effectLst/>
                          <a:latin typeface="Verdana" panose="020B0604030504040204" pitchFamily="34" charset="0"/>
                        </a:rPr>
                        <a:t>∆ NII under parallel shock up</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0130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69765"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417973255"/>
                  </a:ext>
                </a:extLst>
              </a:tr>
              <a:tr h="130870">
                <a:tc>
                  <a:txBody>
                    <a:bodyPr/>
                    <a:lstStyle/>
                    <a:p>
                      <a:pPr algn="l" fontAlgn="ctr"/>
                      <a:r>
                        <a:rPr lang="en-US" sz="700" b="0" i="0" u="none" strike="noStrike">
                          <a:solidFill>
                            <a:srgbClr val="000000"/>
                          </a:solidFill>
                          <a:effectLst/>
                          <a:latin typeface="Verdana" panose="020B0604030504040204" pitchFamily="34" charset="0"/>
                        </a:rPr>
                        <a:t>∆ NII under parallel shock down</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0140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69765"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52919583"/>
                  </a:ext>
                </a:extLst>
              </a:tr>
              <a:tr h="130870">
                <a:tc gridSpan="3">
                  <a:txBody>
                    <a:bodyPr/>
                    <a:lstStyle/>
                    <a:p>
                      <a:pPr algn="l" fontAlgn="ctr"/>
                      <a:r>
                        <a:rPr lang="fr-FR" sz="700" b="1" i="0" u="none" strike="noStrike">
                          <a:solidFill>
                            <a:srgbClr val="000000"/>
                          </a:solidFill>
                          <a:effectLst/>
                          <a:latin typeface="Verdana" panose="020B0604030504040204" pitchFamily="34" charset="0"/>
                        </a:rPr>
                        <a:t>IMS Market value changes</a:t>
                      </a:r>
                    </a:p>
                  </a:txBody>
                  <a:tcPr marL="3322" marR="3322" marT="332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279167176"/>
                  </a:ext>
                </a:extLst>
              </a:tr>
              <a:tr h="130870">
                <a:tc gridSpan="3">
                  <a:txBody>
                    <a:bodyPr/>
                    <a:lstStyle/>
                    <a:p>
                      <a:pPr algn="l" fontAlgn="ctr"/>
                      <a:r>
                        <a:rPr lang="en-US" sz="700" b="1" i="0" u="none" strike="noStrike">
                          <a:solidFill>
                            <a:srgbClr val="000000"/>
                          </a:solidFill>
                          <a:effectLst/>
                          <a:latin typeface="Verdana" panose="020B0604030504040204" pitchFamily="34" charset="0"/>
                        </a:rPr>
                        <a:t>MV under baseline and supervisory shock scenarios</a:t>
                      </a:r>
                    </a:p>
                  </a:txBody>
                  <a:tcPr marL="69765" marR="3322" marT="332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4097691418"/>
                  </a:ext>
                </a:extLst>
              </a:tr>
              <a:tr h="130870">
                <a:tc>
                  <a:txBody>
                    <a:bodyPr/>
                    <a:lstStyle/>
                    <a:p>
                      <a:pPr algn="l" fontAlgn="ctr"/>
                      <a:r>
                        <a:rPr lang="en-US" sz="700" b="0" i="0" u="none" strike="noStrike">
                          <a:solidFill>
                            <a:srgbClr val="000000"/>
                          </a:solidFill>
                          <a:effectLst/>
                          <a:latin typeface="Verdana" panose="020B0604030504040204" pitchFamily="34" charset="0"/>
                        </a:rPr>
                        <a:t>Level of market value under baseline scenario</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0150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69765"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188506698"/>
                  </a:ext>
                </a:extLst>
              </a:tr>
              <a:tr h="130870">
                <a:tc>
                  <a:txBody>
                    <a:bodyPr/>
                    <a:lstStyle/>
                    <a:p>
                      <a:pPr algn="l" fontAlgn="ctr"/>
                      <a:r>
                        <a:rPr lang="en-US" sz="700" b="0" i="0" u="none" strike="noStrike">
                          <a:solidFill>
                            <a:srgbClr val="000000"/>
                          </a:solidFill>
                          <a:effectLst/>
                          <a:latin typeface="Verdana" panose="020B0604030504040204" pitchFamily="34" charset="0"/>
                        </a:rPr>
                        <a:t>∆ MV under parallel shock up</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0160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69765"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476050584"/>
                  </a:ext>
                </a:extLst>
              </a:tr>
              <a:tr h="130870">
                <a:tc>
                  <a:txBody>
                    <a:bodyPr/>
                    <a:lstStyle/>
                    <a:p>
                      <a:pPr algn="l" fontAlgn="ctr"/>
                      <a:r>
                        <a:rPr lang="en-US" sz="700" b="0" i="0" u="none" strike="noStrike">
                          <a:solidFill>
                            <a:srgbClr val="000000"/>
                          </a:solidFill>
                          <a:effectLst/>
                          <a:latin typeface="Verdana" panose="020B0604030504040204" pitchFamily="34" charset="0"/>
                        </a:rPr>
                        <a:t>∆ MV under parallel shock down</a:t>
                      </a:r>
                    </a:p>
                  </a:txBody>
                  <a:tcPr marL="139530"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0170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69765"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01648050"/>
                  </a:ext>
                </a:extLst>
              </a:tr>
              <a:tr h="130870">
                <a:tc gridSpan="3">
                  <a:txBody>
                    <a:bodyPr/>
                    <a:lstStyle/>
                    <a:p>
                      <a:pPr algn="l" fontAlgn="ctr"/>
                      <a:r>
                        <a:rPr lang="en-US" sz="700" b="1" i="0" u="none" strike="noStrike">
                          <a:solidFill>
                            <a:srgbClr val="000000"/>
                          </a:solidFill>
                          <a:effectLst/>
                          <a:latin typeface="Verdana" panose="020B0604030504040204" pitchFamily="34" charset="0"/>
                        </a:rPr>
                        <a:t>Other currencies: Size of interest rate shocks</a:t>
                      </a:r>
                    </a:p>
                  </a:txBody>
                  <a:tcPr marL="3322" marR="3322" marT="332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723575955"/>
                  </a:ext>
                </a:extLst>
              </a:tr>
              <a:tr h="130870">
                <a:tc>
                  <a:txBody>
                    <a:bodyPr/>
                    <a:lstStyle/>
                    <a:p>
                      <a:pPr algn="l" fontAlgn="ctr"/>
                      <a:r>
                        <a:rPr lang="fr-FR" sz="700" b="0" i="0" u="none" strike="noStrike" dirty="0">
                          <a:solidFill>
                            <a:srgbClr val="000000"/>
                          </a:solidFill>
                          <a:effectLst/>
                          <a:latin typeface="Verdana" panose="020B0604030504040204" pitchFamily="34" charset="0"/>
                        </a:rPr>
                        <a:t>Parallel </a:t>
                      </a:r>
                      <a:r>
                        <a:rPr lang="fr-FR" sz="700" b="0" i="0" u="none" strike="noStrike" dirty="0" err="1">
                          <a:solidFill>
                            <a:srgbClr val="000000"/>
                          </a:solidFill>
                          <a:effectLst/>
                          <a:latin typeface="Verdana" panose="020B0604030504040204" pitchFamily="34" charset="0"/>
                        </a:rPr>
                        <a:t>shock</a:t>
                      </a:r>
                      <a:endParaRPr lang="fr-FR" sz="700" b="0" i="0" u="none" strike="noStrike" dirty="0">
                        <a:solidFill>
                          <a:srgbClr val="000000"/>
                        </a:solidFill>
                        <a:effectLst/>
                        <a:latin typeface="Verdana" panose="020B0604030504040204" pitchFamily="34" charset="0"/>
                      </a:endParaRPr>
                    </a:p>
                  </a:txBody>
                  <a:tcPr marL="69765"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0180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051727083"/>
                  </a:ext>
                </a:extLst>
              </a:tr>
              <a:tr h="130870">
                <a:tc>
                  <a:txBody>
                    <a:bodyPr/>
                    <a:lstStyle/>
                    <a:p>
                      <a:pPr algn="l" fontAlgn="ctr"/>
                      <a:r>
                        <a:rPr lang="fr-FR" sz="700" b="0" i="0" u="none" strike="noStrike">
                          <a:solidFill>
                            <a:srgbClr val="000000"/>
                          </a:solidFill>
                          <a:effectLst/>
                          <a:latin typeface="Verdana" panose="020B0604030504040204" pitchFamily="34" charset="0"/>
                        </a:rPr>
                        <a:t>Short rate shock</a:t>
                      </a:r>
                    </a:p>
                  </a:txBody>
                  <a:tcPr marL="69765"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0190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208153365"/>
                  </a:ext>
                </a:extLst>
              </a:tr>
              <a:tr h="130870">
                <a:tc>
                  <a:txBody>
                    <a:bodyPr/>
                    <a:lstStyle/>
                    <a:p>
                      <a:pPr algn="l" fontAlgn="ctr"/>
                      <a:r>
                        <a:rPr lang="fr-FR" sz="700" b="0" i="0" u="none" strike="noStrike">
                          <a:solidFill>
                            <a:srgbClr val="000000"/>
                          </a:solidFill>
                          <a:effectLst/>
                          <a:latin typeface="Verdana" panose="020B0604030504040204" pitchFamily="34" charset="0"/>
                        </a:rPr>
                        <a:t>Long rate shock</a:t>
                      </a:r>
                    </a:p>
                  </a:txBody>
                  <a:tcPr marL="69765" marR="3322" marT="332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0200</a:t>
                      </a:r>
                    </a:p>
                  </a:txBody>
                  <a:tcPr marL="3322" marR="3322" marT="33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700" b="0" i="0" u="none" strike="noStrike" dirty="0">
                          <a:solidFill>
                            <a:srgbClr val="000000"/>
                          </a:solidFill>
                          <a:effectLst/>
                          <a:latin typeface="Verdana" panose="020B0604030504040204" pitchFamily="34" charset="0"/>
                        </a:rPr>
                        <a:t> </a:t>
                      </a:r>
                    </a:p>
                  </a:txBody>
                  <a:tcPr marL="3322" marR="3322" marT="332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29096038"/>
                  </a:ext>
                </a:extLst>
              </a:tr>
            </a:tbl>
          </a:graphicData>
        </a:graphic>
      </p:graphicFrame>
      <p:sp>
        <p:nvSpPr>
          <p:cNvPr id="4" name="TextBox 3">
            <a:extLst>
              <a:ext uri="{FF2B5EF4-FFF2-40B4-BE49-F238E27FC236}">
                <a16:creationId xmlns:a16="http://schemas.microsoft.com/office/drawing/2014/main" id="{FA0CD8AF-1359-D060-E7B7-62F2F99F663F}"/>
              </a:ext>
            </a:extLst>
          </p:cNvPr>
          <p:cNvSpPr txBox="1"/>
          <p:nvPr/>
        </p:nvSpPr>
        <p:spPr>
          <a:xfrm>
            <a:off x="7911650" y="1865935"/>
            <a:ext cx="3593154" cy="4154984"/>
          </a:xfrm>
          <a:prstGeom prst="rect">
            <a:avLst/>
          </a:prstGeom>
          <a:noFill/>
          <a:ln>
            <a:solidFill>
              <a:schemeClr val="tx1">
                <a:lumMod val="50000"/>
              </a:schemeClr>
            </a:solidFill>
          </a:ln>
        </p:spPr>
        <p:txBody>
          <a:bodyPr wrap="square" rtlCol="0">
            <a:spAutoFit/>
          </a:bodyPr>
          <a:lstStyle/>
          <a:p>
            <a:r>
              <a:rPr lang="fr-FR" dirty="0">
                <a:solidFill>
                  <a:schemeClr val="tx1">
                    <a:lumMod val="50000"/>
                  </a:schemeClr>
                </a:solidFill>
                <a:latin typeface="Calibri (body)"/>
              </a:rPr>
              <a:t>Le Template J01 permet de formaliser sur un seul onglet l’ensemble des résultats obtenus pour les différentes métriques calculées.</a:t>
            </a:r>
          </a:p>
          <a:p>
            <a:r>
              <a:rPr lang="fr-FR" dirty="0">
                <a:solidFill>
                  <a:schemeClr val="tx1">
                    <a:lumMod val="50000"/>
                  </a:schemeClr>
                </a:solidFill>
                <a:latin typeface="Calibri (body)"/>
              </a:rPr>
              <a:t>Permettant de mettre en avant :</a:t>
            </a:r>
          </a:p>
          <a:p>
            <a:endParaRPr lang="fr-FR" sz="1000" dirty="0">
              <a:solidFill>
                <a:schemeClr val="tx1">
                  <a:lumMod val="50000"/>
                </a:schemeClr>
              </a:solidFill>
              <a:latin typeface="Calibri (body)"/>
            </a:endParaRPr>
          </a:p>
          <a:p>
            <a:pPr marL="285750" indent="-285750">
              <a:buFont typeface="Wingdings" panose="05000000000000000000" pitchFamily="2" charset="2"/>
              <a:buChar char="Ø"/>
            </a:pPr>
            <a:r>
              <a:rPr lang="fr-FR" dirty="0">
                <a:solidFill>
                  <a:schemeClr val="tx1">
                    <a:lumMod val="50000"/>
                  </a:schemeClr>
                </a:solidFill>
                <a:latin typeface="Calibri (body)"/>
              </a:rPr>
              <a:t>La sensibilité en valeur pour chaque métrique en fonction de chaque scénario réglementaire</a:t>
            </a:r>
          </a:p>
          <a:p>
            <a:endParaRPr lang="fr-FR" sz="1000" dirty="0">
              <a:solidFill>
                <a:schemeClr val="tx1">
                  <a:lumMod val="50000"/>
                </a:schemeClr>
              </a:solidFill>
              <a:latin typeface="Calibri (body)"/>
            </a:endParaRPr>
          </a:p>
          <a:p>
            <a:pPr marL="285750" indent="-285750">
              <a:buFont typeface="Wingdings" panose="05000000000000000000" pitchFamily="2" charset="2"/>
              <a:buChar char="Ø"/>
            </a:pPr>
            <a:r>
              <a:rPr lang="fr-FR" dirty="0">
                <a:solidFill>
                  <a:schemeClr val="tx1">
                    <a:lumMod val="50000"/>
                  </a:schemeClr>
                </a:solidFill>
                <a:latin typeface="Calibri (body)"/>
              </a:rPr>
              <a:t>Identifier le scénario le plus impactant pour l’établissement</a:t>
            </a:r>
          </a:p>
          <a:p>
            <a:endParaRPr lang="fr-FR" sz="1000" dirty="0">
              <a:solidFill>
                <a:schemeClr val="tx1">
                  <a:lumMod val="50000"/>
                </a:schemeClr>
              </a:solidFill>
              <a:latin typeface="Calibri (body)"/>
            </a:endParaRPr>
          </a:p>
          <a:p>
            <a:pPr marL="285750" indent="-285750">
              <a:buFont typeface="Wingdings" panose="05000000000000000000" pitchFamily="2" charset="2"/>
              <a:buChar char="Ø"/>
            </a:pPr>
            <a:r>
              <a:rPr lang="fr-FR" dirty="0">
                <a:solidFill>
                  <a:schemeClr val="tx1">
                    <a:lumMod val="50000"/>
                  </a:schemeClr>
                </a:solidFill>
                <a:latin typeface="Calibri (body)"/>
              </a:rPr>
              <a:t>Un Template par devise significative est à réaliser </a:t>
            </a:r>
          </a:p>
          <a:p>
            <a:endParaRPr lang="fr-FR" sz="1000" dirty="0">
              <a:solidFill>
                <a:schemeClr val="tx1">
                  <a:lumMod val="50000"/>
                </a:schemeClr>
              </a:solidFill>
              <a:latin typeface="Calibri (body)"/>
            </a:endParaRPr>
          </a:p>
          <a:p>
            <a:pPr marL="285750" indent="-285750">
              <a:buFont typeface="Wingdings" panose="05000000000000000000" pitchFamily="2" charset="2"/>
              <a:buChar char="Ø"/>
            </a:pPr>
            <a:r>
              <a:rPr lang="fr-FR" dirty="0">
                <a:solidFill>
                  <a:schemeClr val="tx1">
                    <a:lumMod val="50000"/>
                  </a:schemeClr>
                </a:solidFill>
                <a:latin typeface="Calibri (body)"/>
              </a:rPr>
              <a:t>Un Template comprenant l’agrégat des devises significatives est à compléter également en convertissant les devises en monnaie de reporting (€)</a:t>
            </a:r>
          </a:p>
          <a:p>
            <a:endParaRPr lang="fr-FR" dirty="0">
              <a:solidFill>
                <a:schemeClr val="tx1">
                  <a:lumMod val="50000"/>
                </a:schemeClr>
              </a:solidFill>
              <a:latin typeface="Calibri (body)"/>
            </a:endParaRPr>
          </a:p>
        </p:txBody>
      </p:sp>
      <p:sp>
        <p:nvSpPr>
          <p:cNvPr id="6" name="Espace réservé du texte 15">
            <a:extLst>
              <a:ext uri="{FF2B5EF4-FFF2-40B4-BE49-F238E27FC236}">
                <a16:creationId xmlns:a16="http://schemas.microsoft.com/office/drawing/2014/main" id="{3DC0E7FD-1947-3831-4835-331060CD4BD4}"/>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138152585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c- Template </a:t>
            </a:r>
            <a:r>
              <a:rPr lang="fr-FR" sz="2000" i="1" dirty="0">
                <a:highlight>
                  <a:srgbClr val="FF0000"/>
                </a:highlight>
                <a:latin typeface="Calibri (body)"/>
                <a:cs typeface="Calibri"/>
              </a:rPr>
              <a:t>J05/6/7</a:t>
            </a:r>
            <a:r>
              <a:rPr lang="fr-FR" sz="2000" i="1" dirty="0">
                <a:latin typeface="Calibri (body)"/>
                <a:cs typeface="Calibri"/>
              </a:rPr>
              <a:t> – </a:t>
            </a:r>
            <a:r>
              <a:rPr lang="fr-FR" sz="2000" i="1" dirty="0" err="1">
                <a:latin typeface="Calibri (body)"/>
                <a:cs typeface="Calibri"/>
              </a:rPr>
              <a:t>Repricing</a:t>
            </a:r>
            <a:r>
              <a:rPr lang="fr-FR" sz="2000" i="1" dirty="0">
                <a:latin typeface="Calibri (body)"/>
                <a:cs typeface="Calibri"/>
              </a:rPr>
              <a:t> cash-flows</a:t>
            </a:r>
            <a:endParaRPr lang="fr-FR" sz="2000" dirty="0">
              <a:latin typeface="Calibri"/>
              <a:cs typeface="Calibri"/>
            </a:endParaRPr>
          </a:p>
        </p:txBody>
      </p:sp>
      <p:sp>
        <p:nvSpPr>
          <p:cNvPr id="24" name="ZoneTexte 23">
            <a:extLst>
              <a:ext uri="{FF2B5EF4-FFF2-40B4-BE49-F238E27FC236}">
                <a16:creationId xmlns:a16="http://schemas.microsoft.com/office/drawing/2014/main" id="{B43E300C-1C72-5946-3A2D-6E92E6C3EF11}"/>
              </a:ext>
            </a:extLst>
          </p:cNvPr>
          <p:cNvSpPr txBox="1"/>
          <p:nvPr/>
        </p:nvSpPr>
        <p:spPr>
          <a:xfrm>
            <a:off x="319716" y="903721"/>
            <a:ext cx="6094708" cy="307777"/>
          </a:xfrm>
          <a:prstGeom prst="rect">
            <a:avLst/>
          </a:prstGeom>
          <a:noFill/>
        </p:spPr>
        <p:txBody>
          <a:bodyPr wrap="square">
            <a:spAutoFit/>
          </a:bodyPr>
          <a:lstStyle/>
          <a:p>
            <a:r>
              <a:rPr lang="fr-FR" b="1" dirty="0">
                <a:solidFill>
                  <a:schemeClr val="tx1">
                    <a:lumMod val="50000"/>
                  </a:schemeClr>
                </a:solidFill>
                <a:latin typeface="Calibri (bdoy)"/>
              </a:rPr>
              <a:t>Taux fixe :</a:t>
            </a:r>
            <a:endParaRPr lang="fr-FR" sz="1400" b="1" dirty="0">
              <a:solidFill>
                <a:schemeClr val="tx1">
                  <a:lumMod val="50000"/>
                </a:schemeClr>
              </a:solidFill>
              <a:latin typeface="Calibri (bdoy)"/>
            </a:endParaRPr>
          </a:p>
        </p:txBody>
      </p:sp>
      <p:sp>
        <p:nvSpPr>
          <p:cNvPr id="25" name="ZoneTexte 24">
            <a:extLst>
              <a:ext uri="{FF2B5EF4-FFF2-40B4-BE49-F238E27FC236}">
                <a16:creationId xmlns:a16="http://schemas.microsoft.com/office/drawing/2014/main" id="{5A4158E5-8B59-2108-91A4-C59C426390DE}"/>
              </a:ext>
            </a:extLst>
          </p:cNvPr>
          <p:cNvSpPr txBox="1"/>
          <p:nvPr/>
        </p:nvSpPr>
        <p:spPr>
          <a:xfrm>
            <a:off x="319716" y="2551364"/>
            <a:ext cx="6094708" cy="307777"/>
          </a:xfrm>
          <a:prstGeom prst="rect">
            <a:avLst/>
          </a:prstGeom>
          <a:noFill/>
        </p:spPr>
        <p:txBody>
          <a:bodyPr wrap="square">
            <a:spAutoFit/>
          </a:bodyPr>
          <a:lstStyle/>
          <a:p>
            <a:r>
              <a:rPr lang="fr-FR" b="1" dirty="0">
                <a:solidFill>
                  <a:schemeClr val="tx1">
                    <a:lumMod val="50000"/>
                  </a:schemeClr>
                </a:solidFill>
                <a:latin typeface="Calibri (bdoy)"/>
              </a:rPr>
              <a:t>Taux révisable :</a:t>
            </a:r>
            <a:endParaRPr lang="fr-FR" sz="1400" b="1" dirty="0">
              <a:solidFill>
                <a:schemeClr val="tx1">
                  <a:lumMod val="50000"/>
                </a:schemeClr>
              </a:solidFill>
              <a:latin typeface="Calibri (bdoy)"/>
            </a:endParaRPr>
          </a:p>
        </p:txBody>
      </p:sp>
      <p:sp>
        <p:nvSpPr>
          <p:cNvPr id="5" name="TextBox 4">
            <a:extLst>
              <a:ext uri="{FF2B5EF4-FFF2-40B4-BE49-F238E27FC236}">
                <a16:creationId xmlns:a16="http://schemas.microsoft.com/office/drawing/2014/main" id="{E52CF253-195F-EFDE-1F52-8843BBB6CB05}"/>
              </a:ext>
            </a:extLst>
          </p:cNvPr>
          <p:cNvSpPr txBox="1"/>
          <p:nvPr/>
        </p:nvSpPr>
        <p:spPr>
          <a:xfrm>
            <a:off x="388542" y="4510558"/>
            <a:ext cx="9378456" cy="1538883"/>
          </a:xfrm>
          <a:prstGeom prst="rect">
            <a:avLst/>
          </a:prstGeom>
          <a:noFill/>
          <a:ln>
            <a:solidFill>
              <a:schemeClr val="tx1">
                <a:lumMod val="50000"/>
              </a:schemeClr>
            </a:solidFill>
          </a:ln>
        </p:spPr>
        <p:txBody>
          <a:bodyPr wrap="square">
            <a:spAutoFit/>
          </a:bodyPr>
          <a:lstStyle/>
          <a:p>
            <a:r>
              <a:rPr lang="fr-FR" dirty="0">
                <a:solidFill>
                  <a:schemeClr val="tx1">
                    <a:lumMod val="50000"/>
                  </a:schemeClr>
                </a:solidFill>
                <a:latin typeface="Calibri (body)"/>
              </a:rPr>
              <a:t>Les colonnes à reporter </a:t>
            </a:r>
            <a:r>
              <a:rPr lang="fr-FR" b="1" dirty="0">
                <a:solidFill>
                  <a:schemeClr val="tx1">
                    <a:lumMod val="50000"/>
                  </a:schemeClr>
                </a:solidFill>
                <a:latin typeface="Calibri (body)"/>
              </a:rPr>
              <a:t>introduisent 6 éléments, à compléter uniquement en modélisation comportementale </a:t>
            </a:r>
            <a:r>
              <a:rPr lang="fr-FR" dirty="0">
                <a:solidFill>
                  <a:schemeClr val="tx1">
                    <a:lumMod val="50000"/>
                  </a:schemeClr>
                </a:solidFill>
                <a:latin typeface="Calibri (body)"/>
              </a:rPr>
              <a:t>:</a:t>
            </a:r>
          </a:p>
          <a:p>
            <a:endParaRPr lang="fr-FR" sz="1000" dirty="0">
              <a:solidFill>
                <a:schemeClr val="tx1">
                  <a:lumMod val="50000"/>
                </a:schemeClr>
              </a:solidFill>
              <a:latin typeface="Calibri (body)"/>
            </a:endParaRPr>
          </a:p>
          <a:p>
            <a:pPr marL="285750" indent="-285750">
              <a:buFont typeface="Arial" panose="020B0604020202020204" pitchFamily="34" charset="0"/>
              <a:buChar char="•"/>
            </a:pPr>
            <a:r>
              <a:rPr lang="fr-FR" dirty="0">
                <a:solidFill>
                  <a:schemeClr val="tx1">
                    <a:lumMod val="50000"/>
                  </a:schemeClr>
                </a:solidFill>
                <a:latin typeface="Calibri (body)"/>
              </a:rPr>
              <a:t>Le montant notionnel des encours (différent du montant comptable qui comprend : principal + intérêts)</a:t>
            </a:r>
          </a:p>
          <a:p>
            <a:pPr marL="285750" indent="-285750">
              <a:buFont typeface="Arial" panose="020B0604020202020204" pitchFamily="34" charset="0"/>
              <a:buChar char="•"/>
            </a:pPr>
            <a:r>
              <a:rPr lang="fr-FR" dirty="0">
                <a:solidFill>
                  <a:schemeClr val="tx1">
                    <a:lumMod val="50000"/>
                  </a:schemeClr>
                </a:solidFill>
                <a:latin typeface="Calibri (body)"/>
              </a:rPr>
              <a:t>Le pourcentage des encours concernés par la présence d’options explicites achetées ou vendues (</a:t>
            </a:r>
            <a:r>
              <a:rPr lang="fr-FR" dirty="0" err="1">
                <a:solidFill>
                  <a:schemeClr val="tx1">
                    <a:lumMod val="50000"/>
                  </a:schemeClr>
                </a:solidFill>
                <a:latin typeface="Calibri (body)"/>
              </a:rPr>
              <a:t>cap,floor</a:t>
            </a:r>
            <a:r>
              <a:rPr lang="fr-FR" dirty="0">
                <a:solidFill>
                  <a:schemeClr val="tx1">
                    <a:lumMod val="50000"/>
                  </a:schemeClr>
                </a:solidFill>
                <a:latin typeface="Calibri (body)"/>
              </a:rPr>
              <a:t>..)</a:t>
            </a:r>
          </a:p>
          <a:p>
            <a:pPr marL="285750" indent="-285750">
              <a:buFont typeface="Arial" panose="020B0604020202020204" pitchFamily="34" charset="0"/>
              <a:buChar char="•"/>
            </a:pPr>
            <a:r>
              <a:rPr lang="fr-FR" dirty="0">
                <a:solidFill>
                  <a:schemeClr val="tx1">
                    <a:lumMod val="50000"/>
                  </a:schemeClr>
                </a:solidFill>
                <a:latin typeface="Calibri (body)"/>
              </a:rPr>
              <a:t>Le pourcentage de notionnel sujet à la modélisation comportementale</a:t>
            </a:r>
          </a:p>
          <a:p>
            <a:pPr marL="285750" indent="-285750">
              <a:buFont typeface="Arial" panose="020B0604020202020204" pitchFamily="34" charset="0"/>
              <a:buChar char="•"/>
            </a:pPr>
            <a:r>
              <a:rPr lang="fr-FR" dirty="0">
                <a:solidFill>
                  <a:schemeClr val="tx1">
                    <a:lumMod val="50000"/>
                  </a:schemeClr>
                </a:solidFill>
                <a:latin typeface="Calibri (body)"/>
              </a:rPr>
              <a:t>Le rendement moyen annualisé pondéré par le notionnel</a:t>
            </a:r>
          </a:p>
          <a:p>
            <a:pPr marL="285750" indent="-285750">
              <a:buFont typeface="Arial" panose="020B0604020202020204" pitchFamily="34" charset="0"/>
              <a:buChar char="•"/>
            </a:pPr>
            <a:r>
              <a:rPr lang="fr-FR" dirty="0">
                <a:solidFill>
                  <a:schemeClr val="tx1">
                    <a:lumMod val="50000"/>
                  </a:schemeClr>
                </a:solidFill>
                <a:latin typeface="Calibri (body)"/>
              </a:rPr>
              <a:t>La maturité contractuelle moyenne pondérée par le notionnel</a:t>
            </a:r>
          </a:p>
        </p:txBody>
      </p:sp>
      <p:graphicFrame>
        <p:nvGraphicFramePr>
          <p:cNvPr id="7" name="Table 6">
            <a:extLst>
              <a:ext uri="{FF2B5EF4-FFF2-40B4-BE49-F238E27FC236}">
                <a16:creationId xmlns:a16="http://schemas.microsoft.com/office/drawing/2014/main" id="{B6CE5517-982C-93EA-0751-6BCF640064C3}"/>
              </a:ext>
            </a:extLst>
          </p:cNvPr>
          <p:cNvGraphicFramePr>
            <a:graphicFrameLocks noGrp="1"/>
          </p:cNvGraphicFramePr>
          <p:nvPr/>
        </p:nvGraphicFramePr>
        <p:xfrm>
          <a:off x="388542" y="1212743"/>
          <a:ext cx="11738708" cy="1134700"/>
        </p:xfrm>
        <a:graphic>
          <a:graphicData uri="http://schemas.openxmlformats.org/drawingml/2006/table">
            <a:tbl>
              <a:tblPr/>
              <a:tblGrid>
                <a:gridCol w="707111">
                  <a:extLst>
                    <a:ext uri="{9D8B030D-6E8A-4147-A177-3AD203B41FA5}">
                      <a16:colId xmlns:a16="http://schemas.microsoft.com/office/drawing/2014/main" val="3697346818"/>
                    </a:ext>
                  </a:extLst>
                </a:gridCol>
                <a:gridCol w="389236">
                  <a:extLst>
                    <a:ext uri="{9D8B030D-6E8A-4147-A177-3AD203B41FA5}">
                      <a16:colId xmlns:a16="http://schemas.microsoft.com/office/drawing/2014/main" val="3174623765"/>
                    </a:ext>
                  </a:extLst>
                </a:gridCol>
                <a:gridCol w="389236">
                  <a:extLst>
                    <a:ext uri="{9D8B030D-6E8A-4147-A177-3AD203B41FA5}">
                      <a16:colId xmlns:a16="http://schemas.microsoft.com/office/drawing/2014/main" val="1936259734"/>
                    </a:ext>
                  </a:extLst>
                </a:gridCol>
                <a:gridCol w="629265">
                  <a:extLst>
                    <a:ext uri="{9D8B030D-6E8A-4147-A177-3AD203B41FA5}">
                      <a16:colId xmlns:a16="http://schemas.microsoft.com/office/drawing/2014/main" val="2804619814"/>
                    </a:ext>
                  </a:extLst>
                </a:gridCol>
                <a:gridCol w="389236">
                  <a:extLst>
                    <a:ext uri="{9D8B030D-6E8A-4147-A177-3AD203B41FA5}">
                      <a16:colId xmlns:a16="http://schemas.microsoft.com/office/drawing/2014/main" val="427388150"/>
                    </a:ext>
                  </a:extLst>
                </a:gridCol>
                <a:gridCol w="389236">
                  <a:extLst>
                    <a:ext uri="{9D8B030D-6E8A-4147-A177-3AD203B41FA5}">
                      <a16:colId xmlns:a16="http://schemas.microsoft.com/office/drawing/2014/main" val="1599879367"/>
                    </a:ext>
                  </a:extLst>
                </a:gridCol>
                <a:gridCol w="804421">
                  <a:extLst>
                    <a:ext uri="{9D8B030D-6E8A-4147-A177-3AD203B41FA5}">
                      <a16:colId xmlns:a16="http://schemas.microsoft.com/office/drawing/2014/main" val="1309729375"/>
                    </a:ext>
                  </a:extLst>
                </a:gridCol>
                <a:gridCol w="765497">
                  <a:extLst>
                    <a:ext uri="{9D8B030D-6E8A-4147-A177-3AD203B41FA5}">
                      <a16:colId xmlns:a16="http://schemas.microsoft.com/office/drawing/2014/main" val="3250360267"/>
                    </a:ext>
                  </a:extLst>
                </a:gridCol>
                <a:gridCol w="797934">
                  <a:extLst>
                    <a:ext uri="{9D8B030D-6E8A-4147-A177-3AD203B41FA5}">
                      <a16:colId xmlns:a16="http://schemas.microsoft.com/office/drawing/2014/main" val="933662578"/>
                    </a:ext>
                  </a:extLst>
                </a:gridCol>
                <a:gridCol w="401400">
                  <a:extLst>
                    <a:ext uri="{9D8B030D-6E8A-4147-A177-3AD203B41FA5}">
                      <a16:colId xmlns:a16="http://schemas.microsoft.com/office/drawing/2014/main" val="3435618645"/>
                    </a:ext>
                  </a:extLst>
                </a:gridCol>
                <a:gridCol w="804421">
                  <a:extLst>
                    <a:ext uri="{9D8B030D-6E8A-4147-A177-3AD203B41FA5}">
                      <a16:colId xmlns:a16="http://schemas.microsoft.com/office/drawing/2014/main" val="1181640942"/>
                    </a:ext>
                  </a:extLst>
                </a:gridCol>
                <a:gridCol w="403832">
                  <a:extLst>
                    <a:ext uri="{9D8B030D-6E8A-4147-A177-3AD203B41FA5}">
                      <a16:colId xmlns:a16="http://schemas.microsoft.com/office/drawing/2014/main" val="89277206"/>
                    </a:ext>
                  </a:extLst>
                </a:gridCol>
                <a:gridCol w="389236">
                  <a:extLst>
                    <a:ext uri="{9D8B030D-6E8A-4147-A177-3AD203B41FA5}">
                      <a16:colId xmlns:a16="http://schemas.microsoft.com/office/drawing/2014/main" val="2109102087"/>
                    </a:ext>
                  </a:extLst>
                </a:gridCol>
                <a:gridCol w="389236">
                  <a:extLst>
                    <a:ext uri="{9D8B030D-6E8A-4147-A177-3AD203B41FA5}">
                      <a16:colId xmlns:a16="http://schemas.microsoft.com/office/drawing/2014/main" val="699635208"/>
                    </a:ext>
                  </a:extLst>
                </a:gridCol>
                <a:gridCol w="389236">
                  <a:extLst>
                    <a:ext uri="{9D8B030D-6E8A-4147-A177-3AD203B41FA5}">
                      <a16:colId xmlns:a16="http://schemas.microsoft.com/office/drawing/2014/main" val="3450826577"/>
                    </a:ext>
                  </a:extLst>
                </a:gridCol>
                <a:gridCol w="389236">
                  <a:extLst>
                    <a:ext uri="{9D8B030D-6E8A-4147-A177-3AD203B41FA5}">
                      <a16:colId xmlns:a16="http://schemas.microsoft.com/office/drawing/2014/main" val="3198610180"/>
                    </a:ext>
                  </a:extLst>
                </a:gridCol>
                <a:gridCol w="389236">
                  <a:extLst>
                    <a:ext uri="{9D8B030D-6E8A-4147-A177-3AD203B41FA5}">
                      <a16:colId xmlns:a16="http://schemas.microsoft.com/office/drawing/2014/main" val="3973019533"/>
                    </a:ext>
                  </a:extLst>
                </a:gridCol>
                <a:gridCol w="389236">
                  <a:extLst>
                    <a:ext uri="{9D8B030D-6E8A-4147-A177-3AD203B41FA5}">
                      <a16:colId xmlns:a16="http://schemas.microsoft.com/office/drawing/2014/main" val="607686120"/>
                    </a:ext>
                  </a:extLst>
                </a:gridCol>
                <a:gridCol w="389236">
                  <a:extLst>
                    <a:ext uri="{9D8B030D-6E8A-4147-A177-3AD203B41FA5}">
                      <a16:colId xmlns:a16="http://schemas.microsoft.com/office/drawing/2014/main" val="761454474"/>
                    </a:ext>
                  </a:extLst>
                </a:gridCol>
                <a:gridCol w="389236">
                  <a:extLst>
                    <a:ext uri="{9D8B030D-6E8A-4147-A177-3AD203B41FA5}">
                      <a16:colId xmlns:a16="http://schemas.microsoft.com/office/drawing/2014/main" val="238371540"/>
                    </a:ext>
                  </a:extLst>
                </a:gridCol>
                <a:gridCol w="389236">
                  <a:extLst>
                    <a:ext uri="{9D8B030D-6E8A-4147-A177-3AD203B41FA5}">
                      <a16:colId xmlns:a16="http://schemas.microsoft.com/office/drawing/2014/main" val="743602536"/>
                    </a:ext>
                  </a:extLst>
                </a:gridCol>
                <a:gridCol w="389236">
                  <a:extLst>
                    <a:ext uri="{9D8B030D-6E8A-4147-A177-3AD203B41FA5}">
                      <a16:colId xmlns:a16="http://schemas.microsoft.com/office/drawing/2014/main" val="3047013120"/>
                    </a:ext>
                  </a:extLst>
                </a:gridCol>
                <a:gridCol w="389236">
                  <a:extLst>
                    <a:ext uri="{9D8B030D-6E8A-4147-A177-3AD203B41FA5}">
                      <a16:colId xmlns:a16="http://schemas.microsoft.com/office/drawing/2014/main" val="3782825119"/>
                    </a:ext>
                  </a:extLst>
                </a:gridCol>
                <a:gridCol w="389236">
                  <a:extLst>
                    <a:ext uri="{9D8B030D-6E8A-4147-A177-3AD203B41FA5}">
                      <a16:colId xmlns:a16="http://schemas.microsoft.com/office/drawing/2014/main" val="2380120882"/>
                    </a:ext>
                  </a:extLst>
                </a:gridCol>
                <a:gridCol w="197051">
                  <a:extLst>
                    <a:ext uri="{9D8B030D-6E8A-4147-A177-3AD203B41FA5}">
                      <a16:colId xmlns:a16="http://schemas.microsoft.com/office/drawing/2014/main" val="3039629480"/>
                    </a:ext>
                  </a:extLst>
                </a:gridCol>
              </a:tblGrid>
              <a:tr h="136904">
                <a:tc gridSpan="25">
                  <a:txBody>
                    <a:bodyPr/>
                    <a:lstStyle/>
                    <a:p>
                      <a:pPr algn="ctr" fontAlgn="ctr"/>
                      <a:r>
                        <a:rPr lang="fr-FR" sz="500" b="0" i="0" u="none" strike="noStrike" dirty="0" err="1">
                          <a:solidFill>
                            <a:srgbClr val="000000"/>
                          </a:solidFill>
                          <a:effectLst/>
                          <a:latin typeface="Verdana" panose="020B0604030504040204" pitchFamily="34" charset="0"/>
                        </a:rPr>
                        <a:t>Fixed</a:t>
                      </a:r>
                      <a:r>
                        <a:rPr lang="fr-FR" sz="500" b="0" i="0" u="none" strike="noStrike" dirty="0">
                          <a:solidFill>
                            <a:srgbClr val="000000"/>
                          </a:solidFill>
                          <a:effectLst/>
                          <a:latin typeface="Verdana" panose="020B0604030504040204" pitchFamily="34" charset="0"/>
                        </a:rPr>
                        <a:t> rate</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068095528"/>
                  </a:ext>
                </a:extLst>
              </a:tr>
              <a:tr h="129949">
                <a:tc rowSpan="3">
                  <a:txBody>
                    <a:bodyPr/>
                    <a:lstStyle/>
                    <a:p>
                      <a:pPr algn="ctr" fontAlgn="ctr"/>
                      <a:r>
                        <a:rPr lang="fr-FR" sz="500" b="0" i="0" u="none" strike="noStrike" dirty="0" err="1">
                          <a:solidFill>
                            <a:srgbClr val="000000"/>
                          </a:solidFill>
                          <a:effectLst/>
                          <a:latin typeface="Verdana" panose="020B0604030504040204" pitchFamily="34" charset="0"/>
                        </a:rPr>
                        <a:t>Notional</a:t>
                      </a:r>
                      <a:r>
                        <a:rPr lang="fr-FR" sz="500" b="0" i="0" u="none" strike="noStrike" dirty="0">
                          <a:solidFill>
                            <a:srgbClr val="000000"/>
                          </a:solidFill>
                          <a:effectLst/>
                          <a:latin typeface="Verdana" panose="020B0604030504040204" pitchFamily="34" charset="0"/>
                        </a:rPr>
                        <a:t> </a:t>
                      </a:r>
                      <a:r>
                        <a:rPr lang="fr-FR" sz="500" b="0" i="0" u="none" strike="noStrike" dirty="0" err="1">
                          <a:solidFill>
                            <a:srgbClr val="000000"/>
                          </a:solidFill>
                          <a:effectLst/>
                          <a:latin typeface="Verdana" panose="020B0604030504040204" pitchFamily="34" charset="0"/>
                        </a:rPr>
                        <a:t>amount</a:t>
                      </a:r>
                      <a:endParaRPr lang="fr-FR" sz="5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3">
                  <a:txBody>
                    <a:bodyPr/>
                    <a:lstStyle/>
                    <a:p>
                      <a:pPr algn="ctr" fontAlgn="ctr"/>
                      <a:r>
                        <a:rPr lang="fr-FR" sz="500" b="0" i="0" u="none" strike="noStrike" dirty="0" err="1">
                          <a:solidFill>
                            <a:srgbClr val="000000"/>
                          </a:solidFill>
                          <a:effectLst/>
                          <a:latin typeface="Verdana" panose="020B0604030504040204" pitchFamily="34" charset="0"/>
                        </a:rPr>
                        <a:t>Weighted</a:t>
                      </a:r>
                      <a:r>
                        <a:rPr lang="fr-FR" sz="500" b="0" i="0" u="none" strike="noStrike" dirty="0">
                          <a:solidFill>
                            <a:srgbClr val="000000"/>
                          </a:solidFill>
                          <a:effectLst/>
                          <a:latin typeface="Verdana" panose="020B0604030504040204" pitchFamily="34" charset="0"/>
                        </a:rPr>
                        <a:t> </a:t>
                      </a:r>
                      <a:r>
                        <a:rPr lang="fr-FR" sz="500" b="0" i="0" u="none" strike="noStrike" dirty="0" err="1">
                          <a:solidFill>
                            <a:srgbClr val="000000"/>
                          </a:solidFill>
                          <a:effectLst/>
                          <a:latin typeface="Verdana" panose="020B0604030504040204" pitchFamily="34" charset="0"/>
                        </a:rPr>
                        <a:t>average</a:t>
                      </a:r>
                      <a:r>
                        <a:rPr lang="fr-FR" sz="500" b="0" i="0" u="none" strike="noStrike" dirty="0">
                          <a:solidFill>
                            <a:srgbClr val="000000"/>
                          </a:solidFill>
                          <a:effectLst/>
                          <a:latin typeface="Verdana" panose="020B0604030504040204" pitchFamily="34" charset="0"/>
                        </a:rPr>
                        <a:t> </a:t>
                      </a:r>
                      <a:r>
                        <a:rPr lang="fr-FR" sz="500" b="0" i="0" u="none" strike="noStrike" dirty="0" err="1">
                          <a:solidFill>
                            <a:srgbClr val="000000"/>
                          </a:solidFill>
                          <a:effectLst/>
                          <a:latin typeface="Verdana" panose="020B0604030504040204" pitchFamily="34" charset="0"/>
                        </a:rPr>
                        <a:t>yield</a:t>
                      </a:r>
                      <a:endParaRPr lang="fr-FR" sz="5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3">
                  <a:txBody>
                    <a:bodyPr/>
                    <a:lstStyle/>
                    <a:p>
                      <a:pPr algn="ctr" fontAlgn="ctr"/>
                      <a:r>
                        <a:rPr lang="fr-FR" sz="500" b="0" i="0" u="none" strike="noStrike">
                          <a:solidFill>
                            <a:srgbClr val="000000"/>
                          </a:solidFill>
                          <a:effectLst/>
                          <a:latin typeface="Verdana" panose="020B0604030504040204" pitchFamily="34" charset="0"/>
                        </a:rPr>
                        <a:t>Weighted average maturity (contractual)</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gridSpan="19">
                  <a:txBody>
                    <a:bodyPr/>
                    <a:lstStyle/>
                    <a:p>
                      <a:pPr algn="ctr" fontAlgn="b"/>
                      <a:r>
                        <a:rPr lang="en-US" sz="500" b="1" i="0" u="none" strike="noStrike" dirty="0">
                          <a:solidFill>
                            <a:srgbClr val="000000"/>
                          </a:solidFill>
                          <a:effectLst/>
                          <a:latin typeface="Verdana" panose="020B0604030504040204" pitchFamily="34" charset="0"/>
                        </a:rPr>
                        <a:t>Repricing schedule for all notional repricing cash flows</a:t>
                      </a:r>
                    </a:p>
                  </a:txBody>
                  <a:tcPr marL="0" marR="0" marT="0"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775264159"/>
                  </a:ext>
                </a:extLst>
              </a:tr>
              <a:tr h="346745">
                <a:tc vMerge="1">
                  <a:txBody>
                    <a:bodyPr/>
                    <a:lstStyle/>
                    <a:p>
                      <a:endParaRPr lang="fr-FR"/>
                    </a:p>
                  </a:txBody>
                  <a:tcPr/>
                </a:tc>
                <a:tc gridSpan="2">
                  <a:txBody>
                    <a:bodyPr/>
                    <a:lstStyle/>
                    <a:p>
                      <a:pPr algn="ctr" fontAlgn="ctr"/>
                      <a:r>
                        <a:rPr lang="en-US" sz="500" b="0" i="0" u="none" strike="noStrike" dirty="0">
                          <a:solidFill>
                            <a:srgbClr val="000000"/>
                          </a:solidFill>
                          <a:effectLst/>
                          <a:latin typeface="Verdana" panose="020B0604030504040204" pitchFamily="34" charset="0"/>
                        </a:rPr>
                        <a:t>% With embedded or </a:t>
                      </a:r>
                      <a:r>
                        <a:rPr lang="en-US" sz="500" b="0" i="0" u="none" strike="noStrike" dirty="0" err="1">
                          <a:solidFill>
                            <a:srgbClr val="000000"/>
                          </a:solidFill>
                          <a:effectLst/>
                          <a:latin typeface="Verdana" panose="020B0604030504040204" pitchFamily="34" charset="0"/>
                        </a:rPr>
                        <a:t>explicity</a:t>
                      </a:r>
                      <a:r>
                        <a:rPr lang="en-US" sz="500" b="0" i="0" u="none" strike="noStrike" dirty="0">
                          <a:solidFill>
                            <a:srgbClr val="000000"/>
                          </a:solidFill>
                          <a:effectLst/>
                          <a:latin typeface="Verdana" panose="020B0604030504040204" pitchFamily="34" charset="0"/>
                        </a:rPr>
                        <a:t> automatic optionality</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hMerge="1">
                  <a:txBody>
                    <a:bodyPr/>
                    <a:lstStyle/>
                    <a:p>
                      <a:endParaRPr lang="fr-FR"/>
                    </a:p>
                  </a:txBody>
                  <a:tcPr/>
                </a:tc>
                <a:tc rowSpan="2">
                  <a:txBody>
                    <a:bodyPr/>
                    <a:lstStyle/>
                    <a:p>
                      <a:pPr algn="ctr" fontAlgn="ctr"/>
                      <a:r>
                        <a:rPr lang="fr-FR" sz="500" b="0" i="0" u="none" strike="noStrike" dirty="0">
                          <a:solidFill>
                            <a:srgbClr val="000000"/>
                          </a:solidFill>
                          <a:effectLst/>
                          <a:latin typeface="Verdana" panose="020B0604030504040204" pitchFamily="34" charset="0"/>
                        </a:rPr>
                        <a:t>% </a:t>
                      </a:r>
                      <a:r>
                        <a:rPr lang="fr-FR" sz="500" b="0" i="0" u="none" strike="noStrike" dirty="0" err="1">
                          <a:solidFill>
                            <a:srgbClr val="000000"/>
                          </a:solidFill>
                          <a:effectLst/>
                          <a:latin typeface="Verdana" panose="020B0604030504040204" pitchFamily="34" charset="0"/>
                        </a:rPr>
                        <a:t>Subject</a:t>
                      </a:r>
                      <a:r>
                        <a:rPr lang="fr-FR" sz="500" b="0" i="0" u="none" strike="noStrike" dirty="0">
                          <a:solidFill>
                            <a:srgbClr val="000000"/>
                          </a:solidFill>
                          <a:effectLst/>
                          <a:latin typeface="Verdana" panose="020B0604030504040204" pitchFamily="34" charset="0"/>
                        </a:rPr>
                        <a:t> to </a:t>
                      </a:r>
                      <a:r>
                        <a:rPr lang="fr-FR" sz="500" b="0" i="0" u="none" strike="noStrike" dirty="0" err="1">
                          <a:solidFill>
                            <a:srgbClr val="000000"/>
                          </a:solidFill>
                          <a:effectLst/>
                          <a:latin typeface="Verdana" panose="020B0604030504040204" pitchFamily="34" charset="0"/>
                        </a:rPr>
                        <a:t>behavioural</a:t>
                      </a:r>
                      <a:r>
                        <a:rPr lang="fr-FR" sz="500" b="0" i="0" u="none" strike="noStrike" dirty="0">
                          <a:solidFill>
                            <a:srgbClr val="000000"/>
                          </a:solidFill>
                          <a:effectLst/>
                          <a:latin typeface="Verdana" panose="020B0604030504040204" pitchFamily="34" charset="0"/>
                        </a:rPr>
                        <a:t> </a:t>
                      </a:r>
                      <a:r>
                        <a:rPr lang="fr-FR" sz="500" b="0" i="0" u="none" strike="noStrike" dirty="0" err="1">
                          <a:solidFill>
                            <a:srgbClr val="000000"/>
                          </a:solidFill>
                          <a:effectLst/>
                          <a:latin typeface="Verdana" panose="020B0604030504040204" pitchFamily="34" charset="0"/>
                        </a:rPr>
                        <a:t>modelling</a:t>
                      </a:r>
                      <a:endParaRPr lang="fr-FR" sz="5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rowSpan="2">
                  <a:txBody>
                    <a:bodyPr/>
                    <a:lstStyle/>
                    <a:p>
                      <a:pPr algn="ctr" fontAlgn="ctr"/>
                      <a:r>
                        <a:rPr lang="fr-FR" sz="500" b="0" i="0" u="none" strike="noStrike">
                          <a:solidFill>
                            <a:srgbClr val="000000"/>
                          </a:solidFill>
                          <a:effectLst/>
                          <a:latin typeface="Verdana" panose="020B0604030504040204" pitchFamily="34" charset="0"/>
                        </a:rPr>
                        <a:t>Overnight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dirty="0">
                          <a:solidFill>
                            <a:srgbClr val="000000"/>
                          </a:solidFill>
                          <a:effectLst/>
                          <a:latin typeface="Verdana" panose="020B0604030504040204" pitchFamily="34" charset="0"/>
                        </a:rPr>
                        <a:t>Greater than overnight up to 1 month</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1 month up to 3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dirty="0">
                          <a:solidFill>
                            <a:srgbClr val="000000"/>
                          </a:solidFill>
                          <a:effectLst/>
                          <a:latin typeface="Verdana" panose="020B0604030504040204" pitchFamily="34" charset="0"/>
                        </a:rPr>
                        <a:t>Greater than 3 months up to 6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6 months up to 9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9 months up to 12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12 months up to 1.5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1.5 years up to 2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2 years up to 3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3 years up to 4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4 years up to 5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5 years up to 6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6 years up to 7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7 years up to 8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8 years up to 9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9 years up to 10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10 years up to 15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15 years up to 20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fr-FR" sz="500" b="0" i="0" u="none" strike="noStrike">
                          <a:solidFill>
                            <a:srgbClr val="000000"/>
                          </a:solidFill>
                          <a:effectLst/>
                          <a:latin typeface="Verdana" panose="020B0604030504040204" pitchFamily="34" charset="0"/>
                        </a:rPr>
                        <a:t>Greater than 20 years</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extLst>
                  <a:ext uri="{0D108BD9-81ED-4DB2-BD59-A6C34878D82A}">
                    <a16:rowId xmlns:a16="http://schemas.microsoft.com/office/drawing/2014/main" val="3874406281"/>
                  </a:ext>
                </a:extLst>
              </a:tr>
              <a:tr h="521102">
                <a:tc vMerge="1">
                  <a:txBody>
                    <a:bodyPr/>
                    <a:lstStyle/>
                    <a:p>
                      <a:endParaRPr lang="fr-FR"/>
                    </a:p>
                  </a:txBody>
                  <a:tcPr/>
                </a:tc>
                <a:tc>
                  <a:txBody>
                    <a:bodyPr/>
                    <a:lstStyle/>
                    <a:p>
                      <a:pPr algn="ctr" fontAlgn="ctr"/>
                      <a:r>
                        <a:rPr lang="fr-FR" sz="500" b="0" i="0" u="none" strike="noStrike">
                          <a:solidFill>
                            <a:srgbClr val="000000"/>
                          </a:solidFill>
                          <a:effectLst/>
                          <a:latin typeface="Verdana" panose="020B0604030504040204" pitchFamily="34" charset="0"/>
                        </a:rPr>
                        <a:t>Bought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dirty="0" err="1">
                          <a:solidFill>
                            <a:srgbClr val="000000"/>
                          </a:solidFill>
                          <a:effectLst/>
                          <a:latin typeface="Verdana" panose="020B0604030504040204" pitchFamily="34" charset="0"/>
                        </a:rPr>
                        <a:t>Sold</a:t>
                      </a:r>
                      <a:endParaRPr lang="fr-FR" sz="5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3798880610"/>
                  </a:ext>
                </a:extLst>
              </a:tr>
            </a:tbl>
          </a:graphicData>
        </a:graphic>
      </p:graphicFrame>
      <p:graphicFrame>
        <p:nvGraphicFramePr>
          <p:cNvPr id="9" name="Table 8">
            <a:extLst>
              <a:ext uri="{FF2B5EF4-FFF2-40B4-BE49-F238E27FC236}">
                <a16:creationId xmlns:a16="http://schemas.microsoft.com/office/drawing/2014/main" id="{A03CB69C-838E-93A2-B028-A8D563FFB75F}"/>
              </a:ext>
            </a:extLst>
          </p:cNvPr>
          <p:cNvGraphicFramePr>
            <a:graphicFrameLocks noGrp="1"/>
          </p:cNvGraphicFramePr>
          <p:nvPr/>
        </p:nvGraphicFramePr>
        <p:xfrm>
          <a:off x="388542" y="2864859"/>
          <a:ext cx="11738705" cy="1134001"/>
        </p:xfrm>
        <a:graphic>
          <a:graphicData uri="http://schemas.openxmlformats.org/drawingml/2006/table">
            <a:tbl>
              <a:tblPr/>
              <a:tblGrid>
                <a:gridCol w="1205590">
                  <a:extLst>
                    <a:ext uri="{9D8B030D-6E8A-4147-A177-3AD203B41FA5}">
                      <a16:colId xmlns:a16="http://schemas.microsoft.com/office/drawing/2014/main" val="763455507"/>
                    </a:ext>
                  </a:extLst>
                </a:gridCol>
                <a:gridCol w="688908">
                  <a:extLst>
                    <a:ext uri="{9D8B030D-6E8A-4147-A177-3AD203B41FA5}">
                      <a16:colId xmlns:a16="http://schemas.microsoft.com/office/drawing/2014/main" val="4142265549"/>
                    </a:ext>
                  </a:extLst>
                </a:gridCol>
                <a:gridCol w="688908">
                  <a:extLst>
                    <a:ext uri="{9D8B030D-6E8A-4147-A177-3AD203B41FA5}">
                      <a16:colId xmlns:a16="http://schemas.microsoft.com/office/drawing/2014/main" val="249935271"/>
                    </a:ext>
                  </a:extLst>
                </a:gridCol>
                <a:gridCol w="1366333">
                  <a:extLst>
                    <a:ext uri="{9D8B030D-6E8A-4147-A177-3AD203B41FA5}">
                      <a16:colId xmlns:a16="http://schemas.microsoft.com/office/drawing/2014/main" val="1734597342"/>
                    </a:ext>
                  </a:extLst>
                </a:gridCol>
                <a:gridCol w="1458189">
                  <a:extLst>
                    <a:ext uri="{9D8B030D-6E8A-4147-A177-3AD203B41FA5}">
                      <a16:colId xmlns:a16="http://schemas.microsoft.com/office/drawing/2014/main" val="939551229"/>
                    </a:ext>
                  </a:extLst>
                </a:gridCol>
                <a:gridCol w="688908">
                  <a:extLst>
                    <a:ext uri="{9D8B030D-6E8A-4147-A177-3AD203B41FA5}">
                      <a16:colId xmlns:a16="http://schemas.microsoft.com/office/drawing/2014/main" val="1670119838"/>
                    </a:ext>
                  </a:extLst>
                </a:gridCol>
                <a:gridCol w="1159661">
                  <a:extLst>
                    <a:ext uri="{9D8B030D-6E8A-4147-A177-3AD203B41FA5}">
                      <a16:colId xmlns:a16="http://schemas.microsoft.com/office/drawing/2014/main" val="1920631572"/>
                    </a:ext>
                  </a:extLst>
                </a:gridCol>
                <a:gridCol w="688908">
                  <a:extLst>
                    <a:ext uri="{9D8B030D-6E8A-4147-A177-3AD203B41FA5}">
                      <a16:colId xmlns:a16="http://schemas.microsoft.com/office/drawing/2014/main" val="1707274470"/>
                    </a:ext>
                  </a:extLst>
                </a:gridCol>
                <a:gridCol w="688908">
                  <a:extLst>
                    <a:ext uri="{9D8B030D-6E8A-4147-A177-3AD203B41FA5}">
                      <a16:colId xmlns:a16="http://schemas.microsoft.com/office/drawing/2014/main" val="3440454056"/>
                    </a:ext>
                  </a:extLst>
                </a:gridCol>
                <a:gridCol w="688908">
                  <a:extLst>
                    <a:ext uri="{9D8B030D-6E8A-4147-A177-3AD203B41FA5}">
                      <a16:colId xmlns:a16="http://schemas.microsoft.com/office/drawing/2014/main" val="4063702387"/>
                    </a:ext>
                  </a:extLst>
                </a:gridCol>
                <a:gridCol w="688908">
                  <a:extLst>
                    <a:ext uri="{9D8B030D-6E8A-4147-A177-3AD203B41FA5}">
                      <a16:colId xmlns:a16="http://schemas.microsoft.com/office/drawing/2014/main" val="1645696669"/>
                    </a:ext>
                  </a:extLst>
                </a:gridCol>
                <a:gridCol w="688908">
                  <a:extLst>
                    <a:ext uri="{9D8B030D-6E8A-4147-A177-3AD203B41FA5}">
                      <a16:colId xmlns:a16="http://schemas.microsoft.com/office/drawing/2014/main" val="2568580646"/>
                    </a:ext>
                  </a:extLst>
                </a:gridCol>
                <a:gridCol w="688908">
                  <a:extLst>
                    <a:ext uri="{9D8B030D-6E8A-4147-A177-3AD203B41FA5}">
                      <a16:colId xmlns:a16="http://schemas.microsoft.com/office/drawing/2014/main" val="2182667554"/>
                    </a:ext>
                  </a:extLst>
                </a:gridCol>
                <a:gridCol w="348760">
                  <a:extLst>
                    <a:ext uri="{9D8B030D-6E8A-4147-A177-3AD203B41FA5}">
                      <a16:colId xmlns:a16="http://schemas.microsoft.com/office/drawing/2014/main" val="2748516250"/>
                    </a:ext>
                  </a:extLst>
                </a:gridCol>
              </a:tblGrid>
              <a:tr h="124382">
                <a:tc gridSpan="14">
                  <a:txBody>
                    <a:bodyPr/>
                    <a:lstStyle/>
                    <a:p>
                      <a:pPr algn="ctr" fontAlgn="ctr"/>
                      <a:r>
                        <a:rPr lang="fr-FR" sz="800" b="0" i="0" u="none" strike="noStrike" dirty="0" err="1">
                          <a:solidFill>
                            <a:srgbClr val="000000"/>
                          </a:solidFill>
                          <a:effectLst/>
                          <a:latin typeface="Verdana" panose="020B0604030504040204" pitchFamily="34" charset="0"/>
                        </a:rPr>
                        <a:t>Floating</a:t>
                      </a:r>
                      <a:r>
                        <a:rPr lang="fr-FR" sz="800" b="0" i="0" u="none" strike="noStrike" dirty="0">
                          <a:solidFill>
                            <a:srgbClr val="000000"/>
                          </a:solidFill>
                          <a:effectLst/>
                          <a:latin typeface="Verdana" panose="020B0604030504040204" pitchFamily="34" charset="0"/>
                        </a:rPr>
                        <a:t> rate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162562927"/>
                  </a:ext>
                </a:extLst>
              </a:tr>
              <a:tr h="124382">
                <a:tc rowSpan="3">
                  <a:txBody>
                    <a:bodyPr/>
                    <a:lstStyle/>
                    <a:p>
                      <a:pPr algn="ctr" fontAlgn="ctr"/>
                      <a:r>
                        <a:rPr lang="fr-FR" sz="800" b="0" i="0" u="none" strike="noStrike" dirty="0" err="1">
                          <a:solidFill>
                            <a:srgbClr val="000000"/>
                          </a:solidFill>
                          <a:effectLst/>
                          <a:latin typeface="Verdana" panose="020B0604030504040204" pitchFamily="34" charset="0"/>
                        </a:rPr>
                        <a:t>Notional</a:t>
                      </a:r>
                      <a:r>
                        <a:rPr lang="fr-FR" sz="800" b="0" i="0" u="none" strike="noStrike" dirty="0">
                          <a:solidFill>
                            <a:srgbClr val="000000"/>
                          </a:solidFill>
                          <a:effectLst/>
                          <a:latin typeface="Verdana" panose="020B0604030504040204" pitchFamily="34" charset="0"/>
                        </a:rPr>
                        <a:t> </a:t>
                      </a:r>
                      <a:r>
                        <a:rPr lang="fr-FR" sz="800" b="0" i="0" u="none" strike="noStrike" dirty="0" err="1">
                          <a:solidFill>
                            <a:srgbClr val="000000"/>
                          </a:solidFill>
                          <a:effectLst/>
                          <a:latin typeface="Verdana" panose="020B0604030504040204" pitchFamily="34" charset="0"/>
                        </a:rPr>
                        <a:t>amount</a:t>
                      </a:r>
                      <a:endParaRPr lang="fr-FR" sz="800" b="0" i="0" u="none" strike="noStrike" dirty="0">
                        <a:solidFill>
                          <a:srgbClr val="000000"/>
                        </a:solidFill>
                        <a:effectLst/>
                        <a:latin typeface="Verdana" panose="020B0604030504040204" pitchFamily="34" charset="0"/>
                      </a:endParaRP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0"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0"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0" i="0" u="none" strike="noStrike">
                          <a:solidFill>
                            <a:srgbClr val="000000"/>
                          </a:solidFill>
                          <a:effectLst/>
                          <a:latin typeface="Verdana" panose="020B0604030504040204" pitchFamily="34" charset="0"/>
                        </a:rPr>
                        <a:t> </a:t>
                      </a:r>
                    </a:p>
                  </a:txBody>
                  <a:tcPr marL="0" marR="0" marT="0" marB="0" anchor="ctr">
                    <a:lnL>
                      <a:noFill/>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3">
                  <a:txBody>
                    <a:bodyPr/>
                    <a:lstStyle/>
                    <a:p>
                      <a:pPr algn="ctr" fontAlgn="ctr"/>
                      <a:r>
                        <a:rPr lang="fr-FR" sz="800" b="0" i="0" u="none" strike="noStrike">
                          <a:solidFill>
                            <a:srgbClr val="000000"/>
                          </a:solidFill>
                          <a:effectLst/>
                          <a:latin typeface="Verdana" panose="020B0604030504040204" pitchFamily="34" charset="0"/>
                        </a:rPr>
                        <a:t>Weighted average yield</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3">
                  <a:txBody>
                    <a:bodyPr/>
                    <a:lstStyle/>
                    <a:p>
                      <a:pPr algn="ctr" fontAlgn="ctr"/>
                      <a:r>
                        <a:rPr lang="fr-FR" sz="800" b="0" i="0" u="none" strike="noStrike">
                          <a:solidFill>
                            <a:srgbClr val="000000"/>
                          </a:solidFill>
                          <a:effectLst/>
                          <a:latin typeface="Verdana" panose="020B0604030504040204" pitchFamily="34" charset="0"/>
                        </a:rPr>
                        <a:t>Weighted average maturity (contractual)</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gridSpan="8">
                  <a:txBody>
                    <a:bodyPr/>
                    <a:lstStyle/>
                    <a:p>
                      <a:pPr algn="ctr" fontAlgn="b"/>
                      <a:r>
                        <a:rPr lang="en-US" sz="800" b="1" i="0" u="none" strike="noStrike">
                          <a:solidFill>
                            <a:srgbClr val="000000"/>
                          </a:solidFill>
                          <a:effectLst/>
                          <a:latin typeface="Verdana" panose="020B0604030504040204" pitchFamily="34" charset="0"/>
                        </a:rPr>
                        <a:t>Repricing schedule for all notional repricing cash flows</a:t>
                      </a:r>
                    </a:p>
                  </a:txBody>
                  <a:tcPr marL="0" marR="0" marT="0"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651118527"/>
                  </a:ext>
                </a:extLst>
              </a:tr>
              <a:tr h="373146">
                <a:tc vMerge="1">
                  <a:txBody>
                    <a:bodyPr/>
                    <a:lstStyle/>
                    <a:p>
                      <a:endParaRPr lang="fr-FR"/>
                    </a:p>
                  </a:txBody>
                  <a:tcPr/>
                </a:tc>
                <a:tc gridSpan="2">
                  <a:txBody>
                    <a:bodyPr/>
                    <a:lstStyle/>
                    <a:p>
                      <a:pPr algn="ctr" fontAlgn="ctr"/>
                      <a:r>
                        <a:rPr lang="en-US" sz="800" b="0" i="0" u="none" strike="noStrike" dirty="0">
                          <a:solidFill>
                            <a:srgbClr val="000000"/>
                          </a:solidFill>
                          <a:effectLst/>
                          <a:latin typeface="Verdana" panose="020B0604030504040204" pitchFamily="34" charset="0"/>
                        </a:rPr>
                        <a:t>% With embedded or </a:t>
                      </a:r>
                      <a:r>
                        <a:rPr lang="en-US" sz="800" b="0" i="0" u="none" strike="noStrike" dirty="0" err="1">
                          <a:solidFill>
                            <a:srgbClr val="000000"/>
                          </a:solidFill>
                          <a:effectLst/>
                          <a:latin typeface="Verdana" panose="020B0604030504040204" pitchFamily="34" charset="0"/>
                        </a:rPr>
                        <a:t>explicity</a:t>
                      </a:r>
                      <a:r>
                        <a:rPr lang="en-US" sz="800" b="0" i="0" u="none" strike="noStrike" dirty="0">
                          <a:solidFill>
                            <a:srgbClr val="000000"/>
                          </a:solidFill>
                          <a:effectLst/>
                          <a:latin typeface="Verdana" panose="020B0604030504040204" pitchFamily="34" charset="0"/>
                        </a:rPr>
                        <a:t> automatic optionality</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rowSpan="2">
                  <a:txBody>
                    <a:bodyPr/>
                    <a:lstStyle/>
                    <a:p>
                      <a:pPr algn="ctr" fontAlgn="ctr"/>
                      <a:r>
                        <a:rPr lang="fr-FR" sz="800" b="0" i="0" u="none" strike="noStrike" dirty="0">
                          <a:solidFill>
                            <a:srgbClr val="000000"/>
                          </a:solidFill>
                          <a:effectLst/>
                          <a:latin typeface="Verdana" panose="020B0604030504040204" pitchFamily="34" charset="0"/>
                        </a:rPr>
                        <a:t>% </a:t>
                      </a:r>
                      <a:r>
                        <a:rPr lang="fr-FR" sz="800" b="0" i="0" u="none" strike="noStrike" dirty="0" err="1">
                          <a:solidFill>
                            <a:srgbClr val="000000"/>
                          </a:solidFill>
                          <a:effectLst/>
                          <a:latin typeface="Verdana" panose="020B0604030504040204" pitchFamily="34" charset="0"/>
                        </a:rPr>
                        <a:t>Subject</a:t>
                      </a:r>
                      <a:r>
                        <a:rPr lang="fr-FR" sz="800" b="0" i="0" u="none" strike="noStrike" dirty="0">
                          <a:solidFill>
                            <a:srgbClr val="000000"/>
                          </a:solidFill>
                          <a:effectLst/>
                          <a:latin typeface="Verdana" panose="020B0604030504040204" pitchFamily="34" charset="0"/>
                        </a:rPr>
                        <a:t> to </a:t>
                      </a:r>
                      <a:r>
                        <a:rPr lang="fr-FR" sz="800" b="0" i="0" u="none" strike="noStrike" dirty="0" err="1">
                          <a:solidFill>
                            <a:srgbClr val="000000"/>
                          </a:solidFill>
                          <a:effectLst/>
                          <a:latin typeface="Verdana" panose="020B0604030504040204" pitchFamily="34" charset="0"/>
                        </a:rPr>
                        <a:t>behavioural</a:t>
                      </a:r>
                      <a:r>
                        <a:rPr lang="fr-FR" sz="800" b="0" i="0" u="none" strike="noStrike" dirty="0">
                          <a:solidFill>
                            <a:srgbClr val="000000"/>
                          </a:solidFill>
                          <a:effectLst/>
                          <a:latin typeface="Verdana" panose="020B0604030504040204" pitchFamily="34" charset="0"/>
                        </a:rPr>
                        <a:t> </a:t>
                      </a:r>
                      <a:r>
                        <a:rPr lang="fr-FR" sz="800" b="0" i="0" u="none" strike="noStrike" dirty="0" err="1">
                          <a:solidFill>
                            <a:srgbClr val="000000"/>
                          </a:solidFill>
                          <a:effectLst/>
                          <a:latin typeface="Verdana" panose="020B0604030504040204" pitchFamily="34" charset="0"/>
                        </a:rPr>
                        <a:t>modelling</a:t>
                      </a:r>
                      <a:endParaRPr lang="fr-FR" sz="8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rowSpan="2">
                  <a:txBody>
                    <a:bodyPr/>
                    <a:lstStyle/>
                    <a:p>
                      <a:pPr algn="ctr" fontAlgn="ctr"/>
                      <a:r>
                        <a:rPr lang="fr-FR" sz="800" b="0" i="0" u="none" strike="noStrike">
                          <a:solidFill>
                            <a:srgbClr val="000000"/>
                          </a:solidFill>
                          <a:effectLst/>
                          <a:latin typeface="Verdana" panose="020B0604030504040204" pitchFamily="34" charset="0"/>
                        </a:rPr>
                        <a:t>Overnight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a:solidFill>
                            <a:srgbClr val="000000"/>
                          </a:solidFill>
                          <a:effectLst/>
                          <a:latin typeface="Verdana" panose="020B0604030504040204" pitchFamily="34" charset="0"/>
                        </a:rPr>
                        <a:t>Greater than overnight up to 1 month</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dirty="0">
                          <a:solidFill>
                            <a:srgbClr val="000000"/>
                          </a:solidFill>
                          <a:effectLst/>
                          <a:latin typeface="Verdana" panose="020B0604030504040204" pitchFamily="34" charset="0"/>
                        </a:rPr>
                        <a:t>Greater than 1 month up to 3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dirty="0">
                          <a:solidFill>
                            <a:srgbClr val="000000"/>
                          </a:solidFill>
                          <a:effectLst/>
                          <a:latin typeface="Verdana" panose="020B0604030504040204" pitchFamily="34" charset="0"/>
                        </a:rPr>
                        <a:t>Greater than 3 months up to 6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a:solidFill>
                            <a:srgbClr val="000000"/>
                          </a:solidFill>
                          <a:effectLst/>
                          <a:latin typeface="Verdana" panose="020B0604030504040204" pitchFamily="34" charset="0"/>
                        </a:rPr>
                        <a:t>Greater than 6 months up to 9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a:solidFill>
                            <a:srgbClr val="000000"/>
                          </a:solidFill>
                          <a:effectLst/>
                          <a:latin typeface="Verdana" panose="020B0604030504040204" pitchFamily="34" charset="0"/>
                        </a:rPr>
                        <a:t>Greater than 9 months up to 12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a:solidFill>
                            <a:srgbClr val="000000"/>
                          </a:solidFill>
                          <a:effectLst/>
                          <a:latin typeface="Verdana" panose="020B0604030504040204" pitchFamily="34" charset="0"/>
                        </a:rPr>
                        <a:t>Greater than 12 months up to 1.5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a:solidFill>
                            <a:srgbClr val="000000"/>
                          </a:solidFill>
                          <a:effectLst/>
                          <a:latin typeface="Verdana" panose="020B0604030504040204" pitchFamily="34" charset="0"/>
                        </a:rPr>
                        <a:t>Greater than 1.5 years up to 2 years</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72128067"/>
                  </a:ext>
                </a:extLst>
              </a:tr>
              <a:tr h="512091">
                <a:tc vMerge="1">
                  <a:txBody>
                    <a:bodyPr/>
                    <a:lstStyle/>
                    <a:p>
                      <a:endParaRPr lang="fr-FR"/>
                    </a:p>
                  </a:txBody>
                  <a:tcPr/>
                </a:tc>
                <a:tc>
                  <a:txBody>
                    <a:bodyPr/>
                    <a:lstStyle/>
                    <a:p>
                      <a:pPr algn="ctr" fontAlgn="ctr"/>
                      <a:r>
                        <a:rPr lang="fr-FR" sz="800" b="0" i="0" u="none" strike="noStrike" dirty="0" err="1">
                          <a:solidFill>
                            <a:srgbClr val="000000"/>
                          </a:solidFill>
                          <a:effectLst/>
                          <a:latin typeface="Verdana" panose="020B0604030504040204" pitchFamily="34" charset="0"/>
                        </a:rPr>
                        <a:t>Bought</a:t>
                      </a:r>
                      <a:endParaRPr lang="fr-FR" sz="8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800" b="0" i="0" u="none" strike="noStrike" dirty="0" err="1">
                          <a:solidFill>
                            <a:srgbClr val="000000"/>
                          </a:solidFill>
                          <a:effectLst/>
                          <a:latin typeface="Verdana" panose="020B0604030504040204" pitchFamily="34" charset="0"/>
                        </a:rPr>
                        <a:t>Sold</a:t>
                      </a:r>
                      <a:endParaRPr lang="fr-FR" sz="8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322237835"/>
                  </a:ext>
                </a:extLst>
              </a:tr>
            </a:tbl>
          </a:graphicData>
        </a:graphic>
      </p:graphicFrame>
      <p:sp>
        <p:nvSpPr>
          <p:cNvPr id="2" name="Espace réservé du texte 15">
            <a:extLst>
              <a:ext uri="{FF2B5EF4-FFF2-40B4-BE49-F238E27FC236}">
                <a16:creationId xmlns:a16="http://schemas.microsoft.com/office/drawing/2014/main" id="{DFF24CCD-2BBA-9853-3996-3CC019A6B518}"/>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126784992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c- Template </a:t>
            </a:r>
            <a:r>
              <a:rPr lang="fr-FR" sz="2000" i="1" dirty="0">
                <a:highlight>
                  <a:srgbClr val="FF0000"/>
                </a:highlight>
                <a:latin typeface="Calibri (body)"/>
                <a:cs typeface="Calibri"/>
              </a:rPr>
              <a:t>J07</a:t>
            </a:r>
            <a:r>
              <a:rPr lang="fr-FR" sz="2000" i="1" dirty="0">
                <a:latin typeface="Calibri (body)"/>
                <a:cs typeface="Calibri"/>
              </a:rPr>
              <a:t> – </a:t>
            </a:r>
            <a:r>
              <a:rPr lang="fr-FR" sz="2000" i="1" dirty="0" err="1">
                <a:latin typeface="Calibri (body)"/>
                <a:cs typeface="Calibri"/>
              </a:rPr>
              <a:t>Repricing</a:t>
            </a:r>
            <a:r>
              <a:rPr lang="fr-FR" sz="2000" i="1" dirty="0">
                <a:latin typeface="Calibri (body)"/>
                <a:cs typeface="Calibri"/>
              </a:rPr>
              <a:t> cash-flows</a:t>
            </a:r>
            <a:endParaRPr lang="fr-FR" dirty="0">
              <a:latin typeface="Calibri"/>
              <a:cs typeface="Calibri"/>
            </a:endParaRP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7" name="ZoneTexte 6">
            <a:extLst>
              <a:ext uri="{FF2B5EF4-FFF2-40B4-BE49-F238E27FC236}">
                <a16:creationId xmlns:a16="http://schemas.microsoft.com/office/drawing/2014/main" id="{719920D1-78BE-017C-0359-4E178C901634}"/>
              </a:ext>
            </a:extLst>
          </p:cNvPr>
          <p:cNvSpPr txBox="1"/>
          <p:nvPr/>
        </p:nvSpPr>
        <p:spPr>
          <a:xfrm>
            <a:off x="6096000" y="1659285"/>
            <a:ext cx="5399315" cy="3539430"/>
          </a:xfrm>
          <a:prstGeom prst="rect">
            <a:avLst/>
          </a:prstGeom>
          <a:noFill/>
          <a:ln>
            <a:solidFill>
              <a:schemeClr val="tx1"/>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Le Template J07 a pour objectif de renseigner </a:t>
            </a:r>
            <a:r>
              <a:rPr lang="fr-FR" b="1" dirty="0">
                <a:solidFill>
                  <a:schemeClr val="tx1">
                    <a:lumMod val="50000"/>
                  </a:schemeClr>
                </a:solidFill>
                <a:latin typeface="Calibri (body)"/>
              </a:rPr>
              <a:t>les flux non actualisés </a:t>
            </a:r>
            <a:r>
              <a:rPr lang="fr-FR" dirty="0">
                <a:solidFill>
                  <a:schemeClr val="tx1">
                    <a:lumMod val="50000"/>
                  </a:schemeClr>
                </a:solidFill>
                <a:latin typeface="Calibri (body)"/>
              </a:rPr>
              <a:t>utilisés pour le calcul de l’EVE </a:t>
            </a:r>
            <a:r>
              <a:rPr lang="fr-FR" b="1" dirty="0">
                <a:solidFill>
                  <a:schemeClr val="tx1">
                    <a:lumMod val="50000"/>
                  </a:schemeClr>
                </a:solidFill>
                <a:latin typeface="Calibri (body)"/>
              </a:rPr>
              <a:t>sous deux modélisations différentes :</a:t>
            </a:r>
            <a:r>
              <a:rPr lang="fr-FR" dirty="0">
                <a:solidFill>
                  <a:schemeClr val="tx1">
                    <a:lumMod val="50000"/>
                  </a:schemeClr>
                </a:solidFill>
                <a:latin typeface="Calibri (body)"/>
              </a:rPr>
              <a:t> la modélisation contractuelle et la modélisation comportementale, en distinguant les natures de taux (fixe et révisable).</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Les lignes à reporter diffèrent du Template J04, beaucoup plus simplifié.</a:t>
            </a:r>
          </a:p>
          <a:p>
            <a:r>
              <a:rPr lang="fr-FR" dirty="0">
                <a:solidFill>
                  <a:schemeClr val="tx1">
                    <a:lumMod val="50000"/>
                  </a:schemeClr>
                </a:solidFill>
                <a:latin typeface="Calibri (body)"/>
              </a:rPr>
              <a:t>La granularité de ce Template est plus fine. La décomposition par typologie d’encours à l’actif et au passif y est intégrée.</a:t>
            </a:r>
          </a:p>
          <a:p>
            <a:endParaRPr lang="fr-FR" dirty="0">
              <a:solidFill>
                <a:schemeClr val="tx1">
                  <a:lumMod val="50000"/>
                </a:schemeClr>
              </a:solidFill>
              <a:latin typeface="Calibri (body)"/>
            </a:endParaRPr>
          </a:p>
          <a:p>
            <a:r>
              <a:rPr lang="fr-FR" sz="1400" dirty="0">
                <a:solidFill>
                  <a:schemeClr val="tx1">
                    <a:lumMod val="50000"/>
                  </a:schemeClr>
                </a:solidFill>
                <a:latin typeface="Calibri (body)"/>
              </a:rPr>
              <a:t>Il permet également de </a:t>
            </a:r>
            <a:r>
              <a:rPr lang="fr-FR" sz="1400" dirty="0">
                <a:solidFill>
                  <a:schemeClr val="tx1">
                    <a:lumMod val="50000"/>
                  </a:schemeClr>
                </a:solidFill>
                <a:latin typeface="Calibri (body)"/>
                <a:cs typeface="Arial" panose="020B0604020202020204" pitchFamily="34" charset="0"/>
              </a:rPr>
              <a:t>détailler</a:t>
            </a:r>
            <a:r>
              <a:rPr lang="fr-FR" sz="1400" dirty="0">
                <a:solidFill>
                  <a:schemeClr val="tx1">
                    <a:lumMod val="50000"/>
                  </a:schemeClr>
                </a:solidFill>
                <a:latin typeface="Calibri (body)"/>
              </a:rPr>
              <a:t> l’écoulement du bilan par typologie d’encours comprenant les flux de capital et les flux d’intérêts. </a:t>
            </a:r>
          </a:p>
          <a:p>
            <a:endParaRPr lang="fr-FR" b="1" dirty="0">
              <a:solidFill>
                <a:schemeClr val="tx1">
                  <a:lumMod val="50000"/>
                </a:schemeClr>
              </a:solidFill>
              <a:latin typeface="Calibri (body)"/>
            </a:endParaRPr>
          </a:p>
          <a:p>
            <a:r>
              <a:rPr lang="fr-FR" sz="1400" dirty="0">
                <a:solidFill>
                  <a:schemeClr val="tx1">
                    <a:lumMod val="50000"/>
                  </a:schemeClr>
                </a:solidFill>
                <a:latin typeface="Calibri (body)"/>
              </a:rPr>
              <a:t>Ce Template est également à compléter par devise significative.</a:t>
            </a:r>
          </a:p>
          <a:p>
            <a:endParaRPr lang="fr-FR" dirty="0">
              <a:solidFill>
                <a:schemeClr val="tx1">
                  <a:lumMod val="50000"/>
                </a:schemeClr>
              </a:solidFill>
              <a:latin typeface="Calibri (body)"/>
            </a:endParaRPr>
          </a:p>
          <a:p>
            <a:endParaRPr lang="fr-FR" sz="1400" dirty="0">
              <a:solidFill>
                <a:schemeClr val="tx1">
                  <a:lumMod val="50000"/>
                </a:schemeClr>
              </a:solidFill>
              <a:latin typeface="Calibri (body)"/>
            </a:endParaRPr>
          </a:p>
        </p:txBody>
      </p:sp>
      <p:graphicFrame>
        <p:nvGraphicFramePr>
          <p:cNvPr id="2" name="Table 1">
            <a:extLst>
              <a:ext uri="{FF2B5EF4-FFF2-40B4-BE49-F238E27FC236}">
                <a16:creationId xmlns:a16="http://schemas.microsoft.com/office/drawing/2014/main" id="{FDAEB20C-3B5A-594A-6370-A47EAAD37FCC}"/>
              </a:ext>
            </a:extLst>
          </p:cNvPr>
          <p:cNvGraphicFramePr>
            <a:graphicFrameLocks noGrp="1"/>
          </p:cNvGraphicFramePr>
          <p:nvPr/>
        </p:nvGraphicFramePr>
        <p:xfrm>
          <a:off x="687197" y="1105144"/>
          <a:ext cx="5050412" cy="5066065"/>
        </p:xfrm>
        <a:graphic>
          <a:graphicData uri="http://schemas.openxmlformats.org/drawingml/2006/table">
            <a:tbl>
              <a:tblPr/>
              <a:tblGrid>
                <a:gridCol w="4682365">
                  <a:extLst>
                    <a:ext uri="{9D8B030D-6E8A-4147-A177-3AD203B41FA5}">
                      <a16:colId xmlns:a16="http://schemas.microsoft.com/office/drawing/2014/main" val="4263379878"/>
                    </a:ext>
                  </a:extLst>
                </a:gridCol>
                <a:gridCol w="368047">
                  <a:extLst>
                    <a:ext uri="{9D8B030D-6E8A-4147-A177-3AD203B41FA5}">
                      <a16:colId xmlns:a16="http://schemas.microsoft.com/office/drawing/2014/main" val="3405161272"/>
                    </a:ext>
                  </a:extLst>
                </a:gridCol>
              </a:tblGrid>
              <a:tr h="128003">
                <a:tc>
                  <a:txBody>
                    <a:bodyPr/>
                    <a:lstStyle/>
                    <a:p>
                      <a:pPr algn="l" fontAlgn="ctr"/>
                      <a:r>
                        <a:rPr lang="fr-FR" sz="700" b="1" i="0" u="none" strike="noStrike">
                          <a:solidFill>
                            <a:srgbClr val="000000"/>
                          </a:solidFill>
                          <a:effectLst/>
                          <a:latin typeface="Verdana" panose="020B0604030504040204" pitchFamily="34" charset="0"/>
                        </a:rPr>
                        <a:t>TOTAL ASSETS</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4312825"/>
                  </a:ext>
                </a:extLst>
              </a:tr>
              <a:tr h="124489">
                <a:tc>
                  <a:txBody>
                    <a:bodyPr/>
                    <a:lstStyle/>
                    <a:p>
                      <a:pPr algn="l" fontAlgn="ctr"/>
                      <a:r>
                        <a:rPr lang="fr-FR" sz="700" b="1" i="0" u="none" strike="noStrike">
                          <a:solidFill>
                            <a:srgbClr val="000000"/>
                          </a:solidFill>
                          <a:effectLst/>
                          <a:latin typeface="Verdana" panose="020B0604030504040204" pitchFamily="34" charset="0"/>
                        </a:rPr>
                        <a:t>Central bank</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40723891"/>
                  </a:ext>
                </a:extLst>
              </a:tr>
              <a:tr h="124489">
                <a:tc>
                  <a:txBody>
                    <a:bodyPr/>
                    <a:lstStyle/>
                    <a:p>
                      <a:pPr algn="l" fontAlgn="ctr"/>
                      <a:r>
                        <a:rPr lang="fr-FR" sz="700" b="1" i="0" u="none" strike="noStrike">
                          <a:solidFill>
                            <a:srgbClr val="000000"/>
                          </a:solidFill>
                          <a:effectLst/>
                          <a:latin typeface="Verdana" panose="020B0604030504040204" pitchFamily="34" charset="0"/>
                        </a:rPr>
                        <a:t>Interbank</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053757022"/>
                  </a:ext>
                </a:extLst>
              </a:tr>
              <a:tr h="124489">
                <a:tc>
                  <a:txBody>
                    <a:bodyPr/>
                    <a:lstStyle/>
                    <a:p>
                      <a:pPr algn="l" fontAlgn="ctr"/>
                      <a:r>
                        <a:rPr lang="fr-FR" sz="700" b="1" i="0" u="none" strike="noStrike">
                          <a:solidFill>
                            <a:srgbClr val="000000"/>
                          </a:solidFill>
                          <a:effectLst/>
                          <a:latin typeface="Verdana" panose="020B0604030504040204" pitchFamily="34" charset="0"/>
                        </a:rPr>
                        <a:t>Loans and advances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614599413"/>
                  </a:ext>
                </a:extLst>
              </a:tr>
              <a:tr h="124489">
                <a:tc>
                  <a:txBody>
                    <a:bodyPr/>
                    <a:lstStyle/>
                    <a:p>
                      <a:pPr algn="l" fontAlgn="ctr"/>
                      <a:r>
                        <a:rPr lang="fr-FR" sz="700" b="1" i="0" u="none" strike="noStrike">
                          <a:solidFill>
                            <a:srgbClr val="000000"/>
                          </a:solidFill>
                          <a:effectLst/>
                          <a:latin typeface="Verdana" panose="020B0604030504040204" pitchFamily="34" charset="0"/>
                        </a:rPr>
                        <a:t>Debt securities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731663662"/>
                  </a:ext>
                </a:extLst>
              </a:tr>
              <a:tr h="124489">
                <a:tc>
                  <a:txBody>
                    <a:bodyPr/>
                    <a:lstStyle/>
                    <a:p>
                      <a:pPr algn="l" fontAlgn="ctr"/>
                      <a:r>
                        <a:rPr lang="fr-FR" sz="700" b="1" i="0" u="none" strike="noStrike">
                          <a:solidFill>
                            <a:srgbClr val="000000"/>
                          </a:solidFill>
                          <a:effectLst/>
                          <a:latin typeface="Verdana" panose="020B0604030504040204" pitchFamily="34" charset="0"/>
                        </a:rPr>
                        <a:t>Derivatives hedging assets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399059482"/>
                  </a:ext>
                </a:extLst>
              </a:tr>
              <a:tr h="143062">
                <a:tc>
                  <a:txBody>
                    <a:bodyPr/>
                    <a:lstStyle/>
                    <a:p>
                      <a:pPr algn="l" fontAlgn="ctr"/>
                      <a:r>
                        <a:rPr lang="fr-FR" sz="700" b="1" i="0" u="none" strike="noStrike">
                          <a:solidFill>
                            <a:srgbClr val="000000"/>
                          </a:solidFill>
                          <a:effectLst/>
                          <a:latin typeface="Verdana" panose="020B0604030504040204" pitchFamily="34" charset="0"/>
                        </a:rPr>
                        <a:t>Other</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165868546"/>
                  </a:ext>
                </a:extLst>
              </a:tr>
              <a:tr h="124489">
                <a:tc>
                  <a:txBody>
                    <a:bodyPr/>
                    <a:lstStyle/>
                    <a:p>
                      <a:pPr algn="l" fontAlgn="ctr"/>
                      <a:r>
                        <a:rPr lang="en-US" sz="700" b="1" i="0" u="none" strike="noStrike">
                          <a:solidFill>
                            <a:srgbClr val="000000"/>
                          </a:solidFill>
                          <a:effectLst/>
                          <a:latin typeface="Verdana" panose="020B0604030504040204" pitchFamily="34" charset="0"/>
                        </a:rPr>
                        <a:t>Off-balance sheet assets: contingent assets</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15246772"/>
                  </a:ext>
                </a:extLst>
              </a:tr>
              <a:tr h="124489">
                <a:tc>
                  <a:txBody>
                    <a:bodyPr/>
                    <a:lstStyle/>
                    <a:p>
                      <a:pPr algn="l" fontAlgn="ctr"/>
                      <a:r>
                        <a:rPr lang="fr-FR" sz="700" b="1" i="0" u="none" strike="noStrike">
                          <a:solidFill>
                            <a:srgbClr val="000000"/>
                          </a:solidFill>
                          <a:effectLst/>
                          <a:latin typeface="Verdana" panose="020B0604030504040204" pitchFamily="34" charset="0"/>
                        </a:rPr>
                        <a:t>TOTAL LIABILITIES</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00225102"/>
                  </a:ext>
                </a:extLst>
              </a:tr>
              <a:tr h="124489">
                <a:tc>
                  <a:txBody>
                    <a:bodyPr/>
                    <a:lstStyle/>
                    <a:p>
                      <a:pPr algn="l" fontAlgn="ctr"/>
                      <a:r>
                        <a:rPr lang="fr-FR" sz="700" b="1" i="0" u="none" strike="noStrike">
                          <a:solidFill>
                            <a:srgbClr val="000000"/>
                          </a:solidFill>
                          <a:effectLst/>
                          <a:latin typeface="Verdana" panose="020B0604030504040204" pitchFamily="34" charset="0"/>
                        </a:rPr>
                        <a:t>Central bank</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895322265"/>
                  </a:ext>
                </a:extLst>
              </a:tr>
              <a:tr h="124489">
                <a:tc>
                  <a:txBody>
                    <a:bodyPr/>
                    <a:lstStyle/>
                    <a:p>
                      <a:pPr algn="l" fontAlgn="ctr"/>
                      <a:r>
                        <a:rPr lang="fr-FR" sz="700" b="1" i="0" u="none" strike="noStrike">
                          <a:solidFill>
                            <a:srgbClr val="000000"/>
                          </a:solidFill>
                          <a:effectLst/>
                          <a:latin typeface="Verdana" panose="020B0604030504040204" pitchFamily="34" charset="0"/>
                        </a:rPr>
                        <a:t>Interbank</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70361472"/>
                  </a:ext>
                </a:extLst>
              </a:tr>
              <a:tr h="124489">
                <a:tc>
                  <a:txBody>
                    <a:bodyPr/>
                    <a:lstStyle/>
                    <a:p>
                      <a:pPr algn="l" fontAlgn="ctr"/>
                      <a:r>
                        <a:rPr lang="fr-FR" sz="700" b="1" i="0" u="none" strike="noStrike">
                          <a:solidFill>
                            <a:srgbClr val="000000"/>
                          </a:solidFill>
                          <a:effectLst/>
                          <a:latin typeface="Verdana" panose="020B0604030504040204" pitchFamily="34" charset="0"/>
                        </a:rPr>
                        <a:t>Debt securities issued</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034865694"/>
                  </a:ext>
                </a:extLst>
              </a:tr>
              <a:tr h="124489">
                <a:tc>
                  <a:txBody>
                    <a:bodyPr/>
                    <a:lstStyle/>
                    <a:p>
                      <a:pPr algn="l" fontAlgn="b"/>
                      <a:r>
                        <a:rPr lang="fr-FR" sz="700" b="1" i="0" u="none" strike="noStrike">
                          <a:solidFill>
                            <a:srgbClr val="000000"/>
                          </a:solidFill>
                          <a:effectLst/>
                          <a:latin typeface="Verdana" panose="020B0604030504040204" pitchFamily="34" charset="0"/>
                        </a:rPr>
                        <a:t>NMD: Retail transactional</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36535313"/>
                  </a:ext>
                </a:extLst>
              </a:tr>
              <a:tr h="124489">
                <a:tc>
                  <a:txBody>
                    <a:bodyPr/>
                    <a:lstStyle/>
                    <a:p>
                      <a:pPr algn="l" fontAlgn="ctr"/>
                      <a:r>
                        <a:rPr lang="fr-FR" sz="700" b="0" i="0" u="none" strike="noStrike">
                          <a:solidFill>
                            <a:srgbClr val="000000"/>
                          </a:solidFill>
                          <a:effectLst/>
                          <a:latin typeface="Verdana" panose="020B0604030504040204" pitchFamily="34" charset="0"/>
                        </a:rPr>
                        <a:t>of which: core component</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0391431"/>
                  </a:ext>
                </a:extLst>
              </a:tr>
              <a:tr h="124489">
                <a:tc>
                  <a:txBody>
                    <a:bodyPr/>
                    <a:lstStyle/>
                    <a:p>
                      <a:pPr algn="l" fontAlgn="ctr"/>
                      <a:r>
                        <a:rPr lang="en-US" sz="700" b="0" i="0" u="none" strike="noStrike" dirty="0">
                          <a:solidFill>
                            <a:srgbClr val="000000"/>
                          </a:solidFill>
                          <a:effectLst/>
                          <a:latin typeface="Verdana" panose="020B0604030504040204" pitchFamily="34" charset="0"/>
                        </a:rPr>
                        <a:t>of which: exempted from the 5Y cap</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46279833"/>
                  </a:ext>
                </a:extLst>
              </a:tr>
              <a:tr h="124489">
                <a:tc>
                  <a:txBody>
                    <a:bodyPr/>
                    <a:lstStyle/>
                    <a:p>
                      <a:pPr algn="l" fontAlgn="b"/>
                      <a:r>
                        <a:rPr lang="fr-FR" sz="700" b="1" i="0" u="none" strike="noStrike">
                          <a:solidFill>
                            <a:srgbClr val="000000"/>
                          </a:solidFill>
                          <a:effectLst/>
                          <a:latin typeface="Verdana" panose="020B0604030504040204" pitchFamily="34" charset="0"/>
                        </a:rPr>
                        <a:t>NMDs: Retail non-transactional</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77713140"/>
                  </a:ext>
                </a:extLst>
              </a:tr>
              <a:tr h="124489">
                <a:tc>
                  <a:txBody>
                    <a:bodyPr/>
                    <a:lstStyle/>
                    <a:p>
                      <a:pPr algn="l" fontAlgn="ctr"/>
                      <a:r>
                        <a:rPr lang="fr-FR" sz="700" b="0" i="0" u="none" strike="noStrike">
                          <a:solidFill>
                            <a:srgbClr val="000000"/>
                          </a:solidFill>
                          <a:effectLst/>
                          <a:latin typeface="Verdana" panose="020B0604030504040204" pitchFamily="34" charset="0"/>
                        </a:rPr>
                        <a:t>of which: core component</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458743866"/>
                  </a:ext>
                </a:extLst>
              </a:tr>
              <a:tr h="124489">
                <a:tc>
                  <a:txBody>
                    <a:bodyPr/>
                    <a:lstStyle/>
                    <a:p>
                      <a:pPr algn="l" fontAlgn="ctr"/>
                      <a:r>
                        <a:rPr lang="en-US" sz="700" b="0" i="0" u="none" strike="noStrike">
                          <a:solidFill>
                            <a:srgbClr val="000000"/>
                          </a:solidFill>
                          <a:effectLst/>
                          <a:latin typeface="Verdana" panose="020B0604030504040204" pitchFamily="34" charset="0"/>
                        </a:rPr>
                        <a:t>of which: exempted from the 5Y cap</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20555050"/>
                  </a:ext>
                </a:extLst>
              </a:tr>
              <a:tr h="124489">
                <a:tc>
                  <a:txBody>
                    <a:bodyPr/>
                    <a:lstStyle/>
                    <a:p>
                      <a:pPr algn="l" fontAlgn="b"/>
                      <a:r>
                        <a:rPr lang="fr-FR" sz="700" b="1" i="0" u="none" strike="noStrike">
                          <a:solidFill>
                            <a:srgbClr val="000000"/>
                          </a:solidFill>
                          <a:effectLst/>
                          <a:latin typeface="Verdana" panose="020B0604030504040204" pitchFamily="34" charset="0"/>
                        </a:rPr>
                        <a:t>NMDs: Wholesale non-financial</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960921753"/>
                  </a:ext>
                </a:extLst>
              </a:tr>
              <a:tr h="124489">
                <a:tc>
                  <a:txBody>
                    <a:bodyPr/>
                    <a:lstStyle/>
                    <a:p>
                      <a:pPr algn="l" fontAlgn="ctr"/>
                      <a:r>
                        <a:rPr lang="fr-FR" sz="700" b="0" i="0" u="none" strike="noStrike">
                          <a:solidFill>
                            <a:srgbClr val="000000"/>
                          </a:solidFill>
                          <a:effectLst/>
                          <a:latin typeface="Verdana" panose="020B0604030504040204" pitchFamily="34" charset="0"/>
                        </a:rPr>
                        <a:t>of which: core component</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37044067"/>
                  </a:ext>
                </a:extLst>
              </a:tr>
              <a:tr h="124489">
                <a:tc>
                  <a:txBody>
                    <a:bodyPr/>
                    <a:lstStyle/>
                    <a:p>
                      <a:pPr algn="l" fontAlgn="ctr"/>
                      <a:r>
                        <a:rPr lang="en-US" sz="700" b="0" i="0" u="none" strike="noStrike">
                          <a:solidFill>
                            <a:srgbClr val="000000"/>
                          </a:solidFill>
                          <a:effectLst/>
                          <a:latin typeface="Verdana" panose="020B0604030504040204" pitchFamily="34" charset="0"/>
                        </a:rPr>
                        <a:t>of which: exempted from the 5Y cap</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621644311"/>
                  </a:ext>
                </a:extLst>
              </a:tr>
              <a:tr h="124489">
                <a:tc>
                  <a:txBody>
                    <a:bodyPr/>
                    <a:lstStyle/>
                    <a:p>
                      <a:pPr algn="l" fontAlgn="b"/>
                      <a:r>
                        <a:rPr lang="fr-FR" sz="700" b="1" i="0" u="none" strike="noStrike" dirty="0" err="1">
                          <a:solidFill>
                            <a:srgbClr val="000000"/>
                          </a:solidFill>
                          <a:effectLst/>
                          <a:latin typeface="Verdana" panose="020B0604030504040204" pitchFamily="34" charset="0"/>
                        </a:rPr>
                        <a:t>NMDs</a:t>
                      </a:r>
                      <a:r>
                        <a:rPr lang="fr-FR" sz="700" b="1" i="0" u="none" strike="noStrike" dirty="0">
                          <a:solidFill>
                            <a:srgbClr val="000000"/>
                          </a:solidFill>
                          <a:effectLst/>
                          <a:latin typeface="Verdana" panose="020B0604030504040204" pitchFamily="34" charset="0"/>
                        </a:rPr>
                        <a:t>: </a:t>
                      </a:r>
                      <a:r>
                        <a:rPr lang="fr-FR" sz="700" b="1" i="0" u="none" strike="noStrike" dirty="0" err="1">
                          <a:solidFill>
                            <a:srgbClr val="000000"/>
                          </a:solidFill>
                          <a:effectLst/>
                          <a:latin typeface="Verdana" panose="020B0604030504040204" pitchFamily="34" charset="0"/>
                        </a:rPr>
                        <a:t>Wholesale</a:t>
                      </a:r>
                      <a:r>
                        <a:rPr lang="fr-FR" sz="700" b="1" i="0" u="none" strike="noStrike" dirty="0">
                          <a:solidFill>
                            <a:srgbClr val="000000"/>
                          </a:solidFill>
                          <a:effectLst/>
                          <a:latin typeface="Verdana" panose="020B0604030504040204" pitchFamily="34" charset="0"/>
                        </a:rPr>
                        <a:t> </a:t>
                      </a:r>
                      <a:r>
                        <a:rPr lang="fr-FR" sz="700" b="1" i="0" u="none" strike="noStrike" dirty="0" err="1">
                          <a:solidFill>
                            <a:srgbClr val="000000"/>
                          </a:solidFill>
                          <a:effectLst/>
                          <a:latin typeface="Verdana" panose="020B0604030504040204" pitchFamily="34" charset="0"/>
                        </a:rPr>
                        <a:t>financial</a:t>
                      </a:r>
                      <a:endParaRPr lang="fr-FR" sz="700" b="1" i="0" u="none" strike="noStrike" dirty="0">
                        <a:solidFill>
                          <a:srgbClr val="000000"/>
                        </a:solidFill>
                        <a:effectLst/>
                        <a:latin typeface="Verdana" panose="020B0604030504040204" pitchFamily="34" charset="0"/>
                      </a:endParaRP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2127203"/>
                  </a:ext>
                </a:extLst>
              </a:tr>
              <a:tr h="124489">
                <a:tc>
                  <a:txBody>
                    <a:bodyPr/>
                    <a:lstStyle/>
                    <a:p>
                      <a:pPr algn="l" fontAlgn="ctr"/>
                      <a:r>
                        <a:rPr lang="fr-FR" sz="700" b="0" i="0" u="none" strike="noStrike" dirty="0">
                          <a:solidFill>
                            <a:srgbClr val="000000"/>
                          </a:solidFill>
                          <a:effectLst/>
                          <a:latin typeface="Verdana" panose="020B0604030504040204" pitchFamily="34" charset="0"/>
                        </a:rPr>
                        <a:t>of </a:t>
                      </a:r>
                      <a:r>
                        <a:rPr lang="fr-FR" sz="700" b="0" i="0" u="none" strike="noStrike" dirty="0" err="1">
                          <a:solidFill>
                            <a:srgbClr val="000000"/>
                          </a:solidFill>
                          <a:effectLst/>
                          <a:latin typeface="Verdana" panose="020B0604030504040204" pitchFamily="34" charset="0"/>
                        </a:rPr>
                        <a:t>which</a:t>
                      </a:r>
                      <a:r>
                        <a:rPr lang="fr-FR" sz="700" b="0" i="0" u="none" strike="noStrike" dirty="0">
                          <a:solidFill>
                            <a:srgbClr val="000000"/>
                          </a:solidFill>
                          <a:effectLst/>
                          <a:latin typeface="Verdana" panose="020B0604030504040204" pitchFamily="34" charset="0"/>
                        </a:rPr>
                        <a:t>: </a:t>
                      </a:r>
                      <a:r>
                        <a:rPr lang="fr-FR" sz="700" b="0" i="0" u="none" strike="noStrike" dirty="0" err="1">
                          <a:solidFill>
                            <a:srgbClr val="000000"/>
                          </a:solidFill>
                          <a:effectLst/>
                          <a:latin typeface="Verdana" panose="020B0604030504040204" pitchFamily="34" charset="0"/>
                        </a:rPr>
                        <a:t>operational</a:t>
                      </a:r>
                      <a:r>
                        <a:rPr lang="fr-FR" sz="700" b="0" i="0" u="none" strike="noStrike" dirty="0">
                          <a:solidFill>
                            <a:srgbClr val="000000"/>
                          </a:solidFill>
                          <a:effectLst/>
                          <a:latin typeface="Verdana" panose="020B0604030504040204" pitchFamily="34" charset="0"/>
                        </a:rPr>
                        <a:t> </a:t>
                      </a:r>
                      <a:r>
                        <a:rPr lang="fr-FR" sz="700" b="0" i="0" u="none" strike="noStrike" dirty="0" err="1">
                          <a:solidFill>
                            <a:srgbClr val="000000"/>
                          </a:solidFill>
                          <a:effectLst/>
                          <a:latin typeface="Verdana" panose="020B0604030504040204" pitchFamily="34" charset="0"/>
                        </a:rPr>
                        <a:t>deposits</a:t>
                      </a:r>
                      <a:endParaRPr lang="fr-FR" sz="700" b="0" i="0" u="none" strike="noStrike" dirty="0">
                        <a:solidFill>
                          <a:srgbClr val="000000"/>
                        </a:solidFill>
                        <a:effectLst/>
                        <a:latin typeface="Verdana" panose="020B0604030504040204" pitchFamily="34" charset="0"/>
                      </a:endParaRP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594297262"/>
                  </a:ext>
                </a:extLst>
              </a:tr>
              <a:tr h="124489">
                <a:tc>
                  <a:txBody>
                    <a:bodyPr/>
                    <a:lstStyle/>
                    <a:p>
                      <a:pPr algn="l" fontAlgn="b"/>
                      <a:r>
                        <a:rPr lang="fr-FR" sz="700" b="1" i="0" u="none" strike="noStrike">
                          <a:solidFill>
                            <a:srgbClr val="000000"/>
                          </a:solidFill>
                          <a:effectLst/>
                          <a:latin typeface="Verdana" panose="020B0604030504040204" pitchFamily="34" charset="0"/>
                        </a:rPr>
                        <a:t>Term deposits</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11760512"/>
                  </a:ext>
                </a:extLst>
              </a:tr>
              <a:tr h="124489">
                <a:tc>
                  <a:txBody>
                    <a:bodyPr/>
                    <a:lstStyle/>
                    <a:p>
                      <a:pPr algn="l" fontAlgn="b"/>
                      <a:r>
                        <a:rPr lang="fr-FR" sz="700" b="0" i="0" u="none" strike="noStrike">
                          <a:solidFill>
                            <a:srgbClr val="000000"/>
                          </a:solidFill>
                          <a:effectLst/>
                          <a:latin typeface="Verdana" panose="020B0604030504040204" pitchFamily="34" charset="0"/>
                        </a:rPr>
                        <a:t>Retail</a:t>
                      </a:r>
                    </a:p>
                  </a:txBody>
                  <a:tcPr marL="274932"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717576637"/>
                  </a:ext>
                </a:extLst>
              </a:tr>
              <a:tr h="124489">
                <a:tc>
                  <a:txBody>
                    <a:bodyPr/>
                    <a:lstStyle/>
                    <a:p>
                      <a:pPr algn="l" fontAlgn="b"/>
                      <a:r>
                        <a:rPr lang="fr-FR" sz="700" b="0" i="0" u="none" strike="noStrike">
                          <a:solidFill>
                            <a:srgbClr val="000000"/>
                          </a:solidFill>
                          <a:effectLst/>
                          <a:latin typeface="Verdana" panose="020B0604030504040204" pitchFamily="34" charset="0"/>
                        </a:rPr>
                        <a:t>Wholesale non-financial</a:t>
                      </a:r>
                    </a:p>
                  </a:txBody>
                  <a:tcPr marL="274932"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031375371"/>
                  </a:ext>
                </a:extLst>
              </a:tr>
              <a:tr h="124489">
                <a:tc>
                  <a:txBody>
                    <a:bodyPr/>
                    <a:lstStyle/>
                    <a:p>
                      <a:pPr algn="l" fontAlgn="b"/>
                      <a:r>
                        <a:rPr lang="fr-FR" sz="700" b="0" i="0" u="none" strike="noStrike">
                          <a:solidFill>
                            <a:srgbClr val="000000"/>
                          </a:solidFill>
                          <a:effectLst/>
                          <a:latin typeface="Verdana" panose="020B0604030504040204" pitchFamily="34" charset="0"/>
                        </a:rPr>
                        <a:t>Wholesale financial</a:t>
                      </a:r>
                    </a:p>
                  </a:txBody>
                  <a:tcPr marL="274932"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0460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45056447"/>
                  </a:ext>
                </a:extLst>
              </a:tr>
              <a:tr h="124489">
                <a:tc>
                  <a:txBody>
                    <a:bodyPr/>
                    <a:lstStyle/>
                    <a:p>
                      <a:pPr algn="l" fontAlgn="ctr"/>
                      <a:r>
                        <a:rPr lang="fr-FR" sz="700" b="1" i="0" u="none" strike="noStrike">
                          <a:solidFill>
                            <a:srgbClr val="000000"/>
                          </a:solidFill>
                          <a:effectLst/>
                          <a:latin typeface="Verdana" panose="020B0604030504040204" pitchFamily="34" charset="0"/>
                        </a:rPr>
                        <a:t>Derivatives hedging liabilities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75551982"/>
                  </a:ext>
                </a:extLst>
              </a:tr>
              <a:tr h="124489">
                <a:tc>
                  <a:txBody>
                    <a:bodyPr/>
                    <a:lstStyle/>
                    <a:p>
                      <a:pPr algn="l" fontAlgn="b"/>
                      <a:r>
                        <a:rPr lang="fr-FR" sz="700" b="1" i="0" u="none" strike="noStrike">
                          <a:solidFill>
                            <a:srgbClr val="000000"/>
                          </a:solidFill>
                          <a:effectLst/>
                          <a:latin typeface="Verdana" panose="020B0604030504040204" pitchFamily="34" charset="0"/>
                        </a:rPr>
                        <a:t>Other</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54398087"/>
                  </a:ext>
                </a:extLst>
              </a:tr>
              <a:tr h="124489">
                <a:tc>
                  <a:txBody>
                    <a:bodyPr/>
                    <a:lstStyle/>
                    <a:p>
                      <a:pPr algn="l" fontAlgn="ctr"/>
                      <a:r>
                        <a:rPr lang="fr-FR" sz="700" b="1" i="0" u="none" strike="noStrike">
                          <a:solidFill>
                            <a:srgbClr val="000000"/>
                          </a:solidFill>
                          <a:effectLst/>
                          <a:latin typeface="Verdana" panose="020B0604030504040204" pitchFamily="34" charset="0"/>
                        </a:rPr>
                        <a:t>Off-balance sheet liabilities: contingent liabilities</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480714694"/>
                  </a:ext>
                </a:extLst>
              </a:tr>
              <a:tr h="124489">
                <a:tc>
                  <a:txBody>
                    <a:bodyPr/>
                    <a:lstStyle/>
                    <a:p>
                      <a:pPr algn="l" fontAlgn="ctr"/>
                      <a:r>
                        <a:rPr lang="fr-FR" sz="700" b="1" i="0" u="none" strike="noStrike">
                          <a:solidFill>
                            <a:srgbClr val="000000"/>
                          </a:solidFill>
                          <a:effectLst/>
                          <a:latin typeface="Verdana" panose="020B0604030504040204" pitchFamily="34" charset="0"/>
                        </a:rPr>
                        <a:t>Other derivatives (Net asset/liability)</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99933141"/>
                  </a:ext>
                </a:extLst>
              </a:tr>
              <a:tr h="185393">
                <a:tc>
                  <a:txBody>
                    <a:bodyPr/>
                    <a:lstStyle/>
                    <a:p>
                      <a:pPr algn="l" fontAlgn="ctr"/>
                      <a:r>
                        <a:rPr lang="fr-FR" sz="700" b="1" i="0" u="none" strike="noStrike">
                          <a:solidFill>
                            <a:srgbClr val="000000"/>
                          </a:solidFill>
                          <a:effectLst/>
                          <a:latin typeface="Verdana" panose="020B0604030504040204" pitchFamily="34" charset="0"/>
                        </a:rPr>
                        <a:t>MEMORANDUM ITEMS</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1" i="0" u="none" strike="noStrike">
                          <a:solidFill>
                            <a:srgbClr val="000000"/>
                          </a:solidFill>
                          <a:effectLst/>
                          <a:latin typeface="Verdana" panose="020B060403050404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51870438"/>
                  </a:ext>
                </a:extLst>
              </a:tr>
              <a:tr h="124489">
                <a:tc>
                  <a:txBody>
                    <a:bodyPr/>
                    <a:lstStyle/>
                    <a:p>
                      <a:pPr algn="l" fontAlgn="ctr"/>
                      <a:r>
                        <a:rPr lang="en-US" sz="700" b="1" i="0" u="none" strike="noStrike">
                          <a:solidFill>
                            <a:srgbClr val="000000"/>
                          </a:solidFill>
                          <a:effectLst/>
                          <a:latin typeface="Verdana" panose="020B0604030504040204" pitchFamily="34" charset="0"/>
                        </a:rPr>
                        <a:t>Total Assets with MV impact</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494466435"/>
                  </a:ext>
                </a:extLst>
              </a:tr>
              <a:tr h="124489">
                <a:tc>
                  <a:txBody>
                    <a:bodyPr/>
                    <a:lstStyle/>
                    <a:p>
                      <a:pPr algn="l" fontAlgn="ctr"/>
                      <a:r>
                        <a:rPr lang="fr-FR" sz="700" b="0" i="0" u="none" strike="noStrike">
                          <a:solidFill>
                            <a:srgbClr val="000000"/>
                          </a:solidFill>
                          <a:effectLst/>
                          <a:latin typeface="Verdana" panose="020B0604030504040204" pitchFamily="34" charset="0"/>
                        </a:rPr>
                        <a:t>Debt securities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919058900"/>
                  </a:ext>
                </a:extLst>
              </a:tr>
              <a:tr h="124489">
                <a:tc>
                  <a:txBody>
                    <a:bodyPr/>
                    <a:lstStyle/>
                    <a:p>
                      <a:pPr algn="l" fontAlgn="ctr"/>
                      <a:r>
                        <a:rPr lang="fr-FR" sz="700" b="0" i="0" u="none" strike="noStrike">
                          <a:solidFill>
                            <a:srgbClr val="000000"/>
                          </a:solidFill>
                          <a:effectLst/>
                          <a:latin typeface="Verdana" panose="020B0604030504040204" pitchFamily="34" charset="0"/>
                        </a:rPr>
                        <a:t>Derivatives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538555231"/>
                  </a:ext>
                </a:extLst>
              </a:tr>
              <a:tr h="124489">
                <a:tc>
                  <a:txBody>
                    <a:bodyPr/>
                    <a:lstStyle/>
                    <a:p>
                      <a:pPr algn="l" fontAlgn="ctr"/>
                      <a:r>
                        <a:rPr lang="fr-FR" sz="700" b="0" i="0" u="none" strike="noStrike">
                          <a:solidFill>
                            <a:srgbClr val="000000"/>
                          </a:solidFill>
                          <a:effectLst/>
                          <a:latin typeface="Verdana" panose="020B0604030504040204" pitchFamily="34" charset="0"/>
                        </a:rPr>
                        <a:t>Other</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0600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558093318"/>
                  </a:ext>
                </a:extLst>
              </a:tr>
              <a:tr h="124489">
                <a:tc>
                  <a:txBody>
                    <a:bodyPr/>
                    <a:lstStyle/>
                    <a:p>
                      <a:pPr algn="l" fontAlgn="ctr"/>
                      <a:r>
                        <a:rPr lang="en-US" sz="700" b="1" i="0" u="none" strike="noStrike">
                          <a:solidFill>
                            <a:srgbClr val="000000"/>
                          </a:solidFill>
                          <a:effectLst/>
                          <a:latin typeface="Verdana" panose="020B0604030504040204" pitchFamily="34" charset="0"/>
                        </a:rPr>
                        <a:t>Total Liabilities with MV impact</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0610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488677516"/>
                  </a:ext>
                </a:extLst>
              </a:tr>
              <a:tr h="124489">
                <a:tc>
                  <a:txBody>
                    <a:bodyPr/>
                    <a:lstStyle/>
                    <a:p>
                      <a:pPr algn="l" fontAlgn="ctr"/>
                      <a:r>
                        <a:rPr lang="fr-FR" sz="700" b="0" i="0" u="none" strike="noStrike">
                          <a:solidFill>
                            <a:srgbClr val="000000"/>
                          </a:solidFill>
                          <a:effectLst/>
                          <a:latin typeface="Verdana" panose="020B0604030504040204" pitchFamily="34" charset="0"/>
                        </a:rPr>
                        <a:t>Debt securities issued</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0620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376715007"/>
                  </a:ext>
                </a:extLst>
              </a:tr>
              <a:tr h="124489">
                <a:tc>
                  <a:txBody>
                    <a:bodyPr/>
                    <a:lstStyle/>
                    <a:p>
                      <a:pPr algn="l" fontAlgn="b"/>
                      <a:r>
                        <a:rPr lang="fr-FR" sz="700" b="0" i="0" u="none" strike="noStrike">
                          <a:solidFill>
                            <a:srgbClr val="000000"/>
                          </a:solidFill>
                          <a:effectLst/>
                          <a:latin typeface="Verdana" panose="020B0604030504040204" pitchFamily="34" charset="0"/>
                        </a:rPr>
                        <a:t>Derivatives </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0630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820892270"/>
                  </a:ext>
                </a:extLst>
              </a:tr>
              <a:tr h="128003">
                <a:tc>
                  <a:txBody>
                    <a:bodyPr/>
                    <a:lstStyle/>
                    <a:p>
                      <a:pPr algn="l" fontAlgn="b"/>
                      <a:r>
                        <a:rPr lang="fr-FR" sz="700" b="0" i="0" u="none" strike="noStrike">
                          <a:solidFill>
                            <a:srgbClr val="000000"/>
                          </a:solidFill>
                          <a:effectLst/>
                          <a:latin typeface="Verdana" panose="020B0604030504040204" pitchFamily="34" charset="0"/>
                        </a:rPr>
                        <a:t>Other</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dirty="0">
                          <a:solidFill>
                            <a:srgbClr val="000000"/>
                          </a:solidFill>
                          <a:effectLst/>
                          <a:latin typeface="Verdana" panose="020B0604030504040204" pitchFamily="34" charset="0"/>
                        </a:rPr>
                        <a:t>0640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96091276"/>
                  </a:ext>
                </a:extLst>
              </a:tr>
            </a:tbl>
          </a:graphicData>
        </a:graphic>
      </p:graphicFrame>
      <p:sp>
        <p:nvSpPr>
          <p:cNvPr id="4" name="Espace réservé du texte 15">
            <a:extLst>
              <a:ext uri="{FF2B5EF4-FFF2-40B4-BE49-F238E27FC236}">
                <a16:creationId xmlns:a16="http://schemas.microsoft.com/office/drawing/2014/main" id="{D2017308-22DD-DF56-52FB-EEF6D405EAEA}"/>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312510244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c- Template </a:t>
            </a:r>
            <a:r>
              <a:rPr lang="fr-FR" sz="2000" i="1" dirty="0">
                <a:highlight>
                  <a:srgbClr val="FF0000"/>
                </a:highlight>
                <a:latin typeface="Calibri (body)"/>
                <a:cs typeface="Calibri"/>
              </a:rPr>
              <a:t>J06</a:t>
            </a:r>
            <a:r>
              <a:rPr lang="fr-FR" sz="2000" i="1" dirty="0">
                <a:latin typeface="Calibri (body)"/>
                <a:cs typeface="Calibri"/>
              </a:rPr>
              <a:t> – </a:t>
            </a:r>
            <a:r>
              <a:rPr lang="fr-FR" sz="2000" i="1" dirty="0" err="1">
                <a:latin typeface="Calibri (body)"/>
                <a:cs typeface="Calibri"/>
              </a:rPr>
              <a:t>Repricing</a:t>
            </a:r>
            <a:r>
              <a:rPr lang="fr-FR" sz="2000" i="1" dirty="0">
                <a:latin typeface="Calibri (body)"/>
                <a:cs typeface="Calibri"/>
              </a:rPr>
              <a:t> cash-flows</a:t>
            </a:r>
            <a:endParaRPr lang="fr-FR" dirty="0">
              <a:latin typeface="Calibri"/>
              <a:cs typeface="Calibri"/>
            </a:endParaRP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7" name="ZoneTexte 6">
            <a:extLst>
              <a:ext uri="{FF2B5EF4-FFF2-40B4-BE49-F238E27FC236}">
                <a16:creationId xmlns:a16="http://schemas.microsoft.com/office/drawing/2014/main" id="{719920D1-78BE-017C-0359-4E178C901634}"/>
              </a:ext>
            </a:extLst>
          </p:cNvPr>
          <p:cNvSpPr txBox="1"/>
          <p:nvPr/>
        </p:nvSpPr>
        <p:spPr>
          <a:xfrm>
            <a:off x="6095999" y="1659285"/>
            <a:ext cx="5399315" cy="3539430"/>
          </a:xfrm>
          <a:prstGeom prst="rect">
            <a:avLst/>
          </a:prstGeom>
          <a:noFill/>
          <a:ln>
            <a:solidFill>
              <a:schemeClr val="tx1"/>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Le Template J06 a pour objectif de renseigner </a:t>
            </a:r>
            <a:r>
              <a:rPr lang="fr-FR" b="1" dirty="0">
                <a:solidFill>
                  <a:schemeClr val="tx1">
                    <a:lumMod val="50000"/>
                  </a:schemeClr>
                </a:solidFill>
                <a:latin typeface="Calibri (body)"/>
              </a:rPr>
              <a:t>les flux non actualisés </a:t>
            </a:r>
            <a:r>
              <a:rPr lang="fr-FR" dirty="0">
                <a:solidFill>
                  <a:schemeClr val="tx1">
                    <a:lumMod val="50000"/>
                  </a:schemeClr>
                </a:solidFill>
                <a:latin typeface="Calibri (body)"/>
              </a:rPr>
              <a:t>utilisés pour le calcul de l’EVE </a:t>
            </a:r>
            <a:r>
              <a:rPr lang="fr-FR" b="1" dirty="0">
                <a:solidFill>
                  <a:schemeClr val="tx1">
                    <a:lumMod val="50000"/>
                  </a:schemeClr>
                </a:solidFill>
                <a:latin typeface="Calibri (body)"/>
              </a:rPr>
              <a:t>sous deux modélisations différentes :</a:t>
            </a:r>
            <a:r>
              <a:rPr lang="fr-FR" dirty="0">
                <a:solidFill>
                  <a:schemeClr val="tx1">
                    <a:lumMod val="50000"/>
                  </a:schemeClr>
                </a:solidFill>
                <a:latin typeface="Calibri (body)"/>
              </a:rPr>
              <a:t> la modélisation contractuelle et la modélisation comportementale, en distinguant les natures de taux (fixe et révisable).</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Les lignes à reporter diffèrent du Template J03 qui requiert une granularité moindre. </a:t>
            </a:r>
          </a:p>
          <a:p>
            <a:r>
              <a:rPr lang="fr-FR" dirty="0">
                <a:solidFill>
                  <a:schemeClr val="tx1">
                    <a:lumMod val="50000"/>
                  </a:schemeClr>
                </a:solidFill>
                <a:latin typeface="Calibri (body)"/>
              </a:rPr>
              <a:t>On intègre ici, la sous décomposition des encours, principalement par type de contrepartie sur le passif du bilan.</a:t>
            </a:r>
          </a:p>
          <a:p>
            <a:endParaRPr lang="fr-FR" dirty="0">
              <a:solidFill>
                <a:schemeClr val="tx1">
                  <a:lumMod val="50000"/>
                </a:schemeClr>
              </a:solidFill>
              <a:latin typeface="Calibri (body)"/>
            </a:endParaRPr>
          </a:p>
          <a:p>
            <a:r>
              <a:rPr lang="fr-FR" sz="1400" dirty="0">
                <a:solidFill>
                  <a:schemeClr val="tx1">
                    <a:lumMod val="50000"/>
                  </a:schemeClr>
                </a:solidFill>
                <a:latin typeface="Calibri (body)"/>
              </a:rPr>
              <a:t>Il permet également de </a:t>
            </a:r>
            <a:r>
              <a:rPr lang="fr-FR" sz="1400" dirty="0">
                <a:solidFill>
                  <a:schemeClr val="tx1">
                    <a:lumMod val="50000"/>
                  </a:schemeClr>
                </a:solidFill>
                <a:latin typeface="Calibri (body)"/>
                <a:cs typeface="Arial" panose="020B0604020202020204" pitchFamily="34" charset="0"/>
              </a:rPr>
              <a:t>détailler</a:t>
            </a:r>
            <a:r>
              <a:rPr lang="fr-FR" sz="1400" dirty="0">
                <a:solidFill>
                  <a:schemeClr val="tx1">
                    <a:lumMod val="50000"/>
                  </a:schemeClr>
                </a:solidFill>
                <a:latin typeface="Calibri (body)"/>
              </a:rPr>
              <a:t> l’écoulement du bilan par typologie d’encours comprenant les flux de capital et les flux d’intérêts. </a:t>
            </a:r>
          </a:p>
          <a:p>
            <a:endParaRPr lang="fr-FR" b="1" dirty="0">
              <a:solidFill>
                <a:schemeClr val="tx1">
                  <a:lumMod val="50000"/>
                </a:schemeClr>
              </a:solidFill>
              <a:latin typeface="Calibri (body)"/>
            </a:endParaRPr>
          </a:p>
          <a:p>
            <a:r>
              <a:rPr lang="fr-FR" sz="1400" dirty="0">
                <a:solidFill>
                  <a:schemeClr val="tx1">
                    <a:lumMod val="50000"/>
                  </a:schemeClr>
                </a:solidFill>
                <a:latin typeface="Calibri (body)"/>
              </a:rPr>
              <a:t>Ce Template est également à compléter par devise significative.</a:t>
            </a:r>
          </a:p>
          <a:p>
            <a:endParaRPr lang="fr-FR" dirty="0">
              <a:solidFill>
                <a:schemeClr val="tx1">
                  <a:lumMod val="50000"/>
                </a:schemeClr>
              </a:solidFill>
              <a:latin typeface="Calibri (body)"/>
            </a:endParaRPr>
          </a:p>
        </p:txBody>
      </p:sp>
      <p:sp>
        <p:nvSpPr>
          <p:cNvPr id="4" name="Espace réservé du texte 15">
            <a:extLst>
              <a:ext uri="{FF2B5EF4-FFF2-40B4-BE49-F238E27FC236}">
                <a16:creationId xmlns:a16="http://schemas.microsoft.com/office/drawing/2014/main" id="{D2017308-22DD-DF56-52FB-EEF6D405EAEA}"/>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5" name="Table 4">
            <a:extLst>
              <a:ext uri="{FF2B5EF4-FFF2-40B4-BE49-F238E27FC236}">
                <a16:creationId xmlns:a16="http://schemas.microsoft.com/office/drawing/2014/main" id="{D83853BE-5917-0AF4-D2CE-489BB6762A6E}"/>
              </a:ext>
            </a:extLst>
          </p:cNvPr>
          <p:cNvGraphicFramePr>
            <a:graphicFrameLocks noGrp="1"/>
          </p:cNvGraphicFramePr>
          <p:nvPr>
            <p:extLst>
              <p:ext uri="{D42A27DB-BD31-4B8C-83A1-F6EECF244321}">
                <p14:modId xmlns:p14="http://schemas.microsoft.com/office/powerpoint/2010/main" val="2299063946"/>
              </p:ext>
            </p:extLst>
          </p:nvPr>
        </p:nvGraphicFramePr>
        <p:xfrm>
          <a:off x="696686" y="1001027"/>
          <a:ext cx="4924467" cy="5242805"/>
        </p:xfrm>
        <a:graphic>
          <a:graphicData uri="http://schemas.openxmlformats.org/drawingml/2006/table">
            <a:tbl>
              <a:tblPr/>
              <a:tblGrid>
                <a:gridCol w="4558185">
                  <a:extLst>
                    <a:ext uri="{9D8B030D-6E8A-4147-A177-3AD203B41FA5}">
                      <a16:colId xmlns:a16="http://schemas.microsoft.com/office/drawing/2014/main" val="3590743668"/>
                    </a:ext>
                  </a:extLst>
                </a:gridCol>
                <a:gridCol w="366282">
                  <a:extLst>
                    <a:ext uri="{9D8B030D-6E8A-4147-A177-3AD203B41FA5}">
                      <a16:colId xmlns:a16="http://schemas.microsoft.com/office/drawing/2014/main" val="3601487927"/>
                    </a:ext>
                  </a:extLst>
                </a:gridCol>
              </a:tblGrid>
              <a:tr h="116411">
                <a:tc>
                  <a:txBody>
                    <a:bodyPr/>
                    <a:lstStyle/>
                    <a:p>
                      <a:pPr algn="l" fontAlgn="ctr"/>
                      <a:r>
                        <a:rPr lang="fr-FR" sz="600" b="1" i="0" u="none" strike="noStrike">
                          <a:solidFill>
                            <a:srgbClr val="000000"/>
                          </a:solidFill>
                          <a:effectLst/>
                          <a:latin typeface="Verdana" panose="020B0604030504040204" pitchFamily="34" charset="0"/>
                        </a:rPr>
                        <a:t>TOTAL ASSETS</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0010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601751791"/>
                  </a:ext>
                </a:extLst>
              </a:tr>
              <a:tr h="116411">
                <a:tc>
                  <a:txBody>
                    <a:bodyPr/>
                    <a:lstStyle/>
                    <a:p>
                      <a:pPr algn="l" fontAlgn="ctr"/>
                      <a:r>
                        <a:rPr lang="fr-FR" sz="600" b="1" i="0" u="none" strike="noStrike">
                          <a:solidFill>
                            <a:srgbClr val="000000"/>
                          </a:solidFill>
                          <a:effectLst/>
                          <a:latin typeface="Verdana" panose="020B0604030504040204" pitchFamily="34" charset="0"/>
                        </a:rPr>
                        <a:t>Central bank</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0030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82961955"/>
                  </a:ext>
                </a:extLst>
              </a:tr>
              <a:tr h="116411">
                <a:tc>
                  <a:txBody>
                    <a:bodyPr/>
                    <a:lstStyle/>
                    <a:p>
                      <a:pPr algn="l" fontAlgn="ctr"/>
                      <a:r>
                        <a:rPr lang="fr-FR" sz="600" b="1" i="0" u="none" strike="noStrike">
                          <a:solidFill>
                            <a:srgbClr val="000000"/>
                          </a:solidFill>
                          <a:effectLst/>
                          <a:latin typeface="Verdana" panose="020B0604030504040204" pitchFamily="34" charset="0"/>
                        </a:rPr>
                        <a:t>Interbank</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062786224"/>
                  </a:ext>
                </a:extLst>
              </a:tr>
              <a:tr h="116411">
                <a:tc>
                  <a:txBody>
                    <a:bodyPr/>
                    <a:lstStyle/>
                    <a:p>
                      <a:pPr algn="l" fontAlgn="ctr"/>
                      <a:r>
                        <a:rPr lang="fr-FR" sz="600" b="1" i="0" u="none" strike="noStrike">
                          <a:solidFill>
                            <a:srgbClr val="000000"/>
                          </a:solidFill>
                          <a:effectLst/>
                          <a:latin typeface="Verdana" panose="020B0604030504040204" pitchFamily="34" charset="0"/>
                        </a:rPr>
                        <a:t>Loans and advances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0050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838800958"/>
                  </a:ext>
                </a:extLst>
              </a:tr>
              <a:tr h="116411">
                <a:tc>
                  <a:txBody>
                    <a:bodyPr/>
                    <a:lstStyle/>
                    <a:p>
                      <a:pPr algn="l" fontAlgn="ctr"/>
                      <a:r>
                        <a:rPr lang="fr-FR" sz="600" b="1" i="0" u="none" strike="noStrike">
                          <a:solidFill>
                            <a:srgbClr val="000000"/>
                          </a:solidFill>
                          <a:effectLst/>
                          <a:latin typeface="Verdana" panose="020B0604030504040204" pitchFamily="34" charset="0"/>
                        </a:rPr>
                        <a:t>Debt securities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0120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323041608"/>
                  </a:ext>
                </a:extLst>
              </a:tr>
              <a:tr h="116411">
                <a:tc>
                  <a:txBody>
                    <a:bodyPr/>
                    <a:lstStyle/>
                    <a:p>
                      <a:pPr algn="l" fontAlgn="ctr"/>
                      <a:r>
                        <a:rPr lang="fr-FR" sz="600" b="1" i="0" u="none" strike="noStrike">
                          <a:solidFill>
                            <a:srgbClr val="000000"/>
                          </a:solidFill>
                          <a:effectLst/>
                          <a:latin typeface="Verdana" panose="020B0604030504040204" pitchFamily="34" charset="0"/>
                        </a:rPr>
                        <a:t>Derivatives hedging assets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328941351"/>
                  </a:ext>
                </a:extLst>
              </a:tr>
              <a:tr h="116411">
                <a:tc>
                  <a:txBody>
                    <a:bodyPr/>
                    <a:lstStyle/>
                    <a:p>
                      <a:pPr algn="l" fontAlgn="ctr"/>
                      <a:r>
                        <a:rPr lang="fr-FR" sz="600" b="0" i="0" u="none" strike="noStrike">
                          <a:solidFill>
                            <a:srgbClr val="000000"/>
                          </a:solidFill>
                          <a:effectLst/>
                          <a:latin typeface="Verdana" panose="020B0604030504040204" pitchFamily="34" charset="0"/>
                        </a:rPr>
                        <a:t>Hedging debt securities</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0160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644051263"/>
                  </a:ext>
                </a:extLst>
              </a:tr>
              <a:tr h="116411">
                <a:tc>
                  <a:txBody>
                    <a:bodyPr/>
                    <a:lstStyle/>
                    <a:p>
                      <a:pPr algn="l" fontAlgn="ctr"/>
                      <a:r>
                        <a:rPr lang="fr-FR" sz="600" b="0" i="0" u="none" strike="noStrike">
                          <a:solidFill>
                            <a:srgbClr val="000000"/>
                          </a:solidFill>
                          <a:effectLst/>
                          <a:latin typeface="Verdana" panose="020B0604030504040204" pitchFamily="34" charset="0"/>
                        </a:rPr>
                        <a:t>Hedging other assets</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0170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620455534"/>
                  </a:ext>
                </a:extLst>
              </a:tr>
              <a:tr h="116411">
                <a:tc>
                  <a:txBody>
                    <a:bodyPr/>
                    <a:lstStyle/>
                    <a:p>
                      <a:pPr algn="l" fontAlgn="ctr"/>
                      <a:r>
                        <a:rPr lang="fr-FR" sz="600" b="1" i="0" u="none" strike="noStrike">
                          <a:solidFill>
                            <a:srgbClr val="000000"/>
                          </a:solidFill>
                          <a:effectLst/>
                          <a:latin typeface="Verdana" panose="020B0604030504040204" pitchFamily="34" charset="0"/>
                        </a:rPr>
                        <a:t>Other</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0180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53917530"/>
                  </a:ext>
                </a:extLst>
              </a:tr>
              <a:tr h="116411">
                <a:tc>
                  <a:txBody>
                    <a:bodyPr/>
                    <a:lstStyle/>
                    <a:p>
                      <a:pPr algn="l" fontAlgn="ctr"/>
                      <a:r>
                        <a:rPr lang="en-US" sz="600" b="1" i="0" u="none" strike="noStrike">
                          <a:solidFill>
                            <a:srgbClr val="000000"/>
                          </a:solidFill>
                          <a:effectLst/>
                          <a:latin typeface="Verdana" panose="020B0604030504040204" pitchFamily="34" charset="0"/>
                        </a:rPr>
                        <a:t>Off-balance sheet assets: contingent assets</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0190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175621967"/>
                  </a:ext>
                </a:extLst>
              </a:tr>
              <a:tr h="116411">
                <a:tc>
                  <a:txBody>
                    <a:bodyPr/>
                    <a:lstStyle/>
                    <a:p>
                      <a:pPr algn="l" fontAlgn="ctr"/>
                      <a:r>
                        <a:rPr lang="fr-FR" sz="600" b="1" i="0" u="none" strike="noStrike">
                          <a:solidFill>
                            <a:srgbClr val="000000"/>
                          </a:solidFill>
                          <a:effectLst/>
                          <a:latin typeface="Verdana" panose="020B0604030504040204" pitchFamily="34" charset="0"/>
                        </a:rPr>
                        <a:t>TOTAL LIABILITIES</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0200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330555616"/>
                  </a:ext>
                </a:extLst>
              </a:tr>
              <a:tr h="116411">
                <a:tc>
                  <a:txBody>
                    <a:bodyPr/>
                    <a:lstStyle/>
                    <a:p>
                      <a:pPr algn="l" fontAlgn="ctr"/>
                      <a:r>
                        <a:rPr lang="fr-FR" sz="600" b="1" i="0" u="none" strike="noStrike">
                          <a:solidFill>
                            <a:srgbClr val="000000"/>
                          </a:solidFill>
                          <a:effectLst/>
                          <a:latin typeface="Verdana" panose="020B0604030504040204" pitchFamily="34" charset="0"/>
                        </a:rPr>
                        <a:t>Central bank</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0220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17972734"/>
                  </a:ext>
                </a:extLst>
              </a:tr>
              <a:tr h="116411">
                <a:tc>
                  <a:txBody>
                    <a:bodyPr/>
                    <a:lstStyle/>
                    <a:p>
                      <a:pPr algn="l" fontAlgn="ctr"/>
                      <a:r>
                        <a:rPr lang="fr-FR" sz="600" b="1" i="0" u="none" strike="noStrike">
                          <a:solidFill>
                            <a:srgbClr val="000000"/>
                          </a:solidFill>
                          <a:effectLst/>
                          <a:latin typeface="Verdana" panose="020B0604030504040204" pitchFamily="34" charset="0"/>
                        </a:rPr>
                        <a:t>Interbank</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0230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13209391"/>
                  </a:ext>
                </a:extLst>
              </a:tr>
              <a:tr h="116411">
                <a:tc>
                  <a:txBody>
                    <a:bodyPr/>
                    <a:lstStyle/>
                    <a:p>
                      <a:pPr algn="l" fontAlgn="ctr"/>
                      <a:r>
                        <a:rPr lang="fr-FR" sz="600" b="1" i="0" u="none" strike="noStrike">
                          <a:solidFill>
                            <a:srgbClr val="000000"/>
                          </a:solidFill>
                          <a:effectLst/>
                          <a:latin typeface="Verdana" panose="020B0604030504040204" pitchFamily="34" charset="0"/>
                        </a:rPr>
                        <a:t>Debt securities issued</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88405480"/>
                  </a:ext>
                </a:extLst>
              </a:tr>
              <a:tr h="116411">
                <a:tc>
                  <a:txBody>
                    <a:bodyPr/>
                    <a:lstStyle/>
                    <a:p>
                      <a:pPr algn="l" fontAlgn="ctr"/>
                      <a:r>
                        <a:rPr lang="en-US" sz="600" b="0" i="0" u="none" strike="noStrike">
                          <a:solidFill>
                            <a:srgbClr val="000000"/>
                          </a:solidFill>
                          <a:effectLst/>
                          <a:latin typeface="Verdana" panose="020B0604030504040204" pitchFamily="34" charset="0"/>
                        </a:rPr>
                        <a:t>of which: AT1 or T2</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0260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1217175"/>
                  </a:ext>
                </a:extLst>
              </a:tr>
              <a:tr h="116411">
                <a:tc>
                  <a:txBody>
                    <a:bodyPr/>
                    <a:lstStyle/>
                    <a:p>
                      <a:pPr algn="l" fontAlgn="b"/>
                      <a:r>
                        <a:rPr lang="fr-FR" sz="600" b="1" i="0" u="none" strike="noStrike">
                          <a:solidFill>
                            <a:srgbClr val="000000"/>
                          </a:solidFill>
                          <a:effectLst/>
                          <a:latin typeface="Verdana" panose="020B0604030504040204" pitchFamily="34" charset="0"/>
                        </a:rPr>
                        <a:t>NMD: Retail transactional</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0270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302891339"/>
                  </a:ext>
                </a:extLst>
              </a:tr>
              <a:tr h="116411">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0290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189260507"/>
                  </a:ext>
                </a:extLst>
              </a:tr>
              <a:tr h="116411">
                <a:tc>
                  <a:txBody>
                    <a:bodyPr/>
                    <a:lstStyle/>
                    <a:p>
                      <a:pPr algn="l" fontAlgn="ctr"/>
                      <a:r>
                        <a:rPr lang="en-US" sz="600" b="0" i="0" u="none" strike="noStrike">
                          <a:solidFill>
                            <a:srgbClr val="000000"/>
                          </a:solidFill>
                          <a:effectLst/>
                          <a:latin typeface="Verdana" panose="020B0604030504040204" pitchFamily="34" charset="0"/>
                        </a:rPr>
                        <a:t>of which: exempted from the 5Y cap</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0300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613545357"/>
                  </a:ext>
                </a:extLst>
              </a:tr>
              <a:tr h="116411">
                <a:tc>
                  <a:txBody>
                    <a:bodyPr/>
                    <a:lstStyle/>
                    <a:p>
                      <a:pPr algn="l" fontAlgn="b"/>
                      <a:r>
                        <a:rPr lang="fr-FR" sz="600" b="1" i="0" u="none" strike="noStrike">
                          <a:solidFill>
                            <a:srgbClr val="000000"/>
                          </a:solidFill>
                          <a:effectLst/>
                          <a:latin typeface="Verdana" panose="020B0604030504040204" pitchFamily="34" charset="0"/>
                        </a:rPr>
                        <a:t>NMDs: Retail non-transactional</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0310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811695333"/>
                  </a:ext>
                </a:extLst>
              </a:tr>
              <a:tr h="116411">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0330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911206798"/>
                  </a:ext>
                </a:extLst>
              </a:tr>
              <a:tr h="116411">
                <a:tc>
                  <a:txBody>
                    <a:bodyPr/>
                    <a:lstStyle/>
                    <a:p>
                      <a:pPr algn="l" fontAlgn="ctr"/>
                      <a:r>
                        <a:rPr lang="en-US" sz="600" b="0" i="0" u="none" strike="noStrike">
                          <a:solidFill>
                            <a:srgbClr val="000000"/>
                          </a:solidFill>
                          <a:effectLst/>
                          <a:latin typeface="Verdana" panose="020B0604030504040204" pitchFamily="34" charset="0"/>
                        </a:rPr>
                        <a:t>of which: exempted from the 5Y cap</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950765132"/>
                  </a:ext>
                </a:extLst>
              </a:tr>
              <a:tr h="116411">
                <a:tc>
                  <a:txBody>
                    <a:bodyPr/>
                    <a:lstStyle/>
                    <a:p>
                      <a:pPr algn="l" fontAlgn="b"/>
                      <a:r>
                        <a:rPr lang="fr-FR" sz="600" b="1" i="0" u="none" strike="noStrike">
                          <a:solidFill>
                            <a:srgbClr val="000000"/>
                          </a:solidFill>
                          <a:effectLst/>
                          <a:latin typeface="Verdana" panose="020B0604030504040204" pitchFamily="34" charset="0"/>
                        </a:rPr>
                        <a:t>NMDs: Wholesale non-financial</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0350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66981401"/>
                  </a:ext>
                </a:extLst>
              </a:tr>
              <a:tr h="116411">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0370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12695799"/>
                  </a:ext>
                </a:extLst>
              </a:tr>
              <a:tr h="116411">
                <a:tc>
                  <a:txBody>
                    <a:bodyPr/>
                    <a:lstStyle/>
                    <a:p>
                      <a:pPr algn="l" fontAlgn="ctr"/>
                      <a:r>
                        <a:rPr lang="en-US" sz="600" b="0" i="0" u="none" strike="noStrike">
                          <a:solidFill>
                            <a:srgbClr val="000000"/>
                          </a:solidFill>
                          <a:effectLst/>
                          <a:latin typeface="Verdana" panose="020B0604030504040204" pitchFamily="34" charset="0"/>
                        </a:rPr>
                        <a:t>of which: exempted from the 5Y cap</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0380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655537913"/>
                  </a:ext>
                </a:extLst>
              </a:tr>
              <a:tr h="116411">
                <a:tc>
                  <a:txBody>
                    <a:bodyPr/>
                    <a:lstStyle/>
                    <a:p>
                      <a:pPr algn="l" fontAlgn="b"/>
                      <a:r>
                        <a:rPr lang="fr-FR" sz="600" b="1" i="0" u="none" strike="noStrike">
                          <a:solidFill>
                            <a:srgbClr val="000000"/>
                          </a:solidFill>
                          <a:effectLst/>
                          <a:latin typeface="Verdana" panose="020B0604030504040204" pitchFamily="34" charset="0"/>
                        </a:rPr>
                        <a:t>NMDs: Wholesale financial</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0390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134163805"/>
                  </a:ext>
                </a:extLst>
              </a:tr>
              <a:tr h="116411">
                <a:tc>
                  <a:txBody>
                    <a:bodyPr/>
                    <a:lstStyle/>
                    <a:p>
                      <a:pPr algn="l" fontAlgn="ctr"/>
                      <a:r>
                        <a:rPr lang="fr-FR" sz="600" b="0" i="0" u="none" strike="noStrike">
                          <a:solidFill>
                            <a:srgbClr val="000000"/>
                          </a:solidFill>
                          <a:effectLst/>
                          <a:latin typeface="Verdana" panose="020B0604030504040204" pitchFamily="34" charset="0"/>
                        </a:rPr>
                        <a:t>of which: operational deposits</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0410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543895972"/>
                  </a:ext>
                </a:extLst>
              </a:tr>
              <a:tr h="116411">
                <a:tc>
                  <a:txBody>
                    <a:bodyPr/>
                    <a:lstStyle/>
                    <a:p>
                      <a:pPr algn="l" fontAlgn="b"/>
                      <a:r>
                        <a:rPr lang="fr-FR" sz="600" b="1" i="0" u="none" strike="noStrike">
                          <a:solidFill>
                            <a:srgbClr val="000000"/>
                          </a:solidFill>
                          <a:effectLst/>
                          <a:latin typeface="Verdana" panose="020B0604030504040204" pitchFamily="34" charset="0"/>
                        </a:rPr>
                        <a:t>Term deposits</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0420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334675169"/>
                  </a:ext>
                </a:extLst>
              </a:tr>
              <a:tr h="116411">
                <a:tc>
                  <a:txBody>
                    <a:bodyPr/>
                    <a:lstStyle/>
                    <a:p>
                      <a:pPr algn="l" fontAlgn="b"/>
                      <a:r>
                        <a:rPr lang="fr-FR" sz="600" b="0" i="0" u="none" strike="noStrike">
                          <a:solidFill>
                            <a:srgbClr val="000000"/>
                          </a:solidFill>
                          <a:effectLst/>
                          <a:latin typeface="Verdana" panose="020B0604030504040204" pitchFamily="34" charset="0"/>
                        </a:rPr>
                        <a:t>Retail</a:t>
                      </a:r>
                    </a:p>
                  </a:txBody>
                  <a:tcPr marL="214704"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656106934"/>
                  </a:ext>
                </a:extLst>
              </a:tr>
              <a:tr h="116411">
                <a:tc>
                  <a:txBody>
                    <a:bodyPr/>
                    <a:lstStyle/>
                    <a:p>
                      <a:pPr algn="l" fontAlgn="b"/>
                      <a:r>
                        <a:rPr lang="fr-FR" sz="600" b="0" i="0" u="none" strike="noStrike">
                          <a:solidFill>
                            <a:srgbClr val="000000"/>
                          </a:solidFill>
                          <a:effectLst/>
                          <a:latin typeface="Verdana" panose="020B0604030504040204" pitchFamily="34" charset="0"/>
                        </a:rPr>
                        <a:t>Wholesale non-financial</a:t>
                      </a:r>
                    </a:p>
                  </a:txBody>
                  <a:tcPr marL="214704"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0450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78375980"/>
                  </a:ext>
                </a:extLst>
              </a:tr>
              <a:tr h="116411">
                <a:tc>
                  <a:txBody>
                    <a:bodyPr/>
                    <a:lstStyle/>
                    <a:p>
                      <a:pPr algn="l" fontAlgn="b"/>
                      <a:r>
                        <a:rPr lang="fr-FR" sz="600" b="0" i="0" u="none" strike="noStrike">
                          <a:solidFill>
                            <a:srgbClr val="000000"/>
                          </a:solidFill>
                          <a:effectLst/>
                          <a:latin typeface="Verdana" panose="020B0604030504040204" pitchFamily="34" charset="0"/>
                        </a:rPr>
                        <a:t>Wholesale financial</a:t>
                      </a:r>
                    </a:p>
                  </a:txBody>
                  <a:tcPr marL="214704"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0460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48408847"/>
                  </a:ext>
                </a:extLst>
              </a:tr>
              <a:tr h="116411">
                <a:tc>
                  <a:txBody>
                    <a:bodyPr/>
                    <a:lstStyle/>
                    <a:p>
                      <a:pPr algn="l" fontAlgn="ctr"/>
                      <a:r>
                        <a:rPr lang="fr-FR" sz="600" b="1" i="0" u="none" strike="noStrike">
                          <a:solidFill>
                            <a:srgbClr val="000000"/>
                          </a:solidFill>
                          <a:effectLst/>
                          <a:latin typeface="Verdana" panose="020B0604030504040204" pitchFamily="34" charset="0"/>
                        </a:rPr>
                        <a:t>Derivatives hedging liabilities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0470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91612123"/>
                  </a:ext>
                </a:extLst>
              </a:tr>
              <a:tr h="116411">
                <a:tc>
                  <a:txBody>
                    <a:bodyPr/>
                    <a:lstStyle/>
                    <a:p>
                      <a:pPr algn="l" fontAlgn="ctr"/>
                      <a:r>
                        <a:rPr lang="fr-FR" sz="600" b="0" i="0" u="none" strike="noStrike">
                          <a:solidFill>
                            <a:srgbClr val="000000"/>
                          </a:solidFill>
                          <a:effectLst/>
                          <a:latin typeface="Verdana" panose="020B0604030504040204" pitchFamily="34" charset="0"/>
                        </a:rPr>
                        <a:t>Hedging debt securities</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0490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640844068"/>
                  </a:ext>
                </a:extLst>
              </a:tr>
              <a:tr h="116411">
                <a:tc>
                  <a:txBody>
                    <a:bodyPr/>
                    <a:lstStyle/>
                    <a:p>
                      <a:pPr algn="l" fontAlgn="ctr"/>
                      <a:r>
                        <a:rPr lang="fr-FR" sz="600" b="0" i="0" u="none" strike="noStrike">
                          <a:solidFill>
                            <a:srgbClr val="000000"/>
                          </a:solidFill>
                          <a:effectLst/>
                          <a:latin typeface="Verdana" panose="020B0604030504040204" pitchFamily="34" charset="0"/>
                        </a:rPr>
                        <a:t>Hedging other liabilities</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0500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263460385"/>
                  </a:ext>
                </a:extLst>
              </a:tr>
              <a:tr h="116411">
                <a:tc>
                  <a:txBody>
                    <a:bodyPr/>
                    <a:lstStyle/>
                    <a:p>
                      <a:pPr algn="l" fontAlgn="b"/>
                      <a:r>
                        <a:rPr lang="fr-FR" sz="600" b="1" i="0" u="none" strike="noStrike">
                          <a:solidFill>
                            <a:srgbClr val="000000"/>
                          </a:solidFill>
                          <a:effectLst/>
                          <a:latin typeface="Verdana" panose="020B0604030504040204" pitchFamily="34" charset="0"/>
                        </a:rPr>
                        <a:t>Other</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0510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76760161"/>
                  </a:ext>
                </a:extLst>
              </a:tr>
              <a:tr h="116411">
                <a:tc>
                  <a:txBody>
                    <a:bodyPr/>
                    <a:lstStyle/>
                    <a:p>
                      <a:pPr algn="l" fontAlgn="ctr"/>
                      <a:r>
                        <a:rPr lang="fr-FR" sz="600" b="1" i="0" u="none" strike="noStrike">
                          <a:solidFill>
                            <a:srgbClr val="000000"/>
                          </a:solidFill>
                          <a:effectLst/>
                          <a:latin typeface="Verdana" panose="020B0604030504040204" pitchFamily="34" charset="0"/>
                        </a:rPr>
                        <a:t>Off-balance sheet liabilities: contingent liabilities</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0520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16101604"/>
                  </a:ext>
                </a:extLst>
              </a:tr>
              <a:tr h="116411">
                <a:tc>
                  <a:txBody>
                    <a:bodyPr/>
                    <a:lstStyle/>
                    <a:p>
                      <a:pPr algn="l" fontAlgn="ctr"/>
                      <a:r>
                        <a:rPr lang="fr-FR" sz="600" b="1" i="0" u="none" strike="noStrike">
                          <a:solidFill>
                            <a:srgbClr val="000000"/>
                          </a:solidFill>
                          <a:effectLst/>
                          <a:latin typeface="Verdana" panose="020B0604030504040204" pitchFamily="34" charset="0"/>
                        </a:rPr>
                        <a:t>Other derivatives (Net asset/liability)</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0530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925038375"/>
                  </a:ext>
                </a:extLst>
              </a:tr>
              <a:tr h="116411">
                <a:tc gridSpan="2">
                  <a:txBody>
                    <a:bodyPr/>
                    <a:lstStyle/>
                    <a:p>
                      <a:pPr algn="ctr" fontAlgn="ctr"/>
                      <a:r>
                        <a:rPr lang="fr-FR" sz="600" b="1" i="0" u="none" strike="noStrike">
                          <a:solidFill>
                            <a:srgbClr val="000000"/>
                          </a:solidFill>
                          <a:effectLst/>
                          <a:latin typeface="Verdana" panose="020B0604030504040204" pitchFamily="34" charset="0"/>
                        </a:rPr>
                        <a:t>MEMORANDUM ITEMS</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extLst>
                  <a:ext uri="{0D108BD9-81ED-4DB2-BD59-A6C34878D82A}">
                    <a16:rowId xmlns:a16="http://schemas.microsoft.com/office/drawing/2014/main" val="1010267433"/>
                  </a:ext>
                </a:extLst>
              </a:tr>
              <a:tr h="116411">
                <a:tc>
                  <a:txBody>
                    <a:bodyPr/>
                    <a:lstStyle/>
                    <a:p>
                      <a:pPr algn="l" fontAlgn="ctr"/>
                      <a:r>
                        <a:rPr lang="en-US" sz="600" b="1" i="0" u="none" strike="noStrike">
                          <a:solidFill>
                            <a:srgbClr val="000000"/>
                          </a:solidFill>
                          <a:effectLst/>
                          <a:latin typeface="Verdana" panose="020B0604030504040204" pitchFamily="34" charset="0"/>
                        </a:rPr>
                        <a:t>Total Assets with MV impact</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0570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344707358"/>
                  </a:ext>
                </a:extLst>
              </a:tr>
              <a:tr h="116411">
                <a:tc>
                  <a:txBody>
                    <a:bodyPr/>
                    <a:lstStyle/>
                    <a:p>
                      <a:pPr algn="l" fontAlgn="ctr"/>
                      <a:r>
                        <a:rPr lang="fr-FR" sz="600" b="0" i="0" u="none" strike="noStrike">
                          <a:solidFill>
                            <a:srgbClr val="000000"/>
                          </a:solidFill>
                          <a:effectLst/>
                          <a:latin typeface="Verdana" panose="020B0604030504040204" pitchFamily="34" charset="0"/>
                        </a:rPr>
                        <a:t>Debt securities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0580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10554913"/>
                  </a:ext>
                </a:extLst>
              </a:tr>
              <a:tr h="116411">
                <a:tc>
                  <a:txBody>
                    <a:bodyPr/>
                    <a:lstStyle/>
                    <a:p>
                      <a:pPr algn="l" fontAlgn="ctr"/>
                      <a:r>
                        <a:rPr lang="fr-FR" sz="600" b="0" i="0" u="none" strike="noStrike">
                          <a:solidFill>
                            <a:srgbClr val="000000"/>
                          </a:solidFill>
                          <a:effectLst/>
                          <a:latin typeface="Verdana" panose="020B0604030504040204" pitchFamily="34" charset="0"/>
                        </a:rPr>
                        <a:t>Derivatives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0590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09910254"/>
                  </a:ext>
                </a:extLst>
              </a:tr>
              <a:tr h="116411">
                <a:tc>
                  <a:txBody>
                    <a:bodyPr/>
                    <a:lstStyle/>
                    <a:p>
                      <a:pPr algn="l" fontAlgn="ctr"/>
                      <a:r>
                        <a:rPr lang="fr-FR" sz="600" b="0" i="0" u="none" strike="noStrike">
                          <a:solidFill>
                            <a:srgbClr val="000000"/>
                          </a:solidFill>
                          <a:effectLst/>
                          <a:latin typeface="Verdana" panose="020B0604030504040204" pitchFamily="34" charset="0"/>
                        </a:rPr>
                        <a:t>Other</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0600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719582764"/>
                  </a:ext>
                </a:extLst>
              </a:tr>
              <a:tr h="116411">
                <a:tc>
                  <a:txBody>
                    <a:bodyPr/>
                    <a:lstStyle/>
                    <a:p>
                      <a:pPr algn="l" fontAlgn="ctr"/>
                      <a:r>
                        <a:rPr lang="en-US" sz="600" b="1" i="0" u="none" strike="noStrike">
                          <a:solidFill>
                            <a:srgbClr val="000000"/>
                          </a:solidFill>
                          <a:effectLst/>
                          <a:latin typeface="Verdana" panose="020B0604030504040204" pitchFamily="34" charset="0"/>
                        </a:rPr>
                        <a:t>Total Liabilities with MV impact</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0610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85674292"/>
                  </a:ext>
                </a:extLst>
              </a:tr>
              <a:tr h="116411">
                <a:tc>
                  <a:txBody>
                    <a:bodyPr/>
                    <a:lstStyle/>
                    <a:p>
                      <a:pPr algn="l" fontAlgn="ctr"/>
                      <a:r>
                        <a:rPr lang="fr-FR" sz="600" b="0" i="0" u="none" strike="noStrike">
                          <a:solidFill>
                            <a:srgbClr val="000000"/>
                          </a:solidFill>
                          <a:effectLst/>
                          <a:latin typeface="Verdana" panose="020B0604030504040204" pitchFamily="34" charset="0"/>
                        </a:rPr>
                        <a:t>Debt securities issued</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0620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374816151"/>
                  </a:ext>
                </a:extLst>
              </a:tr>
              <a:tr h="116411">
                <a:tc>
                  <a:txBody>
                    <a:bodyPr/>
                    <a:lstStyle/>
                    <a:p>
                      <a:pPr algn="l" fontAlgn="b"/>
                      <a:r>
                        <a:rPr lang="fr-FR" sz="600" b="0" i="0" u="none" strike="noStrike">
                          <a:solidFill>
                            <a:srgbClr val="000000"/>
                          </a:solidFill>
                          <a:effectLst/>
                          <a:latin typeface="Verdana" panose="020B0604030504040204" pitchFamily="34" charset="0"/>
                        </a:rPr>
                        <a:t>Derivatives </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0630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106041732"/>
                  </a:ext>
                </a:extLst>
              </a:tr>
              <a:tr h="120721">
                <a:tc>
                  <a:txBody>
                    <a:bodyPr/>
                    <a:lstStyle/>
                    <a:p>
                      <a:pPr algn="l" fontAlgn="b"/>
                      <a:r>
                        <a:rPr lang="fr-FR" sz="600" b="0" i="0" u="none" strike="noStrike">
                          <a:solidFill>
                            <a:srgbClr val="000000"/>
                          </a:solidFill>
                          <a:effectLst/>
                          <a:latin typeface="Verdana" panose="020B0604030504040204" pitchFamily="34" charset="0"/>
                        </a:rPr>
                        <a:t>Other</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dirty="0">
                          <a:solidFill>
                            <a:srgbClr val="000000"/>
                          </a:solidFill>
                          <a:effectLst/>
                          <a:latin typeface="Verdana" panose="020B0604030504040204" pitchFamily="34" charset="0"/>
                        </a:rPr>
                        <a:t>0640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95052821"/>
                  </a:ext>
                </a:extLst>
              </a:tr>
            </a:tbl>
          </a:graphicData>
        </a:graphic>
      </p:graphicFrame>
    </p:spTree>
    <p:extLst>
      <p:ext uri="{BB962C8B-B14F-4D97-AF65-F5344CB8AC3E}">
        <p14:creationId xmlns:p14="http://schemas.microsoft.com/office/powerpoint/2010/main" val="338244308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c- Template </a:t>
            </a:r>
            <a:r>
              <a:rPr lang="fr-FR" sz="2000" i="1" dirty="0">
                <a:highlight>
                  <a:srgbClr val="FF0000"/>
                </a:highlight>
                <a:latin typeface="Calibri (body)"/>
                <a:cs typeface="Calibri"/>
              </a:rPr>
              <a:t>J05</a:t>
            </a:r>
            <a:r>
              <a:rPr lang="fr-FR" sz="2000" i="1" dirty="0">
                <a:latin typeface="Calibri (body)"/>
                <a:cs typeface="Calibri"/>
              </a:rPr>
              <a:t> – </a:t>
            </a:r>
            <a:r>
              <a:rPr lang="fr-FR" sz="2000" i="1" dirty="0" err="1">
                <a:latin typeface="Calibri (body)"/>
                <a:cs typeface="Calibri"/>
              </a:rPr>
              <a:t>Repricing</a:t>
            </a:r>
            <a:r>
              <a:rPr lang="fr-FR" sz="2000" i="1" dirty="0">
                <a:latin typeface="Calibri (body)"/>
                <a:cs typeface="Calibri"/>
              </a:rPr>
              <a:t> cash-flows</a:t>
            </a:r>
            <a:endParaRPr lang="fr-FR" dirty="0">
              <a:latin typeface="Calibri"/>
              <a:cs typeface="Calibri"/>
            </a:endParaRP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7" name="ZoneTexte 6">
            <a:extLst>
              <a:ext uri="{FF2B5EF4-FFF2-40B4-BE49-F238E27FC236}">
                <a16:creationId xmlns:a16="http://schemas.microsoft.com/office/drawing/2014/main" id="{719920D1-78BE-017C-0359-4E178C901634}"/>
              </a:ext>
            </a:extLst>
          </p:cNvPr>
          <p:cNvSpPr txBox="1"/>
          <p:nvPr/>
        </p:nvSpPr>
        <p:spPr>
          <a:xfrm>
            <a:off x="5916279" y="1917331"/>
            <a:ext cx="5399315" cy="3754874"/>
          </a:xfrm>
          <a:prstGeom prst="rect">
            <a:avLst/>
          </a:prstGeom>
          <a:noFill/>
          <a:ln>
            <a:solidFill>
              <a:schemeClr val="tx1"/>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Le Template J05 a pour objectif de renseigner </a:t>
            </a:r>
            <a:r>
              <a:rPr lang="fr-FR" b="1" dirty="0">
                <a:solidFill>
                  <a:schemeClr val="tx1">
                    <a:lumMod val="50000"/>
                  </a:schemeClr>
                </a:solidFill>
                <a:latin typeface="Calibri (body)"/>
              </a:rPr>
              <a:t>les flux non actualisés </a:t>
            </a:r>
            <a:r>
              <a:rPr lang="fr-FR" dirty="0">
                <a:solidFill>
                  <a:schemeClr val="tx1">
                    <a:lumMod val="50000"/>
                  </a:schemeClr>
                </a:solidFill>
                <a:latin typeface="Calibri (body)"/>
              </a:rPr>
              <a:t>utilisés pour le calcul de l’EVE </a:t>
            </a:r>
            <a:r>
              <a:rPr lang="fr-FR" b="1" dirty="0">
                <a:solidFill>
                  <a:schemeClr val="tx1">
                    <a:lumMod val="50000"/>
                  </a:schemeClr>
                </a:solidFill>
                <a:latin typeface="Calibri (body)"/>
              </a:rPr>
              <a:t>sous deux modélisations différentes :</a:t>
            </a:r>
            <a:r>
              <a:rPr lang="fr-FR" dirty="0">
                <a:solidFill>
                  <a:schemeClr val="tx1">
                    <a:lumMod val="50000"/>
                  </a:schemeClr>
                </a:solidFill>
                <a:latin typeface="Calibri (body)"/>
              </a:rPr>
              <a:t> la modélisation contractuelle et la modélisation comportementale, en distinguant les natures de taux (fixe et révisable).</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Les lignes à reporter diffèrent légèrement du Template J02. Les sous catégories « dont taux fixe » ont été supprimées car les colonnes du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permettent de distinguer les flux à TF des flux à TV directement.</a:t>
            </a:r>
          </a:p>
          <a:p>
            <a:endParaRPr lang="fr-FR" dirty="0">
              <a:solidFill>
                <a:schemeClr val="tx1">
                  <a:lumMod val="50000"/>
                </a:schemeClr>
              </a:solidFill>
              <a:latin typeface="Calibri (body)"/>
            </a:endParaRPr>
          </a:p>
          <a:p>
            <a:r>
              <a:rPr lang="fr-FR" sz="1400" dirty="0">
                <a:solidFill>
                  <a:schemeClr val="tx1">
                    <a:lumMod val="50000"/>
                  </a:schemeClr>
                </a:solidFill>
                <a:latin typeface="Calibri (body)"/>
              </a:rPr>
              <a:t>Il permet également de </a:t>
            </a:r>
            <a:r>
              <a:rPr lang="fr-FR" sz="1400" dirty="0">
                <a:solidFill>
                  <a:schemeClr val="tx1">
                    <a:lumMod val="50000"/>
                  </a:schemeClr>
                </a:solidFill>
                <a:latin typeface="Calibri (body)"/>
                <a:cs typeface="Arial" panose="020B0604020202020204" pitchFamily="34" charset="0"/>
              </a:rPr>
              <a:t>détailler</a:t>
            </a:r>
            <a:r>
              <a:rPr lang="fr-FR" sz="1400" dirty="0">
                <a:solidFill>
                  <a:schemeClr val="tx1">
                    <a:lumMod val="50000"/>
                  </a:schemeClr>
                </a:solidFill>
                <a:latin typeface="Calibri (body)"/>
              </a:rPr>
              <a:t> l’écoulement du bilan par typologie d’encours comprenant les flux de capital et les flux d’intérêts. </a:t>
            </a:r>
          </a:p>
          <a:p>
            <a:endParaRPr lang="fr-FR" b="1" dirty="0">
              <a:solidFill>
                <a:schemeClr val="tx1">
                  <a:lumMod val="50000"/>
                </a:schemeClr>
              </a:solidFill>
              <a:latin typeface="Calibri (body)"/>
            </a:endParaRPr>
          </a:p>
          <a:p>
            <a:r>
              <a:rPr lang="fr-FR" sz="1400" dirty="0">
                <a:solidFill>
                  <a:schemeClr val="tx1">
                    <a:lumMod val="50000"/>
                  </a:schemeClr>
                </a:solidFill>
                <a:latin typeface="Calibri (body)"/>
              </a:rPr>
              <a:t>Ce Template est également à compléter par devise significative.</a:t>
            </a:r>
          </a:p>
          <a:p>
            <a:endParaRPr lang="fr-FR" dirty="0">
              <a:solidFill>
                <a:schemeClr val="tx1">
                  <a:lumMod val="50000"/>
                </a:schemeClr>
              </a:solidFill>
              <a:latin typeface="Calibri (body)"/>
            </a:endParaRPr>
          </a:p>
          <a:p>
            <a:endParaRPr lang="fr-FR" sz="1400" dirty="0">
              <a:solidFill>
                <a:schemeClr val="tx1">
                  <a:lumMod val="50000"/>
                </a:schemeClr>
              </a:solidFill>
              <a:latin typeface="Calibri (body)"/>
            </a:endParaRPr>
          </a:p>
        </p:txBody>
      </p:sp>
      <p:sp>
        <p:nvSpPr>
          <p:cNvPr id="4" name="Espace réservé du texte 15">
            <a:extLst>
              <a:ext uri="{FF2B5EF4-FFF2-40B4-BE49-F238E27FC236}">
                <a16:creationId xmlns:a16="http://schemas.microsoft.com/office/drawing/2014/main" id="{D2017308-22DD-DF56-52FB-EEF6D405EAEA}"/>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6" name="Table 5">
            <a:extLst>
              <a:ext uri="{FF2B5EF4-FFF2-40B4-BE49-F238E27FC236}">
                <a16:creationId xmlns:a16="http://schemas.microsoft.com/office/drawing/2014/main" id="{1F5D6224-0408-063B-9757-01F33F69B187}"/>
              </a:ext>
            </a:extLst>
          </p:cNvPr>
          <p:cNvGraphicFramePr>
            <a:graphicFrameLocks noGrp="1"/>
          </p:cNvGraphicFramePr>
          <p:nvPr>
            <p:extLst>
              <p:ext uri="{D42A27DB-BD31-4B8C-83A1-F6EECF244321}">
                <p14:modId xmlns:p14="http://schemas.microsoft.com/office/powerpoint/2010/main" val="376203345"/>
              </p:ext>
            </p:extLst>
          </p:nvPr>
        </p:nvGraphicFramePr>
        <p:xfrm>
          <a:off x="269509" y="892385"/>
          <a:ext cx="5467148" cy="5874664"/>
        </p:xfrm>
        <a:graphic>
          <a:graphicData uri="http://schemas.openxmlformats.org/drawingml/2006/table">
            <a:tbl>
              <a:tblPr/>
              <a:tblGrid>
                <a:gridCol w="5060501">
                  <a:extLst>
                    <a:ext uri="{9D8B030D-6E8A-4147-A177-3AD203B41FA5}">
                      <a16:colId xmlns:a16="http://schemas.microsoft.com/office/drawing/2014/main" val="2521504177"/>
                    </a:ext>
                  </a:extLst>
                </a:gridCol>
                <a:gridCol w="406647">
                  <a:extLst>
                    <a:ext uri="{9D8B030D-6E8A-4147-A177-3AD203B41FA5}">
                      <a16:colId xmlns:a16="http://schemas.microsoft.com/office/drawing/2014/main" val="3170252162"/>
                    </a:ext>
                  </a:extLst>
                </a:gridCol>
              </a:tblGrid>
              <a:tr h="109362">
                <a:tc>
                  <a:txBody>
                    <a:bodyPr/>
                    <a:lstStyle/>
                    <a:p>
                      <a:pPr algn="l" fontAlgn="ctr"/>
                      <a:r>
                        <a:rPr lang="fr-FR" sz="500" b="1" i="0" u="none" strike="noStrike">
                          <a:solidFill>
                            <a:srgbClr val="000000"/>
                          </a:solidFill>
                          <a:effectLst/>
                          <a:latin typeface="Verdana" panose="020B0604030504040204" pitchFamily="34" charset="0"/>
                        </a:rPr>
                        <a:t>TOTAL ASSETS</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097152282"/>
                  </a:ext>
                </a:extLst>
              </a:tr>
              <a:tr h="115795">
                <a:tc>
                  <a:txBody>
                    <a:bodyPr/>
                    <a:lstStyle/>
                    <a:p>
                      <a:pPr algn="l" fontAlgn="ctr"/>
                      <a:r>
                        <a:rPr lang="fr-FR" sz="500" b="1" i="0" u="none" strike="noStrike">
                          <a:solidFill>
                            <a:srgbClr val="000000"/>
                          </a:solidFill>
                          <a:effectLst/>
                          <a:latin typeface="Verdana" panose="020B0604030504040204" pitchFamily="34" charset="0"/>
                        </a:rPr>
                        <a:t>Central bank</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0030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9310830"/>
                  </a:ext>
                </a:extLst>
              </a:tr>
              <a:tr h="115795">
                <a:tc>
                  <a:txBody>
                    <a:bodyPr/>
                    <a:lstStyle/>
                    <a:p>
                      <a:pPr algn="l" fontAlgn="ctr"/>
                      <a:r>
                        <a:rPr lang="fr-FR" sz="500" b="1" i="0" u="none" strike="noStrike">
                          <a:solidFill>
                            <a:srgbClr val="000000"/>
                          </a:solidFill>
                          <a:effectLst/>
                          <a:latin typeface="Verdana" panose="020B0604030504040204" pitchFamily="34" charset="0"/>
                        </a:rPr>
                        <a:t>Interbank</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25775616"/>
                  </a:ext>
                </a:extLst>
              </a:tr>
              <a:tr h="115795">
                <a:tc>
                  <a:txBody>
                    <a:bodyPr/>
                    <a:lstStyle/>
                    <a:p>
                      <a:pPr algn="l" fontAlgn="ctr"/>
                      <a:r>
                        <a:rPr lang="fr-FR" sz="500" b="1" i="0" u="none" strike="noStrike">
                          <a:solidFill>
                            <a:srgbClr val="000000"/>
                          </a:solidFill>
                          <a:effectLst/>
                          <a:latin typeface="Verdana" panose="020B0604030504040204" pitchFamily="34" charset="0"/>
                        </a:rPr>
                        <a:t>Loans and advances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0050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31381051"/>
                  </a:ext>
                </a:extLst>
              </a:tr>
              <a:tr h="115795">
                <a:tc>
                  <a:txBody>
                    <a:bodyPr/>
                    <a:lstStyle/>
                    <a:p>
                      <a:pPr algn="l" fontAlgn="ctr"/>
                      <a:r>
                        <a:rPr lang="fr-FR" sz="500" b="0" i="0" u="none" strike="noStrike">
                          <a:solidFill>
                            <a:srgbClr val="000000"/>
                          </a:solidFill>
                          <a:effectLst/>
                          <a:latin typeface="Verdana" panose="020B0604030504040204" pitchFamily="34" charset="0"/>
                        </a:rPr>
                        <a:t>of which: non-performing</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0060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633019072"/>
                  </a:ext>
                </a:extLst>
              </a:tr>
              <a:tr h="115795">
                <a:tc>
                  <a:txBody>
                    <a:bodyPr/>
                    <a:lstStyle/>
                    <a:p>
                      <a:pPr algn="l" fontAlgn="ctr"/>
                      <a:r>
                        <a:rPr lang="fr-FR" sz="500" b="0" i="0" u="none" strike="noStrike">
                          <a:solidFill>
                            <a:srgbClr val="000000"/>
                          </a:solidFill>
                          <a:effectLst/>
                          <a:latin typeface="Verdana" panose="020B0604030504040204" pitchFamily="34" charset="0"/>
                        </a:rPr>
                        <a:t>Retail</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040671595"/>
                  </a:ext>
                </a:extLst>
              </a:tr>
              <a:tr h="202855">
                <a:tc>
                  <a:txBody>
                    <a:bodyPr/>
                    <a:lstStyle/>
                    <a:p>
                      <a:pPr algn="l" fontAlgn="ctr"/>
                      <a:r>
                        <a:rPr lang="en-US" sz="500" b="0" i="0" u="none" strike="noStrike">
                          <a:solidFill>
                            <a:srgbClr val="000000"/>
                          </a:solidFill>
                          <a:effectLst/>
                          <a:latin typeface="Verdana" panose="020B0604030504040204" pitchFamily="34" charset="0"/>
                        </a:rPr>
                        <a:t>of which: secured by residential real estate </a:t>
                      </a:r>
                      <a:r>
                        <a:rPr lang="en-US" sz="500" b="0" i="0" u="none" strike="sngStrike">
                          <a:solidFill>
                            <a:srgbClr val="000000"/>
                          </a:solidFill>
                          <a:effectLst/>
                          <a:latin typeface="Verdana" panose="020B0604030504040204" pitchFamily="34" charset="0"/>
                        </a:rPr>
                        <a:t>secured by immovable property</a:t>
                      </a:r>
                      <a:endParaRPr lang="en-US" sz="500" b="0" i="0" u="none" strike="noStrike">
                        <a:solidFill>
                          <a:srgbClr val="000000"/>
                        </a:solidFill>
                        <a:effectLst/>
                        <a:latin typeface="Verdana" panose="020B0604030504040204" pitchFamily="34" charset="0"/>
                      </a:endParaRPr>
                    </a:p>
                  </a:txBody>
                  <a:tcPr marL="285896"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750861853"/>
                  </a:ext>
                </a:extLst>
              </a:tr>
              <a:tr h="115795">
                <a:tc>
                  <a:txBody>
                    <a:bodyPr/>
                    <a:lstStyle/>
                    <a:p>
                      <a:pPr algn="l" fontAlgn="ctr"/>
                      <a:r>
                        <a:rPr lang="fr-FR" sz="500" b="0" i="0" u="none" strike="noStrike">
                          <a:solidFill>
                            <a:srgbClr val="000000"/>
                          </a:solidFill>
                          <a:effectLst/>
                          <a:latin typeface="Verdana" panose="020B0604030504040204" pitchFamily="34" charset="0"/>
                        </a:rPr>
                        <a:t>Wholesale non-financial</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0100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020061536"/>
                  </a:ext>
                </a:extLst>
              </a:tr>
              <a:tr h="115795">
                <a:tc>
                  <a:txBody>
                    <a:bodyPr/>
                    <a:lstStyle/>
                    <a:p>
                      <a:pPr algn="l" fontAlgn="ctr"/>
                      <a:r>
                        <a:rPr lang="fr-FR" sz="500" b="0" i="0" u="none" strike="noStrike">
                          <a:solidFill>
                            <a:srgbClr val="000000"/>
                          </a:solidFill>
                          <a:effectLst/>
                          <a:latin typeface="Verdana" panose="020B0604030504040204" pitchFamily="34" charset="0"/>
                        </a:rPr>
                        <a:t>Wholesale financial</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179722512"/>
                  </a:ext>
                </a:extLst>
              </a:tr>
              <a:tr h="115795">
                <a:tc>
                  <a:txBody>
                    <a:bodyPr/>
                    <a:lstStyle/>
                    <a:p>
                      <a:pPr algn="l" fontAlgn="ctr"/>
                      <a:r>
                        <a:rPr lang="fr-FR" sz="500" b="1" i="0" u="none" strike="noStrike">
                          <a:solidFill>
                            <a:srgbClr val="000000"/>
                          </a:solidFill>
                          <a:effectLst/>
                          <a:latin typeface="Verdana" panose="020B0604030504040204" pitchFamily="34" charset="0"/>
                        </a:rPr>
                        <a:t>Debt securities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0120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59084491"/>
                  </a:ext>
                </a:extLst>
              </a:tr>
              <a:tr h="115795">
                <a:tc>
                  <a:txBody>
                    <a:bodyPr/>
                    <a:lstStyle/>
                    <a:p>
                      <a:pPr algn="l" fontAlgn="ctr"/>
                      <a:r>
                        <a:rPr lang="fr-FR" sz="500" b="1" i="0" u="none" strike="noStrike">
                          <a:solidFill>
                            <a:srgbClr val="000000"/>
                          </a:solidFill>
                          <a:effectLst/>
                          <a:latin typeface="Verdana" panose="020B0604030504040204" pitchFamily="34" charset="0"/>
                        </a:rPr>
                        <a:t>Derivatives hedging assets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752159982"/>
                  </a:ext>
                </a:extLst>
              </a:tr>
              <a:tr h="115795">
                <a:tc>
                  <a:txBody>
                    <a:bodyPr/>
                    <a:lstStyle/>
                    <a:p>
                      <a:pPr algn="l" fontAlgn="ctr"/>
                      <a:r>
                        <a:rPr lang="fr-FR" sz="500" b="0" i="0" u="none" strike="noStrike">
                          <a:solidFill>
                            <a:srgbClr val="000000"/>
                          </a:solidFill>
                          <a:effectLst/>
                          <a:latin typeface="Verdana" panose="020B0604030504040204" pitchFamily="34" charset="0"/>
                        </a:rPr>
                        <a:t>Hedging debt securities</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0160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92830416"/>
                  </a:ext>
                </a:extLst>
              </a:tr>
              <a:tr h="115795">
                <a:tc>
                  <a:txBody>
                    <a:bodyPr/>
                    <a:lstStyle/>
                    <a:p>
                      <a:pPr algn="l" fontAlgn="ctr"/>
                      <a:r>
                        <a:rPr lang="fr-FR" sz="500" b="0" i="0" u="none" strike="noStrike">
                          <a:solidFill>
                            <a:srgbClr val="000000"/>
                          </a:solidFill>
                          <a:effectLst/>
                          <a:latin typeface="Verdana" panose="020B0604030504040204" pitchFamily="34" charset="0"/>
                        </a:rPr>
                        <a:t>Hedging other assets</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068293292"/>
                  </a:ext>
                </a:extLst>
              </a:tr>
              <a:tr h="115795">
                <a:tc>
                  <a:txBody>
                    <a:bodyPr/>
                    <a:lstStyle/>
                    <a:p>
                      <a:pPr algn="l" fontAlgn="ctr"/>
                      <a:r>
                        <a:rPr lang="fr-FR" sz="500" b="1" i="0" u="none" strike="noStrike">
                          <a:solidFill>
                            <a:srgbClr val="000000"/>
                          </a:solidFill>
                          <a:effectLst/>
                          <a:latin typeface="Verdana" panose="020B0604030504040204" pitchFamily="34" charset="0"/>
                        </a:rPr>
                        <a:t>Other</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0180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44351087"/>
                  </a:ext>
                </a:extLst>
              </a:tr>
              <a:tr h="115795">
                <a:tc>
                  <a:txBody>
                    <a:bodyPr/>
                    <a:lstStyle/>
                    <a:p>
                      <a:pPr algn="l" fontAlgn="ctr"/>
                      <a:r>
                        <a:rPr lang="en-US" sz="500" b="1" i="0" u="none" strike="noStrike">
                          <a:solidFill>
                            <a:srgbClr val="000000"/>
                          </a:solidFill>
                          <a:effectLst/>
                          <a:latin typeface="Verdana" panose="020B0604030504040204" pitchFamily="34" charset="0"/>
                        </a:rPr>
                        <a:t>Off-balance sheet assets: contingent assets</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719806026"/>
                  </a:ext>
                </a:extLst>
              </a:tr>
              <a:tr h="115795">
                <a:tc>
                  <a:txBody>
                    <a:bodyPr/>
                    <a:lstStyle/>
                    <a:p>
                      <a:pPr algn="l" fontAlgn="ctr"/>
                      <a:r>
                        <a:rPr lang="fr-FR" sz="500" b="1" i="0" u="none" strike="noStrike">
                          <a:solidFill>
                            <a:srgbClr val="000000"/>
                          </a:solidFill>
                          <a:effectLst/>
                          <a:latin typeface="Verdana" panose="020B0604030504040204" pitchFamily="34" charset="0"/>
                        </a:rPr>
                        <a:t>TOTAL LIABILITIES</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0200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356408310"/>
                  </a:ext>
                </a:extLst>
              </a:tr>
              <a:tr h="115795">
                <a:tc>
                  <a:txBody>
                    <a:bodyPr/>
                    <a:lstStyle/>
                    <a:p>
                      <a:pPr algn="l" fontAlgn="ctr"/>
                      <a:r>
                        <a:rPr lang="fr-FR" sz="500" b="1" i="0" u="none" strike="noStrike">
                          <a:solidFill>
                            <a:srgbClr val="000000"/>
                          </a:solidFill>
                          <a:effectLst/>
                          <a:latin typeface="Verdana" panose="020B0604030504040204" pitchFamily="34" charset="0"/>
                        </a:rPr>
                        <a:t>Central bank</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0220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635724618"/>
                  </a:ext>
                </a:extLst>
              </a:tr>
              <a:tr h="115795">
                <a:tc>
                  <a:txBody>
                    <a:bodyPr/>
                    <a:lstStyle/>
                    <a:p>
                      <a:pPr algn="l" fontAlgn="ctr"/>
                      <a:r>
                        <a:rPr lang="fr-FR" sz="500" b="1" i="0" u="none" strike="noStrike">
                          <a:solidFill>
                            <a:srgbClr val="000000"/>
                          </a:solidFill>
                          <a:effectLst/>
                          <a:latin typeface="Verdana" panose="020B0604030504040204" pitchFamily="34" charset="0"/>
                        </a:rPr>
                        <a:t>Interbank</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0230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62993534"/>
                  </a:ext>
                </a:extLst>
              </a:tr>
              <a:tr h="115795">
                <a:tc>
                  <a:txBody>
                    <a:bodyPr/>
                    <a:lstStyle/>
                    <a:p>
                      <a:pPr algn="l" fontAlgn="ctr"/>
                      <a:r>
                        <a:rPr lang="fr-FR" sz="500" b="1" i="0" u="none" strike="noStrike">
                          <a:solidFill>
                            <a:srgbClr val="000000"/>
                          </a:solidFill>
                          <a:effectLst/>
                          <a:latin typeface="Verdana" panose="020B0604030504040204" pitchFamily="34" charset="0"/>
                        </a:rPr>
                        <a:t>Debt securities issued</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24529558"/>
                  </a:ext>
                </a:extLst>
              </a:tr>
              <a:tr h="115795">
                <a:tc>
                  <a:txBody>
                    <a:bodyPr/>
                    <a:lstStyle/>
                    <a:p>
                      <a:pPr algn="l" fontAlgn="ctr"/>
                      <a:r>
                        <a:rPr lang="en-US" sz="500" b="0" i="0" u="none" strike="noStrike">
                          <a:solidFill>
                            <a:srgbClr val="000000"/>
                          </a:solidFill>
                          <a:effectLst/>
                          <a:latin typeface="Verdana" panose="020B0604030504040204" pitchFamily="34" charset="0"/>
                        </a:rPr>
                        <a:t>of which: AT1 or T2</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0260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794388515"/>
                  </a:ext>
                </a:extLst>
              </a:tr>
              <a:tr h="115795">
                <a:tc>
                  <a:txBody>
                    <a:bodyPr/>
                    <a:lstStyle/>
                    <a:p>
                      <a:pPr algn="l" fontAlgn="b"/>
                      <a:r>
                        <a:rPr lang="fr-FR" sz="500" b="1" i="0" u="none" strike="noStrike">
                          <a:solidFill>
                            <a:srgbClr val="000000"/>
                          </a:solidFill>
                          <a:effectLst/>
                          <a:latin typeface="Verdana" panose="020B0604030504040204" pitchFamily="34" charset="0"/>
                        </a:rPr>
                        <a:t>NMD: Retail transactional</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020598817"/>
                  </a:ext>
                </a:extLst>
              </a:tr>
              <a:tr h="115795">
                <a:tc>
                  <a:txBody>
                    <a:bodyPr/>
                    <a:lstStyle/>
                    <a:p>
                      <a:pPr algn="l" fontAlgn="ctr"/>
                      <a:r>
                        <a:rPr lang="fr-FR" sz="500" b="0" i="0" u="none" strike="noStrike">
                          <a:solidFill>
                            <a:srgbClr val="000000"/>
                          </a:solidFill>
                          <a:effectLst/>
                          <a:latin typeface="Verdana" panose="020B0604030504040204" pitchFamily="34" charset="0"/>
                        </a:rPr>
                        <a:t>of which: core component</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676344361"/>
                  </a:ext>
                </a:extLst>
              </a:tr>
              <a:tr h="115795">
                <a:tc>
                  <a:txBody>
                    <a:bodyPr/>
                    <a:lstStyle/>
                    <a:p>
                      <a:pPr algn="l" fontAlgn="ctr"/>
                      <a:r>
                        <a:rPr lang="en-US" sz="500" b="0" i="0" u="none" strike="noStrike">
                          <a:solidFill>
                            <a:srgbClr val="000000"/>
                          </a:solidFill>
                          <a:effectLst/>
                          <a:latin typeface="Verdana" panose="020B0604030504040204" pitchFamily="34" charset="0"/>
                        </a:rPr>
                        <a:t>of which: exempted from the 5Y cap</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0300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133703929"/>
                  </a:ext>
                </a:extLst>
              </a:tr>
              <a:tr h="115795">
                <a:tc>
                  <a:txBody>
                    <a:bodyPr/>
                    <a:lstStyle/>
                    <a:p>
                      <a:pPr algn="l" fontAlgn="b"/>
                      <a:r>
                        <a:rPr lang="fr-FR" sz="500" b="1" i="0" u="none" strike="noStrike">
                          <a:solidFill>
                            <a:srgbClr val="000000"/>
                          </a:solidFill>
                          <a:effectLst/>
                          <a:latin typeface="Verdana" panose="020B0604030504040204" pitchFamily="34" charset="0"/>
                        </a:rPr>
                        <a:t>NMDs: Retail non-transactional</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63112804"/>
                  </a:ext>
                </a:extLst>
              </a:tr>
              <a:tr h="115795">
                <a:tc>
                  <a:txBody>
                    <a:bodyPr/>
                    <a:lstStyle/>
                    <a:p>
                      <a:pPr algn="l" fontAlgn="ctr"/>
                      <a:r>
                        <a:rPr lang="fr-FR" sz="500" b="0" i="0" u="none" strike="noStrike">
                          <a:solidFill>
                            <a:srgbClr val="000000"/>
                          </a:solidFill>
                          <a:effectLst/>
                          <a:latin typeface="Verdana" panose="020B0604030504040204" pitchFamily="34" charset="0"/>
                        </a:rPr>
                        <a:t>of which: core component</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0330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288716063"/>
                  </a:ext>
                </a:extLst>
              </a:tr>
              <a:tr h="115795">
                <a:tc>
                  <a:txBody>
                    <a:bodyPr/>
                    <a:lstStyle/>
                    <a:p>
                      <a:pPr algn="l" fontAlgn="ctr"/>
                      <a:r>
                        <a:rPr lang="en-US" sz="500" b="0" i="0" u="none" strike="noStrike">
                          <a:solidFill>
                            <a:srgbClr val="000000"/>
                          </a:solidFill>
                          <a:effectLst/>
                          <a:latin typeface="Verdana" panose="020B0604030504040204" pitchFamily="34" charset="0"/>
                        </a:rPr>
                        <a:t>of which: exempted from the 5Y cap</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29936724"/>
                  </a:ext>
                </a:extLst>
              </a:tr>
              <a:tr h="115795">
                <a:tc>
                  <a:txBody>
                    <a:bodyPr/>
                    <a:lstStyle/>
                    <a:p>
                      <a:pPr algn="l" fontAlgn="b"/>
                      <a:r>
                        <a:rPr lang="fr-FR" sz="500" b="1" i="0" u="none" strike="noStrike">
                          <a:solidFill>
                            <a:srgbClr val="000000"/>
                          </a:solidFill>
                          <a:effectLst/>
                          <a:latin typeface="Verdana" panose="020B0604030504040204" pitchFamily="34" charset="0"/>
                        </a:rPr>
                        <a:t>NMDs: Wholesale non-financial</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0350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40083183"/>
                  </a:ext>
                </a:extLst>
              </a:tr>
              <a:tr h="115795">
                <a:tc>
                  <a:txBody>
                    <a:bodyPr/>
                    <a:lstStyle/>
                    <a:p>
                      <a:pPr algn="l" fontAlgn="ctr"/>
                      <a:r>
                        <a:rPr lang="fr-FR" sz="500" b="0" i="0" u="none" strike="noStrike">
                          <a:solidFill>
                            <a:srgbClr val="000000"/>
                          </a:solidFill>
                          <a:effectLst/>
                          <a:latin typeface="Verdana" panose="020B0604030504040204" pitchFamily="34" charset="0"/>
                        </a:rPr>
                        <a:t>of which: core component</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24717715"/>
                  </a:ext>
                </a:extLst>
              </a:tr>
              <a:tr h="115795">
                <a:tc>
                  <a:txBody>
                    <a:bodyPr/>
                    <a:lstStyle/>
                    <a:p>
                      <a:pPr algn="l" fontAlgn="ctr"/>
                      <a:r>
                        <a:rPr lang="en-US" sz="500" b="0" i="0" u="none" strike="noStrike">
                          <a:solidFill>
                            <a:srgbClr val="000000"/>
                          </a:solidFill>
                          <a:effectLst/>
                          <a:latin typeface="Verdana" panose="020B0604030504040204" pitchFamily="34" charset="0"/>
                        </a:rPr>
                        <a:t>of which: exempted from the 5Y cap</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0380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048249916"/>
                  </a:ext>
                </a:extLst>
              </a:tr>
              <a:tr h="115795">
                <a:tc>
                  <a:txBody>
                    <a:bodyPr/>
                    <a:lstStyle/>
                    <a:p>
                      <a:pPr algn="l" fontAlgn="b"/>
                      <a:r>
                        <a:rPr lang="fr-FR" sz="500" b="1" i="0" u="none" strike="noStrike">
                          <a:solidFill>
                            <a:srgbClr val="000000"/>
                          </a:solidFill>
                          <a:effectLst/>
                          <a:latin typeface="Verdana" panose="020B0604030504040204" pitchFamily="34" charset="0"/>
                        </a:rPr>
                        <a:t>NMDs: Wholesale financial</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591945167"/>
                  </a:ext>
                </a:extLst>
              </a:tr>
              <a:tr h="115795">
                <a:tc>
                  <a:txBody>
                    <a:bodyPr/>
                    <a:lstStyle/>
                    <a:p>
                      <a:pPr algn="l" fontAlgn="ctr"/>
                      <a:r>
                        <a:rPr lang="fr-FR" sz="500" b="0" i="0" u="none" strike="noStrike">
                          <a:solidFill>
                            <a:srgbClr val="000000"/>
                          </a:solidFill>
                          <a:effectLst/>
                          <a:latin typeface="Verdana" panose="020B0604030504040204" pitchFamily="34" charset="0"/>
                        </a:rPr>
                        <a:t>of which: operational deposits</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56621225"/>
                  </a:ext>
                </a:extLst>
              </a:tr>
              <a:tr h="115795">
                <a:tc>
                  <a:txBody>
                    <a:bodyPr/>
                    <a:lstStyle/>
                    <a:p>
                      <a:pPr algn="l" fontAlgn="b"/>
                      <a:r>
                        <a:rPr lang="fr-FR" sz="500" b="1" i="0" u="none" strike="noStrike">
                          <a:solidFill>
                            <a:srgbClr val="000000"/>
                          </a:solidFill>
                          <a:effectLst/>
                          <a:latin typeface="Verdana" panose="020B0604030504040204" pitchFamily="34" charset="0"/>
                        </a:rPr>
                        <a:t>Term deposits</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0420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714613770"/>
                  </a:ext>
                </a:extLst>
              </a:tr>
              <a:tr h="115795">
                <a:tc>
                  <a:txBody>
                    <a:bodyPr/>
                    <a:lstStyle/>
                    <a:p>
                      <a:pPr algn="l" fontAlgn="b"/>
                      <a:r>
                        <a:rPr lang="fr-FR" sz="500" b="0" i="0" u="none" strike="noStrike">
                          <a:solidFill>
                            <a:srgbClr val="000000"/>
                          </a:solidFill>
                          <a:effectLst/>
                          <a:latin typeface="Verdana" panose="020B0604030504040204" pitchFamily="34" charset="0"/>
                        </a:rPr>
                        <a:t>Retail</a:t>
                      </a:r>
                    </a:p>
                  </a:txBody>
                  <a:tcPr marL="190597"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83228630"/>
                  </a:ext>
                </a:extLst>
              </a:tr>
              <a:tr h="115795">
                <a:tc>
                  <a:txBody>
                    <a:bodyPr/>
                    <a:lstStyle/>
                    <a:p>
                      <a:pPr algn="l" fontAlgn="b"/>
                      <a:r>
                        <a:rPr lang="fr-FR" sz="500" b="0" i="0" u="none" strike="noStrike">
                          <a:solidFill>
                            <a:srgbClr val="000000"/>
                          </a:solidFill>
                          <a:effectLst/>
                          <a:latin typeface="Verdana" panose="020B0604030504040204" pitchFamily="34" charset="0"/>
                        </a:rPr>
                        <a:t>Wholesale non-financial</a:t>
                      </a:r>
                    </a:p>
                  </a:txBody>
                  <a:tcPr marL="190597"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0450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471105514"/>
                  </a:ext>
                </a:extLst>
              </a:tr>
              <a:tr h="115795">
                <a:tc>
                  <a:txBody>
                    <a:bodyPr/>
                    <a:lstStyle/>
                    <a:p>
                      <a:pPr algn="l" fontAlgn="b"/>
                      <a:r>
                        <a:rPr lang="fr-FR" sz="500" b="0" i="0" u="none" strike="noStrike">
                          <a:solidFill>
                            <a:srgbClr val="000000"/>
                          </a:solidFill>
                          <a:effectLst/>
                          <a:latin typeface="Verdana" panose="020B0604030504040204" pitchFamily="34" charset="0"/>
                        </a:rPr>
                        <a:t>Wholesale financial</a:t>
                      </a:r>
                    </a:p>
                  </a:txBody>
                  <a:tcPr marL="190597"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0460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37918876"/>
                  </a:ext>
                </a:extLst>
              </a:tr>
              <a:tr h="115795">
                <a:tc>
                  <a:txBody>
                    <a:bodyPr/>
                    <a:lstStyle/>
                    <a:p>
                      <a:pPr algn="l" fontAlgn="ctr"/>
                      <a:r>
                        <a:rPr lang="fr-FR" sz="500" b="1" i="0" u="none" strike="noStrike">
                          <a:solidFill>
                            <a:srgbClr val="000000"/>
                          </a:solidFill>
                          <a:effectLst/>
                          <a:latin typeface="Verdana" panose="020B0604030504040204" pitchFamily="34" charset="0"/>
                        </a:rPr>
                        <a:t>Derivatives hedging liabilities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44395457"/>
                  </a:ext>
                </a:extLst>
              </a:tr>
              <a:tr h="115795">
                <a:tc>
                  <a:txBody>
                    <a:bodyPr/>
                    <a:lstStyle/>
                    <a:p>
                      <a:pPr algn="l" fontAlgn="ctr"/>
                      <a:r>
                        <a:rPr lang="fr-FR" sz="500" b="0" i="0" u="none" strike="noStrike">
                          <a:solidFill>
                            <a:srgbClr val="000000"/>
                          </a:solidFill>
                          <a:effectLst/>
                          <a:latin typeface="Verdana" panose="020B0604030504040204" pitchFamily="34" charset="0"/>
                        </a:rPr>
                        <a:t>Hedging debt securities</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5865576"/>
                  </a:ext>
                </a:extLst>
              </a:tr>
              <a:tr h="115795">
                <a:tc>
                  <a:txBody>
                    <a:bodyPr/>
                    <a:lstStyle/>
                    <a:p>
                      <a:pPr algn="l" fontAlgn="ctr"/>
                      <a:r>
                        <a:rPr lang="fr-FR" sz="500" b="0" i="0" u="none" strike="noStrike">
                          <a:solidFill>
                            <a:srgbClr val="000000"/>
                          </a:solidFill>
                          <a:effectLst/>
                          <a:latin typeface="Verdana" panose="020B0604030504040204" pitchFamily="34" charset="0"/>
                        </a:rPr>
                        <a:t>Hedging other liabilities</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0500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34954570"/>
                  </a:ext>
                </a:extLst>
              </a:tr>
              <a:tr h="115795">
                <a:tc>
                  <a:txBody>
                    <a:bodyPr/>
                    <a:lstStyle/>
                    <a:p>
                      <a:pPr algn="l" fontAlgn="b"/>
                      <a:r>
                        <a:rPr lang="fr-FR" sz="500" b="1" i="0" u="none" strike="noStrike">
                          <a:solidFill>
                            <a:srgbClr val="000000"/>
                          </a:solidFill>
                          <a:effectLst/>
                          <a:latin typeface="Verdana" panose="020B0604030504040204" pitchFamily="34" charset="0"/>
                        </a:rPr>
                        <a:t>Other</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505292247"/>
                  </a:ext>
                </a:extLst>
              </a:tr>
              <a:tr h="115795">
                <a:tc>
                  <a:txBody>
                    <a:bodyPr/>
                    <a:lstStyle/>
                    <a:p>
                      <a:pPr algn="l" fontAlgn="ctr"/>
                      <a:r>
                        <a:rPr lang="fr-FR" sz="500" b="1" i="0" u="none" strike="noStrike">
                          <a:solidFill>
                            <a:srgbClr val="000000"/>
                          </a:solidFill>
                          <a:effectLst/>
                          <a:latin typeface="Verdana" panose="020B0604030504040204" pitchFamily="34" charset="0"/>
                        </a:rPr>
                        <a:t>Off-balance sheet liabilities: contingent liabilities</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0520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105603158"/>
                  </a:ext>
                </a:extLst>
              </a:tr>
              <a:tr h="115795">
                <a:tc>
                  <a:txBody>
                    <a:bodyPr/>
                    <a:lstStyle/>
                    <a:p>
                      <a:pPr algn="l" fontAlgn="ctr"/>
                      <a:r>
                        <a:rPr lang="fr-FR" sz="500" b="1" i="0" u="none" strike="noStrike">
                          <a:solidFill>
                            <a:srgbClr val="000000"/>
                          </a:solidFill>
                          <a:effectLst/>
                          <a:latin typeface="Verdana" panose="020B0604030504040204" pitchFamily="34" charset="0"/>
                        </a:rPr>
                        <a:t>Other derivatives (Net asset/liability)</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0530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88893369"/>
                  </a:ext>
                </a:extLst>
              </a:tr>
              <a:tr h="115795">
                <a:tc gridSpan="2">
                  <a:txBody>
                    <a:bodyPr/>
                    <a:lstStyle/>
                    <a:p>
                      <a:pPr algn="ctr" fontAlgn="ctr"/>
                      <a:r>
                        <a:rPr lang="fr-FR" sz="500" b="1" i="0" u="none" strike="noStrike">
                          <a:solidFill>
                            <a:srgbClr val="000000"/>
                          </a:solidFill>
                          <a:effectLst/>
                          <a:latin typeface="Verdana" panose="020B0604030504040204" pitchFamily="34" charset="0"/>
                        </a:rPr>
                        <a:t>MEMORANDUM ITEMS</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extLst>
                  <a:ext uri="{0D108BD9-81ED-4DB2-BD59-A6C34878D82A}">
                    <a16:rowId xmlns:a16="http://schemas.microsoft.com/office/drawing/2014/main" val="1410758177"/>
                  </a:ext>
                </a:extLst>
              </a:tr>
              <a:tr h="115795">
                <a:tc>
                  <a:txBody>
                    <a:bodyPr/>
                    <a:lstStyle/>
                    <a:p>
                      <a:pPr algn="l" fontAlgn="ctr"/>
                      <a:r>
                        <a:rPr lang="en-US" sz="500" b="1" i="0" u="none" strike="noStrike">
                          <a:solidFill>
                            <a:srgbClr val="000000"/>
                          </a:solidFill>
                          <a:effectLst/>
                          <a:latin typeface="Verdana" panose="020B0604030504040204" pitchFamily="34" charset="0"/>
                        </a:rPr>
                        <a:t>Total Assets with MV impact</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703091694"/>
                  </a:ext>
                </a:extLst>
              </a:tr>
              <a:tr h="115795">
                <a:tc>
                  <a:txBody>
                    <a:bodyPr/>
                    <a:lstStyle/>
                    <a:p>
                      <a:pPr algn="l" fontAlgn="ctr"/>
                      <a:r>
                        <a:rPr lang="fr-FR" sz="500" b="0" i="0" u="none" strike="noStrike">
                          <a:solidFill>
                            <a:srgbClr val="000000"/>
                          </a:solidFill>
                          <a:effectLst/>
                          <a:latin typeface="Verdana" panose="020B0604030504040204" pitchFamily="34" charset="0"/>
                        </a:rPr>
                        <a:t>Debt securities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0580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70638010"/>
                  </a:ext>
                </a:extLst>
              </a:tr>
              <a:tr h="115795">
                <a:tc>
                  <a:txBody>
                    <a:bodyPr/>
                    <a:lstStyle/>
                    <a:p>
                      <a:pPr algn="l" fontAlgn="ctr"/>
                      <a:r>
                        <a:rPr lang="fr-FR" sz="500" b="0" i="0" u="none" strike="noStrike">
                          <a:solidFill>
                            <a:srgbClr val="000000"/>
                          </a:solidFill>
                          <a:effectLst/>
                          <a:latin typeface="Verdana" panose="020B0604030504040204" pitchFamily="34" charset="0"/>
                        </a:rPr>
                        <a:t>Derivatives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181356081"/>
                  </a:ext>
                </a:extLst>
              </a:tr>
              <a:tr h="115795">
                <a:tc>
                  <a:txBody>
                    <a:bodyPr/>
                    <a:lstStyle/>
                    <a:p>
                      <a:pPr algn="l" fontAlgn="ctr"/>
                      <a:r>
                        <a:rPr lang="fr-FR" sz="500" b="0" i="0" u="none" strike="noStrike">
                          <a:solidFill>
                            <a:srgbClr val="000000"/>
                          </a:solidFill>
                          <a:effectLst/>
                          <a:latin typeface="Verdana" panose="020B0604030504040204" pitchFamily="34" charset="0"/>
                        </a:rPr>
                        <a:t>Other</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0600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495207807"/>
                  </a:ext>
                </a:extLst>
              </a:tr>
              <a:tr h="115795">
                <a:tc>
                  <a:txBody>
                    <a:bodyPr/>
                    <a:lstStyle/>
                    <a:p>
                      <a:pPr algn="l" fontAlgn="ctr"/>
                      <a:r>
                        <a:rPr lang="en-US" sz="500" b="1" i="0" u="none" strike="noStrike">
                          <a:solidFill>
                            <a:srgbClr val="000000"/>
                          </a:solidFill>
                          <a:effectLst/>
                          <a:latin typeface="Verdana" panose="020B0604030504040204" pitchFamily="34" charset="0"/>
                        </a:rPr>
                        <a:t>Total Liabilities with MV impact</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2505511"/>
                  </a:ext>
                </a:extLst>
              </a:tr>
              <a:tr h="115795">
                <a:tc>
                  <a:txBody>
                    <a:bodyPr/>
                    <a:lstStyle/>
                    <a:p>
                      <a:pPr algn="l" fontAlgn="ctr"/>
                      <a:r>
                        <a:rPr lang="fr-FR" sz="500" b="0" i="0" u="none" strike="noStrike">
                          <a:solidFill>
                            <a:srgbClr val="000000"/>
                          </a:solidFill>
                          <a:effectLst/>
                          <a:latin typeface="Verdana" panose="020B0604030504040204" pitchFamily="34" charset="0"/>
                        </a:rPr>
                        <a:t>Debt securities issued</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0620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52595622"/>
                  </a:ext>
                </a:extLst>
              </a:tr>
              <a:tr h="115795">
                <a:tc>
                  <a:txBody>
                    <a:bodyPr/>
                    <a:lstStyle/>
                    <a:p>
                      <a:pPr algn="l" fontAlgn="b"/>
                      <a:r>
                        <a:rPr lang="fr-FR" sz="500" b="0" i="0" u="none" strike="noStrike">
                          <a:solidFill>
                            <a:srgbClr val="000000"/>
                          </a:solidFill>
                          <a:effectLst/>
                          <a:latin typeface="Verdana" panose="020B0604030504040204" pitchFamily="34" charset="0"/>
                        </a:rPr>
                        <a:t>Derivatives </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0630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47372843"/>
                  </a:ext>
                </a:extLst>
              </a:tr>
              <a:tr h="120082">
                <a:tc>
                  <a:txBody>
                    <a:bodyPr/>
                    <a:lstStyle/>
                    <a:p>
                      <a:pPr algn="l" fontAlgn="b"/>
                      <a:r>
                        <a:rPr lang="fr-FR" sz="500" b="0" i="0" u="none" strike="noStrike">
                          <a:solidFill>
                            <a:srgbClr val="000000"/>
                          </a:solidFill>
                          <a:effectLst/>
                          <a:latin typeface="Verdana" panose="020B0604030504040204" pitchFamily="34" charset="0"/>
                        </a:rPr>
                        <a:t>Other</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dirty="0">
                          <a:solidFill>
                            <a:srgbClr val="000000"/>
                          </a:solidFill>
                          <a:effectLst/>
                          <a:latin typeface="Verdana" panose="020B0604030504040204" pitchFamily="34" charset="0"/>
                        </a:rPr>
                        <a:t>0640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11045664"/>
                  </a:ext>
                </a:extLst>
              </a:tr>
            </a:tbl>
          </a:graphicData>
        </a:graphic>
      </p:graphicFrame>
    </p:spTree>
    <p:extLst>
      <p:ext uri="{BB962C8B-B14F-4D97-AF65-F5344CB8AC3E}">
        <p14:creationId xmlns:p14="http://schemas.microsoft.com/office/powerpoint/2010/main" val="127070734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d- Template </a:t>
            </a:r>
            <a:r>
              <a:rPr lang="fr-FR" sz="2000" i="1" dirty="0">
                <a:highlight>
                  <a:srgbClr val="FF0000"/>
                </a:highlight>
                <a:latin typeface="Calibri (body)"/>
                <a:cs typeface="Calibri"/>
              </a:rPr>
              <a:t>J09</a:t>
            </a:r>
            <a:r>
              <a:rPr lang="fr-FR" sz="2000" i="1" dirty="0">
                <a:latin typeface="Calibri (body)"/>
                <a:cs typeface="Calibri"/>
              </a:rPr>
              <a:t> – Relevant </a:t>
            </a:r>
            <a:r>
              <a:rPr lang="fr-FR" sz="2000" i="1" dirty="0" err="1">
                <a:latin typeface="Calibri (body)"/>
                <a:cs typeface="Calibri"/>
              </a:rPr>
              <a:t>parameters</a:t>
            </a:r>
            <a:endParaRPr lang="fr-FR" dirty="0">
              <a:latin typeface="Calibri"/>
              <a:cs typeface="Calibri"/>
            </a:endParaRPr>
          </a:p>
        </p:txBody>
      </p:sp>
      <p:graphicFrame>
        <p:nvGraphicFramePr>
          <p:cNvPr id="2" name="Table 1">
            <a:extLst>
              <a:ext uri="{FF2B5EF4-FFF2-40B4-BE49-F238E27FC236}">
                <a16:creationId xmlns:a16="http://schemas.microsoft.com/office/drawing/2014/main" id="{37D05F59-690D-28A9-E862-B66FA8BD94FD}"/>
              </a:ext>
            </a:extLst>
          </p:cNvPr>
          <p:cNvGraphicFramePr>
            <a:graphicFrameLocks noGrp="1"/>
          </p:cNvGraphicFramePr>
          <p:nvPr/>
        </p:nvGraphicFramePr>
        <p:xfrm>
          <a:off x="712912" y="1121214"/>
          <a:ext cx="10761330" cy="4136207"/>
        </p:xfrm>
        <a:graphic>
          <a:graphicData uri="http://schemas.openxmlformats.org/drawingml/2006/table">
            <a:tbl>
              <a:tblPr/>
              <a:tblGrid>
                <a:gridCol w="2803241">
                  <a:extLst>
                    <a:ext uri="{9D8B030D-6E8A-4147-A177-3AD203B41FA5}">
                      <a16:colId xmlns:a16="http://schemas.microsoft.com/office/drawing/2014/main" val="3311833777"/>
                    </a:ext>
                  </a:extLst>
                </a:gridCol>
                <a:gridCol w="327044">
                  <a:extLst>
                    <a:ext uri="{9D8B030D-6E8A-4147-A177-3AD203B41FA5}">
                      <a16:colId xmlns:a16="http://schemas.microsoft.com/office/drawing/2014/main" val="2057005162"/>
                    </a:ext>
                  </a:extLst>
                </a:gridCol>
                <a:gridCol w="747532">
                  <a:extLst>
                    <a:ext uri="{9D8B030D-6E8A-4147-A177-3AD203B41FA5}">
                      <a16:colId xmlns:a16="http://schemas.microsoft.com/office/drawing/2014/main" val="1368608245"/>
                    </a:ext>
                  </a:extLst>
                </a:gridCol>
                <a:gridCol w="996707">
                  <a:extLst>
                    <a:ext uri="{9D8B030D-6E8A-4147-A177-3AD203B41FA5}">
                      <a16:colId xmlns:a16="http://schemas.microsoft.com/office/drawing/2014/main" val="3343643929"/>
                    </a:ext>
                  </a:extLst>
                </a:gridCol>
                <a:gridCol w="996707">
                  <a:extLst>
                    <a:ext uri="{9D8B030D-6E8A-4147-A177-3AD203B41FA5}">
                      <a16:colId xmlns:a16="http://schemas.microsoft.com/office/drawing/2014/main" val="3929051236"/>
                    </a:ext>
                  </a:extLst>
                </a:gridCol>
                <a:gridCol w="825399">
                  <a:extLst>
                    <a:ext uri="{9D8B030D-6E8A-4147-A177-3AD203B41FA5}">
                      <a16:colId xmlns:a16="http://schemas.microsoft.com/office/drawing/2014/main" val="1111915442"/>
                    </a:ext>
                  </a:extLst>
                </a:gridCol>
                <a:gridCol w="677450">
                  <a:extLst>
                    <a:ext uri="{9D8B030D-6E8A-4147-A177-3AD203B41FA5}">
                      <a16:colId xmlns:a16="http://schemas.microsoft.com/office/drawing/2014/main" val="2257471686"/>
                    </a:ext>
                  </a:extLst>
                </a:gridCol>
                <a:gridCol w="677450">
                  <a:extLst>
                    <a:ext uri="{9D8B030D-6E8A-4147-A177-3AD203B41FA5}">
                      <a16:colId xmlns:a16="http://schemas.microsoft.com/office/drawing/2014/main" val="1924614674"/>
                    </a:ext>
                  </a:extLst>
                </a:gridCol>
                <a:gridCol w="677450">
                  <a:extLst>
                    <a:ext uri="{9D8B030D-6E8A-4147-A177-3AD203B41FA5}">
                      <a16:colId xmlns:a16="http://schemas.microsoft.com/office/drawing/2014/main" val="3667771553"/>
                    </a:ext>
                  </a:extLst>
                </a:gridCol>
                <a:gridCol w="677450">
                  <a:extLst>
                    <a:ext uri="{9D8B030D-6E8A-4147-A177-3AD203B41FA5}">
                      <a16:colId xmlns:a16="http://schemas.microsoft.com/office/drawing/2014/main" val="2129063381"/>
                    </a:ext>
                  </a:extLst>
                </a:gridCol>
                <a:gridCol w="677450">
                  <a:extLst>
                    <a:ext uri="{9D8B030D-6E8A-4147-A177-3AD203B41FA5}">
                      <a16:colId xmlns:a16="http://schemas.microsoft.com/office/drawing/2014/main" val="669518399"/>
                    </a:ext>
                  </a:extLst>
                </a:gridCol>
                <a:gridCol w="677450">
                  <a:extLst>
                    <a:ext uri="{9D8B030D-6E8A-4147-A177-3AD203B41FA5}">
                      <a16:colId xmlns:a16="http://schemas.microsoft.com/office/drawing/2014/main" val="2760534934"/>
                    </a:ext>
                  </a:extLst>
                </a:gridCol>
              </a:tblGrid>
              <a:tr h="266832">
                <a:tc>
                  <a:txBody>
                    <a:bodyPr/>
                    <a:lstStyle/>
                    <a:p>
                      <a:pPr algn="l" fontAlgn="ctr"/>
                      <a:r>
                        <a:rPr lang="en-US" sz="700" b="1" i="0" u="none" strike="noStrike" dirty="0">
                          <a:solidFill>
                            <a:srgbClr val="000000"/>
                          </a:solidFill>
                          <a:effectLst/>
                          <a:latin typeface="Verdana" panose="020B0604030504040204" pitchFamily="34" charset="0"/>
                        </a:rPr>
                        <a:t>J 09.00 - RELEVANT PARAMETERS (SIMPLIFIED FOR SNCIS AND 'OTHER' INSTITUTIONS)</a:t>
                      </a: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152545197"/>
                  </a:ext>
                </a:extLst>
              </a:tr>
              <a:tr h="110329">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1" i="0" u="sng"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1980688099"/>
                  </a:ext>
                </a:extLst>
              </a:tr>
              <a:tr h="110329">
                <a:tc>
                  <a:txBody>
                    <a:bodyPr/>
                    <a:lstStyle/>
                    <a:p>
                      <a:pPr algn="r" fontAlgn="ctr"/>
                      <a:r>
                        <a:rPr lang="fr-FR" sz="600" b="1" i="0" u="none" strike="noStrike">
                          <a:solidFill>
                            <a:srgbClr val="000000"/>
                          </a:solidFill>
                          <a:effectLst/>
                          <a:latin typeface="Verdana" panose="020B0604030504040204" pitchFamily="34" charset="0"/>
                        </a:rPr>
                        <a:t>Currency:</a:t>
                      </a:r>
                    </a:p>
                  </a:txBody>
                  <a:tcPr marL="0" marR="0" marT="0"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500" b="0" i="0" u="none" strike="noStrike">
                          <a:solidFill>
                            <a:srgbClr val="000000"/>
                          </a:solidFill>
                          <a:effectLst/>
                          <a:latin typeface="Verdana" panose="020B0604030504040204" pitchFamily="34" charset="0"/>
                        </a:rPr>
                        <a:t>EUR</a:t>
                      </a:r>
                    </a:p>
                  </a:txBody>
                  <a:tcPr marL="0" marR="0" marT="0"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0" marR="0" marT="0"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0" marR="0" marT="0" marB="0" anchor="b">
                    <a:lnL w="6350" cap="flat" cmpd="sng" algn="ctr">
                      <a:solidFill>
                        <a:srgbClr val="000000"/>
                      </a:solidFill>
                      <a:prstDash val="solid"/>
                      <a:round/>
                      <a:headEnd type="none" w="med" len="med"/>
                      <a:tailEnd type="none" w="med" len="med"/>
                    </a:lnL>
                    <a:lnR>
                      <a:noFill/>
                    </a:lnR>
                    <a:lnT>
                      <a:noFill/>
                    </a:lnT>
                    <a:lnB>
                      <a:noFill/>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578295441"/>
                  </a:ext>
                </a:extLst>
              </a:tr>
              <a:tr h="113598">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05950272"/>
                  </a:ext>
                </a:extLst>
              </a:tr>
              <a:tr h="300340">
                <a:tc rowSpan="3" gridSpan="2">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3" hMerge="1">
                  <a:txBody>
                    <a:bodyPr/>
                    <a:lstStyle/>
                    <a:p>
                      <a:endParaRPr lang="fr-FR"/>
                    </a:p>
                  </a:txBody>
                  <a:tcPr/>
                </a:tc>
                <a:tc rowSpan="2">
                  <a:txBody>
                    <a:bodyPr/>
                    <a:lstStyle/>
                    <a:p>
                      <a:pPr algn="ctr" fontAlgn="ctr"/>
                      <a:r>
                        <a:rPr lang="fr-FR" sz="700" b="0" i="0" u="none" strike="noStrike">
                          <a:solidFill>
                            <a:srgbClr val="000000"/>
                          </a:solidFill>
                          <a:effectLst/>
                          <a:latin typeface="Verdana" panose="020B0604030504040204" pitchFamily="34" charset="0"/>
                        </a:rPr>
                        <a:t>Notional amount</a:t>
                      </a:r>
                    </a:p>
                  </a:txBody>
                  <a:tcPr marL="0" marR="0" marT="0" marB="0" anchor="ctr">
                    <a:lnL w="635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Baseline scenario (contractual)</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Baseline scenario (behavioural)</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dirty="0">
                          <a:solidFill>
                            <a:srgbClr val="000000"/>
                          </a:solidFill>
                          <a:effectLst/>
                          <a:latin typeface="Verdana" panose="020B0604030504040204" pitchFamily="34" charset="0"/>
                        </a:rPr>
                        <a:t>Parallel </a:t>
                      </a:r>
                      <a:r>
                        <a:rPr lang="fr-FR" sz="700" b="0" i="0" u="none" strike="noStrike" dirty="0" err="1">
                          <a:solidFill>
                            <a:srgbClr val="000000"/>
                          </a:solidFill>
                          <a:effectLst/>
                          <a:latin typeface="Verdana" panose="020B0604030504040204" pitchFamily="34" charset="0"/>
                        </a:rPr>
                        <a:t>shock</a:t>
                      </a:r>
                      <a:r>
                        <a:rPr lang="fr-FR" sz="700" b="0" i="0" u="none" strike="noStrike" dirty="0">
                          <a:solidFill>
                            <a:srgbClr val="000000"/>
                          </a:solidFill>
                          <a:effectLst/>
                          <a:latin typeface="Verdana" panose="020B0604030504040204" pitchFamily="34" charset="0"/>
                        </a:rPr>
                        <a:t> up</a:t>
                      </a:r>
                      <a:br>
                        <a:rPr lang="fr-FR" sz="700" b="0" i="0" u="none" strike="noStrike" dirty="0">
                          <a:solidFill>
                            <a:srgbClr val="000000"/>
                          </a:solidFill>
                          <a:effectLst/>
                          <a:latin typeface="Verdana" panose="020B0604030504040204" pitchFamily="34" charset="0"/>
                        </a:rPr>
                      </a:br>
                      <a:endParaRPr lang="fr-FR" sz="7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dirty="0">
                          <a:solidFill>
                            <a:srgbClr val="000000"/>
                          </a:solidFill>
                          <a:effectLst/>
                          <a:latin typeface="Verdana" panose="020B0604030504040204" pitchFamily="34" charset="0"/>
                        </a:rPr>
                        <a:t>Parallel </a:t>
                      </a:r>
                      <a:r>
                        <a:rPr lang="fr-FR" sz="700" b="0" i="0" u="none" strike="noStrike" dirty="0" err="1">
                          <a:solidFill>
                            <a:srgbClr val="000000"/>
                          </a:solidFill>
                          <a:effectLst/>
                          <a:latin typeface="Verdana" panose="020B0604030504040204" pitchFamily="34" charset="0"/>
                        </a:rPr>
                        <a:t>shock</a:t>
                      </a:r>
                      <a:r>
                        <a:rPr lang="fr-FR" sz="700" b="0" i="0" u="none" strike="noStrike" dirty="0">
                          <a:solidFill>
                            <a:srgbClr val="000000"/>
                          </a:solidFill>
                          <a:effectLst/>
                          <a:latin typeface="Verdana" panose="020B0604030504040204" pitchFamily="34" charset="0"/>
                        </a:rPr>
                        <a:t> down</a:t>
                      </a:r>
                      <a:br>
                        <a:rPr lang="fr-FR" sz="700" b="0" i="0" u="none" strike="noStrike" dirty="0">
                          <a:solidFill>
                            <a:srgbClr val="000000"/>
                          </a:solidFill>
                          <a:effectLst/>
                          <a:latin typeface="Verdana" panose="020B0604030504040204" pitchFamily="34" charset="0"/>
                        </a:rPr>
                      </a:br>
                      <a:endParaRPr lang="fr-FR" sz="7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Steepener shock</a:t>
                      </a:r>
                      <a:br>
                        <a:rPr lang="fr-FR" sz="700" b="0" i="0" u="none" strike="noStrike">
                          <a:solidFill>
                            <a:srgbClr val="000000"/>
                          </a:solidFill>
                          <a:effectLst/>
                          <a:latin typeface="Verdana" panose="020B0604030504040204" pitchFamily="34" charset="0"/>
                        </a:rPr>
                      </a:br>
                      <a:endParaRPr lang="fr-FR" sz="700" b="0" i="0" u="none" strike="noStrike">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Flattener shock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   Short rates shock up</a:t>
                      </a:r>
                      <a:br>
                        <a:rPr lang="fr-FR" sz="700" b="0" i="0" u="none" strike="noStrike">
                          <a:solidFill>
                            <a:srgbClr val="000000"/>
                          </a:solidFill>
                          <a:effectLst/>
                          <a:latin typeface="Verdana" panose="020B0604030504040204" pitchFamily="34" charset="0"/>
                        </a:rPr>
                      </a:br>
                      <a:endParaRPr lang="fr-FR" sz="700" b="0" i="0" u="none" strike="noStrike">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Short rates shock down</a:t>
                      </a:r>
                      <a:br>
                        <a:rPr lang="fr-FR" sz="700" b="0" i="0" u="none" strike="noStrike">
                          <a:solidFill>
                            <a:srgbClr val="000000"/>
                          </a:solidFill>
                          <a:effectLst/>
                          <a:latin typeface="Verdana" panose="020B0604030504040204" pitchFamily="34" charset="0"/>
                        </a:rPr>
                      </a:br>
                      <a:endParaRPr lang="fr-FR" sz="700" b="0" i="0" u="none" strike="noStrike">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64273565"/>
                  </a:ext>
                </a:extLst>
              </a:tr>
              <a:tr h="334540">
                <a:tc gridSpan="2" vMerge="1">
                  <a:txBody>
                    <a:bodyPr/>
                    <a:lstStyle/>
                    <a:p>
                      <a:endParaRPr lang="fr-FR"/>
                    </a:p>
                  </a:txBody>
                  <a:tcPr/>
                </a:tc>
                <a:tc hMerge="1" vMerge="1">
                  <a:txBody>
                    <a:bodyPr/>
                    <a:lstStyle/>
                    <a:p>
                      <a:endParaRPr lang="fr-FR"/>
                    </a:p>
                  </a:txBody>
                  <a:tcPr/>
                </a:tc>
                <a:tc vMerge="1">
                  <a:txBody>
                    <a:bodyPr/>
                    <a:lstStyle/>
                    <a:p>
                      <a:endParaRPr lang="fr-FR"/>
                    </a:p>
                  </a:txBody>
                  <a:tcPr/>
                </a:tc>
                <a:tc>
                  <a:txBody>
                    <a:bodyPr/>
                    <a:lstStyle/>
                    <a:p>
                      <a:pPr algn="ctr" fontAlgn="ctr"/>
                      <a:r>
                        <a:rPr lang="fr-FR" sz="700" b="0" i="0" u="none" strike="noStrike">
                          <a:solidFill>
                            <a:srgbClr val="000000"/>
                          </a:solidFill>
                          <a:effectLst/>
                          <a:latin typeface="Verdana" panose="020B0604030504040204" pitchFamily="34" charset="0"/>
                        </a:rPr>
                        <a:t>Subject to behavioural modelling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1511496150"/>
                  </a:ext>
                </a:extLst>
              </a:tr>
              <a:tr h="110329">
                <a:tc gridSpan="2" vMerge="1">
                  <a:txBody>
                    <a:bodyPr/>
                    <a:lstStyle/>
                    <a:p>
                      <a:endParaRPr lang="fr-FR"/>
                    </a:p>
                  </a:txBody>
                  <a:tcPr/>
                </a:tc>
                <a:tc hMerge="1" vMerge="1">
                  <a:txBody>
                    <a:bodyPr/>
                    <a:lstStyle/>
                    <a:p>
                      <a:endParaRPr lang="fr-FR"/>
                    </a:p>
                  </a:txBody>
                  <a:tcPr/>
                </a:tc>
                <a:tc>
                  <a:txBody>
                    <a:bodyPr/>
                    <a:lstStyle/>
                    <a:p>
                      <a:pPr algn="ctr" fontAlgn="ctr"/>
                      <a:r>
                        <a:rPr lang="fr-FR" sz="600" b="0" i="0" u="none" strike="noStrike">
                          <a:solidFill>
                            <a:srgbClr val="000000"/>
                          </a:solidFill>
                          <a:effectLst/>
                          <a:latin typeface="Verdana" panose="020B0604030504040204" pitchFamily="34" charset="0"/>
                        </a:rPr>
                        <a:t>0010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0060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0100</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extLst>
                  <a:ext uri="{0D108BD9-81ED-4DB2-BD59-A6C34878D82A}">
                    <a16:rowId xmlns:a16="http://schemas.microsoft.com/office/drawing/2014/main" val="2438230191"/>
                  </a:ext>
                </a:extLst>
              </a:tr>
              <a:tr h="111513">
                <a:tc gridSpan="12">
                  <a:txBody>
                    <a:bodyPr/>
                    <a:lstStyle/>
                    <a:p>
                      <a:pPr algn="l" fontAlgn="b"/>
                      <a:r>
                        <a:rPr lang="fr-FR" sz="700" b="1" i="0" u="none" strike="noStrike">
                          <a:solidFill>
                            <a:srgbClr val="000000"/>
                          </a:solidFill>
                          <a:effectLst/>
                          <a:latin typeface="Verdana" panose="020B0604030504040204" pitchFamily="34" charset="0"/>
                        </a:rPr>
                        <a:t>NMDs - Behavioural modelling </a:t>
                      </a:r>
                    </a:p>
                  </a:txBody>
                  <a:tcPr marL="0"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603986118"/>
                  </a:ext>
                </a:extLst>
              </a:tr>
              <a:tr h="111513">
                <a:tc gridSpan="12">
                  <a:txBody>
                    <a:bodyPr/>
                    <a:lstStyle/>
                    <a:p>
                      <a:pPr algn="l" fontAlgn="b"/>
                      <a:r>
                        <a:rPr lang="en-US" sz="700" b="0" i="0" u="none" strike="noStrike">
                          <a:solidFill>
                            <a:srgbClr val="000000"/>
                          </a:solidFill>
                          <a:effectLst/>
                          <a:latin typeface="Verdana" panose="020B0604030504040204" pitchFamily="34" charset="0"/>
                        </a:rPr>
                        <a:t>Average repricing dates before and after modelling</a:t>
                      </a:r>
                    </a:p>
                  </a:txBody>
                  <a:tcPr marL="61569"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13430042"/>
                  </a:ext>
                </a:extLst>
              </a:tr>
              <a:tr h="111513">
                <a:tc>
                  <a:txBody>
                    <a:bodyPr/>
                    <a:lstStyle/>
                    <a:p>
                      <a:pPr algn="l" fontAlgn="b"/>
                      <a:r>
                        <a:rPr lang="fr-FR" sz="600" b="0" i="0" u="none" strike="noStrike">
                          <a:solidFill>
                            <a:srgbClr val="000000"/>
                          </a:solidFill>
                          <a:effectLst/>
                          <a:latin typeface="Verdana" panose="020B0604030504040204" pitchFamily="34" charset="0"/>
                        </a:rPr>
                        <a:t>NMDs: Retail transactional</a:t>
                      </a:r>
                    </a:p>
                  </a:txBody>
                  <a:tcPr marL="123138"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56073816"/>
                  </a:ext>
                </a:extLst>
              </a:tr>
              <a:tr h="111513">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875151140"/>
                  </a:ext>
                </a:extLst>
              </a:tr>
              <a:tr h="111513">
                <a:tc>
                  <a:txBody>
                    <a:bodyPr/>
                    <a:lstStyle/>
                    <a:p>
                      <a:pPr algn="l" fontAlgn="ctr"/>
                      <a:r>
                        <a:rPr lang="en-US" sz="600" b="0" i="0" u="none" strike="noStrike">
                          <a:solidFill>
                            <a:srgbClr val="000000"/>
                          </a:solidFill>
                          <a:effectLst/>
                          <a:latin typeface="Verdana" panose="020B0604030504040204" pitchFamily="34" charset="0"/>
                        </a:rPr>
                        <a:t>of which: exempted from 5Y cap </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883783016"/>
                  </a:ext>
                </a:extLst>
              </a:tr>
              <a:tr h="111513">
                <a:tc>
                  <a:txBody>
                    <a:bodyPr/>
                    <a:lstStyle/>
                    <a:p>
                      <a:pPr algn="l" fontAlgn="b"/>
                      <a:r>
                        <a:rPr lang="fr-FR" sz="600" b="0" i="0" u="none" strike="noStrike" dirty="0" err="1">
                          <a:solidFill>
                            <a:srgbClr val="000000"/>
                          </a:solidFill>
                          <a:effectLst/>
                          <a:latin typeface="Verdana" panose="020B0604030504040204" pitchFamily="34" charset="0"/>
                        </a:rPr>
                        <a:t>NMDs</a:t>
                      </a:r>
                      <a:r>
                        <a:rPr lang="fr-FR" sz="600" b="0" i="0" u="none" strike="noStrike" dirty="0">
                          <a:solidFill>
                            <a:srgbClr val="000000"/>
                          </a:solidFill>
                          <a:effectLst/>
                          <a:latin typeface="Verdana" panose="020B0604030504040204" pitchFamily="34" charset="0"/>
                        </a:rPr>
                        <a:t>: </a:t>
                      </a:r>
                      <a:r>
                        <a:rPr lang="fr-FR" sz="600" b="0" i="0" u="none" strike="noStrike" dirty="0" err="1">
                          <a:solidFill>
                            <a:srgbClr val="000000"/>
                          </a:solidFill>
                          <a:effectLst/>
                          <a:latin typeface="Verdana" panose="020B0604030504040204" pitchFamily="34" charset="0"/>
                        </a:rPr>
                        <a:t>Retail</a:t>
                      </a:r>
                      <a:r>
                        <a:rPr lang="fr-FR" sz="600" b="0" i="0" u="none" strike="noStrike" dirty="0">
                          <a:solidFill>
                            <a:srgbClr val="000000"/>
                          </a:solidFill>
                          <a:effectLst/>
                          <a:latin typeface="Verdana" panose="020B0604030504040204" pitchFamily="34" charset="0"/>
                        </a:rPr>
                        <a:t> non-</a:t>
                      </a:r>
                      <a:r>
                        <a:rPr lang="fr-FR" sz="600" b="0" i="0" u="none" strike="noStrike" dirty="0" err="1">
                          <a:solidFill>
                            <a:srgbClr val="000000"/>
                          </a:solidFill>
                          <a:effectLst/>
                          <a:latin typeface="Verdana" panose="020B0604030504040204" pitchFamily="34" charset="0"/>
                        </a:rPr>
                        <a:t>transactional</a:t>
                      </a:r>
                      <a:endParaRPr lang="fr-FR" sz="600" b="0" i="0" u="none" strike="noStrike" dirty="0">
                        <a:solidFill>
                          <a:srgbClr val="000000"/>
                        </a:solidFill>
                        <a:effectLst/>
                        <a:latin typeface="Verdana" panose="020B0604030504040204" pitchFamily="34" charset="0"/>
                      </a:endParaRPr>
                    </a:p>
                  </a:txBody>
                  <a:tcPr marL="123138"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84273060"/>
                  </a:ext>
                </a:extLst>
              </a:tr>
              <a:tr h="111513">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495955795"/>
                  </a:ext>
                </a:extLst>
              </a:tr>
              <a:tr h="111513">
                <a:tc>
                  <a:txBody>
                    <a:bodyPr/>
                    <a:lstStyle/>
                    <a:p>
                      <a:pPr algn="l" fontAlgn="ctr"/>
                      <a:r>
                        <a:rPr lang="en-US" sz="600" b="0" i="0" u="none" strike="noStrike">
                          <a:solidFill>
                            <a:srgbClr val="000000"/>
                          </a:solidFill>
                          <a:effectLst/>
                          <a:latin typeface="Verdana" panose="020B0604030504040204" pitchFamily="34" charset="0"/>
                        </a:rPr>
                        <a:t>of which: exempted from 5Y cap </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0060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457429104"/>
                  </a:ext>
                </a:extLst>
              </a:tr>
              <a:tr h="111513">
                <a:tc>
                  <a:txBody>
                    <a:bodyPr/>
                    <a:lstStyle/>
                    <a:p>
                      <a:pPr algn="l" fontAlgn="b"/>
                      <a:r>
                        <a:rPr lang="fr-FR" sz="600" b="0" i="0" u="none" strike="noStrike">
                          <a:solidFill>
                            <a:srgbClr val="000000"/>
                          </a:solidFill>
                          <a:effectLst/>
                          <a:latin typeface="Verdana" panose="020B0604030504040204" pitchFamily="34" charset="0"/>
                        </a:rPr>
                        <a:t>NMDs: Wholesale non-financial</a:t>
                      </a:r>
                    </a:p>
                  </a:txBody>
                  <a:tcPr marL="123138"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38369385"/>
                  </a:ext>
                </a:extLst>
              </a:tr>
              <a:tr h="111513">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742492873"/>
                  </a:ext>
                </a:extLst>
              </a:tr>
              <a:tr h="111513">
                <a:tc>
                  <a:txBody>
                    <a:bodyPr/>
                    <a:lstStyle/>
                    <a:p>
                      <a:pPr algn="l" fontAlgn="ctr"/>
                      <a:r>
                        <a:rPr lang="en-US" sz="600" b="0" i="0" u="none" strike="noStrike">
                          <a:solidFill>
                            <a:srgbClr val="000000"/>
                          </a:solidFill>
                          <a:effectLst/>
                          <a:latin typeface="Verdana" panose="020B0604030504040204" pitchFamily="34" charset="0"/>
                        </a:rPr>
                        <a:t>of which: exempted from 5Y cap </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580057199"/>
                  </a:ext>
                </a:extLst>
              </a:tr>
              <a:tr h="111513">
                <a:tc>
                  <a:txBody>
                    <a:bodyPr/>
                    <a:lstStyle/>
                    <a:p>
                      <a:pPr algn="l" fontAlgn="b"/>
                      <a:r>
                        <a:rPr lang="fr-FR" sz="600" b="0" i="0" u="none" strike="noStrike">
                          <a:solidFill>
                            <a:srgbClr val="000000"/>
                          </a:solidFill>
                          <a:effectLst/>
                          <a:latin typeface="Verdana" panose="020B0604030504040204" pitchFamily="34" charset="0"/>
                        </a:rPr>
                        <a:t>NMDs: Wholesale financial</a:t>
                      </a:r>
                    </a:p>
                  </a:txBody>
                  <a:tcPr marL="123138"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520047324"/>
                  </a:ext>
                </a:extLst>
              </a:tr>
              <a:tr h="111513">
                <a:tc>
                  <a:txBody>
                    <a:bodyPr/>
                    <a:lstStyle/>
                    <a:p>
                      <a:pPr algn="l" fontAlgn="ctr"/>
                      <a:r>
                        <a:rPr lang="fr-FR" sz="600" b="0" i="0" u="none" strike="noStrike">
                          <a:solidFill>
                            <a:srgbClr val="000000"/>
                          </a:solidFill>
                          <a:effectLst/>
                          <a:latin typeface="Verdana" panose="020B0604030504040204" pitchFamily="34" charset="0"/>
                        </a:rPr>
                        <a:t>of which: operational deposits</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57420074"/>
                  </a:ext>
                </a:extLst>
              </a:tr>
              <a:tr h="111513">
                <a:tc gridSpan="12">
                  <a:txBody>
                    <a:bodyPr/>
                    <a:lstStyle/>
                    <a:p>
                      <a:pPr algn="l" fontAlgn="b"/>
                      <a:r>
                        <a:rPr lang="fr-FR" sz="700" b="1" i="0" u="none" strike="noStrike">
                          <a:solidFill>
                            <a:srgbClr val="000000"/>
                          </a:solidFill>
                          <a:effectLst/>
                          <a:latin typeface="Verdana" panose="020B0604030504040204" pitchFamily="34" charset="0"/>
                        </a:rPr>
                        <a:t>Fixed Rate - Prepayment risk</a:t>
                      </a:r>
                    </a:p>
                  </a:txBody>
                  <a:tcPr marL="0"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083454512"/>
                  </a:ext>
                </a:extLst>
              </a:tr>
              <a:tr h="111513">
                <a:tc gridSpan="12">
                  <a:txBody>
                    <a:bodyPr/>
                    <a:lstStyle/>
                    <a:p>
                      <a:pPr algn="l" fontAlgn="b"/>
                      <a:r>
                        <a:rPr lang="en-US" sz="700" b="0" i="0" u="none" strike="noStrike">
                          <a:solidFill>
                            <a:srgbClr val="000000"/>
                          </a:solidFill>
                          <a:effectLst/>
                          <a:latin typeface="Verdana" panose="020B0604030504040204" pitchFamily="34" charset="0"/>
                        </a:rPr>
                        <a:t>Average repricing dates before and after modelling</a:t>
                      </a:r>
                    </a:p>
                  </a:txBody>
                  <a:tcPr marL="61569"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984425535"/>
                  </a:ext>
                </a:extLst>
              </a:tr>
              <a:tr h="111513">
                <a:tc>
                  <a:txBody>
                    <a:bodyPr/>
                    <a:lstStyle/>
                    <a:p>
                      <a:pPr algn="l" fontAlgn="ctr"/>
                      <a:r>
                        <a:rPr lang="fr-FR" sz="600" b="0" i="0" u="none" strike="noStrike">
                          <a:solidFill>
                            <a:srgbClr val="000000"/>
                          </a:solidFill>
                          <a:effectLst/>
                          <a:latin typeface="Verdana" panose="020B0604030504040204" pitchFamily="34" charset="0"/>
                        </a:rPr>
                        <a:t>Loans and advances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0160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330739366"/>
                  </a:ext>
                </a:extLst>
              </a:tr>
              <a:tr h="111513">
                <a:tc>
                  <a:txBody>
                    <a:bodyPr/>
                    <a:lstStyle/>
                    <a:p>
                      <a:pPr algn="l" fontAlgn="ctr"/>
                      <a:r>
                        <a:rPr lang="fr-FR" sz="600" b="0" i="0" u="none" strike="noStrike">
                          <a:solidFill>
                            <a:srgbClr val="000000"/>
                          </a:solidFill>
                          <a:effectLst/>
                          <a:latin typeface="Verdana" panose="020B0604030504040204" pitchFamily="34" charset="0"/>
                        </a:rPr>
                        <a:t>Debt securities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02497000"/>
                  </a:ext>
                </a:extLst>
              </a:tr>
              <a:tr h="111513">
                <a:tc gridSpan="12">
                  <a:txBody>
                    <a:bodyPr/>
                    <a:lstStyle/>
                    <a:p>
                      <a:pPr algn="l" fontAlgn="b"/>
                      <a:r>
                        <a:rPr lang="fr-FR" sz="700" b="0" i="0" u="none" strike="noStrike">
                          <a:solidFill>
                            <a:srgbClr val="000000"/>
                          </a:solidFill>
                          <a:effectLst/>
                          <a:latin typeface="Verdana" panose="020B0604030504040204" pitchFamily="34" charset="0"/>
                        </a:rPr>
                        <a:t>Conditional Prepayment Rates (average)</a:t>
                      </a:r>
                    </a:p>
                  </a:txBody>
                  <a:tcPr marL="61569"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660823282"/>
                  </a:ext>
                </a:extLst>
              </a:tr>
              <a:tr h="111513">
                <a:tc>
                  <a:txBody>
                    <a:bodyPr/>
                    <a:lstStyle/>
                    <a:p>
                      <a:pPr algn="l" fontAlgn="ctr"/>
                      <a:r>
                        <a:rPr lang="fr-FR" sz="600" b="0" i="0" u="none" strike="noStrike">
                          <a:solidFill>
                            <a:srgbClr val="000000"/>
                          </a:solidFill>
                          <a:effectLst/>
                          <a:latin typeface="Verdana" panose="020B0604030504040204" pitchFamily="34" charset="0"/>
                        </a:rPr>
                        <a:t>Loans and advances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479612454"/>
                  </a:ext>
                </a:extLst>
              </a:tr>
              <a:tr h="111513">
                <a:tc>
                  <a:txBody>
                    <a:bodyPr/>
                    <a:lstStyle/>
                    <a:p>
                      <a:pPr algn="l" fontAlgn="ctr"/>
                      <a:r>
                        <a:rPr lang="fr-FR" sz="600" b="0" i="0" u="none" strike="noStrike">
                          <a:solidFill>
                            <a:srgbClr val="000000"/>
                          </a:solidFill>
                          <a:effectLst/>
                          <a:latin typeface="Verdana" panose="020B0604030504040204" pitchFamily="34" charset="0"/>
                        </a:rPr>
                        <a:t>Debt securities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95570698"/>
                  </a:ext>
                </a:extLst>
              </a:tr>
              <a:tr h="111513">
                <a:tc gridSpan="12">
                  <a:txBody>
                    <a:bodyPr/>
                    <a:lstStyle/>
                    <a:p>
                      <a:pPr algn="l" fontAlgn="b"/>
                      <a:r>
                        <a:rPr lang="fr-FR" sz="700" b="1" i="0" u="none" strike="noStrike">
                          <a:solidFill>
                            <a:srgbClr val="000000"/>
                          </a:solidFill>
                          <a:effectLst/>
                          <a:latin typeface="Verdana" panose="020B0604030504040204" pitchFamily="34" charset="0"/>
                        </a:rPr>
                        <a:t>Fixed Rate - Early Redemption</a:t>
                      </a:r>
                    </a:p>
                  </a:txBody>
                  <a:tcPr marL="0"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534233526"/>
                  </a:ext>
                </a:extLst>
              </a:tr>
              <a:tr h="111513">
                <a:tc gridSpan="12">
                  <a:txBody>
                    <a:bodyPr/>
                    <a:lstStyle/>
                    <a:p>
                      <a:pPr algn="l" fontAlgn="b"/>
                      <a:r>
                        <a:rPr lang="en-US" sz="700" b="0" i="0" u="none" strike="noStrike">
                          <a:solidFill>
                            <a:srgbClr val="000000"/>
                          </a:solidFill>
                          <a:effectLst/>
                          <a:latin typeface="Verdana" panose="020B0604030504040204" pitchFamily="34" charset="0"/>
                        </a:rPr>
                        <a:t>Average repricing dates before and after modelling</a:t>
                      </a:r>
                    </a:p>
                  </a:txBody>
                  <a:tcPr marL="61569"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52371541"/>
                  </a:ext>
                </a:extLst>
              </a:tr>
              <a:tr h="111513">
                <a:tc>
                  <a:txBody>
                    <a:bodyPr/>
                    <a:lstStyle/>
                    <a:p>
                      <a:pPr algn="l" fontAlgn="ctr"/>
                      <a:r>
                        <a:rPr lang="fr-FR" sz="600" b="0" i="0" u="none" strike="noStrike">
                          <a:solidFill>
                            <a:srgbClr val="000000"/>
                          </a:solidFill>
                          <a:effectLst/>
                          <a:latin typeface="Verdana" panose="020B0604030504040204" pitchFamily="34" charset="0"/>
                        </a:rPr>
                        <a:t>Term deposits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0505669"/>
                  </a:ext>
                </a:extLst>
              </a:tr>
              <a:tr h="111513">
                <a:tc gridSpan="12">
                  <a:txBody>
                    <a:bodyPr/>
                    <a:lstStyle/>
                    <a:p>
                      <a:pPr algn="l" fontAlgn="b"/>
                      <a:r>
                        <a:rPr lang="fr-FR" sz="700" b="0" i="0" u="none" strike="noStrike">
                          <a:solidFill>
                            <a:srgbClr val="000000"/>
                          </a:solidFill>
                          <a:effectLst/>
                          <a:latin typeface="Verdana" panose="020B0604030504040204" pitchFamily="34" charset="0"/>
                        </a:rPr>
                        <a:t>Early redemtpion rates (average)</a:t>
                      </a:r>
                    </a:p>
                  </a:txBody>
                  <a:tcPr marL="61569"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4174262527"/>
                  </a:ext>
                </a:extLst>
              </a:tr>
              <a:tr h="113598">
                <a:tc>
                  <a:txBody>
                    <a:bodyPr/>
                    <a:lstStyle/>
                    <a:p>
                      <a:pPr algn="l" fontAlgn="ctr"/>
                      <a:r>
                        <a:rPr lang="fr-FR" sz="600" b="0" i="0" u="none" strike="noStrike">
                          <a:solidFill>
                            <a:srgbClr val="000000"/>
                          </a:solidFill>
                          <a:effectLst/>
                          <a:latin typeface="Verdana" panose="020B0604030504040204" pitchFamily="34" charset="0"/>
                        </a:rPr>
                        <a:t>Term deposits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dirty="0">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07501237"/>
                  </a:ext>
                </a:extLst>
              </a:tr>
            </a:tbl>
          </a:graphicData>
        </a:graphic>
      </p:graphicFrame>
      <p:sp>
        <p:nvSpPr>
          <p:cNvPr id="4" name="TextBox 3">
            <a:extLst>
              <a:ext uri="{FF2B5EF4-FFF2-40B4-BE49-F238E27FC236}">
                <a16:creationId xmlns:a16="http://schemas.microsoft.com/office/drawing/2014/main" id="{5B621834-1F83-3243-6141-E4395EC4FFAC}"/>
              </a:ext>
            </a:extLst>
          </p:cNvPr>
          <p:cNvSpPr txBox="1"/>
          <p:nvPr/>
        </p:nvSpPr>
        <p:spPr>
          <a:xfrm>
            <a:off x="712912" y="5582897"/>
            <a:ext cx="10761330" cy="307777"/>
          </a:xfrm>
          <a:prstGeom prst="rect">
            <a:avLst/>
          </a:prstGeom>
          <a:noFill/>
          <a:ln>
            <a:solidFill>
              <a:schemeClr val="tx1">
                <a:lumMod val="50000"/>
              </a:schemeClr>
            </a:solidFill>
          </a:ln>
        </p:spPr>
        <p:txBody>
          <a:bodyPr wrap="square">
            <a:spAutoFit/>
          </a:bodyPr>
          <a:lstStyle/>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J09 vise à mettre en évidence les paramètres liés à l'optionnalité utilisés dans le calcul des différents indicateurs.</a:t>
            </a:r>
          </a:p>
        </p:txBody>
      </p:sp>
      <p:sp>
        <p:nvSpPr>
          <p:cNvPr id="6" name="Espace réservé du texte 15">
            <a:extLst>
              <a:ext uri="{FF2B5EF4-FFF2-40B4-BE49-F238E27FC236}">
                <a16:creationId xmlns:a16="http://schemas.microsoft.com/office/drawing/2014/main" id="{AE2B5A1F-13D8-B4B4-2BA5-62276CF7C505}"/>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345816709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52D885F9-EF9E-4E04-F4B9-B568FABCB69E}"/>
              </a:ext>
            </a:extLst>
          </p:cNvPr>
          <p:cNvSpPr/>
          <p:nvPr/>
        </p:nvSpPr>
        <p:spPr>
          <a:xfrm>
            <a:off x="0" y="6083166"/>
            <a:ext cx="12127828" cy="774834"/>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d- Template </a:t>
            </a:r>
            <a:r>
              <a:rPr lang="fr-FR" sz="2000" i="1" dirty="0">
                <a:highlight>
                  <a:srgbClr val="FF0000"/>
                </a:highlight>
                <a:latin typeface="Calibri (body)"/>
                <a:cs typeface="Calibri"/>
              </a:rPr>
              <a:t>J08</a:t>
            </a:r>
            <a:r>
              <a:rPr lang="fr-FR" sz="2000" i="1" dirty="0">
                <a:latin typeface="Calibri (body)"/>
                <a:cs typeface="Calibri"/>
              </a:rPr>
              <a:t> – Relevant </a:t>
            </a:r>
            <a:r>
              <a:rPr lang="fr-FR" sz="2000" i="1" dirty="0" err="1">
                <a:latin typeface="Calibri (body)"/>
                <a:cs typeface="Calibri"/>
              </a:rPr>
              <a:t>parameters</a:t>
            </a:r>
            <a:endParaRPr lang="fr-FR" dirty="0">
              <a:latin typeface="Calibri"/>
              <a:cs typeface="Calibri"/>
            </a:endParaRPr>
          </a:p>
        </p:txBody>
      </p:sp>
      <p:sp>
        <p:nvSpPr>
          <p:cNvPr id="4" name="TextBox 3">
            <a:extLst>
              <a:ext uri="{FF2B5EF4-FFF2-40B4-BE49-F238E27FC236}">
                <a16:creationId xmlns:a16="http://schemas.microsoft.com/office/drawing/2014/main" id="{5B621834-1F83-3243-6141-E4395EC4FFAC}"/>
              </a:ext>
            </a:extLst>
          </p:cNvPr>
          <p:cNvSpPr txBox="1"/>
          <p:nvPr/>
        </p:nvSpPr>
        <p:spPr>
          <a:xfrm>
            <a:off x="388542" y="6162806"/>
            <a:ext cx="10761330" cy="307777"/>
          </a:xfrm>
          <a:prstGeom prst="rect">
            <a:avLst/>
          </a:prstGeom>
          <a:noFill/>
          <a:ln>
            <a:solidFill>
              <a:schemeClr val="tx1">
                <a:lumMod val="50000"/>
              </a:schemeClr>
            </a:solidFill>
          </a:ln>
        </p:spPr>
        <p:txBody>
          <a:bodyPr wrap="square">
            <a:spAutoFit/>
          </a:bodyPr>
          <a:lstStyle/>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J08 vise à mettre en évidence les paramètres liés à l'optionnalité utilisés dans le calcul des différents indicateurs.</a:t>
            </a:r>
          </a:p>
        </p:txBody>
      </p:sp>
      <p:sp>
        <p:nvSpPr>
          <p:cNvPr id="6" name="Espace réservé du texte 15">
            <a:extLst>
              <a:ext uri="{FF2B5EF4-FFF2-40B4-BE49-F238E27FC236}">
                <a16:creationId xmlns:a16="http://schemas.microsoft.com/office/drawing/2014/main" id="{AE2B5A1F-13D8-B4B4-2BA5-62276CF7C505}"/>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5" name="Table 4">
            <a:extLst>
              <a:ext uri="{FF2B5EF4-FFF2-40B4-BE49-F238E27FC236}">
                <a16:creationId xmlns:a16="http://schemas.microsoft.com/office/drawing/2014/main" id="{ECB9582A-9A91-4E88-91E2-CDE4D835CF99}"/>
              </a:ext>
            </a:extLst>
          </p:cNvPr>
          <p:cNvGraphicFramePr>
            <a:graphicFrameLocks noGrp="1"/>
          </p:cNvGraphicFramePr>
          <p:nvPr>
            <p:extLst>
              <p:ext uri="{D42A27DB-BD31-4B8C-83A1-F6EECF244321}">
                <p14:modId xmlns:p14="http://schemas.microsoft.com/office/powerpoint/2010/main" val="3947700009"/>
              </p:ext>
            </p:extLst>
          </p:nvPr>
        </p:nvGraphicFramePr>
        <p:xfrm>
          <a:off x="394637" y="865499"/>
          <a:ext cx="11521440" cy="5102144"/>
        </p:xfrm>
        <a:graphic>
          <a:graphicData uri="http://schemas.openxmlformats.org/drawingml/2006/table">
            <a:tbl>
              <a:tblPr/>
              <a:tblGrid>
                <a:gridCol w="2988614">
                  <a:extLst>
                    <a:ext uri="{9D8B030D-6E8A-4147-A177-3AD203B41FA5}">
                      <a16:colId xmlns:a16="http://schemas.microsoft.com/office/drawing/2014/main" val="2490117980"/>
                    </a:ext>
                  </a:extLst>
                </a:gridCol>
                <a:gridCol w="331124">
                  <a:extLst>
                    <a:ext uri="{9D8B030D-6E8A-4147-A177-3AD203B41FA5}">
                      <a16:colId xmlns:a16="http://schemas.microsoft.com/office/drawing/2014/main" val="3978395687"/>
                    </a:ext>
                  </a:extLst>
                </a:gridCol>
                <a:gridCol w="798095">
                  <a:extLst>
                    <a:ext uri="{9D8B030D-6E8A-4147-A177-3AD203B41FA5}">
                      <a16:colId xmlns:a16="http://schemas.microsoft.com/office/drawing/2014/main" val="1815169541"/>
                    </a:ext>
                  </a:extLst>
                </a:gridCol>
                <a:gridCol w="1069788">
                  <a:extLst>
                    <a:ext uri="{9D8B030D-6E8A-4147-A177-3AD203B41FA5}">
                      <a16:colId xmlns:a16="http://schemas.microsoft.com/office/drawing/2014/main" val="1027826662"/>
                    </a:ext>
                  </a:extLst>
                </a:gridCol>
                <a:gridCol w="1069788">
                  <a:extLst>
                    <a:ext uri="{9D8B030D-6E8A-4147-A177-3AD203B41FA5}">
                      <a16:colId xmlns:a16="http://schemas.microsoft.com/office/drawing/2014/main" val="2003663497"/>
                    </a:ext>
                  </a:extLst>
                </a:gridCol>
                <a:gridCol w="882999">
                  <a:extLst>
                    <a:ext uri="{9D8B030D-6E8A-4147-A177-3AD203B41FA5}">
                      <a16:colId xmlns:a16="http://schemas.microsoft.com/office/drawing/2014/main" val="1428936394"/>
                    </a:ext>
                  </a:extLst>
                </a:gridCol>
                <a:gridCol w="730172">
                  <a:extLst>
                    <a:ext uri="{9D8B030D-6E8A-4147-A177-3AD203B41FA5}">
                      <a16:colId xmlns:a16="http://schemas.microsoft.com/office/drawing/2014/main" val="1864593359"/>
                    </a:ext>
                  </a:extLst>
                </a:gridCol>
                <a:gridCol w="730172">
                  <a:extLst>
                    <a:ext uri="{9D8B030D-6E8A-4147-A177-3AD203B41FA5}">
                      <a16:colId xmlns:a16="http://schemas.microsoft.com/office/drawing/2014/main" val="1138501349"/>
                    </a:ext>
                  </a:extLst>
                </a:gridCol>
                <a:gridCol w="730172">
                  <a:extLst>
                    <a:ext uri="{9D8B030D-6E8A-4147-A177-3AD203B41FA5}">
                      <a16:colId xmlns:a16="http://schemas.microsoft.com/office/drawing/2014/main" val="3971856091"/>
                    </a:ext>
                  </a:extLst>
                </a:gridCol>
                <a:gridCol w="730172">
                  <a:extLst>
                    <a:ext uri="{9D8B030D-6E8A-4147-A177-3AD203B41FA5}">
                      <a16:colId xmlns:a16="http://schemas.microsoft.com/office/drawing/2014/main" val="1243503154"/>
                    </a:ext>
                  </a:extLst>
                </a:gridCol>
                <a:gridCol w="730172">
                  <a:extLst>
                    <a:ext uri="{9D8B030D-6E8A-4147-A177-3AD203B41FA5}">
                      <a16:colId xmlns:a16="http://schemas.microsoft.com/office/drawing/2014/main" val="2170491057"/>
                    </a:ext>
                  </a:extLst>
                </a:gridCol>
                <a:gridCol w="730172">
                  <a:extLst>
                    <a:ext uri="{9D8B030D-6E8A-4147-A177-3AD203B41FA5}">
                      <a16:colId xmlns:a16="http://schemas.microsoft.com/office/drawing/2014/main" val="904200442"/>
                    </a:ext>
                  </a:extLst>
                </a:gridCol>
              </a:tblGrid>
              <a:tr h="189153">
                <a:tc>
                  <a:txBody>
                    <a:bodyPr/>
                    <a:lstStyle/>
                    <a:p>
                      <a:pPr algn="l" fontAlgn="ctr"/>
                      <a:r>
                        <a:rPr lang="fr-FR" sz="500" b="1" i="0" u="none" strike="noStrike">
                          <a:solidFill>
                            <a:srgbClr val="000000"/>
                          </a:solidFill>
                          <a:effectLst/>
                          <a:latin typeface="Verdana" panose="020B0604030504040204" pitchFamily="34" charset="0"/>
                        </a:rPr>
                        <a:t>J 08.00 - RELEVANT PARAMETERS</a:t>
                      </a:r>
                    </a:p>
                  </a:txBody>
                  <a:tcPr marL="2667" marR="2667" marT="2667"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83864781"/>
                  </a:ext>
                </a:extLst>
              </a:tr>
              <a:tr h="79799">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1" i="0" u="sng"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4117509888"/>
                  </a:ext>
                </a:extLst>
              </a:tr>
              <a:tr h="82754">
                <a:tc>
                  <a:txBody>
                    <a:bodyPr/>
                    <a:lstStyle/>
                    <a:p>
                      <a:pPr algn="r" fontAlgn="ctr"/>
                      <a:r>
                        <a:rPr lang="fr-FR" sz="400" b="1" i="0" u="none" strike="noStrike">
                          <a:solidFill>
                            <a:srgbClr val="000000"/>
                          </a:solidFill>
                          <a:effectLst/>
                          <a:latin typeface="Verdana" panose="020B0604030504040204" pitchFamily="34" charset="0"/>
                        </a:rPr>
                        <a:t>Currency:</a:t>
                      </a:r>
                    </a:p>
                  </a:txBody>
                  <a:tcPr marL="2667" marR="2667" marT="2667"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2667" marR="2667" marT="2667"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67" marR="2667" marT="2667" marB="0" anchor="b">
                    <a:lnL w="6350" cap="flat" cmpd="sng" algn="ctr">
                      <a:solidFill>
                        <a:srgbClr val="000000"/>
                      </a:solidFill>
                      <a:prstDash val="solid"/>
                      <a:round/>
                      <a:headEnd type="none" w="med" len="med"/>
                      <a:tailEnd type="none" w="med" len="med"/>
                    </a:lnL>
                    <a:lnR>
                      <a:noFill/>
                    </a:lnR>
                    <a:lnT>
                      <a:noFill/>
                    </a:lnT>
                    <a:lnB>
                      <a:noFill/>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extLst>
                  <a:ext uri="{0D108BD9-81ED-4DB2-BD59-A6C34878D82A}">
                    <a16:rowId xmlns:a16="http://schemas.microsoft.com/office/drawing/2014/main" val="4199733847"/>
                  </a:ext>
                </a:extLst>
              </a:tr>
              <a:tr h="87396">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87430114"/>
                  </a:ext>
                </a:extLst>
              </a:tr>
              <a:tr h="212798">
                <a:tc rowSpan="3" gridSpan="2">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3" hMerge="1">
                  <a:txBody>
                    <a:bodyPr/>
                    <a:lstStyle/>
                    <a:p>
                      <a:endParaRPr lang="fr-FR"/>
                    </a:p>
                  </a:txBody>
                  <a:tcPr/>
                </a:tc>
                <a:tc rowSpan="2">
                  <a:txBody>
                    <a:bodyPr/>
                    <a:lstStyle/>
                    <a:p>
                      <a:pPr algn="ctr" fontAlgn="ctr"/>
                      <a:r>
                        <a:rPr lang="fr-FR" sz="500" b="0" i="0" u="none" strike="noStrike">
                          <a:solidFill>
                            <a:srgbClr val="000000"/>
                          </a:solidFill>
                          <a:effectLst/>
                          <a:latin typeface="Verdana" panose="020B0604030504040204" pitchFamily="34" charset="0"/>
                        </a:rPr>
                        <a:t>Notional amount</a:t>
                      </a:r>
                    </a:p>
                  </a:txBody>
                  <a:tcPr marL="2667" marR="2667" marT="2667" marB="0" anchor="ctr">
                    <a:lnL w="635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Baseline scenario (contractual)</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Baseline scenario (behavioural)</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Parallel shock up</a:t>
                      </a:r>
                      <a:br>
                        <a:rPr lang="fr-FR" sz="500" b="0" i="0" u="none" strike="noStrike">
                          <a:solidFill>
                            <a:srgbClr val="000000"/>
                          </a:solidFill>
                          <a:effectLst/>
                          <a:latin typeface="Verdana" panose="020B0604030504040204" pitchFamily="34" charset="0"/>
                        </a:rPr>
                      </a:br>
                      <a:endParaRPr lang="fr-FR" sz="500" b="0" i="0" u="none" strike="noStrike">
                        <a:solidFill>
                          <a:srgbClr val="000000"/>
                        </a:solidFill>
                        <a:effectLst/>
                        <a:latin typeface="Verdana" panose="020B0604030504040204" pitchFamily="34" charset="0"/>
                      </a:endParaRP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Parallel shock down</a:t>
                      </a:r>
                      <a:br>
                        <a:rPr lang="fr-FR" sz="500" b="0" i="0" u="none" strike="noStrike">
                          <a:solidFill>
                            <a:srgbClr val="000000"/>
                          </a:solidFill>
                          <a:effectLst/>
                          <a:latin typeface="Verdana" panose="020B0604030504040204" pitchFamily="34" charset="0"/>
                        </a:rPr>
                      </a:br>
                      <a:endParaRPr lang="fr-FR" sz="500" b="0" i="0" u="none" strike="noStrike">
                        <a:solidFill>
                          <a:srgbClr val="000000"/>
                        </a:solidFill>
                        <a:effectLst/>
                        <a:latin typeface="Verdana" panose="020B0604030504040204" pitchFamily="34" charset="0"/>
                      </a:endParaRP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Steepener shock</a:t>
                      </a:r>
                      <a:br>
                        <a:rPr lang="fr-FR" sz="500" b="0" i="0" u="none" strike="noStrike">
                          <a:solidFill>
                            <a:srgbClr val="000000"/>
                          </a:solidFill>
                          <a:effectLst/>
                          <a:latin typeface="Verdana" panose="020B0604030504040204" pitchFamily="34" charset="0"/>
                        </a:rPr>
                      </a:br>
                      <a:endParaRPr lang="fr-FR" sz="500" b="0" i="0" u="none" strike="noStrike">
                        <a:solidFill>
                          <a:srgbClr val="000000"/>
                        </a:solidFill>
                        <a:effectLst/>
                        <a:latin typeface="Verdana" panose="020B0604030504040204" pitchFamily="34" charset="0"/>
                      </a:endParaRP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Flattener shock </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   Short rates shock up</a:t>
                      </a:r>
                      <a:br>
                        <a:rPr lang="fr-FR" sz="500" b="0" i="0" u="none" strike="noStrike">
                          <a:solidFill>
                            <a:srgbClr val="000000"/>
                          </a:solidFill>
                          <a:effectLst/>
                          <a:latin typeface="Verdana" panose="020B0604030504040204" pitchFamily="34" charset="0"/>
                        </a:rPr>
                      </a:br>
                      <a:endParaRPr lang="fr-FR" sz="500" b="0" i="0" u="none" strike="noStrike">
                        <a:solidFill>
                          <a:srgbClr val="000000"/>
                        </a:solidFill>
                        <a:effectLst/>
                        <a:latin typeface="Verdana" panose="020B0604030504040204" pitchFamily="34" charset="0"/>
                      </a:endParaRP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Short rates shock down</a:t>
                      </a:r>
                      <a:br>
                        <a:rPr lang="fr-FR" sz="500" b="0" i="0" u="none" strike="noStrike">
                          <a:solidFill>
                            <a:srgbClr val="000000"/>
                          </a:solidFill>
                          <a:effectLst/>
                          <a:latin typeface="Verdana" panose="020B0604030504040204" pitchFamily="34" charset="0"/>
                        </a:rPr>
                      </a:br>
                      <a:endParaRPr lang="fr-FR" sz="500" b="0" i="0" u="none" strike="noStrike">
                        <a:solidFill>
                          <a:srgbClr val="000000"/>
                        </a:solidFill>
                        <a:effectLst/>
                        <a:latin typeface="Verdana" panose="020B0604030504040204" pitchFamily="34" charset="0"/>
                      </a:endParaRPr>
                    </a:p>
                  </a:txBody>
                  <a:tcPr marL="2667" marR="2667" marT="266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850901414"/>
                  </a:ext>
                </a:extLst>
              </a:tr>
              <a:tr h="350229">
                <a:tc gridSpan="2" vMerge="1">
                  <a:txBody>
                    <a:bodyPr/>
                    <a:lstStyle/>
                    <a:p>
                      <a:endParaRPr lang="fr-FR"/>
                    </a:p>
                  </a:txBody>
                  <a:tcPr/>
                </a:tc>
                <a:tc hMerge="1" vMerge="1">
                  <a:txBody>
                    <a:bodyPr/>
                    <a:lstStyle/>
                    <a:p>
                      <a:endParaRPr lang="fr-FR"/>
                    </a:p>
                  </a:txBody>
                  <a:tcPr/>
                </a:tc>
                <a:tc vMerge="1">
                  <a:txBody>
                    <a:bodyPr/>
                    <a:lstStyle/>
                    <a:p>
                      <a:endParaRPr lang="fr-FR"/>
                    </a:p>
                  </a:txBody>
                  <a:tcPr/>
                </a:tc>
                <a:tc>
                  <a:txBody>
                    <a:bodyPr/>
                    <a:lstStyle/>
                    <a:p>
                      <a:pPr algn="ctr" fontAlgn="ctr"/>
                      <a:r>
                        <a:rPr lang="fr-FR" sz="500" b="0" i="0" u="none" strike="noStrike">
                          <a:solidFill>
                            <a:srgbClr val="000000"/>
                          </a:solidFill>
                          <a:effectLst/>
                          <a:latin typeface="Verdana" panose="020B0604030504040204" pitchFamily="34" charset="0"/>
                        </a:rPr>
                        <a:t>Subject to behavioural modelling (%)</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2632933260"/>
                  </a:ext>
                </a:extLst>
              </a:tr>
              <a:tr h="79799">
                <a:tc gridSpan="2" vMerge="1">
                  <a:txBody>
                    <a:bodyPr/>
                    <a:lstStyle/>
                    <a:p>
                      <a:endParaRPr lang="fr-FR"/>
                    </a:p>
                  </a:txBody>
                  <a:tcPr/>
                </a:tc>
                <a:tc hMerge="1" vMerge="1">
                  <a:txBody>
                    <a:bodyPr/>
                    <a:lstStyle/>
                    <a:p>
                      <a:endParaRPr lang="fr-FR"/>
                    </a:p>
                  </a:txBody>
                  <a:tcPr/>
                </a:tc>
                <a:tc>
                  <a:txBody>
                    <a:bodyPr/>
                    <a:lstStyle/>
                    <a:p>
                      <a:pPr algn="ctr" fontAlgn="ctr"/>
                      <a:r>
                        <a:rPr lang="fr-FR" sz="400" b="0" i="0" u="none" strike="noStrike">
                          <a:solidFill>
                            <a:srgbClr val="000000"/>
                          </a:solidFill>
                          <a:effectLst/>
                          <a:latin typeface="Verdana" panose="020B0604030504040204" pitchFamily="34" charset="0"/>
                        </a:rPr>
                        <a:t>0010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0020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0030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0040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0050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0060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0070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0080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0090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0100</a:t>
                      </a:r>
                    </a:p>
                  </a:txBody>
                  <a:tcPr marL="2667" marR="2667" marT="266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extLst>
                  <a:ext uri="{0D108BD9-81ED-4DB2-BD59-A6C34878D82A}">
                    <a16:rowId xmlns:a16="http://schemas.microsoft.com/office/drawing/2014/main" val="1270312804"/>
                  </a:ext>
                </a:extLst>
              </a:tr>
              <a:tr h="87396">
                <a:tc gridSpan="12">
                  <a:txBody>
                    <a:bodyPr/>
                    <a:lstStyle/>
                    <a:p>
                      <a:pPr algn="l" fontAlgn="b"/>
                      <a:r>
                        <a:rPr lang="fr-FR" sz="500" b="1" i="0" u="none" strike="noStrike">
                          <a:solidFill>
                            <a:srgbClr val="000000"/>
                          </a:solidFill>
                          <a:effectLst/>
                          <a:latin typeface="Verdana" panose="020B0604030504040204" pitchFamily="34" charset="0"/>
                        </a:rPr>
                        <a:t>NMDs - Behavioural modelling </a:t>
                      </a:r>
                    </a:p>
                  </a:txBody>
                  <a:tcPr marL="2667"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261602065"/>
                  </a:ext>
                </a:extLst>
              </a:tr>
              <a:tr h="87396">
                <a:tc gridSpan="12">
                  <a:txBody>
                    <a:bodyPr/>
                    <a:lstStyle/>
                    <a:p>
                      <a:pPr algn="l" fontAlgn="b"/>
                      <a:r>
                        <a:rPr lang="en-US" sz="500" b="0" i="0" u="none" strike="noStrike">
                          <a:solidFill>
                            <a:srgbClr val="000000"/>
                          </a:solidFill>
                          <a:effectLst/>
                          <a:latin typeface="Verdana" panose="020B0604030504040204" pitchFamily="34" charset="0"/>
                        </a:rPr>
                        <a:t>Average repricing dates before and after modelling</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758810627"/>
                  </a:ext>
                </a:extLst>
              </a:tr>
              <a:tr h="87396">
                <a:tc>
                  <a:txBody>
                    <a:bodyPr/>
                    <a:lstStyle/>
                    <a:p>
                      <a:pPr algn="l" fontAlgn="b"/>
                      <a:r>
                        <a:rPr lang="fr-FR" sz="400" b="1" i="0" u="none" strike="noStrike">
                          <a:solidFill>
                            <a:srgbClr val="000000"/>
                          </a:solidFill>
                          <a:effectLst/>
                          <a:latin typeface="Verdana" panose="020B0604030504040204" pitchFamily="34" charset="0"/>
                        </a:rPr>
                        <a:t>NMDs: Retail transactional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0010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647110806"/>
                  </a:ext>
                </a:extLst>
              </a:tr>
              <a:tr h="87396">
                <a:tc>
                  <a:txBody>
                    <a:bodyPr/>
                    <a:lstStyle/>
                    <a:p>
                      <a:pPr algn="l" fontAlgn="ctr"/>
                      <a:r>
                        <a:rPr lang="fr-FR" sz="400" b="0" i="0" u="none" strike="noStrike">
                          <a:solidFill>
                            <a:srgbClr val="000000"/>
                          </a:solidFill>
                          <a:effectLst/>
                          <a:latin typeface="Verdana" panose="020B0604030504040204" pitchFamily="34" charset="0"/>
                        </a:rPr>
                        <a:t>of which: core component</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0020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316456424"/>
                  </a:ext>
                </a:extLst>
              </a:tr>
              <a:tr h="87396">
                <a:tc>
                  <a:txBody>
                    <a:bodyPr/>
                    <a:lstStyle/>
                    <a:p>
                      <a:pPr algn="l" fontAlgn="ctr"/>
                      <a:r>
                        <a:rPr lang="en-US" sz="400" b="0" i="0" u="none" strike="noStrike">
                          <a:solidFill>
                            <a:srgbClr val="000000"/>
                          </a:solidFill>
                          <a:effectLst/>
                          <a:latin typeface="Verdana" panose="020B0604030504040204" pitchFamily="34" charset="0"/>
                        </a:rPr>
                        <a:t>of which: exempted from 5Y cap </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0030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557697379"/>
                  </a:ext>
                </a:extLst>
              </a:tr>
              <a:tr h="87396">
                <a:tc>
                  <a:txBody>
                    <a:bodyPr/>
                    <a:lstStyle/>
                    <a:p>
                      <a:pPr algn="l" fontAlgn="b"/>
                      <a:r>
                        <a:rPr lang="fr-FR" sz="400" b="1" i="0" u="none" strike="noStrike">
                          <a:solidFill>
                            <a:srgbClr val="000000"/>
                          </a:solidFill>
                          <a:effectLst/>
                          <a:latin typeface="Verdana" panose="020B0604030504040204" pitchFamily="34" charset="0"/>
                        </a:rPr>
                        <a:t>NMDs: Retail non-transactional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0040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953467115"/>
                  </a:ext>
                </a:extLst>
              </a:tr>
              <a:tr h="87396">
                <a:tc>
                  <a:txBody>
                    <a:bodyPr/>
                    <a:lstStyle/>
                    <a:p>
                      <a:pPr algn="l" fontAlgn="ctr"/>
                      <a:r>
                        <a:rPr lang="fr-FR" sz="400" b="0" i="0" u="none" strike="noStrike">
                          <a:solidFill>
                            <a:srgbClr val="000000"/>
                          </a:solidFill>
                          <a:effectLst/>
                          <a:latin typeface="Verdana" panose="020B0604030504040204" pitchFamily="34" charset="0"/>
                        </a:rPr>
                        <a:t>of which: core component</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0050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622905352"/>
                  </a:ext>
                </a:extLst>
              </a:tr>
              <a:tr h="87396">
                <a:tc>
                  <a:txBody>
                    <a:bodyPr/>
                    <a:lstStyle/>
                    <a:p>
                      <a:pPr algn="l" fontAlgn="ctr"/>
                      <a:r>
                        <a:rPr lang="en-US" sz="400" b="0" i="0" u="none" strike="noStrike">
                          <a:solidFill>
                            <a:srgbClr val="000000"/>
                          </a:solidFill>
                          <a:effectLst/>
                          <a:latin typeface="Verdana" panose="020B0604030504040204" pitchFamily="34" charset="0"/>
                        </a:rPr>
                        <a:t>of which: exempted from 5Y cap </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0060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133102843"/>
                  </a:ext>
                </a:extLst>
              </a:tr>
              <a:tr h="87396">
                <a:tc>
                  <a:txBody>
                    <a:bodyPr/>
                    <a:lstStyle/>
                    <a:p>
                      <a:pPr algn="l" fontAlgn="b"/>
                      <a:r>
                        <a:rPr lang="fr-FR" sz="400" b="1" i="0" u="none" strike="noStrike">
                          <a:solidFill>
                            <a:srgbClr val="000000"/>
                          </a:solidFill>
                          <a:effectLst/>
                          <a:latin typeface="Verdana" panose="020B0604030504040204" pitchFamily="34" charset="0"/>
                        </a:rPr>
                        <a:t>NMDs: Wholesale non-financial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0070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01820447"/>
                  </a:ext>
                </a:extLst>
              </a:tr>
              <a:tr h="87396">
                <a:tc>
                  <a:txBody>
                    <a:bodyPr/>
                    <a:lstStyle/>
                    <a:p>
                      <a:pPr algn="l" fontAlgn="ctr"/>
                      <a:r>
                        <a:rPr lang="fr-FR" sz="400" b="0" i="0" u="none" strike="noStrike">
                          <a:solidFill>
                            <a:srgbClr val="000000"/>
                          </a:solidFill>
                          <a:effectLst/>
                          <a:latin typeface="Verdana" panose="020B0604030504040204" pitchFamily="34" charset="0"/>
                        </a:rPr>
                        <a:t>of which: core component</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0080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14287824"/>
                  </a:ext>
                </a:extLst>
              </a:tr>
              <a:tr h="87396">
                <a:tc>
                  <a:txBody>
                    <a:bodyPr/>
                    <a:lstStyle/>
                    <a:p>
                      <a:pPr algn="l" fontAlgn="ctr"/>
                      <a:r>
                        <a:rPr lang="en-US" sz="400" b="0" i="0" u="none" strike="noStrike">
                          <a:solidFill>
                            <a:srgbClr val="000000"/>
                          </a:solidFill>
                          <a:effectLst/>
                          <a:latin typeface="Verdana" panose="020B0604030504040204" pitchFamily="34" charset="0"/>
                        </a:rPr>
                        <a:t>of which: exempted from 5Y cap </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0090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w="6350" cap="flat" cmpd="sng" algn="ctr">
                      <a:solidFill>
                        <a:srgbClr val="D9D9D9"/>
                      </a:solidFill>
                      <a:prstDash val="dash"/>
                      <a:round/>
                      <a:headEnd type="none" w="med" len="med"/>
                      <a:tailEnd type="none" w="med" len="med"/>
                    </a:lnL>
                    <a:lnR>
                      <a:noFill/>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03409584"/>
                  </a:ext>
                </a:extLst>
              </a:tr>
              <a:tr h="87396">
                <a:tc>
                  <a:txBody>
                    <a:bodyPr/>
                    <a:lstStyle/>
                    <a:p>
                      <a:pPr algn="l" fontAlgn="b"/>
                      <a:r>
                        <a:rPr lang="fr-FR" sz="400" b="1" i="0" u="none" strike="noStrike">
                          <a:solidFill>
                            <a:srgbClr val="000000"/>
                          </a:solidFill>
                          <a:effectLst/>
                          <a:latin typeface="Verdana" panose="020B0604030504040204" pitchFamily="34" charset="0"/>
                        </a:rPr>
                        <a:t>NMDs: Wholesale financial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0100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846993632"/>
                  </a:ext>
                </a:extLst>
              </a:tr>
              <a:tr h="87396">
                <a:tc>
                  <a:txBody>
                    <a:bodyPr/>
                    <a:lstStyle/>
                    <a:p>
                      <a:pPr algn="l" fontAlgn="ctr"/>
                      <a:r>
                        <a:rPr lang="fr-FR" sz="400" b="0" i="0" u="none" strike="noStrike">
                          <a:solidFill>
                            <a:srgbClr val="000000"/>
                          </a:solidFill>
                          <a:effectLst/>
                          <a:latin typeface="Verdana" panose="020B0604030504040204" pitchFamily="34" charset="0"/>
                        </a:rPr>
                        <a:t>of which: operational deposits</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0110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48580507"/>
                  </a:ext>
                </a:extLst>
              </a:tr>
              <a:tr h="87396">
                <a:tc gridSpan="12">
                  <a:txBody>
                    <a:bodyPr/>
                    <a:lstStyle/>
                    <a:p>
                      <a:pPr algn="l" fontAlgn="b"/>
                      <a:r>
                        <a:rPr lang="en-US" sz="500" b="0" i="0" u="none" strike="noStrike">
                          <a:solidFill>
                            <a:srgbClr val="000000"/>
                          </a:solidFill>
                          <a:effectLst/>
                          <a:latin typeface="Verdana" panose="020B0604030504040204" pitchFamily="34" charset="0"/>
                        </a:rPr>
                        <a:t>PTR over 1 year horizon </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743566742"/>
                  </a:ext>
                </a:extLst>
              </a:tr>
              <a:tr h="87396">
                <a:tc>
                  <a:txBody>
                    <a:bodyPr/>
                    <a:lstStyle/>
                    <a:p>
                      <a:pPr algn="l" fontAlgn="b"/>
                      <a:r>
                        <a:rPr lang="fr-FR" sz="400" b="0" i="0" u="none" strike="noStrike">
                          <a:solidFill>
                            <a:srgbClr val="000000"/>
                          </a:solidFill>
                          <a:effectLst/>
                          <a:latin typeface="Verdana" panose="020B0604030504040204" pitchFamily="34" charset="0"/>
                        </a:rPr>
                        <a:t>NMDs: Retail transactional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0120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013379457"/>
                  </a:ext>
                </a:extLst>
              </a:tr>
              <a:tr h="87396">
                <a:tc>
                  <a:txBody>
                    <a:bodyPr/>
                    <a:lstStyle/>
                    <a:p>
                      <a:pPr algn="l" fontAlgn="b"/>
                      <a:r>
                        <a:rPr lang="fr-FR" sz="400" b="0" i="0" u="none" strike="noStrike">
                          <a:solidFill>
                            <a:srgbClr val="000000"/>
                          </a:solidFill>
                          <a:effectLst/>
                          <a:latin typeface="Verdana" panose="020B0604030504040204" pitchFamily="34" charset="0"/>
                        </a:rPr>
                        <a:t>NMDs: Retail non-transactional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0130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43966783"/>
                  </a:ext>
                </a:extLst>
              </a:tr>
              <a:tr h="87396">
                <a:tc>
                  <a:txBody>
                    <a:bodyPr/>
                    <a:lstStyle/>
                    <a:p>
                      <a:pPr algn="l" fontAlgn="b"/>
                      <a:r>
                        <a:rPr lang="fr-FR" sz="400" b="0" i="0" u="none" strike="noStrike">
                          <a:solidFill>
                            <a:srgbClr val="000000"/>
                          </a:solidFill>
                          <a:effectLst/>
                          <a:latin typeface="Verdana" panose="020B0604030504040204" pitchFamily="34" charset="0"/>
                        </a:rPr>
                        <a:t>NMDs: Wholesale non-financial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0140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45460503"/>
                  </a:ext>
                </a:extLst>
              </a:tr>
              <a:tr h="87396">
                <a:tc>
                  <a:txBody>
                    <a:bodyPr/>
                    <a:lstStyle/>
                    <a:p>
                      <a:pPr algn="l" fontAlgn="b"/>
                      <a:r>
                        <a:rPr lang="fr-FR" sz="400" b="0" i="0" u="none" strike="noStrike">
                          <a:solidFill>
                            <a:srgbClr val="000000"/>
                          </a:solidFill>
                          <a:effectLst/>
                          <a:latin typeface="Verdana" panose="020B0604030504040204" pitchFamily="34" charset="0"/>
                        </a:rPr>
                        <a:t>NMDs: Wholesale financial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0150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38193692"/>
                  </a:ext>
                </a:extLst>
              </a:tr>
              <a:tr h="87396">
                <a:tc gridSpan="12">
                  <a:txBody>
                    <a:bodyPr/>
                    <a:lstStyle/>
                    <a:p>
                      <a:pPr algn="l" fontAlgn="b"/>
                      <a:r>
                        <a:rPr lang="fr-FR" sz="500" b="1" i="0" u="none" strike="noStrike">
                          <a:solidFill>
                            <a:srgbClr val="000000"/>
                          </a:solidFill>
                          <a:effectLst/>
                          <a:latin typeface="Verdana" panose="020B0604030504040204" pitchFamily="34" charset="0"/>
                        </a:rPr>
                        <a:t>Fixed Rate - Prepayment risk</a:t>
                      </a:r>
                    </a:p>
                  </a:txBody>
                  <a:tcPr marL="2667"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032119142"/>
                  </a:ext>
                </a:extLst>
              </a:tr>
              <a:tr h="87396">
                <a:tc gridSpan="12">
                  <a:txBody>
                    <a:bodyPr/>
                    <a:lstStyle/>
                    <a:p>
                      <a:pPr algn="l" fontAlgn="b"/>
                      <a:r>
                        <a:rPr lang="en-US" sz="500" b="0" i="0" u="none" strike="noStrike">
                          <a:solidFill>
                            <a:srgbClr val="000000"/>
                          </a:solidFill>
                          <a:effectLst/>
                          <a:latin typeface="Verdana" panose="020B0604030504040204" pitchFamily="34" charset="0"/>
                        </a:rPr>
                        <a:t>Average repricing dates before and after modelling</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242983137"/>
                  </a:ext>
                </a:extLst>
              </a:tr>
              <a:tr h="87396">
                <a:tc>
                  <a:txBody>
                    <a:bodyPr/>
                    <a:lstStyle/>
                    <a:p>
                      <a:pPr algn="l" fontAlgn="ctr"/>
                      <a:r>
                        <a:rPr lang="fr-FR" sz="400" b="0" i="0" u="none" strike="noStrike">
                          <a:solidFill>
                            <a:srgbClr val="000000"/>
                          </a:solidFill>
                          <a:effectLst/>
                          <a:latin typeface="Verdana" panose="020B0604030504040204" pitchFamily="34" charset="0"/>
                        </a:rPr>
                        <a:t>Loans and advances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0160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28819641"/>
                  </a:ext>
                </a:extLst>
              </a:tr>
              <a:tr h="87396">
                <a:tc>
                  <a:txBody>
                    <a:bodyPr/>
                    <a:lstStyle/>
                    <a:p>
                      <a:pPr algn="l" fontAlgn="ctr"/>
                      <a:r>
                        <a:rPr lang="fr-FR" sz="400" b="0" i="0" u="none" strike="noStrike">
                          <a:solidFill>
                            <a:srgbClr val="000000"/>
                          </a:solidFill>
                          <a:effectLst/>
                          <a:latin typeface="Verdana" panose="020B0604030504040204" pitchFamily="34" charset="0"/>
                        </a:rPr>
                        <a:t>of which: non-performing</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0170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59332875"/>
                  </a:ext>
                </a:extLst>
              </a:tr>
              <a:tr h="87396">
                <a:tc>
                  <a:txBody>
                    <a:bodyPr/>
                    <a:lstStyle/>
                    <a:p>
                      <a:pPr algn="l" fontAlgn="ctr"/>
                      <a:r>
                        <a:rPr lang="fr-FR" sz="400" b="0" i="0" u="none" strike="noStrike">
                          <a:solidFill>
                            <a:srgbClr val="000000"/>
                          </a:solidFill>
                          <a:effectLst/>
                          <a:latin typeface="Verdana" panose="020B0604030504040204" pitchFamily="34" charset="0"/>
                        </a:rPr>
                        <a:t>Retail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0180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055611592"/>
                  </a:ext>
                </a:extLst>
              </a:tr>
              <a:tr h="87396">
                <a:tc>
                  <a:txBody>
                    <a:bodyPr/>
                    <a:lstStyle/>
                    <a:p>
                      <a:pPr algn="l" fontAlgn="ctr"/>
                      <a:r>
                        <a:rPr lang="en-US" sz="400" b="0" i="0" u="none" strike="noStrike">
                          <a:solidFill>
                            <a:srgbClr val="000000"/>
                          </a:solidFill>
                          <a:effectLst/>
                          <a:latin typeface="Verdana" panose="020B0604030504040204" pitchFamily="34" charset="0"/>
                        </a:rPr>
                        <a:t>of which: secured by residential real estate </a:t>
                      </a:r>
                    </a:p>
                  </a:txBody>
                  <a:tcPr marL="32004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0190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981350656"/>
                  </a:ext>
                </a:extLst>
              </a:tr>
              <a:tr h="87396">
                <a:tc>
                  <a:txBody>
                    <a:bodyPr/>
                    <a:lstStyle/>
                    <a:p>
                      <a:pPr algn="l" fontAlgn="ctr"/>
                      <a:r>
                        <a:rPr lang="fr-FR" sz="400" b="0" i="0" u="none" strike="noStrike">
                          <a:solidFill>
                            <a:srgbClr val="000000"/>
                          </a:solidFill>
                          <a:effectLst/>
                          <a:latin typeface="Verdana" panose="020B0604030504040204" pitchFamily="34" charset="0"/>
                        </a:rPr>
                        <a:t>Wholesale non-financial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0200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25477265"/>
                  </a:ext>
                </a:extLst>
              </a:tr>
              <a:tr h="87396">
                <a:tc>
                  <a:txBody>
                    <a:bodyPr/>
                    <a:lstStyle/>
                    <a:p>
                      <a:pPr algn="l" fontAlgn="ctr"/>
                      <a:r>
                        <a:rPr lang="fr-FR" sz="400" b="0" i="0" u="none" strike="noStrike">
                          <a:solidFill>
                            <a:srgbClr val="000000"/>
                          </a:solidFill>
                          <a:effectLst/>
                          <a:latin typeface="Verdana" panose="020B0604030504040204" pitchFamily="34" charset="0"/>
                        </a:rPr>
                        <a:t>Wholesale financial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0210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735328279"/>
                  </a:ext>
                </a:extLst>
              </a:tr>
              <a:tr h="87396">
                <a:tc>
                  <a:txBody>
                    <a:bodyPr/>
                    <a:lstStyle/>
                    <a:p>
                      <a:pPr algn="l" fontAlgn="ctr"/>
                      <a:r>
                        <a:rPr lang="fr-FR" sz="400" b="0" i="0" u="none" strike="noStrike">
                          <a:solidFill>
                            <a:srgbClr val="000000"/>
                          </a:solidFill>
                          <a:effectLst/>
                          <a:latin typeface="Verdana" panose="020B0604030504040204" pitchFamily="34" charset="0"/>
                        </a:rPr>
                        <a:t>Debt securities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0220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2477950"/>
                  </a:ext>
                </a:extLst>
              </a:tr>
              <a:tr h="87396">
                <a:tc gridSpan="12">
                  <a:txBody>
                    <a:bodyPr/>
                    <a:lstStyle/>
                    <a:p>
                      <a:pPr algn="l" fontAlgn="b"/>
                      <a:r>
                        <a:rPr lang="en-US" sz="500" b="0" i="0" u="none" strike="noStrike">
                          <a:solidFill>
                            <a:srgbClr val="000000"/>
                          </a:solidFill>
                          <a:effectLst/>
                          <a:latin typeface="Verdana" panose="020B0604030504040204" pitchFamily="34" charset="0"/>
                        </a:rPr>
                        <a:t>Conditional prepayment rates (annualised average)</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216031"/>
                  </a:ext>
                </a:extLst>
              </a:tr>
              <a:tr h="87396">
                <a:tc>
                  <a:txBody>
                    <a:bodyPr/>
                    <a:lstStyle/>
                    <a:p>
                      <a:pPr algn="l" fontAlgn="ctr"/>
                      <a:r>
                        <a:rPr lang="fr-FR" sz="400" b="0" i="0" u="none" strike="noStrike">
                          <a:solidFill>
                            <a:srgbClr val="000000"/>
                          </a:solidFill>
                          <a:effectLst/>
                          <a:latin typeface="Verdana" panose="020B0604030504040204" pitchFamily="34" charset="0"/>
                        </a:rPr>
                        <a:t>Loans and advances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0230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183957247"/>
                  </a:ext>
                </a:extLst>
              </a:tr>
              <a:tr h="87396">
                <a:tc>
                  <a:txBody>
                    <a:bodyPr/>
                    <a:lstStyle/>
                    <a:p>
                      <a:pPr algn="l" fontAlgn="ctr"/>
                      <a:r>
                        <a:rPr lang="fr-FR" sz="400" b="0" i="0" u="none" strike="noStrike">
                          <a:solidFill>
                            <a:srgbClr val="000000"/>
                          </a:solidFill>
                          <a:effectLst/>
                          <a:latin typeface="Verdana" panose="020B0604030504040204" pitchFamily="34" charset="0"/>
                        </a:rPr>
                        <a:t>of which: non-performing</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0240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267838565"/>
                  </a:ext>
                </a:extLst>
              </a:tr>
              <a:tr h="87396">
                <a:tc>
                  <a:txBody>
                    <a:bodyPr/>
                    <a:lstStyle/>
                    <a:p>
                      <a:pPr algn="l" fontAlgn="ctr"/>
                      <a:r>
                        <a:rPr lang="fr-FR" sz="400" b="0" i="0" u="none" strike="noStrike">
                          <a:solidFill>
                            <a:srgbClr val="000000"/>
                          </a:solidFill>
                          <a:effectLst/>
                          <a:latin typeface="Verdana" panose="020B0604030504040204" pitchFamily="34" charset="0"/>
                        </a:rPr>
                        <a:t>Retail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0250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40085330"/>
                  </a:ext>
                </a:extLst>
              </a:tr>
              <a:tr h="87396">
                <a:tc>
                  <a:txBody>
                    <a:bodyPr/>
                    <a:lstStyle/>
                    <a:p>
                      <a:pPr algn="l" fontAlgn="ctr"/>
                      <a:r>
                        <a:rPr lang="en-US" sz="400" b="0" i="0" u="none" strike="noStrike">
                          <a:solidFill>
                            <a:srgbClr val="000000"/>
                          </a:solidFill>
                          <a:effectLst/>
                          <a:latin typeface="Verdana" panose="020B0604030504040204" pitchFamily="34" charset="0"/>
                        </a:rPr>
                        <a:t>of which: secured by residential real estate </a:t>
                      </a:r>
                    </a:p>
                  </a:txBody>
                  <a:tcPr marL="32004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0260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95046787"/>
                  </a:ext>
                </a:extLst>
              </a:tr>
              <a:tr h="87396">
                <a:tc>
                  <a:txBody>
                    <a:bodyPr/>
                    <a:lstStyle/>
                    <a:p>
                      <a:pPr algn="l" fontAlgn="ctr"/>
                      <a:r>
                        <a:rPr lang="fr-FR" sz="400" b="0" i="0" u="none" strike="noStrike">
                          <a:solidFill>
                            <a:srgbClr val="000000"/>
                          </a:solidFill>
                          <a:effectLst/>
                          <a:latin typeface="Verdana" panose="020B0604030504040204" pitchFamily="34" charset="0"/>
                        </a:rPr>
                        <a:t>Wholesale non-financial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0270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782508599"/>
                  </a:ext>
                </a:extLst>
              </a:tr>
              <a:tr h="87396">
                <a:tc>
                  <a:txBody>
                    <a:bodyPr/>
                    <a:lstStyle/>
                    <a:p>
                      <a:pPr algn="l" fontAlgn="ctr"/>
                      <a:r>
                        <a:rPr lang="fr-FR" sz="400" b="0" i="0" u="none" strike="noStrike">
                          <a:solidFill>
                            <a:srgbClr val="000000"/>
                          </a:solidFill>
                          <a:effectLst/>
                          <a:latin typeface="Verdana" panose="020B0604030504040204" pitchFamily="34" charset="0"/>
                        </a:rPr>
                        <a:t>Wholesale financial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0280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78127412"/>
                  </a:ext>
                </a:extLst>
              </a:tr>
              <a:tr h="87396">
                <a:tc>
                  <a:txBody>
                    <a:bodyPr/>
                    <a:lstStyle/>
                    <a:p>
                      <a:pPr algn="l" fontAlgn="ctr"/>
                      <a:r>
                        <a:rPr lang="fr-FR" sz="400" b="0" i="0" u="none" strike="noStrike">
                          <a:solidFill>
                            <a:srgbClr val="000000"/>
                          </a:solidFill>
                          <a:effectLst/>
                          <a:latin typeface="Verdana" panose="020B0604030504040204" pitchFamily="34" charset="0"/>
                        </a:rPr>
                        <a:t>Debt securities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0290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18026861"/>
                  </a:ext>
                </a:extLst>
              </a:tr>
              <a:tr h="87396">
                <a:tc gridSpan="12">
                  <a:txBody>
                    <a:bodyPr/>
                    <a:lstStyle/>
                    <a:p>
                      <a:pPr algn="l" fontAlgn="b"/>
                      <a:r>
                        <a:rPr lang="fr-FR" sz="500" b="1" i="0" u="none" strike="noStrike">
                          <a:solidFill>
                            <a:srgbClr val="000000"/>
                          </a:solidFill>
                          <a:effectLst/>
                          <a:latin typeface="Verdana" panose="020B0604030504040204" pitchFamily="34" charset="0"/>
                        </a:rPr>
                        <a:t>Fixed Rate - early redemption</a:t>
                      </a:r>
                    </a:p>
                  </a:txBody>
                  <a:tcPr marL="2667"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6331691"/>
                  </a:ext>
                </a:extLst>
              </a:tr>
              <a:tr h="87396">
                <a:tc gridSpan="12">
                  <a:txBody>
                    <a:bodyPr/>
                    <a:lstStyle/>
                    <a:p>
                      <a:pPr algn="l" fontAlgn="b"/>
                      <a:r>
                        <a:rPr lang="en-US" sz="500" b="0" i="0" u="none" strike="noStrike">
                          <a:solidFill>
                            <a:srgbClr val="000000"/>
                          </a:solidFill>
                          <a:effectLst/>
                          <a:latin typeface="Verdana" panose="020B0604030504040204" pitchFamily="34" charset="0"/>
                        </a:rPr>
                        <a:t>Average repricing dates before and after modelling</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85117481"/>
                  </a:ext>
                </a:extLst>
              </a:tr>
              <a:tr h="87396">
                <a:tc>
                  <a:txBody>
                    <a:bodyPr/>
                    <a:lstStyle/>
                    <a:p>
                      <a:pPr algn="l" fontAlgn="ctr"/>
                      <a:r>
                        <a:rPr lang="fr-FR" sz="400" b="0" i="0" u="none" strike="noStrike">
                          <a:solidFill>
                            <a:srgbClr val="000000"/>
                          </a:solidFill>
                          <a:effectLst/>
                          <a:latin typeface="Verdana" panose="020B0604030504040204" pitchFamily="34" charset="0"/>
                        </a:rPr>
                        <a:t>Term deposits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0300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250157576"/>
                  </a:ext>
                </a:extLst>
              </a:tr>
              <a:tr h="87396">
                <a:tc>
                  <a:txBody>
                    <a:bodyPr/>
                    <a:lstStyle/>
                    <a:p>
                      <a:pPr algn="l" fontAlgn="ctr"/>
                      <a:r>
                        <a:rPr lang="fr-FR" sz="400" b="0" i="0" u="none" strike="noStrike">
                          <a:solidFill>
                            <a:srgbClr val="000000"/>
                          </a:solidFill>
                          <a:effectLst/>
                          <a:latin typeface="Verdana" panose="020B0604030504040204" pitchFamily="34" charset="0"/>
                        </a:rPr>
                        <a:t>Retail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0310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857402642"/>
                  </a:ext>
                </a:extLst>
              </a:tr>
              <a:tr h="87396">
                <a:tc>
                  <a:txBody>
                    <a:bodyPr/>
                    <a:lstStyle/>
                    <a:p>
                      <a:pPr algn="l" fontAlgn="ctr"/>
                      <a:r>
                        <a:rPr lang="fr-FR" sz="400" b="0" i="0" u="none" strike="noStrike">
                          <a:solidFill>
                            <a:srgbClr val="000000"/>
                          </a:solidFill>
                          <a:effectLst/>
                          <a:latin typeface="Verdana" panose="020B0604030504040204" pitchFamily="34" charset="0"/>
                        </a:rPr>
                        <a:t>Wholesale non-financial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0320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060886588"/>
                  </a:ext>
                </a:extLst>
              </a:tr>
              <a:tr h="87396">
                <a:tc>
                  <a:txBody>
                    <a:bodyPr/>
                    <a:lstStyle/>
                    <a:p>
                      <a:pPr algn="l" fontAlgn="ctr"/>
                      <a:r>
                        <a:rPr lang="fr-FR" sz="400" b="0" i="0" u="none" strike="noStrike">
                          <a:solidFill>
                            <a:srgbClr val="000000"/>
                          </a:solidFill>
                          <a:effectLst/>
                          <a:latin typeface="Verdana" panose="020B0604030504040204" pitchFamily="34" charset="0"/>
                        </a:rPr>
                        <a:t>Wholesale financial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0330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57156065"/>
                  </a:ext>
                </a:extLst>
              </a:tr>
              <a:tr h="87396">
                <a:tc gridSpan="12">
                  <a:txBody>
                    <a:bodyPr/>
                    <a:lstStyle/>
                    <a:p>
                      <a:pPr algn="l" fontAlgn="b"/>
                      <a:r>
                        <a:rPr lang="en-US" sz="500" b="0" i="0" u="none" strike="noStrike">
                          <a:solidFill>
                            <a:srgbClr val="000000"/>
                          </a:solidFill>
                          <a:effectLst/>
                          <a:latin typeface="Verdana" panose="020B0604030504040204" pitchFamily="34" charset="0"/>
                        </a:rPr>
                        <a:t>Early redemtpion rates (cumulative average)</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204027225"/>
                  </a:ext>
                </a:extLst>
              </a:tr>
              <a:tr h="87396">
                <a:tc>
                  <a:txBody>
                    <a:bodyPr/>
                    <a:lstStyle/>
                    <a:p>
                      <a:pPr algn="l" fontAlgn="ctr"/>
                      <a:r>
                        <a:rPr lang="fr-FR" sz="400" b="0" i="0" u="none" strike="noStrike">
                          <a:solidFill>
                            <a:srgbClr val="000000"/>
                          </a:solidFill>
                          <a:effectLst/>
                          <a:latin typeface="Verdana" panose="020B0604030504040204" pitchFamily="34" charset="0"/>
                        </a:rPr>
                        <a:t>Term deposits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0340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712782378"/>
                  </a:ext>
                </a:extLst>
              </a:tr>
              <a:tr h="87396">
                <a:tc>
                  <a:txBody>
                    <a:bodyPr/>
                    <a:lstStyle/>
                    <a:p>
                      <a:pPr algn="l" fontAlgn="ctr"/>
                      <a:r>
                        <a:rPr lang="fr-FR" sz="400" b="0" i="0" u="none" strike="noStrike">
                          <a:solidFill>
                            <a:srgbClr val="000000"/>
                          </a:solidFill>
                          <a:effectLst/>
                          <a:latin typeface="Verdana" panose="020B0604030504040204" pitchFamily="34" charset="0"/>
                        </a:rPr>
                        <a:t>Retail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0350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245147331"/>
                  </a:ext>
                </a:extLst>
              </a:tr>
              <a:tr h="87396">
                <a:tc>
                  <a:txBody>
                    <a:bodyPr/>
                    <a:lstStyle/>
                    <a:p>
                      <a:pPr algn="l" fontAlgn="ctr"/>
                      <a:r>
                        <a:rPr lang="fr-FR" sz="400" b="0" i="0" u="none" strike="noStrike">
                          <a:solidFill>
                            <a:srgbClr val="000000"/>
                          </a:solidFill>
                          <a:effectLst/>
                          <a:latin typeface="Verdana" panose="020B0604030504040204" pitchFamily="34" charset="0"/>
                        </a:rPr>
                        <a:t>Wholesale non-financial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0360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626664552"/>
                  </a:ext>
                </a:extLst>
              </a:tr>
              <a:tr h="87396">
                <a:tc>
                  <a:txBody>
                    <a:bodyPr/>
                    <a:lstStyle/>
                    <a:p>
                      <a:pPr algn="l" fontAlgn="ctr"/>
                      <a:r>
                        <a:rPr lang="fr-FR" sz="400" b="0" i="0" u="none" strike="noStrike">
                          <a:solidFill>
                            <a:srgbClr val="000000"/>
                          </a:solidFill>
                          <a:effectLst/>
                          <a:latin typeface="Verdana" panose="020B0604030504040204" pitchFamily="34" charset="0"/>
                        </a:rPr>
                        <a:t>Wholesale financial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0370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dirty="0">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6890990"/>
                  </a:ext>
                </a:extLst>
              </a:tr>
            </a:tbl>
          </a:graphicData>
        </a:graphic>
      </p:graphicFrame>
    </p:spTree>
    <p:extLst>
      <p:ext uri="{BB962C8B-B14F-4D97-AF65-F5344CB8AC3E}">
        <p14:creationId xmlns:p14="http://schemas.microsoft.com/office/powerpoint/2010/main" val="206348422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e- Template </a:t>
            </a:r>
            <a:r>
              <a:rPr lang="fr-FR" sz="2000" i="1" dirty="0">
                <a:highlight>
                  <a:srgbClr val="FF0000"/>
                </a:highlight>
                <a:latin typeface="Calibri (body)"/>
                <a:cs typeface="Calibri"/>
              </a:rPr>
              <a:t>J10</a:t>
            </a:r>
            <a:r>
              <a:rPr lang="fr-FR" sz="2000" i="1" dirty="0">
                <a:latin typeface="Calibri (body)"/>
                <a:cs typeface="Calibri"/>
              </a:rPr>
              <a:t> – Qualitative information</a:t>
            </a:r>
            <a:endParaRPr lang="fr-FR" dirty="0">
              <a:latin typeface="Calibri"/>
              <a:cs typeface="Calibri"/>
            </a:endParaRPr>
          </a:p>
        </p:txBody>
      </p:sp>
      <p:sp>
        <p:nvSpPr>
          <p:cNvPr id="6" name="Espace réservé du texte 15">
            <a:extLst>
              <a:ext uri="{FF2B5EF4-FFF2-40B4-BE49-F238E27FC236}">
                <a16:creationId xmlns:a16="http://schemas.microsoft.com/office/drawing/2014/main" id="{AE2B5A1F-13D8-B4B4-2BA5-62276CF7C505}"/>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7" name="Table 6">
            <a:extLst>
              <a:ext uri="{FF2B5EF4-FFF2-40B4-BE49-F238E27FC236}">
                <a16:creationId xmlns:a16="http://schemas.microsoft.com/office/drawing/2014/main" id="{6231FC4B-DCC3-5E2F-2C05-A895F61FDF05}"/>
              </a:ext>
            </a:extLst>
          </p:cNvPr>
          <p:cNvGraphicFramePr>
            <a:graphicFrameLocks noGrp="1"/>
          </p:cNvGraphicFramePr>
          <p:nvPr>
            <p:extLst>
              <p:ext uri="{D42A27DB-BD31-4B8C-83A1-F6EECF244321}">
                <p14:modId xmlns:p14="http://schemas.microsoft.com/office/powerpoint/2010/main" val="4251458316"/>
              </p:ext>
            </p:extLst>
          </p:nvPr>
        </p:nvGraphicFramePr>
        <p:xfrm>
          <a:off x="388542" y="864716"/>
          <a:ext cx="5261487" cy="5516770"/>
        </p:xfrm>
        <a:graphic>
          <a:graphicData uri="http://schemas.openxmlformats.org/drawingml/2006/table">
            <a:tbl>
              <a:tblPr/>
              <a:tblGrid>
                <a:gridCol w="3645514">
                  <a:extLst>
                    <a:ext uri="{9D8B030D-6E8A-4147-A177-3AD203B41FA5}">
                      <a16:colId xmlns:a16="http://schemas.microsoft.com/office/drawing/2014/main" val="611180102"/>
                    </a:ext>
                  </a:extLst>
                </a:gridCol>
                <a:gridCol w="329322">
                  <a:extLst>
                    <a:ext uri="{9D8B030D-6E8A-4147-A177-3AD203B41FA5}">
                      <a16:colId xmlns:a16="http://schemas.microsoft.com/office/drawing/2014/main" val="1974753217"/>
                    </a:ext>
                  </a:extLst>
                </a:gridCol>
                <a:gridCol w="1286651">
                  <a:extLst>
                    <a:ext uri="{9D8B030D-6E8A-4147-A177-3AD203B41FA5}">
                      <a16:colId xmlns:a16="http://schemas.microsoft.com/office/drawing/2014/main" val="3668532333"/>
                    </a:ext>
                  </a:extLst>
                </a:gridCol>
              </a:tblGrid>
              <a:tr h="254794">
                <a:tc>
                  <a:txBody>
                    <a:bodyPr/>
                    <a:lstStyle/>
                    <a:p>
                      <a:pPr algn="l" fontAlgn="ctr"/>
                      <a:r>
                        <a:rPr lang="fr-FR" sz="600" b="1" i="0" u="none" strike="noStrike">
                          <a:solidFill>
                            <a:srgbClr val="000000"/>
                          </a:solidFill>
                          <a:effectLst/>
                          <a:latin typeface="Verdana" panose="020B0604030504040204" pitchFamily="34" charset="0"/>
                        </a:rPr>
                        <a:t>J 10.00 - QUALITATIVE INFORMATION</a:t>
                      </a:r>
                    </a:p>
                  </a:txBody>
                  <a:tcPr marL="3069" marR="3069" marT="3069"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300" b="1" i="0" u="none" strike="noStrike">
                          <a:solidFill>
                            <a:srgbClr val="000000"/>
                          </a:solidFill>
                          <a:effectLst/>
                          <a:latin typeface="Verdana" panose="020B0604030504040204" pitchFamily="34" charset="0"/>
                        </a:rPr>
                        <a:t> </a:t>
                      </a:r>
                    </a:p>
                  </a:txBody>
                  <a:tcPr marL="3069" marR="3069" marT="306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300" b="1" i="0" u="none" strike="noStrike">
                          <a:solidFill>
                            <a:srgbClr val="000000"/>
                          </a:solidFill>
                          <a:effectLst/>
                          <a:latin typeface="Verdana" panose="020B0604030504040204" pitchFamily="34" charset="0"/>
                        </a:rPr>
                        <a:t> </a:t>
                      </a:r>
                    </a:p>
                  </a:txBody>
                  <a:tcPr marL="3069" marR="3069" marT="3069"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915200118"/>
                  </a:ext>
                </a:extLst>
              </a:tr>
              <a:tr h="104936">
                <a:tc>
                  <a:txBody>
                    <a:bodyPr/>
                    <a:lstStyle/>
                    <a:p>
                      <a:pPr algn="l" fontAlgn="b"/>
                      <a:endParaRPr lang="fr-FR" sz="400" b="0" i="0" u="none"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1906123504"/>
                  </a:ext>
                </a:extLst>
              </a:tr>
              <a:tr h="104936">
                <a:tc>
                  <a:txBody>
                    <a:bodyPr/>
                    <a:lstStyle/>
                    <a:p>
                      <a:pPr algn="l" fontAlgn="b"/>
                      <a:r>
                        <a:rPr lang="fr-FR" sz="500" b="1" i="0" u="none" strike="noStrike">
                          <a:solidFill>
                            <a:srgbClr val="000000"/>
                          </a:solidFill>
                          <a:effectLst/>
                          <a:latin typeface="Verdana" panose="020B0604030504040204" pitchFamily="34" charset="0"/>
                        </a:rPr>
                        <a:t>10.1 General qualitative information</a:t>
                      </a: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extLst>
                  <a:ext uri="{0D108BD9-81ED-4DB2-BD59-A6C34878D82A}">
                    <a16:rowId xmlns:a16="http://schemas.microsoft.com/office/drawing/2014/main" val="4205454218"/>
                  </a:ext>
                </a:extLst>
              </a:tr>
              <a:tr h="108823">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68207095"/>
                  </a:ext>
                </a:extLst>
              </a:tr>
              <a:tr h="106491">
                <a:tc gridSpan="3">
                  <a:txBody>
                    <a:bodyPr/>
                    <a:lstStyle/>
                    <a:p>
                      <a:pPr algn="l" fontAlgn="b"/>
                      <a:r>
                        <a:rPr lang="en-US" sz="500" b="1" i="0" u="none" strike="noStrike">
                          <a:solidFill>
                            <a:srgbClr val="000000"/>
                          </a:solidFill>
                          <a:effectLst/>
                          <a:latin typeface="Verdana" panose="020B0604030504040204" pitchFamily="34" charset="0"/>
                        </a:rPr>
                        <a:t>Approach NII and EVE SOT estimates</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720603325"/>
                  </a:ext>
                </a:extLst>
              </a:tr>
              <a:tr h="106491">
                <a:tc>
                  <a:txBody>
                    <a:bodyPr/>
                    <a:lstStyle/>
                    <a:p>
                      <a:pPr algn="l" fontAlgn="t"/>
                      <a:r>
                        <a:rPr lang="en-US" sz="500" b="0" i="0" u="none" strike="noStrike">
                          <a:solidFill>
                            <a:srgbClr val="000000"/>
                          </a:solidFill>
                          <a:effectLst/>
                          <a:latin typeface="Verdana" panose="020B0604030504040204" pitchFamily="34" charset="0"/>
                        </a:rPr>
                        <a:t>Approach used for the purpose of the SOT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608461573"/>
                  </a:ext>
                </a:extLst>
              </a:tr>
              <a:tr h="106491">
                <a:tc>
                  <a:txBody>
                    <a:bodyPr/>
                    <a:lstStyle/>
                    <a:p>
                      <a:pPr algn="l" fontAlgn="t"/>
                      <a:r>
                        <a:rPr lang="en-US" sz="500" b="0" i="0" u="none" strike="noStrike">
                          <a:solidFill>
                            <a:srgbClr val="000000"/>
                          </a:solidFill>
                          <a:effectLst/>
                          <a:latin typeface="Verdana" panose="020B0604030504040204" pitchFamily="34" charset="0"/>
                        </a:rPr>
                        <a:t>Requirement from the Competent Authority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96350658"/>
                  </a:ext>
                </a:extLst>
              </a:tr>
              <a:tr h="106491">
                <a:tc gridSpan="3">
                  <a:txBody>
                    <a:bodyPr/>
                    <a:lstStyle/>
                    <a:p>
                      <a:pPr algn="l" fontAlgn="b"/>
                      <a:r>
                        <a:rPr lang="fr-FR" sz="500" b="1" i="0" u="none" strike="noStrike">
                          <a:solidFill>
                            <a:srgbClr val="000000"/>
                          </a:solidFill>
                          <a:effectLst/>
                          <a:latin typeface="Verdana" panose="020B0604030504040204" pitchFamily="34" charset="0"/>
                        </a:rPr>
                        <a:t>NII methodology</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488526577"/>
                  </a:ext>
                </a:extLst>
              </a:tr>
              <a:tr h="106491">
                <a:tc>
                  <a:txBody>
                    <a:bodyPr/>
                    <a:lstStyle/>
                    <a:p>
                      <a:pPr algn="l" fontAlgn="t"/>
                      <a:r>
                        <a:rPr lang="fr-FR" sz="500" b="0" i="0" u="none" strike="noStrike">
                          <a:solidFill>
                            <a:srgbClr val="000000"/>
                          </a:solidFill>
                          <a:effectLst/>
                          <a:latin typeface="Verdana" panose="020B0604030504040204" pitchFamily="34" charset="0"/>
                        </a:rPr>
                        <a:t>Methodology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25439487"/>
                  </a:ext>
                </a:extLst>
              </a:tr>
              <a:tr h="106491">
                <a:tc>
                  <a:txBody>
                    <a:bodyPr/>
                    <a:lstStyle/>
                    <a:p>
                      <a:pPr algn="l" fontAlgn="t"/>
                      <a:r>
                        <a:rPr lang="fr-FR" sz="500" b="0" i="0" u="none" strike="noStrike">
                          <a:solidFill>
                            <a:srgbClr val="000000"/>
                          </a:solidFill>
                          <a:effectLst/>
                          <a:latin typeface="Verdana" panose="020B0604030504040204" pitchFamily="34" charset="0"/>
                        </a:rPr>
                        <a:t>Conditional Cash Flows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835193822"/>
                  </a:ext>
                </a:extLst>
              </a:tr>
              <a:tr h="106491">
                <a:tc>
                  <a:txBody>
                    <a:bodyPr/>
                    <a:lstStyle/>
                    <a:p>
                      <a:pPr algn="l" fontAlgn="t"/>
                      <a:r>
                        <a:rPr lang="fr-FR" sz="500" b="0" i="0" u="none" strike="noStrike">
                          <a:solidFill>
                            <a:srgbClr val="000000"/>
                          </a:solidFill>
                          <a:effectLst/>
                          <a:latin typeface="Verdana" panose="020B0604030504040204" pitchFamily="34" charset="0"/>
                        </a:rPr>
                        <a:t>Option Risk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650878483"/>
                  </a:ext>
                </a:extLst>
              </a:tr>
              <a:tr h="106491">
                <a:tc>
                  <a:txBody>
                    <a:bodyPr/>
                    <a:lstStyle/>
                    <a:p>
                      <a:pPr algn="l" fontAlgn="t"/>
                      <a:r>
                        <a:rPr lang="fr-FR" sz="500" b="0" i="0" u="none" strike="noStrike">
                          <a:solidFill>
                            <a:srgbClr val="000000"/>
                          </a:solidFill>
                          <a:effectLst/>
                          <a:latin typeface="Verdana" panose="020B0604030504040204" pitchFamily="34" charset="0"/>
                        </a:rPr>
                        <a:t>Basis Risk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82769896"/>
                  </a:ext>
                </a:extLst>
              </a:tr>
              <a:tr h="106491">
                <a:tc gridSpan="3">
                  <a:txBody>
                    <a:bodyPr/>
                    <a:lstStyle/>
                    <a:p>
                      <a:pPr algn="l" fontAlgn="b"/>
                      <a:r>
                        <a:rPr lang="fr-FR" sz="500" b="1" i="0" u="none" strike="noStrike">
                          <a:solidFill>
                            <a:srgbClr val="000000"/>
                          </a:solidFill>
                          <a:effectLst/>
                          <a:latin typeface="Verdana" panose="020B0604030504040204" pitchFamily="34" charset="0"/>
                        </a:rPr>
                        <a:t>EVE methodology</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811489845"/>
                  </a:ext>
                </a:extLst>
              </a:tr>
              <a:tr h="106491">
                <a:tc>
                  <a:txBody>
                    <a:bodyPr/>
                    <a:lstStyle/>
                    <a:p>
                      <a:pPr algn="l" fontAlgn="t"/>
                      <a:r>
                        <a:rPr lang="fr-FR" sz="500" b="0" i="0" u="none" strike="noStrike">
                          <a:solidFill>
                            <a:srgbClr val="000000"/>
                          </a:solidFill>
                          <a:effectLst/>
                          <a:latin typeface="Verdana" panose="020B0604030504040204" pitchFamily="34" charset="0"/>
                        </a:rPr>
                        <a:t>Methodology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458515505"/>
                  </a:ext>
                </a:extLst>
              </a:tr>
              <a:tr h="106491">
                <a:tc>
                  <a:txBody>
                    <a:bodyPr/>
                    <a:lstStyle/>
                    <a:p>
                      <a:pPr algn="l" fontAlgn="t"/>
                      <a:r>
                        <a:rPr lang="fr-FR" sz="500" b="0" i="0" u="none" strike="noStrike">
                          <a:solidFill>
                            <a:srgbClr val="000000"/>
                          </a:solidFill>
                          <a:effectLst/>
                          <a:latin typeface="Verdana" panose="020B0604030504040204" pitchFamily="34" charset="0"/>
                        </a:rPr>
                        <a:t>Conditional Cash Flows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265185486"/>
                  </a:ext>
                </a:extLst>
              </a:tr>
              <a:tr h="106491">
                <a:tc>
                  <a:txBody>
                    <a:bodyPr/>
                    <a:lstStyle/>
                    <a:p>
                      <a:pPr algn="l" fontAlgn="t"/>
                      <a:r>
                        <a:rPr lang="fr-FR" sz="500" b="0" i="0" u="none" strike="noStrike">
                          <a:solidFill>
                            <a:srgbClr val="000000"/>
                          </a:solidFill>
                          <a:effectLst/>
                          <a:latin typeface="Verdana" panose="020B0604030504040204" pitchFamily="34" charset="0"/>
                        </a:rPr>
                        <a:t>Option Risk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357993231"/>
                  </a:ext>
                </a:extLst>
              </a:tr>
              <a:tr h="106491">
                <a:tc>
                  <a:txBody>
                    <a:bodyPr/>
                    <a:lstStyle/>
                    <a:p>
                      <a:pPr algn="l" fontAlgn="t"/>
                      <a:r>
                        <a:rPr lang="fr-FR" sz="500" b="0" i="0" u="none" strike="noStrike">
                          <a:solidFill>
                            <a:srgbClr val="000000"/>
                          </a:solidFill>
                          <a:effectLst/>
                          <a:latin typeface="Verdana" panose="020B0604030504040204" pitchFamily="34" charset="0"/>
                        </a:rPr>
                        <a:t>Basis Risk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90420235"/>
                  </a:ext>
                </a:extLst>
              </a:tr>
              <a:tr h="106491">
                <a:tc>
                  <a:txBody>
                    <a:bodyPr/>
                    <a:lstStyle/>
                    <a:p>
                      <a:pPr algn="l" fontAlgn="b"/>
                      <a:r>
                        <a:rPr lang="en-US" sz="500" b="0" i="0" u="none" strike="noStrike">
                          <a:solidFill>
                            <a:srgbClr val="000000"/>
                          </a:solidFill>
                          <a:effectLst/>
                          <a:latin typeface="Verdana" panose="020B0604030504040204" pitchFamily="34" charset="0"/>
                        </a:rPr>
                        <a:t>Commercial margins/other spread components (EVE)</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70380465"/>
                  </a:ext>
                </a:extLst>
              </a:tr>
              <a:tr h="110767">
                <a:tc gridSpan="3">
                  <a:txBody>
                    <a:bodyPr/>
                    <a:lstStyle/>
                    <a:p>
                      <a:pPr algn="l" fontAlgn="b"/>
                      <a:r>
                        <a:rPr lang="en-US" sz="500" b="1" i="0" u="none" strike="noStrike">
                          <a:solidFill>
                            <a:srgbClr val="000000"/>
                          </a:solidFill>
                          <a:effectLst/>
                          <a:latin typeface="Verdana" panose="020B0604030504040204" pitchFamily="34" charset="0"/>
                        </a:rPr>
                        <a:t>Scope/Materiality Thresholds (NII/EVE)</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713420463"/>
                  </a:ext>
                </a:extLst>
              </a:tr>
              <a:tr h="106491">
                <a:tc>
                  <a:txBody>
                    <a:bodyPr/>
                    <a:lstStyle/>
                    <a:p>
                      <a:pPr algn="l" fontAlgn="b"/>
                      <a:r>
                        <a:rPr lang="en-US" sz="500" b="0" i="0" u="none" strike="noStrike">
                          <a:solidFill>
                            <a:srgbClr val="000000"/>
                          </a:solidFill>
                          <a:effectLst/>
                          <a:latin typeface="Verdana" panose="020B0604030504040204" pitchFamily="34" charset="0"/>
                        </a:rPr>
                        <a:t>Penalty fees from loan prepayments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10585394"/>
                  </a:ext>
                </a:extLst>
              </a:tr>
              <a:tr h="106491">
                <a:tc>
                  <a:txBody>
                    <a:bodyPr/>
                    <a:lstStyle/>
                    <a:p>
                      <a:pPr algn="l" fontAlgn="b"/>
                      <a:r>
                        <a:rPr lang="fr-FR" sz="500" b="0" i="0" u="none" strike="noStrike">
                          <a:solidFill>
                            <a:srgbClr val="000000"/>
                          </a:solidFill>
                          <a:effectLst/>
                          <a:latin typeface="Verdana" panose="020B0604030504040204" pitchFamily="34" charset="0"/>
                        </a:rPr>
                        <a:t>Pension obligations/pension plan assets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06424352"/>
                  </a:ext>
                </a:extLst>
              </a:tr>
              <a:tr h="106491">
                <a:tc>
                  <a:txBody>
                    <a:bodyPr/>
                    <a:lstStyle/>
                    <a:p>
                      <a:pPr algn="l" fontAlgn="t"/>
                      <a:r>
                        <a:rPr lang="fr-FR" sz="500" b="0" i="0" u="none" strike="noStrike">
                          <a:solidFill>
                            <a:srgbClr val="000000"/>
                          </a:solidFill>
                          <a:effectLst/>
                          <a:latin typeface="Verdana" panose="020B0604030504040204" pitchFamily="34" charset="0"/>
                        </a:rPr>
                        <a:t>Non-performing exposures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820647436"/>
                  </a:ext>
                </a:extLst>
              </a:tr>
              <a:tr h="106491">
                <a:tc>
                  <a:txBody>
                    <a:bodyPr/>
                    <a:lstStyle/>
                    <a:p>
                      <a:pPr algn="l" fontAlgn="t"/>
                      <a:r>
                        <a:rPr lang="fr-FR" sz="500" b="0" i="0" u="none" strike="noStrike">
                          <a:solidFill>
                            <a:srgbClr val="000000"/>
                          </a:solidFill>
                          <a:effectLst/>
                          <a:latin typeface="Verdana" panose="020B0604030504040204" pitchFamily="34" charset="0"/>
                        </a:rPr>
                        <a:t>Fixed rate loan committments </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69292946"/>
                  </a:ext>
                </a:extLst>
              </a:tr>
              <a:tr h="106491">
                <a:tc>
                  <a:txBody>
                    <a:bodyPr/>
                    <a:lstStyle/>
                    <a:p>
                      <a:pPr algn="l" fontAlgn="t"/>
                      <a:r>
                        <a:rPr lang="fr-FR" sz="500" b="0" i="0" u="none" strike="noStrike">
                          <a:solidFill>
                            <a:srgbClr val="000000"/>
                          </a:solidFill>
                          <a:effectLst/>
                          <a:latin typeface="Verdana" panose="020B0604030504040204" pitchFamily="34" charset="0"/>
                        </a:rPr>
                        <a:t>Risk of prepayment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462812476"/>
                  </a:ext>
                </a:extLst>
              </a:tr>
              <a:tr h="108823">
                <a:tc>
                  <a:txBody>
                    <a:bodyPr/>
                    <a:lstStyle/>
                    <a:p>
                      <a:pPr algn="l" fontAlgn="b"/>
                      <a:r>
                        <a:rPr lang="fr-FR" sz="500" b="0" i="0" u="none" strike="noStrike">
                          <a:solidFill>
                            <a:srgbClr val="000000"/>
                          </a:solidFill>
                          <a:effectLst/>
                          <a:latin typeface="Verdana" panose="020B0604030504040204" pitchFamily="34" charset="0"/>
                        </a:rPr>
                        <a:t>Risk of early redemption </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27129799"/>
                  </a:ext>
                </a:extLst>
              </a:tr>
              <a:tr h="106491">
                <a:tc gridSpan="3">
                  <a:txBody>
                    <a:bodyPr/>
                    <a:lstStyle/>
                    <a:p>
                      <a:pPr algn="l" fontAlgn="b"/>
                      <a:r>
                        <a:rPr lang="fr-FR" sz="500" b="1" i="0" u="none" strike="noStrike">
                          <a:solidFill>
                            <a:srgbClr val="000000"/>
                          </a:solidFill>
                          <a:effectLst/>
                          <a:latin typeface="Verdana" panose="020B0604030504040204" pitchFamily="34" charset="0"/>
                        </a:rPr>
                        <a:t>Additional qualitative information</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176435504"/>
                  </a:ext>
                </a:extLst>
              </a:tr>
              <a:tr h="106491">
                <a:tc>
                  <a:txBody>
                    <a:bodyPr/>
                    <a:lstStyle/>
                    <a:p>
                      <a:pPr algn="l" fontAlgn="b"/>
                      <a:r>
                        <a:rPr lang="en-US" sz="500" b="0" i="0" u="none" strike="noStrike">
                          <a:solidFill>
                            <a:srgbClr val="000000"/>
                          </a:solidFill>
                          <a:effectLst/>
                          <a:latin typeface="Verdana" panose="020B0604030504040204" pitchFamily="34" charset="0"/>
                        </a:rPr>
                        <a:t>General approach for NMD modelling</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255985058"/>
                  </a:ext>
                </a:extLst>
              </a:tr>
              <a:tr h="106491">
                <a:tc>
                  <a:txBody>
                    <a:bodyPr/>
                    <a:lstStyle/>
                    <a:p>
                      <a:pPr algn="l" fontAlgn="t"/>
                      <a:r>
                        <a:rPr lang="fr-FR" sz="500" b="0" i="0" u="none" strike="noStrike">
                          <a:solidFill>
                            <a:srgbClr val="000000"/>
                          </a:solidFill>
                          <a:effectLst/>
                          <a:latin typeface="Verdana" panose="020B0604030504040204" pitchFamily="34" charset="0"/>
                        </a:rPr>
                        <a:t>Identification of core component NMD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612032533"/>
                  </a:ext>
                </a:extLst>
              </a:tr>
              <a:tr h="106491">
                <a:tc>
                  <a:txBody>
                    <a:bodyPr/>
                    <a:lstStyle/>
                    <a:p>
                      <a:pPr algn="l" fontAlgn="t"/>
                      <a:r>
                        <a:rPr lang="fr-FR" sz="500" b="0" i="0" u="none" strike="noStrike">
                          <a:solidFill>
                            <a:srgbClr val="000000"/>
                          </a:solidFill>
                          <a:effectLst/>
                          <a:latin typeface="Verdana" panose="020B0604030504040204" pitchFamily="34" charset="0"/>
                        </a:rPr>
                        <a:t>Relevant drivers for NMD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67353937"/>
                  </a:ext>
                </a:extLst>
              </a:tr>
              <a:tr h="106491">
                <a:tc>
                  <a:txBody>
                    <a:bodyPr/>
                    <a:lstStyle/>
                    <a:p>
                      <a:pPr algn="l" fontAlgn="t"/>
                      <a:r>
                        <a:rPr lang="en-US" sz="500" b="0" i="0" u="none" strike="noStrike">
                          <a:solidFill>
                            <a:srgbClr val="000000"/>
                          </a:solidFill>
                          <a:effectLst/>
                          <a:latin typeface="Verdana" panose="020B0604030504040204" pitchFamily="34" charset="0"/>
                        </a:rPr>
                        <a:t>NMD core component balances (slotting of core component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708308865"/>
                  </a:ext>
                </a:extLst>
              </a:tr>
              <a:tr h="106491">
                <a:tc>
                  <a:txBody>
                    <a:bodyPr/>
                    <a:lstStyle/>
                    <a:p>
                      <a:pPr algn="l" fontAlgn="t"/>
                      <a:r>
                        <a:rPr lang="en-US" sz="500" b="0" i="0" u="none" strike="noStrike">
                          <a:solidFill>
                            <a:srgbClr val="000000"/>
                          </a:solidFill>
                          <a:effectLst/>
                          <a:latin typeface="Verdana" panose="020B0604030504040204" pitchFamily="34" charset="0"/>
                        </a:rPr>
                        <a:t>5-year NMD repricing cap on IRRBB risk management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58596376"/>
                  </a:ext>
                </a:extLst>
              </a:tr>
              <a:tr h="106491">
                <a:tc>
                  <a:txBody>
                    <a:bodyPr/>
                    <a:lstStyle/>
                    <a:p>
                      <a:pPr algn="l" fontAlgn="b"/>
                      <a:r>
                        <a:rPr lang="en-US" sz="500" b="0" i="0" u="none" strike="noStrike">
                          <a:solidFill>
                            <a:srgbClr val="000000"/>
                          </a:solidFill>
                          <a:effectLst/>
                          <a:latin typeface="Verdana" panose="020B0604030504040204" pitchFamily="34" charset="0"/>
                        </a:rPr>
                        <a:t>Exemptions to the 5-year NMD repricing cap</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905497092"/>
                  </a:ext>
                </a:extLst>
              </a:tr>
              <a:tr h="106491">
                <a:tc>
                  <a:txBody>
                    <a:bodyPr/>
                    <a:lstStyle/>
                    <a:p>
                      <a:pPr algn="l" fontAlgn="b"/>
                      <a:r>
                        <a:rPr lang="en-US" sz="500" b="0" i="0" u="none" strike="noStrike">
                          <a:solidFill>
                            <a:srgbClr val="000000"/>
                          </a:solidFill>
                          <a:effectLst/>
                          <a:latin typeface="Verdana" panose="020B0604030504040204" pitchFamily="34" charset="0"/>
                        </a:rPr>
                        <a:t>Modelling of operational NMDs from financial customers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77697501"/>
                  </a:ext>
                </a:extLst>
              </a:tr>
              <a:tr h="106491">
                <a:tc>
                  <a:txBody>
                    <a:bodyPr/>
                    <a:lstStyle/>
                    <a:p>
                      <a:pPr algn="l" fontAlgn="t"/>
                      <a:r>
                        <a:rPr lang="en-US" sz="500" b="0" i="0" u="none" strike="noStrike">
                          <a:solidFill>
                            <a:srgbClr val="000000"/>
                          </a:solidFill>
                          <a:effectLst/>
                          <a:latin typeface="Verdana" panose="020B0604030504040204" pitchFamily="34" charset="0"/>
                        </a:rPr>
                        <a:t>Changes in balance sheet structure due to interest rates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691106892"/>
                  </a:ext>
                </a:extLst>
              </a:tr>
              <a:tr h="106491">
                <a:tc>
                  <a:txBody>
                    <a:bodyPr/>
                    <a:lstStyle/>
                    <a:p>
                      <a:pPr algn="l" fontAlgn="t"/>
                      <a:r>
                        <a:rPr lang="en-US" sz="500" b="0" i="0" u="none" strike="noStrike">
                          <a:solidFill>
                            <a:srgbClr val="000000"/>
                          </a:solidFill>
                          <a:effectLst/>
                          <a:latin typeface="Verdana" panose="020B0604030504040204" pitchFamily="34" charset="0"/>
                        </a:rPr>
                        <a:t>IRRBB mitigation and hedging strategies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199234988"/>
                  </a:ext>
                </a:extLst>
              </a:tr>
              <a:tr h="106491">
                <a:tc>
                  <a:txBody>
                    <a:bodyPr/>
                    <a:lstStyle/>
                    <a:p>
                      <a:pPr algn="l" fontAlgn="t"/>
                      <a:r>
                        <a:rPr lang="en-US" sz="500" b="0" i="0" u="none" strike="noStrike">
                          <a:solidFill>
                            <a:srgbClr val="000000"/>
                          </a:solidFill>
                          <a:effectLst/>
                          <a:latin typeface="Verdana" panose="020B0604030504040204" pitchFamily="34" charset="0"/>
                        </a:rPr>
                        <a:t>IRRBB mitigation and hedging strategies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62226312"/>
                  </a:ext>
                </a:extLst>
              </a:tr>
              <a:tr h="139915">
                <a:tc>
                  <a:txBody>
                    <a:bodyPr/>
                    <a:lstStyle/>
                    <a:p>
                      <a:pPr algn="l" fontAlgn="t"/>
                      <a:r>
                        <a:rPr lang="en-US" sz="500" b="0" i="0" u="none" strike="noStrike">
                          <a:solidFill>
                            <a:srgbClr val="000000"/>
                          </a:solidFill>
                          <a:effectLst/>
                          <a:latin typeface="Verdana" panose="020B0604030504040204" pitchFamily="34" charset="0"/>
                        </a:rPr>
                        <a:t>SOT on NII risk measure under the IMS Approach - PTR of Retail Term deposits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8354433"/>
                  </a:ext>
                </a:extLst>
              </a:tr>
              <a:tr h="106491">
                <a:tc>
                  <a:txBody>
                    <a:bodyPr/>
                    <a:lstStyle/>
                    <a:p>
                      <a:pPr algn="l" fontAlgn="t"/>
                      <a:r>
                        <a:rPr lang="en-US" sz="500" b="0" i="0" u="none" strike="noStrike">
                          <a:solidFill>
                            <a:srgbClr val="000000"/>
                          </a:solidFill>
                          <a:effectLst/>
                          <a:latin typeface="Verdana" panose="020B0604030504040204" pitchFamily="34" charset="0"/>
                        </a:rPr>
                        <a:t>SOT on NII risk measure under the IMS Approach - PTR of Fixed Retail Loans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74683898"/>
                  </a:ext>
                </a:extLst>
              </a:tr>
              <a:tr h="106491">
                <a:tc>
                  <a:txBody>
                    <a:bodyPr/>
                    <a:lstStyle/>
                    <a:p>
                      <a:pPr algn="l" fontAlgn="t"/>
                      <a:r>
                        <a:rPr lang="fr-FR" sz="500" b="0" i="0" u="none" strike="noStrike">
                          <a:solidFill>
                            <a:srgbClr val="000000"/>
                          </a:solidFill>
                          <a:effectLst/>
                          <a:latin typeface="Verdana" panose="020B0604030504040204" pitchFamily="34" charset="0"/>
                        </a:rPr>
                        <a:t>Basis risk</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81049185"/>
                  </a:ext>
                </a:extLst>
              </a:tr>
              <a:tr h="108823">
                <a:tc>
                  <a:txBody>
                    <a:bodyPr/>
                    <a:lstStyle/>
                    <a:p>
                      <a:pPr algn="l" fontAlgn="t"/>
                      <a:r>
                        <a:rPr lang="fr-FR" sz="500" b="0" i="0" u="none" strike="noStrike">
                          <a:solidFill>
                            <a:srgbClr val="000000"/>
                          </a:solidFill>
                          <a:effectLst/>
                          <a:latin typeface="Verdana" panose="020B0604030504040204" pitchFamily="34" charset="0"/>
                        </a:rPr>
                        <a:t>CSRBB</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78176579"/>
                  </a:ext>
                </a:extLst>
              </a:tr>
              <a:tr h="104936">
                <a:tc>
                  <a:txBody>
                    <a:bodyPr/>
                    <a:lstStyle/>
                    <a:p>
                      <a:pPr algn="l" fontAlgn="b"/>
                      <a:endParaRPr lang="fr-FR" sz="400" b="0" i="0" u="none"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4143973310"/>
                  </a:ext>
                </a:extLst>
              </a:tr>
              <a:tr h="104936">
                <a:tc>
                  <a:txBody>
                    <a:bodyPr/>
                    <a:lstStyle/>
                    <a:p>
                      <a:pPr algn="l" fontAlgn="b"/>
                      <a:r>
                        <a:rPr lang="en-US" sz="500" b="1" i="0" u="none" strike="noStrike">
                          <a:solidFill>
                            <a:srgbClr val="000000"/>
                          </a:solidFill>
                          <a:effectLst/>
                          <a:latin typeface="Verdana" panose="020B0604030504040204" pitchFamily="34" charset="0"/>
                        </a:rPr>
                        <a:t>10.2 Qualitative information "currency by currency"</a:t>
                      </a: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extLst>
                  <a:ext uri="{0D108BD9-81ED-4DB2-BD59-A6C34878D82A}">
                    <a16:rowId xmlns:a16="http://schemas.microsoft.com/office/drawing/2014/main" val="45165818"/>
                  </a:ext>
                </a:extLst>
              </a:tr>
              <a:tr h="104936">
                <a:tc>
                  <a:txBody>
                    <a:bodyPr/>
                    <a:lstStyle/>
                    <a:p>
                      <a:pPr algn="l" fontAlgn="b"/>
                      <a:endParaRPr lang="fr-FR" sz="5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89273041"/>
                  </a:ext>
                </a:extLst>
              </a:tr>
              <a:tr h="108823">
                <a:tc>
                  <a:txBody>
                    <a:bodyPr/>
                    <a:lstStyle/>
                    <a:p>
                      <a:pPr algn="r" fontAlgn="ctr"/>
                      <a:r>
                        <a:rPr lang="fr-FR" sz="500" b="1" i="0" u="none" strike="noStrike">
                          <a:solidFill>
                            <a:srgbClr val="000000"/>
                          </a:solidFill>
                          <a:effectLst/>
                          <a:latin typeface="Verdana" panose="020B0604030504040204" pitchFamily="34" charset="0"/>
                        </a:rPr>
                        <a:t>Currency:</a:t>
                      </a:r>
                    </a:p>
                  </a:txBody>
                  <a:tcPr marL="3069" marR="3069" marT="3069"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69" marR="3069" marT="3069"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58865190"/>
                  </a:ext>
                </a:extLst>
              </a:tr>
              <a:tr h="108823">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23189246"/>
                  </a:ext>
                </a:extLst>
              </a:tr>
              <a:tr h="106491">
                <a:tc>
                  <a:txBody>
                    <a:bodyPr/>
                    <a:lstStyle/>
                    <a:p>
                      <a:pPr algn="l" fontAlgn="t"/>
                      <a:r>
                        <a:rPr lang="en-US" sz="500" b="0" i="0" u="none" strike="noStrike">
                          <a:solidFill>
                            <a:srgbClr val="000000"/>
                          </a:solidFill>
                          <a:effectLst/>
                          <a:latin typeface="Verdana" panose="020B0604030504040204" pitchFamily="34" charset="0"/>
                        </a:rPr>
                        <a:t>Risk-free yield curve (discounting in EVE SOT)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207093459"/>
                  </a:ext>
                </a:extLst>
              </a:tr>
              <a:tr h="106491">
                <a:tc>
                  <a:txBody>
                    <a:bodyPr/>
                    <a:lstStyle/>
                    <a:p>
                      <a:pPr algn="l" fontAlgn="t"/>
                      <a:r>
                        <a:rPr lang="en-US" sz="500" b="0" i="0" u="none" strike="noStrike">
                          <a:solidFill>
                            <a:srgbClr val="000000"/>
                          </a:solidFill>
                          <a:effectLst/>
                          <a:latin typeface="Verdana" panose="020B0604030504040204" pitchFamily="34" charset="0"/>
                        </a:rPr>
                        <a:t>Risk-free yield curve (internal risk measures of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17703832"/>
                  </a:ext>
                </a:extLst>
              </a:tr>
              <a:tr h="106491">
                <a:tc>
                  <a:txBody>
                    <a:bodyPr/>
                    <a:lstStyle/>
                    <a:p>
                      <a:pPr algn="l" fontAlgn="b"/>
                      <a:r>
                        <a:rPr lang="en-US" sz="500" b="0" i="0" u="none" strike="noStrike">
                          <a:solidFill>
                            <a:srgbClr val="000000"/>
                          </a:solidFill>
                          <a:effectLst/>
                          <a:latin typeface="Verdana" panose="020B0604030504040204" pitchFamily="34" charset="0"/>
                        </a:rPr>
                        <a:t>Change of material assumptions (EVE)</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014982197"/>
                  </a:ext>
                </a:extLst>
              </a:tr>
              <a:tr h="106491">
                <a:tc>
                  <a:txBody>
                    <a:bodyPr/>
                    <a:lstStyle/>
                    <a:p>
                      <a:pPr algn="l" fontAlgn="b"/>
                      <a:r>
                        <a:rPr lang="en-US" sz="500" b="0" i="0" u="none" strike="noStrike">
                          <a:solidFill>
                            <a:srgbClr val="000000"/>
                          </a:solidFill>
                          <a:effectLst/>
                          <a:latin typeface="Verdana" panose="020B0604030504040204" pitchFamily="34" charset="0"/>
                        </a:rPr>
                        <a:t>Change of material assumptions (NII)</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66915883"/>
                  </a:ext>
                </a:extLst>
              </a:tr>
              <a:tr h="108823">
                <a:tc>
                  <a:txBody>
                    <a:bodyPr/>
                    <a:lstStyle/>
                    <a:p>
                      <a:pPr algn="l" fontAlgn="t"/>
                      <a:r>
                        <a:rPr lang="en-US" sz="500" b="0" i="0" u="none" strike="noStrike">
                          <a:solidFill>
                            <a:srgbClr val="000000"/>
                          </a:solidFill>
                          <a:effectLst/>
                          <a:latin typeface="Verdana" panose="020B0604030504040204" pitchFamily="34" charset="0"/>
                        </a:rPr>
                        <a:t>Post-shock interest rate floor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dirty="0">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67733881"/>
                  </a:ext>
                </a:extLst>
              </a:tr>
            </a:tbl>
          </a:graphicData>
        </a:graphic>
      </p:graphicFrame>
      <p:sp>
        <p:nvSpPr>
          <p:cNvPr id="8" name="TextBox 7">
            <a:extLst>
              <a:ext uri="{FF2B5EF4-FFF2-40B4-BE49-F238E27FC236}">
                <a16:creationId xmlns:a16="http://schemas.microsoft.com/office/drawing/2014/main" id="{CCE73BCF-8430-08B6-1FC9-AA0C3035796E}"/>
              </a:ext>
            </a:extLst>
          </p:cNvPr>
          <p:cNvSpPr txBox="1"/>
          <p:nvPr/>
        </p:nvSpPr>
        <p:spPr>
          <a:xfrm>
            <a:off x="6541973" y="1874728"/>
            <a:ext cx="3851034" cy="3108543"/>
          </a:xfrm>
          <a:prstGeom prst="rect">
            <a:avLst/>
          </a:prstGeom>
          <a:noFill/>
          <a:ln>
            <a:solidFill>
              <a:schemeClr val="tx1">
                <a:lumMod val="50000"/>
              </a:schemeClr>
            </a:solidFill>
          </a:ln>
        </p:spPr>
        <p:txBody>
          <a:bodyPr wrap="square">
            <a:spAutoFit/>
          </a:bodyPr>
          <a:lstStyle/>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J10 vise à fournir au régulateur des informations sur  les points méthodologiques utilisés pour la réalisation des templates </a:t>
            </a:r>
            <a:r>
              <a:rPr lang="fr-FR" dirty="0" err="1">
                <a:solidFill>
                  <a:schemeClr val="tx1">
                    <a:lumMod val="50000"/>
                  </a:schemeClr>
                </a:solidFill>
                <a:latin typeface="Calibri (body)"/>
              </a:rPr>
              <a:t>précèdents</a:t>
            </a:r>
            <a:r>
              <a:rPr lang="fr-FR" dirty="0">
                <a:solidFill>
                  <a:schemeClr val="tx1">
                    <a:lumMod val="50000"/>
                  </a:schemeClr>
                </a:solidFill>
                <a:latin typeface="Calibri (body)"/>
              </a:rPr>
              <a:t>.</a:t>
            </a:r>
          </a:p>
          <a:p>
            <a:r>
              <a:rPr lang="fr-FR" dirty="0">
                <a:solidFill>
                  <a:schemeClr val="tx1">
                    <a:lumMod val="50000"/>
                  </a:schemeClr>
                </a:solidFill>
                <a:latin typeface="Calibri (body)"/>
              </a:rPr>
              <a:t>Les réponses attendues sont prédéfinies.</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présent en divisé en 2 parties.</a:t>
            </a:r>
          </a:p>
          <a:p>
            <a:r>
              <a:rPr lang="fr-FR" dirty="0">
                <a:solidFill>
                  <a:schemeClr val="tx1">
                    <a:lumMod val="50000"/>
                  </a:schemeClr>
                </a:solidFill>
                <a:latin typeface="Calibri (body)"/>
              </a:rPr>
              <a:t>10.1 : Reprenant les informations qualitatives sur la méthodologie de calcul des indicateurs</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10.2 : Reprenant les informations qualitatives par rapport à la devise significative associée, notamment sur le type de courbe sans risque utilisé.</a:t>
            </a:r>
          </a:p>
        </p:txBody>
      </p:sp>
    </p:spTree>
    <p:extLst>
      <p:ext uri="{BB962C8B-B14F-4D97-AF65-F5344CB8AC3E}">
        <p14:creationId xmlns:p14="http://schemas.microsoft.com/office/powerpoint/2010/main" val="384629337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e- Template </a:t>
            </a:r>
            <a:r>
              <a:rPr lang="fr-FR" sz="2000" i="1" dirty="0">
                <a:highlight>
                  <a:srgbClr val="FF0000"/>
                </a:highlight>
                <a:latin typeface="Calibri (body)"/>
                <a:cs typeface="Calibri"/>
              </a:rPr>
              <a:t>J11</a:t>
            </a:r>
            <a:r>
              <a:rPr lang="fr-FR" sz="2000" i="1" dirty="0">
                <a:latin typeface="Calibri (body)"/>
                <a:cs typeface="Calibri"/>
              </a:rPr>
              <a:t>– Qualitative information</a:t>
            </a:r>
            <a:endParaRPr lang="fr-FR" dirty="0">
              <a:latin typeface="Calibri"/>
              <a:cs typeface="Calibri"/>
            </a:endParaRPr>
          </a:p>
        </p:txBody>
      </p:sp>
      <p:sp>
        <p:nvSpPr>
          <p:cNvPr id="6" name="Espace réservé du texte 15">
            <a:extLst>
              <a:ext uri="{FF2B5EF4-FFF2-40B4-BE49-F238E27FC236}">
                <a16:creationId xmlns:a16="http://schemas.microsoft.com/office/drawing/2014/main" id="{AE2B5A1F-13D8-B4B4-2BA5-62276CF7C505}"/>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7" name="Table 6">
            <a:extLst>
              <a:ext uri="{FF2B5EF4-FFF2-40B4-BE49-F238E27FC236}">
                <a16:creationId xmlns:a16="http://schemas.microsoft.com/office/drawing/2014/main" id="{6231FC4B-DCC3-5E2F-2C05-A895F61FDF05}"/>
              </a:ext>
            </a:extLst>
          </p:cNvPr>
          <p:cNvGraphicFramePr>
            <a:graphicFrameLocks noGrp="1"/>
          </p:cNvGraphicFramePr>
          <p:nvPr/>
        </p:nvGraphicFramePr>
        <p:xfrm>
          <a:off x="388542" y="864716"/>
          <a:ext cx="5261487" cy="5516770"/>
        </p:xfrm>
        <a:graphic>
          <a:graphicData uri="http://schemas.openxmlformats.org/drawingml/2006/table">
            <a:tbl>
              <a:tblPr/>
              <a:tblGrid>
                <a:gridCol w="3645514">
                  <a:extLst>
                    <a:ext uri="{9D8B030D-6E8A-4147-A177-3AD203B41FA5}">
                      <a16:colId xmlns:a16="http://schemas.microsoft.com/office/drawing/2014/main" val="611180102"/>
                    </a:ext>
                  </a:extLst>
                </a:gridCol>
                <a:gridCol w="329322">
                  <a:extLst>
                    <a:ext uri="{9D8B030D-6E8A-4147-A177-3AD203B41FA5}">
                      <a16:colId xmlns:a16="http://schemas.microsoft.com/office/drawing/2014/main" val="1974753217"/>
                    </a:ext>
                  </a:extLst>
                </a:gridCol>
                <a:gridCol w="1286651">
                  <a:extLst>
                    <a:ext uri="{9D8B030D-6E8A-4147-A177-3AD203B41FA5}">
                      <a16:colId xmlns:a16="http://schemas.microsoft.com/office/drawing/2014/main" val="3668532333"/>
                    </a:ext>
                  </a:extLst>
                </a:gridCol>
              </a:tblGrid>
              <a:tr h="254794">
                <a:tc>
                  <a:txBody>
                    <a:bodyPr/>
                    <a:lstStyle/>
                    <a:p>
                      <a:pPr algn="l" fontAlgn="ctr"/>
                      <a:r>
                        <a:rPr lang="fr-FR" sz="600" b="1" i="0" u="none" strike="noStrike">
                          <a:solidFill>
                            <a:srgbClr val="000000"/>
                          </a:solidFill>
                          <a:effectLst/>
                          <a:latin typeface="Verdana" panose="020B0604030504040204" pitchFamily="34" charset="0"/>
                        </a:rPr>
                        <a:t>J 10.00 - QUALITATIVE INFORMATION</a:t>
                      </a:r>
                    </a:p>
                  </a:txBody>
                  <a:tcPr marL="3069" marR="3069" marT="3069"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300" b="1" i="0" u="none" strike="noStrike">
                          <a:solidFill>
                            <a:srgbClr val="000000"/>
                          </a:solidFill>
                          <a:effectLst/>
                          <a:latin typeface="Verdana" panose="020B0604030504040204" pitchFamily="34" charset="0"/>
                        </a:rPr>
                        <a:t> </a:t>
                      </a:r>
                    </a:p>
                  </a:txBody>
                  <a:tcPr marL="3069" marR="3069" marT="306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300" b="1" i="0" u="none" strike="noStrike">
                          <a:solidFill>
                            <a:srgbClr val="000000"/>
                          </a:solidFill>
                          <a:effectLst/>
                          <a:latin typeface="Verdana" panose="020B0604030504040204" pitchFamily="34" charset="0"/>
                        </a:rPr>
                        <a:t> </a:t>
                      </a:r>
                    </a:p>
                  </a:txBody>
                  <a:tcPr marL="3069" marR="3069" marT="3069"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915200118"/>
                  </a:ext>
                </a:extLst>
              </a:tr>
              <a:tr h="104936">
                <a:tc>
                  <a:txBody>
                    <a:bodyPr/>
                    <a:lstStyle/>
                    <a:p>
                      <a:pPr algn="l" fontAlgn="b"/>
                      <a:endParaRPr lang="fr-FR" sz="400" b="0" i="0" u="none"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1906123504"/>
                  </a:ext>
                </a:extLst>
              </a:tr>
              <a:tr h="104936">
                <a:tc>
                  <a:txBody>
                    <a:bodyPr/>
                    <a:lstStyle/>
                    <a:p>
                      <a:pPr algn="l" fontAlgn="b"/>
                      <a:r>
                        <a:rPr lang="fr-FR" sz="500" b="1" i="0" u="none" strike="noStrike">
                          <a:solidFill>
                            <a:srgbClr val="000000"/>
                          </a:solidFill>
                          <a:effectLst/>
                          <a:latin typeface="Verdana" panose="020B0604030504040204" pitchFamily="34" charset="0"/>
                        </a:rPr>
                        <a:t>10.1 General qualitative information</a:t>
                      </a: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extLst>
                  <a:ext uri="{0D108BD9-81ED-4DB2-BD59-A6C34878D82A}">
                    <a16:rowId xmlns:a16="http://schemas.microsoft.com/office/drawing/2014/main" val="4205454218"/>
                  </a:ext>
                </a:extLst>
              </a:tr>
              <a:tr h="108823">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68207095"/>
                  </a:ext>
                </a:extLst>
              </a:tr>
              <a:tr h="106491">
                <a:tc gridSpan="3">
                  <a:txBody>
                    <a:bodyPr/>
                    <a:lstStyle/>
                    <a:p>
                      <a:pPr algn="l" fontAlgn="b"/>
                      <a:r>
                        <a:rPr lang="en-US" sz="500" b="1" i="0" u="none" strike="noStrike">
                          <a:solidFill>
                            <a:srgbClr val="000000"/>
                          </a:solidFill>
                          <a:effectLst/>
                          <a:latin typeface="Verdana" panose="020B0604030504040204" pitchFamily="34" charset="0"/>
                        </a:rPr>
                        <a:t>Approach NII and EVE SOT estimates</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720603325"/>
                  </a:ext>
                </a:extLst>
              </a:tr>
              <a:tr h="106491">
                <a:tc>
                  <a:txBody>
                    <a:bodyPr/>
                    <a:lstStyle/>
                    <a:p>
                      <a:pPr algn="l" fontAlgn="t"/>
                      <a:r>
                        <a:rPr lang="en-US" sz="500" b="0" i="0" u="none" strike="noStrike">
                          <a:solidFill>
                            <a:srgbClr val="000000"/>
                          </a:solidFill>
                          <a:effectLst/>
                          <a:latin typeface="Verdana" panose="020B0604030504040204" pitchFamily="34" charset="0"/>
                        </a:rPr>
                        <a:t>Approach used for the purpose of the SOT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608461573"/>
                  </a:ext>
                </a:extLst>
              </a:tr>
              <a:tr h="106491">
                <a:tc>
                  <a:txBody>
                    <a:bodyPr/>
                    <a:lstStyle/>
                    <a:p>
                      <a:pPr algn="l" fontAlgn="t"/>
                      <a:r>
                        <a:rPr lang="en-US" sz="500" b="0" i="0" u="none" strike="noStrike">
                          <a:solidFill>
                            <a:srgbClr val="000000"/>
                          </a:solidFill>
                          <a:effectLst/>
                          <a:latin typeface="Verdana" panose="020B0604030504040204" pitchFamily="34" charset="0"/>
                        </a:rPr>
                        <a:t>Requirement from the Competent Authority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96350658"/>
                  </a:ext>
                </a:extLst>
              </a:tr>
              <a:tr h="106491">
                <a:tc gridSpan="3">
                  <a:txBody>
                    <a:bodyPr/>
                    <a:lstStyle/>
                    <a:p>
                      <a:pPr algn="l" fontAlgn="b"/>
                      <a:r>
                        <a:rPr lang="fr-FR" sz="500" b="1" i="0" u="none" strike="noStrike">
                          <a:solidFill>
                            <a:srgbClr val="000000"/>
                          </a:solidFill>
                          <a:effectLst/>
                          <a:latin typeface="Verdana" panose="020B0604030504040204" pitchFamily="34" charset="0"/>
                        </a:rPr>
                        <a:t>NII methodology</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488526577"/>
                  </a:ext>
                </a:extLst>
              </a:tr>
              <a:tr h="106491">
                <a:tc>
                  <a:txBody>
                    <a:bodyPr/>
                    <a:lstStyle/>
                    <a:p>
                      <a:pPr algn="l" fontAlgn="t"/>
                      <a:r>
                        <a:rPr lang="fr-FR" sz="500" b="0" i="0" u="none" strike="noStrike">
                          <a:solidFill>
                            <a:srgbClr val="000000"/>
                          </a:solidFill>
                          <a:effectLst/>
                          <a:latin typeface="Verdana" panose="020B0604030504040204" pitchFamily="34" charset="0"/>
                        </a:rPr>
                        <a:t>Methodology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25439487"/>
                  </a:ext>
                </a:extLst>
              </a:tr>
              <a:tr h="106491">
                <a:tc>
                  <a:txBody>
                    <a:bodyPr/>
                    <a:lstStyle/>
                    <a:p>
                      <a:pPr algn="l" fontAlgn="t"/>
                      <a:r>
                        <a:rPr lang="fr-FR" sz="500" b="0" i="0" u="none" strike="noStrike">
                          <a:solidFill>
                            <a:srgbClr val="000000"/>
                          </a:solidFill>
                          <a:effectLst/>
                          <a:latin typeface="Verdana" panose="020B0604030504040204" pitchFamily="34" charset="0"/>
                        </a:rPr>
                        <a:t>Conditional Cash Flows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835193822"/>
                  </a:ext>
                </a:extLst>
              </a:tr>
              <a:tr h="106491">
                <a:tc>
                  <a:txBody>
                    <a:bodyPr/>
                    <a:lstStyle/>
                    <a:p>
                      <a:pPr algn="l" fontAlgn="t"/>
                      <a:r>
                        <a:rPr lang="fr-FR" sz="500" b="0" i="0" u="none" strike="noStrike">
                          <a:solidFill>
                            <a:srgbClr val="000000"/>
                          </a:solidFill>
                          <a:effectLst/>
                          <a:latin typeface="Verdana" panose="020B0604030504040204" pitchFamily="34" charset="0"/>
                        </a:rPr>
                        <a:t>Option Risk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650878483"/>
                  </a:ext>
                </a:extLst>
              </a:tr>
              <a:tr h="106491">
                <a:tc>
                  <a:txBody>
                    <a:bodyPr/>
                    <a:lstStyle/>
                    <a:p>
                      <a:pPr algn="l" fontAlgn="t"/>
                      <a:r>
                        <a:rPr lang="fr-FR" sz="500" b="0" i="0" u="none" strike="noStrike">
                          <a:solidFill>
                            <a:srgbClr val="000000"/>
                          </a:solidFill>
                          <a:effectLst/>
                          <a:latin typeface="Verdana" panose="020B0604030504040204" pitchFamily="34" charset="0"/>
                        </a:rPr>
                        <a:t>Basis Risk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82769896"/>
                  </a:ext>
                </a:extLst>
              </a:tr>
              <a:tr h="106491">
                <a:tc gridSpan="3">
                  <a:txBody>
                    <a:bodyPr/>
                    <a:lstStyle/>
                    <a:p>
                      <a:pPr algn="l" fontAlgn="b"/>
                      <a:r>
                        <a:rPr lang="fr-FR" sz="500" b="1" i="0" u="none" strike="noStrike">
                          <a:solidFill>
                            <a:srgbClr val="000000"/>
                          </a:solidFill>
                          <a:effectLst/>
                          <a:latin typeface="Verdana" panose="020B0604030504040204" pitchFamily="34" charset="0"/>
                        </a:rPr>
                        <a:t>EVE methodology</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811489845"/>
                  </a:ext>
                </a:extLst>
              </a:tr>
              <a:tr h="106491">
                <a:tc>
                  <a:txBody>
                    <a:bodyPr/>
                    <a:lstStyle/>
                    <a:p>
                      <a:pPr algn="l" fontAlgn="t"/>
                      <a:r>
                        <a:rPr lang="fr-FR" sz="500" b="0" i="0" u="none" strike="noStrike">
                          <a:solidFill>
                            <a:srgbClr val="000000"/>
                          </a:solidFill>
                          <a:effectLst/>
                          <a:latin typeface="Verdana" panose="020B0604030504040204" pitchFamily="34" charset="0"/>
                        </a:rPr>
                        <a:t>Methodology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458515505"/>
                  </a:ext>
                </a:extLst>
              </a:tr>
              <a:tr h="106491">
                <a:tc>
                  <a:txBody>
                    <a:bodyPr/>
                    <a:lstStyle/>
                    <a:p>
                      <a:pPr algn="l" fontAlgn="t"/>
                      <a:r>
                        <a:rPr lang="fr-FR" sz="500" b="0" i="0" u="none" strike="noStrike">
                          <a:solidFill>
                            <a:srgbClr val="000000"/>
                          </a:solidFill>
                          <a:effectLst/>
                          <a:latin typeface="Verdana" panose="020B0604030504040204" pitchFamily="34" charset="0"/>
                        </a:rPr>
                        <a:t>Conditional Cash Flows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265185486"/>
                  </a:ext>
                </a:extLst>
              </a:tr>
              <a:tr h="106491">
                <a:tc>
                  <a:txBody>
                    <a:bodyPr/>
                    <a:lstStyle/>
                    <a:p>
                      <a:pPr algn="l" fontAlgn="t"/>
                      <a:r>
                        <a:rPr lang="fr-FR" sz="500" b="0" i="0" u="none" strike="noStrike">
                          <a:solidFill>
                            <a:srgbClr val="000000"/>
                          </a:solidFill>
                          <a:effectLst/>
                          <a:latin typeface="Verdana" panose="020B0604030504040204" pitchFamily="34" charset="0"/>
                        </a:rPr>
                        <a:t>Option Risk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357993231"/>
                  </a:ext>
                </a:extLst>
              </a:tr>
              <a:tr h="106491">
                <a:tc>
                  <a:txBody>
                    <a:bodyPr/>
                    <a:lstStyle/>
                    <a:p>
                      <a:pPr algn="l" fontAlgn="t"/>
                      <a:r>
                        <a:rPr lang="fr-FR" sz="500" b="0" i="0" u="none" strike="noStrike">
                          <a:solidFill>
                            <a:srgbClr val="000000"/>
                          </a:solidFill>
                          <a:effectLst/>
                          <a:latin typeface="Verdana" panose="020B0604030504040204" pitchFamily="34" charset="0"/>
                        </a:rPr>
                        <a:t>Basis Risk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90420235"/>
                  </a:ext>
                </a:extLst>
              </a:tr>
              <a:tr h="106491">
                <a:tc>
                  <a:txBody>
                    <a:bodyPr/>
                    <a:lstStyle/>
                    <a:p>
                      <a:pPr algn="l" fontAlgn="b"/>
                      <a:r>
                        <a:rPr lang="en-US" sz="500" b="0" i="0" u="none" strike="noStrike">
                          <a:solidFill>
                            <a:srgbClr val="000000"/>
                          </a:solidFill>
                          <a:effectLst/>
                          <a:latin typeface="Verdana" panose="020B0604030504040204" pitchFamily="34" charset="0"/>
                        </a:rPr>
                        <a:t>Commercial margins/other spread components (EVE)</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70380465"/>
                  </a:ext>
                </a:extLst>
              </a:tr>
              <a:tr h="110767">
                <a:tc gridSpan="3">
                  <a:txBody>
                    <a:bodyPr/>
                    <a:lstStyle/>
                    <a:p>
                      <a:pPr algn="l" fontAlgn="b"/>
                      <a:r>
                        <a:rPr lang="en-US" sz="500" b="1" i="0" u="none" strike="noStrike">
                          <a:solidFill>
                            <a:srgbClr val="000000"/>
                          </a:solidFill>
                          <a:effectLst/>
                          <a:latin typeface="Verdana" panose="020B0604030504040204" pitchFamily="34" charset="0"/>
                        </a:rPr>
                        <a:t>Scope/Materiality Thresholds (NII/EVE)</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713420463"/>
                  </a:ext>
                </a:extLst>
              </a:tr>
              <a:tr h="106491">
                <a:tc>
                  <a:txBody>
                    <a:bodyPr/>
                    <a:lstStyle/>
                    <a:p>
                      <a:pPr algn="l" fontAlgn="b"/>
                      <a:r>
                        <a:rPr lang="en-US" sz="500" b="0" i="0" u="none" strike="noStrike">
                          <a:solidFill>
                            <a:srgbClr val="000000"/>
                          </a:solidFill>
                          <a:effectLst/>
                          <a:latin typeface="Verdana" panose="020B0604030504040204" pitchFamily="34" charset="0"/>
                        </a:rPr>
                        <a:t>Penalty fees from loan prepayments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10585394"/>
                  </a:ext>
                </a:extLst>
              </a:tr>
              <a:tr h="106491">
                <a:tc>
                  <a:txBody>
                    <a:bodyPr/>
                    <a:lstStyle/>
                    <a:p>
                      <a:pPr algn="l" fontAlgn="b"/>
                      <a:r>
                        <a:rPr lang="fr-FR" sz="500" b="0" i="0" u="none" strike="noStrike">
                          <a:solidFill>
                            <a:srgbClr val="000000"/>
                          </a:solidFill>
                          <a:effectLst/>
                          <a:latin typeface="Verdana" panose="020B0604030504040204" pitchFamily="34" charset="0"/>
                        </a:rPr>
                        <a:t>Pension obligations/pension plan assets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06424352"/>
                  </a:ext>
                </a:extLst>
              </a:tr>
              <a:tr h="106491">
                <a:tc>
                  <a:txBody>
                    <a:bodyPr/>
                    <a:lstStyle/>
                    <a:p>
                      <a:pPr algn="l" fontAlgn="t"/>
                      <a:r>
                        <a:rPr lang="fr-FR" sz="500" b="0" i="0" u="none" strike="noStrike">
                          <a:solidFill>
                            <a:srgbClr val="000000"/>
                          </a:solidFill>
                          <a:effectLst/>
                          <a:latin typeface="Verdana" panose="020B0604030504040204" pitchFamily="34" charset="0"/>
                        </a:rPr>
                        <a:t>Non-performing exposures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820647436"/>
                  </a:ext>
                </a:extLst>
              </a:tr>
              <a:tr h="106491">
                <a:tc>
                  <a:txBody>
                    <a:bodyPr/>
                    <a:lstStyle/>
                    <a:p>
                      <a:pPr algn="l" fontAlgn="t"/>
                      <a:r>
                        <a:rPr lang="fr-FR" sz="500" b="0" i="0" u="none" strike="noStrike">
                          <a:solidFill>
                            <a:srgbClr val="000000"/>
                          </a:solidFill>
                          <a:effectLst/>
                          <a:latin typeface="Verdana" panose="020B0604030504040204" pitchFamily="34" charset="0"/>
                        </a:rPr>
                        <a:t>Fixed rate loan committments </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69292946"/>
                  </a:ext>
                </a:extLst>
              </a:tr>
              <a:tr h="106491">
                <a:tc>
                  <a:txBody>
                    <a:bodyPr/>
                    <a:lstStyle/>
                    <a:p>
                      <a:pPr algn="l" fontAlgn="t"/>
                      <a:r>
                        <a:rPr lang="fr-FR" sz="500" b="0" i="0" u="none" strike="noStrike">
                          <a:solidFill>
                            <a:srgbClr val="000000"/>
                          </a:solidFill>
                          <a:effectLst/>
                          <a:latin typeface="Verdana" panose="020B0604030504040204" pitchFamily="34" charset="0"/>
                        </a:rPr>
                        <a:t>Risk of prepayment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462812476"/>
                  </a:ext>
                </a:extLst>
              </a:tr>
              <a:tr h="108823">
                <a:tc>
                  <a:txBody>
                    <a:bodyPr/>
                    <a:lstStyle/>
                    <a:p>
                      <a:pPr algn="l" fontAlgn="b"/>
                      <a:r>
                        <a:rPr lang="fr-FR" sz="500" b="0" i="0" u="none" strike="noStrike">
                          <a:solidFill>
                            <a:srgbClr val="000000"/>
                          </a:solidFill>
                          <a:effectLst/>
                          <a:latin typeface="Verdana" panose="020B0604030504040204" pitchFamily="34" charset="0"/>
                        </a:rPr>
                        <a:t>Risk of early redemption </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27129799"/>
                  </a:ext>
                </a:extLst>
              </a:tr>
              <a:tr h="106491">
                <a:tc gridSpan="3">
                  <a:txBody>
                    <a:bodyPr/>
                    <a:lstStyle/>
                    <a:p>
                      <a:pPr algn="l" fontAlgn="b"/>
                      <a:r>
                        <a:rPr lang="fr-FR" sz="500" b="1" i="0" u="none" strike="noStrike">
                          <a:solidFill>
                            <a:srgbClr val="000000"/>
                          </a:solidFill>
                          <a:effectLst/>
                          <a:latin typeface="Verdana" panose="020B0604030504040204" pitchFamily="34" charset="0"/>
                        </a:rPr>
                        <a:t>Additional qualitative information</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176435504"/>
                  </a:ext>
                </a:extLst>
              </a:tr>
              <a:tr h="106491">
                <a:tc>
                  <a:txBody>
                    <a:bodyPr/>
                    <a:lstStyle/>
                    <a:p>
                      <a:pPr algn="l" fontAlgn="b"/>
                      <a:r>
                        <a:rPr lang="en-US" sz="500" b="0" i="0" u="none" strike="noStrike">
                          <a:solidFill>
                            <a:srgbClr val="000000"/>
                          </a:solidFill>
                          <a:effectLst/>
                          <a:latin typeface="Verdana" panose="020B0604030504040204" pitchFamily="34" charset="0"/>
                        </a:rPr>
                        <a:t>General approach for NMD modelling</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255985058"/>
                  </a:ext>
                </a:extLst>
              </a:tr>
              <a:tr h="106491">
                <a:tc>
                  <a:txBody>
                    <a:bodyPr/>
                    <a:lstStyle/>
                    <a:p>
                      <a:pPr algn="l" fontAlgn="t"/>
                      <a:r>
                        <a:rPr lang="fr-FR" sz="500" b="0" i="0" u="none" strike="noStrike">
                          <a:solidFill>
                            <a:srgbClr val="000000"/>
                          </a:solidFill>
                          <a:effectLst/>
                          <a:latin typeface="Verdana" panose="020B0604030504040204" pitchFamily="34" charset="0"/>
                        </a:rPr>
                        <a:t>Identification of core component NMD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612032533"/>
                  </a:ext>
                </a:extLst>
              </a:tr>
              <a:tr h="106491">
                <a:tc>
                  <a:txBody>
                    <a:bodyPr/>
                    <a:lstStyle/>
                    <a:p>
                      <a:pPr algn="l" fontAlgn="t"/>
                      <a:r>
                        <a:rPr lang="fr-FR" sz="500" b="0" i="0" u="none" strike="noStrike">
                          <a:solidFill>
                            <a:srgbClr val="000000"/>
                          </a:solidFill>
                          <a:effectLst/>
                          <a:latin typeface="Verdana" panose="020B0604030504040204" pitchFamily="34" charset="0"/>
                        </a:rPr>
                        <a:t>Relevant drivers for NMD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67353937"/>
                  </a:ext>
                </a:extLst>
              </a:tr>
              <a:tr h="106491">
                <a:tc>
                  <a:txBody>
                    <a:bodyPr/>
                    <a:lstStyle/>
                    <a:p>
                      <a:pPr algn="l" fontAlgn="t"/>
                      <a:r>
                        <a:rPr lang="en-US" sz="500" b="0" i="0" u="none" strike="noStrike">
                          <a:solidFill>
                            <a:srgbClr val="000000"/>
                          </a:solidFill>
                          <a:effectLst/>
                          <a:latin typeface="Verdana" panose="020B0604030504040204" pitchFamily="34" charset="0"/>
                        </a:rPr>
                        <a:t>NMD core component balances (slotting of core component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708308865"/>
                  </a:ext>
                </a:extLst>
              </a:tr>
              <a:tr h="106491">
                <a:tc>
                  <a:txBody>
                    <a:bodyPr/>
                    <a:lstStyle/>
                    <a:p>
                      <a:pPr algn="l" fontAlgn="t"/>
                      <a:r>
                        <a:rPr lang="en-US" sz="500" b="0" i="0" u="none" strike="noStrike">
                          <a:solidFill>
                            <a:srgbClr val="000000"/>
                          </a:solidFill>
                          <a:effectLst/>
                          <a:latin typeface="Verdana" panose="020B0604030504040204" pitchFamily="34" charset="0"/>
                        </a:rPr>
                        <a:t>5-year NMD repricing cap on IRRBB risk management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58596376"/>
                  </a:ext>
                </a:extLst>
              </a:tr>
              <a:tr h="106491">
                <a:tc>
                  <a:txBody>
                    <a:bodyPr/>
                    <a:lstStyle/>
                    <a:p>
                      <a:pPr algn="l" fontAlgn="b"/>
                      <a:r>
                        <a:rPr lang="en-US" sz="500" b="0" i="0" u="none" strike="noStrike">
                          <a:solidFill>
                            <a:srgbClr val="000000"/>
                          </a:solidFill>
                          <a:effectLst/>
                          <a:latin typeface="Verdana" panose="020B0604030504040204" pitchFamily="34" charset="0"/>
                        </a:rPr>
                        <a:t>Exemptions to the 5-year NMD repricing cap</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905497092"/>
                  </a:ext>
                </a:extLst>
              </a:tr>
              <a:tr h="106491">
                <a:tc>
                  <a:txBody>
                    <a:bodyPr/>
                    <a:lstStyle/>
                    <a:p>
                      <a:pPr algn="l" fontAlgn="b"/>
                      <a:r>
                        <a:rPr lang="en-US" sz="500" b="0" i="0" u="none" strike="noStrike">
                          <a:solidFill>
                            <a:srgbClr val="000000"/>
                          </a:solidFill>
                          <a:effectLst/>
                          <a:latin typeface="Verdana" panose="020B0604030504040204" pitchFamily="34" charset="0"/>
                        </a:rPr>
                        <a:t>Modelling of operational NMDs from financial customers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77697501"/>
                  </a:ext>
                </a:extLst>
              </a:tr>
              <a:tr h="106491">
                <a:tc>
                  <a:txBody>
                    <a:bodyPr/>
                    <a:lstStyle/>
                    <a:p>
                      <a:pPr algn="l" fontAlgn="t"/>
                      <a:r>
                        <a:rPr lang="en-US" sz="500" b="0" i="0" u="none" strike="noStrike">
                          <a:solidFill>
                            <a:srgbClr val="000000"/>
                          </a:solidFill>
                          <a:effectLst/>
                          <a:latin typeface="Verdana" panose="020B0604030504040204" pitchFamily="34" charset="0"/>
                        </a:rPr>
                        <a:t>Changes in balance sheet structure due to interest rates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691106892"/>
                  </a:ext>
                </a:extLst>
              </a:tr>
              <a:tr h="106491">
                <a:tc>
                  <a:txBody>
                    <a:bodyPr/>
                    <a:lstStyle/>
                    <a:p>
                      <a:pPr algn="l" fontAlgn="t"/>
                      <a:r>
                        <a:rPr lang="en-US" sz="500" b="0" i="0" u="none" strike="noStrike">
                          <a:solidFill>
                            <a:srgbClr val="000000"/>
                          </a:solidFill>
                          <a:effectLst/>
                          <a:latin typeface="Verdana" panose="020B0604030504040204" pitchFamily="34" charset="0"/>
                        </a:rPr>
                        <a:t>IRRBB mitigation and hedging strategies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199234988"/>
                  </a:ext>
                </a:extLst>
              </a:tr>
              <a:tr h="106491">
                <a:tc>
                  <a:txBody>
                    <a:bodyPr/>
                    <a:lstStyle/>
                    <a:p>
                      <a:pPr algn="l" fontAlgn="t"/>
                      <a:r>
                        <a:rPr lang="en-US" sz="500" b="0" i="0" u="none" strike="noStrike">
                          <a:solidFill>
                            <a:srgbClr val="000000"/>
                          </a:solidFill>
                          <a:effectLst/>
                          <a:latin typeface="Verdana" panose="020B0604030504040204" pitchFamily="34" charset="0"/>
                        </a:rPr>
                        <a:t>IRRBB mitigation and hedging strategies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62226312"/>
                  </a:ext>
                </a:extLst>
              </a:tr>
              <a:tr h="139915">
                <a:tc>
                  <a:txBody>
                    <a:bodyPr/>
                    <a:lstStyle/>
                    <a:p>
                      <a:pPr algn="l" fontAlgn="t"/>
                      <a:r>
                        <a:rPr lang="en-US" sz="500" b="0" i="0" u="none" strike="noStrike">
                          <a:solidFill>
                            <a:srgbClr val="000000"/>
                          </a:solidFill>
                          <a:effectLst/>
                          <a:latin typeface="Verdana" panose="020B0604030504040204" pitchFamily="34" charset="0"/>
                        </a:rPr>
                        <a:t>SOT on NII risk measure under the IMS Approach - PTR of Retail Term deposits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8354433"/>
                  </a:ext>
                </a:extLst>
              </a:tr>
              <a:tr h="106491">
                <a:tc>
                  <a:txBody>
                    <a:bodyPr/>
                    <a:lstStyle/>
                    <a:p>
                      <a:pPr algn="l" fontAlgn="t"/>
                      <a:r>
                        <a:rPr lang="en-US" sz="500" b="0" i="0" u="none" strike="noStrike">
                          <a:solidFill>
                            <a:srgbClr val="000000"/>
                          </a:solidFill>
                          <a:effectLst/>
                          <a:latin typeface="Verdana" panose="020B0604030504040204" pitchFamily="34" charset="0"/>
                        </a:rPr>
                        <a:t>SOT on NII risk measure under the IMS Approach - PTR of Fixed Retail Loans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74683898"/>
                  </a:ext>
                </a:extLst>
              </a:tr>
              <a:tr h="106491">
                <a:tc>
                  <a:txBody>
                    <a:bodyPr/>
                    <a:lstStyle/>
                    <a:p>
                      <a:pPr algn="l" fontAlgn="t"/>
                      <a:r>
                        <a:rPr lang="fr-FR" sz="500" b="0" i="0" u="none" strike="noStrike">
                          <a:solidFill>
                            <a:srgbClr val="000000"/>
                          </a:solidFill>
                          <a:effectLst/>
                          <a:latin typeface="Verdana" panose="020B0604030504040204" pitchFamily="34" charset="0"/>
                        </a:rPr>
                        <a:t>Basis risk</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81049185"/>
                  </a:ext>
                </a:extLst>
              </a:tr>
              <a:tr h="108823">
                <a:tc>
                  <a:txBody>
                    <a:bodyPr/>
                    <a:lstStyle/>
                    <a:p>
                      <a:pPr algn="l" fontAlgn="t"/>
                      <a:r>
                        <a:rPr lang="fr-FR" sz="500" b="0" i="0" u="none" strike="noStrike">
                          <a:solidFill>
                            <a:srgbClr val="000000"/>
                          </a:solidFill>
                          <a:effectLst/>
                          <a:latin typeface="Verdana" panose="020B0604030504040204" pitchFamily="34" charset="0"/>
                        </a:rPr>
                        <a:t>CSRBB</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78176579"/>
                  </a:ext>
                </a:extLst>
              </a:tr>
              <a:tr h="104936">
                <a:tc>
                  <a:txBody>
                    <a:bodyPr/>
                    <a:lstStyle/>
                    <a:p>
                      <a:pPr algn="l" fontAlgn="b"/>
                      <a:endParaRPr lang="fr-FR" sz="400" b="0" i="0" u="none"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4143973310"/>
                  </a:ext>
                </a:extLst>
              </a:tr>
              <a:tr h="104936">
                <a:tc>
                  <a:txBody>
                    <a:bodyPr/>
                    <a:lstStyle/>
                    <a:p>
                      <a:pPr algn="l" fontAlgn="b"/>
                      <a:r>
                        <a:rPr lang="en-US" sz="500" b="1" i="0" u="none" strike="noStrike">
                          <a:solidFill>
                            <a:srgbClr val="000000"/>
                          </a:solidFill>
                          <a:effectLst/>
                          <a:latin typeface="Verdana" panose="020B0604030504040204" pitchFamily="34" charset="0"/>
                        </a:rPr>
                        <a:t>10.2 Qualitative information "currency by currency"</a:t>
                      </a: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extLst>
                  <a:ext uri="{0D108BD9-81ED-4DB2-BD59-A6C34878D82A}">
                    <a16:rowId xmlns:a16="http://schemas.microsoft.com/office/drawing/2014/main" val="45165818"/>
                  </a:ext>
                </a:extLst>
              </a:tr>
              <a:tr h="104936">
                <a:tc>
                  <a:txBody>
                    <a:bodyPr/>
                    <a:lstStyle/>
                    <a:p>
                      <a:pPr algn="l" fontAlgn="b"/>
                      <a:endParaRPr lang="fr-FR" sz="5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89273041"/>
                  </a:ext>
                </a:extLst>
              </a:tr>
              <a:tr h="108823">
                <a:tc>
                  <a:txBody>
                    <a:bodyPr/>
                    <a:lstStyle/>
                    <a:p>
                      <a:pPr algn="r" fontAlgn="ctr"/>
                      <a:r>
                        <a:rPr lang="fr-FR" sz="500" b="1" i="0" u="none" strike="noStrike">
                          <a:solidFill>
                            <a:srgbClr val="000000"/>
                          </a:solidFill>
                          <a:effectLst/>
                          <a:latin typeface="Verdana" panose="020B0604030504040204" pitchFamily="34" charset="0"/>
                        </a:rPr>
                        <a:t>Currency:</a:t>
                      </a:r>
                    </a:p>
                  </a:txBody>
                  <a:tcPr marL="3069" marR="3069" marT="3069"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69" marR="3069" marT="3069"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58865190"/>
                  </a:ext>
                </a:extLst>
              </a:tr>
              <a:tr h="108823">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23189246"/>
                  </a:ext>
                </a:extLst>
              </a:tr>
              <a:tr h="106491">
                <a:tc>
                  <a:txBody>
                    <a:bodyPr/>
                    <a:lstStyle/>
                    <a:p>
                      <a:pPr algn="l" fontAlgn="t"/>
                      <a:r>
                        <a:rPr lang="en-US" sz="500" b="0" i="0" u="none" strike="noStrike">
                          <a:solidFill>
                            <a:srgbClr val="000000"/>
                          </a:solidFill>
                          <a:effectLst/>
                          <a:latin typeface="Verdana" panose="020B0604030504040204" pitchFamily="34" charset="0"/>
                        </a:rPr>
                        <a:t>Risk-free yield curve (discounting in EVE SOT)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207093459"/>
                  </a:ext>
                </a:extLst>
              </a:tr>
              <a:tr h="106491">
                <a:tc>
                  <a:txBody>
                    <a:bodyPr/>
                    <a:lstStyle/>
                    <a:p>
                      <a:pPr algn="l" fontAlgn="t"/>
                      <a:r>
                        <a:rPr lang="en-US" sz="500" b="0" i="0" u="none" strike="noStrike">
                          <a:solidFill>
                            <a:srgbClr val="000000"/>
                          </a:solidFill>
                          <a:effectLst/>
                          <a:latin typeface="Verdana" panose="020B0604030504040204" pitchFamily="34" charset="0"/>
                        </a:rPr>
                        <a:t>Risk-free yield curve (internal risk measures of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17703832"/>
                  </a:ext>
                </a:extLst>
              </a:tr>
              <a:tr h="106491">
                <a:tc>
                  <a:txBody>
                    <a:bodyPr/>
                    <a:lstStyle/>
                    <a:p>
                      <a:pPr algn="l" fontAlgn="b"/>
                      <a:r>
                        <a:rPr lang="en-US" sz="500" b="0" i="0" u="none" strike="noStrike">
                          <a:solidFill>
                            <a:srgbClr val="000000"/>
                          </a:solidFill>
                          <a:effectLst/>
                          <a:latin typeface="Verdana" panose="020B0604030504040204" pitchFamily="34" charset="0"/>
                        </a:rPr>
                        <a:t>Change of material assumptions (EVE)</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014982197"/>
                  </a:ext>
                </a:extLst>
              </a:tr>
              <a:tr h="106491">
                <a:tc>
                  <a:txBody>
                    <a:bodyPr/>
                    <a:lstStyle/>
                    <a:p>
                      <a:pPr algn="l" fontAlgn="b"/>
                      <a:r>
                        <a:rPr lang="en-US" sz="500" b="0" i="0" u="none" strike="noStrike">
                          <a:solidFill>
                            <a:srgbClr val="000000"/>
                          </a:solidFill>
                          <a:effectLst/>
                          <a:latin typeface="Verdana" panose="020B0604030504040204" pitchFamily="34" charset="0"/>
                        </a:rPr>
                        <a:t>Change of material assumptions (NII)</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66915883"/>
                  </a:ext>
                </a:extLst>
              </a:tr>
              <a:tr h="108823">
                <a:tc>
                  <a:txBody>
                    <a:bodyPr/>
                    <a:lstStyle/>
                    <a:p>
                      <a:pPr algn="l" fontAlgn="t"/>
                      <a:r>
                        <a:rPr lang="en-US" sz="500" b="0" i="0" u="none" strike="noStrike">
                          <a:solidFill>
                            <a:srgbClr val="000000"/>
                          </a:solidFill>
                          <a:effectLst/>
                          <a:latin typeface="Verdana" panose="020B0604030504040204" pitchFamily="34" charset="0"/>
                        </a:rPr>
                        <a:t>Post-shock interest rate floor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dirty="0">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67733881"/>
                  </a:ext>
                </a:extLst>
              </a:tr>
            </a:tbl>
          </a:graphicData>
        </a:graphic>
      </p:graphicFrame>
      <p:sp>
        <p:nvSpPr>
          <p:cNvPr id="8" name="TextBox 7">
            <a:extLst>
              <a:ext uri="{FF2B5EF4-FFF2-40B4-BE49-F238E27FC236}">
                <a16:creationId xmlns:a16="http://schemas.microsoft.com/office/drawing/2014/main" id="{CCE73BCF-8430-08B6-1FC9-AA0C3035796E}"/>
              </a:ext>
            </a:extLst>
          </p:cNvPr>
          <p:cNvSpPr txBox="1"/>
          <p:nvPr/>
        </p:nvSpPr>
        <p:spPr>
          <a:xfrm>
            <a:off x="6541973" y="1874728"/>
            <a:ext cx="3851034" cy="3108543"/>
          </a:xfrm>
          <a:prstGeom prst="rect">
            <a:avLst/>
          </a:prstGeom>
          <a:noFill/>
          <a:ln>
            <a:solidFill>
              <a:schemeClr val="tx1">
                <a:lumMod val="50000"/>
              </a:schemeClr>
            </a:solidFill>
          </a:ln>
        </p:spPr>
        <p:txBody>
          <a:bodyPr wrap="square">
            <a:spAutoFit/>
          </a:bodyPr>
          <a:lstStyle/>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J11 vise à fournir au régulateur des informations sur  les points méthodologiques utilisés pour la réalisation des templates </a:t>
            </a:r>
            <a:r>
              <a:rPr lang="fr-FR" dirty="0" err="1">
                <a:solidFill>
                  <a:schemeClr val="tx1">
                    <a:lumMod val="50000"/>
                  </a:schemeClr>
                </a:solidFill>
                <a:latin typeface="Calibri (body)"/>
              </a:rPr>
              <a:t>précèdents</a:t>
            </a:r>
            <a:r>
              <a:rPr lang="fr-FR" dirty="0">
                <a:solidFill>
                  <a:schemeClr val="tx1">
                    <a:lumMod val="50000"/>
                  </a:schemeClr>
                </a:solidFill>
                <a:latin typeface="Calibri (body)"/>
              </a:rPr>
              <a:t>.</a:t>
            </a:r>
          </a:p>
          <a:p>
            <a:r>
              <a:rPr lang="fr-FR" dirty="0">
                <a:solidFill>
                  <a:schemeClr val="tx1">
                    <a:lumMod val="50000"/>
                  </a:schemeClr>
                </a:solidFill>
                <a:latin typeface="Calibri (body)"/>
              </a:rPr>
              <a:t>Les réponses attendues sont prédéfinies.</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présent en divisé en 2 parties.</a:t>
            </a:r>
          </a:p>
          <a:p>
            <a:r>
              <a:rPr lang="fr-FR" dirty="0">
                <a:solidFill>
                  <a:schemeClr val="tx1">
                    <a:lumMod val="50000"/>
                  </a:schemeClr>
                </a:solidFill>
                <a:latin typeface="Calibri (body)"/>
              </a:rPr>
              <a:t>11.1 : Reprenant les informations qualitatives sur la méthodologie de calcul des indicateurs</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11.2 : Reprenant les informations qualitatives par rapport à la devise significative associée, notamment sur le type de courbe sans risque utilisé.</a:t>
            </a:r>
          </a:p>
        </p:txBody>
      </p:sp>
    </p:spTree>
    <p:extLst>
      <p:ext uri="{BB962C8B-B14F-4D97-AF65-F5344CB8AC3E}">
        <p14:creationId xmlns:p14="http://schemas.microsoft.com/office/powerpoint/2010/main" val="227421257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a- Méthodologie de calcul de la sensibilité de MNI (1)</a:t>
            </a:r>
          </a:p>
        </p:txBody>
      </p:sp>
      <p:sp>
        <p:nvSpPr>
          <p:cNvPr id="2" name="ZoneTexte 1">
            <a:extLst>
              <a:ext uri="{FF2B5EF4-FFF2-40B4-BE49-F238E27FC236}">
                <a16:creationId xmlns:a16="http://schemas.microsoft.com/office/drawing/2014/main" id="{AAA24981-6903-1657-181B-CF79FB22650E}"/>
              </a:ext>
            </a:extLst>
          </p:cNvPr>
          <p:cNvSpPr txBox="1"/>
          <p:nvPr/>
        </p:nvSpPr>
        <p:spPr>
          <a:xfrm>
            <a:off x="723568" y="1195943"/>
            <a:ext cx="10761698" cy="3939540"/>
          </a:xfrm>
          <a:prstGeom prst="rect">
            <a:avLst/>
          </a:prstGeom>
          <a:noFill/>
          <a:ln>
            <a:solidFill>
              <a:schemeClr val="tx1">
                <a:lumMod val="50000"/>
              </a:schemeClr>
            </a:solidFill>
          </a:ln>
        </p:spPr>
        <p:txBody>
          <a:bodyPr wrap="square" rtlCol="0">
            <a:spAutoFit/>
          </a:bodyPr>
          <a:lstStyle/>
          <a:p>
            <a:endParaRPr lang="fr-FR" u="sng" dirty="0">
              <a:solidFill>
                <a:schemeClr val="tx1">
                  <a:lumMod val="50000"/>
                </a:schemeClr>
              </a:solidFill>
              <a:latin typeface="Calibri (body)"/>
            </a:endParaRPr>
          </a:p>
          <a:p>
            <a:r>
              <a:rPr lang="fr-FR" u="sng" dirty="0">
                <a:solidFill>
                  <a:schemeClr val="tx1">
                    <a:lumMod val="50000"/>
                  </a:schemeClr>
                </a:solidFill>
                <a:latin typeface="Calibri (body)"/>
              </a:rPr>
              <a:t>L’approche MNI :</a:t>
            </a:r>
          </a:p>
          <a:p>
            <a:r>
              <a:rPr lang="fr-FR" dirty="0">
                <a:solidFill>
                  <a:schemeClr val="tx1">
                    <a:lumMod val="50000"/>
                  </a:schemeClr>
                </a:solidFill>
                <a:latin typeface="Calibri (body)"/>
              </a:rPr>
              <a:t>1. Permet de mesurer l’impact d’une variation des taux sur les revenus de l’établissement</a:t>
            </a:r>
          </a:p>
          <a:p>
            <a:r>
              <a:rPr lang="fr-FR" dirty="0">
                <a:solidFill>
                  <a:schemeClr val="tx1">
                    <a:lumMod val="50000"/>
                  </a:schemeClr>
                </a:solidFill>
                <a:latin typeface="Calibri (body)"/>
              </a:rPr>
              <a:t>2. Identifier quelles sont les sources de revenus les plus impactées</a:t>
            </a:r>
          </a:p>
          <a:p>
            <a:r>
              <a:rPr lang="fr-FR" dirty="0">
                <a:solidFill>
                  <a:schemeClr val="tx1">
                    <a:lumMod val="50000"/>
                  </a:schemeClr>
                </a:solidFill>
                <a:latin typeface="Calibri (body)"/>
              </a:rPr>
              <a:t>3. Décomposer les effets taux et les effets volume </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Le calcul de la MNI et de sa sensibilité est réalisé sous une </a:t>
            </a:r>
            <a:r>
              <a:rPr lang="fr-FR" b="1" dirty="0">
                <a:solidFill>
                  <a:schemeClr val="tx1">
                    <a:lumMod val="50000"/>
                  </a:schemeClr>
                </a:solidFill>
                <a:latin typeface="Calibri (body)"/>
              </a:rPr>
              <a:t>vue bilan constant</a:t>
            </a:r>
            <a:r>
              <a:rPr lang="fr-FR" dirty="0">
                <a:solidFill>
                  <a:schemeClr val="tx1">
                    <a:lumMod val="50000"/>
                  </a:schemeClr>
                </a:solidFill>
                <a:latin typeface="Calibri (body)"/>
              </a:rPr>
              <a:t>. Les encours arrivant à échéance sur l’horizon de projection de la MNI sont donc remplacés par des instruments de même nature et de caractéristiques similaires, on parle de </a:t>
            </a:r>
            <a:r>
              <a:rPr lang="fr-FR" b="1" dirty="0">
                <a:solidFill>
                  <a:schemeClr val="tx1">
                    <a:lumMod val="50000"/>
                  </a:schemeClr>
                </a:solidFill>
                <a:latin typeface="Calibri (body)"/>
              </a:rPr>
              <a:t>production nouvelle</a:t>
            </a:r>
            <a:r>
              <a:rPr lang="fr-FR" dirty="0">
                <a:solidFill>
                  <a:schemeClr val="tx1">
                    <a:lumMod val="50000"/>
                  </a:schemeClr>
                </a:solidFill>
                <a:latin typeface="Calibri (body)"/>
              </a:rPr>
              <a:t>.</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Les marges commerciales et autres composantes de spread </a:t>
            </a:r>
            <a:r>
              <a:rPr lang="fr-FR" b="1" dirty="0">
                <a:solidFill>
                  <a:schemeClr val="tx1">
                    <a:lumMod val="50000"/>
                  </a:schemeClr>
                </a:solidFill>
                <a:latin typeface="Calibri (body)"/>
              </a:rPr>
              <a:t>sont incluses </a:t>
            </a:r>
            <a:r>
              <a:rPr lang="fr-FR" dirty="0">
                <a:solidFill>
                  <a:schemeClr val="tx1">
                    <a:lumMod val="50000"/>
                  </a:schemeClr>
                </a:solidFill>
                <a:latin typeface="Calibri (body)"/>
              </a:rPr>
              <a:t>dans le calcul de MNI.</a:t>
            </a:r>
          </a:p>
          <a:p>
            <a:endParaRPr lang="fr-FR" sz="1000" dirty="0">
              <a:solidFill>
                <a:schemeClr val="tx1">
                  <a:lumMod val="50000"/>
                </a:schemeClr>
              </a:solidFill>
              <a:latin typeface="Calibri (body)"/>
            </a:endParaRPr>
          </a:p>
          <a:p>
            <a:r>
              <a:rPr lang="fr-FR" u="sng" dirty="0">
                <a:solidFill>
                  <a:schemeClr val="tx1">
                    <a:lumMod val="50000"/>
                  </a:schemeClr>
                </a:solidFill>
                <a:latin typeface="Calibri (body)"/>
              </a:rPr>
              <a:t>La sensibilité des encours diffère selon leur nature de taux :</a:t>
            </a:r>
          </a:p>
          <a:p>
            <a:r>
              <a:rPr lang="fr-FR" dirty="0">
                <a:solidFill>
                  <a:schemeClr val="tx1">
                    <a:lumMod val="50000"/>
                  </a:schemeClr>
                </a:solidFill>
                <a:latin typeface="Calibri (body)"/>
              </a:rPr>
              <a:t>- Les encours à TR (taux révisable) sont sensibles chaque année, lors de chaque refixation</a:t>
            </a:r>
          </a:p>
          <a:p>
            <a:r>
              <a:rPr lang="fr-FR" dirty="0">
                <a:solidFill>
                  <a:schemeClr val="tx1">
                    <a:lumMod val="50000"/>
                  </a:schemeClr>
                </a:solidFill>
                <a:latin typeface="Calibri (body)"/>
              </a:rPr>
              <a:t>- Sur les encours à TF (taux fixe), seulement la production nouvelle est sensible</a:t>
            </a:r>
          </a:p>
          <a:p>
            <a:endParaRPr lang="fr-FR" sz="1000" dirty="0">
              <a:solidFill>
                <a:schemeClr val="tx1">
                  <a:lumMod val="50000"/>
                </a:schemeClr>
              </a:solidFill>
              <a:latin typeface="Calibri (body)"/>
            </a:endParaRPr>
          </a:p>
          <a:p>
            <a:r>
              <a:rPr lang="fr-FR" u="sng" dirty="0">
                <a:solidFill>
                  <a:schemeClr val="tx1">
                    <a:lumMod val="50000"/>
                  </a:schemeClr>
                </a:solidFill>
                <a:latin typeface="Calibri (body)"/>
              </a:rPr>
              <a:t>La sensibilité est calculée sur la base de 2 chocs réglementaires :</a:t>
            </a:r>
          </a:p>
          <a:p>
            <a:r>
              <a:rPr lang="fr-FR" dirty="0">
                <a:solidFill>
                  <a:schemeClr val="tx1">
                    <a:lumMod val="50000"/>
                  </a:schemeClr>
                </a:solidFill>
                <a:latin typeface="Calibri (body)"/>
              </a:rPr>
              <a:t>- Choc parallèle à la hausse (</a:t>
            </a:r>
            <a:r>
              <a:rPr lang="fr-FR" dirty="0" err="1">
                <a:solidFill>
                  <a:schemeClr val="tx1">
                    <a:lumMod val="50000"/>
                  </a:schemeClr>
                </a:solidFill>
                <a:latin typeface="Calibri (body)"/>
              </a:rPr>
              <a:t>parallel</a:t>
            </a:r>
            <a:r>
              <a:rPr lang="fr-FR" dirty="0">
                <a:solidFill>
                  <a:schemeClr val="tx1">
                    <a:lumMod val="50000"/>
                  </a:schemeClr>
                </a:solidFill>
                <a:latin typeface="Calibri (body)"/>
              </a:rPr>
              <a:t> up +200bps)</a:t>
            </a:r>
          </a:p>
          <a:p>
            <a:r>
              <a:rPr lang="fr-FR" dirty="0">
                <a:solidFill>
                  <a:schemeClr val="tx1">
                    <a:lumMod val="50000"/>
                  </a:schemeClr>
                </a:solidFill>
                <a:latin typeface="Calibri (body)"/>
              </a:rPr>
              <a:t>- Choc parallèle à la baisse (</a:t>
            </a:r>
            <a:r>
              <a:rPr lang="fr-FR" dirty="0" err="1">
                <a:solidFill>
                  <a:schemeClr val="tx1">
                    <a:lumMod val="50000"/>
                  </a:schemeClr>
                </a:solidFill>
                <a:latin typeface="Calibri (body)"/>
              </a:rPr>
              <a:t>parallel</a:t>
            </a:r>
            <a:r>
              <a:rPr lang="fr-FR" dirty="0">
                <a:solidFill>
                  <a:schemeClr val="tx1">
                    <a:lumMod val="50000"/>
                  </a:schemeClr>
                </a:solidFill>
                <a:latin typeface="Calibri (body)"/>
              </a:rPr>
              <a:t> down -200bps)</a:t>
            </a:r>
          </a:p>
          <a:p>
            <a:endParaRPr lang="fr-FR" dirty="0">
              <a:solidFill>
                <a:schemeClr val="tx1">
                  <a:lumMod val="50000"/>
                </a:schemeClr>
              </a:solidFill>
            </a:endParaRPr>
          </a:p>
        </p:txBody>
      </p:sp>
      <p:sp>
        <p:nvSpPr>
          <p:cNvPr id="5" name="Espace réservé du texte 16">
            <a:extLst>
              <a:ext uri="{FF2B5EF4-FFF2-40B4-BE49-F238E27FC236}">
                <a16:creationId xmlns:a16="http://schemas.microsoft.com/office/drawing/2014/main" id="{90658FA6-C7E1-5F70-35DE-FA59A248C513}"/>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Tree>
    <p:extLst>
      <p:ext uri="{BB962C8B-B14F-4D97-AF65-F5344CB8AC3E}">
        <p14:creationId xmlns:p14="http://schemas.microsoft.com/office/powerpoint/2010/main" val="32474556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a- Méthodologie de calcul de la sensibilité de MNI (2)</a:t>
            </a:r>
          </a:p>
        </p:txBody>
      </p:sp>
      <p:sp>
        <p:nvSpPr>
          <p:cNvPr id="4" name="ZoneTexte 1">
            <a:extLst>
              <a:ext uri="{FF2B5EF4-FFF2-40B4-BE49-F238E27FC236}">
                <a16:creationId xmlns:a16="http://schemas.microsoft.com/office/drawing/2014/main" id="{546B679E-23A2-0BB9-D223-E0E9E3B71AA3}"/>
              </a:ext>
            </a:extLst>
          </p:cNvPr>
          <p:cNvSpPr txBox="1"/>
          <p:nvPr/>
        </p:nvSpPr>
        <p:spPr>
          <a:xfrm>
            <a:off x="723568" y="1261072"/>
            <a:ext cx="10801891" cy="4154984"/>
          </a:xfrm>
          <a:prstGeom prst="rect">
            <a:avLst/>
          </a:prstGeom>
          <a:noFill/>
          <a:ln>
            <a:solidFill>
              <a:schemeClr val="tx1">
                <a:lumMod val="50000"/>
              </a:schemeClr>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1. Allocation des cash-flow par bucket</a:t>
            </a:r>
          </a:p>
          <a:p>
            <a:r>
              <a:rPr lang="fr-FR" dirty="0">
                <a:solidFill>
                  <a:schemeClr val="tx1">
                    <a:lumMod val="50000"/>
                  </a:schemeClr>
                </a:solidFill>
                <a:latin typeface="Calibri (body)"/>
              </a:rPr>
              <a:t>	a. Identification des positions devant être remplacées sur l’horizon de projection</a:t>
            </a:r>
          </a:p>
          <a:p>
            <a:r>
              <a:rPr lang="fr-FR" dirty="0">
                <a:solidFill>
                  <a:schemeClr val="tx1">
                    <a:lumMod val="50000"/>
                  </a:schemeClr>
                </a:solidFill>
                <a:latin typeface="Calibri (body)"/>
              </a:rPr>
              <a:t>	b. Allocation des cash-flow remplacés dans les buckets associés</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2. Identification des flux alloués au calcul de la MNI</a:t>
            </a:r>
          </a:p>
          <a:p>
            <a:r>
              <a:rPr lang="fr-FR" dirty="0">
                <a:solidFill>
                  <a:schemeClr val="tx1">
                    <a:lumMod val="50000"/>
                  </a:schemeClr>
                </a:solidFill>
                <a:latin typeface="Calibri (body)"/>
              </a:rPr>
              <a:t>	a. Prise en compte </a:t>
            </a:r>
            <a:r>
              <a:rPr lang="fr-FR" b="1" dirty="0">
                <a:solidFill>
                  <a:schemeClr val="tx1">
                    <a:lumMod val="50000"/>
                  </a:schemeClr>
                </a:solidFill>
                <a:latin typeface="Calibri (body)"/>
              </a:rPr>
              <a:t>seulement des flux d’intérêts</a:t>
            </a:r>
          </a:p>
          <a:p>
            <a:r>
              <a:rPr lang="fr-FR" dirty="0">
                <a:solidFill>
                  <a:schemeClr val="tx1">
                    <a:lumMod val="50000"/>
                  </a:schemeClr>
                </a:solidFill>
                <a:latin typeface="Calibri (body)"/>
              </a:rPr>
              <a:t>	b. Non prise en compte des flux intervenant après la fin de la projection </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3. Calcul de la métrique en scénario baseline</a:t>
            </a:r>
          </a:p>
          <a:p>
            <a:r>
              <a:rPr lang="fr-FR" dirty="0">
                <a:solidFill>
                  <a:schemeClr val="tx1">
                    <a:lumMod val="50000"/>
                  </a:schemeClr>
                </a:solidFill>
                <a:latin typeface="Calibri (body)"/>
              </a:rPr>
              <a:t>	a. La MNI est calculée par </a:t>
            </a:r>
            <a:r>
              <a:rPr lang="fr-FR" b="1" dirty="0">
                <a:solidFill>
                  <a:schemeClr val="tx1">
                    <a:lumMod val="50000"/>
                  </a:schemeClr>
                </a:solidFill>
                <a:latin typeface="Calibri (body)"/>
              </a:rPr>
              <a:t>∑ produits d’intérêts - ∑ charges d’intérêts </a:t>
            </a:r>
            <a:r>
              <a:rPr lang="fr-FR" dirty="0">
                <a:solidFill>
                  <a:schemeClr val="tx1">
                    <a:lumMod val="50000"/>
                  </a:schemeClr>
                </a:solidFill>
                <a:latin typeface="Calibri (body)"/>
              </a:rPr>
              <a:t>sur l’horizon de projection</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4. Calcul de la métrique en scénario de stress</a:t>
            </a:r>
          </a:p>
          <a:p>
            <a:r>
              <a:rPr lang="fr-FR" dirty="0">
                <a:solidFill>
                  <a:schemeClr val="tx1">
                    <a:lumMod val="50000"/>
                  </a:schemeClr>
                </a:solidFill>
                <a:latin typeface="Calibri (body)"/>
              </a:rPr>
              <a:t>	a. Les taux choqués sont appliqués exclusivement sur la production nouvelle dans le cas d’encours à Taux Fixe (différent de 0).</a:t>
            </a:r>
          </a:p>
          <a:p>
            <a:r>
              <a:rPr lang="fr-FR" dirty="0">
                <a:solidFill>
                  <a:schemeClr val="tx1">
                    <a:lumMod val="50000"/>
                  </a:schemeClr>
                </a:solidFill>
                <a:latin typeface="Calibri (body)"/>
              </a:rPr>
              <a:t>	b. Dans le cas d’encours à Taux Révisable, les taux choqués sont appliqués à chaque refixation.</a:t>
            </a:r>
          </a:p>
          <a:p>
            <a:r>
              <a:rPr lang="fr-FR" dirty="0">
                <a:solidFill>
                  <a:schemeClr val="tx1">
                    <a:lumMod val="50000"/>
                  </a:schemeClr>
                </a:solidFill>
                <a:latin typeface="Calibri (body)"/>
              </a:rPr>
              <a:t>	c. Calcul de la métrique par </a:t>
            </a:r>
            <a:r>
              <a:rPr lang="fr-FR" b="1" dirty="0">
                <a:solidFill>
                  <a:schemeClr val="tx1">
                    <a:lumMod val="50000"/>
                  </a:schemeClr>
                </a:solidFill>
                <a:latin typeface="Calibri (body)"/>
              </a:rPr>
              <a:t>∑ produits d’intérêts - ∑ charges d’intérêts </a:t>
            </a:r>
            <a:endParaRPr lang="fr-FR" dirty="0">
              <a:solidFill>
                <a:schemeClr val="tx1">
                  <a:lumMod val="50000"/>
                </a:schemeClr>
              </a:solidFill>
              <a:latin typeface="Calibri (body)"/>
            </a:endParaRP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5. Calcul de la sensibilité de MNI</a:t>
            </a:r>
          </a:p>
          <a:p>
            <a:r>
              <a:rPr lang="fr-FR" dirty="0">
                <a:solidFill>
                  <a:schemeClr val="tx1">
                    <a:lumMod val="50000"/>
                  </a:schemeClr>
                </a:solidFill>
                <a:latin typeface="Calibri (body)"/>
              </a:rPr>
              <a:t>	a. La sensibilité de MNI est obtenue par : </a:t>
            </a:r>
            <a:r>
              <a:rPr lang="fr-FR" b="1" dirty="0">
                <a:solidFill>
                  <a:schemeClr val="tx1">
                    <a:lumMod val="50000"/>
                  </a:schemeClr>
                </a:solidFill>
                <a:latin typeface="Calibri (body)"/>
              </a:rPr>
              <a:t>MNI stressée – MNI </a:t>
            </a:r>
            <a:r>
              <a:rPr lang="fr-FR" b="1" dirty="0" err="1">
                <a:solidFill>
                  <a:schemeClr val="tx1">
                    <a:lumMod val="50000"/>
                  </a:schemeClr>
                </a:solidFill>
                <a:latin typeface="Calibri (body)"/>
              </a:rPr>
              <a:t>baseline</a:t>
            </a:r>
            <a:endParaRPr lang="fr-FR" b="1" dirty="0">
              <a:solidFill>
                <a:schemeClr val="tx1">
                  <a:lumMod val="50000"/>
                </a:schemeClr>
              </a:solidFill>
              <a:latin typeface="Calibri (body)"/>
            </a:endParaRPr>
          </a:p>
          <a:p>
            <a:endParaRPr lang="fr-FR" b="1" dirty="0">
              <a:solidFill>
                <a:schemeClr val="tx1">
                  <a:lumMod val="50000"/>
                </a:schemeClr>
              </a:solidFill>
              <a:latin typeface="Calibri (body)"/>
            </a:endParaRPr>
          </a:p>
        </p:txBody>
      </p:sp>
      <p:sp>
        <p:nvSpPr>
          <p:cNvPr id="2" name="Espace réservé du texte 16">
            <a:extLst>
              <a:ext uri="{FF2B5EF4-FFF2-40B4-BE49-F238E27FC236}">
                <a16:creationId xmlns:a16="http://schemas.microsoft.com/office/drawing/2014/main" id="{6F9C02F1-8DE6-C07A-FE4E-E93E912AF299}"/>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Tree>
    <p:extLst>
      <p:ext uri="{BB962C8B-B14F-4D97-AF65-F5344CB8AC3E}">
        <p14:creationId xmlns:p14="http://schemas.microsoft.com/office/powerpoint/2010/main" val="43932578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a- Méthodologie de calcul de la sensibilité de MNI (3)</a:t>
            </a:r>
          </a:p>
        </p:txBody>
      </p:sp>
      <p:sp>
        <p:nvSpPr>
          <p:cNvPr id="2" name="Espace réservé du texte 16">
            <a:extLst>
              <a:ext uri="{FF2B5EF4-FFF2-40B4-BE49-F238E27FC236}">
                <a16:creationId xmlns:a16="http://schemas.microsoft.com/office/drawing/2014/main" id="{6F9C02F1-8DE6-C07A-FE4E-E93E912AF299}"/>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
        <p:nvSpPr>
          <p:cNvPr id="5" name="ZoneTexte 6">
            <a:extLst>
              <a:ext uri="{FF2B5EF4-FFF2-40B4-BE49-F238E27FC236}">
                <a16:creationId xmlns:a16="http://schemas.microsoft.com/office/drawing/2014/main" id="{7CC9A848-F223-AFDB-34A5-51A1553F6D90}"/>
              </a:ext>
            </a:extLst>
          </p:cNvPr>
          <p:cNvSpPr txBox="1"/>
          <p:nvPr/>
        </p:nvSpPr>
        <p:spPr>
          <a:xfrm>
            <a:off x="356610" y="1155251"/>
            <a:ext cx="11478780" cy="3046988"/>
          </a:xfrm>
          <a:prstGeom prst="rect">
            <a:avLst/>
          </a:prstGeom>
          <a:noFill/>
          <a:ln>
            <a:solidFill>
              <a:schemeClr val="tx1">
                <a:lumMod val="50000"/>
              </a:schemeClr>
            </a:solidFill>
          </a:ln>
        </p:spPr>
        <p:txBody>
          <a:bodyPr wrap="square" rtlCol="0">
            <a:spAutoFit/>
          </a:bodyPr>
          <a:lstStyle/>
          <a:p>
            <a:endParaRPr lang="fr-FR" dirty="0">
              <a:solidFill>
                <a:schemeClr val="tx1">
                  <a:lumMod val="50000"/>
                </a:schemeClr>
              </a:solidFill>
              <a:latin typeface="Calibri (body)"/>
            </a:endParaRPr>
          </a:p>
          <a:p>
            <a:r>
              <a:rPr lang="fr-FR" b="1" dirty="0">
                <a:solidFill>
                  <a:schemeClr val="tx1">
                    <a:lumMod val="50000"/>
                  </a:schemeClr>
                </a:solidFill>
                <a:latin typeface="Calibri (body)"/>
              </a:rPr>
              <a:t>MNI</a:t>
            </a:r>
            <a:endParaRPr lang="fr-FR" dirty="0">
              <a:solidFill>
                <a:schemeClr val="tx1">
                  <a:lumMod val="50000"/>
                </a:schemeClr>
              </a:solidFill>
              <a:latin typeface="Calibri (body)"/>
            </a:endParaRPr>
          </a:p>
          <a:p>
            <a:endParaRPr lang="fr-FR" sz="1000" dirty="0">
              <a:solidFill>
                <a:schemeClr val="tx1">
                  <a:lumMod val="50000"/>
                </a:schemeClr>
              </a:solidFill>
              <a:latin typeface="Calibri (body)"/>
            </a:endParaRPr>
          </a:p>
          <a:p>
            <a:pPr marL="285750" indent="-285750">
              <a:buFont typeface="Wingdings" panose="05000000000000000000" pitchFamily="2" charset="2"/>
              <a:buChar char="è"/>
            </a:pPr>
            <a:r>
              <a:rPr lang="fr-FR" dirty="0">
                <a:solidFill>
                  <a:schemeClr val="tx1">
                    <a:lumMod val="50000"/>
                  </a:schemeClr>
                </a:solidFill>
                <a:latin typeface="Calibri (body)"/>
              </a:rPr>
              <a:t>Le calcul de la MNI est à réaliser seulement pour les opérations en devise significative</a:t>
            </a:r>
          </a:p>
          <a:p>
            <a:r>
              <a:rPr lang="fr-FR" dirty="0">
                <a:solidFill>
                  <a:schemeClr val="tx1">
                    <a:lumMod val="50000"/>
                  </a:schemeClr>
                </a:solidFill>
                <a:latin typeface="Calibri (body)"/>
              </a:rPr>
              <a:t>	</a:t>
            </a:r>
          </a:p>
          <a:p>
            <a:pPr marL="285750" indent="-285750">
              <a:buFont typeface="Wingdings" panose="05000000000000000000" pitchFamily="2" charset="2"/>
              <a:buChar char="è"/>
            </a:pPr>
            <a:r>
              <a:rPr lang="fr-FR" dirty="0">
                <a:solidFill>
                  <a:schemeClr val="tx1">
                    <a:lumMod val="50000"/>
                  </a:schemeClr>
                </a:solidFill>
                <a:latin typeface="Calibri (body)"/>
              </a:rPr>
              <a:t>En scénario dynamique la prise en compte du taux choqué correspond à la formule suivante : </a:t>
            </a:r>
            <a:endParaRPr lang="fr-FR" b="1" dirty="0">
              <a:solidFill>
                <a:schemeClr val="tx1">
                  <a:lumMod val="50000"/>
                </a:schemeClr>
              </a:solidFill>
              <a:latin typeface="Calibri (body)"/>
            </a:endParaRPr>
          </a:p>
          <a:p>
            <a:pPr lvl="1"/>
            <a:r>
              <a:rPr lang="fr-FR" dirty="0">
                <a:solidFill>
                  <a:schemeClr val="tx1">
                    <a:lumMod val="50000"/>
                  </a:schemeClr>
                </a:solidFill>
                <a:latin typeface="Calibri (body)"/>
              </a:rPr>
              <a:t>	</a:t>
            </a:r>
            <a:r>
              <a:rPr lang="fr-FR" u="sng" dirty="0">
                <a:solidFill>
                  <a:schemeClr val="tx1">
                    <a:lumMod val="50000"/>
                  </a:schemeClr>
                </a:solidFill>
                <a:latin typeface="Calibri (body)"/>
              </a:rPr>
              <a:t>La méthodologie adéquate est la suivante : </a:t>
            </a:r>
            <a:r>
              <a:rPr lang="fr-FR" b="1" dirty="0">
                <a:solidFill>
                  <a:schemeClr val="tx1">
                    <a:lumMod val="50000"/>
                  </a:schemeClr>
                </a:solidFill>
                <a:latin typeface="Calibri (body)"/>
              </a:rPr>
              <a:t>((Taux emprunt * (maturité/360))*Montant) + ((Taux choqué * ((360 - maturité)/360))*Montant)</a:t>
            </a:r>
          </a:p>
          <a:p>
            <a:pPr lvl="1"/>
            <a:endParaRPr lang="fr-FR" dirty="0">
              <a:solidFill>
                <a:schemeClr val="tx1">
                  <a:lumMod val="50000"/>
                </a:schemeClr>
              </a:solidFill>
              <a:latin typeface="Calibri (body)"/>
            </a:endParaRPr>
          </a:p>
          <a:p>
            <a:pPr lvl="1"/>
            <a:endParaRPr lang="fr-FR" dirty="0">
              <a:solidFill>
                <a:schemeClr val="tx1">
                  <a:lumMod val="50000"/>
                </a:schemeClr>
              </a:solidFill>
              <a:latin typeface="Calibri (body)"/>
            </a:endParaRPr>
          </a:p>
          <a:p>
            <a:pPr lvl="1"/>
            <a:endParaRPr lang="fr-FR" dirty="0">
              <a:solidFill>
                <a:schemeClr val="tx1">
                  <a:lumMod val="50000"/>
                </a:schemeClr>
              </a:solidFill>
              <a:latin typeface="Calibri (body)"/>
            </a:endParaRPr>
          </a:p>
          <a:p>
            <a:endParaRPr lang="fr-FR" dirty="0">
              <a:solidFill>
                <a:schemeClr val="tx1">
                  <a:lumMod val="50000"/>
                </a:schemeClr>
              </a:solidFill>
              <a:latin typeface="Calibri (body)"/>
            </a:endParaRPr>
          </a:p>
          <a:p>
            <a:endParaRPr lang="fr-FR" b="1" dirty="0">
              <a:solidFill>
                <a:schemeClr val="tx1">
                  <a:lumMod val="50000"/>
                </a:schemeClr>
              </a:solidFill>
              <a:latin typeface="Calibri (body)"/>
            </a:endParaRPr>
          </a:p>
          <a:p>
            <a:pPr marL="285750" indent="-285750">
              <a:buFont typeface="Wingdings" panose="05000000000000000000" pitchFamily="2" charset="2"/>
              <a:buChar char="è"/>
            </a:pPr>
            <a:r>
              <a:rPr lang="fr-FR" dirty="0">
                <a:solidFill>
                  <a:schemeClr val="tx1">
                    <a:lumMod val="50000"/>
                  </a:schemeClr>
                </a:solidFill>
                <a:latin typeface="Calibri (body)"/>
              </a:rPr>
              <a:t>Calcul d’intérêt sur les opérations à TF0%</a:t>
            </a:r>
          </a:p>
          <a:p>
            <a:pPr lvl="1"/>
            <a:r>
              <a:rPr lang="fr-FR" dirty="0">
                <a:solidFill>
                  <a:schemeClr val="tx1">
                    <a:lumMod val="50000"/>
                  </a:schemeClr>
                </a:solidFill>
                <a:latin typeface="Calibri (body)"/>
              </a:rPr>
              <a:t>	S’il s’agit d’un taux de 0% contractuel le choc sur les taux ne s’applique pas</a:t>
            </a:r>
          </a:p>
        </p:txBody>
      </p:sp>
      <p:sp>
        <p:nvSpPr>
          <p:cNvPr id="6" name="Left Bracket 5">
            <a:extLst>
              <a:ext uri="{FF2B5EF4-FFF2-40B4-BE49-F238E27FC236}">
                <a16:creationId xmlns:a16="http://schemas.microsoft.com/office/drawing/2014/main" id="{8B71055F-54D7-0497-50D2-26383F28B3DD}"/>
              </a:ext>
            </a:extLst>
          </p:cNvPr>
          <p:cNvSpPr/>
          <p:nvPr/>
        </p:nvSpPr>
        <p:spPr>
          <a:xfrm rot="16200000">
            <a:off x="5960985" y="1137218"/>
            <a:ext cx="374855" cy="3298497"/>
          </a:xfrm>
          <a:prstGeom prst="leftBracket">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7" name="Left Bracket 6">
            <a:extLst>
              <a:ext uri="{FF2B5EF4-FFF2-40B4-BE49-F238E27FC236}">
                <a16:creationId xmlns:a16="http://schemas.microsoft.com/office/drawing/2014/main" id="{45D1ACB8-848A-E344-601C-44D654EC55FB}"/>
              </a:ext>
            </a:extLst>
          </p:cNvPr>
          <p:cNvSpPr/>
          <p:nvPr/>
        </p:nvSpPr>
        <p:spPr>
          <a:xfrm rot="16200000">
            <a:off x="9629098" y="911308"/>
            <a:ext cx="374855" cy="3750316"/>
          </a:xfrm>
          <a:prstGeom prst="leftBracket">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8" name="TextBox 7">
            <a:extLst>
              <a:ext uri="{FF2B5EF4-FFF2-40B4-BE49-F238E27FC236}">
                <a16:creationId xmlns:a16="http://schemas.microsoft.com/office/drawing/2014/main" id="{A0A15F1D-F5C6-0D31-E606-8BFB7A2BD15C}"/>
              </a:ext>
            </a:extLst>
          </p:cNvPr>
          <p:cNvSpPr txBox="1"/>
          <p:nvPr/>
        </p:nvSpPr>
        <p:spPr>
          <a:xfrm>
            <a:off x="4561860" y="2986857"/>
            <a:ext cx="3068280" cy="523220"/>
          </a:xfrm>
          <a:prstGeom prst="rect">
            <a:avLst/>
          </a:prstGeom>
          <a:noFill/>
        </p:spPr>
        <p:txBody>
          <a:bodyPr wrap="square" rtlCol="0">
            <a:spAutoFit/>
          </a:bodyPr>
          <a:lstStyle/>
          <a:p>
            <a:r>
              <a:rPr lang="fr-FR" b="1" dirty="0">
                <a:solidFill>
                  <a:srgbClr val="FF0000"/>
                </a:solidFill>
                <a:latin typeface="Calibri (body)"/>
              </a:rPr>
              <a:t>Calcul d’intérêt sur la durée initiale de l’opération</a:t>
            </a:r>
          </a:p>
        </p:txBody>
      </p:sp>
      <p:sp>
        <p:nvSpPr>
          <p:cNvPr id="9" name="TextBox 8">
            <a:extLst>
              <a:ext uri="{FF2B5EF4-FFF2-40B4-BE49-F238E27FC236}">
                <a16:creationId xmlns:a16="http://schemas.microsoft.com/office/drawing/2014/main" id="{BC333268-7833-9789-6445-6FB3C5824C53}"/>
              </a:ext>
            </a:extLst>
          </p:cNvPr>
          <p:cNvSpPr txBox="1"/>
          <p:nvPr/>
        </p:nvSpPr>
        <p:spPr>
          <a:xfrm>
            <a:off x="8905152" y="2986857"/>
            <a:ext cx="2175387" cy="523220"/>
          </a:xfrm>
          <a:prstGeom prst="rect">
            <a:avLst/>
          </a:prstGeom>
          <a:noFill/>
        </p:spPr>
        <p:txBody>
          <a:bodyPr wrap="square" rtlCol="0">
            <a:spAutoFit/>
          </a:bodyPr>
          <a:lstStyle/>
          <a:p>
            <a:r>
              <a:rPr lang="fr-FR" b="1" dirty="0">
                <a:solidFill>
                  <a:srgbClr val="FF0000"/>
                </a:solidFill>
                <a:latin typeface="Calibri (body)"/>
              </a:rPr>
              <a:t>Calcul d’intérêt sur la production nouvelle</a:t>
            </a:r>
          </a:p>
        </p:txBody>
      </p:sp>
    </p:spTree>
    <p:extLst>
      <p:ext uri="{BB962C8B-B14F-4D97-AF65-F5344CB8AC3E}">
        <p14:creationId xmlns:p14="http://schemas.microsoft.com/office/powerpoint/2010/main" val="91286467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b- Méthodologie de calcul de la sensibilité d’EVE</a:t>
            </a:r>
          </a:p>
        </p:txBody>
      </p:sp>
      <p:sp>
        <p:nvSpPr>
          <p:cNvPr id="2" name="ZoneTexte 1">
            <a:extLst>
              <a:ext uri="{FF2B5EF4-FFF2-40B4-BE49-F238E27FC236}">
                <a16:creationId xmlns:a16="http://schemas.microsoft.com/office/drawing/2014/main" id="{AAA24981-6903-1657-181B-CF79FB22650E}"/>
              </a:ext>
            </a:extLst>
          </p:cNvPr>
          <p:cNvSpPr txBox="1"/>
          <p:nvPr/>
        </p:nvSpPr>
        <p:spPr>
          <a:xfrm>
            <a:off x="723568" y="1143936"/>
            <a:ext cx="10771746" cy="4308872"/>
          </a:xfrm>
          <a:prstGeom prst="rect">
            <a:avLst/>
          </a:prstGeom>
          <a:noFill/>
          <a:ln>
            <a:solidFill>
              <a:schemeClr val="tx1">
                <a:lumMod val="50000"/>
              </a:schemeClr>
            </a:solidFill>
          </a:ln>
        </p:spPr>
        <p:txBody>
          <a:bodyPr wrap="square" rtlCol="0">
            <a:spAutoFit/>
          </a:bodyPr>
          <a:lstStyle/>
          <a:p>
            <a:endParaRPr lang="fr-FR" u="sng" dirty="0">
              <a:solidFill>
                <a:schemeClr val="tx1">
                  <a:lumMod val="50000"/>
                </a:schemeClr>
              </a:solidFill>
              <a:latin typeface="Calibri (body)"/>
            </a:endParaRPr>
          </a:p>
          <a:p>
            <a:r>
              <a:rPr lang="fr-FR" u="sng" dirty="0">
                <a:solidFill>
                  <a:schemeClr val="tx1">
                    <a:lumMod val="50000"/>
                  </a:schemeClr>
                </a:solidFill>
                <a:latin typeface="Calibri (body)"/>
              </a:rPr>
              <a:t>L’approche EVE :</a:t>
            </a:r>
          </a:p>
          <a:p>
            <a:endParaRPr lang="fr-FR" sz="1000" u="sng" dirty="0">
              <a:solidFill>
                <a:schemeClr val="tx1">
                  <a:lumMod val="50000"/>
                </a:schemeClr>
              </a:solidFill>
              <a:latin typeface="Calibri (body)"/>
            </a:endParaRPr>
          </a:p>
          <a:p>
            <a:pPr marL="342900" indent="-342900">
              <a:buAutoNum type="arabicPeriod"/>
            </a:pPr>
            <a:r>
              <a:rPr lang="fr-FR" dirty="0">
                <a:solidFill>
                  <a:schemeClr val="tx1">
                    <a:lumMod val="50000"/>
                  </a:schemeClr>
                </a:solidFill>
                <a:latin typeface="Calibri (body)"/>
              </a:rPr>
              <a:t>Permet d’approximer la valeur des capitaux propres dans un scénario central</a:t>
            </a:r>
          </a:p>
          <a:p>
            <a:pPr marL="342900" indent="-342900">
              <a:buAutoNum type="arabicPeriod"/>
            </a:pPr>
            <a:r>
              <a:rPr lang="fr-FR" dirty="0">
                <a:solidFill>
                  <a:schemeClr val="tx1">
                    <a:lumMod val="50000"/>
                  </a:schemeClr>
                </a:solidFill>
                <a:latin typeface="Calibri (body)"/>
              </a:rPr>
              <a:t>Analyser l’impact des mouvements de taux sur la valorisation des capitaux propres</a:t>
            </a:r>
          </a:p>
          <a:p>
            <a:pPr marL="342900" indent="-342900">
              <a:buAutoNum type="arabicPeriod"/>
            </a:pPr>
            <a:r>
              <a:rPr lang="fr-FR" dirty="0">
                <a:solidFill>
                  <a:schemeClr val="tx1">
                    <a:lumMod val="50000"/>
                  </a:schemeClr>
                </a:solidFill>
                <a:latin typeface="Calibri (body)"/>
              </a:rPr>
              <a:t>Identifier les produits les plus sensibles aux mouvements de taux</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Le calcul de l’EVE et de sa sensibilité est réalisé sous une vue </a:t>
            </a:r>
            <a:r>
              <a:rPr lang="fr-FR" b="1" dirty="0">
                <a:solidFill>
                  <a:schemeClr val="tx1">
                    <a:lumMod val="50000"/>
                  </a:schemeClr>
                </a:solidFill>
                <a:latin typeface="Calibri (body)"/>
              </a:rPr>
              <a:t>« mort du bilan », </a:t>
            </a:r>
            <a:r>
              <a:rPr lang="fr-FR" dirty="0">
                <a:solidFill>
                  <a:schemeClr val="tx1">
                    <a:lumMod val="50000"/>
                  </a:schemeClr>
                </a:solidFill>
                <a:latin typeface="Calibri (body)"/>
              </a:rPr>
              <a:t>les encours arrivants à échéance ne sont pas remplacés à l’instar de la méthodologie de calcul de la MNI.</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Uniquement les flux </a:t>
            </a:r>
            <a:r>
              <a:rPr lang="fr-FR" b="1" dirty="0">
                <a:solidFill>
                  <a:schemeClr val="tx1">
                    <a:lumMod val="50000"/>
                  </a:schemeClr>
                </a:solidFill>
                <a:latin typeface="Calibri (body)"/>
              </a:rPr>
              <a:t>certains</a:t>
            </a:r>
            <a:r>
              <a:rPr lang="fr-FR" dirty="0">
                <a:solidFill>
                  <a:schemeClr val="tx1">
                    <a:lumMod val="50000"/>
                  </a:schemeClr>
                </a:solidFill>
                <a:latin typeface="Calibri (body)"/>
              </a:rPr>
              <a:t> entrent dans le calcul de l’EVE, on entend par là les flux dont le montant prochain est connu.</a:t>
            </a:r>
          </a:p>
          <a:p>
            <a:endParaRPr lang="fr-FR" sz="1000" dirty="0">
              <a:solidFill>
                <a:schemeClr val="tx1">
                  <a:lumMod val="50000"/>
                </a:schemeClr>
              </a:solidFill>
              <a:latin typeface="Calibri (body)"/>
            </a:endParaRPr>
          </a:p>
          <a:p>
            <a:r>
              <a:rPr lang="fr-FR" u="sng" dirty="0">
                <a:solidFill>
                  <a:schemeClr val="tx1">
                    <a:lumMod val="50000"/>
                  </a:schemeClr>
                </a:solidFill>
                <a:latin typeface="Calibri (body)"/>
              </a:rPr>
              <a:t>La sensibilité est calculée sur la base de 6 chocs réglementaires :</a:t>
            </a:r>
          </a:p>
          <a:p>
            <a:endParaRPr lang="fr-FR" sz="1000" u="sng" dirty="0">
              <a:solidFill>
                <a:schemeClr val="tx1">
                  <a:lumMod val="50000"/>
                </a:schemeClr>
              </a:solidFill>
              <a:latin typeface="Calibri (body)"/>
            </a:endParaRPr>
          </a:p>
          <a:p>
            <a:r>
              <a:rPr lang="fr-FR" dirty="0">
                <a:solidFill>
                  <a:schemeClr val="tx1">
                    <a:lumMod val="50000"/>
                  </a:schemeClr>
                </a:solidFill>
                <a:latin typeface="Calibri (body)"/>
              </a:rPr>
              <a:t>- Choc parallèle à la hausse (</a:t>
            </a:r>
            <a:r>
              <a:rPr lang="fr-FR" dirty="0" err="1">
                <a:solidFill>
                  <a:schemeClr val="tx1">
                    <a:lumMod val="50000"/>
                  </a:schemeClr>
                </a:solidFill>
                <a:latin typeface="Calibri (body)"/>
              </a:rPr>
              <a:t>parallel</a:t>
            </a:r>
            <a:r>
              <a:rPr lang="fr-FR" dirty="0">
                <a:solidFill>
                  <a:schemeClr val="tx1">
                    <a:lumMod val="50000"/>
                  </a:schemeClr>
                </a:solidFill>
                <a:latin typeface="Calibri (body)"/>
              </a:rPr>
              <a:t> up +200bps)</a:t>
            </a:r>
          </a:p>
          <a:p>
            <a:r>
              <a:rPr lang="fr-FR" dirty="0">
                <a:solidFill>
                  <a:schemeClr val="tx1">
                    <a:lumMod val="50000"/>
                  </a:schemeClr>
                </a:solidFill>
                <a:latin typeface="Calibri (body)"/>
              </a:rPr>
              <a:t>- Choc parallèle à la baisse (</a:t>
            </a:r>
            <a:r>
              <a:rPr lang="fr-FR" dirty="0" err="1">
                <a:solidFill>
                  <a:schemeClr val="tx1">
                    <a:lumMod val="50000"/>
                  </a:schemeClr>
                </a:solidFill>
                <a:latin typeface="Calibri (body)"/>
              </a:rPr>
              <a:t>parallel</a:t>
            </a:r>
            <a:r>
              <a:rPr lang="fr-FR" dirty="0">
                <a:solidFill>
                  <a:schemeClr val="tx1">
                    <a:lumMod val="50000"/>
                  </a:schemeClr>
                </a:solidFill>
                <a:latin typeface="Calibri (body)"/>
              </a:rPr>
              <a:t> down -200bps)</a:t>
            </a:r>
          </a:p>
          <a:p>
            <a:r>
              <a:rPr lang="fr-FR" dirty="0">
                <a:solidFill>
                  <a:schemeClr val="tx1">
                    <a:lumMod val="50000"/>
                  </a:schemeClr>
                </a:solidFill>
                <a:latin typeface="Calibri (body)"/>
              </a:rPr>
              <a:t>- Pentification (</a:t>
            </a:r>
            <a:r>
              <a:rPr lang="fr-FR" dirty="0" err="1">
                <a:solidFill>
                  <a:schemeClr val="tx1">
                    <a:lumMod val="50000"/>
                  </a:schemeClr>
                </a:solidFill>
                <a:latin typeface="Calibri (body)"/>
              </a:rPr>
              <a:t>steepener</a:t>
            </a:r>
            <a:r>
              <a:rPr lang="fr-FR" dirty="0">
                <a:solidFill>
                  <a:schemeClr val="tx1">
                    <a:lumMod val="50000"/>
                  </a:schemeClr>
                </a:solidFill>
                <a:latin typeface="Calibri (body)"/>
              </a:rPr>
              <a:t>)</a:t>
            </a:r>
          </a:p>
          <a:p>
            <a:r>
              <a:rPr lang="fr-FR" dirty="0">
                <a:solidFill>
                  <a:schemeClr val="tx1">
                    <a:lumMod val="50000"/>
                  </a:schemeClr>
                </a:solidFill>
                <a:latin typeface="Calibri (body)"/>
              </a:rPr>
              <a:t>- Aplatissement (</a:t>
            </a:r>
            <a:r>
              <a:rPr lang="fr-FR" dirty="0" err="1">
                <a:solidFill>
                  <a:schemeClr val="tx1">
                    <a:lumMod val="50000"/>
                  </a:schemeClr>
                </a:solidFill>
                <a:latin typeface="Calibri (body)"/>
              </a:rPr>
              <a:t>flattener</a:t>
            </a:r>
            <a:r>
              <a:rPr lang="fr-FR" dirty="0">
                <a:solidFill>
                  <a:schemeClr val="tx1">
                    <a:lumMod val="50000"/>
                  </a:schemeClr>
                </a:solidFill>
                <a:latin typeface="Calibri (body)"/>
              </a:rPr>
              <a:t>)</a:t>
            </a:r>
          </a:p>
          <a:p>
            <a:r>
              <a:rPr lang="fr-FR" dirty="0">
                <a:solidFill>
                  <a:schemeClr val="tx1">
                    <a:lumMod val="50000"/>
                  </a:schemeClr>
                </a:solidFill>
                <a:latin typeface="Calibri (body)"/>
              </a:rPr>
              <a:t>- Choc à la hausse des taux courts (short rates up)</a:t>
            </a:r>
          </a:p>
          <a:p>
            <a:r>
              <a:rPr lang="fr-FR" dirty="0">
                <a:solidFill>
                  <a:schemeClr val="tx1">
                    <a:lumMod val="50000"/>
                  </a:schemeClr>
                </a:solidFill>
                <a:latin typeface="Calibri (body)"/>
              </a:rPr>
              <a:t>- Choc à la baisse des taux courts (short rates down)</a:t>
            </a:r>
          </a:p>
          <a:p>
            <a:endParaRPr lang="fr-FR" dirty="0">
              <a:solidFill>
                <a:schemeClr val="tx1">
                  <a:lumMod val="50000"/>
                </a:schemeClr>
              </a:solidFill>
              <a:latin typeface="Calibri (body)"/>
            </a:endParaRPr>
          </a:p>
        </p:txBody>
      </p:sp>
      <p:sp>
        <p:nvSpPr>
          <p:cNvPr id="5" name="Espace réservé du texte 16">
            <a:extLst>
              <a:ext uri="{FF2B5EF4-FFF2-40B4-BE49-F238E27FC236}">
                <a16:creationId xmlns:a16="http://schemas.microsoft.com/office/drawing/2014/main" id="{87F17587-B6CB-84B5-81D8-53FAAD160901}"/>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Tree>
    <p:extLst>
      <p:ext uri="{BB962C8B-B14F-4D97-AF65-F5344CB8AC3E}">
        <p14:creationId xmlns:p14="http://schemas.microsoft.com/office/powerpoint/2010/main" val="83957156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b- Méthodologie de calcul de la sensibilité d’EVE</a:t>
            </a:r>
          </a:p>
        </p:txBody>
      </p:sp>
      <p:sp>
        <p:nvSpPr>
          <p:cNvPr id="4" name="ZoneTexte 1">
            <a:extLst>
              <a:ext uri="{FF2B5EF4-FFF2-40B4-BE49-F238E27FC236}">
                <a16:creationId xmlns:a16="http://schemas.microsoft.com/office/drawing/2014/main" id="{546B679E-23A2-0BB9-D223-E0E9E3B71AA3}"/>
              </a:ext>
            </a:extLst>
          </p:cNvPr>
          <p:cNvSpPr txBox="1"/>
          <p:nvPr/>
        </p:nvSpPr>
        <p:spPr>
          <a:xfrm>
            <a:off x="723568" y="1295647"/>
            <a:ext cx="10761698" cy="3724096"/>
          </a:xfrm>
          <a:prstGeom prst="rect">
            <a:avLst/>
          </a:prstGeom>
          <a:noFill/>
          <a:ln>
            <a:solidFill>
              <a:schemeClr val="tx1">
                <a:lumMod val="50000"/>
              </a:schemeClr>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1. Allocation des cash-flow par bucket</a:t>
            </a:r>
          </a:p>
          <a:p>
            <a:r>
              <a:rPr lang="fr-FR" dirty="0">
                <a:solidFill>
                  <a:schemeClr val="tx1">
                    <a:lumMod val="50000"/>
                  </a:schemeClr>
                </a:solidFill>
                <a:latin typeface="Calibri (body)"/>
              </a:rPr>
              <a:t>	a. Allocation des cash-flow dans les buckets associés</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2. Identification des flux alloués au calcul de la MNI</a:t>
            </a:r>
          </a:p>
          <a:p>
            <a:r>
              <a:rPr lang="fr-FR" dirty="0">
                <a:solidFill>
                  <a:schemeClr val="tx1">
                    <a:lumMod val="50000"/>
                  </a:schemeClr>
                </a:solidFill>
                <a:latin typeface="Calibri (body)"/>
              </a:rPr>
              <a:t>	a. Prise en compte </a:t>
            </a:r>
            <a:r>
              <a:rPr lang="fr-FR" b="1" dirty="0">
                <a:solidFill>
                  <a:schemeClr val="tx1">
                    <a:lumMod val="50000"/>
                  </a:schemeClr>
                </a:solidFill>
                <a:latin typeface="Calibri (body)"/>
              </a:rPr>
              <a:t>des flux d’intérêts et de capital</a:t>
            </a:r>
          </a:p>
          <a:p>
            <a:r>
              <a:rPr lang="fr-FR" dirty="0">
                <a:solidFill>
                  <a:schemeClr val="tx1">
                    <a:lumMod val="50000"/>
                  </a:schemeClr>
                </a:solidFill>
                <a:latin typeface="Calibri (body)"/>
              </a:rPr>
              <a:t>	b. Non prise en compte des flux incertains</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3. Calcul de la métrique en scénario baseline</a:t>
            </a:r>
          </a:p>
          <a:p>
            <a:r>
              <a:rPr lang="fr-FR" dirty="0">
                <a:solidFill>
                  <a:schemeClr val="tx1">
                    <a:lumMod val="50000"/>
                  </a:schemeClr>
                </a:solidFill>
                <a:latin typeface="Calibri (body)"/>
              </a:rPr>
              <a:t>	a. L’EVE est calculée par </a:t>
            </a:r>
            <a:r>
              <a:rPr lang="fr-FR" b="1" dirty="0">
                <a:solidFill>
                  <a:schemeClr val="tx1">
                    <a:lumMod val="50000"/>
                  </a:schemeClr>
                </a:solidFill>
                <a:latin typeface="Calibri (body)"/>
              </a:rPr>
              <a:t>∑</a:t>
            </a:r>
            <a:r>
              <a:rPr lang="fr-FR" dirty="0">
                <a:solidFill>
                  <a:schemeClr val="tx1">
                    <a:lumMod val="50000"/>
                  </a:schemeClr>
                </a:solidFill>
                <a:latin typeface="Calibri (body)"/>
              </a:rPr>
              <a:t>(</a:t>
            </a:r>
            <a:r>
              <a:rPr lang="fr-FR" b="1" dirty="0">
                <a:solidFill>
                  <a:schemeClr val="tx1">
                    <a:lumMod val="50000"/>
                  </a:schemeClr>
                </a:solidFill>
                <a:latin typeface="Calibri (body)"/>
              </a:rPr>
              <a:t>X/(1+i)^n) </a:t>
            </a:r>
            <a:r>
              <a:rPr lang="fr-FR" dirty="0">
                <a:solidFill>
                  <a:schemeClr val="tx1">
                    <a:lumMod val="50000"/>
                  </a:schemeClr>
                </a:solidFill>
                <a:latin typeface="Calibri (body)"/>
              </a:rPr>
              <a:t>où n est le </a:t>
            </a:r>
            <a:r>
              <a:rPr lang="fr-FR" dirty="0" err="1">
                <a:solidFill>
                  <a:schemeClr val="tx1">
                    <a:lumMod val="50000"/>
                  </a:schemeClr>
                </a:solidFill>
                <a:latin typeface="Calibri (body)"/>
              </a:rPr>
              <a:t>mid</a:t>
            </a:r>
            <a:r>
              <a:rPr lang="fr-FR" dirty="0">
                <a:solidFill>
                  <a:schemeClr val="tx1">
                    <a:lumMod val="50000"/>
                  </a:schemeClr>
                </a:solidFill>
                <a:latin typeface="Calibri (body)"/>
              </a:rPr>
              <a:t>-point bucket, i le taux en n et X le montant.</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4. Calcul de la métrique en scénario de stress</a:t>
            </a:r>
          </a:p>
          <a:p>
            <a:r>
              <a:rPr lang="fr-FR" dirty="0">
                <a:solidFill>
                  <a:schemeClr val="tx1">
                    <a:lumMod val="50000"/>
                  </a:schemeClr>
                </a:solidFill>
                <a:latin typeface="Calibri (body)"/>
              </a:rPr>
              <a:t>	a. Les taux choqués sont appliqués au i présent dans l’équation ci-dessus</a:t>
            </a:r>
          </a:p>
          <a:p>
            <a:r>
              <a:rPr lang="fr-FR" dirty="0">
                <a:solidFill>
                  <a:schemeClr val="tx1">
                    <a:lumMod val="50000"/>
                  </a:schemeClr>
                </a:solidFill>
                <a:latin typeface="Calibri (body)"/>
              </a:rPr>
              <a:t>	b. Calcul de la métrique par </a:t>
            </a:r>
            <a:r>
              <a:rPr lang="fr-FR" b="1" dirty="0">
                <a:solidFill>
                  <a:schemeClr val="tx1">
                    <a:lumMod val="50000"/>
                  </a:schemeClr>
                </a:solidFill>
                <a:latin typeface="Calibri (body)"/>
              </a:rPr>
              <a:t>∑(X/(1+i)^n)</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5. Calcul de la sensibilité d’EVE :</a:t>
            </a:r>
          </a:p>
          <a:p>
            <a:r>
              <a:rPr lang="fr-FR" dirty="0">
                <a:solidFill>
                  <a:schemeClr val="tx1">
                    <a:lumMod val="50000"/>
                  </a:schemeClr>
                </a:solidFill>
                <a:latin typeface="Calibri (body)"/>
              </a:rPr>
              <a:t>	a. La sensibilité d’EVE est obtenue par : </a:t>
            </a:r>
            <a:r>
              <a:rPr lang="fr-FR" b="1" dirty="0">
                <a:solidFill>
                  <a:schemeClr val="tx1">
                    <a:lumMod val="50000"/>
                  </a:schemeClr>
                </a:solidFill>
                <a:latin typeface="Calibri (body)"/>
              </a:rPr>
              <a:t>EVE stressée – EVE </a:t>
            </a:r>
            <a:r>
              <a:rPr lang="fr-FR" b="1" dirty="0" err="1">
                <a:solidFill>
                  <a:schemeClr val="tx1">
                    <a:lumMod val="50000"/>
                  </a:schemeClr>
                </a:solidFill>
                <a:latin typeface="Calibri (body)"/>
              </a:rPr>
              <a:t>baseline</a:t>
            </a:r>
            <a:endParaRPr lang="fr-FR" b="1" dirty="0">
              <a:solidFill>
                <a:schemeClr val="tx1">
                  <a:lumMod val="50000"/>
                </a:schemeClr>
              </a:solidFill>
              <a:latin typeface="Calibri (body)"/>
            </a:endParaRPr>
          </a:p>
          <a:p>
            <a:endParaRPr lang="fr-FR" b="1" dirty="0">
              <a:solidFill>
                <a:schemeClr val="tx1">
                  <a:lumMod val="50000"/>
                </a:schemeClr>
              </a:solidFill>
              <a:latin typeface="Calibri (body)"/>
            </a:endParaRPr>
          </a:p>
        </p:txBody>
      </p:sp>
      <p:sp>
        <p:nvSpPr>
          <p:cNvPr id="2" name="Espace réservé du texte 16">
            <a:extLst>
              <a:ext uri="{FF2B5EF4-FFF2-40B4-BE49-F238E27FC236}">
                <a16:creationId xmlns:a16="http://schemas.microsoft.com/office/drawing/2014/main" id="{14DF055D-5ACA-89FE-6028-575FBF11DEB9}"/>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Tree>
    <p:extLst>
      <p:ext uri="{BB962C8B-B14F-4D97-AF65-F5344CB8AC3E}">
        <p14:creationId xmlns:p14="http://schemas.microsoft.com/office/powerpoint/2010/main" val="103965590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c- Les chocs réglementaires – visualisations (taille de chocs en €)</a:t>
            </a: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2" name="Espace réservé du texte 16">
            <a:extLst>
              <a:ext uri="{FF2B5EF4-FFF2-40B4-BE49-F238E27FC236}">
                <a16:creationId xmlns:a16="http://schemas.microsoft.com/office/drawing/2014/main" id="{7928DA2F-804B-7577-248C-0505638A50A2}"/>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graphicFrame>
        <p:nvGraphicFramePr>
          <p:cNvPr id="6" name="Table 4">
            <a:extLst>
              <a:ext uri="{FF2B5EF4-FFF2-40B4-BE49-F238E27FC236}">
                <a16:creationId xmlns:a16="http://schemas.microsoft.com/office/drawing/2014/main" id="{4DD1CC42-6963-948F-4E2C-8E83F0FE5E20}"/>
              </a:ext>
            </a:extLst>
          </p:cNvPr>
          <p:cNvGraphicFramePr>
            <a:graphicFrameLocks noGrp="1"/>
          </p:cNvGraphicFramePr>
          <p:nvPr>
            <p:extLst>
              <p:ext uri="{D42A27DB-BD31-4B8C-83A1-F6EECF244321}">
                <p14:modId xmlns:p14="http://schemas.microsoft.com/office/powerpoint/2010/main" val="2982665630"/>
              </p:ext>
            </p:extLst>
          </p:nvPr>
        </p:nvGraphicFramePr>
        <p:xfrm>
          <a:off x="75569" y="2449590"/>
          <a:ext cx="4255800" cy="2377433"/>
        </p:xfrm>
        <a:graphic>
          <a:graphicData uri="http://schemas.openxmlformats.org/drawingml/2006/table">
            <a:tbl>
              <a:tblPr>
                <a:tableStyleId>{B407F83F-F4B1-428F-90E6-6AE17F0CE779}</a:tableStyleId>
              </a:tblPr>
              <a:tblGrid>
                <a:gridCol w="954477">
                  <a:extLst>
                    <a:ext uri="{9D8B030D-6E8A-4147-A177-3AD203B41FA5}">
                      <a16:colId xmlns:a16="http://schemas.microsoft.com/office/drawing/2014/main" val="3966443389"/>
                    </a:ext>
                  </a:extLst>
                </a:gridCol>
                <a:gridCol w="3301323">
                  <a:extLst>
                    <a:ext uri="{9D8B030D-6E8A-4147-A177-3AD203B41FA5}">
                      <a16:colId xmlns:a16="http://schemas.microsoft.com/office/drawing/2014/main" val="1157131375"/>
                    </a:ext>
                  </a:extLst>
                </a:gridCol>
              </a:tblGrid>
              <a:tr h="223907">
                <a:tc>
                  <a:txBody>
                    <a:bodyPr/>
                    <a:lstStyle/>
                    <a:p>
                      <a:pPr algn="ctr" rtl="0" fontAlgn="ctr"/>
                      <a:r>
                        <a:rPr lang="fr-FR" sz="1200" b="1" u="none" strike="noStrike" dirty="0">
                          <a:solidFill>
                            <a:schemeClr val="tx1">
                              <a:lumMod val="50000"/>
                            </a:schemeClr>
                          </a:solidFill>
                          <a:effectLst/>
                        </a:rPr>
                        <a:t>Scénarios</a:t>
                      </a:r>
                      <a:endParaRPr lang="fr-FR" sz="1200" b="1" i="0" u="none" strike="noStrike" dirty="0">
                        <a:solidFill>
                          <a:schemeClr val="tx1">
                            <a:lumMod val="50000"/>
                          </a:schemeClr>
                        </a:solidFill>
                        <a:effectLst/>
                        <a:latin typeface="Calibri" panose="020F0502020204030204" pitchFamily="34" charset="0"/>
                      </a:endParaRPr>
                    </a:p>
                  </a:txBody>
                  <a:tcPr marL="4334" marR="4334" marT="4334" marB="0" anchor="ctr"/>
                </a:tc>
                <a:tc>
                  <a:txBody>
                    <a:bodyPr/>
                    <a:lstStyle/>
                    <a:p>
                      <a:pPr algn="ctr" rtl="0" fontAlgn="ctr"/>
                      <a:r>
                        <a:rPr lang="en-US" sz="1200" b="1" i="0" u="none" strike="noStrike" dirty="0">
                          <a:solidFill>
                            <a:schemeClr val="tx1">
                              <a:lumMod val="50000"/>
                            </a:schemeClr>
                          </a:solidFill>
                          <a:effectLst/>
                          <a:latin typeface="Calibri"/>
                        </a:rPr>
                        <a:t>Impacts sur la </a:t>
                      </a:r>
                      <a:r>
                        <a:rPr lang="en-US" sz="1200" b="1" i="0" u="none" strike="noStrike" dirty="0" err="1">
                          <a:solidFill>
                            <a:schemeClr val="tx1">
                              <a:lumMod val="50000"/>
                            </a:schemeClr>
                          </a:solidFill>
                          <a:effectLst/>
                          <a:latin typeface="Calibri"/>
                        </a:rPr>
                        <a:t>courbe</a:t>
                      </a:r>
                      <a:r>
                        <a:rPr lang="en-US" sz="1200" b="1" i="0" u="none" strike="noStrike" dirty="0">
                          <a:solidFill>
                            <a:schemeClr val="tx1">
                              <a:lumMod val="50000"/>
                            </a:schemeClr>
                          </a:solidFill>
                          <a:effectLst/>
                          <a:latin typeface="Calibri"/>
                        </a:rPr>
                        <a:t> </a:t>
                      </a:r>
                      <a:r>
                        <a:rPr lang="en-US" sz="1200" b="1" i="0" u="none" strike="noStrike" dirty="0" err="1">
                          <a:solidFill>
                            <a:schemeClr val="tx1">
                              <a:lumMod val="50000"/>
                            </a:schemeClr>
                          </a:solidFill>
                          <a:effectLst/>
                          <a:latin typeface="Calibri"/>
                        </a:rPr>
                        <a:t>d’EVE</a:t>
                      </a:r>
                      <a:r>
                        <a:rPr lang="en-US" sz="1200" b="1" i="0" u="none" strike="noStrike" dirty="0">
                          <a:solidFill>
                            <a:schemeClr val="tx1">
                              <a:lumMod val="50000"/>
                            </a:schemeClr>
                          </a:solidFill>
                          <a:effectLst/>
                          <a:latin typeface="Calibri"/>
                        </a:rPr>
                        <a:t> </a:t>
                      </a:r>
                      <a:r>
                        <a:rPr lang="en-US" sz="1200" b="1" i="0" u="none" strike="noStrike" dirty="0" err="1">
                          <a:solidFill>
                            <a:schemeClr val="tx1">
                              <a:lumMod val="50000"/>
                            </a:schemeClr>
                          </a:solidFill>
                          <a:effectLst/>
                          <a:latin typeface="Calibri"/>
                        </a:rPr>
                        <a:t>en</a:t>
                      </a:r>
                      <a:r>
                        <a:rPr lang="en-US" sz="1200" b="1" i="0" u="none" strike="noStrike" dirty="0">
                          <a:solidFill>
                            <a:schemeClr val="tx1">
                              <a:lumMod val="50000"/>
                            </a:schemeClr>
                          </a:solidFill>
                          <a:effectLst/>
                          <a:latin typeface="Calibri"/>
                        </a:rPr>
                        <a:t> euros</a:t>
                      </a:r>
                      <a:endParaRPr lang="fr-FR" sz="1200" b="1" i="0" u="none" strike="noStrike" dirty="0">
                        <a:solidFill>
                          <a:schemeClr val="tx1">
                            <a:lumMod val="50000"/>
                          </a:schemeClr>
                        </a:solidFill>
                        <a:effectLst/>
                        <a:latin typeface="Calibri" panose="020F0502020204030204" pitchFamily="34" charset="0"/>
                      </a:endParaRPr>
                    </a:p>
                  </a:txBody>
                  <a:tcPr marL="4334" marR="4334" marT="4334" marB="0" anchor="ctr"/>
                </a:tc>
                <a:extLst>
                  <a:ext uri="{0D108BD9-81ED-4DB2-BD59-A6C34878D82A}">
                    <a16:rowId xmlns:a16="http://schemas.microsoft.com/office/drawing/2014/main" val="918750223"/>
                  </a:ext>
                </a:extLst>
              </a:tr>
              <a:tr h="341745">
                <a:tc>
                  <a:txBody>
                    <a:bodyPr/>
                    <a:lstStyle/>
                    <a:p>
                      <a:pPr algn="l" rtl="0" fontAlgn="ctr"/>
                      <a:r>
                        <a:rPr lang="fr-FR" sz="1050" b="0" u="none" strike="noStrike" dirty="0">
                          <a:solidFill>
                            <a:schemeClr val="tx1">
                              <a:lumMod val="50000"/>
                            </a:schemeClr>
                          </a:solidFill>
                          <a:effectLst/>
                        </a:rPr>
                        <a:t>Parallel </a:t>
                      </a:r>
                      <a:r>
                        <a:rPr lang="fr-FR" sz="1050" b="0" u="none" strike="noStrike" dirty="0" err="1">
                          <a:solidFill>
                            <a:schemeClr val="tx1">
                              <a:lumMod val="50000"/>
                            </a:schemeClr>
                          </a:solidFill>
                          <a:effectLst/>
                        </a:rPr>
                        <a:t>shock</a:t>
                      </a:r>
                      <a:r>
                        <a:rPr lang="fr-FR" sz="1050" b="0" u="none" strike="noStrike" dirty="0">
                          <a:solidFill>
                            <a:schemeClr val="tx1">
                              <a:lumMod val="50000"/>
                            </a:schemeClr>
                          </a:solidFill>
                          <a:effectLst/>
                        </a:rPr>
                        <a:t> up</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000" b="0" i="0" u="none" strike="noStrike" dirty="0">
                        <a:solidFill>
                          <a:schemeClr val="tx1">
                            <a:lumMod val="50000"/>
                          </a:schemeClr>
                        </a:solidFill>
                        <a:effectLst/>
                        <a:latin typeface="+mn-lt"/>
                      </a:endParaRPr>
                    </a:p>
                  </a:txBody>
                  <a:tcPr marL="130023" marR="4334" marT="4334" marB="0" anchor="ctr"/>
                </a:tc>
                <a:extLst>
                  <a:ext uri="{0D108BD9-81ED-4DB2-BD59-A6C34878D82A}">
                    <a16:rowId xmlns:a16="http://schemas.microsoft.com/office/drawing/2014/main" val="827443021"/>
                  </a:ext>
                </a:extLst>
              </a:tr>
              <a:tr h="341745">
                <a:tc>
                  <a:txBody>
                    <a:bodyPr/>
                    <a:lstStyle/>
                    <a:p>
                      <a:pPr algn="l" rtl="0" fontAlgn="ctr"/>
                      <a:r>
                        <a:rPr lang="fr-FR" sz="1050" b="0" u="none" strike="noStrike" dirty="0">
                          <a:solidFill>
                            <a:schemeClr val="tx1">
                              <a:lumMod val="50000"/>
                            </a:schemeClr>
                          </a:solidFill>
                          <a:effectLst/>
                        </a:rPr>
                        <a:t>Parallel </a:t>
                      </a:r>
                      <a:r>
                        <a:rPr lang="fr-FR" sz="1050" b="0" u="none" strike="noStrike" dirty="0" err="1">
                          <a:solidFill>
                            <a:schemeClr val="tx1">
                              <a:lumMod val="50000"/>
                            </a:schemeClr>
                          </a:solidFill>
                          <a:effectLst/>
                        </a:rPr>
                        <a:t>shock</a:t>
                      </a:r>
                      <a:r>
                        <a:rPr lang="fr-FR" sz="1050" b="0" u="none" strike="noStrike" dirty="0">
                          <a:solidFill>
                            <a:schemeClr val="tx1">
                              <a:lumMod val="50000"/>
                            </a:schemeClr>
                          </a:solidFill>
                          <a:effectLst/>
                        </a:rPr>
                        <a:t> down</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400" b="0" i="0" u="none" strike="noStrike" dirty="0">
                        <a:solidFill>
                          <a:schemeClr val="tx1">
                            <a:lumMod val="50000"/>
                          </a:schemeClr>
                        </a:solidFill>
                        <a:effectLst/>
                        <a:latin typeface="+mn-lt"/>
                        <a:ea typeface="Calibri" panose="020F0502020204030204" pitchFamily="34" charset="0"/>
                        <a:cs typeface="Calibri" panose="020F0502020204030204" pitchFamily="34" charset="0"/>
                      </a:endParaRPr>
                    </a:p>
                  </a:txBody>
                  <a:tcPr marL="130023" marR="4334" marT="4334" marB="0" anchor="ctr"/>
                </a:tc>
                <a:extLst>
                  <a:ext uri="{0D108BD9-81ED-4DB2-BD59-A6C34878D82A}">
                    <a16:rowId xmlns:a16="http://schemas.microsoft.com/office/drawing/2014/main" val="3345877113"/>
                  </a:ext>
                </a:extLst>
              </a:tr>
              <a:tr h="367509">
                <a:tc>
                  <a:txBody>
                    <a:bodyPr/>
                    <a:lstStyle/>
                    <a:p>
                      <a:pPr algn="l" rtl="0" fontAlgn="ctr"/>
                      <a:r>
                        <a:rPr lang="en-US" sz="1050" b="0" u="none" strike="noStrike" dirty="0" err="1">
                          <a:solidFill>
                            <a:schemeClr val="tx1">
                              <a:lumMod val="50000"/>
                            </a:schemeClr>
                          </a:solidFill>
                          <a:effectLst/>
                        </a:rPr>
                        <a:t>Steepener</a:t>
                      </a:r>
                      <a:r>
                        <a:rPr lang="en-US" sz="1050" b="0" u="none" strike="noStrike" dirty="0">
                          <a:solidFill>
                            <a:schemeClr val="tx1">
                              <a:lumMod val="50000"/>
                            </a:schemeClr>
                          </a:solidFill>
                          <a:effectLst/>
                        </a:rPr>
                        <a:t> shock </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400" b="0" i="0" u="none" strike="noStrike" dirty="0">
                        <a:solidFill>
                          <a:schemeClr val="tx1">
                            <a:lumMod val="50000"/>
                          </a:schemeClr>
                        </a:solidFill>
                        <a:effectLst/>
                        <a:latin typeface="Calibri" panose="020F0502020204030204" pitchFamily="34" charset="0"/>
                        <a:ea typeface="Calibri" panose="020F0502020204030204" pitchFamily="34" charset="0"/>
                        <a:cs typeface="Calibri" panose="020F0502020204030204" pitchFamily="34" charset="0"/>
                      </a:endParaRPr>
                    </a:p>
                  </a:txBody>
                  <a:tcPr marL="130023" marR="4334" marT="4334" marB="0" anchor="ctr"/>
                </a:tc>
                <a:extLst>
                  <a:ext uri="{0D108BD9-81ED-4DB2-BD59-A6C34878D82A}">
                    <a16:rowId xmlns:a16="http://schemas.microsoft.com/office/drawing/2014/main" val="756068136"/>
                  </a:ext>
                </a:extLst>
              </a:tr>
              <a:tr h="367509">
                <a:tc>
                  <a:txBody>
                    <a:bodyPr/>
                    <a:lstStyle/>
                    <a:p>
                      <a:pPr algn="l" rtl="0" fontAlgn="ctr"/>
                      <a:r>
                        <a:rPr lang="en-US" sz="1050" b="0" u="none" strike="noStrike" dirty="0">
                          <a:solidFill>
                            <a:schemeClr val="tx1">
                              <a:lumMod val="50000"/>
                            </a:schemeClr>
                          </a:solidFill>
                          <a:effectLst/>
                        </a:rPr>
                        <a:t>Flattener shock</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400" b="0" i="0" u="none" strike="noStrike" dirty="0">
                        <a:solidFill>
                          <a:schemeClr val="tx1">
                            <a:lumMod val="50000"/>
                          </a:schemeClr>
                        </a:solidFill>
                        <a:effectLst/>
                        <a:latin typeface="Calibri" panose="020F0502020204030204" pitchFamily="34" charset="0"/>
                        <a:ea typeface="Calibri" panose="020F0502020204030204" pitchFamily="34" charset="0"/>
                        <a:cs typeface="Calibri" panose="020F0502020204030204" pitchFamily="34" charset="0"/>
                      </a:endParaRPr>
                    </a:p>
                  </a:txBody>
                  <a:tcPr marL="130023" marR="4334" marT="4334" marB="0" anchor="ctr"/>
                </a:tc>
                <a:extLst>
                  <a:ext uri="{0D108BD9-81ED-4DB2-BD59-A6C34878D82A}">
                    <a16:rowId xmlns:a16="http://schemas.microsoft.com/office/drawing/2014/main" val="2031974024"/>
                  </a:ext>
                </a:extLst>
              </a:tr>
              <a:tr h="367509">
                <a:tc>
                  <a:txBody>
                    <a:bodyPr/>
                    <a:lstStyle/>
                    <a:p>
                      <a:pPr algn="l" rtl="0" fontAlgn="ctr"/>
                      <a:r>
                        <a:rPr lang="en-US" sz="1050" b="0" u="none" strike="noStrike" dirty="0">
                          <a:solidFill>
                            <a:schemeClr val="tx1">
                              <a:lumMod val="50000"/>
                            </a:schemeClr>
                          </a:solidFill>
                          <a:effectLst/>
                        </a:rPr>
                        <a:t>Short rates up</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400" b="0" i="0" u="none" strike="noStrike" dirty="0">
                        <a:solidFill>
                          <a:schemeClr val="tx1">
                            <a:lumMod val="50000"/>
                          </a:schemeClr>
                        </a:solidFill>
                        <a:effectLst/>
                        <a:latin typeface="Calibri" panose="020F0502020204030204" pitchFamily="34" charset="0"/>
                        <a:ea typeface="Calibri" panose="020F0502020204030204" pitchFamily="34" charset="0"/>
                        <a:cs typeface="Calibri" panose="020F0502020204030204" pitchFamily="34" charset="0"/>
                      </a:endParaRPr>
                    </a:p>
                  </a:txBody>
                  <a:tcPr marL="130023" marR="4334" marT="4334" marB="0" anchor="ctr"/>
                </a:tc>
                <a:extLst>
                  <a:ext uri="{0D108BD9-81ED-4DB2-BD59-A6C34878D82A}">
                    <a16:rowId xmlns:a16="http://schemas.microsoft.com/office/drawing/2014/main" val="1482657536"/>
                  </a:ext>
                </a:extLst>
              </a:tr>
              <a:tr h="367509">
                <a:tc>
                  <a:txBody>
                    <a:bodyPr/>
                    <a:lstStyle/>
                    <a:p>
                      <a:pPr algn="l" rtl="0" fontAlgn="ctr"/>
                      <a:r>
                        <a:rPr lang="fr-FR" sz="1050" b="0" u="none" strike="noStrike" dirty="0">
                          <a:solidFill>
                            <a:schemeClr val="tx1">
                              <a:lumMod val="50000"/>
                            </a:schemeClr>
                          </a:solidFill>
                          <a:effectLst/>
                        </a:rPr>
                        <a:t>Short rates down</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400" b="0" i="0" u="none" strike="noStrike" dirty="0">
                        <a:solidFill>
                          <a:schemeClr val="tx1">
                            <a:lumMod val="50000"/>
                          </a:schemeClr>
                        </a:solidFill>
                        <a:effectLst/>
                        <a:latin typeface="Calibri" panose="020F0502020204030204" pitchFamily="34" charset="0"/>
                        <a:ea typeface="Calibri" panose="020F0502020204030204" pitchFamily="34" charset="0"/>
                        <a:cs typeface="Calibri" panose="020F0502020204030204" pitchFamily="34" charset="0"/>
                      </a:endParaRPr>
                    </a:p>
                  </a:txBody>
                  <a:tcPr marL="130023" marR="4334" marT="4334" marB="0" anchor="ctr"/>
                </a:tc>
                <a:extLst>
                  <a:ext uri="{0D108BD9-81ED-4DB2-BD59-A6C34878D82A}">
                    <a16:rowId xmlns:a16="http://schemas.microsoft.com/office/drawing/2014/main" val="2495478716"/>
                  </a:ext>
                </a:extLst>
              </a:tr>
            </a:tbl>
          </a:graphicData>
        </a:graphic>
      </p:graphicFrame>
      <p:graphicFrame>
        <p:nvGraphicFramePr>
          <p:cNvPr id="13" name="Chart 12">
            <a:extLst>
              <a:ext uri="{FF2B5EF4-FFF2-40B4-BE49-F238E27FC236}">
                <a16:creationId xmlns:a16="http://schemas.microsoft.com/office/drawing/2014/main" id="{A8FC8057-B03C-5B3D-53E7-A22911FCFCDF}"/>
              </a:ext>
            </a:extLst>
          </p:cNvPr>
          <p:cNvGraphicFramePr>
            <a:graphicFrameLocks/>
          </p:cNvGraphicFramePr>
          <p:nvPr>
            <p:extLst>
              <p:ext uri="{D42A27DB-BD31-4B8C-83A1-F6EECF244321}">
                <p14:modId xmlns:p14="http://schemas.microsoft.com/office/powerpoint/2010/main" val="3549302444"/>
              </p:ext>
            </p:extLst>
          </p:nvPr>
        </p:nvGraphicFramePr>
        <p:xfrm>
          <a:off x="4408372" y="1434165"/>
          <a:ext cx="7661708" cy="4302492"/>
        </p:xfrm>
        <a:graphic>
          <a:graphicData uri="http://schemas.openxmlformats.org/drawingml/2006/chart">
            <c:chart xmlns:c="http://schemas.openxmlformats.org/drawingml/2006/chart" xmlns:r="http://schemas.openxmlformats.org/officeDocument/2006/relationships" r:id="rId7"/>
          </a:graphicData>
        </a:graphic>
      </p:graphicFrame>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CF0AF00E-D0CD-3464-8BD0-AF80BAEEB5BD}"/>
                  </a:ext>
                </a:extLst>
              </p:cNvPr>
              <p:cNvSpPr txBox="1"/>
              <p:nvPr/>
            </p:nvSpPr>
            <p:spPr>
              <a:xfrm>
                <a:off x="1093542" y="3410222"/>
                <a:ext cx="3073405" cy="281295"/>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fr-FR" sz="1000" b="0" i="1" smtClean="0">
                          <a:latin typeface="Cambria Math" panose="02040503050406030204" pitchFamily="18" charset="0"/>
                        </a:rPr>
                        <m:t>−0,65∗</m:t>
                      </m:r>
                      <m:d>
                        <m:dPr>
                          <m:ctrlPr>
                            <a:rPr lang="fr-FR" sz="1000" b="0" i="1" smtClean="0">
                              <a:latin typeface="Cambria Math" panose="02040503050406030204" pitchFamily="18" charset="0"/>
                            </a:rPr>
                          </m:ctrlPr>
                        </m:dPr>
                        <m:e>
                          <m:r>
                            <a:rPr lang="fr-FR" sz="1000" b="0" i="1" smtClean="0">
                              <a:latin typeface="Cambria Math" panose="02040503050406030204" pitchFamily="18" charset="0"/>
                            </a:rPr>
                            <m:t>𝑒</m:t>
                          </m:r>
                          <m:r>
                            <a:rPr lang="fr-FR" sz="1000" b="0" i="1" smtClean="0">
                              <a:latin typeface="Cambria Math" panose="02040503050406030204" pitchFamily="18" charset="0"/>
                            </a:rPr>
                            <m:t>(−</m:t>
                          </m:r>
                          <m:f>
                            <m:fPr>
                              <m:ctrlPr>
                                <a:rPr lang="fr-FR" sz="1000" b="0" i="1" smtClean="0">
                                  <a:latin typeface="Cambria Math" panose="02040503050406030204" pitchFamily="18" charset="0"/>
                                </a:rPr>
                              </m:ctrlPr>
                            </m:fPr>
                            <m:num>
                              <m:r>
                                <a:rPr lang="fr-FR" sz="1000" b="0" i="1" smtClean="0">
                                  <a:latin typeface="Cambria Math" panose="02040503050406030204" pitchFamily="18" charset="0"/>
                                </a:rPr>
                                <m:t>𝑡</m:t>
                              </m:r>
                            </m:num>
                            <m:den>
                              <m:r>
                                <a:rPr lang="fr-FR" sz="1000" b="0" i="1" smtClean="0">
                                  <a:latin typeface="Cambria Math" panose="02040503050406030204" pitchFamily="18" charset="0"/>
                                </a:rPr>
                                <m:t>4</m:t>
                              </m:r>
                            </m:den>
                          </m:f>
                          <m:r>
                            <a:rPr lang="fr-FR" sz="1000" b="0" i="1" smtClean="0">
                              <a:latin typeface="Cambria Math" panose="02040503050406030204" pitchFamily="18" charset="0"/>
                            </a:rPr>
                            <m:t>)</m:t>
                          </m:r>
                        </m:e>
                      </m:d>
                      <m:r>
                        <a:rPr lang="fr-FR" sz="1000" b="0" i="1" smtClean="0">
                          <a:latin typeface="Cambria Math" panose="02040503050406030204" pitchFamily="18" charset="0"/>
                        </a:rPr>
                        <m:t>∗250</m:t>
                      </m:r>
                      <m:r>
                        <a:rPr lang="fr-FR" sz="1000" b="0" i="1" smtClean="0">
                          <a:latin typeface="Cambria Math" panose="02040503050406030204" pitchFamily="18" charset="0"/>
                        </a:rPr>
                        <m:t>𝑏𝑝</m:t>
                      </m:r>
                      <m:r>
                        <a:rPr lang="fr-FR" sz="1000" b="0" i="1" smtClean="0">
                          <a:latin typeface="Cambria Math" panose="02040503050406030204" pitchFamily="18" charset="0"/>
                        </a:rPr>
                        <m:t>+0,9∗</m:t>
                      </m:r>
                      <m:d>
                        <m:dPr>
                          <m:ctrlPr>
                            <a:rPr lang="fr-FR" sz="1000" b="0" i="1" smtClean="0">
                              <a:latin typeface="Cambria Math" panose="02040503050406030204" pitchFamily="18" charset="0"/>
                            </a:rPr>
                          </m:ctrlPr>
                        </m:dPr>
                        <m:e>
                          <m:r>
                            <a:rPr lang="fr-FR" sz="1000" b="0" i="1" smtClean="0">
                              <a:latin typeface="Cambria Math" panose="02040503050406030204" pitchFamily="18" charset="0"/>
                            </a:rPr>
                            <m:t>1−</m:t>
                          </m:r>
                          <m:r>
                            <a:rPr lang="fr-FR" sz="1000" b="0" i="1" smtClean="0">
                              <a:latin typeface="Cambria Math" panose="02040503050406030204" pitchFamily="18" charset="0"/>
                            </a:rPr>
                            <m:t>𝑒</m:t>
                          </m:r>
                          <m:r>
                            <a:rPr lang="fr-FR" sz="1000" b="0" i="1" smtClean="0">
                              <a:latin typeface="Cambria Math" panose="02040503050406030204" pitchFamily="18" charset="0"/>
                            </a:rPr>
                            <m:t>(−</m:t>
                          </m:r>
                          <m:f>
                            <m:fPr>
                              <m:ctrlPr>
                                <a:rPr lang="fr-FR" sz="1000" b="0" i="1" smtClean="0">
                                  <a:latin typeface="Cambria Math" panose="02040503050406030204" pitchFamily="18" charset="0"/>
                                </a:rPr>
                              </m:ctrlPr>
                            </m:fPr>
                            <m:num>
                              <m:r>
                                <a:rPr lang="fr-FR" sz="1000" b="0" i="1" smtClean="0">
                                  <a:latin typeface="Cambria Math" panose="02040503050406030204" pitchFamily="18" charset="0"/>
                                </a:rPr>
                                <m:t>𝑡</m:t>
                              </m:r>
                            </m:num>
                            <m:den>
                              <m:r>
                                <a:rPr lang="fr-FR" sz="1000" b="0" i="1" smtClean="0">
                                  <a:latin typeface="Cambria Math" panose="02040503050406030204" pitchFamily="18" charset="0"/>
                                </a:rPr>
                                <m:t>4</m:t>
                              </m:r>
                            </m:den>
                          </m:f>
                          <m:r>
                            <a:rPr lang="fr-FR" sz="1000" b="0" i="1" smtClean="0">
                              <a:latin typeface="Cambria Math" panose="02040503050406030204" pitchFamily="18" charset="0"/>
                            </a:rPr>
                            <m:t>)</m:t>
                          </m:r>
                        </m:e>
                      </m:d>
                      <m:r>
                        <a:rPr lang="fr-FR" sz="1000" b="0" i="1" smtClean="0">
                          <a:latin typeface="Cambria Math" panose="02040503050406030204" pitchFamily="18" charset="0"/>
                        </a:rPr>
                        <m:t>∗100</m:t>
                      </m:r>
                      <m:r>
                        <a:rPr lang="fr-FR" sz="1000" b="0" i="1" smtClean="0">
                          <a:latin typeface="Cambria Math" panose="02040503050406030204" pitchFamily="18" charset="0"/>
                        </a:rPr>
                        <m:t>𝑏𝑝</m:t>
                      </m:r>
                    </m:oMath>
                  </m:oMathPara>
                </a14:m>
                <a:endParaRPr lang="fr-FR" sz="1000" dirty="0">
                  <a:latin typeface="+mn-lt"/>
                </a:endParaRPr>
              </a:p>
            </p:txBody>
          </p:sp>
        </mc:Choice>
        <mc:Fallback xmlns="">
          <p:sp>
            <p:nvSpPr>
              <p:cNvPr id="5" name="TextBox 4">
                <a:extLst>
                  <a:ext uri="{FF2B5EF4-FFF2-40B4-BE49-F238E27FC236}">
                    <a16:creationId xmlns:a16="http://schemas.microsoft.com/office/drawing/2014/main" id="{CF0AF00E-D0CD-3464-8BD0-AF80BAEEB5BD}"/>
                  </a:ext>
                </a:extLst>
              </p:cNvPr>
              <p:cNvSpPr txBox="1">
                <a:spLocks noRot="1" noChangeAspect="1" noMove="1" noResize="1" noEditPoints="1" noAdjustHandles="1" noChangeArrowheads="1" noChangeShapeType="1" noTextEdit="1"/>
              </p:cNvSpPr>
              <p:nvPr/>
            </p:nvSpPr>
            <p:spPr>
              <a:xfrm>
                <a:off x="1093542" y="3410222"/>
                <a:ext cx="3073405" cy="281295"/>
              </a:xfrm>
              <a:prstGeom prst="rect">
                <a:avLst/>
              </a:prstGeom>
              <a:blipFill>
                <a:blip r:embed="rId8"/>
                <a:stretch>
                  <a:fillRect t="-2128" r="-990" b="-12766"/>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F2B0C5B9-756D-01B2-D7A1-ABB9A1F1ED4B}"/>
                  </a:ext>
                </a:extLst>
              </p:cNvPr>
              <p:cNvSpPr txBox="1"/>
              <p:nvPr/>
            </p:nvSpPr>
            <p:spPr>
              <a:xfrm>
                <a:off x="1197608" y="3724387"/>
                <a:ext cx="2969339" cy="34580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fr-FR" sz="1000" b="0" i="1" smtClean="0">
                          <a:latin typeface="Cambria Math" panose="02040503050406030204" pitchFamily="18" charset="0"/>
                        </a:rPr>
                        <m:t>0,8∗</m:t>
                      </m:r>
                      <m:d>
                        <m:dPr>
                          <m:ctrlPr>
                            <a:rPr lang="fr-FR" sz="1000" b="0" i="1" smtClean="0">
                              <a:latin typeface="Cambria Math" panose="02040503050406030204" pitchFamily="18" charset="0"/>
                            </a:rPr>
                          </m:ctrlPr>
                        </m:dPr>
                        <m:e>
                          <m:r>
                            <a:rPr lang="fr-FR" sz="1000" b="0" i="1" smtClean="0">
                              <a:latin typeface="Cambria Math" panose="02040503050406030204" pitchFamily="18" charset="0"/>
                            </a:rPr>
                            <m:t>𝑒</m:t>
                          </m:r>
                          <m:d>
                            <m:dPr>
                              <m:ctrlPr>
                                <a:rPr lang="fr-FR" sz="1000" b="0" i="1" smtClean="0">
                                  <a:latin typeface="Cambria Math" panose="02040503050406030204" pitchFamily="18" charset="0"/>
                                </a:rPr>
                              </m:ctrlPr>
                            </m:dPr>
                            <m:e>
                              <m:r>
                                <a:rPr lang="fr-FR" sz="1000" b="0" i="1" smtClean="0">
                                  <a:latin typeface="Cambria Math" panose="02040503050406030204" pitchFamily="18" charset="0"/>
                                </a:rPr>
                                <m:t>−</m:t>
                              </m:r>
                              <m:f>
                                <m:fPr>
                                  <m:ctrlPr>
                                    <a:rPr lang="fr-FR" sz="1000" b="0" i="1" smtClean="0">
                                      <a:latin typeface="Cambria Math" panose="02040503050406030204" pitchFamily="18" charset="0"/>
                                    </a:rPr>
                                  </m:ctrlPr>
                                </m:fPr>
                                <m:num>
                                  <m:r>
                                    <a:rPr lang="fr-FR" sz="1000" b="0" i="1" smtClean="0">
                                      <a:latin typeface="Cambria Math" panose="02040503050406030204" pitchFamily="18" charset="0"/>
                                    </a:rPr>
                                    <m:t>𝑡</m:t>
                                  </m:r>
                                </m:num>
                                <m:den>
                                  <m:r>
                                    <a:rPr lang="fr-FR" sz="1000" b="0" i="1" smtClean="0">
                                      <a:latin typeface="Cambria Math" panose="02040503050406030204" pitchFamily="18" charset="0"/>
                                    </a:rPr>
                                    <m:t>4</m:t>
                                  </m:r>
                                </m:den>
                              </m:f>
                            </m:e>
                          </m:d>
                        </m:e>
                      </m:d>
                      <m:r>
                        <a:rPr lang="fr-FR" sz="1000" b="0" i="1" smtClean="0">
                          <a:latin typeface="Cambria Math" panose="02040503050406030204" pitchFamily="18" charset="0"/>
                        </a:rPr>
                        <m:t>∗250</m:t>
                      </m:r>
                      <m:r>
                        <a:rPr lang="fr-FR" sz="1000" b="0" i="1" smtClean="0">
                          <a:latin typeface="Cambria Math" panose="02040503050406030204" pitchFamily="18" charset="0"/>
                        </a:rPr>
                        <m:t>𝑏𝑝</m:t>
                      </m:r>
                      <m:r>
                        <a:rPr lang="fr-FR" sz="1000" b="0" i="1" smtClean="0">
                          <a:latin typeface="Cambria Math" panose="02040503050406030204" pitchFamily="18" charset="0"/>
                        </a:rPr>
                        <m:t>−0,6∗</m:t>
                      </m:r>
                      <m:d>
                        <m:dPr>
                          <m:ctrlPr>
                            <a:rPr lang="fr-FR" sz="1000" b="0" i="1" smtClean="0">
                              <a:latin typeface="Cambria Math" panose="02040503050406030204" pitchFamily="18" charset="0"/>
                            </a:rPr>
                          </m:ctrlPr>
                        </m:dPr>
                        <m:e>
                          <m:r>
                            <a:rPr lang="fr-FR" sz="1000" b="0" i="1" smtClean="0">
                              <a:latin typeface="Cambria Math" panose="02040503050406030204" pitchFamily="18" charset="0"/>
                            </a:rPr>
                            <m:t>1−</m:t>
                          </m:r>
                          <m:r>
                            <a:rPr lang="fr-FR" sz="1000" b="0" i="1" smtClean="0">
                              <a:latin typeface="Cambria Math" panose="02040503050406030204" pitchFamily="18" charset="0"/>
                            </a:rPr>
                            <m:t>𝑒</m:t>
                          </m:r>
                          <m:r>
                            <a:rPr lang="fr-FR" sz="1000" b="0" i="1" smtClean="0">
                              <a:latin typeface="Cambria Math" panose="02040503050406030204" pitchFamily="18" charset="0"/>
                            </a:rPr>
                            <m:t>(−</m:t>
                          </m:r>
                          <m:f>
                            <m:fPr>
                              <m:ctrlPr>
                                <a:rPr lang="fr-FR" sz="1000" b="0" i="1" smtClean="0">
                                  <a:latin typeface="Cambria Math" panose="02040503050406030204" pitchFamily="18" charset="0"/>
                                </a:rPr>
                              </m:ctrlPr>
                            </m:fPr>
                            <m:num>
                              <m:r>
                                <a:rPr lang="fr-FR" sz="1000" b="0" i="1" smtClean="0">
                                  <a:latin typeface="Cambria Math" panose="02040503050406030204" pitchFamily="18" charset="0"/>
                                </a:rPr>
                                <m:t>𝑡</m:t>
                              </m:r>
                            </m:num>
                            <m:den>
                              <m:r>
                                <a:rPr lang="fr-FR" sz="1000" b="0" i="1" smtClean="0">
                                  <a:latin typeface="Cambria Math" panose="02040503050406030204" pitchFamily="18" charset="0"/>
                                </a:rPr>
                                <m:t>4</m:t>
                              </m:r>
                            </m:den>
                          </m:f>
                          <m:r>
                            <a:rPr lang="fr-FR" sz="1000" b="0" i="1" smtClean="0">
                              <a:latin typeface="Cambria Math" panose="02040503050406030204" pitchFamily="18" charset="0"/>
                            </a:rPr>
                            <m:t>)</m:t>
                          </m:r>
                        </m:e>
                      </m:d>
                      <m:r>
                        <a:rPr lang="fr-FR" sz="1000" b="0" i="1" smtClean="0">
                          <a:latin typeface="Cambria Math" panose="02040503050406030204" pitchFamily="18" charset="0"/>
                        </a:rPr>
                        <m:t>∗100</m:t>
                      </m:r>
                      <m:r>
                        <a:rPr lang="fr-FR" sz="1000" b="0" i="1" smtClean="0">
                          <a:latin typeface="Cambria Math" panose="02040503050406030204" pitchFamily="18" charset="0"/>
                        </a:rPr>
                        <m:t>𝑏𝑝</m:t>
                      </m:r>
                    </m:oMath>
                  </m:oMathPara>
                </a14:m>
                <a:endParaRPr lang="fr-FR" sz="1000" dirty="0">
                  <a:latin typeface="+mn-lt"/>
                </a:endParaRPr>
              </a:p>
            </p:txBody>
          </p:sp>
        </mc:Choice>
        <mc:Fallback xmlns="">
          <p:sp>
            <p:nvSpPr>
              <p:cNvPr id="15" name="TextBox 14">
                <a:extLst>
                  <a:ext uri="{FF2B5EF4-FFF2-40B4-BE49-F238E27FC236}">
                    <a16:creationId xmlns:a16="http://schemas.microsoft.com/office/drawing/2014/main" id="{F2B0C5B9-756D-01B2-D7A1-ABB9A1F1ED4B}"/>
                  </a:ext>
                </a:extLst>
              </p:cNvPr>
              <p:cNvSpPr txBox="1">
                <a:spLocks noRot="1" noChangeAspect="1" noMove="1" noResize="1" noEditPoints="1" noAdjustHandles="1" noChangeArrowheads="1" noChangeShapeType="1" noTextEdit="1"/>
              </p:cNvSpPr>
              <p:nvPr/>
            </p:nvSpPr>
            <p:spPr>
              <a:xfrm>
                <a:off x="1197608" y="3724387"/>
                <a:ext cx="2969339" cy="345800"/>
              </a:xfrm>
              <a:prstGeom prst="rect">
                <a:avLst/>
              </a:prstGeom>
              <a:blipFill>
                <a:blip r:embed="rId9"/>
                <a:stretch>
                  <a:fillRect l="-410" r="-1025"/>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989F6AAB-D008-7A9F-B6BF-C9BA2B7EC3BB}"/>
                  </a:ext>
                </a:extLst>
              </p:cNvPr>
              <p:cNvSpPr txBox="1"/>
              <p:nvPr/>
            </p:nvSpPr>
            <p:spPr>
              <a:xfrm>
                <a:off x="1922711" y="4083308"/>
                <a:ext cx="1116781" cy="36311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d>
                        <m:dPr>
                          <m:ctrlPr>
                            <a:rPr lang="fr-FR" sz="1050" b="0" i="1" smtClean="0">
                              <a:latin typeface="Cambria Math" panose="02040503050406030204" pitchFamily="18" charset="0"/>
                            </a:rPr>
                          </m:ctrlPr>
                        </m:dPr>
                        <m:e>
                          <m:r>
                            <a:rPr lang="fr-FR" sz="1050" b="0" i="1" smtClean="0">
                              <a:latin typeface="Cambria Math" panose="02040503050406030204" pitchFamily="18" charset="0"/>
                            </a:rPr>
                            <m:t>𝑒</m:t>
                          </m:r>
                          <m:d>
                            <m:dPr>
                              <m:ctrlPr>
                                <a:rPr lang="fr-FR" sz="1050" b="0" i="1" smtClean="0">
                                  <a:latin typeface="Cambria Math" panose="02040503050406030204" pitchFamily="18" charset="0"/>
                                </a:rPr>
                              </m:ctrlPr>
                            </m:dPr>
                            <m:e>
                              <m:r>
                                <a:rPr lang="fr-FR" sz="1050" b="0" i="1" smtClean="0">
                                  <a:latin typeface="Cambria Math" panose="02040503050406030204" pitchFamily="18" charset="0"/>
                                </a:rPr>
                                <m:t>−</m:t>
                              </m:r>
                              <m:f>
                                <m:fPr>
                                  <m:ctrlPr>
                                    <a:rPr lang="fr-FR" sz="1050" b="0" i="1" smtClean="0">
                                      <a:latin typeface="Cambria Math" panose="02040503050406030204" pitchFamily="18" charset="0"/>
                                    </a:rPr>
                                  </m:ctrlPr>
                                </m:fPr>
                                <m:num>
                                  <m:r>
                                    <a:rPr lang="fr-FR" sz="1050" b="0" i="1" smtClean="0">
                                      <a:latin typeface="Cambria Math" panose="02040503050406030204" pitchFamily="18" charset="0"/>
                                    </a:rPr>
                                    <m:t>𝑡</m:t>
                                  </m:r>
                                </m:num>
                                <m:den>
                                  <m:r>
                                    <a:rPr lang="fr-FR" sz="1050" b="0" i="1" smtClean="0">
                                      <a:latin typeface="Cambria Math" panose="02040503050406030204" pitchFamily="18" charset="0"/>
                                    </a:rPr>
                                    <m:t>4</m:t>
                                  </m:r>
                                </m:den>
                              </m:f>
                            </m:e>
                          </m:d>
                        </m:e>
                      </m:d>
                      <m:r>
                        <a:rPr lang="fr-FR" sz="1050" b="0" i="1" smtClean="0">
                          <a:latin typeface="Cambria Math" panose="02040503050406030204" pitchFamily="18" charset="0"/>
                        </a:rPr>
                        <m:t>∗250</m:t>
                      </m:r>
                      <m:r>
                        <a:rPr lang="fr-FR" sz="1050" b="0" i="1" smtClean="0">
                          <a:latin typeface="Cambria Math" panose="02040503050406030204" pitchFamily="18" charset="0"/>
                        </a:rPr>
                        <m:t>𝑏𝑝</m:t>
                      </m:r>
                    </m:oMath>
                  </m:oMathPara>
                </a14:m>
                <a:endParaRPr lang="fr-FR" sz="1050" dirty="0">
                  <a:latin typeface="+mn-lt"/>
                </a:endParaRPr>
              </a:p>
            </p:txBody>
          </p:sp>
        </mc:Choice>
        <mc:Fallback xmlns="">
          <p:sp>
            <p:nvSpPr>
              <p:cNvPr id="16" name="TextBox 15">
                <a:extLst>
                  <a:ext uri="{FF2B5EF4-FFF2-40B4-BE49-F238E27FC236}">
                    <a16:creationId xmlns:a16="http://schemas.microsoft.com/office/drawing/2014/main" id="{989F6AAB-D008-7A9F-B6BF-C9BA2B7EC3BB}"/>
                  </a:ext>
                </a:extLst>
              </p:cNvPr>
              <p:cNvSpPr txBox="1">
                <a:spLocks noRot="1" noChangeAspect="1" noMove="1" noResize="1" noEditPoints="1" noAdjustHandles="1" noChangeArrowheads="1" noChangeShapeType="1" noTextEdit="1"/>
              </p:cNvSpPr>
              <p:nvPr/>
            </p:nvSpPr>
            <p:spPr>
              <a:xfrm>
                <a:off x="1922711" y="4083308"/>
                <a:ext cx="1116781" cy="363113"/>
              </a:xfrm>
              <a:prstGeom prst="rect">
                <a:avLst/>
              </a:prstGeom>
              <a:blipFill>
                <a:blip r:embed="rId10"/>
                <a:stretch>
                  <a:fillRect r="-2717" b="-1695"/>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C9556C02-8165-D4C8-0F02-090B38BED780}"/>
                  </a:ext>
                </a:extLst>
              </p:cNvPr>
              <p:cNvSpPr txBox="1"/>
              <p:nvPr/>
            </p:nvSpPr>
            <p:spPr>
              <a:xfrm>
                <a:off x="1922711" y="4427981"/>
                <a:ext cx="1246623" cy="36311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d>
                        <m:dPr>
                          <m:ctrlPr>
                            <a:rPr lang="fr-FR" sz="1050" b="0" i="1" smtClean="0">
                              <a:latin typeface="Cambria Math" panose="02040503050406030204" pitchFamily="18" charset="0"/>
                            </a:rPr>
                          </m:ctrlPr>
                        </m:dPr>
                        <m:e>
                          <m:r>
                            <a:rPr lang="fr-FR" sz="1050" b="0" i="1" smtClean="0">
                              <a:latin typeface="Cambria Math" panose="02040503050406030204" pitchFamily="18" charset="0"/>
                            </a:rPr>
                            <m:t>− </m:t>
                          </m:r>
                          <m:r>
                            <a:rPr lang="fr-FR" sz="1050" b="0" i="1" smtClean="0">
                              <a:latin typeface="Cambria Math" panose="02040503050406030204" pitchFamily="18" charset="0"/>
                            </a:rPr>
                            <m:t>𝑒</m:t>
                          </m:r>
                          <m:d>
                            <m:dPr>
                              <m:ctrlPr>
                                <a:rPr lang="fr-FR" sz="1050" b="0" i="1" smtClean="0">
                                  <a:latin typeface="Cambria Math" panose="02040503050406030204" pitchFamily="18" charset="0"/>
                                </a:rPr>
                              </m:ctrlPr>
                            </m:dPr>
                            <m:e>
                              <m:r>
                                <a:rPr lang="fr-FR" sz="1050" b="0" i="1" smtClean="0">
                                  <a:latin typeface="Cambria Math" panose="02040503050406030204" pitchFamily="18" charset="0"/>
                                </a:rPr>
                                <m:t>−</m:t>
                              </m:r>
                              <m:f>
                                <m:fPr>
                                  <m:ctrlPr>
                                    <a:rPr lang="fr-FR" sz="1050" b="0" i="1" smtClean="0">
                                      <a:latin typeface="Cambria Math" panose="02040503050406030204" pitchFamily="18" charset="0"/>
                                    </a:rPr>
                                  </m:ctrlPr>
                                </m:fPr>
                                <m:num>
                                  <m:r>
                                    <a:rPr lang="fr-FR" sz="1050" b="0" i="1" smtClean="0">
                                      <a:latin typeface="Cambria Math" panose="02040503050406030204" pitchFamily="18" charset="0"/>
                                    </a:rPr>
                                    <m:t>𝑡</m:t>
                                  </m:r>
                                </m:num>
                                <m:den>
                                  <m:r>
                                    <a:rPr lang="fr-FR" sz="1050" b="0" i="1" smtClean="0">
                                      <a:latin typeface="Cambria Math" panose="02040503050406030204" pitchFamily="18" charset="0"/>
                                    </a:rPr>
                                    <m:t>4</m:t>
                                  </m:r>
                                </m:den>
                              </m:f>
                            </m:e>
                          </m:d>
                        </m:e>
                      </m:d>
                      <m:r>
                        <a:rPr lang="fr-FR" sz="1050" b="0" i="1" smtClean="0">
                          <a:latin typeface="Cambria Math" panose="02040503050406030204" pitchFamily="18" charset="0"/>
                        </a:rPr>
                        <m:t>∗250</m:t>
                      </m:r>
                      <m:r>
                        <a:rPr lang="fr-FR" sz="1050" b="0" i="1" smtClean="0">
                          <a:latin typeface="Cambria Math" panose="02040503050406030204" pitchFamily="18" charset="0"/>
                        </a:rPr>
                        <m:t>𝑏𝑝</m:t>
                      </m:r>
                    </m:oMath>
                  </m:oMathPara>
                </a14:m>
                <a:endParaRPr lang="fr-FR" sz="1050" dirty="0">
                  <a:latin typeface="+mn-lt"/>
                </a:endParaRPr>
              </a:p>
            </p:txBody>
          </p:sp>
        </mc:Choice>
        <mc:Fallback xmlns="">
          <p:sp>
            <p:nvSpPr>
              <p:cNvPr id="19" name="TextBox 18">
                <a:extLst>
                  <a:ext uri="{FF2B5EF4-FFF2-40B4-BE49-F238E27FC236}">
                    <a16:creationId xmlns:a16="http://schemas.microsoft.com/office/drawing/2014/main" id="{C9556C02-8165-D4C8-0F02-090B38BED780}"/>
                  </a:ext>
                </a:extLst>
              </p:cNvPr>
              <p:cNvSpPr txBox="1">
                <a:spLocks noRot="1" noChangeAspect="1" noMove="1" noResize="1" noEditPoints="1" noAdjustHandles="1" noChangeArrowheads="1" noChangeShapeType="1" noTextEdit="1"/>
              </p:cNvSpPr>
              <p:nvPr/>
            </p:nvSpPr>
            <p:spPr>
              <a:xfrm>
                <a:off x="1922711" y="4427981"/>
                <a:ext cx="1246623" cy="363113"/>
              </a:xfrm>
              <a:prstGeom prst="rect">
                <a:avLst/>
              </a:prstGeom>
              <a:blipFill>
                <a:blip r:embed="rId11"/>
                <a:stretch>
                  <a:fillRect r="-2927"/>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AEACB2AE-9C77-C65E-A8EB-42E415D60E92}"/>
                  </a:ext>
                </a:extLst>
              </p:cNvPr>
              <p:cNvSpPr txBox="1"/>
              <p:nvPr/>
            </p:nvSpPr>
            <p:spPr>
              <a:xfrm>
                <a:off x="2094776" y="2823817"/>
                <a:ext cx="535468" cy="16158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fr-FR" sz="1050" b="0" i="1" smtClean="0">
                          <a:latin typeface="Cambria Math" panose="02040503050406030204" pitchFamily="18" charset="0"/>
                        </a:rPr>
                        <m:t>+ 200</m:t>
                      </m:r>
                      <m:r>
                        <a:rPr lang="fr-FR" sz="1050" b="0" i="1" smtClean="0">
                          <a:latin typeface="Cambria Math" panose="02040503050406030204" pitchFamily="18" charset="0"/>
                        </a:rPr>
                        <m:t>𝑏𝑝</m:t>
                      </m:r>
                    </m:oMath>
                  </m:oMathPara>
                </a14:m>
                <a:endParaRPr lang="fr-FR" sz="1050" dirty="0">
                  <a:latin typeface="+mn-lt"/>
                </a:endParaRPr>
              </a:p>
            </p:txBody>
          </p:sp>
        </mc:Choice>
        <mc:Fallback xmlns="">
          <p:sp>
            <p:nvSpPr>
              <p:cNvPr id="21" name="TextBox 20">
                <a:extLst>
                  <a:ext uri="{FF2B5EF4-FFF2-40B4-BE49-F238E27FC236}">
                    <a16:creationId xmlns:a16="http://schemas.microsoft.com/office/drawing/2014/main" id="{AEACB2AE-9C77-C65E-A8EB-42E415D60E92}"/>
                  </a:ext>
                </a:extLst>
              </p:cNvPr>
              <p:cNvSpPr txBox="1">
                <a:spLocks noRot="1" noChangeAspect="1" noMove="1" noResize="1" noEditPoints="1" noAdjustHandles="1" noChangeArrowheads="1" noChangeShapeType="1" noTextEdit="1"/>
              </p:cNvSpPr>
              <p:nvPr/>
            </p:nvSpPr>
            <p:spPr>
              <a:xfrm>
                <a:off x="2094776" y="2823817"/>
                <a:ext cx="535468" cy="161583"/>
              </a:xfrm>
              <a:prstGeom prst="rect">
                <a:avLst/>
              </a:prstGeom>
              <a:blipFill>
                <a:blip r:embed="rId12"/>
                <a:stretch>
                  <a:fillRect l="-4598" t="-3704" r="-9195" b="-37037"/>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E170AE80-2E91-7844-A9FB-029D09266565}"/>
                  </a:ext>
                </a:extLst>
              </p:cNvPr>
              <p:cNvSpPr txBox="1"/>
              <p:nvPr/>
            </p:nvSpPr>
            <p:spPr>
              <a:xfrm>
                <a:off x="2109203" y="3157094"/>
                <a:ext cx="506614" cy="16158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fr-FR" sz="1050" b="0" i="1" smtClean="0">
                          <a:latin typeface="Cambria Math" panose="02040503050406030204" pitchFamily="18" charset="0"/>
                        </a:rPr>
                        <m:t>−200</m:t>
                      </m:r>
                      <m:r>
                        <a:rPr lang="fr-FR" sz="1050" b="0" i="1" smtClean="0">
                          <a:latin typeface="Cambria Math" panose="02040503050406030204" pitchFamily="18" charset="0"/>
                        </a:rPr>
                        <m:t>𝑏𝑝</m:t>
                      </m:r>
                    </m:oMath>
                  </m:oMathPara>
                </a14:m>
                <a:endParaRPr lang="fr-FR" sz="1050" dirty="0">
                  <a:latin typeface="+mn-lt"/>
                </a:endParaRPr>
              </a:p>
            </p:txBody>
          </p:sp>
        </mc:Choice>
        <mc:Fallback xmlns="">
          <p:sp>
            <p:nvSpPr>
              <p:cNvPr id="22" name="TextBox 21">
                <a:extLst>
                  <a:ext uri="{FF2B5EF4-FFF2-40B4-BE49-F238E27FC236}">
                    <a16:creationId xmlns:a16="http://schemas.microsoft.com/office/drawing/2014/main" id="{E170AE80-2E91-7844-A9FB-029D09266565}"/>
                  </a:ext>
                </a:extLst>
              </p:cNvPr>
              <p:cNvSpPr txBox="1">
                <a:spLocks noRot="1" noChangeAspect="1" noMove="1" noResize="1" noEditPoints="1" noAdjustHandles="1" noChangeArrowheads="1" noChangeShapeType="1" noTextEdit="1"/>
              </p:cNvSpPr>
              <p:nvPr/>
            </p:nvSpPr>
            <p:spPr>
              <a:xfrm>
                <a:off x="2109203" y="3157094"/>
                <a:ext cx="506614" cy="161583"/>
              </a:xfrm>
              <a:prstGeom prst="rect">
                <a:avLst/>
              </a:prstGeom>
              <a:blipFill>
                <a:blip r:embed="rId13"/>
                <a:stretch>
                  <a:fillRect l="-1205" t="-3846" r="-8434" b="-42308"/>
                </a:stretch>
              </a:blipFill>
            </p:spPr>
            <p:txBody>
              <a:bodyPr/>
              <a:lstStyle/>
              <a:p>
                <a:r>
                  <a:rPr lang="fr-FR">
                    <a:noFill/>
                  </a:rPr>
                  <a:t> </a:t>
                </a:r>
              </a:p>
            </p:txBody>
          </p:sp>
        </mc:Fallback>
      </mc:AlternateContent>
    </p:spTree>
    <p:extLst>
      <p:ext uri="{BB962C8B-B14F-4D97-AF65-F5344CB8AC3E}">
        <p14:creationId xmlns:p14="http://schemas.microsoft.com/office/powerpoint/2010/main" val="337424719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d- Taille des chocs réglementaires par devise</a:t>
            </a: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2" name="Espace réservé du texte 16">
            <a:extLst>
              <a:ext uri="{FF2B5EF4-FFF2-40B4-BE49-F238E27FC236}">
                <a16:creationId xmlns:a16="http://schemas.microsoft.com/office/drawing/2014/main" id="{7928DA2F-804B-7577-248C-0505638A50A2}"/>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
        <p:nvSpPr>
          <p:cNvPr id="4" name="ZoneTexte 1">
            <a:extLst>
              <a:ext uri="{FF2B5EF4-FFF2-40B4-BE49-F238E27FC236}">
                <a16:creationId xmlns:a16="http://schemas.microsoft.com/office/drawing/2014/main" id="{2FF0BDCD-5818-4975-399E-F89FCDB3A024}"/>
              </a:ext>
            </a:extLst>
          </p:cNvPr>
          <p:cNvSpPr txBox="1"/>
          <p:nvPr/>
        </p:nvSpPr>
        <p:spPr>
          <a:xfrm>
            <a:off x="569564" y="910780"/>
            <a:ext cx="10761698" cy="1815882"/>
          </a:xfrm>
          <a:prstGeom prst="rect">
            <a:avLst/>
          </a:prstGeom>
          <a:noFill/>
          <a:ln>
            <a:solidFill>
              <a:schemeClr val="tx1">
                <a:lumMod val="50000"/>
              </a:schemeClr>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Dans le calcul des chocs réglementaires à introduire dans le calcul des différentes métriques il est important de préciser que la </a:t>
            </a:r>
            <a:r>
              <a:rPr lang="fr-FR" b="1" dirty="0">
                <a:solidFill>
                  <a:schemeClr val="tx1">
                    <a:lumMod val="50000"/>
                  </a:schemeClr>
                </a:solidFill>
                <a:latin typeface="Calibri (body)"/>
              </a:rPr>
              <a:t>taille des chocs à appliquer est différenciée par devise.</a:t>
            </a:r>
          </a:p>
          <a:p>
            <a:r>
              <a:rPr lang="fr-FR" dirty="0">
                <a:solidFill>
                  <a:schemeClr val="tx1">
                    <a:lumMod val="50000"/>
                  </a:schemeClr>
                </a:solidFill>
                <a:latin typeface="Calibri (body)"/>
              </a:rPr>
              <a:t>La taille de choc à appliquer pour la devise XXX est à retrouver dans le tableau ci-dessous.</a:t>
            </a:r>
          </a:p>
          <a:p>
            <a:endParaRPr lang="fr-FR" dirty="0">
              <a:solidFill>
                <a:schemeClr val="tx1">
                  <a:lumMod val="50000"/>
                </a:schemeClr>
              </a:solidFill>
              <a:latin typeface="Calibri (body)"/>
            </a:endParaRPr>
          </a:p>
          <a:p>
            <a:r>
              <a:rPr lang="fr-FR" b="1" dirty="0">
                <a:solidFill>
                  <a:schemeClr val="tx1">
                    <a:lumMod val="50000"/>
                  </a:schemeClr>
                </a:solidFill>
                <a:latin typeface="Calibri (body)"/>
              </a:rPr>
              <a:t>Ex: </a:t>
            </a:r>
          </a:p>
          <a:p>
            <a:r>
              <a:rPr lang="fr-FR" dirty="0">
                <a:solidFill>
                  <a:schemeClr val="tx1">
                    <a:lumMod val="50000"/>
                  </a:schemeClr>
                </a:solidFill>
                <a:latin typeface="Calibri (body)"/>
              </a:rPr>
              <a:t>Sur les chocs parallèles </a:t>
            </a:r>
            <a:r>
              <a:rPr lang="fr-FR" b="1" dirty="0">
                <a:solidFill>
                  <a:schemeClr val="tx1">
                    <a:lumMod val="50000"/>
                  </a:schemeClr>
                </a:solidFill>
                <a:latin typeface="Calibri (body)"/>
              </a:rPr>
              <a:t>en €</a:t>
            </a:r>
            <a:r>
              <a:rPr lang="fr-FR" dirty="0">
                <a:solidFill>
                  <a:schemeClr val="tx1">
                    <a:lumMod val="50000"/>
                  </a:schemeClr>
                </a:solidFill>
                <a:latin typeface="Calibri (body)"/>
              </a:rPr>
              <a:t> on va appliquer </a:t>
            </a:r>
            <a:r>
              <a:rPr lang="fr-FR" b="1" dirty="0">
                <a:solidFill>
                  <a:schemeClr val="tx1">
                    <a:lumMod val="50000"/>
                  </a:schemeClr>
                </a:solidFill>
                <a:latin typeface="Calibri (body)"/>
              </a:rPr>
              <a:t>+200/-200bps</a:t>
            </a:r>
          </a:p>
          <a:p>
            <a:r>
              <a:rPr lang="fr-FR" dirty="0">
                <a:solidFill>
                  <a:schemeClr val="tx1">
                    <a:lumMod val="50000"/>
                  </a:schemeClr>
                </a:solidFill>
                <a:latin typeface="Calibri (body)"/>
              </a:rPr>
              <a:t>Sur les chocs parallèles </a:t>
            </a:r>
            <a:r>
              <a:rPr lang="fr-FR" b="1" dirty="0">
                <a:solidFill>
                  <a:schemeClr val="tx1">
                    <a:lumMod val="50000"/>
                  </a:schemeClr>
                </a:solidFill>
                <a:latin typeface="Calibri (body)"/>
              </a:rPr>
              <a:t>en £</a:t>
            </a:r>
            <a:r>
              <a:rPr lang="fr-FR" dirty="0">
                <a:solidFill>
                  <a:schemeClr val="tx1">
                    <a:lumMod val="50000"/>
                  </a:schemeClr>
                </a:solidFill>
                <a:latin typeface="Calibri (body)"/>
              </a:rPr>
              <a:t> on va appliquer </a:t>
            </a:r>
            <a:r>
              <a:rPr lang="fr-FR" b="1" dirty="0">
                <a:solidFill>
                  <a:schemeClr val="tx1">
                    <a:lumMod val="50000"/>
                  </a:schemeClr>
                </a:solidFill>
                <a:latin typeface="Calibri (body)"/>
              </a:rPr>
              <a:t>+250/-250bps</a:t>
            </a:r>
          </a:p>
        </p:txBody>
      </p:sp>
      <p:pic>
        <p:nvPicPr>
          <p:cNvPr id="14" name="Picture 13">
            <a:extLst>
              <a:ext uri="{FF2B5EF4-FFF2-40B4-BE49-F238E27FC236}">
                <a16:creationId xmlns:a16="http://schemas.microsoft.com/office/drawing/2014/main" id="{2D310C28-AEA9-3F08-2AC2-8AB37E36346B}"/>
              </a:ext>
            </a:extLst>
          </p:cNvPr>
          <p:cNvPicPr>
            <a:picLocks noChangeAspect="1"/>
          </p:cNvPicPr>
          <p:nvPr/>
        </p:nvPicPr>
        <p:blipFill>
          <a:blip r:embed="rId7"/>
          <a:stretch>
            <a:fillRect/>
          </a:stretch>
        </p:blipFill>
        <p:spPr>
          <a:xfrm>
            <a:off x="2767241" y="3018275"/>
            <a:ext cx="6116877" cy="3405891"/>
          </a:xfrm>
          <a:prstGeom prst="rect">
            <a:avLst/>
          </a:prstGeom>
          <a:ln>
            <a:solidFill>
              <a:schemeClr val="accent1"/>
            </a:solidFill>
          </a:ln>
        </p:spPr>
      </p:pic>
    </p:spTree>
    <p:extLst>
      <p:ext uri="{BB962C8B-B14F-4D97-AF65-F5344CB8AC3E}">
        <p14:creationId xmlns:p14="http://schemas.microsoft.com/office/powerpoint/2010/main" val="46156004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Analyse des encours par nature de taux</a:t>
            </a:r>
          </a:p>
          <a:p>
            <a:pPr>
              <a:spcBef>
                <a:spcPts val="0"/>
              </a:spcBef>
              <a:defRPr/>
            </a:pPr>
            <a:r>
              <a:rPr lang="fr-FR" sz="2000" i="1" dirty="0">
                <a:latin typeface="Calibri (body)"/>
                <a:cs typeface="Calibri"/>
              </a:rPr>
              <a:t>a- Détail des actifs</a:t>
            </a:r>
            <a:endParaRPr lang="fr-FR" dirty="0">
              <a:latin typeface="Calibri"/>
              <a:cs typeface="Calibri"/>
            </a:endParaRPr>
          </a:p>
        </p:txBody>
      </p:sp>
      <p:sp>
        <p:nvSpPr>
          <p:cNvPr id="14" name="Rectangle 13">
            <a:extLst>
              <a:ext uri="{FF2B5EF4-FFF2-40B4-BE49-F238E27FC236}">
                <a16:creationId xmlns:a16="http://schemas.microsoft.com/office/drawing/2014/main" id="{4DD4AAFE-DCD3-EA20-975C-DE6045B809C4}"/>
              </a:ext>
            </a:extLst>
          </p:cNvPr>
          <p:cNvSpPr/>
          <p:nvPr/>
        </p:nvSpPr>
        <p:spPr>
          <a:xfrm>
            <a:off x="9744075" y="6216089"/>
            <a:ext cx="2238375" cy="57838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4" name="Table 2">
            <a:extLst>
              <a:ext uri="{FF2B5EF4-FFF2-40B4-BE49-F238E27FC236}">
                <a16:creationId xmlns:a16="http://schemas.microsoft.com/office/drawing/2014/main" id="{78201841-5D26-70CB-8DB8-4134D813F868}"/>
              </a:ext>
            </a:extLst>
          </p:cNvPr>
          <p:cNvGraphicFramePr>
            <a:graphicFrameLocks noGrp="1"/>
          </p:cNvGraphicFramePr>
          <p:nvPr>
            <p:extLst>
              <p:ext uri="{D42A27DB-BD31-4B8C-83A1-F6EECF244321}">
                <p14:modId xmlns:p14="http://schemas.microsoft.com/office/powerpoint/2010/main" val="1059475070"/>
              </p:ext>
            </p:extLst>
          </p:nvPr>
        </p:nvGraphicFramePr>
        <p:xfrm>
          <a:off x="781321" y="1117782"/>
          <a:ext cx="9756000" cy="5021740"/>
        </p:xfrm>
        <a:graphic>
          <a:graphicData uri="http://schemas.openxmlformats.org/drawingml/2006/table">
            <a:tbl>
              <a:tblPr/>
              <a:tblGrid>
                <a:gridCol w="2700000">
                  <a:extLst>
                    <a:ext uri="{9D8B030D-6E8A-4147-A177-3AD203B41FA5}">
                      <a16:colId xmlns:a16="http://schemas.microsoft.com/office/drawing/2014/main" val="912739486"/>
                    </a:ext>
                  </a:extLst>
                </a:gridCol>
                <a:gridCol w="1296000">
                  <a:extLst>
                    <a:ext uri="{9D8B030D-6E8A-4147-A177-3AD203B41FA5}">
                      <a16:colId xmlns:a16="http://schemas.microsoft.com/office/drawing/2014/main" val="250235461"/>
                    </a:ext>
                  </a:extLst>
                </a:gridCol>
                <a:gridCol w="720000">
                  <a:extLst>
                    <a:ext uri="{9D8B030D-6E8A-4147-A177-3AD203B41FA5}">
                      <a16:colId xmlns:a16="http://schemas.microsoft.com/office/drawing/2014/main" val="525455795"/>
                    </a:ext>
                  </a:extLst>
                </a:gridCol>
                <a:gridCol w="720000">
                  <a:extLst>
                    <a:ext uri="{9D8B030D-6E8A-4147-A177-3AD203B41FA5}">
                      <a16:colId xmlns:a16="http://schemas.microsoft.com/office/drawing/2014/main" val="1659310265"/>
                    </a:ext>
                  </a:extLst>
                </a:gridCol>
                <a:gridCol w="720000">
                  <a:extLst>
                    <a:ext uri="{9D8B030D-6E8A-4147-A177-3AD203B41FA5}">
                      <a16:colId xmlns:a16="http://schemas.microsoft.com/office/drawing/2014/main" val="2327083637"/>
                    </a:ext>
                  </a:extLst>
                </a:gridCol>
                <a:gridCol w="720000">
                  <a:extLst>
                    <a:ext uri="{9D8B030D-6E8A-4147-A177-3AD203B41FA5}">
                      <a16:colId xmlns:a16="http://schemas.microsoft.com/office/drawing/2014/main" val="2885324755"/>
                    </a:ext>
                  </a:extLst>
                </a:gridCol>
                <a:gridCol w="720000">
                  <a:extLst>
                    <a:ext uri="{9D8B030D-6E8A-4147-A177-3AD203B41FA5}">
                      <a16:colId xmlns:a16="http://schemas.microsoft.com/office/drawing/2014/main" val="1532957112"/>
                    </a:ext>
                  </a:extLst>
                </a:gridCol>
                <a:gridCol w="720000">
                  <a:extLst>
                    <a:ext uri="{9D8B030D-6E8A-4147-A177-3AD203B41FA5}">
                      <a16:colId xmlns:a16="http://schemas.microsoft.com/office/drawing/2014/main" val="4126442365"/>
                    </a:ext>
                  </a:extLst>
                </a:gridCol>
                <a:gridCol w="720000">
                  <a:extLst>
                    <a:ext uri="{9D8B030D-6E8A-4147-A177-3AD203B41FA5}">
                      <a16:colId xmlns:a16="http://schemas.microsoft.com/office/drawing/2014/main" val="2316914318"/>
                    </a:ext>
                  </a:extLst>
                </a:gridCol>
                <a:gridCol w="720000">
                  <a:extLst>
                    <a:ext uri="{9D8B030D-6E8A-4147-A177-3AD203B41FA5}">
                      <a16:colId xmlns:a16="http://schemas.microsoft.com/office/drawing/2014/main" val="3036293287"/>
                    </a:ext>
                  </a:extLst>
                </a:gridCol>
              </a:tblGrid>
              <a:tr h="288000">
                <a:tc>
                  <a:txBody>
                    <a:bodyPr/>
                    <a:lstStyle/>
                    <a:p>
                      <a:pPr algn="l" fontAlgn="b"/>
                      <a:endParaRPr lang="fr-FR" sz="1200" b="0" i="0" u="none" strike="noStrike" dirty="0">
                        <a:solidFill>
                          <a:schemeClr val="tx1"/>
                        </a:solidFill>
                        <a:effectLst/>
                        <a:latin typeface="Calibri" panose="020F0502020204030204" pitchFamily="34" charset="0"/>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algn="ctr" fontAlgn="b"/>
                      <a:r>
                        <a:rPr lang="fr-FR" sz="1100" b="1" i="0" u="none" strike="noStrike" dirty="0">
                          <a:solidFill>
                            <a:schemeClr val="tx1"/>
                          </a:solidFill>
                          <a:effectLst/>
                          <a:latin typeface="Calibri" panose="020F0502020204030204" pitchFamily="34" charset="0"/>
                        </a:rPr>
                        <a:t>TF</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algn="ctr" fontAlgn="b"/>
                      <a:r>
                        <a:rPr lang="fr-FR" sz="1100" b="1" i="0" u="none" strike="noStrike" dirty="0">
                          <a:solidFill>
                            <a:schemeClr val="tx1"/>
                          </a:solidFill>
                          <a:effectLst/>
                          <a:latin typeface="Calibri" panose="020F0502020204030204" pitchFamily="34" charset="0"/>
                        </a:rPr>
                        <a:t>TR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46597539"/>
                  </a:ext>
                </a:extLst>
              </a:tr>
              <a:tr h="556260">
                <a:tc>
                  <a:txBody>
                    <a:bodyPr/>
                    <a:lstStyle/>
                    <a:p>
                      <a:pPr algn="l" fontAlgn="b"/>
                      <a:r>
                        <a:rPr lang="fr-FR" sz="1200" b="0" i="0" u="none" strike="noStrike" dirty="0">
                          <a:solidFill>
                            <a:schemeClr val="tx1"/>
                          </a:solidFill>
                          <a:effectLst/>
                          <a:latin typeface="Calibri" panose="020F0502020204030204" pitchFamily="34" charset="0"/>
                        </a:rPr>
                        <a:t> En K€</a:t>
                      </a: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200" b="0" i="0" u="none" strike="noStrike" dirty="0">
                          <a:solidFill>
                            <a:schemeClr val="tx1"/>
                          </a:solidFill>
                          <a:effectLst/>
                          <a:latin typeface="Calibri" panose="020F0502020204030204" pitchFamily="34" charset="0"/>
                        </a:rPr>
                        <a:t>Encours comptables</a:t>
                      </a:r>
                    </a:p>
                    <a:p>
                      <a:pPr algn="ctr" fontAlgn="b"/>
                      <a:r>
                        <a:rPr lang="fr-FR" sz="1200" b="0" i="0" u="none" strike="noStrike" dirty="0">
                          <a:solidFill>
                            <a:schemeClr val="tx1"/>
                          </a:solidFill>
                          <a:effectLst/>
                          <a:latin typeface="Calibri" panose="020F0502020204030204" pitchFamily="34" charset="0"/>
                        </a:rPr>
                        <a:t>31/12/2023</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0%</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&lt;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&gt;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ESTER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E3M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E6M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E12M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INFLATION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91262255"/>
                  </a:ext>
                </a:extLst>
              </a:tr>
              <a:tr h="216000">
                <a:tc>
                  <a:txBody>
                    <a:bodyPr/>
                    <a:lstStyle/>
                    <a:p>
                      <a:pPr algn="l" fontAlgn="b"/>
                      <a:r>
                        <a:rPr lang="fr-FR" sz="1200" b="1" i="0" u="none" strike="noStrike" dirty="0">
                          <a:solidFill>
                            <a:schemeClr val="tx1"/>
                          </a:solidFill>
                          <a:effectLst/>
                          <a:latin typeface="Calibri" panose="020F0502020204030204" pitchFamily="34" charset="0"/>
                        </a:rPr>
                        <a:t>Caisses et Banques Centrales</a:t>
                      </a: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037487770"/>
                  </a:ext>
                </a:extLst>
              </a:tr>
              <a:tr h="36000">
                <a:tc>
                  <a:txBody>
                    <a:bodyPr/>
                    <a:lstStyle/>
                    <a:p>
                      <a:pPr algn="l" fontAlgn="b"/>
                      <a:r>
                        <a:rPr lang="fr-FR" sz="1200" b="1" i="0" u="none" strike="noStrike" dirty="0">
                          <a:solidFill>
                            <a:schemeClr val="tx1"/>
                          </a:solidFill>
                          <a:effectLst/>
                          <a:latin typeface="Calibri" panose="020F0502020204030204" pitchFamily="34" charset="0"/>
                        </a:rPr>
                        <a:t>Créances sur les établissements de crédit</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extLst>
                  <a:ext uri="{0D108BD9-81ED-4DB2-BD59-A6C34878D82A}">
                    <a16:rowId xmlns:a16="http://schemas.microsoft.com/office/drawing/2014/main" val="3753198227"/>
                  </a:ext>
                </a:extLst>
              </a:tr>
              <a:tr h="36000">
                <a:tc>
                  <a:txBody>
                    <a:bodyPr/>
                    <a:lstStyle/>
                    <a:p>
                      <a:pPr algn="l" fontAlgn="b"/>
                      <a:r>
                        <a:rPr lang="fr-FR" sz="1200" b="0" i="0" u="none" strike="noStrike" dirty="0">
                          <a:solidFill>
                            <a:schemeClr val="tx1"/>
                          </a:solidFill>
                          <a:effectLst/>
                          <a:latin typeface="Calibri" panose="020F0502020204030204" pitchFamily="34" charset="0"/>
                        </a:rPr>
                        <a:t>- </a:t>
                      </a:r>
                      <a:r>
                        <a:rPr lang="fr-FR" sz="1200" b="0" i="0" u="none" strike="noStrike" kern="1200" dirty="0">
                          <a:solidFill>
                            <a:schemeClr val="tx1"/>
                          </a:solidFill>
                          <a:effectLst/>
                          <a:latin typeface="Calibri" panose="020F0502020204030204" pitchFamily="34" charset="0"/>
                          <a:ea typeface="+mn-ea"/>
                          <a:cs typeface="+mn-cs"/>
                        </a:rPr>
                        <a:t>A vue</a:t>
                      </a:r>
                    </a:p>
                  </a:txBody>
                  <a:tcPr marL="363024"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extLst>
                  <a:ext uri="{0D108BD9-81ED-4DB2-BD59-A6C34878D82A}">
                    <a16:rowId xmlns:a16="http://schemas.microsoft.com/office/drawing/2014/main" val="3102888909"/>
                  </a:ext>
                </a:extLst>
              </a:tr>
              <a:tr h="36000">
                <a:tc>
                  <a:txBody>
                    <a:bodyPr/>
                    <a:lstStyle/>
                    <a:p>
                      <a:pPr algn="l" fontAlgn="b"/>
                      <a:r>
                        <a:rPr lang="fr-FR" sz="1200" b="0" i="0" u="none" strike="noStrike" dirty="0">
                          <a:solidFill>
                            <a:schemeClr val="tx1"/>
                          </a:solidFill>
                          <a:effectLst/>
                          <a:latin typeface="Calibri" panose="020F0502020204030204" pitchFamily="34" charset="0"/>
                        </a:rPr>
                        <a:t>- A terme</a:t>
                      </a:r>
                    </a:p>
                  </a:txBody>
                  <a:tcPr marL="363024"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extLst>
                  <a:ext uri="{0D108BD9-81ED-4DB2-BD59-A6C34878D82A}">
                    <a16:rowId xmlns:a16="http://schemas.microsoft.com/office/drawing/2014/main" val="3866838987"/>
                  </a:ext>
                </a:extLst>
              </a:tr>
              <a:tr h="36000">
                <a:tc>
                  <a:txBody>
                    <a:bodyPr/>
                    <a:lstStyle/>
                    <a:p>
                      <a:pPr algn="l" fontAlgn="b"/>
                      <a:r>
                        <a:rPr lang="fr-FR" sz="1200" b="1" i="0" u="none" strike="noStrike" dirty="0">
                          <a:solidFill>
                            <a:schemeClr val="tx1"/>
                          </a:solidFill>
                          <a:effectLst/>
                          <a:latin typeface="Calibri" panose="020F0502020204030204" pitchFamily="34" charset="0"/>
                        </a:rPr>
                        <a:t>Créances Clientèle</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extLst>
                  <a:ext uri="{0D108BD9-81ED-4DB2-BD59-A6C34878D82A}">
                    <a16:rowId xmlns:a16="http://schemas.microsoft.com/office/drawing/2014/main" val="3318056089"/>
                  </a:ext>
                </a:extLst>
              </a:tr>
              <a:tr h="36000">
                <a:tc>
                  <a:txBody>
                    <a:bodyPr/>
                    <a:lstStyle/>
                    <a:p>
                      <a:pPr algn="l" fontAlgn="b"/>
                      <a:r>
                        <a:rPr lang="fr-FR" sz="1200" b="0" i="0" u="none" strike="noStrike" dirty="0">
                          <a:solidFill>
                            <a:schemeClr val="tx1"/>
                          </a:solidFill>
                          <a:effectLst/>
                          <a:latin typeface="Calibri" panose="020F0502020204030204" pitchFamily="34" charset="0"/>
                        </a:rPr>
                        <a:t>- Autres concours à la clientèle</a:t>
                      </a:r>
                    </a:p>
                  </a:txBody>
                  <a:tcPr marL="363024"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extLst>
                  <a:ext uri="{0D108BD9-81ED-4DB2-BD59-A6C34878D82A}">
                    <a16:rowId xmlns:a16="http://schemas.microsoft.com/office/drawing/2014/main" val="1055215801"/>
                  </a:ext>
                </a:extLst>
              </a:tr>
              <a:tr h="36000">
                <a:tc>
                  <a:txBody>
                    <a:bodyPr/>
                    <a:lstStyle/>
                    <a:p>
                      <a:pPr algn="l" fontAlgn="b"/>
                      <a:r>
                        <a:rPr lang="fr-FR" sz="1200" b="0" i="0" u="none" strike="noStrike" dirty="0">
                          <a:solidFill>
                            <a:schemeClr val="tx1"/>
                          </a:solidFill>
                          <a:effectLst/>
                          <a:latin typeface="Calibri" panose="020F0502020204030204" pitchFamily="34" charset="0"/>
                        </a:rPr>
                        <a:t>- Créances douteuses</a:t>
                      </a:r>
                    </a:p>
                  </a:txBody>
                  <a:tcPr marL="363024"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06716452"/>
                  </a:ext>
                </a:extLst>
              </a:tr>
              <a:tr h="36000">
                <a:tc>
                  <a:txBody>
                    <a:bodyPr/>
                    <a:lstStyle/>
                    <a:p>
                      <a:pPr algn="l" fontAlgn="b"/>
                      <a:r>
                        <a:rPr lang="fr-FR" sz="1200" b="1" i="0" u="none" strike="noStrike" dirty="0">
                          <a:solidFill>
                            <a:schemeClr val="tx1"/>
                          </a:solidFill>
                          <a:effectLst/>
                          <a:latin typeface="Calibri" panose="020F0502020204030204" pitchFamily="34" charset="0"/>
                        </a:rPr>
                        <a:t>Obligations et autres titres à revenu fixe</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extLst>
                  <a:ext uri="{0D108BD9-81ED-4DB2-BD59-A6C34878D82A}">
                    <a16:rowId xmlns:a16="http://schemas.microsoft.com/office/drawing/2014/main" val="4097053941"/>
                  </a:ext>
                </a:extLst>
              </a:tr>
              <a:tr h="36000">
                <a:tc>
                  <a:txBody>
                    <a:bodyPr/>
                    <a:lstStyle/>
                    <a:p>
                      <a:pPr algn="l" fontAlgn="b"/>
                      <a:r>
                        <a:rPr lang="fr-FR" sz="1200" b="0" i="0" u="none" strike="noStrike" dirty="0">
                          <a:solidFill>
                            <a:schemeClr val="tx1"/>
                          </a:solidFill>
                          <a:effectLst/>
                          <a:latin typeface="Calibri" panose="020F0502020204030204" pitchFamily="34" charset="0"/>
                        </a:rPr>
                        <a:t>- Titres de transaction (emprunt titres)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extLst>
                  <a:ext uri="{0D108BD9-81ED-4DB2-BD59-A6C34878D82A}">
                    <a16:rowId xmlns:a16="http://schemas.microsoft.com/office/drawing/2014/main" val="1481254788"/>
                  </a:ext>
                </a:extLst>
              </a:tr>
              <a:tr h="36000">
                <a:tc>
                  <a:txBody>
                    <a:bodyPr/>
                    <a:lstStyle/>
                    <a:p>
                      <a:pPr algn="l" fontAlgn="b"/>
                      <a:r>
                        <a:rPr lang="fr-FR" sz="1200" b="0" i="0" u="none" strike="noStrike" dirty="0">
                          <a:solidFill>
                            <a:schemeClr val="tx1"/>
                          </a:solidFill>
                          <a:effectLst/>
                          <a:latin typeface="Calibri" panose="020F0502020204030204" pitchFamily="34" charset="0"/>
                        </a:rPr>
                        <a:t>- Titres reçus en pension</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extLst>
                  <a:ext uri="{0D108BD9-81ED-4DB2-BD59-A6C34878D82A}">
                    <a16:rowId xmlns:a16="http://schemas.microsoft.com/office/drawing/2014/main" val="1663963451"/>
                  </a:ext>
                </a:extLst>
              </a:tr>
              <a:tr h="94350">
                <a:tc>
                  <a:txBody>
                    <a:bodyPr/>
                    <a:lstStyle/>
                    <a:p>
                      <a:pPr algn="l" fontAlgn="b"/>
                      <a:r>
                        <a:rPr lang="fr-FR" sz="1200" b="0" i="0" u="none" strike="noStrike" dirty="0">
                          <a:solidFill>
                            <a:schemeClr val="tx1"/>
                          </a:solidFill>
                          <a:effectLst/>
                          <a:latin typeface="Calibri" panose="020F0502020204030204" pitchFamily="34" charset="0"/>
                        </a:rPr>
                        <a:t>- Obligations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extLst>
                  <a:ext uri="{0D108BD9-81ED-4DB2-BD59-A6C34878D82A}">
                    <a16:rowId xmlns:a16="http://schemas.microsoft.com/office/drawing/2014/main" val="3754048221"/>
                  </a:ext>
                </a:extLst>
              </a:tr>
              <a:tr h="36000">
                <a:tc>
                  <a:txBody>
                    <a:bodyPr/>
                    <a:lstStyle/>
                    <a:p>
                      <a:pPr algn="l" fontAlgn="b"/>
                      <a:r>
                        <a:rPr lang="fr-FR" sz="1200" b="1" i="0" u="none" strike="noStrike" dirty="0">
                          <a:solidFill>
                            <a:schemeClr val="tx1"/>
                          </a:solidFill>
                          <a:effectLst/>
                          <a:latin typeface="Calibri" panose="020F0502020204030204" pitchFamily="34" charset="0"/>
                        </a:rPr>
                        <a:t>Actions et autres titres à revenu variable</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extLst>
                  <a:ext uri="{0D108BD9-81ED-4DB2-BD59-A6C34878D82A}">
                    <a16:rowId xmlns:a16="http://schemas.microsoft.com/office/drawing/2014/main" val="3939405773"/>
                  </a:ext>
                </a:extLst>
              </a:tr>
              <a:tr h="36000">
                <a:tc>
                  <a:txBody>
                    <a:bodyPr/>
                    <a:lstStyle/>
                    <a:p>
                      <a:pPr algn="l" fontAlgn="b"/>
                      <a:r>
                        <a:rPr lang="fr-FR" sz="1200" b="0" i="0" u="none" strike="noStrike" dirty="0">
                          <a:solidFill>
                            <a:schemeClr val="tx1"/>
                          </a:solidFill>
                          <a:effectLst/>
                          <a:latin typeface="Calibri" panose="020F0502020204030204" pitchFamily="34" charset="0"/>
                        </a:rPr>
                        <a:t>- Titres de transaction (emprunt titres)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extLst>
                  <a:ext uri="{0D108BD9-81ED-4DB2-BD59-A6C34878D82A}">
                    <a16:rowId xmlns:a16="http://schemas.microsoft.com/office/drawing/2014/main" val="986305385"/>
                  </a:ext>
                </a:extLst>
              </a:tr>
              <a:tr h="36000">
                <a:tc>
                  <a:txBody>
                    <a:bodyPr/>
                    <a:lstStyle/>
                    <a:p>
                      <a:pPr algn="l" fontAlgn="b"/>
                      <a:r>
                        <a:rPr lang="fr-FR" sz="1200" b="0" i="0" u="none" strike="noStrike" dirty="0">
                          <a:solidFill>
                            <a:schemeClr val="tx1"/>
                          </a:solidFill>
                          <a:effectLst/>
                          <a:latin typeface="Calibri" panose="020F0502020204030204" pitchFamily="34" charset="0"/>
                        </a:rPr>
                        <a:t>- Titres de placement (OPCVM)</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356299984"/>
                  </a:ext>
                </a:extLst>
              </a:tr>
              <a:tr h="36000">
                <a:tc>
                  <a:txBody>
                    <a:bodyPr/>
                    <a:lstStyle/>
                    <a:p>
                      <a:pPr algn="l" fontAlgn="b"/>
                      <a:r>
                        <a:rPr lang="fr-FR" sz="1200" b="1" i="0" u="none" strike="noStrike" dirty="0">
                          <a:solidFill>
                            <a:schemeClr val="tx1"/>
                          </a:solidFill>
                          <a:effectLst/>
                          <a:latin typeface="Calibri" panose="020F0502020204030204" pitchFamily="34" charset="0"/>
                        </a:rPr>
                        <a:t>Parts dans les entreprises liées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358548857"/>
                  </a:ext>
                </a:extLst>
              </a:tr>
              <a:tr h="36000">
                <a:tc>
                  <a:txBody>
                    <a:bodyPr/>
                    <a:lstStyle/>
                    <a:p>
                      <a:pPr algn="l" fontAlgn="b"/>
                      <a:r>
                        <a:rPr lang="fr-FR" sz="1200" b="1" i="0" u="none" strike="noStrike" dirty="0">
                          <a:solidFill>
                            <a:schemeClr val="tx1"/>
                          </a:solidFill>
                          <a:effectLst/>
                          <a:latin typeface="Calibri" panose="020F0502020204030204" pitchFamily="34" charset="0"/>
                        </a:rPr>
                        <a:t>Immobilisations corporelles et incorporelles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784285464"/>
                  </a:ext>
                </a:extLst>
              </a:tr>
              <a:tr h="36000">
                <a:tc>
                  <a:txBody>
                    <a:bodyPr/>
                    <a:lstStyle/>
                    <a:p>
                      <a:pPr algn="l" fontAlgn="b"/>
                      <a:r>
                        <a:rPr lang="fr-FR" sz="1200" b="1" i="0" u="none" strike="noStrike" dirty="0">
                          <a:solidFill>
                            <a:schemeClr val="tx1"/>
                          </a:solidFill>
                          <a:effectLst/>
                          <a:latin typeface="Calibri" panose="020F0502020204030204" pitchFamily="34" charset="0"/>
                        </a:rPr>
                        <a:t>Autres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199369236"/>
                  </a:ext>
                </a:extLst>
              </a:tr>
              <a:tr h="36000">
                <a:tc>
                  <a:txBody>
                    <a:bodyPr/>
                    <a:lstStyle/>
                    <a:p>
                      <a:pPr algn="l" fontAlgn="b"/>
                      <a:r>
                        <a:rPr lang="fr-FR" sz="1200" b="1" i="0" u="none" strike="noStrike" dirty="0">
                          <a:solidFill>
                            <a:schemeClr val="tx1"/>
                          </a:solidFill>
                          <a:effectLst/>
                          <a:latin typeface="Calibri" panose="020F0502020204030204" pitchFamily="34" charset="0"/>
                        </a:rPr>
                        <a:t>Comptes de régularisation</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506742286"/>
                  </a:ext>
                </a:extLst>
              </a:tr>
              <a:tr h="36000">
                <a:tc>
                  <a:txBody>
                    <a:bodyPr/>
                    <a:lstStyle/>
                    <a:p>
                      <a:pPr algn="l" fontAlgn="b"/>
                      <a:r>
                        <a:rPr lang="fr-FR" sz="1200" b="0" i="0" u="none" strike="noStrike" dirty="0">
                          <a:solidFill>
                            <a:schemeClr val="tx1"/>
                          </a:solidFill>
                          <a:effectLst/>
                          <a:latin typeface="Calibri" panose="020F0502020204030204" pitchFamily="34" charset="0"/>
                        </a:rPr>
                        <a:t>         - dont appels de marge versés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3091758520"/>
                  </a:ext>
                </a:extLst>
              </a:tr>
              <a:tr h="36000">
                <a:tc>
                  <a:txBody>
                    <a:bodyPr/>
                    <a:lstStyle/>
                    <a:p>
                      <a:pPr algn="l" fontAlgn="b"/>
                      <a:r>
                        <a:rPr lang="fr-FR" sz="1200" b="0" i="0" u="none" strike="noStrike" dirty="0">
                          <a:solidFill>
                            <a:schemeClr val="tx1"/>
                          </a:solidFill>
                          <a:effectLst/>
                          <a:latin typeface="Calibri" panose="020F0502020204030204" pitchFamily="34" charset="0"/>
                        </a:rPr>
                        <a:t>         - autres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854202063"/>
                  </a:ext>
                </a:extLst>
              </a:tr>
              <a:tr h="36000">
                <a:tc>
                  <a:txBody>
                    <a:bodyPr/>
                    <a:lstStyle/>
                    <a:p>
                      <a:pPr algn="l" fontAlgn="b"/>
                      <a:r>
                        <a:rPr lang="fr-FR" sz="1200" b="1" i="0" u="none" strike="noStrike" dirty="0">
                          <a:solidFill>
                            <a:schemeClr val="tx1"/>
                          </a:solidFill>
                          <a:effectLst/>
                          <a:latin typeface="Calibri" panose="020F0502020204030204" pitchFamily="34" charset="0"/>
                        </a:rPr>
                        <a:t>Total Actif </a:t>
                      </a: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10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71036350"/>
                  </a:ext>
                </a:extLst>
              </a:tr>
            </a:tbl>
          </a:graphicData>
        </a:graphic>
      </p:graphicFrame>
      <p:sp>
        <p:nvSpPr>
          <p:cNvPr id="2" name="Espace réservé du texte 16">
            <a:extLst>
              <a:ext uri="{FF2B5EF4-FFF2-40B4-BE49-F238E27FC236}">
                <a16:creationId xmlns:a16="http://schemas.microsoft.com/office/drawing/2014/main" id="{851533FE-BA5B-54B0-AD54-44218344DE8A}"/>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49196062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Analyse des encours par nature de taux</a:t>
            </a:r>
          </a:p>
          <a:p>
            <a:pPr>
              <a:spcBef>
                <a:spcPts val="0"/>
              </a:spcBef>
              <a:defRPr/>
            </a:pPr>
            <a:r>
              <a:rPr lang="fr-FR" sz="2000" i="1" dirty="0">
                <a:latin typeface="Calibri (body)"/>
                <a:cs typeface="Calibri"/>
              </a:rPr>
              <a:t>b- Détail des passifs</a:t>
            </a:r>
            <a:endParaRPr lang="fr-FR" sz="2000" dirty="0">
              <a:latin typeface="Calibri"/>
              <a:cs typeface="Calibri"/>
            </a:endParaRPr>
          </a:p>
        </p:txBody>
      </p:sp>
      <p:sp>
        <p:nvSpPr>
          <p:cNvPr id="14" name="Rectangle 13">
            <a:extLst>
              <a:ext uri="{FF2B5EF4-FFF2-40B4-BE49-F238E27FC236}">
                <a16:creationId xmlns:a16="http://schemas.microsoft.com/office/drawing/2014/main" id="{4DD4AAFE-DCD3-EA20-975C-DE6045B809C4}"/>
              </a:ext>
            </a:extLst>
          </p:cNvPr>
          <p:cNvSpPr/>
          <p:nvPr/>
        </p:nvSpPr>
        <p:spPr>
          <a:xfrm>
            <a:off x="9744075" y="6216089"/>
            <a:ext cx="2238375" cy="57838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4" name="Table 2">
            <a:extLst>
              <a:ext uri="{FF2B5EF4-FFF2-40B4-BE49-F238E27FC236}">
                <a16:creationId xmlns:a16="http://schemas.microsoft.com/office/drawing/2014/main" id="{78201841-5D26-70CB-8DB8-4134D813F868}"/>
              </a:ext>
            </a:extLst>
          </p:cNvPr>
          <p:cNvGraphicFramePr>
            <a:graphicFrameLocks noGrp="1"/>
          </p:cNvGraphicFramePr>
          <p:nvPr>
            <p:extLst>
              <p:ext uri="{D42A27DB-BD31-4B8C-83A1-F6EECF244321}">
                <p14:modId xmlns:p14="http://schemas.microsoft.com/office/powerpoint/2010/main" val="2643053751"/>
              </p:ext>
            </p:extLst>
          </p:nvPr>
        </p:nvGraphicFramePr>
        <p:xfrm>
          <a:off x="965905" y="901252"/>
          <a:ext cx="10008000" cy="5415100"/>
        </p:xfrm>
        <a:graphic>
          <a:graphicData uri="http://schemas.openxmlformats.org/drawingml/2006/table">
            <a:tbl>
              <a:tblPr/>
              <a:tblGrid>
                <a:gridCol w="3060000">
                  <a:extLst>
                    <a:ext uri="{9D8B030D-6E8A-4147-A177-3AD203B41FA5}">
                      <a16:colId xmlns:a16="http://schemas.microsoft.com/office/drawing/2014/main" val="912739486"/>
                    </a:ext>
                  </a:extLst>
                </a:gridCol>
                <a:gridCol w="1188000">
                  <a:extLst>
                    <a:ext uri="{9D8B030D-6E8A-4147-A177-3AD203B41FA5}">
                      <a16:colId xmlns:a16="http://schemas.microsoft.com/office/drawing/2014/main" val="250235461"/>
                    </a:ext>
                  </a:extLst>
                </a:gridCol>
                <a:gridCol w="720000">
                  <a:extLst>
                    <a:ext uri="{9D8B030D-6E8A-4147-A177-3AD203B41FA5}">
                      <a16:colId xmlns:a16="http://schemas.microsoft.com/office/drawing/2014/main" val="3161787365"/>
                    </a:ext>
                  </a:extLst>
                </a:gridCol>
                <a:gridCol w="720000">
                  <a:extLst>
                    <a:ext uri="{9D8B030D-6E8A-4147-A177-3AD203B41FA5}">
                      <a16:colId xmlns:a16="http://schemas.microsoft.com/office/drawing/2014/main" val="829932536"/>
                    </a:ext>
                  </a:extLst>
                </a:gridCol>
                <a:gridCol w="720000">
                  <a:extLst>
                    <a:ext uri="{9D8B030D-6E8A-4147-A177-3AD203B41FA5}">
                      <a16:colId xmlns:a16="http://schemas.microsoft.com/office/drawing/2014/main" val="1935215412"/>
                    </a:ext>
                  </a:extLst>
                </a:gridCol>
                <a:gridCol w="720000">
                  <a:extLst>
                    <a:ext uri="{9D8B030D-6E8A-4147-A177-3AD203B41FA5}">
                      <a16:colId xmlns:a16="http://schemas.microsoft.com/office/drawing/2014/main" val="2058952381"/>
                    </a:ext>
                  </a:extLst>
                </a:gridCol>
                <a:gridCol w="720000">
                  <a:extLst>
                    <a:ext uri="{9D8B030D-6E8A-4147-A177-3AD203B41FA5}">
                      <a16:colId xmlns:a16="http://schemas.microsoft.com/office/drawing/2014/main" val="468829194"/>
                    </a:ext>
                  </a:extLst>
                </a:gridCol>
                <a:gridCol w="720000">
                  <a:extLst>
                    <a:ext uri="{9D8B030D-6E8A-4147-A177-3AD203B41FA5}">
                      <a16:colId xmlns:a16="http://schemas.microsoft.com/office/drawing/2014/main" val="2327083637"/>
                    </a:ext>
                  </a:extLst>
                </a:gridCol>
                <a:gridCol w="720000">
                  <a:extLst>
                    <a:ext uri="{9D8B030D-6E8A-4147-A177-3AD203B41FA5}">
                      <a16:colId xmlns:a16="http://schemas.microsoft.com/office/drawing/2014/main" val="2885324755"/>
                    </a:ext>
                  </a:extLst>
                </a:gridCol>
                <a:gridCol w="720000">
                  <a:extLst>
                    <a:ext uri="{9D8B030D-6E8A-4147-A177-3AD203B41FA5}">
                      <a16:colId xmlns:a16="http://schemas.microsoft.com/office/drawing/2014/main" val="1490160581"/>
                    </a:ext>
                  </a:extLst>
                </a:gridCol>
              </a:tblGrid>
              <a:tr h="255552">
                <a:tc>
                  <a:txBody>
                    <a:bodyPr/>
                    <a:lstStyle/>
                    <a:p>
                      <a:pPr algn="l" fontAlgn="b"/>
                      <a:r>
                        <a:rPr lang="fr-FR" sz="1200" b="0" i="0" u="none" strike="noStrike" dirty="0">
                          <a:solidFill>
                            <a:schemeClr val="tx1"/>
                          </a:solidFill>
                          <a:effectLst/>
                          <a:latin typeface="Calibri" panose="020F0502020204030204" pitchFamily="34" charset="0"/>
                        </a:rPr>
                        <a:t> En K€</a:t>
                      </a: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200" b="0" i="0" u="none" strike="noStrike" dirty="0">
                          <a:solidFill>
                            <a:schemeClr val="tx1"/>
                          </a:solidFill>
                          <a:effectLst/>
                          <a:latin typeface="Calibri" panose="020F0502020204030204" pitchFamily="34" charset="0"/>
                        </a:rPr>
                        <a:t>Encours comptables</a:t>
                      </a:r>
                    </a:p>
                    <a:p>
                      <a:pPr algn="ctr" fontAlgn="b"/>
                      <a:r>
                        <a:rPr lang="fr-FR" sz="1200" b="0" i="0" u="none" strike="noStrike" dirty="0">
                          <a:solidFill>
                            <a:schemeClr val="tx1"/>
                          </a:solidFill>
                          <a:effectLst/>
                          <a:latin typeface="Calibri" panose="020F0502020204030204" pitchFamily="34" charset="0"/>
                        </a:rPr>
                        <a:t>31/12/2023</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algn="ctr" fontAlgn="b"/>
                      <a:r>
                        <a:rPr lang="fr-FR" sz="1100" b="1" i="0" u="none" strike="noStrike" dirty="0">
                          <a:solidFill>
                            <a:schemeClr val="tx1"/>
                          </a:solidFill>
                          <a:effectLst/>
                          <a:latin typeface="Calibri" panose="020F0502020204030204" pitchFamily="34" charset="0"/>
                        </a:rPr>
                        <a:t>TF</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algn="ctr" fontAlgn="b"/>
                      <a:r>
                        <a:rPr lang="fr-FR" sz="1100" b="1" i="0" u="none" strike="noStrike" dirty="0">
                          <a:solidFill>
                            <a:schemeClr val="tx1"/>
                          </a:solidFill>
                          <a:effectLst/>
                          <a:latin typeface="Calibri" panose="020F0502020204030204" pitchFamily="34" charset="0"/>
                        </a:rPr>
                        <a:t>TR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91262255"/>
                  </a:ext>
                </a:extLst>
              </a:tr>
              <a:tr h="121368">
                <a:tc>
                  <a:txBody>
                    <a:bodyPr/>
                    <a:lstStyle/>
                    <a:p>
                      <a:pPr algn="l" fontAlgn="b"/>
                      <a:endParaRPr lang="fr-FR" sz="1200" b="1" i="0" u="none" strike="noStrike" dirty="0">
                        <a:solidFill>
                          <a:schemeClr val="tx1"/>
                        </a:solidFill>
                        <a:effectLst/>
                        <a:latin typeface="Calibri" panose="020F0502020204030204" pitchFamily="34" charset="0"/>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0%</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&lt;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&gt;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ESTER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E3M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E6M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E12M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INFLATION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11731171"/>
                  </a:ext>
                </a:extLst>
              </a:tr>
              <a:tr h="121368">
                <a:tc>
                  <a:txBody>
                    <a:bodyPr/>
                    <a:lstStyle/>
                    <a:p>
                      <a:pPr algn="l" fontAlgn="b"/>
                      <a:r>
                        <a:rPr lang="fr-FR" sz="1200" b="1" i="0" u="none" strike="noStrike" dirty="0">
                          <a:solidFill>
                            <a:schemeClr val="tx1"/>
                          </a:solidFill>
                          <a:effectLst/>
                          <a:latin typeface="Calibri" panose="020F0502020204030204" pitchFamily="34" charset="0"/>
                        </a:rPr>
                        <a:t>Dettes envers les établissements de crédit</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53198227"/>
                  </a:ext>
                </a:extLst>
              </a:tr>
              <a:tr h="0">
                <a:tc>
                  <a:txBody>
                    <a:bodyPr/>
                    <a:lstStyle/>
                    <a:p>
                      <a:pPr algn="l" fontAlgn="b"/>
                      <a:r>
                        <a:rPr lang="fr-FR" sz="1200" b="1" i="0" u="none" strike="noStrike" dirty="0">
                          <a:solidFill>
                            <a:schemeClr val="tx1"/>
                          </a:solidFill>
                          <a:effectLst/>
                          <a:latin typeface="Calibri" panose="020F0502020204030204" pitchFamily="34" charset="0"/>
                        </a:rPr>
                        <a:t>- </a:t>
                      </a:r>
                      <a:r>
                        <a:rPr lang="fr-FR" sz="1200" b="0" i="0" u="none" strike="noStrike" dirty="0">
                          <a:solidFill>
                            <a:schemeClr val="tx1"/>
                          </a:solidFill>
                          <a:effectLst/>
                          <a:latin typeface="Calibri" panose="020F0502020204030204" pitchFamily="34" charset="0"/>
                        </a:rPr>
                        <a:t>A terme</a:t>
                      </a:r>
                    </a:p>
                  </a:txBody>
                  <a:tcPr marL="363024"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66838987"/>
                  </a:ext>
                </a:extLst>
              </a:tr>
              <a:tr h="0">
                <a:tc>
                  <a:txBody>
                    <a:bodyPr/>
                    <a:lstStyle/>
                    <a:p>
                      <a:pPr algn="l" fontAlgn="b"/>
                      <a:r>
                        <a:rPr lang="fr-FR" sz="1200" b="1" i="0" u="none" strike="noStrike" dirty="0">
                          <a:solidFill>
                            <a:schemeClr val="tx1"/>
                          </a:solidFill>
                          <a:effectLst/>
                          <a:latin typeface="Calibri" panose="020F0502020204030204" pitchFamily="34" charset="0"/>
                        </a:rPr>
                        <a:t>Opérations avec la clientèle </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18056089"/>
                  </a:ext>
                </a:extLst>
              </a:tr>
              <a:tr h="0">
                <a:tc>
                  <a:txBody>
                    <a:bodyPr/>
                    <a:lstStyle/>
                    <a:p>
                      <a:pPr algn="l" fontAlgn="b"/>
                      <a:r>
                        <a:rPr lang="fr-FR" sz="1200" b="1" i="0" u="none" strike="noStrike" dirty="0">
                          <a:solidFill>
                            <a:schemeClr val="tx1"/>
                          </a:solidFill>
                          <a:effectLst/>
                          <a:latin typeface="Calibri" panose="020F0502020204030204" pitchFamily="34" charset="0"/>
                        </a:rPr>
                        <a:t>Autres passifs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09396279"/>
                  </a:ext>
                </a:extLst>
              </a:tr>
              <a:tr h="0">
                <a:tc>
                  <a:txBody>
                    <a:bodyPr/>
                    <a:lstStyle/>
                    <a:p>
                      <a:pPr algn="l" fontAlgn="b"/>
                      <a:r>
                        <a:rPr lang="fr-FR" sz="1200" b="0" i="0" u="none" strike="noStrike" dirty="0">
                          <a:solidFill>
                            <a:schemeClr val="tx1"/>
                          </a:solidFill>
                          <a:effectLst/>
                          <a:latin typeface="Calibri" panose="020F0502020204030204" pitchFamily="34" charset="0"/>
                        </a:rPr>
                        <a:t>- Dettes sur obligations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468267445"/>
                  </a:ext>
                </a:extLst>
              </a:tr>
              <a:tr h="0">
                <a:tc>
                  <a:txBody>
                    <a:bodyPr/>
                    <a:lstStyle/>
                    <a:p>
                      <a:pPr algn="l" fontAlgn="b"/>
                      <a:r>
                        <a:rPr lang="fr-FR" sz="1200" b="0" i="0" u="none" strike="noStrike" dirty="0">
                          <a:solidFill>
                            <a:schemeClr val="tx1"/>
                          </a:solidFill>
                          <a:effectLst/>
                          <a:latin typeface="Calibri" panose="020F0502020204030204" pitchFamily="34" charset="0"/>
                        </a:rPr>
                        <a:t>- Titres mis en pension</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618548317"/>
                  </a:ext>
                </a:extLst>
              </a:tr>
              <a:tr h="0">
                <a:tc>
                  <a:txBody>
                    <a:bodyPr/>
                    <a:lstStyle/>
                    <a:p>
                      <a:pPr algn="l" fontAlgn="b"/>
                      <a:r>
                        <a:rPr lang="fr-FR" sz="1200" b="0" i="0" u="none" strike="noStrike" dirty="0">
                          <a:solidFill>
                            <a:schemeClr val="tx1"/>
                          </a:solidFill>
                          <a:effectLst/>
                          <a:latin typeface="Calibri" panose="020F0502020204030204" pitchFamily="34" charset="0"/>
                        </a:rPr>
                        <a:t>- Dettes sur titres empruntés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359739853"/>
                  </a:ext>
                </a:extLst>
              </a:tr>
              <a:tr h="0">
                <a:tc>
                  <a:txBody>
                    <a:bodyPr/>
                    <a:lstStyle/>
                    <a:p>
                      <a:pPr algn="l" fontAlgn="b"/>
                      <a:r>
                        <a:rPr lang="fr-FR" sz="1200" b="0" i="0" u="none" strike="noStrike" dirty="0">
                          <a:solidFill>
                            <a:schemeClr val="tx1"/>
                          </a:solidFill>
                          <a:effectLst/>
                          <a:latin typeface="Calibri" panose="020F0502020204030204" pitchFamily="34" charset="0"/>
                        </a:rPr>
                        <a:t>- Divers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556995773"/>
                  </a:ext>
                </a:extLst>
              </a:tr>
              <a:tr h="0">
                <a:tc>
                  <a:txBody>
                    <a:bodyPr/>
                    <a:lstStyle/>
                    <a:p>
                      <a:pPr algn="l" fontAlgn="b"/>
                      <a:r>
                        <a:rPr lang="fr-FR" sz="1200" b="1" i="0" u="none" strike="noStrike" dirty="0">
                          <a:solidFill>
                            <a:schemeClr val="tx1"/>
                          </a:solidFill>
                          <a:effectLst/>
                          <a:latin typeface="Calibri" panose="020F0502020204030204" pitchFamily="34" charset="0"/>
                        </a:rPr>
                        <a:t>Comptes de régularisation</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09978373"/>
                  </a:ext>
                </a:extLst>
              </a:tr>
              <a:tr h="0">
                <a:tc>
                  <a:txBody>
                    <a:bodyPr/>
                    <a:lstStyle/>
                    <a:p>
                      <a:pPr algn="l" fontAlgn="b"/>
                      <a:r>
                        <a:rPr lang="fr-FR" sz="1200" b="0" i="0" u="none" strike="noStrike" dirty="0">
                          <a:solidFill>
                            <a:schemeClr val="tx1"/>
                          </a:solidFill>
                          <a:effectLst/>
                          <a:latin typeface="Calibri" panose="020F0502020204030204" pitchFamily="34" charset="0"/>
                        </a:rPr>
                        <a:t>- Cptes d’ajust. sur IFT </a:t>
                      </a:r>
                      <a:r>
                        <a:rPr lang="fr-FR" sz="1050" b="0" i="0" u="none" strike="noStrike" dirty="0">
                          <a:solidFill>
                            <a:schemeClr val="tx1"/>
                          </a:solidFill>
                          <a:effectLst/>
                          <a:latin typeface="Calibri" panose="020F0502020204030204" pitchFamily="34" charset="0"/>
                        </a:rPr>
                        <a:t>(appels de marge cash)</a:t>
                      </a:r>
                      <a:endParaRPr lang="fr-FR" sz="1200" b="0" i="0" u="none" strike="noStrike" dirty="0">
                        <a:solidFill>
                          <a:schemeClr val="tx1"/>
                        </a:solidFill>
                        <a:effectLst/>
                        <a:latin typeface="Calibri" panose="020F0502020204030204" pitchFamily="34" charset="0"/>
                      </a:endParaRP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08639436"/>
                  </a:ext>
                </a:extLst>
              </a:tr>
              <a:tr h="0">
                <a:tc>
                  <a:txBody>
                    <a:bodyPr/>
                    <a:lstStyle/>
                    <a:p>
                      <a:pPr algn="l" fontAlgn="b"/>
                      <a:r>
                        <a:rPr lang="fr-FR" sz="1200" b="0" i="0" u="none" strike="noStrike" dirty="0">
                          <a:solidFill>
                            <a:schemeClr val="tx1"/>
                          </a:solidFill>
                          <a:effectLst/>
                          <a:latin typeface="Calibri" panose="020F0502020204030204" pitchFamily="34" charset="0"/>
                        </a:rPr>
                        <a:t>- Divers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706830241"/>
                  </a:ext>
                </a:extLst>
              </a:tr>
              <a:tr h="0">
                <a:tc>
                  <a:txBody>
                    <a:bodyPr/>
                    <a:lstStyle/>
                    <a:p>
                      <a:pPr algn="l" fontAlgn="b"/>
                      <a:r>
                        <a:rPr lang="fr-FR" sz="1200" b="1" i="0" u="none" strike="noStrike" dirty="0">
                          <a:solidFill>
                            <a:schemeClr val="tx1"/>
                          </a:solidFill>
                          <a:effectLst/>
                          <a:latin typeface="Calibri" panose="020F0502020204030204" pitchFamily="34" charset="0"/>
                        </a:rPr>
                        <a:t>Provisions pour risques et charges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339391207"/>
                  </a:ext>
                </a:extLst>
              </a:tr>
              <a:tr h="0">
                <a:tc>
                  <a:txBody>
                    <a:bodyPr/>
                    <a:lstStyle/>
                    <a:p>
                      <a:pPr algn="l" fontAlgn="b"/>
                      <a:r>
                        <a:rPr lang="fr-FR" sz="1200" b="1" i="0" u="none" strike="noStrike" dirty="0">
                          <a:solidFill>
                            <a:schemeClr val="tx1"/>
                          </a:solidFill>
                          <a:effectLst/>
                          <a:latin typeface="Calibri" panose="020F0502020204030204" pitchFamily="34" charset="0"/>
                        </a:rPr>
                        <a:t>Dettes subordonnées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59604154"/>
                  </a:ext>
                </a:extLst>
              </a:tr>
              <a:tr h="0">
                <a:tc>
                  <a:txBody>
                    <a:bodyPr/>
                    <a:lstStyle/>
                    <a:p>
                      <a:pPr algn="l" fontAlgn="b"/>
                      <a:r>
                        <a:rPr lang="fr-FR" sz="1200" b="0" i="0" u="none" strike="noStrike" dirty="0">
                          <a:solidFill>
                            <a:schemeClr val="tx1"/>
                          </a:solidFill>
                          <a:effectLst/>
                          <a:latin typeface="Calibri" panose="020F0502020204030204" pitchFamily="34" charset="0"/>
                        </a:rPr>
                        <a:t>- Fonds Mutuel de Garantie</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35277425"/>
                  </a:ext>
                </a:extLst>
              </a:tr>
              <a:tr h="0">
                <a:tc>
                  <a:txBody>
                    <a:bodyPr/>
                    <a:lstStyle/>
                    <a:p>
                      <a:pPr algn="l" fontAlgn="b"/>
                      <a:r>
                        <a:rPr lang="fr-FR" sz="1200" b="0" i="0" u="none" strike="noStrike" dirty="0">
                          <a:solidFill>
                            <a:schemeClr val="tx1"/>
                          </a:solidFill>
                          <a:effectLst/>
                          <a:latin typeface="Calibri" panose="020F0502020204030204" pitchFamily="34" charset="0"/>
                        </a:rPr>
                        <a:t>- Emprunts subordonnés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0961708"/>
                  </a:ext>
                </a:extLst>
              </a:tr>
              <a:tr h="0">
                <a:tc>
                  <a:txBody>
                    <a:bodyPr/>
                    <a:lstStyle/>
                    <a:p>
                      <a:pPr algn="l" fontAlgn="b"/>
                      <a:r>
                        <a:rPr lang="fr-FR" sz="1200" b="0" i="0" u="none" strike="noStrike" dirty="0">
                          <a:solidFill>
                            <a:schemeClr val="tx1"/>
                          </a:solidFill>
                          <a:effectLst/>
                          <a:latin typeface="Calibri" panose="020F0502020204030204" pitchFamily="34" charset="0"/>
                        </a:rPr>
                        <a:t>- Titres subordonnés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9180972"/>
                  </a:ext>
                </a:extLst>
              </a:tr>
              <a:tr h="0">
                <a:tc>
                  <a:txBody>
                    <a:bodyPr/>
                    <a:lstStyle/>
                    <a:p>
                      <a:pPr algn="l" fontAlgn="b"/>
                      <a:r>
                        <a:rPr lang="fr-FR" sz="1200" b="1" i="0" u="none" strike="noStrike" dirty="0">
                          <a:solidFill>
                            <a:schemeClr val="tx1"/>
                          </a:solidFill>
                          <a:effectLst/>
                          <a:latin typeface="Calibri" panose="020F0502020204030204" pitchFamily="34" charset="0"/>
                        </a:rPr>
                        <a:t>Fonds pour risques bancaires généraux</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293108380"/>
                  </a:ext>
                </a:extLst>
              </a:tr>
              <a:tr h="0">
                <a:tc>
                  <a:txBody>
                    <a:bodyPr/>
                    <a:lstStyle/>
                    <a:p>
                      <a:pPr algn="l" fontAlgn="b"/>
                      <a:r>
                        <a:rPr lang="fr-FR" sz="1200" b="1" i="0" u="none" strike="noStrike" dirty="0">
                          <a:solidFill>
                            <a:schemeClr val="tx1"/>
                          </a:solidFill>
                          <a:effectLst/>
                          <a:latin typeface="Calibri" panose="020F0502020204030204" pitchFamily="34" charset="0"/>
                        </a:rPr>
                        <a:t>Capitaux Propres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2819526497"/>
                  </a:ext>
                </a:extLst>
              </a:tr>
              <a:tr h="0">
                <a:tc>
                  <a:txBody>
                    <a:bodyPr/>
                    <a:lstStyle/>
                    <a:p>
                      <a:pPr algn="l" fontAlgn="b"/>
                      <a:r>
                        <a:rPr lang="fr-FR" sz="1200" b="0" i="0" u="none" strike="noStrike" dirty="0">
                          <a:solidFill>
                            <a:schemeClr val="tx1"/>
                          </a:solidFill>
                          <a:effectLst/>
                          <a:latin typeface="Calibri" panose="020F0502020204030204" pitchFamily="34" charset="0"/>
                        </a:rPr>
                        <a:t>- Capital</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1695089505"/>
                  </a:ext>
                </a:extLst>
              </a:tr>
              <a:tr h="0">
                <a:tc>
                  <a:txBody>
                    <a:bodyPr/>
                    <a:lstStyle/>
                    <a:p>
                      <a:pPr algn="l" fontAlgn="b"/>
                      <a:r>
                        <a:rPr lang="fr-FR" sz="1200" b="0" i="0" u="none" strike="noStrike" dirty="0">
                          <a:solidFill>
                            <a:schemeClr val="tx1"/>
                          </a:solidFill>
                          <a:effectLst/>
                          <a:latin typeface="Calibri" panose="020F0502020204030204" pitchFamily="34" charset="0"/>
                        </a:rPr>
                        <a:t>- Réserves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1233965342"/>
                  </a:ext>
                </a:extLst>
              </a:tr>
              <a:tr h="0">
                <a:tc>
                  <a:txBody>
                    <a:bodyPr/>
                    <a:lstStyle/>
                    <a:p>
                      <a:pPr algn="l" fontAlgn="b"/>
                      <a:r>
                        <a:rPr lang="fr-FR" sz="1200" b="0" i="0" u="none" strike="noStrike" dirty="0">
                          <a:solidFill>
                            <a:schemeClr val="tx1"/>
                          </a:solidFill>
                          <a:effectLst/>
                          <a:latin typeface="Calibri" panose="020F0502020204030204" pitchFamily="34" charset="0"/>
                        </a:rPr>
                        <a:t>- Provisions réglementées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4280618547"/>
                  </a:ext>
                </a:extLst>
              </a:tr>
              <a:tr h="0">
                <a:tc>
                  <a:txBody>
                    <a:bodyPr/>
                    <a:lstStyle/>
                    <a:p>
                      <a:pPr algn="l" fontAlgn="b"/>
                      <a:r>
                        <a:rPr lang="fr-FR" sz="1200" b="0" i="0" u="none" strike="noStrike" dirty="0">
                          <a:solidFill>
                            <a:schemeClr val="tx1"/>
                          </a:solidFill>
                          <a:effectLst/>
                          <a:latin typeface="Calibri" panose="020F0502020204030204" pitchFamily="34" charset="0"/>
                        </a:rPr>
                        <a:t>- Report à nouveau</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468011584"/>
                  </a:ext>
                </a:extLst>
              </a:tr>
              <a:tr h="0">
                <a:tc>
                  <a:txBody>
                    <a:bodyPr/>
                    <a:lstStyle/>
                    <a:p>
                      <a:pPr algn="l" fontAlgn="b"/>
                      <a:r>
                        <a:rPr lang="fr-FR" sz="1200" b="0" i="0" u="none" strike="noStrike" dirty="0">
                          <a:solidFill>
                            <a:schemeClr val="tx1"/>
                          </a:solidFill>
                          <a:effectLst/>
                          <a:latin typeface="Calibri" panose="020F0502020204030204" pitchFamily="34" charset="0"/>
                        </a:rPr>
                        <a:t>- Résultat net de l’exercice</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3921339559"/>
                  </a:ext>
                </a:extLst>
              </a:tr>
              <a:tr h="0">
                <a:tc>
                  <a:txBody>
                    <a:bodyPr/>
                    <a:lstStyle/>
                    <a:p>
                      <a:pPr algn="l" fontAlgn="b"/>
                      <a:r>
                        <a:rPr lang="fr-FR" sz="1200" b="1" i="0" u="none" strike="noStrike" dirty="0">
                          <a:solidFill>
                            <a:schemeClr val="tx1"/>
                          </a:solidFill>
                          <a:effectLst/>
                          <a:latin typeface="Calibri" panose="020F0502020204030204" pitchFamily="34" charset="0"/>
                        </a:rPr>
                        <a:t>Total Passif</a:t>
                      </a: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10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3971036350"/>
                  </a:ext>
                </a:extLst>
              </a:tr>
            </a:tbl>
          </a:graphicData>
        </a:graphic>
      </p:graphicFrame>
      <p:sp>
        <p:nvSpPr>
          <p:cNvPr id="2" name="Espace réservé du texte 16">
            <a:extLst>
              <a:ext uri="{FF2B5EF4-FFF2-40B4-BE49-F238E27FC236}">
                <a16:creationId xmlns:a16="http://schemas.microsoft.com/office/drawing/2014/main" id="{F720C32C-85E9-AC41-C318-986496AAB18D}"/>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294282318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Analyse des encours par nature de taux</a:t>
            </a:r>
          </a:p>
          <a:p>
            <a:pPr>
              <a:spcBef>
                <a:spcPts val="0"/>
              </a:spcBef>
              <a:defRPr/>
            </a:pPr>
            <a:r>
              <a:rPr lang="fr-FR" sz="2000" i="1" dirty="0">
                <a:latin typeface="Calibri (body)"/>
                <a:cs typeface="Calibri"/>
              </a:rPr>
              <a:t>c- Synthèse</a:t>
            </a:r>
            <a:endParaRPr lang="fr-FR" dirty="0">
              <a:latin typeface="Calibri"/>
              <a:cs typeface="Calibri"/>
            </a:endParaRPr>
          </a:p>
        </p:txBody>
      </p:sp>
      <p:sp>
        <p:nvSpPr>
          <p:cNvPr id="14" name="Rectangle 13">
            <a:extLst>
              <a:ext uri="{FF2B5EF4-FFF2-40B4-BE49-F238E27FC236}">
                <a16:creationId xmlns:a16="http://schemas.microsoft.com/office/drawing/2014/main" id="{4DD4AAFE-DCD3-EA20-975C-DE6045B809C4}"/>
              </a:ext>
            </a:extLst>
          </p:cNvPr>
          <p:cNvSpPr/>
          <p:nvPr/>
        </p:nvSpPr>
        <p:spPr>
          <a:xfrm>
            <a:off x="9744075" y="6216089"/>
            <a:ext cx="2238375" cy="57838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4" name="Table 2">
            <a:extLst>
              <a:ext uri="{FF2B5EF4-FFF2-40B4-BE49-F238E27FC236}">
                <a16:creationId xmlns:a16="http://schemas.microsoft.com/office/drawing/2014/main" id="{78201841-5D26-70CB-8DB8-4134D813F868}"/>
              </a:ext>
            </a:extLst>
          </p:cNvPr>
          <p:cNvGraphicFramePr>
            <a:graphicFrameLocks noGrp="1"/>
          </p:cNvGraphicFramePr>
          <p:nvPr>
            <p:extLst>
              <p:ext uri="{D42A27DB-BD31-4B8C-83A1-F6EECF244321}">
                <p14:modId xmlns:p14="http://schemas.microsoft.com/office/powerpoint/2010/main" val="3792661884"/>
              </p:ext>
            </p:extLst>
          </p:nvPr>
        </p:nvGraphicFramePr>
        <p:xfrm>
          <a:off x="1288825" y="1131934"/>
          <a:ext cx="9473691" cy="4704544"/>
        </p:xfrm>
        <a:graphic>
          <a:graphicData uri="http://schemas.openxmlformats.org/drawingml/2006/table">
            <a:tbl>
              <a:tblPr/>
              <a:tblGrid>
                <a:gridCol w="977297">
                  <a:extLst>
                    <a:ext uri="{9D8B030D-6E8A-4147-A177-3AD203B41FA5}">
                      <a16:colId xmlns:a16="http://schemas.microsoft.com/office/drawing/2014/main" val="2282176799"/>
                    </a:ext>
                  </a:extLst>
                </a:gridCol>
                <a:gridCol w="2208057">
                  <a:extLst>
                    <a:ext uri="{9D8B030D-6E8A-4147-A177-3AD203B41FA5}">
                      <a16:colId xmlns:a16="http://schemas.microsoft.com/office/drawing/2014/main" val="2783859328"/>
                    </a:ext>
                  </a:extLst>
                </a:gridCol>
                <a:gridCol w="816337">
                  <a:extLst>
                    <a:ext uri="{9D8B030D-6E8A-4147-A177-3AD203B41FA5}">
                      <a16:colId xmlns:a16="http://schemas.microsoft.com/office/drawing/2014/main" val="250235461"/>
                    </a:ext>
                  </a:extLst>
                </a:gridCol>
                <a:gridCol w="684000">
                  <a:extLst>
                    <a:ext uri="{9D8B030D-6E8A-4147-A177-3AD203B41FA5}">
                      <a16:colId xmlns:a16="http://schemas.microsoft.com/office/drawing/2014/main" val="525455795"/>
                    </a:ext>
                  </a:extLst>
                </a:gridCol>
                <a:gridCol w="684000">
                  <a:extLst>
                    <a:ext uri="{9D8B030D-6E8A-4147-A177-3AD203B41FA5}">
                      <a16:colId xmlns:a16="http://schemas.microsoft.com/office/drawing/2014/main" val="1659310265"/>
                    </a:ext>
                  </a:extLst>
                </a:gridCol>
                <a:gridCol w="684000">
                  <a:extLst>
                    <a:ext uri="{9D8B030D-6E8A-4147-A177-3AD203B41FA5}">
                      <a16:colId xmlns:a16="http://schemas.microsoft.com/office/drawing/2014/main" val="2327083637"/>
                    </a:ext>
                  </a:extLst>
                </a:gridCol>
                <a:gridCol w="684000">
                  <a:extLst>
                    <a:ext uri="{9D8B030D-6E8A-4147-A177-3AD203B41FA5}">
                      <a16:colId xmlns:a16="http://schemas.microsoft.com/office/drawing/2014/main" val="2885324755"/>
                    </a:ext>
                  </a:extLst>
                </a:gridCol>
                <a:gridCol w="684000">
                  <a:extLst>
                    <a:ext uri="{9D8B030D-6E8A-4147-A177-3AD203B41FA5}">
                      <a16:colId xmlns:a16="http://schemas.microsoft.com/office/drawing/2014/main" val="1532957112"/>
                    </a:ext>
                  </a:extLst>
                </a:gridCol>
                <a:gridCol w="684000">
                  <a:extLst>
                    <a:ext uri="{9D8B030D-6E8A-4147-A177-3AD203B41FA5}">
                      <a16:colId xmlns:a16="http://schemas.microsoft.com/office/drawing/2014/main" val="4126442365"/>
                    </a:ext>
                  </a:extLst>
                </a:gridCol>
                <a:gridCol w="684000">
                  <a:extLst>
                    <a:ext uri="{9D8B030D-6E8A-4147-A177-3AD203B41FA5}">
                      <a16:colId xmlns:a16="http://schemas.microsoft.com/office/drawing/2014/main" val="2316914318"/>
                    </a:ext>
                  </a:extLst>
                </a:gridCol>
                <a:gridCol w="684000">
                  <a:extLst>
                    <a:ext uri="{9D8B030D-6E8A-4147-A177-3AD203B41FA5}">
                      <a16:colId xmlns:a16="http://schemas.microsoft.com/office/drawing/2014/main" val="3036293287"/>
                    </a:ext>
                  </a:extLst>
                </a:gridCol>
              </a:tblGrid>
              <a:tr h="315387">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algn="ctr" fontAlgn="b"/>
                      <a:r>
                        <a:rPr lang="fr-FR" sz="1100" b="1" i="0" u="none" strike="noStrike" dirty="0">
                          <a:solidFill>
                            <a:schemeClr val="tx1"/>
                          </a:solidFill>
                          <a:effectLst/>
                          <a:latin typeface="Calibri" panose="020F0502020204030204" pitchFamily="34" charset="0"/>
                        </a:rPr>
                        <a:t>TF</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algn="ctr" fontAlgn="b"/>
                      <a:r>
                        <a:rPr lang="fr-FR" sz="1100" b="1" i="0" u="none" strike="noStrike" dirty="0">
                          <a:solidFill>
                            <a:schemeClr val="tx1"/>
                          </a:solidFill>
                          <a:effectLst/>
                          <a:latin typeface="Calibri" panose="020F0502020204030204" pitchFamily="34" charset="0"/>
                        </a:rPr>
                        <a:t>TR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46597539"/>
                  </a:ext>
                </a:extLst>
              </a:tr>
              <a:tr h="609157">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200" b="0" i="0" u="none" strike="noStrike" dirty="0">
                          <a:solidFill>
                            <a:schemeClr val="tx1"/>
                          </a:solidFill>
                          <a:effectLst/>
                          <a:latin typeface="Calibri" panose="020F0502020204030204" pitchFamily="34" charset="0"/>
                        </a:rPr>
                        <a:t>Encours comptables</a:t>
                      </a:r>
                    </a:p>
                    <a:p>
                      <a:pPr algn="ctr" fontAlgn="b"/>
                      <a:r>
                        <a:rPr lang="fr-FR" sz="1200" b="0" i="0" u="none" strike="noStrike" dirty="0">
                          <a:solidFill>
                            <a:schemeClr val="tx1"/>
                          </a:solidFill>
                          <a:effectLst/>
                          <a:latin typeface="Calibri" panose="020F0502020204030204" pitchFamily="34" charset="0"/>
                        </a:rPr>
                        <a:t>31/12/2023</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0%</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&lt;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&gt;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ESTER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E3M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E6M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E12M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INFLATION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91262255"/>
                  </a:ext>
                </a:extLst>
              </a:tr>
              <a:tr h="252000">
                <a:tc rowSpan="6">
                  <a:txBody>
                    <a:bodyPr/>
                    <a:lstStyle/>
                    <a:p>
                      <a:pPr marL="0" algn="ctr"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ACTIF</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Prêts interbancaires à vue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2888909"/>
                  </a:ext>
                </a:extLst>
              </a:tr>
              <a:tr h="252000">
                <a:tc vMerge="1">
                  <a:txBody>
                    <a:bodyPr/>
                    <a:lstStyle/>
                    <a:p>
                      <a:pPr marL="0" marR="0" lvl="0" indent="0" algn="l"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050" b="0" i="0" u="none" strike="noStrike" kern="1200" dirty="0">
                          <a:solidFill>
                            <a:schemeClr val="tx1"/>
                          </a:solidFill>
                          <a:effectLst/>
                          <a:latin typeface="Calibri" panose="020F0502020204030204" pitchFamily="34" charset="0"/>
                          <a:ea typeface="+mn-ea"/>
                          <a:cs typeface="+mn-cs"/>
                        </a:rPr>
                        <a:t>Prêts interbancaires à terme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66838987"/>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Créances clientèle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55215801"/>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Créances douteuses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06716452"/>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Titres obligataires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4048221"/>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Appels de marge versés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91758520"/>
                  </a:ext>
                </a:extLst>
              </a:tr>
              <a:tr h="252000">
                <a:tc rowSpan="5">
                  <a:txBody>
                    <a:bodyPr/>
                    <a:lstStyle/>
                    <a:p>
                      <a:pPr marL="0" algn="ctr"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PASSIF</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Emprunts interbancaires à terme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8973982"/>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Appels de marge reçus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55698354"/>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Fonds Mutuel de Garantie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8184482"/>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Emprunts subordonnés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79129456"/>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Titres subordonnés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26662226"/>
                  </a:ext>
                </a:extLst>
              </a:tr>
              <a:tr h="252000">
                <a:tc rowSpan="3">
                  <a:txBody>
                    <a:bodyPr/>
                    <a:lstStyle/>
                    <a:p>
                      <a:pPr algn="ctr" fontAlgn="b"/>
                      <a:r>
                        <a:rPr lang="fr-FR" sz="1050" b="0" i="0" u="none" strike="noStrike" dirty="0">
                          <a:solidFill>
                            <a:schemeClr val="tx1"/>
                          </a:solidFill>
                          <a:effectLst/>
                          <a:latin typeface="Calibri" panose="020F0502020204030204" pitchFamily="34" charset="0"/>
                        </a:rPr>
                        <a:t>SWAPS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fr-FR" sz="1050" b="0" i="0" u="none" strike="noStrike" dirty="0">
                          <a:solidFill>
                            <a:schemeClr val="tx1"/>
                          </a:solidFill>
                          <a:effectLst/>
                          <a:latin typeface="Calibri" panose="020F0502020204030204" pitchFamily="34" charset="0"/>
                        </a:rPr>
                        <a:t>Opérations de macro-couverture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91774571"/>
                  </a:ext>
                </a:extLst>
              </a:tr>
              <a:tr h="252000">
                <a:tc vMerge="1">
                  <a:txBody>
                    <a:bodyPr/>
                    <a:lstStyle/>
                    <a:p>
                      <a:pPr algn="l" fontAlgn="b"/>
                      <a:endParaRPr lang="fr-FR" sz="105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fr-FR" sz="1050" b="0" i="0" u="none" strike="noStrike" dirty="0">
                          <a:solidFill>
                            <a:schemeClr val="tx1"/>
                          </a:solidFill>
                          <a:effectLst/>
                          <a:latin typeface="Calibri" panose="020F0502020204030204" pitchFamily="34" charset="0"/>
                        </a:rPr>
                        <a:t>Opérations de micro-couverture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81871327"/>
                  </a:ext>
                </a:extLst>
              </a:tr>
              <a:tr h="252000">
                <a:tc vMerge="1">
                  <a:txBody>
                    <a:bodyPr/>
                    <a:lstStyle/>
                    <a:p>
                      <a:pPr algn="l" fontAlgn="b"/>
                      <a:endParaRPr lang="fr-FR" sz="105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fr-FR" sz="1050" b="0" i="0" u="none" strike="noStrike" dirty="0">
                          <a:solidFill>
                            <a:schemeClr val="tx1"/>
                          </a:solidFill>
                          <a:effectLst/>
                          <a:latin typeface="Calibri" panose="020F0502020204030204" pitchFamily="34" charset="0"/>
                        </a:rPr>
                        <a:t>Opérations de couverture d’indice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12187579"/>
                  </a:ext>
                </a:extLst>
              </a:tr>
              <a:tr h="252000">
                <a:tc>
                  <a:txBody>
                    <a:bodyPr/>
                    <a:lstStyle/>
                    <a:p>
                      <a:pPr marL="0" algn="ctr" defTabSz="914400" rtl="0" eaLnBrk="1" fontAlgn="b" latinLnBrk="0" hangingPunct="1"/>
                      <a:endParaRPr lang="fr-FR" sz="1050" b="1" i="0" u="none" strike="noStrike" kern="1200" dirty="0">
                        <a:solidFill>
                          <a:srgbClr val="FF0000"/>
                        </a:solidFill>
                        <a:effectLst/>
                        <a:latin typeface="Calibri" panose="020F0502020204030204" pitchFamily="34" charset="0"/>
                        <a:ea typeface="+mn-ea"/>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r>
                        <a:rPr lang="fr-FR" sz="1050" b="1" i="0" u="none" strike="noStrike" kern="1200" dirty="0">
                          <a:solidFill>
                            <a:srgbClr val="FF0000"/>
                          </a:solidFill>
                          <a:effectLst/>
                          <a:latin typeface="Calibri" panose="020F0502020204030204" pitchFamily="34" charset="0"/>
                          <a:ea typeface="+mn-ea"/>
                          <a:cs typeface="+mn-cs"/>
                        </a:rPr>
                        <a:t>TOTAL</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33562492"/>
                  </a:ext>
                </a:extLst>
              </a:tr>
            </a:tbl>
          </a:graphicData>
        </a:graphic>
      </p:graphicFrame>
      <p:sp>
        <p:nvSpPr>
          <p:cNvPr id="2" name="Espace réservé du texte 16">
            <a:extLst>
              <a:ext uri="{FF2B5EF4-FFF2-40B4-BE49-F238E27FC236}">
                <a16:creationId xmlns:a16="http://schemas.microsoft.com/office/drawing/2014/main" id="{A9D8F0D4-3296-2F7A-6A01-68D0ADB4355D}"/>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88481493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AC99E-6978-7278-ABB1-0675CC7BE579}"/>
            </a:ext>
          </a:extLst>
        </p:cNvPr>
        <p:cNvGrpSpPr/>
        <p:nvPr/>
      </p:nvGrpSpPr>
      <p:grpSpPr>
        <a:xfrm>
          <a:off x="0" y="0"/>
          <a:ext cx="0" cy="0"/>
          <a:chOff x="0" y="0"/>
          <a:chExt cx="0" cy="0"/>
        </a:xfrm>
      </p:grpSpPr>
      <p:cxnSp>
        <p:nvCxnSpPr>
          <p:cNvPr id="208" name="Connecteur droit 76">
            <a:extLst>
              <a:ext uri="{FF2B5EF4-FFF2-40B4-BE49-F238E27FC236}">
                <a16:creationId xmlns:a16="http://schemas.microsoft.com/office/drawing/2014/main" id="{240611AE-A2E2-9513-D437-6D8E2A92812C}"/>
              </a:ext>
            </a:extLst>
          </p:cNvPr>
          <p:cNvCxnSpPr>
            <a:cxnSpLocks/>
          </p:cNvCxnSpPr>
          <p:nvPr/>
        </p:nvCxnSpPr>
        <p:spPr>
          <a:xfrm>
            <a:off x="4414537" y="1504376"/>
            <a:ext cx="0" cy="2304000"/>
          </a:xfrm>
          <a:prstGeom prst="line">
            <a:avLst/>
          </a:prstGeom>
        </p:spPr>
        <p:style>
          <a:lnRef idx="3">
            <a:schemeClr val="dk1"/>
          </a:lnRef>
          <a:fillRef idx="0">
            <a:schemeClr val="dk1"/>
          </a:fillRef>
          <a:effectRef idx="2">
            <a:schemeClr val="dk1"/>
          </a:effectRef>
          <a:fontRef idx="minor">
            <a:schemeClr val="tx1"/>
          </a:fontRef>
        </p:style>
      </p:cxnSp>
      <p:grpSp>
        <p:nvGrpSpPr>
          <p:cNvPr id="209" name="Group 208">
            <a:extLst>
              <a:ext uri="{FF2B5EF4-FFF2-40B4-BE49-F238E27FC236}">
                <a16:creationId xmlns:a16="http://schemas.microsoft.com/office/drawing/2014/main" id="{934E87D5-A9FE-01EB-6C8F-AB36901B5B07}"/>
              </a:ext>
            </a:extLst>
          </p:cNvPr>
          <p:cNvGrpSpPr/>
          <p:nvPr/>
        </p:nvGrpSpPr>
        <p:grpSpPr>
          <a:xfrm>
            <a:off x="3716517" y="1540437"/>
            <a:ext cx="651896" cy="2193193"/>
            <a:chOff x="5491495" y="1544132"/>
            <a:chExt cx="651896" cy="2193193"/>
          </a:xfrm>
        </p:grpSpPr>
        <p:grpSp>
          <p:nvGrpSpPr>
            <p:cNvPr id="210" name="Group 209">
              <a:extLst>
                <a:ext uri="{FF2B5EF4-FFF2-40B4-BE49-F238E27FC236}">
                  <a16:creationId xmlns:a16="http://schemas.microsoft.com/office/drawing/2014/main" id="{697D021A-D23D-2573-43DF-B02C12B5F953}"/>
                </a:ext>
              </a:extLst>
            </p:cNvPr>
            <p:cNvGrpSpPr/>
            <p:nvPr/>
          </p:nvGrpSpPr>
          <p:grpSpPr>
            <a:xfrm>
              <a:off x="5491495" y="1544132"/>
              <a:ext cx="651175" cy="2193193"/>
              <a:chOff x="5491495" y="1544132"/>
              <a:chExt cx="651175" cy="2193193"/>
            </a:xfrm>
          </p:grpSpPr>
          <p:grpSp>
            <p:nvGrpSpPr>
              <p:cNvPr id="212" name="Group 211">
                <a:extLst>
                  <a:ext uri="{FF2B5EF4-FFF2-40B4-BE49-F238E27FC236}">
                    <a16:creationId xmlns:a16="http://schemas.microsoft.com/office/drawing/2014/main" id="{C6C426FA-B856-4385-C29F-ED017E98F2FC}"/>
                  </a:ext>
                </a:extLst>
              </p:cNvPr>
              <p:cNvGrpSpPr/>
              <p:nvPr/>
            </p:nvGrpSpPr>
            <p:grpSpPr>
              <a:xfrm>
                <a:off x="5491495" y="1835806"/>
                <a:ext cx="651175" cy="1901519"/>
                <a:chOff x="5490370" y="1542747"/>
                <a:chExt cx="651175" cy="1901519"/>
              </a:xfrm>
            </p:grpSpPr>
            <p:sp>
              <p:nvSpPr>
                <p:cNvPr id="214" name="Rectangle 213">
                  <a:extLst>
                    <a:ext uri="{FF2B5EF4-FFF2-40B4-BE49-F238E27FC236}">
                      <a16:creationId xmlns:a16="http://schemas.microsoft.com/office/drawing/2014/main" id="{6F4EAAEB-6AE4-F138-03DF-B83E698D8D40}"/>
                    </a:ext>
                  </a:extLst>
                </p:cNvPr>
                <p:cNvSpPr/>
                <p:nvPr/>
              </p:nvSpPr>
              <p:spPr>
                <a:xfrm>
                  <a:off x="5490370" y="1542747"/>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a:t>
                  </a:r>
                </a:p>
              </p:txBody>
            </p:sp>
            <p:sp>
              <p:nvSpPr>
                <p:cNvPr id="215" name="Rectangle 214">
                  <a:extLst>
                    <a:ext uri="{FF2B5EF4-FFF2-40B4-BE49-F238E27FC236}">
                      <a16:creationId xmlns:a16="http://schemas.microsoft.com/office/drawing/2014/main" id="{90AE4D27-6713-DAEE-A556-A7822C3D9357}"/>
                    </a:ext>
                  </a:extLst>
                </p:cNvPr>
                <p:cNvSpPr/>
                <p:nvPr/>
              </p:nvSpPr>
              <p:spPr>
                <a:xfrm>
                  <a:off x="5490370" y="1704372"/>
                  <a:ext cx="648000" cy="432000"/>
                </a:xfrm>
                <a:prstGeom prst="rect">
                  <a:avLst/>
                </a:prstGeom>
                <a:solidFill>
                  <a:srgbClr val="92D7CC"/>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EUR</a:t>
                  </a:r>
                </a:p>
              </p:txBody>
            </p:sp>
            <p:sp>
              <p:nvSpPr>
                <p:cNvPr id="216" name="Rectangle 215">
                  <a:extLst>
                    <a:ext uri="{FF2B5EF4-FFF2-40B4-BE49-F238E27FC236}">
                      <a16:creationId xmlns:a16="http://schemas.microsoft.com/office/drawing/2014/main" id="{A10FF9BE-DE75-111E-8DA1-0E4E641E55AC}"/>
                    </a:ext>
                  </a:extLst>
                </p:cNvPr>
                <p:cNvSpPr/>
                <p:nvPr/>
              </p:nvSpPr>
              <p:spPr>
                <a:xfrm>
                  <a:off x="5490370" y="2141453"/>
                  <a:ext cx="648000" cy="648000"/>
                </a:xfrm>
                <a:prstGeom prst="rect">
                  <a:avLst/>
                </a:prstGeom>
                <a:solidFill>
                  <a:srgbClr val="92D7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FR</a:t>
                  </a:r>
                </a:p>
              </p:txBody>
            </p:sp>
            <p:sp>
              <p:nvSpPr>
                <p:cNvPr id="217" name="Rectangle 216">
                  <a:extLst>
                    <a:ext uri="{FF2B5EF4-FFF2-40B4-BE49-F238E27FC236}">
                      <a16:creationId xmlns:a16="http://schemas.microsoft.com/office/drawing/2014/main" id="{B23E6AA3-A175-FDFD-68C7-3A1F1E8435D1}"/>
                    </a:ext>
                  </a:extLst>
                </p:cNvPr>
                <p:cNvSpPr/>
                <p:nvPr/>
              </p:nvSpPr>
              <p:spPr>
                <a:xfrm>
                  <a:off x="5490370" y="2798554"/>
                  <a:ext cx="648000" cy="209365"/>
                </a:xfrm>
                <a:prstGeom prst="rect">
                  <a:avLst/>
                </a:prstGeom>
                <a:solidFill>
                  <a:srgbClr val="C5E0B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E6M</a:t>
                  </a:r>
                </a:p>
              </p:txBody>
            </p:sp>
            <p:sp>
              <p:nvSpPr>
                <p:cNvPr id="218" name="Rectangle 217">
                  <a:extLst>
                    <a:ext uri="{FF2B5EF4-FFF2-40B4-BE49-F238E27FC236}">
                      <a16:creationId xmlns:a16="http://schemas.microsoft.com/office/drawing/2014/main" id="{843D110F-05D2-D5CF-C3BE-57839AE5AA47}"/>
                    </a:ext>
                  </a:extLst>
                </p:cNvPr>
                <p:cNvSpPr/>
                <p:nvPr/>
              </p:nvSpPr>
              <p:spPr>
                <a:xfrm>
                  <a:off x="5493545" y="3274988"/>
                  <a:ext cx="648000" cy="169278"/>
                </a:xfrm>
                <a:prstGeom prst="rect">
                  <a:avLst/>
                </a:prstGeom>
                <a:solidFill>
                  <a:srgbClr val="54823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ESTER</a:t>
                  </a:r>
                </a:p>
              </p:txBody>
            </p:sp>
          </p:grpSp>
          <p:sp>
            <p:nvSpPr>
              <p:cNvPr id="213" name="Rectangle 212">
                <a:extLst>
                  <a:ext uri="{FF2B5EF4-FFF2-40B4-BE49-F238E27FC236}">
                    <a16:creationId xmlns:a16="http://schemas.microsoft.com/office/drawing/2014/main" id="{27389E99-DBB1-1C3D-7FCD-1B6A31941ED9}"/>
                  </a:ext>
                </a:extLst>
              </p:cNvPr>
              <p:cNvSpPr/>
              <p:nvPr/>
            </p:nvSpPr>
            <p:spPr>
              <a:xfrm>
                <a:off x="5491495" y="1544132"/>
                <a:ext cx="648000"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grpSp>
        <p:sp>
          <p:nvSpPr>
            <p:cNvPr id="211" name="Rectangle 210">
              <a:extLst>
                <a:ext uri="{FF2B5EF4-FFF2-40B4-BE49-F238E27FC236}">
                  <a16:creationId xmlns:a16="http://schemas.microsoft.com/office/drawing/2014/main" id="{22C9A613-4457-2DC1-36A7-F0EEDF316A39}"/>
                </a:ext>
              </a:extLst>
            </p:cNvPr>
            <p:cNvSpPr/>
            <p:nvPr/>
          </p:nvSpPr>
          <p:spPr>
            <a:xfrm>
              <a:off x="5495391" y="3312288"/>
              <a:ext cx="648000" cy="245478"/>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grpSp>
      <p:sp>
        <p:nvSpPr>
          <p:cNvPr id="229" name="Rectangle 228">
            <a:extLst>
              <a:ext uri="{FF2B5EF4-FFF2-40B4-BE49-F238E27FC236}">
                <a16:creationId xmlns:a16="http://schemas.microsoft.com/office/drawing/2014/main" id="{976EC300-71E0-9C0C-8C6E-4AA2E310FE50}"/>
              </a:ext>
            </a:extLst>
          </p:cNvPr>
          <p:cNvSpPr/>
          <p:nvPr/>
        </p:nvSpPr>
        <p:spPr>
          <a:xfrm>
            <a:off x="9445371" y="6042814"/>
            <a:ext cx="2532037" cy="728812"/>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2" name="Text Placeholder 1">
            <a:extLst>
              <a:ext uri="{FF2B5EF4-FFF2-40B4-BE49-F238E27FC236}">
                <a16:creationId xmlns:a16="http://schemas.microsoft.com/office/drawing/2014/main" id="{489382AB-6947-36E2-A701-B46384367C14}"/>
              </a:ext>
            </a:extLst>
          </p:cNvPr>
          <p:cNvSpPr>
            <a:spLocks noGrp="1"/>
          </p:cNvSpPr>
          <p:nvPr>
            <p:ph type="body" sz="quarter" idx="11"/>
          </p:nvPr>
        </p:nvSpPr>
        <p:spPr>
          <a:xfrm>
            <a:off x="133843" y="92918"/>
            <a:ext cx="12191999" cy="754597"/>
          </a:xfrm>
        </p:spPr>
        <p:txBody>
          <a:bodyPr/>
          <a:lstStyle/>
          <a:p>
            <a:pPr marL="355600" lvl="1">
              <a:spcBef>
                <a:spcPts val="0"/>
              </a:spcBef>
            </a:pPr>
            <a:r>
              <a:rPr lang="fr-FR" sz="2800" b="1" dirty="0">
                <a:solidFill>
                  <a:schemeClr val="bg1"/>
                </a:solidFill>
                <a:latin typeface="+mn-lt"/>
              </a:rPr>
              <a:t>Analyse des facteurs de sensibilité de la MNI</a:t>
            </a:r>
          </a:p>
          <a:p>
            <a:pPr marL="355600">
              <a:lnSpc>
                <a:spcPct val="100000"/>
              </a:lnSpc>
              <a:spcBef>
                <a:spcPts val="0"/>
              </a:spcBef>
            </a:pPr>
            <a:endParaRPr lang="fr-FR" sz="1400" b="0" dirty="0">
              <a:highlight>
                <a:srgbClr val="EB9A07"/>
              </a:highlight>
            </a:endParaRPr>
          </a:p>
        </p:txBody>
      </p:sp>
      <p:sp>
        <p:nvSpPr>
          <p:cNvPr id="10" name="Rectangle 9">
            <a:extLst>
              <a:ext uri="{FF2B5EF4-FFF2-40B4-BE49-F238E27FC236}">
                <a16:creationId xmlns:a16="http://schemas.microsoft.com/office/drawing/2014/main" id="{E6D8E088-7D3A-42DD-4B4C-925C1808DA7D}"/>
              </a:ext>
            </a:extLst>
          </p:cNvPr>
          <p:cNvSpPr/>
          <p:nvPr/>
        </p:nvSpPr>
        <p:spPr>
          <a:xfrm>
            <a:off x="934999" y="3862335"/>
            <a:ext cx="648000" cy="1800972"/>
          </a:xfrm>
          <a:prstGeom prst="rect">
            <a:avLst/>
          </a:prstGeom>
          <a:solidFill>
            <a:srgbClr val="22A4C8"/>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15" name="Rectangle 14">
            <a:extLst>
              <a:ext uri="{FF2B5EF4-FFF2-40B4-BE49-F238E27FC236}">
                <a16:creationId xmlns:a16="http://schemas.microsoft.com/office/drawing/2014/main" id="{9EFAA44E-0781-8B87-826D-4290F109D616}"/>
              </a:ext>
            </a:extLst>
          </p:cNvPr>
          <p:cNvSpPr/>
          <p:nvPr/>
        </p:nvSpPr>
        <p:spPr>
          <a:xfrm>
            <a:off x="934998" y="1308238"/>
            <a:ext cx="648000" cy="457200"/>
          </a:xfrm>
          <a:prstGeom prst="rect">
            <a:avLst/>
          </a:prstGeom>
          <a:solidFill>
            <a:srgbClr val="22A4C8"/>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17" name="Rectangle 16">
            <a:extLst>
              <a:ext uri="{FF2B5EF4-FFF2-40B4-BE49-F238E27FC236}">
                <a16:creationId xmlns:a16="http://schemas.microsoft.com/office/drawing/2014/main" id="{8DD87BC4-3EE3-18E4-E4DC-00E7D24C07DB}"/>
              </a:ext>
            </a:extLst>
          </p:cNvPr>
          <p:cNvSpPr/>
          <p:nvPr/>
        </p:nvSpPr>
        <p:spPr>
          <a:xfrm>
            <a:off x="934997" y="1981508"/>
            <a:ext cx="648000" cy="420624"/>
          </a:xfrm>
          <a:prstGeom prst="rect">
            <a:avLst/>
          </a:prstGeom>
          <a:solidFill>
            <a:srgbClr val="92D7CC"/>
          </a:solid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EUR</a:t>
            </a:r>
          </a:p>
        </p:txBody>
      </p:sp>
      <p:sp>
        <p:nvSpPr>
          <p:cNvPr id="19" name="Rectangle 18">
            <a:extLst>
              <a:ext uri="{FF2B5EF4-FFF2-40B4-BE49-F238E27FC236}">
                <a16:creationId xmlns:a16="http://schemas.microsoft.com/office/drawing/2014/main" id="{22448C18-DBD4-6647-795C-237D6114D4E9}"/>
              </a:ext>
            </a:extLst>
          </p:cNvPr>
          <p:cNvSpPr/>
          <p:nvPr/>
        </p:nvSpPr>
        <p:spPr>
          <a:xfrm>
            <a:off x="934997" y="2402131"/>
            <a:ext cx="648000" cy="333359"/>
          </a:xfrm>
          <a:prstGeom prst="rect">
            <a:avLst/>
          </a:prstGeom>
          <a:solidFill>
            <a:srgbClr val="92D7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FR</a:t>
            </a:r>
          </a:p>
        </p:txBody>
      </p:sp>
      <p:sp>
        <p:nvSpPr>
          <p:cNvPr id="22" name="Rectangle 21">
            <a:extLst>
              <a:ext uri="{FF2B5EF4-FFF2-40B4-BE49-F238E27FC236}">
                <a16:creationId xmlns:a16="http://schemas.microsoft.com/office/drawing/2014/main" id="{937C9261-96F1-51D6-19FA-915E4E8DAE7C}"/>
              </a:ext>
            </a:extLst>
          </p:cNvPr>
          <p:cNvSpPr/>
          <p:nvPr/>
        </p:nvSpPr>
        <p:spPr>
          <a:xfrm>
            <a:off x="934997" y="2735491"/>
            <a:ext cx="648000" cy="228806"/>
          </a:xfrm>
          <a:prstGeom prst="rect">
            <a:avLst/>
          </a:prstGeom>
          <a:solidFill>
            <a:srgbClr val="C5E0B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E6M</a:t>
            </a:r>
          </a:p>
        </p:txBody>
      </p:sp>
      <p:sp>
        <p:nvSpPr>
          <p:cNvPr id="23" name="Rectangle 22">
            <a:extLst>
              <a:ext uri="{FF2B5EF4-FFF2-40B4-BE49-F238E27FC236}">
                <a16:creationId xmlns:a16="http://schemas.microsoft.com/office/drawing/2014/main" id="{4F24017F-CFF6-19C1-DE6F-EC871340CE9F}"/>
              </a:ext>
            </a:extLst>
          </p:cNvPr>
          <p:cNvSpPr/>
          <p:nvPr/>
        </p:nvSpPr>
        <p:spPr>
          <a:xfrm>
            <a:off x="934997" y="3169012"/>
            <a:ext cx="648000" cy="199134"/>
          </a:xfrm>
          <a:prstGeom prst="rect">
            <a:avLst/>
          </a:prstGeom>
          <a:solidFill>
            <a:srgbClr val="54823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ESTER</a:t>
            </a:r>
          </a:p>
        </p:txBody>
      </p:sp>
      <p:sp>
        <p:nvSpPr>
          <p:cNvPr id="24" name="Rectangle 23">
            <a:extLst>
              <a:ext uri="{FF2B5EF4-FFF2-40B4-BE49-F238E27FC236}">
                <a16:creationId xmlns:a16="http://schemas.microsoft.com/office/drawing/2014/main" id="{585F7552-0808-1FE1-D62E-5DFD2F2AA631}"/>
              </a:ext>
            </a:extLst>
          </p:cNvPr>
          <p:cNvSpPr/>
          <p:nvPr/>
        </p:nvSpPr>
        <p:spPr>
          <a:xfrm>
            <a:off x="934998" y="5656004"/>
            <a:ext cx="648000" cy="288036"/>
          </a:xfrm>
          <a:prstGeom prst="rect">
            <a:avLst/>
          </a:prstGeom>
          <a:solidFill>
            <a:srgbClr val="E7E6E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rPr>
              <a:t>TLEP</a:t>
            </a:r>
          </a:p>
        </p:txBody>
      </p:sp>
      <p:sp>
        <p:nvSpPr>
          <p:cNvPr id="31" name="Rectangle 30">
            <a:extLst>
              <a:ext uri="{FF2B5EF4-FFF2-40B4-BE49-F238E27FC236}">
                <a16:creationId xmlns:a16="http://schemas.microsoft.com/office/drawing/2014/main" id="{325519D5-C841-AAFA-21F3-EDB6827861FE}"/>
              </a:ext>
            </a:extLst>
          </p:cNvPr>
          <p:cNvSpPr/>
          <p:nvPr/>
        </p:nvSpPr>
        <p:spPr>
          <a:xfrm>
            <a:off x="934997" y="3390297"/>
            <a:ext cx="648000" cy="254551"/>
          </a:xfrm>
          <a:prstGeom prst="rect">
            <a:avLst/>
          </a:prstGeom>
          <a:solidFill>
            <a:srgbClr val="92D7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1" i="0" u="none" strike="noStrike" kern="0" cap="none" spc="0" normalizeH="0" baseline="0" noProof="0">
                <a:ln>
                  <a:noFill/>
                </a:ln>
                <a:solidFill>
                  <a:prstClr val="black"/>
                </a:solidFill>
                <a:effectLst/>
                <a:uLnTx/>
                <a:uFillTx/>
                <a:latin typeface="Calibri" panose="020F0502020204030204"/>
                <a:ea typeface="+mn-ea"/>
                <a:cs typeface="+mn-cs"/>
                <a:sym typeface="Arial"/>
              </a:rPr>
              <a:t>INF FR</a:t>
            </a:r>
          </a:p>
        </p:txBody>
      </p:sp>
      <p:sp>
        <p:nvSpPr>
          <p:cNvPr id="32" name="Rectangle 31">
            <a:extLst>
              <a:ext uri="{FF2B5EF4-FFF2-40B4-BE49-F238E27FC236}">
                <a16:creationId xmlns:a16="http://schemas.microsoft.com/office/drawing/2014/main" id="{0E5B18DE-99B9-6221-7EA0-15890D57DAA4}"/>
              </a:ext>
            </a:extLst>
          </p:cNvPr>
          <p:cNvSpPr/>
          <p:nvPr/>
        </p:nvSpPr>
        <p:spPr>
          <a:xfrm>
            <a:off x="934997" y="5950107"/>
            <a:ext cx="648000" cy="377455"/>
          </a:xfrm>
          <a:prstGeom prst="rect">
            <a:avLst/>
          </a:prstGeom>
          <a:pattFill prst="pct50">
            <a:fgClr>
              <a:srgbClr val="115264"/>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1"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rPr>
              <a:t>TF</a:t>
            </a:r>
          </a:p>
        </p:txBody>
      </p:sp>
      <p:sp>
        <p:nvSpPr>
          <p:cNvPr id="33" name="Rectangle 32">
            <a:extLst>
              <a:ext uri="{FF2B5EF4-FFF2-40B4-BE49-F238E27FC236}">
                <a16:creationId xmlns:a16="http://schemas.microsoft.com/office/drawing/2014/main" id="{91D030A1-36F5-2DDD-5EA2-091BC48CA96C}"/>
              </a:ext>
            </a:extLst>
          </p:cNvPr>
          <p:cNvSpPr/>
          <p:nvPr/>
        </p:nvSpPr>
        <p:spPr>
          <a:xfrm>
            <a:off x="936344" y="1745921"/>
            <a:ext cx="648000" cy="228402"/>
          </a:xfrm>
          <a:prstGeom prst="rect">
            <a:avLst/>
          </a:prstGeom>
          <a:solidFill>
            <a:srgbClr val="11526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a:t>
            </a:r>
          </a:p>
        </p:txBody>
      </p:sp>
      <p:sp>
        <p:nvSpPr>
          <p:cNvPr id="34" name="Rectangle 33">
            <a:extLst>
              <a:ext uri="{FF2B5EF4-FFF2-40B4-BE49-F238E27FC236}">
                <a16:creationId xmlns:a16="http://schemas.microsoft.com/office/drawing/2014/main" id="{2DBD8499-D8EE-3B5D-92BC-8F3F0B27525C}"/>
              </a:ext>
            </a:extLst>
          </p:cNvPr>
          <p:cNvSpPr/>
          <p:nvPr/>
        </p:nvSpPr>
        <p:spPr>
          <a:xfrm>
            <a:off x="1868991" y="4075795"/>
            <a:ext cx="648000" cy="1587512"/>
          </a:xfrm>
          <a:prstGeom prst="rect">
            <a:avLst/>
          </a:prstGeom>
          <a:solidFill>
            <a:srgbClr val="22A4C8"/>
          </a:solidFill>
          <a:ln w="38100">
            <a:solidFill>
              <a:srgbClr val="FF0000"/>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35" name="Rectangle 34">
            <a:extLst>
              <a:ext uri="{FF2B5EF4-FFF2-40B4-BE49-F238E27FC236}">
                <a16:creationId xmlns:a16="http://schemas.microsoft.com/office/drawing/2014/main" id="{15A03FD6-B003-8EEB-D34A-A8E051F1ECD6}"/>
              </a:ext>
            </a:extLst>
          </p:cNvPr>
          <p:cNvSpPr/>
          <p:nvPr/>
        </p:nvSpPr>
        <p:spPr>
          <a:xfrm>
            <a:off x="1868198" y="1392333"/>
            <a:ext cx="648000" cy="341386"/>
          </a:xfrm>
          <a:prstGeom prst="rect">
            <a:avLst/>
          </a:prstGeom>
          <a:solidFill>
            <a:srgbClr val="22A4C8"/>
          </a:solidFill>
          <a:ln w="38100">
            <a:solidFill>
              <a:srgbClr val="FF0000"/>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36" name="Rectangle 35">
            <a:extLst>
              <a:ext uri="{FF2B5EF4-FFF2-40B4-BE49-F238E27FC236}">
                <a16:creationId xmlns:a16="http://schemas.microsoft.com/office/drawing/2014/main" id="{B24D5146-9D1B-E94D-BC2F-653B5C250255}"/>
              </a:ext>
            </a:extLst>
          </p:cNvPr>
          <p:cNvSpPr/>
          <p:nvPr/>
        </p:nvSpPr>
        <p:spPr>
          <a:xfrm>
            <a:off x="1868198" y="2029022"/>
            <a:ext cx="648000" cy="341386"/>
          </a:xfrm>
          <a:prstGeom prst="rect">
            <a:avLst/>
          </a:prstGeom>
          <a:solidFill>
            <a:srgbClr val="92D7CC"/>
          </a:solidFill>
          <a:ln w="38100">
            <a:solidFill>
              <a:srgbClr val="FF0000"/>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37" name="Rectangle 36">
            <a:extLst>
              <a:ext uri="{FF2B5EF4-FFF2-40B4-BE49-F238E27FC236}">
                <a16:creationId xmlns:a16="http://schemas.microsoft.com/office/drawing/2014/main" id="{F785EE39-3FCA-1D8F-0AC2-B671AAD67FC0}"/>
              </a:ext>
            </a:extLst>
          </p:cNvPr>
          <p:cNvSpPr/>
          <p:nvPr/>
        </p:nvSpPr>
        <p:spPr>
          <a:xfrm>
            <a:off x="1868198" y="2459014"/>
            <a:ext cx="648000" cy="254121"/>
          </a:xfrm>
          <a:prstGeom prst="rect">
            <a:avLst/>
          </a:prstGeom>
          <a:solidFill>
            <a:srgbClr val="92D7CC"/>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38" name="Rectangle 37">
            <a:extLst>
              <a:ext uri="{FF2B5EF4-FFF2-40B4-BE49-F238E27FC236}">
                <a16:creationId xmlns:a16="http://schemas.microsoft.com/office/drawing/2014/main" id="{848C596D-E2D8-C6DA-42F2-E7C843564B70}"/>
              </a:ext>
            </a:extLst>
          </p:cNvPr>
          <p:cNvSpPr/>
          <p:nvPr/>
        </p:nvSpPr>
        <p:spPr>
          <a:xfrm>
            <a:off x="1868198" y="2828192"/>
            <a:ext cx="648000" cy="133935"/>
          </a:xfrm>
          <a:prstGeom prst="rect">
            <a:avLst/>
          </a:prstGeom>
          <a:solidFill>
            <a:srgbClr val="C5E0B4"/>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39" name="Rectangle 38">
            <a:extLst>
              <a:ext uri="{FF2B5EF4-FFF2-40B4-BE49-F238E27FC236}">
                <a16:creationId xmlns:a16="http://schemas.microsoft.com/office/drawing/2014/main" id="{E8E0A139-2901-91DE-5A2A-33DC85254BB4}"/>
              </a:ext>
            </a:extLst>
          </p:cNvPr>
          <p:cNvSpPr/>
          <p:nvPr/>
        </p:nvSpPr>
        <p:spPr>
          <a:xfrm>
            <a:off x="1868198" y="3244662"/>
            <a:ext cx="648000" cy="145677"/>
          </a:xfrm>
          <a:prstGeom prst="rect">
            <a:avLst/>
          </a:prstGeom>
          <a:solidFill>
            <a:srgbClr val="548235"/>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0" name="Rectangle 39">
            <a:extLst>
              <a:ext uri="{FF2B5EF4-FFF2-40B4-BE49-F238E27FC236}">
                <a16:creationId xmlns:a16="http://schemas.microsoft.com/office/drawing/2014/main" id="{885D0F28-9A29-C027-9E79-EAE9196362AA}"/>
              </a:ext>
            </a:extLst>
          </p:cNvPr>
          <p:cNvSpPr/>
          <p:nvPr/>
        </p:nvSpPr>
        <p:spPr>
          <a:xfrm>
            <a:off x="1868990" y="5753648"/>
            <a:ext cx="648000" cy="190392"/>
          </a:xfrm>
          <a:prstGeom prst="rect">
            <a:avLst/>
          </a:prstGeom>
          <a:solidFill>
            <a:srgbClr val="E7E6E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endParaRPr>
          </a:p>
        </p:txBody>
      </p:sp>
      <p:sp>
        <p:nvSpPr>
          <p:cNvPr id="41" name="Rectangle 40">
            <a:extLst>
              <a:ext uri="{FF2B5EF4-FFF2-40B4-BE49-F238E27FC236}">
                <a16:creationId xmlns:a16="http://schemas.microsoft.com/office/drawing/2014/main" id="{9540EB49-D58D-B73F-8ADE-66EAFD376FEB}"/>
              </a:ext>
            </a:extLst>
          </p:cNvPr>
          <p:cNvSpPr/>
          <p:nvPr/>
        </p:nvSpPr>
        <p:spPr>
          <a:xfrm>
            <a:off x="1868198" y="3436652"/>
            <a:ext cx="648000" cy="190392"/>
          </a:xfrm>
          <a:prstGeom prst="rect">
            <a:avLst/>
          </a:prstGeom>
          <a:solidFill>
            <a:srgbClr val="92D7CC"/>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2" name="Rectangle 41">
            <a:extLst>
              <a:ext uri="{FF2B5EF4-FFF2-40B4-BE49-F238E27FC236}">
                <a16:creationId xmlns:a16="http://schemas.microsoft.com/office/drawing/2014/main" id="{CECFE08B-E36B-CE72-163B-78F38EE31557}"/>
              </a:ext>
            </a:extLst>
          </p:cNvPr>
          <p:cNvSpPr/>
          <p:nvPr/>
        </p:nvSpPr>
        <p:spPr>
          <a:xfrm>
            <a:off x="1867061" y="6132911"/>
            <a:ext cx="612000" cy="190393"/>
          </a:xfrm>
          <a:prstGeom prst="rect">
            <a:avLst/>
          </a:prstGeom>
          <a:pattFill prst="pct50">
            <a:fgClr>
              <a:srgbClr val="115264"/>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4" name="Rectangle 43">
            <a:extLst>
              <a:ext uri="{FF2B5EF4-FFF2-40B4-BE49-F238E27FC236}">
                <a16:creationId xmlns:a16="http://schemas.microsoft.com/office/drawing/2014/main" id="{3101E5A7-A12B-AEE6-34B9-CEC8010B2E0F}"/>
              </a:ext>
            </a:extLst>
          </p:cNvPr>
          <p:cNvSpPr/>
          <p:nvPr/>
        </p:nvSpPr>
        <p:spPr>
          <a:xfrm>
            <a:off x="2746630" y="3862335"/>
            <a:ext cx="648000" cy="213460"/>
          </a:xfrm>
          <a:prstGeom prst="rect">
            <a:avLst/>
          </a:prstGeom>
          <a:solidFill>
            <a:srgbClr val="22A4C8"/>
          </a:solidFill>
          <a:ln w="38100">
            <a:solidFill>
              <a:srgbClr val="FF0000"/>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5" name="Rectangle 44">
            <a:extLst>
              <a:ext uri="{FF2B5EF4-FFF2-40B4-BE49-F238E27FC236}">
                <a16:creationId xmlns:a16="http://schemas.microsoft.com/office/drawing/2014/main" id="{EC77C3E2-675B-2487-D275-135D4200A244}"/>
              </a:ext>
            </a:extLst>
          </p:cNvPr>
          <p:cNvSpPr/>
          <p:nvPr/>
        </p:nvSpPr>
        <p:spPr>
          <a:xfrm>
            <a:off x="2740518" y="1195903"/>
            <a:ext cx="648000" cy="196458"/>
          </a:xfrm>
          <a:prstGeom prst="rect">
            <a:avLst/>
          </a:prstGeom>
          <a:solidFill>
            <a:srgbClr val="22A4C8"/>
          </a:solidFill>
          <a:ln w="38100">
            <a:solidFill>
              <a:srgbClr val="FF0000"/>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6" name="Rectangle 45">
            <a:extLst>
              <a:ext uri="{FF2B5EF4-FFF2-40B4-BE49-F238E27FC236}">
                <a16:creationId xmlns:a16="http://schemas.microsoft.com/office/drawing/2014/main" id="{F160A93D-80D2-5532-0E72-B882EB84095E}"/>
              </a:ext>
            </a:extLst>
          </p:cNvPr>
          <p:cNvSpPr/>
          <p:nvPr/>
        </p:nvSpPr>
        <p:spPr>
          <a:xfrm>
            <a:off x="2740518" y="1906379"/>
            <a:ext cx="648000" cy="159247"/>
          </a:xfrm>
          <a:prstGeom prst="rect">
            <a:avLst/>
          </a:prstGeom>
          <a:solidFill>
            <a:srgbClr val="92D7CC"/>
          </a:solidFill>
          <a:ln w="38100">
            <a:solidFill>
              <a:srgbClr val="FF0000"/>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7" name="Rectangle 46">
            <a:extLst>
              <a:ext uri="{FF2B5EF4-FFF2-40B4-BE49-F238E27FC236}">
                <a16:creationId xmlns:a16="http://schemas.microsoft.com/office/drawing/2014/main" id="{22565AF0-94B9-0C76-B3C1-26BF91F3E000}"/>
              </a:ext>
            </a:extLst>
          </p:cNvPr>
          <p:cNvSpPr/>
          <p:nvPr/>
        </p:nvSpPr>
        <p:spPr>
          <a:xfrm>
            <a:off x="2740518" y="2308318"/>
            <a:ext cx="648000" cy="159247"/>
          </a:xfrm>
          <a:prstGeom prst="rect">
            <a:avLst/>
          </a:prstGeom>
          <a:solidFill>
            <a:srgbClr val="92D7CC"/>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8" name="Rectangle 47">
            <a:extLst>
              <a:ext uri="{FF2B5EF4-FFF2-40B4-BE49-F238E27FC236}">
                <a16:creationId xmlns:a16="http://schemas.microsoft.com/office/drawing/2014/main" id="{D82C5AF4-BD4D-0A24-5423-80C4E81ECF5B}"/>
              </a:ext>
            </a:extLst>
          </p:cNvPr>
          <p:cNvSpPr/>
          <p:nvPr/>
        </p:nvSpPr>
        <p:spPr>
          <a:xfrm>
            <a:off x="2740518" y="2650249"/>
            <a:ext cx="648000" cy="182828"/>
          </a:xfrm>
          <a:prstGeom prst="rect">
            <a:avLst/>
          </a:prstGeom>
          <a:solidFill>
            <a:srgbClr val="C5E0B4"/>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9" name="Rectangle 48">
            <a:extLst>
              <a:ext uri="{FF2B5EF4-FFF2-40B4-BE49-F238E27FC236}">
                <a16:creationId xmlns:a16="http://schemas.microsoft.com/office/drawing/2014/main" id="{70F3FF59-6C43-5BB3-1BB4-F37B0E9BB834}"/>
              </a:ext>
            </a:extLst>
          </p:cNvPr>
          <p:cNvSpPr/>
          <p:nvPr/>
        </p:nvSpPr>
        <p:spPr>
          <a:xfrm>
            <a:off x="2740518" y="3137072"/>
            <a:ext cx="648000" cy="92706"/>
          </a:xfrm>
          <a:prstGeom prst="rect">
            <a:avLst/>
          </a:prstGeom>
          <a:solidFill>
            <a:srgbClr val="548235"/>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50" name="Rectangle 49">
            <a:extLst>
              <a:ext uri="{FF2B5EF4-FFF2-40B4-BE49-F238E27FC236}">
                <a16:creationId xmlns:a16="http://schemas.microsoft.com/office/drawing/2014/main" id="{522399B2-8EED-E3F7-F722-E759EE8F63EC}"/>
              </a:ext>
            </a:extLst>
          </p:cNvPr>
          <p:cNvSpPr/>
          <p:nvPr/>
        </p:nvSpPr>
        <p:spPr>
          <a:xfrm>
            <a:off x="2746629" y="5656004"/>
            <a:ext cx="648000" cy="92706"/>
          </a:xfrm>
          <a:prstGeom prst="rect">
            <a:avLst/>
          </a:prstGeom>
          <a:solidFill>
            <a:srgbClr val="E7E6E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endParaRPr>
          </a:p>
        </p:txBody>
      </p:sp>
      <p:sp>
        <p:nvSpPr>
          <p:cNvPr id="51" name="Rectangle 50">
            <a:extLst>
              <a:ext uri="{FF2B5EF4-FFF2-40B4-BE49-F238E27FC236}">
                <a16:creationId xmlns:a16="http://schemas.microsoft.com/office/drawing/2014/main" id="{77F22F90-F274-B7B9-0FE8-08C9766AC0EE}"/>
              </a:ext>
            </a:extLst>
          </p:cNvPr>
          <p:cNvSpPr/>
          <p:nvPr/>
        </p:nvSpPr>
        <p:spPr>
          <a:xfrm>
            <a:off x="2740518" y="3329250"/>
            <a:ext cx="648000" cy="115876"/>
          </a:xfrm>
          <a:prstGeom prst="rect">
            <a:avLst/>
          </a:prstGeom>
          <a:solidFill>
            <a:srgbClr val="92D7CC"/>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52" name="Rectangle 51">
            <a:extLst>
              <a:ext uri="{FF2B5EF4-FFF2-40B4-BE49-F238E27FC236}">
                <a16:creationId xmlns:a16="http://schemas.microsoft.com/office/drawing/2014/main" id="{1058CEB0-5372-C669-4CD1-8462F3A10636}"/>
              </a:ext>
            </a:extLst>
          </p:cNvPr>
          <p:cNvSpPr/>
          <p:nvPr/>
        </p:nvSpPr>
        <p:spPr>
          <a:xfrm>
            <a:off x="2746628" y="5950108"/>
            <a:ext cx="648000" cy="92706"/>
          </a:xfrm>
          <a:prstGeom prst="rect">
            <a:avLst/>
          </a:prstGeom>
          <a:pattFill prst="pct50">
            <a:fgClr>
              <a:srgbClr val="115264"/>
            </a:fgClr>
            <a:bgClr>
              <a:schemeClr val="bg1"/>
            </a:bgClr>
          </a:patt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54" name="ZoneTexte 54">
            <a:extLst>
              <a:ext uri="{FF2B5EF4-FFF2-40B4-BE49-F238E27FC236}">
                <a16:creationId xmlns:a16="http://schemas.microsoft.com/office/drawing/2014/main" id="{257903D8-42D3-499B-0D42-71D1D1B7F833}"/>
              </a:ext>
            </a:extLst>
          </p:cNvPr>
          <p:cNvSpPr txBox="1"/>
          <p:nvPr/>
        </p:nvSpPr>
        <p:spPr>
          <a:xfrm>
            <a:off x="974795" y="786657"/>
            <a:ext cx="78899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srgbClr val="000000"/>
                </a:solidFill>
                <a:effectLst/>
                <a:uLnTx/>
                <a:uFillTx/>
                <a:latin typeface="Arial"/>
                <a:cs typeface="Arial"/>
                <a:sym typeface="Arial"/>
              </a:rPr>
              <a:t>Bilan par</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srgbClr val="000000"/>
                </a:solidFill>
                <a:effectLst/>
                <a:uLnTx/>
                <a:uFillTx/>
                <a:latin typeface="Arial"/>
                <a:cs typeface="Arial"/>
                <a:sym typeface="Arial"/>
              </a:rPr>
              <a:t>index</a:t>
            </a:r>
          </a:p>
        </p:txBody>
      </p:sp>
      <p:sp>
        <p:nvSpPr>
          <p:cNvPr id="55" name="ZoneTexte 55">
            <a:extLst>
              <a:ext uri="{FF2B5EF4-FFF2-40B4-BE49-F238E27FC236}">
                <a16:creationId xmlns:a16="http://schemas.microsoft.com/office/drawing/2014/main" id="{96E66862-A796-8A7F-1C51-F003423A5DB5}"/>
              </a:ext>
            </a:extLst>
          </p:cNvPr>
          <p:cNvSpPr txBox="1"/>
          <p:nvPr/>
        </p:nvSpPr>
        <p:spPr>
          <a:xfrm>
            <a:off x="1888712" y="786657"/>
            <a:ext cx="635110"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srgbClr val="000000"/>
                </a:solidFill>
                <a:effectLst/>
                <a:uLnTx/>
                <a:uFillTx/>
                <a:latin typeface="Arial"/>
                <a:cs typeface="Arial"/>
                <a:sym typeface="Arial"/>
              </a:rPr>
              <a:t>Stock</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srgbClr val="000000"/>
                </a:solidFill>
                <a:effectLst/>
                <a:uLnTx/>
                <a:uFillTx/>
                <a:latin typeface="Arial"/>
                <a:cs typeface="Arial"/>
                <a:sym typeface="Arial"/>
              </a:rPr>
              <a:t>écoulé</a:t>
            </a:r>
          </a:p>
        </p:txBody>
      </p:sp>
      <p:sp>
        <p:nvSpPr>
          <p:cNvPr id="56" name="ZoneTexte 56">
            <a:extLst>
              <a:ext uri="{FF2B5EF4-FFF2-40B4-BE49-F238E27FC236}">
                <a16:creationId xmlns:a16="http://schemas.microsoft.com/office/drawing/2014/main" id="{C592BFE5-FC16-A96C-116E-B0964294A94B}"/>
              </a:ext>
            </a:extLst>
          </p:cNvPr>
          <p:cNvSpPr txBox="1"/>
          <p:nvPr/>
        </p:nvSpPr>
        <p:spPr>
          <a:xfrm>
            <a:off x="2869186" y="786657"/>
            <a:ext cx="39786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srgbClr val="000000"/>
                </a:solidFill>
                <a:effectLst/>
                <a:uLnTx/>
                <a:uFillTx/>
                <a:latin typeface="Arial"/>
                <a:cs typeface="Arial"/>
                <a:sym typeface="Arial"/>
              </a:rPr>
              <a:t>PN</a:t>
            </a:r>
          </a:p>
        </p:txBody>
      </p:sp>
      <p:sp>
        <p:nvSpPr>
          <p:cNvPr id="60" name="Ellipse 12">
            <a:extLst>
              <a:ext uri="{FF2B5EF4-FFF2-40B4-BE49-F238E27FC236}">
                <a16:creationId xmlns:a16="http://schemas.microsoft.com/office/drawing/2014/main" id="{AA4AD934-EA64-F0D4-68EA-AAC64C2231B0}"/>
              </a:ext>
            </a:extLst>
          </p:cNvPr>
          <p:cNvSpPr/>
          <p:nvPr/>
        </p:nvSpPr>
        <p:spPr>
          <a:xfrm>
            <a:off x="1889063" y="4689551"/>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4</a:t>
            </a:r>
          </a:p>
        </p:txBody>
      </p:sp>
      <p:sp>
        <p:nvSpPr>
          <p:cNvPr id="61" name="Ellipse 13">
            <a:extLst>
              <a:ext uri="{FF2B5EF4-FFF2-40B4-BE49-F238E27FC236}">
                <a16:creationId xmlns:a16="http://schemas.microsoft.com/office/drawing/2014/main" id="{24D1E1E2-6190-4763-40D4-B2E0AF45A769}"/>
              </a:ext>
            </a:extLst>
          </p:cNvPr>
          <p:cNvSpPr/>
          <p:nvPr/>
        </p:nvSpPr>
        <p:spPr>
          <a:xfrm>
            <a:off x="1889063" y="148034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3</a:t>
            </a:r>
          </a:p>
        </p:txBody>
      </p:sp>
      <p:sp>
        <p:nvSpPr>
          <p:cNvPr id="62" name="Ellipse 14">
            <a:extLst>
              <a:ext uri="{FF2B5EF4-FFF2-40B4-BE49-F238E27FC236}">
                <a16:creationId xmlns:a16="http://schemas.microsoft.com/office/drawing/2014/main" id="{E5670092-223C-B536-5EBE-AE438863BC12}"/>
              </a:ext>
            </a:extLst>
          </p:cNvPr>
          <p:cNvSpPr/>
          <p:nvPr/>
        </p:nvSpPr>
        <p:spPr>
          <a:xfrm>
            <a:off x="2740518" y="3873181"/>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4</a:t>
            </a:r>
          </a:p>
        </p:txBody>
      </p:sp>
      <p:sp>
        <p:nvSpPr>
          <p:cNvPr id="63" name="Ellipse 15">
            <a:extLst>
              <a:ext uri="{FF2B5EF4-FFF2-40B4-BE49-F238E27FC236}">
                <a16:creationId xmlns:a16="http://schemas.microsoft.com/office/drawing/2014/main" id="{5D784AC9-D4E9-C80E-91F2-3C1A85F07797}"/>
              </a:ext>
            </a:extLst>
          </p:cNvPr>
          <p:cNvSpPr/>
          <p:nvPr/>
        </p:nvSpPr>
        <p:spPr>
          <a:xfrm>
            <a:off x="2740518" y="119116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3</a:t>
            </a:r>
          </a:p>
        </p:txBody>
      </p:sp>
      <p:sp>
        <p:nvSpPr>
          <p:cNvPr id="68" name="Ellipse 17">
            <a:extLst>
              <a:ext uri="{FF2B5EF4-FFF2-40B4-BE49-F238E27FC236}">
                <a16:creationId xmlns:a16="http://schemas.microsoft.com/office/drawing/2014/main" id="{5DDD77C0-BAA9-06BB-F9B3-7DDAD0660C1C}"/>
              </a:ext>
            </a:extLst>
          </p:cNvPr>
          <p:cNvSpPr/>
          <p:nvPr/>
        </p:nvSpPr>
        <p:spPr>
          <a:xfrm>
            <a:off x="2740518" y="589128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6</a:t>
            </a:r>
          </a:p>
        </p:txBody>
      </p:sp>
      <p:cxnSp>
        <p:nvCxnSpPr>
          <p:cNvPr id="70" name="Connecteur droit 20">
            <a:extLst>
              <a:ext uri="{FF2B5EF4-FFF2-40B4-BE49-F238E27FC236}">
                <a16:creationId xmlns:a16="http://schemas.microsoft.com/office/drawing/2014/main" id="{CCEFEA1D-71CD-9112-8BFB-204C390C6F45}"/>
              </a:ext>
            </a:extLst>
          </p:cNvPr>
          <p:cNvCxnSpPr>
            <a:cxnSpLocks/>
          </p:cNvCxnSpPr>
          <p:nvPr/>
        </p:nvCxnSpPr>
        <p:spPr>
          <a:xfrm>
            <a:off x="3678666" y="1501914"/>
            <a:ext cx="1476000" cy="0"/>
          </a:xfrm>
          <a:prstGeom prst="line">
            <a:avLst/>
          </a:prstGeom>
        </p:spPr>
        <p:style>
          <a:lnRef idx="3">
            <a:schemeClr val="dk1"/>
          </a:lnRef>
          <a:fillRef idx="0">
            <a:schemeClr val="dk1"/>
          </a:fillRef>
          <a:effectRef idx="2">
            <a:schemeClr val="dk1"/>
          </a:effectRef>
          <a:fontRef idx="minor">
            <a:schemeClr val="tx1"/>
          </a:fontRef>
        </p:style>
      </p:cxnSp>
      <p:cxnSp>
        <p:nvCxnSpPr>
          <p:cNvPr id="80" name="Connecteur droit 57">
            <a:extLst>
              <a:ext uri="{FF2B5EF4-FFF2-40B4-BE49-F238E27FC236}">
                <a16:creationId xmlns:a16="http://schemas.microsoft.com/office/drawing/2014/main" id="{86C523C2-7F23-8C3F-6C2A-350F3257AE6C}"/>
              </a:ext>
            </a:extLst>
          </p:cNvPr>
          <p:cNvCxnSpPr>
            <a:cxnSpLocks/>
          </p:cNvCxnSpPr>
          <p:nvPr/>
        </p:nvCxnSpPr>
        <p:spPr>
          <a:xfrm>
            <a:off x="4414537" y="1513216"/>
            <a:ext cx="0" cy="2016000"/>
          </a:xfrm>
          <a:prstGeom prst="line">
            <a:avLst/>
          </a:prstGeom>
        </p:spPr>
        <p:style>
          <a:lnRef idx="3">
            <a:schemeClr val="dk1"/>
          </a:lnRef>
          <a:fillRef idx="0">
            <a:schemeClr val="dk1"/>
          </a:fillRef>
          <a:effectRef idx="2">
            <a:schemeClr val="dk1"/>
          </a:effectRef>
          <a:fontRef idx="minor">
            <a:schemeClr val="tx1"/>
          </a:fontRef>
        </p:style>
      </p:cxnSp>
      <p:sp>
        <p:nvSpPr>
          <p:cNvPr id="84" name="ZoneTexte 62">
            <a:extLst>
              <a:ext uri="{FF2B5EF4-FFF2-40B4-BE49-F238E27FC236}">
                <a16:creationId xmlns:a16="http://schemas.microsoft.com/office/drawing/2014/main" id="{8E6305A1-0631-2999-E564-B53E6B212ADA}"/>
              </a:ext>
            </a:extLst>
          </p:cNvPr>
          <p:cNvSpPr txBox="1"/>
          <p:nvPr/>
        </p:nvSpPr>
        <p:spPr>
          <a:xfrm>
            <a:off x="4243540" y="1735164"/>
            <a:ext cx="117566"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0" cap="none" spc="0" normalizeH="0" baseline="0" noProof="0">
                <a:ln>
                  <a:noFill/>
                </a:ln>
                <a:solidFill>
                  <a:prstClr val="white"/>
                </a:solidFill>
                <a:effectLst/>
                <a:uLnTx/>
                <a:uFillTx/>
                <a:latin typeface="Arial"/>
                <a:cs typeface="Arial"/>
                <a:sym typeface="Arial"/>
              </a:rPr>
              <a:t>-</a:t>
            </a:r>
          </a:p>
        </p:txBody>
      </p:sp>
      <p:sp>
        <p:nvSpPr>
          <p:cNvPr id="91" name="Ellipse 71">
            <a:extLst>
              <a:ext uri="{FF2B5EF4-FFF2-40B4-BE49-F238E27FC236}">
                <a16:creationId xmlns:a16="http://schemas.microsoft.com/office/drawing/2014/main" id="{7DF8510A-E84F-399D-B1B1-DDC01D7E8866}"/>
              </a:ext>
            </a:extLst>
          </p:cNvPr>
          <p:cNvSpPr/>
          <p:nvPr/>
        </p:nvSpPr>
        <p:spPr>
          <a:xfrm>
            <a:off x="4112469" y="152818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3</a:t>
            </a:r>
          </a:p>
        </p:txBody>
      </p:sp>
      <p:grpSp>
        <p:nvGrpSpPr>
          <p:cNvPr id="180" name="Group 179">
            <a:extLst>
              <a:ext uri="{FF2B5EF4-FFF2-40B4-BE49-F238E27FC236}">
                <a16:creationId xmlns:a16="http://schemas.microsoft.com/office/drawing/2014/main" id="{E8C23293-2417-17D0-D7A4-DE5F006911BC}"/>
              </a:ext>
            </a:extLst>
          </p:cNvPr>
          <p:cNvGrpSpPr/>
          <p:nvPr/>
        </p:nvGrpSpPr>
        <p:grpSpPr>
          <a:xfrm>
            <a:off x="4470870" y="1537353"/>
            <a:ext cx="648000" cy="1907776"/>
            <a:chOff x="4470870" y="1537353"/>
            <a:chExt cx="648000" cy="1737290"/>
          </a:xfrm>
        </p:grpSpPr>
        <p:sp>
          <p:nvSpPr>
            <p:cNvPr id="85" name="Rectangle 84">
              <a:extLst>
                <a:ext uri="{FF2B5EF4-FFF2-40B4-BE49-F238E27FC236}">
                  <a16:creationId xmlns:a16="http://schemas.microsoft.com/office/drawing/2014/main" id="{51EA019E-9383-6C26-2512-24BC62C96360}"/>
                </a:ext>
              </a:extLst>
            </p:cNvPr>
            <p:cNvSpPr/>
            <p:nvPr/>
          </p:nvSpPr>
          <p:spPr>
            <a:xfrm>
              <a:off x="4470870" y="1537353"/>
              <a:ext cx="648000" cy="1484887"/>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86" name="Rectangle 85">
              <a:extLst>
                <a:ext uri="{FF2B5EF4-FFF2-40B4-BE49-F238E27FC236}">
                  <a16:creationId xmlns:a16="http://schemas.microsoft.com/office/drawing/2014/main" id="{9D7A6C3A-024E-DA42-2BA1-D1E92F3082E1}"/>
                </a:ext>
              </a:extLst>
            </p:cNvPr>
            <p:cNvSpPr/>
            <p:nvPr/>
          </p:nvSpPr>
          <p:spPr>
            <a:xfrm>
              <a:off x="4470870" y="3034309"/>
              <a:ext cx="648000" cy="240334"/>
            </a:xfrm>
            <a:prstGeom prst="rect">
              <a:avLst/>
            </a:prstGeom>
            <a:solidFill>
              <a:srgbClr val="E7E6E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rPr>
                <a:t>TLEP</a:t>
              </a:r>
            </a:p>
          </p:txBody>
        </p:sp>
        <p:sp>
          <p:nvSpPr>
            <p:cNvPr id="92" name="Ellipse 72">
              <a:extLst>
                <a:ext uri="{FF2B5EF4-FFF2-40B4-BE49-F238E27FC236}">
                  <a16:creationId xmlns:a16="http://schemas.microsoft.com/office/drawing/2014/main" id="{AC8B4E30-FCF2-1B6F-3E53-68908148BEA8}"/>
                </a:ext>
              </a:extLst>
            </p:cNvPr>
            <p:cNvSpPr/>
            <p:nvPr/>
          </p:nvSpPr>
          <p:spPr>
            <a:xfrm>
              <a:off x="4867097" y="157034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4</a:t>
              </a:r>
            </a:p>
          </p:txBody>
        </p:sp>
      </p:grpSp>
      <p:sp>
        <p:nvSpPr>
          <p:cNvPr id="94" name="ZoneTexte 74">
            <a:extLst>
              <a:ext uri="{FF2B5EF4-FFF2-40B4-BE49-F238E27FC236}">
                <a16:creationId xmlns:a16="http://schemas.microsoft.com/office/drawing/2014/main" id="{676C1917-4681-E491-1BA3-DF3D6AA592D5}"/>
              </a:ext>
            </a:extLst>
          </p:cNvPr>
          <p:cNvSpPr txBox="1"/>
          <p:nvPr/>
        </p:nvSpPr>
        <p:spPr>
          <a:xfrm>
            <a:off x="3766144" y="1129935"/>
            <a:ext cx="151996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srgbClr val="000000"/>
                </a:solidFill>
                <a:effectLst/>
                <a:uLnTx/>
                <a:uFillTx/>
                <a:latin typeface="Arial"/>
                <a:cs typeface="Arial"/>
                <a:sym typeface="Arial"/>
              </a:rPr>
              <a:t>Position sur stock</a:t>
            </a:r>
          </a:p>
        </p:txBody>
      </p:sp>
      <p:cxnSp>
        <p:nvCxnSpPr>
          <p:cNvPr id="95" name="Connecteur droit 75">
            <a:extLst>
              <a:ext uri="{FF2B5EF4-FFF2-40B4-BE49-F238E27FC236}">
                <a16:creationId xmlns:a16="http://schemas.microsoft.com/office/drawing/2014/main" id="{B9F7153F-5893-8946-4200-9C3102C101B4}"/>
              </a:ext>
            </a:extLst>
          </p:cNvPr>
          <p:cNvCxnSpPr/>
          <p:nvPr/>
        </p:nvCxnSpPr>
        <p:spPr>
          <a:xfrm>
            <a:off x="5462399" y="1496939"/>
            <a:ext cx="1476000" cy="0"/>
          </a:xfrm>
          <a:prstGeom prst="line">
            <a:avLst/>
          </a:prstGeom>
        </p:spPr>
        <p:style>
          <a:lnRef idx="3">
            <a:schemeClr val="dk1"/>
          </a:lnRef>
          <a:fillRef idx="0">
            <a:schemeClr val="dk1"/>
          </a:fillRef>
          <a:effectRef idx="2">
            <a:schemeClr val="dk1"/>
          </a:effectRef>
          <a:fontRef idx="minor">
            <a:schemeClr val="tx1"/>
          </a:fontRef>
        </p:style>
      </p:cxnSp>
      <p:cxnSp>
        <p:nvCxnSpPr>
          <p:cNvPr id="96" name="Connecteur droit 76">
            <a:extLst>
              <a:ext uri="{FF2B5EF4-FFF2-40B4-BE49-F238E27FC236}">
                <a16:creationId xmlns:a16="http://schemas.microsoft.com/office/drawing/2014/main" id="{9EA19FA2-2D0F-675D-0425-0D8E17576F67}"/>
              </a:ext>
            </a:extLst>
          </p:cNvPr>
          <p:cNvCxnSpPr>
            <a:cxnSpLocks/>
          </p:cNvCxnSpPr>
          <p:nvPr/>
        </p:nvCxnSpPr>
        <p:spPr>
          <a:xfrm>
            <a:off x="6198270" y="1508241"/>
            <a:ext cx="0" cy="2304000"/>
          </a:xfrm>
          <a:prstGeom prst="line">
            <a:avLst/>
          </a:prstGeom>
        </p:spPr>
        <p:style>
          <a:lnRef idx="3">
            <a:schemeClr val="dk1"/>
          </a:lnRef>
          <a:fillRef idx="0">
            <a:schemeClr val="dk1"/>
          </a:fillRef>
          <a:effectRef idx="2">
            <a:schemeClr val="dk1"/>
          </a:effectRef>
          <a:fontRef idx="minor">
            <a:schemeClr val="tx1"/>
          </a:fontRef>
        </p:style>
      </p:cxnSp>
      <p:sp>
        <p:nvSpPr>
          <p:cNvPr id="102" name="ZoneTexte 90">
            <a:extLst>
              <a:ext uri="{FF2B5EF4-FFF2-40B4-BE49-F238E27FC236}">
                <a16:creationId xmlns:a16="http://schemas.microsoft.com/office/drawing/2014/main" id="{DCD3BF4D-C286-A99A-D1C4-302F1E6C18CA}"/>
              </a:ext>
            </a:extLst>
          </p:cNvPr>
          <p:cNvSpPr txBox="1"/>
          <p:nvPr/>
        </p:nvSpPr>
        <p:spPr>
          <a:xfrm>
            <a:off x="5734485" y="1132644"/>
            <a:ext cx="275107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srgbClr val="000000"/>
                </a:solidFill>
                <a:effectLst/>
                <a:uLnTx/>
                <a:uFillTx/>
                <a:latin typeface="Arial"/>
                <a:cs typeface="Arial"/>
                <a:sym typeface="Arial"/>
              </a:rPr>
              <a:t>Position sur stock adossée à l’E3M</a:t>
            </a:r>
          </a:p>
        </p:txBody>
      </p:sp>
      <p:cxnSp>
        <p:nvCxnSpPr>
          <p:cNvPr id="103" name="Connecteur droit 91">
            <a:extLst>
              <a:ext uri="{FF2B5EF4-FFF2-40B4-BE49-F238E27FC236}">
                <a16:creationId xmlns:a16="http://schemas.microsoft.com/office/drawing/2014/main" id="{755C975E-4B25-31CE-12FF-563D76A6FF5E}"/>
              </a:ext>
            </a:extLst>
          </p:cNvPr>
          <p:cNvCxnSpPr/>
          <p:nvPr/>
        </p:nvCxnSpPr>
        <p:spPr>
          <a:xfrm>
            <a:off x="7040486" y="1504546"/>
            <a:ext cx="1476000" cy="0"/>
          </a:xfrm>
          <a:prstGeom prst="line">
            <a:avLst/>
          </a:prstGeom>
        </p:spPr>
        <p:style>
          <a:lnRef idx="3">
            <a:schemeClr val="dk1"/>
          </a:lnRef>
          <a:fillRef idx="0">
            <a:schemeClr val="dk1"/>
          </a:fillRef>
          <a:effectRef idx="2">
            <a:schemeClr val="dk1"/>
          </a:effectRef>
          <a:fontRef idx="minor">
            <a:schemeClr val="tx1"/>
          </a:fontRef>
        </p:style>
      </p:cxnSp>
      <p:cxnSp>
        <p:nvCxnSpPr>
          <p:cNvPr id="104" name="Connecteur droit 92">
            <a:extLst>
              <a:ext uri="{FF2B5EF4-FFF2-40B4-BE49-F238E27FC236}">
                <a16:creationId xmlns:a16="http://schemas.microsoft.com/office/drawing/2014/main" id="{AEB3873F-C4CE-3035-D41B-81F411342475}"/>
              </a:ext>
            </a:extLst>
          </p:cNvPr>
          <p:cNvCxnSpPr>
            <a:cxnSpLocks/>
          </p:cNvCxnSpPr>
          <p:nvPr/>
        </p:nvCxnSpPr>
        <p:spPr>
          <a:xfrm>
            <a:off x="7776357" y="1515848"/>
            <a:ext cx="0" cy="2016000"/>
          </a:xfrm>
          <a:prstGeom prst="line">
            <a:avLst/>
          </a:prstGeom>
        </p:spPr>
        <p:style>
          <a:lnRef idx="3">
            <a:schemeClr val="dk1"/>
          </a:lnRef>
          <a:fillRef idx="0">
            <a:schemeClr val="dk1"/>
          </a:fillRef>
          <a:effectRef idx="2">
            <a:schemeClr val="dk1"/>
          </a:effectRef>
          <a:fontRef idx="minor">
            <a:schemeClr val="tx1"/>
          </a:fontRef>
        </p:style>
      </p:cxnSp>
      <p:grpSp>
        <p:nvGrpSpPr>
          <p:cNvPr id="191" name="Group 190">
            <a:extLst>
              <a:ext uri="{FF2B5EF4-FFF2-40B4-BE49-F238E27FC236}">
                <a16:creationId xmlns:a16="http://schemas.microsoft.com/office/drawing/2014/main" id="{629E8DB2-6ED3-8901-9B5D-57EABBCBB8F4}"/>
              </a:ext>
            </a:extLst>
          </p:cNvPr>
          <p:cNvGrpSpPr/>
          <p:nvPr/>
        </p:nvGrpSpPr>
        <p:grpSpPr>
          <a:xfrm>
            <a:off x="7824228" y="1539985"/>
            <a:ext cx="654350" cy="1905141"/>
            <a:chOff x="7824228" y="1539986"/>
            <a:chExt cx="654350" cy="1740490"/>
          </a:xfrm>
        </p:grpSpPr>
        <p:sp>
          <p:nvSpPr>
            <p:cNvPr id="105" name="Rectangle 104">
              <a:extLst>
                <a:ext uri="{FF2B5EF4-FFF2-40B4-BE49-F238E27FC236}">
                  <a16:creationId xmlns:a16="http://schemas.microsoft.com/office/drawing/2014/main" id="{0E81A34A-DF97-6526-EDE1-D9A71E4E89A1}"/>
                </a:ext>
              </a:extLst>
            </p:cNvPr>
            <p:cNvSpPr/>
            <p:nvPr/>
          </p:nvSpPr>
          <p:spPr>
            <a:xfrm>
              <a:off x="7826340" y="1539986"/>
              <a:ext cx="648000" cy="1482254"/>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106" name="Rectangle 105">
              <a:extLst>
                <a:ext uri="{FF2B5EF4-FFF2-40B4-BE49-F238E27FC236}">
                  <a16:creationId xmlns:a16="http://schemas.microsoft.com/office/drawing/2014/main" id="{D74AC20A-5AF8-DF91-160A-52ECA59D7836}"/>
                </a:ext>
              </a:extLst>
            </p:cNvPr>
            <p:cNvSpPr/>
            <p:nvPr/>
          </p:nvSpPr>
          <p:spPr>
            <a:xfrm>
              <a:off x="7824228" y="3028476"/>
              <a:ext cx="654350" cy="252000"/>
            </a:xfrm>
            <a:prstGeom prst="rect">
              <a:avLst/>
            </a:prstGeom>
            <a:solidFill>
              <a:srgbClr val="E7E6E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rPr>
                <a:t>TLEP</a:t>
              </a:r>
            </a:p>
          </p:txBody>
        </p:sp>
      </p:grpSp>
      <p:sp>
        <p:nvSpPr>
          <p:cNvPr id="107" name="ZoneTexte 110">
            <a:extLst>
              <a:ext uri="{FF2B5EF4-FFF2-40B4-BE49-F238E27FC236}">
                <a16:creationId xmlns:a16="http://schemas.microsoft.com/office/drawing/2014/main" id="{AFE3B623-6489-0ED6-32B8-3E3743EC6C64}"/>
              </a:ext>
            </a:extLst>
          </p:cNvPr>
          <p:cNvSpPr txBox="1"/>
          <p:nvPr/>
        </p:nvSpPr>
        <p:spPr>
          <a:xfrm>
            <a:off x="10543292" y="1031188"/>
            <a:ext cx="929188"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50" b="1" i="0" u="none" strike="noStrike" kern="0" cap="none" spc="0" normalizeH="0" baseline="0" noProof="0">
                <a:ln>
                  <a:noFill/>
                </a:ln>
                <a:solidFill>
                  <a:srgbClr val="000000"/>
                </a:solidFill>
                <a:effectLst/>
                <a:uLnTx/>
                <a:uFillTx/>
                <a:latin typeface="Arial"/>
                <a:cs typeface="Arial"/>
                <a:sym typeface="Arial"/>
              </a:rPr>
              <a:t>A             P</a:t>
            </a:r>
          </a:p>
        </p:txBody>
      </p:sp>
      <p:grpSp>
        <p:nvGrpSpPr>
          <p:cNvPr id="197" name="Group 196">
            <a:extLst>
              <a:ext uri="{FF2B5EF4-FFF2-40B4-BE49-F238E27FC236}">
                <a16:creationId xmlns:a16="http://schemas.microsoft.com/office/drawing/2014/main" id="{327BA95F-4DED-7744-0E36-A24B368ADC43}"/>
              </a:ext>
            </a:extLst>
          </p:cNvPr>
          <p:cNvGrpSpPr/>
          <p:nvPr/>
        </p:nvGrpSpPr>
        <p:grpSpPr>
          <a:xfrm>
            <a:off x="8906425" y="1180415"/>
            <a:ext cx="2680663" cy="3644150"/>
            <a:chOff x="8906425" y="1238471"/>
            <a:chExt cx="2680663" cy="3644150"/>
          </a:xfrm>
        </p:grpSpPr>
        <p:sp>
          <p:nvSpPr>
            <p:cNvPr id="115" name="Rectangle 114">
              <a:extLst>
                <a:ext uri="{FF2B5EF4-FFF2-40B4-BE49-F238E27FC236}">
                  <a16:creationId xmlns:a16="http://schemas.microsoft.com/office/drawing/2014/main" id="{0488293A-D148-0D64-730C-6F3B782AFCDE}"/>
                </a:ext>
              </a:extLst>
            </p:cNvPr>
            <p:cNvSpPr/>
            <p:nvPr/>
          </p:nvSpPr>
          <p:spPr>
            <a:xfrm>
              <a:off x="10266247" y="1279353"/>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a:t>
              </a:r>
            </a:p>
          </p:txBody>
        </p:sp>
        <p:sp>
          <p:nvSpPr>
            <p:cNvPr id="116" name="Rectangle 115">
              <a:extLst>
                <a:ext uri="{FF2B5EF4-FFF2-40B4-BE49-F238E27FC236}">
                  <a16:creationId xmlns:a16="http://schemas.microsoft.com/office/drawing/2014/main" id="{32C2B759-5E42-5659-D9A8-C7FB6BFA5877}"/>
                </a:ext>
              </a:extLst>
            </p:cNvPr>
            <p:cNvSpPr/>
            <p:nvPr/>
          </p:nvSpPr>
          <p:spPr>
            <a:xfrm>
              <a:off x="10936940" y="1279353"/>
              <a:ext cx="648000" cy="145494"/>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7" name="Rectangle 116">
              <a:extLst>
                <a:ext uri="{FF2B5EF4-FFF2-40B4-BE49-F238E27FC236}">
                  <a16:creationId xmlns:a16="http://schemas.microsoft.com/office/drawing/2014/main" id="{69373EAC-28F6-D1E0-1C5C-B9927FADF216}"/>
                </a:ext>
              </a:extLst>
            </p:cNvPr>
            <p:cNvSpPr/>
            <p:nvPr/>
          </p:nvSpPr>
          <p:spPr>
            <a:xfrm>
              <a:off x="10933001" y="4581957"/>
              <a:ext cx="648000" cy="252000"/>
            </a:xfrm>
            <a:prstGeom prst="rect">
              <a:avLst/>
            </a:prstGeom>
            <a:solidFill>
              <a:srgbClr val="E7E6E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rPr>
                <a:t>TLEP</a:t>
              </a:r>
            </a:p>
          </p:txBody>
        </p:sp>
        <p:sp>
          <p:nvSpPr>
            <p:cNvPr id="118" name="Rectangle 117">
              <a:extLst>
                <a:ext uri="{FF2B5EF4-FFF2-40B4-BE49-F238E27FC236}">
                  <a16:creationId xmlns:a16="http://schemas.microsoft.com/office/drawing/2014/main" id="{E6564253-B1C7-1602-A1AB-0811C6618206}"/>
                </a:ext>
              </a:extLst>
            </p:cNvPr>
            <p:cNvSpPr/>
            <p:nvPr/>
          </p:nvSpPr>
          <p:spPr>
            <a:xfrm>
              <a:off x="10273598" y="3293779"/>
              <a:ext cx="648000" cy="1260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9" name="Rectangle 118">
              <a:extLst>
                <a:ext uri="{FF2B5EF4-FFF2-40B4-BE49-F238E27FC236}">
                  <a16:creationId xmlns:a16="http://schemas.microsoft.com/office/drawing/2014/main" id="{718B6D78-7358-8B5F-B65D-2343D45368F5}"/>
                </a:ext>
              </a:extLst>
            </p:cNvPr>
            <p:cNvSpPr/>
            <p:nvPr/>
          </p:nvSpPr>
          <p:spPr>
            <a:xfrm>
              <a:off x="10273598" y="4581957"/>
              <a:ext cx="648000" cy="252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20" name="Rectangle 119">
              <a:extLst>
                <a:ext uri="{FF2B5EF4-FFF2-40B4-BE49-F238E27FC236}">
                  <a16:creationId xmlns:a16="http://schemas.microsoft.com/office/drawing/2014/main" id="{ACE95534-ECFE-1EF7-919C-94CD35BC2474}"/>
                </a:ext>
              </a:extLst>
            </p:cNvPr>
            <p:cNvSpPr/>
            <p:nvPr/>
          </p:nvSpPr>
          <p:spPr>
            <a:xfrm>
              <a:off x="10933001" y="3293779"/>
              <a:ext cx="648000" cy="1260000"/>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121" name="Rectangle 120">
              <a:extLst>
                <a:ext uri="{FF2B5EF4-FFF2-40B4-BE49-F238E27FC236}">
                  <a16:creationId xmlns:a16="http://schemas.microsoft.com/office/drawing/2014/main" id="{D08219D8-1B7D-8211-8988-007A7DF61F8B}"/>
                </a:ext>
              </a:extLst>
            </p:cNvPr>
            <p:cNvSpPr/>
            <p:nvPr/>
          </p:nvSpPr>
          <p:spPr>
            <a:xfrm>
              <a:off x="10273598" y="1453026"/>
              <a:ext cx="648000" cy="432000"/>
            </a:xfrm>
            <a:prstGeom prst="rect">
              <a:avLst/>
            </a:prstGeom>
            <a:solidFill>
              <a:srgbClr val="92D7CC"/>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EUR</a:t>
              </a:r>
            </a:p>
          </p:txBody>
        </p:sp>
        <p:sp>
          <p:nvSpPr>
            <p:cNvPr id="122" name="Rectangle 121">
              <a:extLst>
                <a:ext uri="{FF2B5EF4-FFF2-40B4-BE49-F238E27FC236}">
                  <a16:creationId xmlns:a16="http://schemas.microsoft.com/office/drawing/2014/main" id="{7CE77950-B52C-3BAC-0AC0-44CAD540B7B7}"/>
                </a:ext>
              </a:extLst>
            </p:cNvPr>
            <p:cNvSpPr/>
            <p:nvPr/>
          </p:nvSpPr>
          <p:spPr>
            <a:xfrm>
              <a:off x="10273598" y="1913205"/>
              <a:ext cx="648000" cy="648000"/>
            </a:xfrm>
            <a:prstGeom prst="rect">
              <a:avLst/>
            </a:prstGeom>
            <a:solidFill>
              <a:srgbClr val="92D7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FR</a:t>
              </a:r>
            </a:p>
          </p:txBody>
        </p:sp>
        <p:sp>
          <p:nvSpPr>
            <p:cNvPr id="123" name="Rectangle 122">
              <a:extLst>
                <a:ext uri="{FF2B5EF4-FFF2-40B4-BE49-F238E27FC236}">
                  <a16:creationId xmlns:a16="http://schemas.microsoft.com/office/drawing/2014/main" id="{231F2A11-79E4-9E9C-EA6F-FD101CD6FC25}"/>
                </a:ext>
              </a:extLst>
            </p:cNvPr>
            <p:cNvSpPr/>
            <p:nvPr/>
          </p:nvSpPr>
          <p:spPr>
            <a:xfrm>
              <a:off x="10273598" y="2589384"/>
              <a:ext cx="648000" cy="360000"/>
            </a:xfrm>
            <a:prstGeom prst="rect">
              <a:avLst/>
            </a:prstGeom>
            <a:solidFill>
              <a:srgbClr val="C5E0B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E6M</a:t>
              </a:r>
            </a:p>
          </p:txBody>
        </p:sp>
        <p:sp>
          <p:nvSpPr>
            <p:cNvPr id="124" name="Rectangle 123">
              <a:extLst>
                <a:ext uri="{FF2B5EF4-FFF2-40B4-BE49-F238E27FC236}">
                  <a16:creationId xmlns:a16="http://schemas.microsoft.com/office/drawing/2014/main" id="{C01B4C1C-16A7-8D47-51E3-E69CDACC9B86}"/>
                </a:ext>
              </a:extLst>
            </p:cNvPr>
            <p:cNvSpPr/>
            <p:nvPr/>
          </p:nvSpPr>
          <p:spPr>
            <a:xfrm>
              <a:off x="10273598" y="2977563"/>
              <a:ext cx="648000" cy="288037"/>
            </a:xfrm>
            <a:prstGeom prst="rect">
              <a:avLst/>
            </a:prstGeom>
            <a:solidFill>
              <a:srgbClr val="54823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ESTER</a:t>
              </a:r>
            </a:p>
          </p:txBody>
        </p:sp>
        <p:sp>
          <p:nvSpPr>
            <p:cNvPr id="125" name="Rectangle 124">
              <a:extLst>
                <a:ext uri="{FF2B5EF4-FFF2-40B4-BE49-F238E27FC236}">
                  <a16:creationId xmlns:a16="http://schemas.microsoft.com/office/drawing/2014/main" id="{99EB2FCD-24A8-C73C-9221-56B97C583A63}"/>
                </a:ext>
              </a:extLst>
            </p:cNvPr>
            <p:cNvSpPr/>
            <p:nvPr/>
          </p:nvSpPr>
          <p:spPr>
            <a:xfrm>
              <a:off x="10939088" y="1453026"/>
              <a:ext cx="648000" cy="432000"/>
            </a:xfrm>
            <a:prstGeom prst="rect">
              <a:avLst/>
            </a:prstGeom>
            <a:solidFill>
              <a:srgbClr val="1D7B96"/>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26" name="Rectangle 125">
              <a:extLst>
                <a:ext uri="{FF2B5EF4-FFF2-40B4-BE49-F238E27FC236}">
                  <a16:creationId xmlns:a16="http://schemas.microsoft.com/office/drawing/2014/main" id="{E8D695EE-F5A3-102B-108F-02430A7BB330}"/>
                </a:ext>
              </a:extLst>
            </p:cNvPr>
            <p:cNvSpPr/>
            <p:nvPr/>
          </p:nvSpPr>
          <p:spPr>
            <a:xfrm>
              <a:off x="10936940" y="1913205"/>
              <a:ext cx="648000" cy="648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27" name="Rectangle 126">
              <a:extLst>
                <a:ext uri="{FF2B5EF4-FFF2-40B4-BE49-F238E27FC236}">
                  <a16:creationId xmlns:a16="http://schemas.microsoft.com/office/drawing/2014/main" id="{C4549CD0-3902-87D8-B2DB-6C680615FBF0}"/>
                </a:ext>
              </a:extLst>
            </p:cNvPr>
            <p:cNvSpPr/>
            <p:nvPr/>
          </p:nvSpPr>
          <p:spPr>
            <a:xfrm>
              <a:off x="10936940" y="2589384"/>
              <a:ext cx="648000" cy="360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28" name="Rectangle 127">
              <a:extLst>
                <a:ext uri="{FF2B5EF4-FFF2-40B4-BE49-F238E27FC236}">
                  <a16:creationId xmlns:a16="http://schemas.microsoft.com/office/drawing/2014/main" id="{01852802-1D63-A196-20A4-18B1A816696B}"/>
                </a:ext>
              </a:extLst>
            </p:cNvPr>
            <p:cNvSpPr/>
            <p:nvPr/>
          </p:nvSpPr>
          <p:spPr>
            <a:xfrm>
              <a:off x="10936940" y="2977563"/>
              <a:ext cx="648000" cy="288037"/>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29" name="Ellipse 18">
              <a:extLst>
                <a:ext uri="{FF2B5EF4-FFF2-40B4-BE49-F238E27FC236}">
                  <a16:creationId xmlns:a16="http://schemas.microsoft.com/office/drawing/2014/main" id="{2B56989F-BB6C-536A-BECC-D66F710F99C0}"/>
                </a:ext>
              </a:extLst>
            </p:cNvPr>
            <p:cNvSpPr/>
            <p:nvPr/>
          </p:nvSpPr>
          <p:spPr>
            <a:xfrm>
              <a:off x="10075115" y="1254110"/>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a</a:t>
              </a:r>
            </a:p>
          </p:txBody>
        </p:sp>
        <p:sp>
          <p:nvSpPr>
            <p:cNvPr id="130" name="Ellipse 21">
              <a:extLst>
                <a:ext uri="{FF2B5EF4-FFF2-40B4-BE49-F238E27FC236}">
                  <a16:creationId xmlns:a16="http://schemas.microsoft.com/office/drawing/2014/main" id="{5C76CACB-D830-8FE6-13C9-1E83C87AF6C0}"/>
                </a:ext>
              </a:extLst>
            </p:cNvPr>
            <p:cNvSpPr/>
            <p:nvPr/>
          </p:nvSpPr>
          <p:spPr>
            <a:xfrm>
              <a:off x="10075115" y="156387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b</a:t>
              </a:r>
            </a:p>
          </p:txBody>
        </p:sp>
        <p:sp>
          <p:nvSpPr>
            <p:cNvPr id="131" name="Ellipse 22">
              <a:extLst>
                <a:ext uri="{FF2B5EF4-FFF2-40B4-BE49-F238E27FC236}">
                  <a16:creationId xmlns:a16="http://schemas.microsoft.com/office/drawing/2014/main" id="{07E6FA18-F72A-691D-3E67-100315D071BD}"/>
                </a:ext>
              </a:extLst>
            </p:cNvPr>
            <p:cNvSpPr/>
            <p:nvPr/>
          </p:nvSpPr>
          <p:spPr>
            <a:xfrm>
              <a:off x="10075115" y="2147205"/>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c</a:t>
              </a:r>
            </a:p>
          </p:txBody>
        </p:sp>
        <p:sp>
          <p:nvSpPr>
            <p:cNvPr id="132" name="Ellipse 23">
              <a:extLst>
                <a:ext uri="{FF2B5EF4-FFF2-40B4-BE49-F238E27FC236}">
                  <a16:creationId xmlns:a16="http://schemas.microsoft.com/office/drawing/2014/main" id="{0E3DA2D2-4CF0-E4B7-0AA6-4A4A8ACAAFD3}"/>
                </a:ext>
              </a:extLst>
            </p:cNvPr>
            <p:cNvSpPr/>
            <p:nvPr/>
          </p:nvSpPr>
          <p:spPr>
            <a:xfrm>
              <a:off x="10075115" y="271712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d</a:t>
              </a:r>
            </a:p>
          </p:txBody>
        </p:sp>
        <p:sp>
          <p:nvSpPr>
            <p:cNvPr id="133" name="Ellipse 58">
              <a:extLst>
                <a:ext uri="{FF2B5EF4-FFF2-40B4-BE49-F238E27FC236}">
                  <a16:creationId xmlns:a16="http://schemas.microsoft.com/office/drawing/2014/main" id="{EF2A0884-357C-EBAE-728A-474F80608182}"/>
                </a:ext>
              </a:extLst>
            </p:cNvPr>
            <p:cNvSpPr/>
            <p:nvPr/>
          </p:nvSpPr>
          <p:spPr>
            <a:xfrm>
              <a:off x="10075115" y="3022353"/>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e</a:t>
              </a:r>
            </a:p>
          </p:txBody>
        </p:sp>
        <p:sp>
          <p:nvSpPr>
            <p:cNvPr id="134" name="Ellipse 65">
              <a:extLst>
                <a:ext uri="{FF2B5EF4-FFF2-40B4-BE49-F238E27FC236}">
                  <a16:creationId xmlns:a16="http://schemas.microsoft.com/office/drawing/2014/main" id="{CBAA9987-BD9E-27F3-F58E-E4FCE3ADE70E}"/>
                </a:ext>
              </a:extLst>
            </p:cNvPr>
            <p:cNvSpPr/>
            <p:nvPr/>
          </p:nvSpPr>
          <p:spPr>
            <a:xfrm>
              <a:off x="10075115" y="3840931"/>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f</a:t>
              </a:r>
            </a:p>
          </p:txBody>
        </p:sp>
        <p:sp>
          <p:nvSpPr>
            <p:cNvPr id="135" name="Ellipse 70">
              <a:extLst>
                <a:ext uri="{FF2B5EF4-FFF2-40B4-BE49-F238E27FC236}">
                  <a16:creationId xmlns:a16="http://schemas.microsoft.com/office/drawing/2014/main" id="{6E3528FB-01F2-4205-48B9-86DF771B4F01}"/>
                </a:ext>
              </a:extLst>
            </p:cNvPr>
            <p:cNvSpPr/>
            <p:nvPr/>
          </p:nvSpPr>
          <p:spPr>
            <a:xfrm>
              <a:off x="10075115" y="4640404"/>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g</a:t>
              </a:r>
            </a:p>
          </p:txBody>
        </p:sp>
        <p:sp>
          <p:nvSpPr>
            <p:cNvPr id="136" name="ZoneTexte 78">
              <a:extLst>
                <a:ext uri="{FF2B5EF4-FFF2-40B4-BE49-F238E27FC236}">
                  <a16:creationId xmlns:a16="http://schemas.microsoft.com/office/drawing/2014/main" id="{F5AF3B29-8B4C-E612-322B-49856325C2D4}"/>
                </a:ext>
              </a:extLst>
            </p:cNvPr>
            <p:cNvSpPr txBox="1"/>
            <p:nvPr/>
          </p:nvSpPr>
          <p:spPr>
            <a:xfrm>
              <a:off x="8906425" y="1238471"/>
              <a:ext cx="1005403" cy="25391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err="1">
                  <a:ln>
                    <a:noFill/>
                  </a:ln>
                  <a:solidFill>
                    <a:srgbClr val="000000"/>
                  </a:solidFill>
                  <a:effectLst/>
                  <a:uLnTx/>
                  <a:uFillTx/>
                  <a:latin typeface="Arial"/>
                  <a:cs typeface="Arial"/>
                  <a:sym typeface="Arial"/>
                </a:rPr>
                <a:t>Repricing</a:t>
              </a:r>
              <a:r>
                <a:rPr kumimoji="0" lang="fr-FR" sz="1000" b="1" i="0" u="none" strike="noStrike" kern="0" cap="none" spc="0" normalizeH="0" baseline="0" noProof="0">
                  <a:ln>
                    <a:noFill/>
                  </a:ln>
                  <a:solidFill>
                    <a:srgbClr val="000000"/>
                  </a:solidFill>
                  <a:effectLst/>
                  <a:uLnTx/>
                  <a:uFillTx/>
                  <a:latin typeface="Arial"/>
                  <a:cs typeface="Arial"/>
                  <a:sym typeface="Arial"/>
                </a:rPr>
                <a:t> TF</a:t>
              </a:r>
            </a:p>
          </p:txBody>
        </p:sp>
        <p:sp>
          <p:nvSpPr>
            <p:cNvPr id="137" name="ZoneTexte 79">
              <a:extLst>
                <a:ext uri="{FF2B5EF4-FFF2-40B4-BE49-F238E27FC236}">
                  <a16:creationId xmlns:a16="http://schemas.microsoft.com/office/drawing/2014/main" id="{BB1DD238-9FBF-5A14-C219-155051F5DCDA}"/>
                </a:ext>
              </a:extLst>
            </p:cNvPr>
            <p:cNvSpPr txBox="1"/>
            <p:nvPr/>
          </p:nvSpPr>
          <p:spPr>
            <a:xfrm>
              <a:off x="8906425" y="2626544"/>
              <a:ext cx="112082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base</a:t>
              </a:r>
              <a:br>
                <a:rPr kumimoji="0" lang="fr-FR" sz="1000" b="1" i="0" u="none" strike="noStrike" kern="0" cap="none" spc="0" normalizeH="0" baseline="0" noProof="0">
                  <a:ln>
                    <a:noFill/>
                  </a:ln>
                  <a:solidFill>
                    <a:srgbClr val="000000"/>
                  </a:solidFill>
                  <a:effectLst/>
                  <a:uLnTx/>
                  <a:uFillTx/>
                  <a:latin typeface="Arial"/>
                  <a:cs typeface="Arial"/>
                  <a:sym typeface="Arial"/>
                </a:rPr>
              </a:br>
              <a:r>
                <a:rPr kumimoji="0" lang="fr-FR" sz="1000" b="1" i="0" u="none" strike="noStrike" kern="0" cap="none" spc="0" normalizeH="0" baseline="0" noProof="0">
                  <a:ln>
                    <a:noFill/>
                  </a:ln>
                  <a:solidFill>
                    <a:srgbClr val="000000"/>
                  </a:solidFill>
                  <a:effectLst/>
                  <a:uLnTx/>
                  <a:uFillTx/>
                  <a:latin typeface="Arial"/>
                  <a:cs typeface="Arial"/>
                  <a:sym typeface="Arial"/>
                </a:rPr>
                <a:t>E6M</a:t>
              </a:r>
            </a:p>
          </p:txBody>
        </p:sp>
        <p:sp>
          <p:nvSpPr>
            <p:cNvPr id="138" name="ZoneTexte 80">
              <a:extLst>
                <a:ext uri="{FF2B5EF4-FFF2-40B4-BE49-F238E27FC236}">
                  <a16:creationId xmlns:a16="http://schemas.microsoft.com/office/drawing/2014/main" id="{673FF1D5-C5C3-1854-EEBB-01C594D2CD78}"/>
                </a:ext>
              </a:extLst>
            </p:cNvPr>
            <p:cNvSpPr txBox="1"/>
            <p:nvPr/>
          </p:nvSpPr>
          <p:spPr>
            <a:xfrm>
              <a:off x="8906425" y="2100886"/>
              <a:ext cx="114486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Inflation</a:t>
              </a:r>
              <a:br>
                <a:rPr kumimoji="0" lang="fr-FR" sz="1000" b="1" i="0" u="none" strike="noStrike" kern="0" cap="none" spc="0" normalizeH="0" baseline="0" noProof="0">
                  <a:ln>
                    <a:noFill/>
                  </a:ln>
                  <a:solidFill>
                    <a:srgbClr val="000000"/>
                  </a:solidFill>
                  <a:effectLst/>
                  <a:uLnTx/>
                  <a:uFillTx/>
                  <a:latin typeface="Arial"/>
                  <a:cs typeface="Arial"/>
                  <a:sym typeface="Arial"/>
                </a:rPr>
              </a:br>
              <a:r>
                <a:rPr kumimoji="0" lang="fr-FR" sz="1000" b="1" i="0" u="none" strike="noStrike" kern="0" cap="none" spc="0" normalizeH="0" baseline="0" noProof="0">
                  <a:ln>
                    <a:noFill/>
                  </a:ln>
                  <a:solidFill>
                    <a:srgbClr val="000000"/>
                  </a:solidFill>
                  <a:effectLst/>
                  <a:uLnTx/>
                  <a:uFillTx/>
                  <a:latin typeface="Arial"/>
                  <a:cs typeface="Arial"/>
                  <a:sym typeface="Arial"/>
                </a:rPr>
                <a:t>FR</a:t>
              </a:r>
            </a:p>
          </p:txBody>
        </p:sp>
        <p:sp>
          <p:nvSpPr>
            <p:cNvPr id="139" name="ZoneTexte 81">
              <a:extLst>
                <a:ext uri="{FF2B5EF4-FFF2-40B4-BE49-F238E27FC236}">
                  <a16:creationId xmlns:a16="http://schemas.microsoft.com/office/drawing/2014/main" id="{C0AF2F34-2170-3DD1-8F5D-204E5CB3E690}"/>
                </a:ext>
              </a:extLst>
            </p:cNvPr>
            <p:cNvSpPr txBox="1"/>
            <p:nvPr/>
          </p:nvSpPr>
          <p:spPr>
            <a:xfrm>
              <a:off x="8906425" y="1578325"/>
              <a:ext cx="11801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Inflation </a:t>
              </a:r>
              <a:br>
                <a:rPr kumimoji="0" lang="fr-FR" sz="1000" b="1" i="0" u="none" strike="noStrike" kern="0" cap="none" spc="0" normalizeH="0" baseline="0" noProof="0">
                  <a:ln>
                    <a:noFill/>
                  </a:ln>
                  <a:solidFill>
                    <a:srgbClr val="000000"/>
                  </a:solidFill>
                  <a:effectLst/>
                  <a:uLnTx/>
                  <a:uFillTx/>
                  <a:latin typeface="Arial"/>
                  <a:cs typeface="Arial"/>
                  <a:sym typeface="Arial"/>
                </a:rPr>
              </a:br>
              <a:r>
                <a:rPr kumimoji="0" lang="fr-FR" sz="1000" b="1" i="0" u="none" strike="noStrike" kern="0" cap="none" spc="0" normalizeH="0" baseline="0" noProof="0" err="1">
                  <a:ln>
                    <a:noFill/>
                  </a:ln>
                  <a:solidFill>
                    <a:srgbClr val="000000"/>
                  </a:solidFill>
                  <a:effectLst/>
                  <a:uLnTx/>
                  <a:uFillTx/>
                  <a:latin typeface="Arial"/>
                  <a:cs typeface="Arial"/>
                  <a:sym typeface="Arial"/>
                </a:rPr>
                <a:t>Eur</a:t>
              </a:r>
              <a:endParaRPr kumimoji="0" lang="fr-FR" sz="1000" b="1" i="0" u="none" strike="noStrike" kern="0" cap="none" spc="0" normalizeH="0" baseline="0" noProof="0">
                <a:ln>
                  <a:noFill/>
                </a:ln>
                <a:solidFill>
                  <a:srgbClr val="000000"/>
                </a:solidFill>
                <a:effectLst/>
                <a:uLnTx/>
                <a:uFillTx/>
                <a:latin typeface="Arial"/>
                <a:cs typeface="Arial"/>
                <a:sym typeface="Arial"/>
              </a:endParaRPr>
            </a:p>
          </p:txBody>
        </p:sp>
        <p:sp>
          <p:nvSpPr>
            <p:cNvPr id="140" name="ZoneTexte 82">
              <a:extLst>
                <a:ext uri="{FF2B5EF4-FFF2-40B4-BE49-F238E27FC236}">
                  <a16:creationId xmlns:a16="http://schemas.microsoft.com/office/drawing/2014/main" id="{7537ED65-70B1-A51B-8CB3-8F4E895C4701}"/>
                </a:ext>
              </a:extLst>
            </p:cNvPr>
            <p:cNvSpPr txBox="1"/>
            <p:nvPr/>
          </p:nvSpPr>
          <p:spPr>
            <a:xfrm>
              <a:off x="8906425" y="2970908"/>
              <a:ext cx="112082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base</a:t>
              </a:r>
              <a:br>
                <a:rPr kumimoji="0" lang="fr-FR" sz="1000" b="1" i="0" u="none" strike="noStrike" kern="0" cap="none" spc="0" normalizeH="0" baseline="0" noProof="0">
                  <a:ln>
                    <a:noFill/>
                  </a:ln>
                  <a:solidFill>
                    <a:srgbClr val="000000"/>
                  </a:solidFill>
                  <a:effectLst/>
                  <a:uLnTx/>
                  <a:uFillTx/>
                  <a:latin typeface="Arial"/>
                  <a:cs typeface="Arial"/>
                  <a:sym typeface="Arial"/>
                </a:rPr>
              </a:br>
              <a:r>
                <a:rPr kumimoji="0" lang="fr-FR" sz="1000" b="1" i="0" u="none" strike="noStrike" kern="0" cap="none" spc="0" normalizeH="0" baseline="0" noProof="0">
                  <a:ln>
                    <a:noFill/>
                  </a:ln>
                  <a:solidFill>
                    <a:srgbClr val="000000"/>
                  </a:solidFill>
                  <a:effectLst/>
                  <a:uLnTx/>
                  <a:uFillTx/>
                  <a:latin typeface="Arial"/>
                  <a:cs typeface="Arial"/>
                  <a:sym typeface="Arial"/>
                </a:rPr>
                <a:t>E3M</a:t>
              </a:r>
            </a:p>
          </p:txBody>
        </p:sp>
        <p:sp>
          <p:nvSpPr>
            <p:cNvPr id="141" name="ZoneTexte 87">
              <a:extLst>
                <a:ext uri="{FF2B5EF4-FFF2-40B4-BE49-F238E27FC236}">
                  <a16:creationId xmlns:a16="http://schemas.microsoft.com/office/drawing/2014/main" id="{57B3AAB8-5CBB-9DC0-8D57-2F5E0F11DCF9}"/>
                </a:ext>
              </a:extLst>
            </p:cNvPr>
            <p:cNvSpPr txBox="1"/>
            <p:nvPr/>
          </p:nvSpPr>
          <p:spPr>
            <a:xfrm>
              <a:off x="8906425" y="3818317"/>
              <a:ext cx="112082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taux réglementé</a:t>
              </a:r>
            </a:p>
          </p:txBody>
        </p:sp>
        <p:sp>
          <p:nvSpPr>
            <p:cNvPr id="142" name="ZoneTexte 88">
              <a:extLst>
                <a:ext uri="{FF2B5EF4-FFF2-40B4-BE49-F238E27FC236}">
                  <a16:creationId xmlns:a16="http://schemas.microsoft.com/office/drawing/2014/main" id="{6643C3EF-1583-64DA-EB93-2CF167FF86A4}"/>
                </a:ext>
              </a:extLst>
            </p:cNvPr>
            <p:cNvSpPr txBox="1"/>
            <p:nvPr/>
          </p:nvSpPr>
          <p:spPr>
            <a:xfrm>
              <a:off x="8906425" y="4482511"/>
              <a:ext cx="112082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taux réglementé</a:t>
              </a:r>
            </a:p>
          </p:txBody>
        </p:sp>
      </p:grpSp>
      <p:sp>
        <p:nvSpPr>
          <p:cNvPr id="143" name="ZoneTexte 89">
            <a:extLst>
              <a:ext uri="{FF2B5EF4-FFF2-40B4-BE49-F238E27FC236}">
                <a16:creationId xmlns:a16="http://schemas.microsoft.com/office/drawing/2014/main" id="{4D5FD6D4-6D47-F3CF-D352-98337858E0D3}"/>
              </a:ext>
            </a:extLst>
          </p:cNvPr>
          <p:cNvSpPr txBox="1"/>
          <p:nvPr/>
        </p:nvSpPr>
        <p:spPr>
          <a:xfrm>
            <a:off x="3624268" y="810256"/>
            <a:ext cx="8217212" cy="288000"/>
          </a:xfrm>
          <a:prstGeom prst="rect">
            <a:avLst/>
          </a:prstGeom>
          <a:solidFill>
            <a:schemeClr val="bg1">
              <a:lumMod val="50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prstClr val="white"/>
                </a:solidFill>
                <a:effectLst/>
                <a:uLnTx/>
                <a:uFillTx/>
                <a:latin typeface="Arial"/>
                <a:cs typeface="Arial"/>
                <a:sym typeface="Arial"/>
              </a:rPr>
              <a:t>Décomposition du risque de taux sur le </a:t>
            </a:r>
            <a:r>
              <a:rPr kumimoji="0" lang="fr-FR" sz="1200" b="1" i="0" u="none" strike="noStrike" kern="0" cap="none" spc="0" normalizeH="0" baseline="0" noProof="0">
                <a:ln>
                  <a:noFill/>
                </a:ln>
                <a:solidFill>
                  <a:prstClr val="black"/>
                </a:solidFill>
                <a:effectLst/>
                <a:uLnTx/>
                <a:uFillTx/>
                <a:latin typeface="Arial"/>
                <a:cs typeface="Arial"/>
                <a:sym typeface="Arial"/>
              </a:rPr>
              <a:t>Stock</a:t>
            </a:r>
            <a:r>
              <a:rPr kumimoji="0" lang="fr-FR" sz="1200" b="1" i="0" u="none" strike="noStrike" kern="0" cap="none" spc="0" normalizeH="0" baseline="0" noProof="0">
                <a:ln>
                  <a:noFill/>
                </a:ln>
                <a:solidFill>
                  <a:prstClr val="white"/>
                </a:solidFill>
                <a:effectLst/>
                <a:uLnTx/>
                <a:uFillTx/>
                <a:latin typeface="Arial"/>
                <a:cs typeface="Arial"/>
                <a:sym typeface="Arial"/>
              </a:rPr>
              <a:t> avec introduction du pivot E3M</a:t>
            </a:r>
          </a:p>
        </p:txBody>
      </p:sp>
      <p:sp>
        <p:nvSpPr>
          <p:cNvPr id="147" name="Rectangle 146">
            <a:extLst>
              <a:ext uri="{FF2B5EF4-FFF2-40B4-BE49-F238E27FC236}">
                <a16:creationId xmlns:a16="http://schemas.microsoft.com/office/drawing/2014/main" id="{A8C725DD-924D-A739-A7BF-DC25B2DCC194}"/>
              </a:ext>
            </a:extLst>
          </p:cNvPr>
          <p:cNvSpPr/>
          <p:nvPr/>
        </p:nvSpPr>
        <p:spPr>
          <a:xfrm>
            <a:off x="3620868" y="796472"/>
            <a:ext cx="8217212" cy="457936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167" name="Rectangle 166">
            <a:extLst>
              <a:ext uri="{FF2B5EF4-FFF2-40B4-BE49-F238E27FC236}">
                <a16:creationId xmlns:a16="http://schemas.microsoft.com/office/drawing/2014/main" id="{536DD182-278F-852F-BE35-A9337070B7C2}"/>
              </a:ext>
            </a:extLst>
          </p:cNvPr>
          <p:cNvSpPr/>
          <p:nvPr/>
        </p:nvSpPr>
        <p:spPr>
          <a:xfrm rot="16200000">
            <a:off x="-683833" y="2202905"/>
            <a:ext cx="2086864" cy="288002"/>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rPr>
              <a:t>ACTIF</a:t>
            </a:r>
          </a:p>
        </p:txBody>
      </p:sp>
      <p:sp>
        <p:nvSpPr>
          <p:cNvPr id="168" name="Rectangle 167">
            <a:extLst>
              <a:ext uri="{FF2B5EF4-FFF2-40B4-BE49-F238E27FC236}">
                <a16:creationId xmlns:a16="http://schemas.microsoft.com/office/drawing/2014/main" id="{028594E4-AD37-E038-D911-40761457C4CC}"/>
              </a:ext>
            </a:extLst>
          </p:cNvPr>
          <p:cNvSpPr/>
          <p:nvPr/>
        </p:nvSpPr>
        <p:spPr>
          <a:xfrm rot="16200000">
            <a:off x="-683834" y="4754990"/>
            <a:ext cx="2086864" cy="288002"/>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rPr>
              <a:t>PASSIF</a:t>
            </a:r>
          </a:p>
        </p:txBody>
      </p:sp>
      <p:sp>
        <p:nvSpPr>
          <p:cNvPr id="169" name="Rectangle 168">
            <a:extLst>
              <a:ext uri="{FF2B5EF4-FFF2-40B4-BE49-F238E27FC236}">
                <a16:creationId xmlns:a16="http://schemas.microsoft.com/office/drawing/2014/main" id="{2F41F5B7-D2D0-F7B9-00D9-79571D266B3F}"/>
              </a:ext>
            </a:extLst>
          </p:cNvPr>
          <p:cNvSpPr/>
          <p:nvPr/>
        </p:nvSpPr>
        <p:spPr>
          <a:xfrm rot="16200000">
            <a:off x="174636" y="3431298"/>
            <a:ext cx="369923" cy="288002"/>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900" b="1" i="0" u="none" strike="noStrike" kern="0" cap="none" spc="0" normalizeH="0" baseline="0" noProof="0">
                <a:ln>
                  <a:noFill/>
                </a:ln>
                <a:solidFill>
                  <a:prstClr val="white"/>
                </a:solidFill>
                <a:effectLst/>
                <a:uLnTx/>
                <a:uFillTx/>
                <a:latin typeface="Calibri" panose="020F0502020204030204"/>
                <a:ea typeface="+mn-ea"/>
                <a:cs typeface="+mn-cs"/>
                <a:sym typeface="Arial"/>
              </a:rPr>
              <a:t>HB</a:t>
            </a:r>
          </a:p>
        </p:txBody>
      </p:sp>
      <p:grpSp>
        <p:nvGrpSpPr>
          <p:cNvPr id="196" name="Group 195">
            <a:extLst>
              <a:ext uri="{FF2B5EF4-FFF2-40B4-BE49-F238E27FC236}">
                <a16:creationId xmlns:a16="http://schemas.microsoft.com/office/drawing/2014/main" id="{96131D33-B509-3D4F-3F37-E4503A5589FE}"/>
              </a:ext>
            </a:extLst>
          </p:cNvPr>
          <p:cNvGrpSpPr/>
          <p:nvPr/>
        </p:nvGrpSpPr>
        <p:grpSpPr>
          <a:xfrm>
            <a:off x="3617056" y="5462750"/>
            <a:ext cx="8227412" cy="1115793"/>
            <a:chOff x="3614068" y="4955489"/>
            <a:chExt cx="8227412" cy="1115793"/>
          </a:xfrm>
        </p:grpSpPr>
        <p:sp>
          <p:nvSpPr>
            <p:cNvPr id="144" name="ZoneTexte 93">
              <a:extLst>
                <a:ext uri="{FF2B5EF4-FFF2-40B4-BE49-F238E27FC236}">
                  <a16:creationId xmlns:a16="http://schemas.microsoft.com/office/drawing/2014/main" id="{5751429E-B34A-9032-22E8-61443F62FB62}"/>
                </a:ext>
              </a:extLst>
            </p:cNvPr>
            <p:cNvSpPr txBox="1"/>
            <p:nvPr/>
          </p:nvSpPr>
          <p:spPr>
            <a:xfrm>
              <a:off x="3624268" y="4963972"/>
              <a:ext cx="8217212" cy="288000"/>
            </a:xfrm>
            <a:prstGeom prst="rect">
              <a:avLst/>
            </a:prstGeom>
            <a:solidFill>
              <a:schemeClr val="bg1">
                <a:lumMod val="50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prstClr val="white"/>
                  </a:solidFill>
                  <a:effectLst/>
                  <a:uLnTx/>
                  <a:uFillTx/>
                  <a:latin typeface="Arial"/>
                  <a:cs typeface="Arial"/>
                  <a:sym typeface="Arial"/>
                </a:rPr>
                <a:t>Décomposition du risque de taux sur la </a:t>
              </a:r>
              <a:r>
                <a:rPr kumimoji="0" lang="fr-FR" sz="1200" b="1" i="0" u="none" strike="noStrike" kern="0" cap="none" spc="0" normalizeH="0" baseline="0" noProof="0">
                  <a:ln>
                    <a:noFill/>
                  </a:ln>
                  <a:solidFill>
                    <a:prstClr val="black"/>
                  </a:solidFill>
                  <a:effectLst/>
                  <a:uLnTx/>
                  <a:uFillTx/>
                  <a:latin typeface="Arial"/>
                  <a:cs typeface="Arial"/>
                  <a:sym typeface="Arial"/>
                </a:rPr>
                <a:t>Production Nouvelle à TF</a:t>
              </a:r>
              <a:r>
                <a:rPr kumimoji="0" lang="fr-FR" sz="1200" b="1" i="0" u="none" strike="noStrike" kern="0" cap="none" spc="0" normalizeH="0" baseline="0" noProof="0">
                  <a:ln>
                    <a:noFill/>
                  </a:ln>
                  <a:solidFill>
                    <a:prstClr val="white"/>
                  </a:solidFill>
                  <a:effectLst/>
                  <a:uLnTx/>
                  <a:uFillTx/>
                  <a:latin typeface="Arial"/>
                  <a:cs typeface="Arial"/>
                  <a:sym typeface="Arial"/>
                </a:rPr>
                <a:t> avec introduction du pivot E3M</a:t>
              </a:r>
            </a:p>
          </p:txBody>
        </p:sp>
        <p:cxnSp>
          <p:nvCxnSpPr>
            <p:cNvPr id="145" name="Connecteur droit 96">
              <a:extLst>
                <a:ext uri="{FF2B5EF4-FFF2-40B4-BE49-F238E27FC236}">
                  <a16:creationId xmlns:a16="http://schemas.microsoft.com/office/drawing/2014/main" id="{6F69E51C-A58E-8CEC-CD6F-BD91147C8198}"/>
                </a:ext>
              </a:extLst>
            </p:cNvPr>
            <p:cNvCxnSpPr>
              <a:cxnSpLocks/>
            </p:cNvCxnSpPr>
            <p:nvPr/>
          </p:nvCxnSpPr>
          <p:spPr>
            <a:xfrm>
              <a:off x="3678666" y="5501381"/>
              <a:ext cx="1476000" cy="0"/>
            </a:xfrm>
            <a:prstGeom prst="line">
              <a:avLst/>
            </a:prstGeom>
          </p:spPr>
          <p:style>
            <a:lnRef idx="3">
              <a:schemeClr val="dk1"/>
            </a:lnRef>
            <a:fillRef idx="0">
              <a:schemeClr val="dk1"/>
            </a:fillRef>
            <a:effectRef idx="2">
              <a:schemeClr val="dk1"/>
            </a:effectRef>
            <a:fontRef idx="minor">
              <a:schemeClr val="tx1"/>
            </a:fontRef>
          </p:style>
        </p:cxnSp>
        <p:cxnSp>
          <p:nvCxnSpPr>
            <p:cNvPr id="146" name="Connecteur droit 97">
              <a:extLst>
                <a:ext uri="{FF2B5EF4-FFF2-40B4-BE49-F238E27FC236}">
                  <a16:creationId xmlns:a16="http://schemas.microsoft.com/office/drawing/2014/main" id="{36AAC51D-78CF-7EC2-5D8E-A3A4BCCE0997}"/>
                </a:ext>
              </a:extLst>
            </p:cNvPr>
            <p:cNvCxnSpPr>
              <a:cxnSpLocks/>
            </p:cNvCxnSpPr>
            <p:nvPr/>
          </p:nvCxnSpPr>
          <p:spPr>
            <a:xfrm>
              <a:off x="4414537" y="5501381"/>
              <a:ext cx="0" cy="396000"/>
            </a:xfrm>
            <a:prstGeom prst="line">
              <a:avLst/>
            </a:prstGeom>
          </p:spPr>
          <p:style>
            <a:lnRef idx="3">
              <a:schemeClr val="dk1"/>
            </a:lnRef>
            <a:fillRef idx="0">
              <a:schemeClr val="dk1"/>
            </a:fillRef>
            <a:effectRef idx="2">
              <a:schemeClr val="dk1"/>
            </a:effectRef>
            <a:fontRef idx="minor">
              <a:schemeClr val="tx1"/>
            </a:fontRef>
          </p:style>
        </p:cxnSp>
        <p:sp>
          <p:nvSpPr>
            <p:cNvPr id="148" name="Rectangle 147">
              <a:extLst>
                <a:ext uri="{FF2B5EF4-FFF2-40B4-BE49-F238E27FC236}">
                  <a16:creationId xmlns:a16="http://schemas.microsoft.com/office/drawing/2014/main" id="{866A0E7C-CB82-7BBA-E5C6-FC134249C378}"/>
                </a:ext>
              </a:extLst>
            </p:cNvPr>
            <p:cNvSpPr/>
            <p:nvPr/>
          </p:nvSpPr>
          <p:spPr>
            <a:xfrm>
              <a:off x="3619840" y="4955489"/>
              <a:ext cx="8217212" cy="111579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149" name="Rectangle 148">
              <a:extLst>
                <a:ext uri="{FF2B5EF4-FFF2-40B4-BE49-F238E27FC236}">
                  <a16:creationId xmlns:a16="http://schemas.microsoft.com/office/drawing/2014/main" id="{7087B033-4876-0785-1066-798B6917262E}"/>
                </a:ext>
              </a:extLst>
            </p:cNvPr>
            <p:cNvSpPr/>
            <p:nvPr/>
          </p:nvSpPr>
          <p:spPr>
            <a:xfrm>
              <a:off x="4470870" y="5608252"/>
              <a:ext cx="648000" cy="119541"/>
            </a:xfrm>
            <a:prstGeom prst="rect">
              <a:avLst/>
            </a:prstGeom>
            <a:solidFill>
              <a:srgbClr val="11526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MT</a:t>
              </a:r>
            </a:p>
          </p:txBody>
        </p:sp>
        <p:sp>
          <p:nvSpPr>
            <p:cNvPr id="150" name="Rectangle 149">
              <a:extLst>
                <a:ext uri="{FF2B5EF4-FFF2-40B4-BE49-F238E27FC236}">
                  <a16:creationId xmlns:a16="http://schemas.microsoft.com/office/drawing/2014/main" id="{CE15498F-1BCD-2A37-F0DA-CBE50BB8237D}"/>
                </a:ext>
              </a:extLst>
            </p:cNvPr>
            <p:cNvSpPr/>
            <p:nvPr/>
          </p:nvSpPr>
          <p:spPr>
            <a:xfrm>
              <a:off x="3713581" y="5607767"/>
              <a:ext cx="648000" cy="128807"/>
            </a:xfrm>
            <a:prstGeom prst="rect">
              <a:avLst/>
            </a:prstGeom>
            <a:solidFill>
              <a:srgbClr val="11526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LT</a:t>
              </a:r>
            </a:p>
          </p:txBody>
        </p:sp>
        <p:sp>
          <p:nvSpPr>
            <p:cNvPr id="151" name="ZoneTexte 103">
              <a:extLst>
                <a:ext uri="{FF2B5EF4-FFF2-40B4-BE49-F238E27FC236}">
                  <a16:creationId xmlns:a16="http://schemas.microsoft.com/office/drawing/2014/main" id="{0B45D55B-5210-CCD9-A277-9C57A376B6EF}"/>
                </a:ext>
              </a:extLst>
            </p:cNvPr>
            <p:cNvSpPr txBox="1"/>
            <p:nvPr/>
          </p:nvSpPr>
          <p:spPr>
            <a:xfrm>
              <a:off x="4180635" y="5236450"/>
              <a:ext cx="397866"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srgbClr val="000000"/>
                  </a:solidFill>
                  <a:effectLst/>
                  <a:uLnTx/>
                  <a:uFillTx/>
                  <a:latin typeface="Arial"/>
                  <a:cs typeface="Arial"/>
                  <a:sym typeface="Arial"/>
                </a:rPr>
                <a:t>PN</a:t>
              </a:r>
            </a:p>
          </p:txBody>
        </p:sp>
        <p:sp>
          <p:nvSpPr>
            <p:cNvPr id="152" name="ZoneTexte 104">
              <a:extLst>
                <a:ext uri="{FF2B5EF4-FFF2-40B4-BE49-F238E27FC236}">
                  <a16:creationId xmlns:a16="http://schemas.microsoft.com/office/drawing/2014/main" id="{4B44BEF6-0603-9B98-D407-2A9E1FC7EE6B}"/>
                </a:ext>
              </a:extLst>
            </p:cNvPr>
            <p:cNvSpPr txBox="1"/>
            <p:nvPr/>
          </p:nvSpPr>
          <p:spPr>
            <a:xfrm>
              <a:off x="6226855" y="5236450"/>
              <a:ext cx="162897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srgbClr val="000000"/>
                  </a:solidFill>
                  <a:effectLst/>
                  <a:uLnTx/>
                  <a:uFillTx/>
                  <a:latin typeface="Arial"/>
                  <a:cs typeface="Arial"/>
                  <a:sym typeface="Arial"/>
                </a:rPr>
                <a:t>PN adossée à l’E3M</a:t>
              </a:r>
            </a:p>
          </p:txBody>
        </p:sp>
        <p:cxnSp>
          <p:nvCxnSpPr>
            <p:cNvPr id="153" name="Connecteur droit 105">
              <a:extLst>
                <a:ext uri="{FF2B5EF4-FFF2-40B4-BE49-F238E27FC236}">
                  <a16:creationId xmlns:a16="http://schemas.microsoft.com/office/drawing/2014/main" id="{CFE41F10-0D30-2001-A2B7-0EA2B6B46EDC}"/>
                </a:ext>
              </a:extLst>
            </p:cNvPr>
            <p:cNvCxnSpPr/>
            <p:nvPr/>
          </p:nvCxnSpPr>
          <p:spPr>
            <a:xfrm>
              <a:off x="6130315" y="5509516"/>
              <a:ext cx="1476000" cy="0"/>
            </a:xfrm>
            <a:prstGeom prst="line">
              <a:avLst/>
            </a:prstGeom>
          </p:spPr>
          <p:style>
            <a:lnRef idx="3">
              <a:schemeClr val="dk1"/>
            </a:lnRef>
            <a:fillRef idx="0">
              <a:schemeClr val="dk1"/>
            </a:fillRef>
            <a:effectRef idx="2">
              <a:schemeClr val="dk1"/>
            </a:effectRef>
            <a:fontRef idx="minor">
              <a:schemeClr val="tx1"/>
            </a:fontRef>
          </p:style>
        </p:cxnSp>
        <p:cxnSp>
          <p:nvCxnSpPr>
            <p:cNvPr id="154" name="Connecteur droit 106">
              <a:extLst>
                <a:ext uri="{FF2B5EF4-FFF2-40B4-BE49-F238E27FC236}">
                  <a16:creationId xmlns:a16="http://schemas.microsoft.com/office/drawing/2014/main" id="{59FD8EA5-CF95-F235-7BF0-9D90BFD41C8B}"/>
                </a:ext>
              </a:extLst>
            </p:cNvPr>
            <p:cNvCxnSpPr>
              <a:cxnSpLocks/>
            </p:cNvCxnSpPr>
            <p:nvPr/>
          </p:nvCxnSpPr>
          <p:spPr>
            <a:xfrm>
              <a:off x="6866186" y="5520818"/>
              <a:ext cx="0" cy="396000"/>
            </a:xfrm>
            <a:prstGeom prst="line">
              <a:avLst/>
            </a:prstGeom>
          </p:spPr>
          <p:style>
            <a:lnRef idx="3">
              <a:schemeClr val="dk1"/>
            </a:lnRef>
            <a:fillRef idx="0">
              <a:schemeClr val="dk1"/>
            </a:fillRef>
            <a:effectRef idx="2">
              <a:schemeClr val="dk1"/>
            </a:effectRef>
            <a:fontRef idx="minor">
              <a:schemeClr val="tx1"/>
            </a:fontRef>
          </p:style>
        </p:cxnSp>
        <p:sp>
          <p:nvSpPr>
            <p:cNvPr id="155" name="Rectangle 154">
              <a:extLst>
                <a:ext uri="{FF2B5EF4-FFF2-40B4-BE49-F238E27FC236}">
                  <a16:creationId xmlns:a16="http://schemas.microsoft.com/office/drawing/2014/main" id="{3ADAC9D1-57F2-4047-E15D-002B5AFF3A1C}"/>
                </a:ext>
              </a:extLst>
            </p:cNvPr>
            <p:cNvSpPr/>
            <p:nvPr/>
          </p:nvSpPr>
          <p:spPr>
            <a:xfrm>
              <a:off x="6153858" y="5555324"/>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LT</a:t>
              </a:r>
            </a:p>
          </p:txBody>
        </p:sp>
        <p:sp>
          <p:nvSpPr>
            <p:cNvPr id="156" name="Rectangle 155">
              <a:extLst>
                <a:ext uri="{FF2B5EF4-FFF2-40B4-BE49-F238E27FC236}">
                  <a16:creationId xmlns:a16="http://schemas.microsoft.com/office/drawing/2014/main" id="{B91D9E22-6550-7025-6B05-823F3213E3AB}"/>
                </a:ext>
              </a:extLst>
            </p:cNvPr>
            <p:cNvSpPr/>
            <p:nvPr/>
          </p:nvSpPr>
          <p:spPr>
            <a:xfrm>
              <a:off x="6931366" y="5555324"/>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MT</a:t>
              </a:r>
            </a:p>
          </p:txBody>
        </p:sp>
        <p:sp>
          <p:nvSpPr>
            <p:cNvPr id="157" name="Rectangle 156">
              <a:extLst>
                <a:ext uri="{FF2B5EF4-FFF2-40B4-BE49-F238E27FC236}">
                  <a16:creationId xmlns:a16="http://schemas.microsoft.com/office/drawing/2014/main" id="{2AC49640-89E4-E15B-054B-C70D2AC4A245}"/>
                </a:ext>
              </a:extLst>
            </p:cNvPr>
            <p:cNvSpPr/>
            <p:nvPr/>
          </p:nvSpPr>
          <p:spPr>
            <a:xfrm>
              <a:off x="6931366" y="5728739"/>
              <a:ext cx="648000" cy="91563"/>
            </a:xfrm>
            <a:prstGeom prst="rect">
              <a:avLst/>
            </a:prstGeom>
            <a:solidFill>
              <a:srgbClr val="1D7B96"/>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58" name="Rectangle 157">
              <a:extLst>
                <a:ext uri="{FF2B5EF4-FFF2-40B4-BE49-F238E27FC236}">
                  <a16:creationId xmlns:a16="http://schemas.microsoft.com/office/drawing/2014/main" id="{C368F350-7B2D-6F7E-9105-AE479F27416E}"/>
                </a:ext>
              </a:extLst>
            </p:cNvPr>
            <p:cNvSpPr/>
            <p:nvPr/>
          </p:nvSpPr>
          <p:spPr>
            <a:xfrm>
              <a:off x="6153858" y="5698656"/>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LT</a:t>
              </a:r>
            </a:p>
          </p:txBody>
        </p:sp>
        <p:sp>
          <p:nvSpPr>
            <p:cNvPr id="159" name="Rectangle 158">
              <a:extLst>
                <a:ext uri="{FF2B5EF4-FFF2-40B4-BE49-F238E27FC236}">
                  <a16:creationId xmlns:a16="http://schemas.microsoft.com/office/drawing/2014/main" id="{D08544FC-5DE3-8CC2-FD94-780EA8A97437}"/>
                </a:ext>
              </a:extLst>
            </p:cNvPr>
            <p:cNvSpPr/>
            <p:nvPr/>
          </p:nvSpPr>
          <p:spPr>
            <a:xfrm>
              <a:off x="10273598" y="5480156"/>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LT</a:t>
              </a:r>
            </a:p>
          </p:txBody>
        </p:sp>
        <p:sp>
          <p:nvSpPr>
            <p:cNvPr id="160" name="Rectangle 159">
              <a:extLst>
                <a:ext uri="{FF2B5EF4-FFF2-40B4-BE49-F238E27FC236}">
                  <a16:creationId xmlns:a16="http://schemas.microsoft.com/office/drawing/2014/main" id="{729EF432-079B-E52F-E8CE-BA0EEABB5957}"/>
                </a:ext>
              </a:extLst>
            </p:cNvPr>
            <p:cNvSpPr/>
            <p:nvPr/>
          </p:nvSpPr>
          <p:spPr>
            <a:xfrm>
              <a:off x="10933001" y="5480156"/>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MT</a:t>
              </a:r>
            </a:p>
          </p:txBody>
        </p:sp>
        <p:sp>
          <p:nvSpPr>
            <p:cNvPr id="161" name="Ellipse 148">
              <a:extLst>
                <a:ext uri="{FF2B5EF4-FFF2-40B4-BE49-F238E27FC236}">
                  <a16:creationId xmlns:a16="http://schemas.microsoft.com/office/drawing/2014/main" id="{91D28C72-DB95-1EBF-CEE9-C28669D3A2B5}"/>
                </a:ext>
              </a:extLst>
            </p:cNvPr>
            <p:cNvSpPr/>
            <p:nvPr/>
          </p:nvSpPr>
          <p:spPr>
            <a:xfrm>
              <a:off x="10074578" y="5463090"/>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j</a:t>
              </a:r>
            </a:p>
          </p:txBody>
        </p:sp>
        <p:sp>
          <p:nvSpPr>
            <p:cNvPr id="162" name="ZoneTexte 149">
              <a:extLst>
                <a:ext uri="{FF2B5EF4-FFF2-40B4-BE49-F238E27FC236}">
                  <a16:creationId xmlns:a16="http://schemas.microsoft.com/office/drawing/2014/main" id="{01C07903-8C06-0D46-4341-D43A318E76FF}"/>
                </a:ext>
              </a:extLst>
            </p:cNvPr>
            <p:cNvSpPr txBox="1"/>
            <p:nvPr/>
          </p:nvSpPr>
          <p:spPr>
            <a:xfrm>
              <a:off x="8906425" y="5430340"/>
              <a:ext cx="120054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pente</a:t>
              </a:r>
            </a:p>
          </p:txBody>
        </p:sp>
        <p:sp>
          <p:nvSpPr>
            <p:cNvPr id="163" name="Rectangle 162">
              <a:extLst>
                <a:ext uri="{FF2B5EF4-FFF2-40B4-BE49-F238E27FC236}">
                  <a16:creationId xmlns:a16="http://schemas.microsoft.com/office/drawing/2014/main" id="{34EE3C54-3B08-3B0D-68A6-629080FD63B5}"/>
                </a:ext>
              </a:extLst>
            </p:cNvPr>
            <p:cNvSpPr/>
            <p:nvPr/>
          </p:nvSpPr>
          <p:spPr>
            <a:xfrm>
              <a:off x="10273598" y="5734337"/>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LT</a:t>
              </a:r>
            </a:p>
          </p:txBody>
        </p:sp>
        <p:sp>
          <p:nvSpPr>
            <p:cNvPr id="164" name="Rectangle 163">
              <a:extLst>
                <a:ext uri="{FF2B5EF4-FFF2-40B4-BE49-F238E27FC236}">
                  <a16:creationId xmlns:a16="http://schemas.microsoft.com/office/drawing/2014/main" id="{E0F3F353-819B-B453-0C3B-2B5FD35CE749}"/>
                </a:ext>
              </a:extLst>
            </p:cNvPr>
            <p:cNvSpPr/>
            <p:nvPr/>
          </p:nvSpPr>
          <p:spPr>
            <a:xfrm>
              <a:off x="10933001" y="5734337"/>
              <a:ext cx="648000" cy="145494"/>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65" name="Ellipse 152">
              <a:extLst>
                <a:ext uri="{FF2B5EF4-FFF2-40B4-BE49-F238E27FC236}">
                  <a16:creationId xmlns:a16="http://schemas.microsoft.com/office/drawing/2014/main" id="{252B9908-F9BC-A864-E6D8-74C36BE9A388}"/>
                </a:ext>
              </a:extLst>
            </p:cNvPr>
            <p:cNvSpPr/>
            <p:nvPr/>
          </p:nvSpPr>
          <p:spPr>
            <a:xfrm>
              <a:off x="10069019" y="5717271"/>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k</a:t>
              </a:r>
            </a:p>
          </p:txBody>
        </p:sp>
        <p:sp>
          <p:nvSpPr>
            <p:cNvPr id="166" name="ZoneTexte 153">
              <a:extLst>
                <a:ext uri="{FF2B5EF4-FFF2-40B4-BE49-F238E27FC236}">
                  <a16:creationId xmlns:a16="http://schemas.microsoft.com/office/drawing/2014/main" id="{12419F94-D5DC-3E05-D981-5384905AD155}"/>
                </a:ext>
              </a:extLst>
            </p:cNvPr>
            <p:cNvSpPr txBox="1"/>
            <p:nvPr/>
          </p:nvSpPr>
          <p:spPr>
            <a:xfrm>
              <a:off x="8906425" y="5684521"/>
              <a:ext cx="120054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Repricing TF</a:t>
              </a:r>
            </a:p>
          </p:txBody>
        </p:sp>
        <p:sp>
          <p:nvSpPr>
            <p:cNvPr id="171" name="Ellipse 100">
              <a:extLst>
                <a:ext uri="{FF2B5EF4-FFF2-40B4-BE49-F238E27FC236}">
                  <a16:creationId xmlns:a16="http://schemas.microsoft.com/office/drawing/2014/main" id="{24341F0D-7617-4FE9-FB71-FC479D958E7E}"/>
                </a:ext>
              </a:extLst>
            </p:cNvPr>
            <p:cNvSpPr/>
            <p:nvPr/>
          </p:nvSpPr>
          <p:spPr>
            <a:xfrm>
              <a:off x="5036530" y="5582858"/>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6</a:t>
              </a:r>
            </a:p>
          </p:txBody>
        </p:sp>
        <p:sp>
          <p:nvSpPr>
            <p:cNvPr id="172" name="Ellipse 108">
              <a:extLst>
                <a:ext uri="{FF2B5EF4-FFF2-40B4-BE49-F238E27FC236}">
                  <a16:creationId xmlns:a16="http://schemas.microsoft.com/office/drawing/2014/main" id="{7344FB7D-5ABF-206A-91BD-A6DE8AD1E8E9}"/>
                </a:ext>
              </a:extLst>
            </p:cNvPr>
            <p:cNvSpPr/>
            <p:nvPr/>
          </p:nvSpPr>
          <p:spPr>
            <a:xfrm>
              <a:off x="3614068" y="557389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5</a:t>
              </a:r>
            </a:p>
          </p:txBody>
        </p:sp>
      </p:grpSp>
      <p:grpSp>
        <p:nvGrpSpPr>
          <p:cNvPr id="193" name="Group 192">
            <a:extLst>
              <a:ext uri="{FF2B5EF4-FFF2-40B4-BE49-F238E27FC236}">
                <a16:creationId xmlns:a16="http://schemas.microsoft.com/office/drawing/2014/main" id="{0DDD921B-A000-FEBE-ED66-471468984272}"/>
              </a:ext>
            </a:extLst>
          </p:cNvPr>
          <p:cNvGrpSpPr/>
          <p:nvPr/>
        </p:nvGrpSpPr>
        <p:grpSpPr>
          <a:xfrm>
            <a:off x="7061408" y="1537726"/>
            <a:ext cx="684000" cy="1909171"/>
            <a:chOff x="7061408" y="1537726"/>
            <a:chExt cx="684000" cy="1909171"/>
          </a:xfrm>
        </p:grpSpPr>
        <p:sp>
          <p:nvSpPr>
            <p:cNvPr id="113" name="Rectangle 112">
              <a:extLst>
                <a:ext uri="{FF2B5EF4-FFF2-40B4-BE49-F238E27FC236}">
                  <a16:creationId xmlns:a16="http://schemas.microsoft.com/office/drawing/2014/main" id="{6752727B-BF57-690A-AEBF-EFDC409BAFDB}"/>
                </a:ext>
              </a:extLst>
            </p:cNvPr>
            <p:cNvSpPr/>
            <p:nvPr/>
          </p:nvSpPr>
          <p:spPr>
            <a:xfrm>
              <a:off x="7061408" y="1819297"/>
              <a:ext cx="684000" cy="1371908"/>
            </a:xfrm>
            <a:prstGeom prst="rect">
              <a:avLst/>
            </a:prstGeom>
            <a:solidFill>
              <a:srgbClr val="1D7B96"/>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4" name="Rectangle 113">
              <a:extLst>
                <a:ext uri="{FF2B5EF4-FFF2-40B4-BE49-F238E27FC236}">
                  <a16:creationId xmlns:a16="http://schemas.microsoft.com/office/drawing/2014/main" id="{4FF49A40-7A5B-6E17-EAD5-7812E137CB79}"/>
                </a:ext>
              </a:extLst>
            </p:cNvPr>
            <p:cNvSpPr/>
            <p:nvPr/>
          </p:nvSpPr>
          <p:spPr>
            <a:xfrm>
              <a:off x="7061408" y="3194897"/>
              <a:ext cx="684000" cy="252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92" name="Rectangle 191">
              <a:extLst>
                <a:ext uri="{FF2B5EF4-FFF2-40B4-BE49-F238E27FC236}">
                  <a16:creationId xmlns:a16="http://schemas.microsoft.com/office/drawing/2014/main" id="{1DBA6EDE-819C-004F-CC98-BD93BAEEC1DA}"/>
                </a:ext>
              </a:extLst>
            </p:cNvPr>
            <p:cNvSpPr/>
            <p:nvPr/>
          </p:nvSpPr>
          <p:spPr>
            <a:xfrm>
              <a:off x="7061408" y="1537726"/>
              <a:ext cx="684000"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grpSp>
      <p:grpSp>
        <p:nvGrpSpPr>
          <p:cNvPr id="200" name="Group 199">
            <a:extLst>
              <a:ext uri="{FF2B5EF4-FFF2-40B4-BE49-F238E27FC236}">
                <a16:creationId xmlns:a16="http://schemas.microsoft.com/office/drawing/2014/main" id="{0A6C7850-AEA1-74C9-898C-2DE517B8992C}"/>
              </a:ext>
            </a:extLst>
          </p:cNvPr>
          <p:cNvGrpSpPr/>
          <p:nvPr/>
        </p:nvGrpSpPr>
        <p:grpSpPr>
          <a:xfrm>
            <a:off x="10273598" y="4798055"/>
            <a:ext cx="1305993" cy="276999"/>
            <a:chOff x="10285001" y="4796016"/>
            <a:chExt cx="1305993" cy="276999"/>
          </a:xfrm>
        </p:grpSpPr>
        <p:sp>
          <p:nvSpPr>
            <p:cNvPr id="198" name="Rectangle 197">
              <a:extLst>
                <a:ext uri="{FF2B5EF4-FFF2-40B4-BE49-F238E27FC236}">
                  <a16:creationId xmlns:a16="http://schemas.microsoft.com/office/drawing/2014/main" id="{BA76627B-C480-3FB7-AE56-36DD9662394C}"/>
                </a:ext>
              </a:extLst>
            </p:cNvPr>
            <p:cNvSpPr/>
            <p:nvPr/>
          </p:nvSpPr>
          <p:spPr>
            <a:xfrm>
              <a:off x="10285001" y="4796016"/>
              <a:ext cx="648000"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199" name="Rectangle 198">
              <a:extLst>
                <a:ext uri="{FF2B5EF4-FFF2-40B4-BE49-F238E27FC236}">
                  <a16:creationId xmlns:a16="http://schemas.microsoft.com/office/drawing/2014/main" id="{98468391-7857-99C5-14EB-50F601B2DED7}"/>
                </a:ext>
              </a:extLst>
            </p:cNvPr>
            <p:cNvSpPr/>
            <p:nvPr/>
          </p:nvSpPr>
          <p:spPr>
            <a:xfrm>
              <a:off x="10942994" y="4796016"/>
              <a:ext cx="648000"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grpSp>
      <p:sp>
        <p:nvSpPr>
          <p:cNvPr id="201" name="ZoneTexte 88">
            <a:extLst>
              <a:ext uri="{FF2B5EF4-FFF2-40B4-BE49-F238E27FC236}">
                <a16:creationId xmlns:a16="http://schemas.microsoft.com/office/drawing/2014/main" id="{4AC9C2DB-840D-30BD-E9A3-C9C2442E35A9}"/>
              </a:ext>
            </a:extLst>
          </p:cNvPr>
          <p:cNvSpPr txBox="1"/>
          <p:nvPr/>
        </p:nvSpPr>
        <p:spPr>
          <a:xfrm>
            <a:off x="8610600" y="4856696"/>
            <a:ext cx="145141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fixing TLA</a:t>
            </a:r>
          </a:p>
        </p:txBody>
      </p:sp>
      <p:sp>
        <p:nvSpPr>
          <p:cNvPr id="202" name="Ellipse 70">
            <a:extLst>
              <a:ext uri="{FF2B5EF4-FFF2-40B4-BE49-F238E27FC236}">
                <a16:creationId xmlns:a16="http://schemas.microsoft.com/office/drawing/2014/main" id="{147E0FFC-BE28-BE8B-E551-BE2FA9832E98}"/>
              </a:ext>
            </a:extLst>
          </p:cNvPr>
          <p:cNvSpPr/>
          <p:nvPr/>
        </p:nvSpPr>
        <p:spPr>
          <a:xfrm>
            <a:off x="10072007" y="4858906"/>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h</a:t>
            </a:r>
          </a:p>
        </p:txBody>
      </p:sp>
      <p:grpSp>
        <p:nvGrpSpPr>
          <p:cNvPr id="230" name="Group 229">
            <a:extLst>
              <a:ext uri="{FF2B5EF4-FFF2-40B4-BE49-F238E27FC236}">
                <a16:creationId xmlns:a16="http://schemas.microsoft.com/office/drawing/2014/main" id="{AC606118-4C40-93FF-F77D-C277602DAE8F}"/>
              </a:ext>
            </a:extLst>
          </p:cNvPr>
          <p:cNvGrpSpPr/>
          <p:nvPr/>
        </p:nvGrpSpPr>
        <p:grpSpPr>
          <a:xfrm>
            <a:off x="10273598" y="5092939"/>
            <a:ext cx="1305993" cy="276999"/>
            <a:chOff x="10285001" y="4796016"/>
            <a:chExt cx="1305993" cy="276999"/>
          </a:xfrm>
        </p:grpSpPr>
        <p:sp>
          <p:nvSpPr>
            <p:cNvPr id="231" name="Rectangle 230">
              <a:extLst>
                <a:ext uri="{FF2B5EF4-FFF2-40B4-BE49-F238E27FC236}">
                  <a16:creationId xmlns:a16="http://schemas.microsoft.com/office/drawing/2014/main" id="{18473EFB-6227-BDF0-30A6-B9FBB1764D4E}"/>
                </a:ext>
              </a:extLst>
            </p:cNvPr>
            <p:cNvSpPr/>
            <p:nvPr/>
          </p:nvSpPr>
          <p:spPr>
            <a:xfrm>
              <a:off x="10285001" y="4796016"/>
              <a:ext cx="648000" cy="276999"/>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232" name="Rectangle 231">
              <a:extLst>
                <a:ext uri="{FF2B5EF4-FFF2-40B4-BE49-F238E27FC236}">
                  <a16:creationId xmlns:a16="http://schemas.microsoft.com/office/drawing/2014/main" id="{84AF92FC-1713-E180-85A6-853A4F81E5D5}"/>
                </a:ext>
              </a:extLst>
            </p:cNvPr>
            <p:cNvSpPr/>
            <p:nvPr/>
          </p:nvSpPr>
          <p:spPr>
            <a:xfrm>
              <a:off x="10942994" y="4796016"/>
              <a:ext cx="648000" cy="276999"/>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grpSp>
      <p:sp>
        <p:nvSpPr>
          <p:cNvPr id="233" name="Ellipse 70">
            <a:extLst>
              <a:ext uri="{FF2B5EF4-FFF2-40B4-BE49-F238E27FC236}">
                <a16:creationId xmlns:a16="http://schemas.microsoft.com/office/drawing/2014/main" id="{CABCA8A7-D24C-1635-6800-6977BEEE0CA9}"/>
              </a:ext>
            </a:extLst>
          </p:cNvPr>
          <p:cNvSpPr/>
          <p:nvPr/>
        </p:nvSpPr>
        <p:spPr>
          <a:xfrm>
            <a:off x="10072007" y="513988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i</a:t>
            </a:r>
          </a:p>
        </p:txBody>
      </p:sp>
      <p:sp>
        <p:nvSpPr>
          <p:cNvPr id="6" name="Ellipse 61">
            <a:extLst>
              <a:ext uri="{FF2B5EF4-FFF2-40B4-BE49-F238E27FC236}">
                <a16:creationId xmlns:a16="http://schemas.microsoft.com/office/drawing/2014/main" id="{E254A31C-5FFD-23CE-32B5-684E98E8005A}"/>
              </a:ext>
            </a:extLst>
          </p:cNvPr>
          <p:cNvSpPr/>
          <p:nvPr/>
        </p:nvSpPr>
        <p:spPr>
          <a:xfrm>
            <a:off x="4381922" y="1807098"/>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2</a:t>
            </a:r>
          </a:p>
        </p:txBody>
      </p:sp>
      <p:sp>
        <p:nvSpPr>
          <p:cNvPr id="4" name="Rectangle 3">
            <a:extLst>
              <a:ext uri="{FF2B5EF4-FFF2-40B4-BE49-F238E27FC236}">
                <a16:creationId xmlns:a16="http://schemas.microsoft.com/office/drawing/2014/main" id="{903B227D-43B6-FFD4-9E47-DC33020E4912}"/>
              </a:ext>
            </a:extLst>
          </p:cNvPr>
          <p:cNvSpPr/>
          <p:nvPr/>
        </p:nvSpPr>
        <p:spPr>
          <a:xfrm>
            <a:off x="1868198" y="1805353"/>
            <a:ext cx="648000" cy="178289"/>
          </a:xfrm>
          <a:prstGeom prst="rect">
            <a:avLst/>
          </a:prstGeom>
          <a:solidFill>
            <a:srgbClr val="11526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5" name="Rectangle 4">
            <a:extLst>
              <a:ext uri="{FF2B5EF4-FFF2-40B4-BE49-F238E27FC236}">
                <a16:creationId xmlns:a16="http://schemas.microsoft.com/office/drawing/2014/main" id="{404458F4-BB41-AC1D-373A-2164682C856D}"/>
              </a:ext>
            </a:extLst>
          </p:cNvPr>
          <p:cNvSpPr/>
          <p:nvPr/>
        </p:nvSpPr>
        <p:spPr>
          <a:xfrm>
            <a:off x="2740518" y="1677038"/>
            <a:ext cx="648000" cy="128807"/>
          </a:xfrm>
          <a:prstGeom prst="rect">
            <a:avLst/>
          </a:prstGeom>
          <a:solidFill>
            <a:srgbClr val="115264"/>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11" name="Ellipse 16">
            <a:extLst>
              <a:ext uri="{FF2B5EF4-FFF2-40B4-BE49-F238E27FC236}">
                <a16:creationId xmlns:a16="http://schemas.microsoft.com/office/drawing/2014/main" id="{0612F9F1-B944-0E62-5819-6E2A97706000}"/>
              </a:ext>
            </a:extLst>
          </p:cNvPr>
          <p:cNvSpPr/>
          <p:nvPr/>
        </p:nvSpPr>
        <p:spPr>
          <a:xfrm>
            <a:off x="2740518" y="1642283"/>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5</a:t>
            </a:r>
          </a:p>
        </p:txBody>
      </p:sp>
      <p:sp>
        <p:nvSpPr>
          <p:cNvPr id="20" name="Rectangle 19">
            <a:extLst>
              <a:ext uri="{FF2B5EF4-FFF2-40B4-BE49-F238E27FC236}">
                <a16:creationId xmlns:a16="http://schemas.microsoft.com/office/drawing/2014/main" id="{9C96CCAC-E5CA-4ED9-4543-22EC26A3ECBF}"/>
              </a:ext>
            </a:extLst>
          </p:cNvPr>
          <p:cNvSpPr/>
          <p:nvPr/>
        </p:nvSpPr>
        <p:spPr>
          <a:xfrm>
            <a:off x="936344" y="2963327"/>
            <a:ext cx="648000" cy="199134"/>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25" name="Rectangle 24">
            <a:extLst>
              <a:ext uri="{FF2B5EF4-FFF2-40B4-BE49-F238E27FC236}">
                <a16:creationId xmlns:a16="http://schemas.microsoft.com/office/drawing/2014/main" id="{F3C3FFED-47AE-8627-48CC-637D6130F935}"/>
              </a:ext>
            </a:extLst>
          </p:cNvPr>
          <p:cNvSpPr/>
          <p:nvPr/>
        </p:nvSpPr>
        <p:spPr>
          <a:xfrm>
            <a:off x="1868198" y="3037774"/>
            <a:ext cx="648000" cy="133935"/>
          </a:xfrm>
          <a:prstGeom prst="rect">
            <a:avLst/>
          </a:prstGeom>
          <a:solidFill>
            <a:srgbClr val="1D7B9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26" name="Rectangle 25">
            <a:extLst>
              <a:ext uri="{FF2B5EF4-FFF2-40B4-BE49-F238E27FC236}">
                <a16:creationId xmlns:a16="http://schemas.microsoft.com/office/drawing/2014/main" id="{69BD61E3-C5B2-562E-9CC5-380A98F60FE6}"/>
              </a:ext>
            </a:extLst>
          </p:cNvPr>
          <p:cNvSpPr/>
          <p:nvPr/>
        </p:nvSpPr>
        <p:spPr>
          <a:xfrm>
            <a:off x="2740518" y="2900462"/>
            <a:ext cx="648000" cy="133935"/>
          </a:xfrm>
          <a:prstGeom prst="rect">
            <a:avLst/>
          </a:prstGeom>
          <a:solidFill>
            <a:srgbClr val="1D7B9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grpSp>
        <p:nvGrpSpPr>
          <p:cNvPr id="73" name="Group 72">
            <a:extLst>
              <a:ext uri="{FF2B5EF4-FFF2-40B4-BE49-F238E27FC236}">
                <a16:creationId xmlns:a16="http://schemas.microsoft.com/office/drawing/2014/main" id="{D93F07BD-6142-4AF5-9613-01DB04B92ED9}"/>
              </a:ext>
            </a:extLst>
          </p:cNvPr>
          <p:cNvGrpSpPr/>
          <p:nvPr/>
        </p:nvGrpSpPr>
        <p:grpSpPr>
          <a:xfrm>
            <a:off x="5491495" y="1544132"/>
            <a:ext cx="651896" cy="2193193"/>
            <a:chOff x="5491495" y="1544132"/>
            <a:chExt cx="651896" cy="2193193"/>
          </a:xfrm>
        </p:grpSpPr>
        <p:grpSp>
          <p:nvGrpSpPr>
            <p:cNvPr id="194" name="Group 193">
              <a:extLst>
                <a:ext uri="{FF2B5EF4-FFF2-40B4-BE49-F238E27FC236}">
                  <a16:creationId xmlns:a16="http://schemas.microsoft.com/office/drawing/2014/main" id="{C3F55AAD-89E1-7437-38F4-2C9BD25DE183}"/>
                </a:ext>
              </a:extLst>
            </p:cNvPr>
            <p:cNvGrpSpPr/>
            <p:nvPr/>
          </p:nvGrpSpPr>
          <p:grpSpPr>
            <a:xfrm>
              <a:off x="5491495" y="1544132"/>
              <a:ext cx="651175" cy="2193193"/>
              <a:chOff x="5491495" y="1544132"/>
              <a:chExt cx="651175" cy="2193193"/>
            </a:xfrm>
          </p:grpSpPr>
          <p:grpSp>
            <p:nvGrpSpPr>
              <p:cNvPr id="181" name="Group 180">
                <a:extLst>
                  <a:ext uri="{FF2B5EF4-FFF2-40B4-BE49-F238E27FC236}">
                    <a16:creationId xmlns:a16="http://schemas.microsoft.com/office/drawing/2014/main" id="{1D4E5CBC-59A9-610B-1373-A9F31D8E9E2C}"/>
                  </a:ext>
                </a:extLst>
              </p:cNvPr>
              <p:cNvGrpSpPr/>
              <p:nvPr/>
            </p:nvGrpSpPr>
            <p:grpSpPr>
              <a:xfrm>
                <a:off x="5491495" y="1835806"/>
                <a:ext cx="651175" cy="1901519"/>
                <a:chOff x="5490370" y="1542747"/>
                <a:chExt cx="651175" cy="1901519"/>
              </a:xfrm>
            </p:grpSpPr>
            <p:sp>
              <p:nvSpPr>
                <p:cNvPr id="97" name="Rectangle 96">
                  <a:extLst>
                    <a:ext uri="{FF2B5EF4-FFF2-40B4-BE49-F238E27FC236}">
                      <a16:creationId xmlns:a16="http://schemas.microsoft.com/office/drawing/2014/main" id="{BA8A5E74-0BB4-9825-AC6D-453E402069D8}"/>
                    </a:ext>
                  </a:extLst>
                </p:cNvPr>
                <p:cNvSpPr/>
                <p:nvPr/>
              </p:nvSpPr>
              <p:spPr>
                <a:xfrm>
                  <a:off x="5490370" y="1542747"/>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a:t>
                  </a:r>
                </a:p>
              </p:txBody>
            </p:sp>
            <p:sp>
              <p:nvSpPr>
                <p:cNvPr id="98" name="Rectangle 97">
                  <a:extLst>
                    <a:ext uri="{FF2B5EF4-FFF2-40B4-BE49-F238E27FC236}">
                      <a16:creationId xmlns:a16="http://schemas.microsoft.com/office/drawing/2014/main" id="{B74B47CB-C50D-619B-8A0A-76B4C7C3F1BC}"/>
                    </a:ext>
                  </a:extLst>
                </p:cNvPr>
                <p:cNvSpPr/>
                <p:nvPr/>
              </p:nvSpPr>
              <p:spPr>
                <a:xfrm>
                  <a:off x="5490370" y="1703798"/>
                  <a:ext cx="648000" cy="432000"/>
                </a:xfrm>
                <a:prstGeom prst="rect">
                  <a:avLst/>
                </a:prstGeom>
                <a:solidFill>
                  <a:srgbClr val="92D7CC"/>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EUR</a:t>
                  </a:r>
                </a:p>
              </p:txBody>
            </p:sp>
            <p:sp>
              <p:nvSpPr>
                <p:cNvPr id="99" name="Rectangle 98">
                  <a:extLst>
                    <a:ext uri="{FF2B5EF4-FFF2-40B4-BE49-F238E27FC236}">
                      <a16:creationId xmlns:a16="http://schemas.microsoft.com/office/drawing/2014/main" id="{827A8922-3D97-5F34-829A-770813A9F90D}"/>
                    </a:ext>
                  </a:extLst>
                </p:cNvPr>
                <p:cNvSpPr/>
                <p:nvPr/>
              </p:nvSpPr>
              <p:spPr>
                <a:xfrm>
                  <a:off x="5490370" y="2141453"/>
                  <a:ext cx="648000" cy="648000"/>
                </a:xfrm>
                <a:prstGeom prst="rect">
                  <a:avLst/>
                </a:prstGeom>
                <a:solidFill>
                  <a:srgbClr val="92D7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FR</a:t>
                  </a:r>
                </a:p>
              </p:txBody>
            </p:sp>
            <p:sp>
              <p:nvSpPr>
                <p:cNvPr id="100" name="Rectangle 99">
                  <a:extLst>
                    <a:ext uri="{FF2B5EF4-FFF2-40B4-BE49-F238E27FC236}">
                      <a16:creationId xmlns:a16="http://schemas.microsoft.com/office/drawing/2014/main" id="{90F74E69-351A-8D2D-101F-3DDBFC7DD594}"/>
                    </a:ext>
                  </a:extLst>
                </p:cNvPr>
                <p:cNvSpPr/>
                <p:nvPr/>
              </p:nvSpPr>
              <p:spPr>
                <a:xfrm>
                  <a:off x="5490370" y="2798554"/>
                  <a:ext cx="648000" cy="209365"/>
                </a:xfrm>
                <a:prstGeom prst="rect">
                  <a:avLst/>
                </a:prstGeom>
                <a:solidFill>
                  <a:srgbClr val="C5E0B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E6M</a:t>
                  </a:r>
                </a:p>
              </p:txBody>
            </p:sp>
            <p:sp>
              <p:nvSpPr>
                <p:cNvPr id="101" name="Rectangle 100">
                  <a:extLst>
                    <a:ext uri="{FF2B5EF4-FFF2-40B4-BE49-F238E27FC236}">
                      <a16:creationId xmlns:a16="http://schemas.microsoft.com/office/drawing/2014/main" id="{51FCB9B1-022D-AC68-502A-D666EDA72ADA}"/>
                    </a:ext>
                  </a:extLst>
                </p:cNvPr>
                <p:cNvSpPr/>
                <p:nvPr/>
              </p:nvSpPr>
              <p:spPr>
                <a:xfrm>
                  <a:off x="5493545" y="3274988"/>
                  <a:ext cx="648000" cy="169278"/>
                </a:xfrm>
                <a:prstGeom prst="rect">
                  <a:avLst/>
                </a:prstGeom>
                <a:solidFill>
                  <a:srgbClr val="54823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ESTER</a:t>
                  </a:r>
                </a:p>
              </p:txBody>
            </p:sp>
          </p:grpSp>
          <p:sp>
            <p:nvSpPr>
              <p:cNvPr id="188" name="Rectangle 187">
                <a:extLst>
                  <a:ext uri="{FF2B5EF4-FFF2-40B4-BE49-F238E27FC236}">
                    <a16:creationId xmlns:a16="http://schemas.microsoft.com/office/drawing/2014/main" id="{8937E99E-8747-C0BC-7B47-D9DD89F92409}"/>
                  </a:ext>
                </a:extLst>
              </p:cNvPr>
              <p:cNvSpPr/>
              <p:nvPr/>
            </p:nvSpPr>
            <p:spPr>
              <a:xfrm>
                <a:off x="5491495" y="1544132"/>
                <a:ext cx="648000"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grpSp>
        <p:sp>
          <p:nvSpPr>
            <p:cNvPr id="28" name="Rectangle 27">
              <a:extLst>
                <a:ext uri="{FF2B5EF4-FFF2-40B4-BE49-F238E27FC236}">
                  <a16:creationId xmlns:a16="http://schemas.microsoft.com/office/drawing/2014/main" id="{9C97235E-E534-751D-8AC3-5B3F4B5EBDA4}"/>
                </a:ext>
              </a:extLst>
            </p:cNvPr>
            <p:cNvSpPr/>
            <p:nvPr/>
          </p:nvSpPr>
          <p:spPr>
            <a:xfrm>
              <a:off x="5495391" y="3312288"/>
              <a:ext cx="648000" cy="245478"/>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grpSp>
      <p:grpSp>
        <p:nvGrpSpPr>
          <p:cNvPr id="220" name="Group 219">
            <a:extLst>
              <a:ext uri="{FF2B5EF4-FFF2-40B4-BE49-F238E27FC236}">
                <a16:creationId xmlns:a16="http://schemas.microsoft.com/office/drawing/2014/main" id="{BDAA79A5-F6CD-1A95-B481-F242517B67C8}"/>
              </a:ext>
            </a:extLst>
          </p:cNvPr>
          <p:cNvGrpSpPr/>
          <p:nvPr/>
        </p:nvGrpSpPr>
        <p:grpSpPr>
          <a:xfrm>
            <a:off x="6263523" y="1542298"/>
            <a:ext cx="641395" cy="2192621"/>
            <a:chOff x="6263523" y="1542298"/>
            <a:chExt cx="641395" cy="2192621"/>
          </a:xfrm>
        </p:grpSpPr>
        <p:grpSp>
          <p:nvGrpSpPr>
            <p:cNvPr id="189" name="Group 188">
              <a:extLst>
                <a:ext uri="{FF2B5EF4-FFF2-40B4-BE49-F238E27FC236}">
                  <a16:creationId xmlns:a16="http://schemas.microsoft.com/office/drawing/2014/main" id="{B7DBB063-4756-B337-7E46-740AD2BB5DFD}"/>
                </a:ext>
              </a:extLst>
            </p:cNvPr>
            <p:cNvGrpSpPr/>
            <p:nvPr/>
          </p:nvGrpSpPr>
          <p:grpSpPr>
            <a:xfrm>
              <a:off x="6263523" y="1833400"/>
              <a:ext cx="640800" cy="1901519"/>
              <a:chOff x="6263450" y="1542747"/>
              <a:chExt cx="640800" cy="1901519"/>
            </a:xfrm>
          </p:grpSpPr>
          <p:sp>
            <p:nvSpPr>
              <p:cNvPr id="108" name="Rectangle 107">
                <a:extLst>
                  <a:ext uri="{FF2B5EF4-FFF2-40B4-BE49-F238E27FC236}">
                    <a16:creationId xmlns:a16="http://schemas.microsoft.com/office/drawing/2014/main" id="{D5BF5EB1-FA32-A062-BC04-6337D3B87AA9}"/>
                  </a:ext>
                </a:extLst>
              </p:cNvPr>
              <p:cNvSpPr/>
              <p:nvPr/>
            </p:nvSpPr>
            <p:spPr>
              <a:xfrm>
                <a:off x="6263450" y="1542747"/>
                <a:ext cx="640800" cy="145494"/>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09" name="Rectangle 108">
                <a:extLst>
                  <a:ext uri="{FF2B5EF4-FFF2-40B4-BE49-F238E27FC236}">
                    <a16:creationId xmlns:a16="http://schemas.microsoft.com/office/drawing/2014/main" id="{2324F577-4B2D-8A01-CD24-E3677DA3A843}"/>
                  </a:ext>
                </a:extLst>
              </p:cNvPr>
              <p:cNvSpPr/>
              <p:nvPr/>
            </p:nvSpPr>
            <p:spPr>
              <a:xfrm>
                <a:off x="6263450" y="1704372"/>
                <a:ext cx="640800" cy="432000"/>
              </a:xfrm>
              <a:prstGeom prst="rect">
                <a:avLst/>
              </a:prstGeom>
              <a:solidFill>
                <a:srgbClr val="1D7B96"/>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0" name="Rectangle 109">
                <a:extLst>
                  <a:ext uri="{FF2B5EF4-FFF2-40B4-BE49-F238E27FC236}">
                    <a16:creationId xmlns:a16="http://schemas.microsoft.com/office/drawing/2014/main" id="{5745C0FE-5921-9E0F-F489-AB1C0CE09043}"/>
                  </a:ext>
                </a:extLst>
              </p:cNvPr>
              <p:cNvSpPr/>
              <p:nvPr/>
            </p:nvSpPr>
            <p:spPr>
              <a:xfrm>
                <a:off x="6263450" y="2141453"/>
                <a:ext cx="640800" cy="648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1" name="Rectangle 110">
                <a:extLst>
                  <a:ext uri="{FF2B5EF4-FFF2-40B4-BE49-F238E27FC236}">
                    <a16:creationId xmlns:a16="http://schemas.microsoft.com/office/drawing/2014/main" id="{5FB89C9B-11D9-FED8-9330-3D36C6B6B138}"/>
                  </a:ext>
                </a:extLst>
              </p:cNvPr>
              <p:cNvSpPr/>
              <p:nvPr/>
            </p:nvSpPr>
            <p:spPr>
              <a:xfrm>
                <a:off x="6263450" y="2794476"/>
                <a:ext cx="640800" cy="215849"/>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2" name="Rectangle 111">
                <a:extLst>
                  <a:ext uri="{FF2B5EF4-FFF2-40B4-BE49-F238E27FC236}">
                    <a16:creationId xmlns:a16="http://schemas.microsoft.com/office/drawing/2014/main" id="{53E66816-4B84-47F3-B8BE-0E00190EF7CA}"/>
                  </a:ext>
                </a:extLst>
              </p:cNvPr>
              <p:cNvSpPr/>
              <p:nvPr/>
            </p:nvSpPr>
            <p:spPr>
              <a:xfrm>
                <a:off x="6263450" y="3274988"/>
                <a:ext cx="640800" cy="169278"/>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grpSp>
        <p:sp>
          <p:nvSpPr>
            <p:cNvPr id="190" name="Rectangle 189">
              <a:extLst>
                <a:ext uri="{FF2B5EF4-FFF2-40B4-BE49-F238E27FC236}">
                  <a16:creationId xmlns:a16="http://schemas.microsoft.com/office/drawing/2014/main" id="{C44B06B6-4E83-DB95-48F9-F755BDE1A93B}"/>
                </a:ext>
              </a:extLst>
            </p:cNvPr>
            <p:cNvSpPr/>
            <p:nvPr/>
          </p:nvSpPr>
          <p:spPr>
            <a:xfrm>
              <a:off x="6263523" y="1542298"/>
              <a:ext cx="641395"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29" name="Rectangle 28">
              <a:extLst>
                <a:ext uri="{FF2B5EF4-FFF2-40B4-BE49-F238E27FC236}">
                  <a16:creationId xmlns:a16="http://schemas.microsoft.com/office/drawing/2014/main" id="{9FC898C6-633B-647C-EC5A-3E00BE427FD6}"/>
                </a:ext>
              </a:extLst>
            </p:cNvPr>
            <p:cNvSpPr/>
            <p:nvPr/>
          </p:nvSpPr>
          <p:spPr>
            <a:xfrm>
              <a:off x="6263523" y="3308096"/>
              <a:ext cx="640800" cy="251999"/>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grpSp>
      <p:sp>
        <p:nvSpPr>
          <p:cNvPr id="30" name="Ellipse 4">
            <a:extLst>
              <a:ext uri="{FF2B5EF4-FFF2-40B4-BE49-F238E27FC236}">
                <a16:creationId xmlns:a16="http://schemas.microsoft.com/office/drawing/2014/main" id="{581DF231-2C05-88ED-4B66-966443B84021}"/>
              </a:ext>
            </a:extLst>
          </p:cNvPr>
          <p:cNvSpPr/>
          <p:nvPr/>
        </p:nvSpPr>
        <p:spPr>
          <a:xfrm>
            <a:off x="1889063" y="607128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2</a:t>
            </a:r>
          </a:p>
        </p:txBody>
      </p:sp>
      <p:sp>
        <p:nvSpPr>
          <p:cNvPr id="59" name="Ellipse 5">
            <a:extLst>
              <a:ext uri="{FF2B5EF4-FFF2-40B4-BE49-F238E27FC236}">
                <a16:creationId xmlns:a16="http://schemas.microsoft.com/office/drawing/2014/main" id="{94404C16-2E5B-590C-DE27-4B81E5BA9770}"/>
              </a:ext>
            </a:extLst>
          </p:cNvPr>
          <p:cNvSpPr/>
          <p:nvPr/>
        </p:nvSpPr>
        <p:spPr>
          <a:xfrm>
            <a:off x="1889063" y="1758195"/>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1</a:t>
            </a:r>
          </a:p>
        </p:txBody>
      </p:sp>
      <p:sp>
        <p:nvSpPr>
          <p:cNvPr id="57" name="Rectangle 56">
            <a:extLst>
              <a:ext uri="{FF2B5EF4-FFF2-40B4-BE49-F238E27FC236}">
                <a16:creationId xmlns:a16="http://schemas.microsoft.com/office/drawing/2014/main" id="{76B55308-0CA4-F581-2ED7-A12AE9FB56C1}"/>
              </a:ext>
            </a:extLst>
          </p:cNvPr>
          <p:cNvSpPr/>
          <p:nvPr/>
        </p:nvSpPr>
        <p:spPr>
          <a:xfrm>
            <a:off x="934997" y="3635352"/>
            <a:ext cx="648000" cy="124909"/>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64" name="Rectangle 63">
            <a:extLst>
              <a:ext uri="{FF2B5EF4-FFF2-40B4-BE49-F238E27FC236}">
                <a16:creationId xmlns:a16="http://schemas.microsoft.com/office/drawing/2014/main" id="{B88D6175-356D-9162-8602-8FCCAB19FF8C}"/>
              </a:ext>
            </a:extLst>
          </p:cNvPr>
          <p:cNvSpPr/>
          <p:nvPr/>
        </p:nvSpPr>
        <p:spPr>
          <a:xfrm rot="16200000">
            <a:off x="174635" y="6005072"/>
            <a:ext cx="369923" cy="288002"/>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900" b="1" i="0" u="none" strike="noStrike" kern="0" cap="none" spc="0" normalizeH="0" baseline="0" noProof="0">
                <a:ln>
                  <a:noFill/>
                </a:ln>
                <a:solidFill>
                  <a:prstClr val="white"/>
                </a:solidFill>
                <a:effectLst/>
                <a:uLnTx/>
                <a:uFillTx/>
                <a:latin typeface="Calibri" panose="020F0502020204030204"/>
                <a:ea typeface="+mn-ea"/>
                <a:cs typeface="+mn-cs"/>
                <a:sym typeface="Arial"/>
              </a:rPr>
              <a:t>HB</a:t>
            </a:r>
          </a:p>
        </p:txBody>
      </p:sp>
      <p:sp>
        <p:nvSpPr>
          <p:cNvPr id="67" name="Rectangle 66">
            <a:extLst>
              <a:ext uri="{FF2B5EF4-FFF2-40B4-BE49-F238E27FC236}">
                <a16:creationId xmlns:a16="http://schemas.microsoft.com/office/drawing/2014/main" id="{29A1CAF6-03FE-77ED-9E7B-82E3AB346FBB}"/>
              </a:ext>
            </a:extLst>
          </p:cNvPr>
          <p:cNvSpPr/>
          <p:nvPr/>
        </p:nvSpPr>
        <p:spPr>
          <a:xfrm>
            <a:off x="1868198" y="3686203"/>
            <a:ext cx="648000" cy="70553"/>
          </a:xfrm>
          <a:prstGeom prst="rect">
            <a:avLst/>
          </a:prstGeom>
          <a:solidFill>
            <a:srgbClr val="1D7B9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69" name="Rectangle 68">
            <a:extLst>
              <a:ext uri="{FF2B5EF4-FFF2-40B4-BE49-F238E27FC236}">
                <a16:creationId xmlns:a16="http://schemas.microsoft.com/office/drawing/2014/main" id="{85AFAA25-11E3-1D1B-BE21-EA09BC8B1CB6}"/>
              </a:ext>
            </a:extLst>
          </p:cNvPr>
          <p:cNvSpPr/>
          <p:nvPr/>
        </p:nvSpPr>
        <p:spPr>
          <a:xfrm>
            <a:off x="2751217" y="3587698"/>
            <a:ext cx="648000" cy="84085"/>
          </a:xfrm>
          <a:prstGeom prst="rect">
            <a:avLst/>
          </a:prstGeom>
          <a:solidFill>
            <a:srgbClr val="1D7B9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219" name="Ellipse 61">
            <a:extLst>
              <a:ext uri="{FF2B5EF4-FFF2-40B4-BE49-F238E27FC236}">
                <a16:creationId xmlns:a16="http://schemas.microsoft.com/office/drawing/2014/main" id="{89EF52BC-0676-266E-81C1-D6B9FFBF5195}"/>
              </a:ext>
            </a:extLst>
          </p:cNvPr>
          <p:cNvSpPr/>
          <p:nvPr/>
        </p:nvSpPr>
        <p:spPr>
          <a:xfrm>
            <a:off x="4112469" y="1807098"/>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1</a:t>
            </a:r>
          </a:p>
        </p:txBody>
      </p:sp>
      <p:sp>
        <p:nvSpPr>
          <p:cNvPr id="221" name="ZoneTexte 88">
            <a:extLst>
              <a:ext uri="{FF2B5EF4-FFF2-40B4-BE49-F238E27FC236}">
                <a16:creationId xmlns:a16="http://schemas.microsoft.com/office/drawing/2014/main" id="{7057F3C6-9CBB-225A-3590-353C18ACB4FA}"/>
              </a:ext>
            </a:extLst>
          </p:cNvPr>
          <p:cNvSpPr txBox="1"/>
          <p:nvPr/>
        </p:nvSpPr>
        <p:spPr>
          <a:xfrm>
            <a:off x="8616479" y="5096736"/>
            <a:ext cx="154552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fixing E3M</a:t>
            </a:r>
          </a:p>
        </p:txBody>
      </p:sp>
      <p:cxnSp>
        <p:nvCxnSpPr>
          <p:cNvPr id="3" name="Connecteur droit 76">
            <a:extLst>
              <a:ext uri="{FF2B5EF4-FFF2-40B4-BE49-F238E27FC236}">
                <a16:creationId xmlns:a16="http://schemas.microsoft.com/office/drawing/2014/main" id="{A72696C8-D069-5E7E-5EA0-F385DD535478}"/>
              </a:ext>
            </a:extLst>
          </p:cNvPr>
          <p:cNvCxnSpPr>
            <a:cxnSpLocks/>
          </p:cNvCxnSpPr>
          <p:nvPr/>
        </p:nvCxnSpPr>
        <p:spPr>
          <a:xfrm>
            <a:off x="6198270" y="1497262"/>
            <a:ext cx="0" cy="2304000"/>
          </a:xfrm>
          <a:prstGeom prst="line">
            <a:avLst/>
          </a:prstGeom>
        </p:spPr>
        <p:style>
          <a:lnRef idx="3">
            <a:schemeClr val="dk1"/>
          </a:lnRef>
          <a:fillRef idx="0">
            <a:schemeClr val="dk1"/>
          </a:fillRef>
          <a:effectRef idx="2">
            <a:schemeClr val="dk1"/>
          </a:effectRef>
          <a:fontRef idx="minor">
            <a:schemeClr val="tx1"/>
          </a:fontRef>
        </p:style>
      </p:cxnSp>
      <p:cxnSp>
        <p:nvCxnSpPr>
          <p:cNvPr id="7" name="Connecteur droit 76">
            <a:extLst>
              <a:ext uri="{FF2B5EF4-FFF2-40B4-BE49-F238E27FC236}">
                <a16:creationId xmlns:a16="http://schemas.microsoft.com/office/drawing/2014/main" id="{48F7EA6F-847C-48C3-7C5D-57E543269B1A}"/>
              </a:ext>
            </a:extLst>
          </p:cNvPr>
          <p:cNvCxnSpPr>
            <a:cxnSpLocks/>
          </p:cNvCxnSpPr>
          <p:nvPr/>
        </p:nvCxnSpPr>
        <p:spPr>
          <a:xfrm>
            <a:off x="7773983" y="1506815"/>
            <a:ext cx="0" cy="2304000"/>
          </a:xfrm>
          <a:prstGeom prst="line">
            <a:avLst/>
          </a:prstGeom>
        </p:spPr>
        <p:style>
          <a:lnRef idx="3">
            <a:schemeClr val="dk1"/>
          </a:lnRef>
          <a:fillRef idx="0">
            <a:schemeClr val="dk1"/>
          </a:fillRef>
          <a:effectRef idx="2">
            <a:schemeClr val="dk1"/>
          </a:effectRef>
          <a:fontRef idx="minor">
            <a:schemeClr val="tx1"/>
          </a:fontRef>
        </p:style>
      </p:cxnSp>
      <p:sp>
        <p:nvSpPr>
          <p:cNvPr id="8" name="Espace réservé du texte 16">
            <a:extLst>
              <a:ext uri="{FF2B5EF4-FFF2-40B4-BE49-F238E27FC236}">
                <a16:creationId xmlns:a16="http://schemas.microsoft.com/office/drawing/2014/main" id="{5163C9DE-61B7-1F14-C21C-719531D2AD8B}"/>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70362390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AC99E-6978-7278-ABB1-0675CC7BE579}"/>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489382AB-6947-36E2-A701-B46384367C14}"/>
              </a:ext>
            </a:extLst>
          </p:cNvPr>
          <p:cNvSpPr>
            <a:spLocks noGrp="1"/>
          </p:cNvSpPr>
          <p:nvPr>
            <p:ph type="body" sz="quarter" idx="11"/>
          </p:nvPr>
        </p:nvSpPr>
        <p:spPr>
          <a:xfrm>
            <a:off x="560671" y="1991"/>
            <a:ext cx="12191999" cy="754597"/>
          </a:xfrm>
        </p:spPr>
        <p:txBody>
          <a:bodyPr/>
          <a:lstStyle/>
          <a:p>
            <a:pPr marR="0" lvl="0" algn="l" defTabSz="914400" rtl="0" eaLnBrk="1" fontAlgn="auto" latinLnBrk="0" hangingPunct="1">
              <a:lnSpc>
                <a:spcPct val="100000"/>
              </a:lnSpc>
              <a:spcBef>
                <a:spcPts val="0"/>
              </a:spcBef>
              <a:spcAft>
                <a:spcPts val="0"/>
              </a:spcAft>
              <a:buClr>
                <a:srgbClr val="000000"/>
              </a:buClr>
              <a:buSzTx/>
              <a:tabLst/>
              <a:defRPr/>
            </a:pPr>
            <a:r>
              <a:rPr lang="fr-FR" dirty="0">
                <a:latin typeface="+mn-lt"/>
              </a:rPr>
              <a:t>Montants d’encours sensibles pour chacun des risques identifiés</a:t>
            </a:r>
          </a:p>
        </p:txBody>
      </p:sp>
      <p:graphicFrame>
        <p:nvGraphicFramePr>
          <p:cNvPr id="3" name="Tableau 3">
            <a:extLst>
              <a:ext uri="{FF2B5EF4-FFF2-40B4-BE49-F238E27FC236}">
                <a16:creationId xmlns:a16="http://schemas.microsoft.com/office/drawing/2014/main" id="{276BA2A9-1C3A-7A01-1FED-4566F3068465}"/>
              </a:ext>
            </a:extLst>
          </p:cNvPr>
          <p:cNvGraphicFramePr>
            <a:graphicFrameLocks noGrp="1"/>
          </p:cNvGraphicFramePr>
          <p:nvPr>
            <p:extLst>
              <p:ext uri="{D42A27DB-BD31-4B8C-83A1-F6EECF244321}">
                <p14:modId xmlns:p14="http://schemas.microsoft.com/office/powerpoint/2010/main" val="2767013527"/>
              </p:ext>
            </p:extLst>
          </p:nvPr>
        </p:nvGraphicFramePr>
        <p:xfrm>
          <a:off x="685800" y="766213"/>
          <a:ext cx="9772261" cy="5494287"/>
        </p:xfrm>
        <a:graphic>
          <a:graphicData uri="http://schemas.openxmlformats.org/drawingml/2006/table">
            <a:tbl>
              <a:tblPr firstRow="1" bandRow="1">
                <a:tableStyleId>{B1798C55-09AD-4454-950D-8970D776B629}</a:tableStyleId>
              </a:tblPr>
              <a:tblGrid>
                <a:gridCol w="530957">
                  <a:extLst>
                    <a:ext uri="{9D8B030D-6E8A-4147-A177-3AD203B41FA5}">
                      <a16:colId xmlns:a16="http://schemas.microsoft.com/office/drawing/2014/main" val="1584768307"/>
                    </a:ext>
                  </a:extLst>
                </a:gridCol>
                <a:gridCol w="2186452">
                  <a:extLst>
                    <a:ext uri="{9D8B030D-6E8A-4147-A177-3AD203B41FA5}">
                      <a16:colId xmlns:a16="http://schemas.microsoft.com/office/drawing/2014/main" val="2352799436"/>
                    </a:ext>
                  </a:extLst>
                </a:gridCol>
                <a:gridCol w="741368">
                  <a:extLst>
                    <a:ext uri="{9D8B030D-6E8A-4147-A177-3AD203B41FA5}">
                      <a16:colId xmlns:a16="http://schemas.microsoft.com/office/drawing/2014/main" val="3793584488"/>
                    </a:ext>
                  </a:extLst>
                </a:gridCol>
                <a:gridCol w="741368">
                  <a:extLst>
                    <a:ext uri="{9D8B030D-6E8A-4147-A177-3AD203B41FA5}">
                      <a16:colId xmlns:a16="http://schemas.microsoft.com/office/drawing/2014/main" val="2820802483"/>
                    </a:ext>
                  </a:extLst>
                </a:gridCol>
                <a:gridCol w="3098916">
                  <a:extLst>
                    <a:ext uri="{9D8B030D-6E8A-4147-A177-3AD203B41FA5}">
                      <a16:colId xmlns:a16="http://schemas.microsoft.com/office/drawing/2014/main" val="4223894160"/>
                    </a:ext>
                  </a:extLst>
                </a:gridCol>
                <a:gridCol w="824400">
                  <a:extLst>
                    <a:ext uri="{9D8B030D-6E8A-4147-A177-3AD203B41FA5}">
                      <a16:colId xmlns:a16="http://schemas.microsoft.com/office/drawing/2014/main" val="433272200"/>
                    </a:ext>
                  </a:extLst>
                </a:gridCol>
                <a:gridCol w="824400">
                  <a:extLst>
                    <a:ext uri="{9D8B030D-6E8A-4147-A177-3AD203B41FA5}">
                      <a16:colId xmlns:a16="http://schemas.microsoft.com/office/drawing/2014/main" val="2271538738"/>
                    </a:ext>
                  </a:extLst>
                </a:gridCol>
                <a:gridCol w="824400">
                  <a:extLst>
                    <a:ext uri="{9D8B030D-6E8A-4147-A177-3AD203B41FA5}">
                      <a16:colId xmlns:a16="http://schemas.microsoft.com/office/drawing/2014/main" val="3034640912"/>
                    </a:ext>
                  </a:extLst>
                </a:gridCol>
              </a:tblGrid>
              <a:tr h="253057">
                <a:tc>
                  <a:txBody>
                    <a:bodyPr/>
                    <a:lstStyle/>
                    <a:p>
                      <a:endParaRPr lang="fr-FR"/>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noFill/>
                  </a:tcPr>
                </a:tc>
                <a:tc>
                  <a:txBody>
                    <a:bodyPr/>
                    <a:lstStyle/>
                    <a:p>
                      <a:endParaRPr lang="fr-FR" sz="1200"/>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noFill/>
                  </a:tcPr>
                </a:tc>
                <a:tc>
                  <a:txBody>
                    <a:bodyPr/>
                    <a:lstStyle/>
                    <a:p>
                      <a:pPr algn="ctr"/>
                      <a:endParaRPr lang="fr-FR" sz="1200"/>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fr-FR" sz="1200"/>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fr-FR" sz="1200"/>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lang="fr-FR" sz="1200" dirty="0"/>
                        <a:t>Assiette (Mds €)</a:t>
                      </a:r>
                    </a:p>
                  </a:txBody>
                  <a:tcPr>
                    <a:lnL w="9525" cap="flat" cmpd="sng">
                      <a:noFill/>
                      <a:prstDash val="solid"/>
                      <a:round/>
                      <a:headEnd type="none" w="sm" len="sm"/>
                      <a:tailEnd type="none" w="sm" len="sm"/>
                    </a:lnL>
                    <a:lnB w="12700" cap="flat" cmpd="sng" algn="ctr">
                      <a:solidFill>
                        <a:schemeClr val="tx1"/>
                      </a:solidFill>
                      <a:prstDash val="solid"/>
                      <a:round/>
                      <a:headEnd type="none" w="med" len="med"/>
                      <a:tailEnd type="none" w="med" len="med"/>
                    </a:lnB>
                    <a:solidFill>
                      <a:schemeClr val="tx1"/>
                    </a:solidFill>
                  </a:tcPr>
                </a:tc>
                <a:tc hMerge="1">
                  <a:txBody>
                    <a:bodyPr/>
                    <a:lstStyle/>
                    <a:p>
                      <a:endParaRPr lang="fr-FR" sz="1200"/>
                    </a:p>
                  </a:txBody>
                  <a:tcPr>
                    <a:solidFill>
                      <a:srgbClr val="4472C4"/>
                    </a:solidFill>
                  </a:tcPr>
                </a:tc>
                <a:tc hMerge="1">
                  <a:txBody>
                    <a:bodyPr/>
                    <a:lstStyle/>
                    <a:p>
                      <a:endParaRPr lang="fr-FR" sz="1200"/>
                    </a:p>
                  </a:txBody>
                  <a:tcPr>
                    <a:solidFill>
                      <a:srgbClr val="4472C4"/>
                    </a:solidFill>
                  </a:tcPr>
                </a:tc>
                <a:extLst>
                  <a:ext uri="{0D108BD9-81ED-4DB2-BD59-A6C34878D82A}">
                    <a16:rowId xmlns:a16="http://schemas.microsoft.com/office/drawing/2014/main" val="1104100987"/>
                  </a:ext>
                </a:extLst>
              </a:tr>
              <a:tr h="317902">
                <a:tc>
                  <a:txBody>
                    <a:bodyPr/>
                    <a:lstStyle/>
                    <a:p>
                      <a:endParaRPr lang="fr-FR"/>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fr-FR" sz="1200">
                        <a:solidFill>
                          <a:schemeClr val="bg1"/>
                        </a:solidFill>
                      </a:endParaRPr>
                    </a:p>
                  </a:txBody>
                  <a:tcPr>
                    <a:lnL w="9525" cap="flat" cmpd="sng">
                      <a:noFill/>
                      <a:prstDash val="solid"/>
                      <a:round/>
                      <a:headEnd type="none" w="sm" len="sm"/>
                      <a:tailEnd type="none" w="sm" len="sm"/>
                    </a:lnL>
                    <a:lnR w="12700" cap="flat" cmpd="sng" algn="ctr">
                      <a:solidFill>
                        <a:schemeClr val="tx1"/>
                      </a:solidFill>
                      <a:prstDash val="solid"/>
                      <a:round/>
                      <a:headEnd type="none" w="med" len="med"/>
                      <a:tailEnd type="none" w="med" len="med"/>
                    </a:lnR>
                    <a:lnT w="9525"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fr-FR" sz="1200">
                          <a:solidFill>
                            <a:schemeClr val="bg1"/>
                          </a:solidFill>
                        </a:rPr>
                        <a:t>Actif</a:t>
                      </a: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pPr algn="ctr"/>
                      <a:r>
                        <a:rPr lang="fr-FR" sz="1200">
                          <a:solidFill>
                            <a:schemeClr val="bg1"/>
                          </a:solidFill>
                        </a:rPr>
                        <a:t>Passif</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r>
                        <a:rPr lang="fr-FR" sz="1200">
                          <a:solidFill>
                            <a:schemeClr val="bg1"/>
                          </a:solidFill>
                        </a:rPr>
                        <a:t>Description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r>
                        <a:rPr lang="fr-FR" sz="1200">
                          <a:solidFill>
                            <a:schemeClr val="bg1"/>
                          </a:solidFill>
                        </a:rPr>
                        <a:t>Année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r>
                        <a:rPr lang="fr-FR" sz="1200">
                          <a:solidFill>
                            <a:schemeClr val="bg1"/>
                          </a:solidFill>
                        </a:rPr>
                        <a:t>Année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tx1"/>
                    </a:solidFill>
                  </a:tcPr>
                </a:tc>
                <a:tc>
                  <a:txBody>
                    <a:bodyPr/>
                    <a:lstStyle/>
                    <a:p>
                      <a:r>
                        <a:rPr lang="fr-FR" sz="1200">
                          <a:solidFill>
                            <a:schemeClr val="bg1"/>
                          </a:solidFill>
                        </a:rPr>
                        <a:t>Année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tx1"/>
                    </a:solidFill>
                  </a:tcPr>
                </a:tc>
                <a:extLst>
                  <a:ext uri="{0D108BD9-81ED-4DB2-BD59-A6C34878D82A}">
                    <a16:rowId xmlns:a16="http://schemas.microsoft.com/office/drawing/2014/main" val="2061376242"/>
                  </a:ext>
                </a:extLst>
              </a:tr>
              <a:tr h="516590">
                <a:tc rowSpan="11">
                  <a:txBody>
                    <a:bodyPr/>
                    <a:lstStyle/>
                    <a:p>
                      <a:pPr algn="ctr"/>
                      <a:r>
                        <a:rPr lang="fr-FR" sz="1200" b="1">
                          <a:solidFill>
                            <a:schemeClr val="bg1"/>
                          </a:solidFill>
                        </a:rPr>
                        <a:t>Risques sur stock</a:t>
                      </a:r>
                    </a:p>
                  </a:txBody>
                  <a:tcPr vert="vert27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pPr algn="ctr"/>
                      <a:r>
                        <a:rPr lang="fr-FR" sz="1200">
                          <a:solidFill>
                            <a:schemeClr val="tx1">
                              <a:lumMod val="50000"/>
                            </a:schemeClr>
                          </a:solidFill>
                        </a:rPr>
                        <a:t>Risque de repricing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fr-FR" sz="1200" b="1">
                          <a:solidFill>
                            <a:schemeClr val="bg1"/>
                          </a:solidFill>
                        </a:rPr>
                        <a:t>TF</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15264"/>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a:txBody>
                    <a:bodyPr/>
                    <a:lstStyle/>
                    <a:p>
                      <a:r>
                        <a:rPr lang="fr-FR" sz="1100">
                          <a:solidFill>
                            <a:schemeClr val="tx1">
                              <a:lumMod val="50000"/>
                            </a:schemeClr>
                          </a:solidFill>
                        </a:rPr>
                        <a:t>Risque correspondant à l’adossement d’actifs à taux fixe certain à des passifs à taux révisable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97676999"/>
                  </a:ext>
                </a:extLst>
              </a:tr>
              <a:tr h="268516">
                <a:tc vMerge="1">
                  <a:txBody>
                    <a:bodyPr/>
                    <a:lstStyle/>
                    <a:p>
                      <a:endParaRPr lang="fr-FR" sz="1400"/>
                    </a:p>
                  </a:txBody>
                  <a:tcPr/>
                </a:tc>
                <a:tc>
                  <a:txBody>
                    <a:bodyPr/>
                    <a:lstStyle/>
                    <a:p>
                      <a:pPr algn="ctr"/>
                      <a:r>
                        <a:rPr lang="fr-FR" sz="1200">
                          <a:solidFill>
                            <a:schemeClr val="tx1">
                              <a:lumMod val="50000"/>
                            </a:schemeClr>
                          </a:solidFill>
                        </a:rPr>
                        <a:t>Risque inflation EUR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tcPr>
                </a:tc>
                <a:tc>
                  <a:txBody>
                    <a:bodyPr/>
                    <a:lstStyle/>
                    <a:p>
                      <a:pPr algn="ctr"/>
                      <a:r>
                        <a:rPr lang="fr-FR" sz="1200" b="1">
                          <a:solidFill>
                            <a:schemeClr val="tx1">
                              <a:lumMod val="50000"/>
                            </a:schemeClr>
                          </a:solidFill>
                        </a:rPr>
                        <a:t>INF EUR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7CC"/>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rowSpan="2">
                  <a:txBody>
                    <a:bodyPr/>
                    <a:lstStyle/>
                    <a:p>
                      <a:r>
                        <a:rPr lang="fr-FR" sz="1100">
                          <a:solidFill>
                            <a:schemeClr val="tx1">
                              <a:lumMod val="50000"/>
                            </a:schemeClr>
                          </a:solidFill>
                        </a:rPr>
                        <a:t>Risque lié aux facteurs exogènes que sont l’inflation européenne et l’inflation française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92938214"/>
                  </a:ext>
                </a:extLst>
              </a:tr>
              <a:tr h="268516">
                <a:tc vMerge="1">
                  <a:txBody>
                    <a:bodyPr/>
                    <a:lstStyle/>
                    <a:p>
                      <a:endParaRPr lang="fr-FR" sz="1400"/>
                    </a:p>
                  </a:txBody>
                  <a:tcPr/>
                </a:tc>
                <a:tc>
                  <a:txBody>
                    <a:bodyPr/>
                    <a:lstStyle/>
                    <a:p>
                      <a:pPr algn="ctr"/>
                      <a:r>
                        <a:rPr lang="fr-FR" sz="1200">
                          <a:solidFill>
                            <a:schemeClr val="tx1">
                              <a:lumMod val="50000"/>
                            </a:schemeClr>
                          </a:solidFill>
                        </a:rPr>
                        <a:t>Risque inflation FR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tx1">
                              <a:lumMod val="50000"/>
                            </a:schemeClr>
                          </a:solidFill>
                        </a:rPr>
                        <a:t>INF FR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7CC"/>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a:p>
                  </a:txBody>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1519788"/>
                  </a:ext>
                </a:extLst>
              </a:tr>
              <a:tr h="268516">
                <a:tc vMerge="1">
                  <a:txBody>
                    <a:bodyPr/>
                    <a:lstStyle/>
                    <a:p>
                      <a:endParaRPr lang="fr-FR" sz="1400"/>
                    </a:p>
                  </a:txBody>
                  <a:tcPr/>
                </a:tc>
                <a:tc>
                  <a:txBody>
                    <a:bodyPr/>
                    <a:lstStyle/>
                    <a:p>
                      <a:pPr algn="ctr"/>
                      <a:r>
                        <a:rPr lang="fr-FR" sz="1200">
                          <a:solidFill>
                            <a:schemeClr val="tx1">
                              <a:lumMod val="50000"/>
                            </a:schemeClr>
                          </a:solidFill>
                        </a:rPr>
                        <a:t>Risque de base E6M-E3M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tx1">
                              <a:lumMod val="50000"/>
                            </a:schemeClr>
                          </a:solidFill>
                        </a:rPr>
                        <a:t>E6M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E0B4"/>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rowSpan="2">
                  <a:txBody>
                    <a:bodyPr/>
                    <a:lstStyle/>
                    <a:p>
                      <a:r>
                        <a:rPr lang="fr-FR" sz="1100">
                          <a:solidFill>
                            <a:schemeClr val="tx1">
                              <a:lumMod val="50000"/>
                            </a:schemeClr>
                          </a:solidFill>
                        </a:rPr>
                        <a:t>Risque lié à des natures de taux révisables différentes entre l’actif et le passif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87973546"/>
                  </a:ext>
                </a:extLst>
              </a:tr>
              <a:tr h="268516">
                <a:tc vMerge="1">
                  <a:txBody>
                    <a:bodyPr/>
                    <a:lstStyle/>
                    <a:p>
                      <a:endParaRPr lang="fr-FR" sz="1400"/>
                    </a:p>
                  </a:txBody>
                  <a:tcPr/>
                </a:tc>
                <a:tc>
                  <a:txBody>
                    <a:bodyPr/>
                    <a:lstStyle/>
                    <a:p>
                      <a:pPr algn="ctr"/>
                      <a:r>
                        <a:rPr lang="fr-FR" sz="1200">
                          <a:solidFill>
                            <a:schemeClr val="tx1">
                              <a:lumMod val="50000"/>
                            </a:schemeClr>
                          </a:solidFill>
                        </a:rPr>
                        <a:t>Risque de base Ester-E3M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tx1">
                              <a:lumMod val="50000"/>
                            </a:schemeClr>
                          </a:solidFill>
                        </a:rPr>
                        <a:t>ESTER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644"/>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vMerge="1">
                  <a:txBody>
                    <a:bodyPr/>
                    <a:lstStyle/>
                    <a:p>
                      <a:endParaRPr lang="fr-FR" sz="1200"/>
                    </a:p>
                  </a:txBody>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74330541"/>
                  </a:ext>
                </a:extLst>
              </a:tr>
              <a:tr h="322869">
                <a:tc vMerge="1">
                  <a:txBody>
                    <a:bodyPr/>
                    <a:lstStyle/>
                    <a:p>
                      <a:endParaRPr lang="fr-FR" sz="1400"/>
                    </a:p>
                  </a:txBody>
                  <a:tcPr/>
                </a:tc>
                <a:tc rowSpan="2">
                  <a:txBody>
                    <a:bodyPr/>
                    <a:lstStyle/>
                    <a:p>
                      <a:pPr algn="ctr"/>
                      <a:r>
                        <a:rPr lang="fr-FR" sz="1200" dirty="0">
                          <a:solidFill>
                            <a:schemeClr val="tx1">
                              <a:lumMod val="50000"/>
                            </a:schemeClr>
                          </a:solidFill>
                        </a:rPr>
                        <a:t>Risque de taux réglementé </a:t>
                      </a:r>
                      <a:r>
                        <a:rPr lang="fr-FR" sz="1200" dirty="0">
                          <a:solidFill>
                            <a:schemeClr val="tx1">
                              <a:lumMod val="50000"/>
                            </a:schemeClr>
                          </a:solidFill>
                          <a:highlight>
                            <a:srgbClr val="FF0000"/>
                          </a:highlight>
                        </a:rPr>
                        <a:t>TLA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rowSpan="2">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rowSpan="2">
                  <a:txBody>
                    <a:bodyPr/>
                    <a:lstStyle/>
                    <a:p>
                      <a:pPr algn="ctr"/>
                      <a:r>
                        <a:rPr lang="fr-FR" sz="1200" b="1" dirty="0">
                          <a:solidFill>
                            <a:schemeClr val="bg1"/>
                          </a:solidFill>
                          <a:highlight>
                            <a:srgbClr val="FF0000"/>
                          </a:highlight>
                        </a:rPr>
                        <a:t>TLA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2A4C8"/>
                    </a:solidFill>
                  </a:tcPr>
                </a:tc>
                <a:tc rowSpan="3">
                  <a:txBody>
                    <a:bodyPr/>
                    <a:lstStyle/>
                    <a:p>
                      <a:r>
                        <a:rPr lang="fr-FR" sz="1100">
                          <a:solidFill>
                            <a:schemeClr val="tx1">
                              <a:lumMod val="50000"/>
                            </a:schemeClr>
                          </a:solidFill>
                        </a:rPr>
                        <a:t>Risque correspondant à l’adossement de passifs à taux réglementés à des actifs à taux révisable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51030902"/>
                  </a:ext>
                </a:extLst>
              </a:tr>
              <a:tr h="0">
                <a:tc vMerge="1">
                  <a:txBody>
                    <a:bodyPr/>
                    <a:lstStyle/>
                    <a:p>
                      <a:endParaRPr lang="fr-FR"/>
                    </a:p>
                  </a:txBody>
                  <a:tcPr/>
                </a:tc>
                <a:tc vMerge="1">
                  <a:txBody>
                    <a:bodyPr/>
                    <a:lstStyle/>
                    <a:p>
                      <a:pPr algn="ctr"/>
                      <a:endParaRPr lang="fr-FR" sz="1200">
                        <a:solidFill>
                          <a:schemeClr val="tx1">
                            <a:lumMod val="50000"/>
                          </a:schemeClr>
                        </a:solidFill>
                      </a:endParaRPr>
                    </a:p>
                  </a:txBody>
                  <a:tcPr anchor="ctr">
                    <a:lnR w="12700" cap="flat" cmpd="sng" algn="ctr">
                      <a:solidFill>
                        <a:schemeClr val="tx1"/>
                      </a:solidFill>
                      <a:prstDash val="solid"/>
                      <a:round/>
                      <a:headEnd type="none" w="med" len="med"/>
                      <a:tailEnd type="none" w="med" len="med"/>
                    </a:lnR>
                  </a:tcPr>
                </a:tc>
                <a:tc vMerge="1">
                  <a:txBody>
                    <a:bodyPr/>
                    <a:lstStyle/>
                    <a:p>
                      <a:pPr algn="ctr"/>
                      <a:endParaRPr lang="fr-FR" sz="1200" b="1">
                        <a:solidFill>
                          <a:schemeClr val="bg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vMerge="1">
                  <a:txBody>
                    <a:bodyPr/>
                    <a:lstStyle/>
                    <a:p>
                      <a:pPr algn="ctr"/>
                      <a:endParaRPr lang="fr-FR" sz="1200" b="1">
                        <a:solidFill>
                          <a:schemeClr val="bg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2A4C8"/>
                    </a:solidFill>
                  </a:tcPr>
                </a:tc>
                <a:tc vMerge="1">
                  <a:txBody>
                    <a:bodyPr/>
                    <a:lstStyle/>
                    <a:p>
                      <a:endParaRPr lang="fr-FR"/>
                    </a:p>
                  </a:txBody>
                  <a:tcPr>
                    <a:lnL w="12700" cap="flat" cmpd="sng" algn="ctr">
                      <a:solidFill>
                        <a:schemeClr val="tx1"/>
                      </a:solidFill>
                      <a:prstDash val="solid"/>
                      <a:round/>
                      <a:headEnd type="none" w="med" len="med"/>
                      <a:tailEnd type="none" w="med" len="med"/>
                    </a:lnL>
                  </a:tcPr>
                </a:tc>
                <a:tc rowSpan="2">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73073008"/>
                  </a:ext>
                </a:extLst>
              </a:tr>
              <a:tr h="268516">
                <a:tc vMerge="1">
                  <a:txBody>
                    <a:bodyPr/>
                    <a:lstStyle/>
                    <a:p>
                      <a:endParaRPr lang="fr-FR" sz="1400"/>
                    </a:p>
                  </a:txBody>
                  <a:tcPr/>
                </a:tc>
                <a:tc>
                  <a:txBody>
                    <a:bodyPr/>
                    <a:lstStyle/>
                    <a:p>
                      <a:pPr algn="ctr"/>
                      <a:r>
                        <a:rPr lang="fr-FR" sz="1200" dirty="0">
                          <a:solidFill>
                            <a:schemeClr val="tx1">
                              <a:lumMod val="50000"/>
                            </a:schemeClr>
                          </a:solidFill>
                        </a:rPr>
                        <a:t>Risque de taux réglementé </a:t>
                      </a:r>
                      <a:r>
                        <a:rPr lang="fr-FR" sz="1200" dirty="0">
                          <a:solidFill>
                            <a:schemeClr val="tx1">
                              <a:lumMod val="50000"/>
                            </a:schemeClr>
                          </a:solidFill>
                          <a:highlight>
                            <a:srgbClr val="FF0000"/>
                          </a:highlight>
                        </a:rPr>
                        <a:t>LEP</a:t>
                      </a:r>
                    </a:p>
                  </a:txBody>
                  <a:tcPr anchor="ctr">
                    <a:lnR w="12700" cap="flat" cmpd="sng" algn="ctr">
                      <a:solidFill>
                        <a:schemeClr val="tx1"/>
                      </a:solidFill>
                      <a:prstDash val="solid"/>
                      <a:round/>
                      <a:headEnd type="none" w="med" len="med"/>
                      <a:tailEnd type="none" w="med" len="med"/>
                    </a:lnR>
                  </a:tcPr>
                </a:tc>
                <a:tc>
                  <a:txBody>
                    <a:bodyPr/>
                    <a:lstStyle/>
                    <a:p>
                      <a:pPr algn="ctr"/>
                      <a:r>
                        <a:rPr lang="fr-FR" sz="1200" b="1" dirty="0">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a:txBody>
                    <a:bodyPr/>
                    <a:lstStyle/>
                    <a:p>
                      <a:pPr algn="ctr"/>
                      <a:r>
                        <a:rPr lang="fr-FR" sz="1200" b="1" dirty="0">
                          <a:solidFill>
                            <a:schemeClr val="tx1">
                              <a:lumMod val="50000"/>
                            </a:schemeClr>
                          </a:solidFill>
                          <a:highlight>
                            <a:srgbClr val="FF0000"/>
                          </a:highlight>
                        </a:rPr>
                        <a:t>LEP</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E6E6"/>
                    </a:solidFill>
                  </a:tcPr>
                </a:tc>
                <a:tc vMerge="1">
                  <a:txBody>
                    <a:bodyPr/>
                    <a:lstStyle/>
                    <a:p>
                      <a:endParaRPr lang="fr-FR" sz="120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tcPr>
                </a:tc>
                <a:tc vMerge="1">
                  <a:txBody>
                    <a:bodyPr/>
                    <a:lstStyle/>
                    <a:p>
                      <a:pPr algn="ctr"/>
                      <a:r>
                        <a:rPr lang="fr-FR" sz="1200" b="1">
                          <a:solidFill>
                            <a:schemeClr val="tx1">
                              <a:lumMod val="50000"/>
                            </a:schemeClr>
                          </a:solidFill>
                        </a:rPr>
                        <a:t>40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a:r>
                        <a:rPr lang="fr-FR" sz="1200" b="1">
                          <a:solidFill>
                            <a:schemeClr val="tx1">
                              <a:lumMod val="50000"/>
                            </a:schemeClr>
                          </a:solidFill>
                        </a:rPr>
                        <a:t>39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a:r>
                        <a:rPr lang="fr-FR" sz="1200" b="1">
                          <a:solidFill>
                            <a:schemeClr val="tx1">
                              <a:lumMod val="50000"/>
                            </a:schemeClr>
                          </a:solidFill>
                        </a:rPr>
                        <a:t>41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897285"/>
                  </a:ext>
                </a:extLst>
              </a:tr>
              <a:tr h="370885">
                <a:tc vMerge="1">
                  <a:txBody>
                    <a:bodyPr/>
                    <a:lstStyle/>
                    <a:p>
                      <a:endParaRPr lang="fr-FR"/>
                    </a:p>
                  </a:txBody>
                  <a:tcPr/>
                </a:tc>
                <a:tc>
                  <a:txBody>
                    <a:bodyPr/>
                    <a:lstStyle/>
                    <a:p>
                      <a:pPr algn="ctr"/>
                      <a:r>
                        <a:rPr lang="fr-FR" sz="1200" dirty="0">
                          <a:solidFill>
                            <a:schemeClr val="tx1">
                              <a:lumMod val="50000"/>
                            </a:schemeClr>
                          </a:solidFill>
                        </a:rPr>
                        <a:t>Risque de fixing </a:t>
                      </a:r>
                      <a:r>
                        <a:rPr lang="fr-FR" sz="1200" dirty="0">
                          <a:solidFill>
                            <a:schemeClr val="tx1">
                              <a:lumMod val="50000"/>
                            </a:schemeClr>
                          </a:solidFill>
                          <a:highlight>
                            <a:srgbClr val="FF0000"/>
                          </a:highlight>
                        </a:rPr>
                        <a:t>TLA-TLA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bg1"/>
                          </a:solidFill>
                        </a:rPr>
                        <a:t>TLA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2A4C8"/>
                    </a:solidFill>
                  </a:tcPr>
                </a:tc>
                <a:tc>
                  <a:txBody>
                    <a:bodyPr/>
                    <a:lstStyle/>
                    <a:p>
                      <a:pPr algn="ctr"/>
                      <a:r>
                        <a:rPr lang="fr-FR" sz="1200" b="1">
                          <a:solidFill>
                            <a:schemeClr val="bg1"/>
                          </a:solidFill>
                        </a:rPr>
                        <a:t>TLA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2A4C8"/>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lumMod val="50000"/>
                            </a:schemeClr>
                          </a:solidFill>
                        </a:rPr>
                        <a:t>Risque correspondant au délai de </a:t>
                      </a:r>
                      <a:r>
                        <a:rPr lang="fr-FR" sz="1100" dirty="0" err="1">
                          <a:solidFill>
                            <a:schemeClr val="tx1">
                              <a:lumMod val="50000"/>
                            </a:schemeClr>
                          </a:solidFill>
                        </a:rPr>
                        <a:t>repricing</a:t>
                      </a:r>
                      <a:r>
                        <a:rPr lang="fr-FR" sz="1100" dirty="0">
                          <a:solidFill>
                            <a:schemeClr val="tx1">
                              <a:lumMod val="50000"/>
                            </a:schemeClr>
                          </a:solidFill>
                        </a:rPr>
                        <a:t> des actifs et des passifs adossées au TLA</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6397040"/>
                  </a:ext>
                </a:extLst>
              </a:tr>
              <a:tr h="590828">
                <a:tc vMerge="1">
                  <a:txBody>
                    <a:bodyPr/>
                    <a:lstStyle/>
                    <a:p>
                      <a:endParaRPr lang="fr-FR"/>
                    </a:p>
                  </a:txBody>
                  <a:tcPr/>
                </a:tc>
                <a:tc>
                  <a:txBody>
                    <a:bodyPr/>
                    <a:lstStyle/>
                    <a:p>
                      <a:pPr algn="ctr"/>
                      <a:r>
                        <a:rPr lang="fr-FR" sz="1200" dirty="0">
                          <a:solidFill>
                            <a:schemeClr val="tx1">
                              <a:lumMod val="50000"/>
                            </a:schemeClr>
                          </a:solidFill>
                        </a:rPr>
                        <a:t>Risque de fixing E3M-E3M (pivot)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100">
                          <a:solidFill>
                            <a:schemeClr val="tx1">
                              <a:lumMod val="50000"/>
                            </a:schemeClr>
                          </a:solidFill>
                        </a:rPr>
                        <a:t>Risque correspondant au délai de repricing des actifs et des passifs adossées à l’E3M</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89989893"/>
                  </a:ext>
                </a:extLst>
              </a:tr>
              <a:tr h="268516">
                <a:tc vMerge="1">
                  <a:txBody>
                    <a:bodyPr/>
                    <a:lstStyle/>
                    <a:p>
                      <a:endParaRPr lang="fr-FR" sz="1400"/>
                    </a:p>
                  </a:txBody>
                  <a:tcPr/>
                </a:tc>
                <a:tc>
                  <a:txBody>
                    <a:bodyPr/>
                    <a:lstStyle/>
                    <a:p>
                      <a:pPr algn="ctr"/>
                      <a:r>
                        <a:rPr lang="fr-FR" sz="1200">
                          <a:solidFill>
                            <a:schemeClr val="tx1">
                              <a:lumMod val="50000"/>
                            </a:schemeClr>
                          </a:solidFill>
                        </a:rPr>
                        <a:t>Risque optionnel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endParaRPr lang="fr-FR" sz="1200" b="1">
                        <a:solidFill>
                          <a:schemeClr val="bg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endParaRPr lang="fr-FR" sz="1200" b="1">
                        <a:solidFill>
                          <a:schemeClr val="bg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100">
                        <a:solidFill>
                          <a:schemeClr val="tx1">
                            <a:lumMod val="50000"/>
                          </a:schemeClr>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3E7880">
                        <a:alpha val="0"/>
                      </a:srgbClr>
                    </a:solid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54944584"/>
                  </a:ext>
                </a:extLst>
              </a:tr>
              <a:tr h="516590">
                <a:tc rowSpan="2">
                  <a:txBody>
                    <a:bodyPr/>
                    <a:lstStyle/>
                    <a:p>
                      <a:pPr algn="ctr"/>
                      <a:r>
                        <a:rPr lang="fr-FR" sz="1200" b="1">
                          <a:solidFill>
                            <a:schemeClr val="bg1"/>
                          </a:solidFill>
                        </a:rPr>
                        <a:t>Risques sur PN</a:t>
                      </a:r>
                    </a:p>
                  </a:txBody>
                  <a:tcPr vert="vert27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pPr algn="ctr"/>
                      <a:r>
                        <a:rPr lang="fr-FR" sz="1200">
                          <a:solidFill>
                            <a:schemeClr val="tx1">
                              <a:lumMod val="50000"/>
                            </a:schemeClr>
                          </a:solidFill>
                        </a:rPr>
                        <a:t>Risque de pente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bg1"/>
                          </a:solidFill>
                        </a:rPr>
                        <a:t>TF LT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15264"/>
                    </a:solidFill>
                  </a:tcPr>
                </a:tc>
                <a:tc>
                  <a:txBody>
                    <a:bodyPr/>
                    <a:lstStyle/>
                    <a:p>
                      <a:pPr algn="ctr"/>
                      <a:r>
                        <a:rPr lang="fr-FR" sz="1200" b="1">
                          <a:solidFill>
                            <a:schemeClr val="bg1"/>
                          </a:solidFill>
                        </a:rPr>
                        <a:t>TF MT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15264"/>
                    </a:solidFill>
                  </a:tcPr>
                </a:tc>
                <a:tc>
                  <a:txBody>
                    <a:bodyPr/>
                    <a:lstStyle/>
                    <a:p>
                      <a:r>
                        <a:rPr lang="fr-FR" sz="1100">
                          <a:solidFill>
                            <a:schemeClr val="tx1">
                              <a:lumMod val="50000"/>
                            </a:schemeClr>
                          </a:solidFill>
                        </a:rPr>
                        <a:t>Risque lié à la différence de maturité entre les nouveaux actifs à taux fixe et les nouveaux passifs à taux fixe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3E7880">
                        <a:alpha val="0"/>
                      </a:srgbClr>
                    </a:solid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4392709"/>
                  </a:ext>
                </a:extLst>
              </a:tr>
              <a:tr h="516590">
                <a:tc vMerge="1">
                  <a:txBody>
                    <a:bodyPr/>
                    <a:lstStyle/>
                    <a:p>
                      <a:endParaRPr lang="fr-FR" sz="1400"/>
                    </a:p>
                  </a:txBody>
                  <a:tcPr/>
                </a:tc>
                <a:tc>
                  <a:txBody>
                    <a:bodyPr/>
                    <a:lstStyle/>
                    <a:p>
                      <a:pPr algn="ctr"/>
                      <a:r>
                        <a:rPr lang="fr-FR" sz="1200">
                          <a:solidFill>
                            <a:schemeClr val="tx1">
                              <a:lumMod val="50000"/>
                            </a:schemeClr>
                          </a:solidFill>
                        </a:rPr>
                        <a:t>Risque de repricing TF</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marL="0" algn="ctr" defTabSz="914400" rtl="0" eaLnBrk="1" latinLnBrk="0" hangingPunct="1"/>
                      <a:r>
                        <a:rPr lang="fr-FR" sz="1200" b="1" i="0" kern="1200">
                          <a:solidFill>
                            <a:schemeClr val="bg1"/>
                          </a:solidFill>
                          <a:latin typeface="Calibri"/>
                          <a:cs typeface="Calibri"/>
                        </a:rPr>
                        <a:t>TF LT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15264"/>
                    </a:solidFill>
                  </a:tcPr>
                </a:tc>
                <a:tc>
                  <a:txBody>
                    <a:bodyPr/>
                    <a:lstStyle/>
                    <a:p>
                      <a:pPr marL="0" algn="ctr" defTabSz="914400" rtl="0" eaLnBrk="1" latinLnBrk="0" hangingPunct="1"/>
                      <a:r>
                        <a:rPr lang="fr-FR" sz="1200" b="1" i="0" kern="1200">
                          <a:solidFill>
                            <a:schemeClr val="bg1"/>
                          </a:solidFill>
                          <a:latin typeface="Calibri"/>
                          <a:cs typeface="Calibri"/>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100">
                          <a:solidFill>
                            <a:schemeClr val="tx1">
                              <a:lumMod val="50000"/>
                            </a:schemeClr>
                          </a:solidFill>
                        </a:rPr>
                        <a:t>Risque correspondant à l’adossement des nouveaux actifs à taux fixe incertains à des passifs à taux révisable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3E7880">
                        <a:alpha val="0"/>
                      </a:srgbClr>
                    </a:solid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88034098"/>
                  </a:ext>
                </a:extLst>
              </a:tr>
            </a:tbl>
          </a:graphicData>
        </a:graphic>
      </p:graphicFrame>
      <p:sp>
        <p:nvSpPr>
          <p:cNvPr id="4" name="Espace réservé du texte 16">
            <a:extLst>
              <a:ext uri="{FF2B5EF4-FFF2-40B4-BE49-F238E27FC236}">
                <a16:creationId xmlns:a16="http://schemas.microsoft.com/office/drawing/2014/main" id="{99197C34-4D17-2B3F-EC1E-A8ED6E813EFE}"/>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118111473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E101C97-A8F0-9BDC-F82D-A4BD8B767A30}"/>
              </a:ext>
            </a:extLst>
          </p:cNvPr>
          <p:cNvSpPr>
            <a:spLocks noGrp="1"/>
          </p:cNvSpPr>
          <p:nvPr>
            <p:ph type="body" sz="quarter" idx="11"/>
          </p:nvPr>
        </p:nvSpPr>
        <p:spPr/>
        <p:txBody>
          <a:bodyPr/>
          <a:lstStyle/>
          <a:p>
            <a:r>
              <a:rPr lang="fr-FR" dirty="0"/>
              <a:t>Annexes</a:t>
            </a:r>
          </a:p>
        </p:txBody>
      </p:sp>
      <p:graphicFrame>
        <p:nvGraphicFramePr>
          <p:cNvPr id="8" name="Table 7">
            <a:extLst>
              <a:ext uri="{FF2B5EF4-FFF2-40B4-BE49-F238E27FC236}">
                <a16:creationId xmlns:a16="http://schemas.microsoft.com/office/drawing/2014/main" id="{9F1A1478-0717-7A4E-96A7-23FC4CE9BC07}"/>
              </a:ext>
            </a:extLst>
          </p:cNvPr>
          <p:cNvGraphicFramePr>
            <a:graphicFrameLocks noGrp="1"/>
          </p:cNvGraphicFramePr>
          <p:nvPr/>
        </p:nvGraphicFramePr>
        <p:xfrm>
          <a:off x="768130" y="978427"/>
          <a:ext cx="5890578" cy="3583524"/>
        </p:xfrm>
        <a:graphic>
          <a:graphicData uri="http://schemas.openxmlformats.org/drawingml/2006/table">
            <a:tbl>
              <a:tblPr firstRow="1" bandRow="1">
                <a:tableStyleId>{B407F83F-F4B1-428F-90E6-6AE17F0CE779}</a:tableStyleId>
              </a:tblPr>
              <a:tblGrid>
                <a:gridCol w="2945289">
                  <a:extLst>
                    <a:ext uri="{9D8B030D-6E8A-4147-A177-3AD203B41FA5}">
                      <a16:colId xmlns:a16="http://schemas.microsoft.com/office/drawing/2014/main" val="365084050"/>
                    </a:ext>
                  </a:extLst>
                </a:gridCol>
                <a:gridCol w="2945289">
                  <a:extLst>
                    <a:ext uri="{9D8B030D-6E8A-4147-A177-3AD203B41FA5}">
                      <a16:colId xmlns:a16="http://schemas.microsoft.com/office/drawing/2014/main" val="3308542114"/>
                    </a:ext>
                  </a:extLst>
                </a:gridCol>
              </a:tblGrid>
              <a:tr h="527422">
                <a:tc>
                  <a:txBody>
                    <a:bodyPr/>
                    <a:lstStyle/>
                    <a:p>
                      <a:r>
                        <a:rPr lang="fr-FR" b="1" dirty="0"/>
                        <a:t>Documents réglementaires</a:t>
                      </a:r>
                    </a:p>
                  </a:txBody>
                  <a:tcPr>
                    <a:solidFill>
                      <a:schemeClr val="bg1">
                        <a:lumMod val="75000"/>
                      </a:schemeClr>
                    </a:solidFill>
                  </a:tcPr>
                </a:tc>
                <a:tc>
                  <a:txBody>
                    <a:bodyPr/>
                    <a:lstStyle/>
                    <a:p>
                      <a:r>
                        <a:rPr lang="fr-FR" b="1" dirty="0"/>
                        <a:t>Liens</a:t>
                      </a:r>
                    </a:p>
                  </a:txBody>
                  <a:tcPr>
                    <a:solidFill>
                      <a:schemeClr val="bg1">
                        <a:lumMod val="75000"/>
                      </a:schemeClr>
                    </a:solidFill>
                  </a:tcPr>
                </a:tc>
                <a:extLst>
                  <a:ext uri="{0D108BD9-81ED-4DB2-BD59-A6C34878D82A}">
                    <a16:rowId xmlns:a16="http://schemas.microsoft.com/office/drawing/2014/main" val="3062179187"/>
                  </a:ext>
                </a:extLst>
              </a:tr>
              <a:tr h="527422">
                <a:tc>
                  <a:txBody>
                    <a:bodyPr/>
                    <a:lstStyle/>
                    <a:p>
                      <a:r>
                        <a:rPr lang="fr-FR" dirty="0"/>
                        <a:t>EBA RTS on SA</a:t>
                      </a:r>
                    </a:p>
                  </a:txBody>
                  <a:tcPr/>
                </a:tc>
                <a:tc>
                  <a:txBody>
                    <a:bodyPr/>
                    <a:lstStyle/>
                    <a:p>
                      <a:r>
                        <a:rPr lang="fr-FR" dirty="0">
                          <a:hlinkClick r:id="rId2"/>
                        </a:rPr>
                        <a:t>EBA RTS on SA</a:t>
                      </a:r>
                      <a:endParaRPr lang="fr-FR" dirty="0"/>
                    </a:p>
                  </a:txBody>
                  <a:tcPr/>
                </a:tc>
                <a:extLst>
                  <a:ext uri="{0D108BD9-81ED-4DB2-BD59-A6C34878D82A}">
                    <a16:rowId xmlns:a16="http://schemas.microsoft.com/office/drawing/2014/main" val="2162853318"/>
                  </a:ext>
                </a:extLst>
              </a:tr>
              <a:tr h="561513">
                <a:tc>
                  <a:txBody>
                    <a:bodyPr/>
                    <a:lstStyle/>
                    <a:p>
                      <a:r>
                        <a:rPr lang="fr-FR" dirty="0"/>
                        <a:t>EBA RTS on SOT</a:t>
                      </a:r>
                    </a:p>
                  </a:txBody>
                  <a:tcPr/>
                </a:tc>
                <a:tc>
                  <a:txBody>
                    <a:bodyPr/>
                    <a:lstStyle/>
                    <a:p>
                      <a:r>
                        <a:rPr lang="fr-FR" dirty="0">
                          <a:hlinkClick r:id="rId3"/>
                        </a:rPr>
                        <a:t>EBA RTS on SOT</a:t>
                      </a:r>
                      <a:endParaRPr lang="fr-FR" dirty="0"/>
                    </a:p>
                  </a:txBody>
                  <a:tcPr/>
                </a:tc>
                <a:extLst>
                  <a:ext uri="{0D108BD9-81ED-4DB2-BD59-A6C34878D82A}">
                    <a16:rowId xmlns:a16="http://schemas.microsoft.com/office/drawing/2014/main" val="1660030121"/>
                  </a:ext>
                </a:extLst>
              </a:tr>
              <a:tr h="487805">
                <a:tc>
                  <a:txBody>
                    <a:bodyPr/>
                    <a:lstStyle/>
                    <a:p>
                      <a:r>
                        <a:rPr lang="fr-FR" dirty="0"/>
                        <a:t>RD 855</a:t>
                      </a:r>
                    </a:p>
                  </a:txBody>
                  <a:tcPr/>
                </a:tc>
                <a:tc>
                  <a:txBody>
                    <a:bodyPr/>
                    <a:lstStyle/>
                    <a:p>
                      <a:r>
                        <a:rPr lang="fr-FR" dirty="0">
                          <a:hlinkClick r:id="rId4"/>
                        </a:rPr>
                        <a:t>RD 855</a:t>
                      </a:r>
                      <a:endParaRPr lang="fr-FR" dirty="0"/>
                    </a:p>
                  </a:txBody>
                  <a:tcPr/>
                </a:tc>
                <a:extLst>
                  <a:ext uri="{0D108BD9-81ED-4DB2-BD59-A6C34878D82A}">
                    <a16:rowId xmlns:a16="http://schemas.microsoft.com/office/drawing/2014/main" val="137107242"/>
                  </a:ext>
                </a:extLst>
              </a:tr>
              <a:tr h="487805">
                <a:tc>
                  <a:txBody>
                    <a:bodyPr/>
                    <a:lstStyle/>
                    <a:p>
                      <a:r>
                        <a:rPr lang="fr-FR" dirty="0"/>
                        <a:t>RD 856</a:t>
                      </a:r>
                    </a:p>
                  </a:txBody>
                  <a:tcPr/>
                </a:tc>
                <a:tc>
                  <a:txBody>
                    <a:bodyPr/>
                    <a:lstStyle/>
                    <a:p>
                      <a:r>
                        <a:rPr lang="fr-FR" dirty="0">
                          <a:hlinkClick r:id="rId5"/>
                        </a:rPr>
                        <a:t>RD 856</a:t>
                      </a:r>
                      <a:endParaRPr lang="fr-FR" dirty="0"/>
                    </a:p>
                  </a:txBody>
                  <a:tcPr/>
                </a:tc>
                <a:extLst>
                  <a:ext uri="{0D108BD9-81ED-4DB2-BD59-A6C34878D82A}">
                    <a16:rowId xmlns:a16="http://schemas.microsoft.com/office/drawing/2014/main" val="2569665290"/>
                  </a:ext>
                </a:extLst>
              </a:tr>
              <a:tr h="487805">
                <a:tc>
                  <a:txBody>
                    <a:bodyPr/>
                    <a:lstStyle/>
                    <a:p>
                      <a:r>
                        <a:rPr lang="fr-FR" dirty="0"/>
                        <a:t>RD 857</a:t>
                      </a:r>
                    </a:p>
                  </a:txBody>
                  <a:tcPr/>
                </a:tc>
                <a:tc>
                  <a:txBody>
                    <a:bodyPr/>
                    <a:lstStyle/>
                    <a:p>
                      <a:r>
                        <a:rPr lang="fr-FR" dirty="0">
                          <a:hlinkClick r:id="rId6"/>
                        </a:rPr>
                        <a:t>RD 857</a:t>
                      </a:r>
                      <a:endParaRPr lang="fr-FR" dirty="0"/>
                    </a:p>
                  </a:txBody>
                  <a:tcPr/>
                </a:tc>
                <a:extLst>
                  <a:ext uri="{0D108BD9-81ED-4DB2-BD59-A6C34878D82A}">
                    <a16:rowId xmlns:a16="http://schemas.microsoft.com/office/drawing/2014/main" val="1712358744"/>
                  </a:ext>
                </a:extLst>
              </a:tr>
              <a:tr h="503752">
                <a:tc>
                  <a:txBody>
                    <a:bodyPr/>
                    <a:lstStyle/>
                    <a:p>
                      <a:r>
                        <a:rPr lang="fr-FR" dirty="0"/>
                        <a:t>Article BdF</a:t>
                      </a:r>
                    </a:p>
                  </a:txBody>
                  <a:tcPr/>
                </a:tc>
                <a:tc>
                  <a:txBody>
                    <a:bodyPr/>
                    <a:lstStyle/>
                    <a:p>
                      <a:r>
                        <a:rPr lang="fr-FR" dirty="0">
                          <a:hlinkClick r:id="rId7"/>
                        </a:rPr>
                        <a:t>Rémunération des RO </a:t>
                      </a:r>
                      <a:endParaRPr lang="fr-FR" dirty="0"/>
                    </a:p>
                  </a:txBody>
                  <a:tcPr/>
                </a:tc>
                <a:extLst>
                  <a:ext uri="{0D108BD9-81ED-4DB2-BD59-A6C34878D82A}">
                    <a16:rowId xmlns:a16="http://schemas.microsoft.com/office/drawing/2014/main" val="2795377040"/>
                  </a:ext>
                </a:extLst>
              </a:tr>
            </a:tbl>
          </a:graphicData>
        </a:graphic>
      </p:graphicFrame>
      <p:graphicFrame>
        <p:nvGraphicFramePr>
          <p:cNvPr id="3" name="Table 2">
            <a:extLst>
              <a:ext uri="{FF2B5EF4-FFF2-40B4-BE49-F238E27FC236}">
                <a16:creationId xmlns:a16="http://schemas.microsoft.com/office/drawing/2014/main" id="{CB51DF4A-2E5A-BB28-FE56-7E3A7E1F84D5}"/>
              </a:ext>
            </a:extLst>
          </p:cNvPr>
          <p:cNvGraphicFramePr>
            <a:graphicFrameLocks noGrp="1"/>
          </p:cNvGraphicFramePr>
          <p:nvPr/>
        </p:nvGraphicFramePr>
        <p:xfrm>
          <a:off x="768130" y="4721808"/>
          <a:ext cx="5890578" cy="1431315"/>
        </p:xfrm>
        <a:graphic>
          <a:graphicData uri="http://schemas.openxmlformats.org/drawingml/2006/table">
            <a:tbl>
              <a:tblPr firstRow="1" bandRow="1">
                <a:tableStyleId>{B407F83F-F4B1-428F-90E6-6AE17F0CE779}</a:tableStyleId>
              </a:tblPr>
              <a:tblGrid>
                <a:gridCol w="2945289">
                  <a:extLst>
                    <a:ext uri="{9D8B030D-6E8A-4147-A177-3AD203B41FA5}">
                      <a16:colId xmlns:a16="http://schemas.microsoft.com/office/drawing/2014/main" val="1831179284"/>
                    </a:ext>
                  </a:extLst>
                </a:gridCol>
                <a:gridCol w="2945289">
                  <a:extLst>
                    <a:ext uri="{9D8B030D-6E8A-4147-A177-3AD203B41FA5}">
                      <a16:colId xmlns:a16="http://schemas.microsoft.com/office/drawing/2014/main" val="1673161405"/>
                    </a:ext>
                  </a:extLst>
                </a:gridCol>
              </a:tblGrid>
              <a:tr h="516915">
                <a:tc>
                  <a:txBody>
                    <a:bodyPr/>
                    <a:lstStyle/>
                    <a:p>
                      <a:r>
                        <a:rPr lang="fr-FR" b="1" dirty="0"/>
                        <a:t>Document annexe</a:t>
                      </a:r>
                    </a:p>
                  </a:txBody>
                  <a:tcPr>
                    <a:solidFill>
                      <a:schemeClr val="bg1">
                        <a:lumMod val="75000"/>
                      </a:schemeClr>
                    </a:solidFill>
                  </a:tcPr>
                </a:tc>
                <a:tc>
                  <a:txBody>
                    <a:bodyPr/>
                    <a:lstStyle/>
                    <a:p>
                      <a:r>
                        <a:rPr lang="fr-FR" b="1" dirty="0"/>
                        <a:t>Lien</a:t>
                      </a:r>
                    </a:p>
                  </a:txBody>
                  <a:tcPr>
                    <a:solidFill>
                      <a:schemeClr val="bg1">
                        <a:lumMod val="75000"/>
                      </a:schemeClr>
                    </a:solidFill>
                  </a:tcPr>
                </a:tc>
                <a:extLst>
                  <a:ext uri="{0D108BD9-81ED-4DB2-BD59-A6C34878D82A}">
                    <a16:rowId xmlns:a16="http://schemas.microsoft.com/office/drawing/2014/main" val="847519560"/>
                  </a:ext>
                </a:extLst>
              </a:tr>
              <a:tr h="527422">
                <a:tc>
                  <a:txBody>
                    <a:bodyPr/>
                    <a:lstStyle/>
                    <a:p>
                      <a:r>
                        <a:rPr lang="fr-FR" dirty="0"/>
                        <a:t>Mémoire « </a:t>
                      </a:r>
                      <a:r>
                        <a:rPr lang="en-US" dirty="0"/>
                        <a:t>MODELING INTEREST RATE RISK IN THE BANKING BOOK”</a:t>
                      </a:r>
                      <a:endParaRPr lang="fr-FR"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hlinkClick r:id="rId8"/>
                        </a:rPr>
                        <a:t>FULLTEXT01</a:t>
                      </a:r>
                      <a:endParaRPr lang="fr-FR" dirty="0"/>
                    </a:p>
                  </a:txBody>
                  <a:tcPr/>
                </a:tc>
                <a:extLst>
                  <a:ext uri="{0D108BD9-81ED-4DB2-BD59-A6C34878D82A}">
                    <a16:rowId xmlns:a16="http://schemas.microsoft.com/office/drawing/2014/main" val="3744175647"/>
                  </a:ext>
                </a:extLst>
              </a:tr>
            </a:tbl>
          </a:graphicData>
        </a:graphic>
      </p:graphicFrame>
    </p:spTree>
    <p:extLst>
      <p:ext uri="{BB962C8B-B14F-4D97-AF65-F5344CB8AC3E}">
        <p14:creationId xmlns:p14="http://schemas.microsoft.com/office/powerpoint/2010/main" val="73360272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Trame PPT la thématique IRRBB</a:t>
            </a:r>
          </a:p>
        </p:txBody>
      </p:sp>
      <p:grpSp>
        <p:nvGrpSpPr>
          <p:cNvPr id="55" name="Group 54">
            <a:extLst>
              <a:ext uri="{FF2B5EF4-FFF2-40B4-BE49-F238E27FC236}">
                <a16:creationId xmlns:a16="http://schemas.microsoft.com/office/drawing/2014/main" id="{5C2F409F-E0C8-8DF0-ECD4-58B84C296FA9}"/>
              </a:ext>
            </a:extLst>
          </p:cNvPr>
          <p:cNvGrpSpPr/>
          <p:nvPr/>
        </p:nvGrpSpPr>
        <p:grpSpPr>
          <a:xfrm>
            <a:off x="907877" y="1321879"/>
            <a:ext cx="10376246" cy="4214242"/>
            <a:chOff x="921233" y="1316512"/>
            <a:chExt cx="10376246" cy="4214242"/>
          </a:xfrm>
        </p:grpSpPr>
        <p:grpSp>
          <p:nvGrpSpPr>
            <p:cNvPr id="15" name="Group 14">
              <a:extLst>
                <a:ext uri="{FF2B5EF4-FFF2-40B4-BE49-F238E27FC236}">
                  <a16:creationId xmlns:a16="http://schemas.microsoft.com/office/drawing/2014/main" id="{646DA35F-69B3-C4B1-F0F4-E542FE69799B}"/>
                </a:ext>
              </a:extLst>
            </p:cNvPr>
            <p:cNvGrpSpPr/>
            <p:nvPr/>
          </p:nvGrpSpPr>
          <p:grpSpPr>
            <a:xfrm>
              <a:off x="4698747" y="2031748"/>
              <a:ext cx="2794503" cy="2794503"/>
              <a:chOff x="4698747" y="2031748"/>
              <a:chExt cx="2794503" cy="2794503"/>
            </a:xfrm>
          </p:grpSpPr>
          <p:grpSp>
            <p:nvGrpSpPr>
              <p:cNvPr id="11" name="Group 10">
                <a:extLst>
                  <a:ext uri="{FF2B5EF4-FFF2-40B4-BE49-F238E27FC236}">
                    <a16:creationId xmlns:a16="http://schemas.microsoft.com/office/drawing/2014/main" id="{8A8AD1B0-12B8-8C47-D4A2-A54A199F66B1}"/>
                  </a:ext>
                </a:extLst>
              </p:cNvPr>
              <p:cNvGrpSpPr/>
              <p:nvPr/>
            </p:nvGrpSpPr>
            <p:grpSpPr>
              <a:xfrm>
                <a:off x="4919382" y="2252383"/>
                <a:ext cx="2353235" cy="2353235"/>
                <a:chOff x="4919382" y="1679107"/>
                <a:chExt cx="2353235" cy="2353235"/>
              </a:xfrm>
            </p:grpSpPr>
            <p:sp>
              <p:nvSpPr>
                <p:cNvPr id="6" name="Diamond 5">
                  <a:extLst>
                    <a:ext uri="{FF2B5EF4-FFF2-40B4-BE49-F238E27FC236}">
                      <a16:creationId xmlns:a16="http://schemas.microsoft.com/office/drawing/2014/main" id="{6C5C5E35-1DCF-C219-AB1D-31A00CA8D4E6}"/>
                    </a:ext>
                  </a:extLst>
                </p:cNvPr>
                <p:cNvSpPr/>
                <p:nvPr/>
              </p:nvSpPr>
              <p:spPr>
                <a:xfrm>
                  <a:off x="4919382" y="1679107"/>
                  <a:ext cx="2353235" cy="2353235"/>
                </a:xfrm>
                <a:prstGeom prst="diamond">
                  <a:avLst/>
                </a:prstGeom>
                <a:solidFill>
                  <a:schemeClr val="accent5">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 name="Group 9">
                  <a:extLst>
                    <a:ext uri="{FF2B5EF4-FFF2-40B4-BE49-F238E27FC236}">
                      <a16:creationId xmlns:a16="http://schemas.microsoft.com/office/drawing/2014/main" id="{B3DC3E1D-869C-D3E3-2BF5-03FA6858822E}"/>
                    </a:ext>
                  </a:extLst>
                </p:cNvPr>
                <p:cNvGrpSpPr/>
                <p:nvPr/>
              </p:nvGrpSpPr>
              <p:grpSpPr>
                <a:xfrm>
                  <a:off x="5389829" y="2234904"/>
                  <a:ext cx="1412341" cy="1194096"/>
                  <a:chOff x="5457396" y="2383795"/>
                  <a:chExt cx="1412341" cy="1194096"/>
                </a:xfrm>
              </p:grpSpPr>
              <p:pic>
                <p:nvPicPr>
                  <p:cNvPr id="8" name="Graphic 7" descr="Gears with solid fill">
                    <a:extLst>
                      <a:ext uri="{FF2B5EF4-FFF2-40B4-BE49-F238E27FC236}">
                        <a16:creationId xmlns:a16="http://schemas.microsoft.com/office/drawing/2014/main" id="{265134B5-49A7-87BD-9A4F-E1C232E4164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809726" y="2383795"/>
                    <a:ext cx="707680" cy="707680"/>
                  </a:xfrm>
                  <a:prstGeom prst="rect">
                    <a:avLst/>
                  </a:prstGeom>
                </p:spPr>
              </p:pic>
              <p:sp>
                <p:nvSpPr>
                  <p:cNvPr id="9" name="TextBox 8">
                    <a:extLst>
                      <a:ext uri="{FF2B5EF4-FFF2-40B4-BE49-F238E27FC236}">
                        <a16:creationId xmlns:a16="http://schemas.microsoft.com/office/drawing/2014/main" id="{7553E8DD-35B8-5600-27E3-FC85FB45ED15}"/>
                      </a:ext>
                    </a:extLst>
                  </p:cNvPr>
                  <p:cNvSpPr txBox="1"/>
                  <p:nvPr/>
                </p:nvSpPr>
                <p:spPr>
                  <a:xfrm>
                    <a:off x="5457396" y="3162393"/>
                    <a:ext cx="1412341" cy="415498"/>
                  </a:xfrm>
                  <a:prstGeom prst="rect">
                    <a:avLst/>
                  </a:prstGeom>
                  <a:noFill/>
                </p:spPr>
                <p:txBody>
                  <a:bodyPr wrap="square" rtlCol="0">
                    <a:spAutoFit/>
                  </a:bodyPr>
                  <a:lstStyle/>
                  <a:p>
                    <a:pPr algn="ctr"/>
                    <a:r>
                      <a:rPr lang="fr-FR" sz="1050" b="1">
                        <a:solidFill>
                          <a:schemeClr val="bg1"/>
                        </a:solidFill>
                      </a:rPr>
                      <a:t>Thématiques IRRBB</a:t>
                    </a:r>
                  </a:p>
                </p:txBody>
              </p:sp>
            </p:grpSp>
          </p:grpSp>
          <p:sp>
            <p:nvSpPr>
              <p:cNvPr id="12" name="Diamond 11">
                <a:extLst>
                  <a:ext uri="{FF2B5EF4-FFF2-40B4-BE49-F238E27FC236}">
                    <a16:creationId xmlns:a16="http://schemas.microsoft.com/office/drawing/2014/main" id="{9F4CA0F8-815C-668A-797D-E0B0920E9BFE}"/>
                  </a:ext>
                </a:extLst>
              </p:cNvPr>
              <p:cNvSpPr/>
              <p:nvPr/>
            </p:nvSpPr>
            <p:spPr>
              <a:xfrm>
                <a:off x="4796827" y="2129828"/>
                <a:ext cx="2598344" cy="2598344"/>
              </a:xfrm>
              <a:prstGeom prst="diamond">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Diamond 12">
                <a:extLst>
                  <a:ext uri="{FF2B5EF4-FFF2-40B4-BE49-F238E27FC236}">
                    <a16:creationId xmlns:a16="http://schemas.microsoft.com/office/drawing/2014/main" id="{22FF29BD-F2CD-4408-7A43-32B4D5686335}"/>
                  </a:ext>
                </a:extLst>
              </p:cNvPr>
              <p:cNvSpPr/>
              <p:nvPr/>
            </p:nvSpPr>
            <p:spPr>
              <a:xfrm>
                <a:off x="4698747" y="2031748"/>
                <a:ext cx="2794503" cy="2794503"/>
              </a:xfrm>
              <a:prstGeom prst="diamond">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4" name="Diamond 13">
              <a:extLst>
                <a:ext uri="{FF2B5EF4-FFF2-40B4-BE49-F238E27FC236}">
                  <a16:creationId xmlns:a16="http://schemas.microsoft.com/office/drawing/2014/main" id="{F4132097-4AF9-927A-56DD-7ED20EA08124}"/>
                </a:ext>
              </a:extLst>
            </p:cNvPr>
            <p:cNvSpPr/>
            <p:nvPr/>
          </p:nvSpPr>
          <p:spPr>
            <a:xfrm>
              <a:off x="4597272" y="1930273"/>
              <a:ext cx="2997451" cy="2997451"/>
            </a:xfrm>
            <a:prstGeom prst="diamond">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lowchart: Connector 15">
              <a:extLst>
                <a:ext uri="{FF2B5EF4-FFF2-40B4-BE49-F238E27FC236}">
                  <a16:creationId xmlns:a16="http://schemas.microsoft.com/office/drawing/2014/main" id="{A4FAD0BE-1625-9996-B0EE-0697F492B990}"/>
                </a:ext>
              </a:extLst>
            </p:cNvPr>
            <p:cNvSpPr/>
            <p:nvPr/>
          </p:nvSpPr>
          <p:spPr>
            <a:xfrm>
              <a:off x="6747849" y="2668171"/>
              <a:ext cx="108641" cy="108641"/>
            </a:xfrm>
            <a:prstGeom prst="flowChartConnector">
              <a:avLst/>
            </a:prstGeom>
            <a:solidFill>
              <a:schemeClr val="accent5">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Flowchart: Connector 17">
              <a:extLst>
                <a:ext uri="{FF2B5EF4-FFF2-40B4-BE49-F238E27FC236}">
                  <a16:creationId xmlns:a16="http://schemas.microsoft.com/office/drawing/2014/main" id="{9C688F57-0C9B-B80F-1674-13BFFC4E71D7}"/>
                </a:ext>
              </a:extLst>
            </p:cNvPr>
            <p:cNvSpPr/>
            <p:nvPr/>
          </p:nvSpPr>
          <p:spPr>
            <a:xfrm>
              <a:off x="6747849" y="4056885"/>
              <a:ext cx="108641" cy="108641"/>
            </a:xfrm>
            <a:prstGeom prst="flowChartConnector">
              <a:avLst/>
            </a:prstGeom>
            <a:solidFill>
              <a:schemeClr val="accent5">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lowchart: Connector 18">
              <a:extLst>
                <a:ext uri="{FF2B5EF4-FFF2-40B4-BE49-F238E27FC236}">
                  <a16:creationId xmlns:a16="http://schemas.microsoft.com/office/drawing/2014/main" id="{43F89649-B73E-158D-B6C4-7D1AF79D3093}"/>
                </a:ext>
              </a:extLst>
            </p:cNvPr>
            <p:cNvSpPr/>
            <p:nvPr/>
          </p:nvSpPr>
          <p:spPr>
            <a:xfrm>
              <a:off x="5333246" y="4056886"/>
              <a:ext cx="108641" cy="108641"/>
            </a:xfrm>
            <a:prstGeom prst="flowChartConnector">
              <a:avLst/>
            </a:prstGeom>
            <a:solidFill>
              <a:schemeClr val="accent5">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Flowchart: Connector 20">
              <a:extLst>
                <a:ext uri="{FF2B5EF4-FFF2-40B4-BE49-F238E27FC236}">
                  <a16:creationId xmlns:a16="http://schemas.microsoft.com/office/drawing/2014/main" id="{8C119090-0A70-5756-4E90-856F5D543A4F}"/>
                </a:ext>
              </a:extLst>
            </p:cNvPr>
            <p:cNvSpPr/>
            <p:nvPr/>
          </p:nvSpPr>
          <p:spPr>
            <a:xfrm>
              <a:off x="5333246" y="2668171"/>
              <a:ext cx="108641" cy="108641"/>
            </a:xfrm>
            <a:prstGeom prst="flowChartConnector">
              <a:avLst/>
            </a:prstGeom>
            <a:solidFill>
              <a:schemeClr val="accent5">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3" name="Straight Connector 22">
              <a:extLst>
                <a:ext uri="{FF2B5EF4-FFF2-40B4-BE49-F238E27FC236}">
                  <a16:creationId xmlns:a16="http://schemas.microsoft.com/office/drawing/2014/main" id="{1DF7D0CA-D4B5-0F22-1B54-534356FF8E23}"/>
                </a:ext>
              </a:extLst>
            </p:cNvPr>
            <p:cNvCxnSpPr>
              <a:cxnSpLocks/>
              <a:stCxn id="16" idx="7"/>
            </p:cNvCxnSpPr>
            <p:nvPr/>
          </p:nvCxnSpPr>
          <p:spPr>
            <a:xfrm flipV="1">
              <a:off x="6840580" y="2150910"/>
              <a:ext cx="615112" cy="53317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CD6341BF-926B-C1B2-4CFA-84866319B2CD}"/>
                </a:ext>
              </a:extLst>
            </p:cNvPr>
            <p:cNvCxnSpPr>
              <a:stCxn id="21" idx="1"/>
            </p:cNvCxnSpPr>
            <p:nvPr/>
          </p:nvCxnSpPr>
          <p:spPr>
            <a:xfrm flipH="1" flipV="1">
              <a:off x="4736306" y="2053808"/>
              <a:ext cx="612850" cy="630273"/>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F8ED40A6-E2BF-8522-FCB9-3DAE7EDC72B2}"/>
                </a:ext>
              </a:extLst>
            </p:cNvPr>
            <p:cNvCxnSpPr>
              <a:stCxn id="19" idx="3"/>
            </p:cNvCxnSpPr>
            <p:nvPr/>
          </p:nvCxnSpPr>
          <p:spPr>
            <a:xfrm flipH="1">
              <a:off x="4691931" y="4149617"/>
              <a:ext cx="657225" cy="65574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0D2DA165-BCA2-762B-0E2B-5CEF37FB48E3}"/>
                </a:ext>
              </a:extLst>
            </p:cNvPr>
            <p:cNvCxnSpPr>
              <a:stCxn id="18" idx="5"/>
            </p:cNvCxnSpPr>
            <p:nvPr/>
          </p:nvCxnSpPr>
          <p:spPr>
            <a:xfrm>
              <a:off x="6840580" y="4149616"/>
              <a:ext cx="634644" cy="63316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67BF2DC4-3178-6210-F29C-9C910E00B28E}"/>
                </a:ext>
              </a:extLst>
            </p:cNvPr>
            <p:cNvGrpSpPr/>
            <p:nvPr/>
          </p:nvGrpSpPr>
          <p:grpSpPr>
            <a:xfrm>
              <a:off x="3928054" y="1316512"/>
              <a:ext cx="952500" cy="952500"/>
              <a:chOff x="3928054" y="1316512"/>
              <a:chExt cx="952500" cy="952500"/>
            </a:xfrm>
          </p:grpSpPr>
          <p:sp>
            <p:nvSpPr>
              <p:cNvPr id="37" name="Oval 36">
                <a:extLst>
                  <a:ext uri="{FF2B5EF4-FFF2-40B4-BE49-F238E27FC236}">
                    <a16:creationId xmlns:a16="http://schemas.microsoft.com/office/drawing/2014/main" id="{8011106A-9C47-0B07-62F1-7680640267B7}"/>
                  </a:ext>
                </a:extLst>
              </p:cNvPr>
              <p:cNvSpPr/>
              <p:nvPr/>
            </p:nvSpPr>
            <p:spPr>
              <a:xfrm>
                <a:off x="3928054" y="1316512"/>
                <a:ext cx="952500" cy="952500"/>
              </a:xfrm>
              <a:prstGeom prst="ellipse">
                <a:avLst/>
              </a:prstGeom>
              <a:solidFill>
                <a:schemeClr val="accent5">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36" name="Graphic 35" descr="Exponential Graph with solid fill">
                <a:extLst>
                  <a:ext uri="{FF2B5EF4-FFF2-40B4-BE49-F238E27FC236}">
                    <a16:creationId xmlns:a16="http://schemas.microsoft.com/office/drawing/2014/main" id="{26A0A796-6815-2AB7-BA37-53CF4B9F6F18}"/>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4115144" y="1491700"/>
                <a:ext cx="573106" cy="573106"/>
              </a:xfrm>
              <a:prstGeom prst="rect">
                <a:avLst/>
              </a:prstGeom>
            </p:spPr>
          </p:pic>
        </p:grpSp>
        <p:grpSp>
          <p:nvGrpSpPr>
            <p:cNvPr id="44" name="Group 43">
              <a:extLst>
                <a:ext uri="{FF2B5EF4-FFF2-40B4-BE49-F238E27FC236}">
                  <a16:creationId xmlns:a16="http://schemas.microsoft.com/office/drawing/2014/main" id="{FEA9DBD5-663A-CD3A-D3E6-08AE1853B7C1}"/>
                </a:ext>
              </a:extLst>
            </p:cNvPr>
            <p:cNvGrpSpPr/>
            <p:nvPr/>
          </p:nvGrpSpPr>
          <p:grpSpPr>
            <a:xfrm>
              <a:off x="7286462" y="1316512"/>
              <a:ext cx="952500" cy="952500"/>
              <a:chOff x="8323414" y="1177328"/>
              <a:chExt cx="952500" cy="952500"/>
            </a:xfrm>
          </p:grpSpPr>
          <p:sp>
            <p:nvSpPr>
              <p:cNvPr id="43" name="Oval 42">
                <a:extLst>
                  <a:ext uri="{FF2B5EF4-FFF2-40B4-BE49-F238E27FC236}">
                    <a16:creationId xmlns:a16="http://schemas.microsoft.com/office/drawing/2014/main" id="{E78BFD90-62B1-DC43-DAEB-6CB194440696}"/>
                  </a:ext>
                </a:extLst>
              </p:cNvPr>
              <p:cNvSpPr/>
              <p:nvPr/>
            </p:nvSpPr>
            <p:spPr>
              <a:xfrm>
                <a:off x="8323414" y="1177328"/>
                <a:ext cx="952500" cy="952500"/>
              </a:xfrm>
              <a:prstGeom prst="ellipse">
                <a:avLst/>
              </a:prstGeom>
              <a:solidFill>
                <a:schemeClr val="accent5">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42" name="Graphic 41" descr="Statistics with solid fill">
                <a:extLst>
                  <a:ext uri="{FF2B5EF4-FFF2-40B4-BE49-F238E27FC236}">
                    <a16:creationId xmlns:a16="http://schemas.microsoft.com/office/drawing/2014/main" id="{ABFB7FC0-F353-739B-790C-3468EDA569C7}"/>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8513464" y="1373151"/>
                <a:ext cx="572400" cy="572400"/>
              </a:xfrm>
              <a:prstGeom prst="rect">
                <a:avLst/>
              </a:prstGeom>
            </p:spPr>
          </p:pic>
        </p:grpSp>
        <p:grpSp>
          <p:nvGrpSpPr>
            <p:cNvPr id="47" name="Group 46">
              <a:extLst>
                <a:ext uri="{FF2B5EF4-FFF2-40B4-BE49-F238E27FC236}">
                  <a16:creationId xmlns:a16="http://schemas.microsoft.com/office/drawing/2014/main" id="{3C42CCC5-2385-B827-5EBD-D4F1A36BECE1}"/>
                </a:ext>
              </a:extLst>
            </p:cNvPr>
            <p:cNvGrpSpPr/>
            <p:nvPr/>
          </p:nvGrpSpPr>
          <p:grpSpPr>
            <a:xfrm>
              <a:off x="3926557" y="4451474"/>
              <a:ext cx="952500" cy="952500"/>
              <a:chOff x="3926557" y="4451474"/>
              <a:chExt cx="952500" cy="952500"/>
            </a:xfrm>
          </p:grpSpPr>
          <p:sp>
            <p:nvSpPr>
              <p:cNvPr id="45" name="Oval 44">
                <a:extLst>
                  <a:ext uri="{FF2B5EF4-FFF2-40B4-BE49-F238E27FC236}">
                    <a16:creationId xmlns:a16="http://schemas.microsoft.com/office/drawing/2014/main" id="{28A80362-F17E-26F1-23F4-3C91DFE70320}"/>
                  </a:ext>
                </a:extLst>
              </p:cNvPr>
              <p:cNvSpPr/>
              <p:nvPr/>
            </p:nvSpPr>
            <p:spPr>
              <a:xfrm>
                <a:off x="3926557" y="4451474"/>
                <a:ext cx="952500" cy="952500"/>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40" name="Graphic 39" descr="Flask with solid fill">
                <a:extLst>
                  <a:ext uri="{FF2B5EF4-FFF2-40B4-BE49-F238E27FC236}">
                    <a16:creationId xmlns:a16="http://schemas.microsoft.com/office/drawing/2014/main" id="{D6CB28F4-2473-28CB-5F0E-56E186FEE2D8}"/>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4116607" y="4641524"/>
                <a:ext cx="572400" cy="572400"/>
              </a:xfrm>
              <a:prstGeom prst="rect">
                <a:avLst/>
              </a:prstGeom>
            </p:spPr>
          </p:pic>
        </p:grpSp>
        <p:grpSp>
          <p:nvGrpSpPr>
            <p:cNvPr id="50" name="Group 49">
              <a:extLst>
                <a:ext uri="{FF2B5EF4-FFF2-40B4-BE49-F238E27FC236}">
                  <a16:creationId xmlns:a16="http://schemas.microsoft.com/office/drawing/2014/main" id="{37EFE80C-9B88-E8A9-B317-BB9F29602307}"/>
                </a:ext>
              </a:extLst>
            </p:cNvPr>
            <p:cNvGrpSpPr/>
            <p:nvPr/>
          </p:nvGrpSpPr>
          <p:grpSpPr>
            <a:xfrm>
              <a:off x="7286462" y="4451474"/>
              <a:ext cx="952500" cy="952500"/>
              <a:chOff x="7286462" y="4451474"/>
              <a:chExt cx="952500" cy="952500"/>
            </a:xfrm>
          </p:grpSpPr>
          <p:sp>
            <p:nvSpPr>
              <p:cNvPr id="46" name="Oval 45">
                <a:extLst>
                  <a:ext uri="{FF2B5EF4-FFF2-40B4-BE49-F238E27FC236}">
                    <a16:creationId xmlns:a16="http://schemas.microsoft.com/office/drawing/2014/main" id="{F7747C2F-2E00-C1CA-5D28-120719F6CDB5}"/>
                  </a:ext>
                </a:extLst>
              </p:cNvPr>
              <p:cNvSpPr/>
              <p:nvPr/>
            </p:nvSpPr>
            <p:spPr>
              <a:xfrm>
                <a:off x="7286462" y="4451474"/>
                <a:ext cx="952500" cy="952500"/>
              </a:xfrm>
              <a:prstGeom prst="ellipse">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9" name="Graphic 48" descr="Speedometer Middle with solid fill">
                <a:extLst>
                  <a:ext uri="{FF2B5EF4-FFF2-40B4-BE49-F238E27FC236}">
                    <a16:creationId xmlns:a16="http://schemas.microsoft.com/office/drawing/2014/main" id="{312F7538-CD5B-9E66-66BC-7320032B11AA}"/>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7476512" y="4561786"/>
                <a:ext cx="572400" cy="572400"/>
              </a:xfrm>
              <a:prstGeom prst="rect">
                <a:avLst/>
              </a:prstGeom>
            </p:spPr>
          </p:pic>
        </p:grpSp>
        <p:sp>
          <p:nvSpPr>
            <p:cNvPr id="51" name="TextBox 50">
              <a:extLst>
                <a:ext uri="{FF2B5EF4-FFF2-40B4-BE49-F238E27FC236}">
                  <a16:creationId xmlns:a16="http://schemas.microsoft.com/office/drawing/2014/main" id="{D5F01F65-BA4F-B7A5-A5FE-C5107C17E803}"/>
                </a:ext>
              </a:extLst>
            </p:cNvPr>
            <p:cNvSpPr txBox="1"/>
            <p:nvPr/>
          </p:nvSpPr>
          <p:spPr>
            <a:xfrm>
              <a:off x="921233" y="1322504"/>
              <a:ext cx="2992800" cy="1046440"/>
            </a:xfrm>
            <a:prstGeom prst="rect">
              <a:avLst/>
            </a:prstGeom>
            <a:noFill/>
          </p:spPr>
          <p:txBody>
            <a:bodyPr wrap="square" rtlCol="0">
              <a:spAutoFit/>
            </a:bodyPr>
            <a:lstStyle/>
            <a:p>
              <a:r>
                <a:rPr lang="fr-FR" sz="1200" b="1" dirty="0">
                  <a:solidFill>
                    <a:schemeClr val="accent5">
                      <a:lumMod val="75000"/>
                    </a:schemeClr>
                  </a:solidFill>
                </a:rPr>
                <a:t>Cadre et évolution réglementaire</a:t>
              </a:r>
            </a:p>
            <a:p>
              <a:pPr marL="285750" indent="-285750">
                <a:buClr>
                  <a:schemeClr val="accent5">
                    <a:lumMod val="75000"/>
                  </a:schemeClr>
                </a:buClr>
                <a:buFont typeface="Arial" panose="020B0604020202020204" pitchFamily="34" charset="0"/>
                <a:buChar char="•"/>
              </a:pPr>
              <a:r>
                <a:rPr lang="fr-FR" sz="1000" dirty="0"/>
                <a:t>Evolution du package IRRBB</a:t>
              </a:r>
            </a:p>
            <a:p>
              <a:pPr marL="285750" indent="-285750">
                <a:buClr>
                  <a:schemeClr val="accent5">
                    <a:lumMod val="75000"/>
                  </a:schemeClr>
                </a:buClr>
                <a:buFont typeface="Arial" panose="020B0604020202020204" pitchFamily="34" charset="0"/>
                <a:buChar char="•"/>
              </a:pPr>
              <a:r>
                <a:rPr lang="fr-FR" sz="1000" dirty="0"/>
                <a:t>Présentation des templates</a:t>
              </a:r>
            </a:p>
            <a:p>
              <a:pPr marL="285750" indent="-285750">
                <a:buClr>
                  <a:schemeClr val="accent5">
                    <a:lumMod val="75000"/>
                  </a:schemeClr>
                </a:buClr>
                <a:buFont typeface="Arial" panose="020B0604020202020204" pitchFamily="34" charset="0"/>
                <a:buChar char="•"/>
              </a:pPr>
              <a:r>
                <a:rPr lang="fr-FR" sz="1000" dirty="0"/>
                <a:t>Présentation des indicateurs IRRBB et de la méthodologie de calcul associée</a:t>
              </a:r>
            </a:p>
            <a:p>
              <a:endParaRPr lang="fr-FR" sz="1000" dirty="0"/>
            </a:p>
          </p:txBody>
        </p:sp>
        <p:sp>
          <p:nvSpPr>
            <p:cNvPr id="52" name="TextBox 51">
              <a:extLst>
                <a:ext uri="{FF2B5EF4-FFF2-40B4-BE49-F238E27FC236}">
                  <a16:creationId xmlns:a16="http://schemas.microsoft.com/office/drawing/2014/main" id="{2CF641E6-4727-8FCC-94D7-18711E4379F3}"/>
                </a:ext>
              </a:extLst>
            </p:cNvPr>
            <p:cNvSpPr txBox="1"/>
            <p:nvPr/>
          </p:nvSpPr>
          <p:spPr>
            <a:xfrm>
              <a:off x="8304679" y="1322504"/>
              <a:ext cx="2992800" cy="1046440"/>
            </a:xfrm>
            <a:prstGeom prst="rect">
              <a:avLst/>
            </a:prstGeom>
            <a:noFill/>
          </p:spPr>
          <p:txBody>
            <a:bodyPr wrap="square" rtlCol="0">
              <a:spAutoFit/>
            </a:bodyPr>
            <a:lstStyle/>
            <a:p>
              <a:r>
                <a:rPr lang="fr-FR" sz="1200" b="1" dirty="0">
                  <a:solidFill>
                    <a:srgbClr val="71CDE7"/>
                  </a:solidFill>
                </a:rPr>
                <a:t>Analyse des encours (Actif/Passif)</a:t>
              </a:r>
            </a:p>
            <a:p>
              <a:pPr marL="285750" indent="-285750">
                <a:buClr>
                  <a:schemeClr val="accent5">
                    <a:lumMod val="75000"/>
                  </a:schemeClr>
                </a:buClr>
                <a:buFont typeface="Arial" panose="020B0604020202020204" pitchFamily="34" charset="0"/>
                <a:buChar char="•"/>
              </a:pPr>
              <a:r>
                <a:rPr lang="fr-FR" sz="1000" dirty="0"/>
                <a:t>Détail des encours (A/P) par nature de taux et par durée résiduelle</a:t>
              </a:r>
            </a:p>
            <a:p>
              <a:pPr marL="285750" indent="-285750">
                <a:buClr>
                  <a:schemeClr val="accent5">
                    <a:lumMod val="75000"/>
                  </a:schemeClr>
                </a:buClr>
                <a:buFont typeface="Arial" panose="020B0604020202020204" pitchFamily="34" charset="0"/>
                <a:buChar char="•"/>
              </a:pPr>
              <a:r>
                <a:rPr lang="fr-FR" sz="1000" dirty="0"/>
                <a:t>Détail du hors-bilan par nature de taux et par durée résiduelle (swaps principalement)</a:t>
              </a:r>
            </a:p>
            <a:p>
              <a:endParaRPr lang="fr-FR" sz="1000" dirty="0"/>
            </a:p>
          </p:txBody>
        </p:sp>
        <p:sp>
          <p:nvSpPr>
            <p:cNvPr id="53" name="TextBox 52">
              <a:extLst>
                <a:ext uri="{FF2B5EF4-FFF2-40B4-BE49-F238E27FC236}">
                  <a16:creationId xmlns:a16="http://schemas.microsoft.com/office/drawing/2014/main" id="{1E9DBB3C-598A-1AFB-6D53-B055FE3FF906}"/>
                </a:ext>
              </a:extLst>
            </p:cNvPr>
            <p:cNvSpPr txBox="1"/>
            <p:nvPr/>
          </p:nvSpPr>
          <p:spPr>
            <a:xfrm>
              <a:off x="921233" y="4453536"/>
              <a:ext cx="2992800" cy="1077218"/>
            </a:xfrm>
            <a:prstGeom prst="rect">
              <a:avLst/>
            </a:prstGeom>
            <a:noFill/>
          </p:spPr>
          <p:txBody>
            <a:bodyPr wrap="square" rtlCol="0">
              <a:spAutoFit/>
            </a:bodyPr>
            <a:lstStyle/>
            <a:p>
              <a:r>
                <a:rPr lang="fr-FR" sz="1200" b="1" dirty="0">
                  <a:solidFill>
                    <a:srgbClr val="165C71"/>
                  </a:solidFill>
                </a:rPr>
                <a:t>Analyse des facteurs de sensibilité de la MNI</a:t>
              </a:r>
            </a:p>
            <a:p>
              <a:pPr marL="285750" indent="-285750">
                <a:buClr>
                  <a:schemeClr val="accent5">
                    <a:lumMod val="75000"/>
                  </a:schemeClr>
                </a:buClr>
                <a:buFont typeface="Arial" panose="020B0604020202020204" pitchFamily="34" charset="0"/>
                <a:buChar char="•"/>
              </a:pPr>
              <a:r>
                <a:rPr lang="fr-FR" sz="1000" dirty="0"/>
                <a:t>Décomposition du bilan par index de taux</a:t>
              </a:r>
            </a:p>
            <a:p>
              <a:pPr marL="285750" indent="-285750">
                <a:buClr>
                  <a:schemeClr val="accent5">
                    <a:lumMod val="75000"/>
                  </a:schemeClr>
                </a:buClr>
                <a:buFont typeface="Arial" panose="020B0604020202020204" pitchFamily="34" charset="0"/>
                <a:buChar char="•"/>
              </a:pPr>
              <a:r>
                <a:rPr lang="fr-FR" sz="1000" dirty="0"/>
                <a:t>Analyse sur le stock</a:t>
              </a:r>
            </a:p>
            <a:p>
              <a:pPr marL="285750" indent="-285750">
                <a:buClr>
                  <a:schemeClr val="accent5">
                    <a:lumMod val="75000"/>
                  </a:schemeClr>
                </a:buClr>
                <a:buFont typeface="Arial" panose="020B0604020202020204" pitchFamily="34" charset="0"/>
                <a:buChar char="•"/>
              </a:pPr>
              <a:r>
                <a:rPr lang="fr-FR" sz="1000" dirty="0"/>
                <a:t>Analyse sur la PN</a:t>
              </a:r>
            </a:p>
            <a:p>
              <a:endParaRPr lang="fr-FR" sz="1000" dirty="0"/>
            </a:p>
          </p:txBody>
        </p:sp>
        <p:sp>
          <p:nvSpPr>
            <p:cNvPr id="54" name="TextBox 53">
              <a:extLst>
                <a:ext uri="{FF2B5EF4-FFF2-40B4-BE49-F238E27FC236}">
                  <a16:creationId xmlns:a16="http://schemas.microsoft.com/office/drawing/2014/main" id="{B17E34B5-22AA-6077-8302-EA149A1E0FAD}"/>
                </a:ext>
              </a:extLst>
            </p:cNvPr>
            <p:cNvSpPr txBox="1"/>
            <p:nvPr/>
          </p:nvSpPr>
          <p:spPr>
            <a:xfrm>
              <a:off x="8304679" y="4458736"/>
              <a:ext cx="2992800" cy="954107"/>
            </a:xfrm>
            <a:prstGeom prst="rect">
              <a:avLst/>
            </a:prstGeom>
            <a:noFill/>
          </p:spPr>
          <p:txBody>
            <a:bodyPr wrap="square" rtlCol="0">
              <a:spAutoFit/>
            </a:bodyPr>
            <a:lstStyle/>
            <a:p>
              <a:r>
                <a:rPr lang="fr-FR" sz="1200" b="1" dirty="0">
                  <a:solidFill>
                    <a:srgbClr val="71CDE7"/>
                  </a:solidFill>
                </a:rPr>
                <a:t>Détermination des montants d’encours sensibles pour chacun des risques identifiés</a:t>
              </a:r>
            </a:p>
            <a:p>
              <a:pPr marL="285750" indent="-285750">
                <a:buClr>
                  <a:schemeClr val="accent5">
                    <a:lumMod val="75000"/>
                  </a:schemeClr>
                </a:buClr>
                <a:buFont typeface="Arial" panose="020B0604020202020204" pitchFamily="34" charset="0"/>
                <a:buChar char="•"/>
              </a:pPr>
              <a:r>
                <a:rPr lang="fr-FR" sz="1000" dirty="0"/>
                <a:t>Montants sensibles sur le stock</a:t>
              </a:r>
            </a:p>
            <a:p>
              <a:pPr marL="285750" indent="-285750">
                <a:buClr>
                  <a:schemeClr val="accent5">
                    <a:lumMod val="75000"/>
                  </a:schemeClr>
                </a:buClr>
                <a:buFont typeface="Arial" panose="020B0604020202020204" pitchFamily="34" charset="0"/>
                <a:buChar char="•"/>
              </a:pPr>
              <a:r>
                <a:rPr lang="fr-FR" sz="1000" dirty="0"/>
                <a:t>Montants sensibles sur la PN</a:t>
              </a:r>
            </a:p>
          </p:txBody>
        </p:sp>
      </p:grpSp>
    </p:spTree>
    <p:extLst>
      <p:ext uri="{BB962C8B-B14F-4D97-AF65-F5344CB8AC3E}">
        <p14:creationId xmlns:p14="http://schemas.microsoft.com/office/powerpoint/2010/main" val="185208620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rrow: Pentagon 7">
            <a:extLst>
              <a:ext uri="{FF2B5EF4-FFF2-40B4-BE49-F238E27FC236}">
                <a16:creationId xmlns:a16="http://schemas.microsoft.com/office/drawing/2014/main" id="{93354C05-6129-D43D-886D-89722C99CCC2}"/>
              </a:ext>
            </a:extLst>
          </p:cNvPr>
          <p:cNvSpPr/>
          <p:nvPr/>
        </p:nvSpPr>
        <p:spPr>
          <a:xfrm rot="5400000">
            <a:off x="377882" y="806243"/>
            <a:ext cx="4218592" cy="4113029"/>
          </a:xfrm>
          <a:prstGeom prst="homePlate">
            <a:avLst>
              <a:gd name="adj" fmla="val 20950"/>
            </a:avLst>
          </a:prstGeom>
          <a:solidFill>
            <a:srgbClr val="EAF8FC">
              <a:alpha val="87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dirty="0">
                <a:latin typeface="Calibri"/>
                <a:cs typeface="Calibri"/>
              </a:rPr>
              <a:t>a- Templates et taille d’institution</a:t>
            </a:r>
          </a:p>
        </p:txBody>
      </p:sp>
      <p:sp>
        <p:nvSpPr>
          <p:cNvPr id="2" name="Espace réservé du texte 15">
            <a:extLst>
              <a:ext uri="{FF2B5EF4-FFF2-40B4-BE49-F238E27FC236}">
                <a16:creationId xmlns:a16="http://schemas.microsoft.com/office/drawing/2014/main" id="{69E5D344-ADD3-F380-D170-9A5CC8A62B61}"/>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
        <p:nvSpPr>
          <p:cNvPr id="4" name="ZoneTexte 6">
            <a:extLst>
              <a:ext uri="{FF2B5EF4-FFF2-40B4-BE49-F238E27FC236}">
                <a16:creationId xmlns:a16="http://schemas.microsoft.com/office/drawing/2014/main" id="{611C074E-BE5D-67D4-EA1F-A7955D8DEBE9}"/>
              </a:ext>
            </a:extLst>
          </p:cNvPr>
          <p:cNvSpPr txBox="1"/>
          <p:nvPr/>
        </p:nvSpPr>
        <p:spPr>
          <a:xfrm>
            <a:off x="565555" y="1842896"/>
            <a:ext cx="3843249" cy="2308324"/>
          </a:xfrm>
          <a:prstGeom prst="rect">
            <a:avLst/>
          </a:prstGeom>
          <a:noFill/>
          <a:ln>
            <a:noFill/>
          </a:ln>
        </p:spPr>
        <p:txBody>
          <a:bodyPr wrap="square" rtlCol="0">
            <a:spAutoFit/>
          </a:bodyPr>
          <a:lstStyle/>
          <a:p>
            <a:r>
              <a:rPr lang="fr-FR" sz="1200" dirty="0">
                <a:solidFill>
                  <a:schemeClr val="tx1">
                    <a:lumMod val="50000"/>
                  </a:schemeClr>
                </a:solidFill>
                <a:latin typeface="Calibri (body)"/>
              </a:rPr>
              <a:t>Dans le cadre de la gestion du risque de taux, des nouveaux templates sont à renseigner.</a:t>
            </a:r>
          </a:p>
          <a:p>
            <a:endParaRPr lang="fr-FR" sz="1200" dirty="0">
              <a:solidFill>
                <a:schemeClr val="tx1">
                  <a:lumMod val="50000"/>
                </a:schemeClr>
              </a:solidFill>
              <a:latin typeface="Calibri (body)"/>
            </a:endParaRPr>
          </a:p>
          <a:p>
            <a:pPr marL="266700" indent="-85725">
              <a:buFontTx/>
              <a:buChar char="-"/>
            </a:pPr>
            <a:r>
              <a:rPr lang="fr-FR" sz="1200" b="1" dirty="0">
                <a:solidFill>
                  <a:schemeClr val="accent5">
                    <a:lumMod val="75000"/>
                  </a:schemeClr>
                </a:solidFill>
                <a:latin typeface="Calibri (body)"/>
              </a:rPr>
              <a:t>J01 </a:t>
            </a:r>
            <a:r>
              <a:rPr lang="fr-FR" sz="1200" b="1" dirty="0">
                <a:solidFill>
                  <a:schemeClr val="accent5">
                    <a:lumMod val="75000"/>
                  </a:schemeClr>
                </a:solidFill>
                <a:latin typeface="Calibri (body)"/>
                <a:cs typeface="Calibri"/>
              </a:rPr>
              <a:t>Evaluation of the IRRBB : EVE/NII SOT and MV changes</a:t>
            </a:r>
          </a:p>
          <a:p>
            <a:pPr marL="266700" indent="-85725">
              <a:buFontTx/>
              <a:buChar char="-"/>
            </a:pPr>
            <a:r>
              <a:rPr lang="fr-FR" sz="1200" b="1" dirty="0">
                <a:solidFill>
                  <a:schemeClr val="accent5">
                    <a:lumMod val="75000"/>
                  </a:schemeClr>
                </a:solidFill>
                <a:latin typeface="Calibri (body)"/>
                <a:cs typeface="Calibri"/>
              </a:rPr>
              <a:t>J02/3/4 Breakdown of </a:t>
            </a:r>
            <a:r>
              <a:rPr lang="fr-FR" sz="1200" b="1" dirty="0" err="1">
                <a:solidFill>
                  <a:schemeClr val="accent5">
                    <a:lumMod val="75000"/>
                  </a:schemeClr>
                </a:solidFill>
                <a:latin typeface="Calibri (body)"/>
                <a:cs typeface="Calibri"/>
              </a:rPr>
              <a:t>sensitivity</a:t>
            </a:r>
            <a:r>
              <a:rPr lang="fr-FR" sz="1200" b="1" dirty="0">
                <a:solidFill>
                  <a:schemeClr val="accent5">
                    <a:lumMod val="75000"/>
                  </a:schemeClr>
                </a:solidFill>
                <a:latin typeface="Calibri (body)"/>
                <a:cs typeface="Calibri"/>
              </a:rPr>
              <a:t> </a:t>
            </a:r>
            <a:r>
              <a:rPr lang="fr-FR" sz="1200" b="1" dirty="0" err="1">
                <a:solidFill>
                  <a:schemeClr val="accent5">
                    <a:lumMod val="75000"/>
                  </a:schemeClr>
                </a:solidFill>
                <a:latin typeface="Calibri (body)"/>
                <a:cs typeface="Calibri"/>
              </a:rPr>
              <a:t>estimates</a:t>
            </a:r>
            <a:endParaRPr lang="fr-FR" sz="1200" b="1" dirty="0">
              <a:solidFill>
                <a:schemeClr val="accent5">
                  <a:lumMod val="75000"/>
                </a:schemeClr>
              </a:solidFill>
              <a:latin typeface="Calibri (body)"/>
              <a:cs typeface="Calibri"/>
            </a:endParaRPr>
          </a:p>
          <a:p>
            <a:pPr marL="266700" indent="-85725">
              <a:buFontTx/>
              <a:buChar char="-"/>
            </a:pPr>
            <a:r>
              <a:rPr lang="fr-FR" sz="1200" b="1" dirty="0">
                <a:solidFill>
                  <a:schemeClr val="accent5">
                    <a:lumMod val="75000"/>
                  </a:schemeClr>
                </a:solidFill>
                <a:latin typeface="Calibri (body)"/>
                <a:cs typeface="Calibri"/>
              </a:rPr>
              <a:t>J05/6/7 </a:t>
            </a:r>
            <a:r>
              <a:rPr lang="fr-FR" sz="1200" b="1" dirty="0" err="1">
                <a:solidFill>
                  <a:schemeClr val="accent5">
                    <a:lumMod val="75000"/>
                  </a:schemeClr>
                </a:solidFill>
                <a:latin typeface="Calibri (body)"/>
                <a:cs typeface="Calibri"/>
              </a:rPr>
              <a:t>Repricing</a:t>
            </a:r>
            <a:r>
              <a:rPr lang="fr-FR" sz="1200" b="1" dirty="0">
                <a:solidFill>
                  <a:schemeClr val="accent5">
                    <a:lumMod val="75000"/>
                  </a:schemeClr>
                </a:solidFill>
                <a:latin typeface="Calibri (body)"/>
                <a:cs typeface="Calibri"/>
              </a:rPr>
              <a:t> cash-flows</a:t>
            </a:r>
          </a:p>
          <a:p>
            <a:pPr marL="266700" indent="-85725">
              <a:buFontTx/>
              <a:buChar char="-"/>
            </a:pPr>
            <a:r>
              <a:rPr lang="fr-FR" sz="1200" b="1" dirty="0">
                <a:solidFill>
                  <a:schemeClr val="accent5">
                    <a:lumMod val="75000"/>
                  </a:schemeClr>
                </a:solidFill>
                <a:latin typeface="Calibri (body)"/>
                <a:cs typeface="Calibri"/>
              </a:rPr>
              <a:t>J08/9 Relevant </a:t>
            </a:r>
            <a:r>
              <a:rPr lang="fr-FR" sz="1200" b="1" dirty="0" err="1">
                <a:solidFill>
                  <a:schemeClr val="accent5">
                    <a:lumMod val="75000"/>
                  </a:schemeClr>
                </a:solidFill>
                <a:latin typeface="Calibri (body)"/>
                <a:cs typeface="Calibri"/>
              </a:rPr>
              <a:t>parameters</a:t>
            </a:r>
            <a:endParaRPr lang="fr-FR" sz="1200" b="1" dirty="0">
              <a:solidFill>
                <a:schemeClr val="accent5">
                  <a:lumMod val="75000"/>
                </a:schemeClr>
              </a:solidFill>
              <a:latin typeface="Calibri (body)"/>
              <a:cs typeface="Calibri"/>
            </a:endParaRPr>
          </a:p>
          <a:p>
            <a:pPr marL="266700" indent="-85725">
              <a:buFontTx/>
              <a:buChar char="-"/>
            </a:pPr>
            <a:r>
              <a:rPr lang="fr-FR" sz="1200" b="1" dirty="0">
                <a:solidFill>
                  <a:schemeClr val="accent5">
                    <a:lumMod val="75000"/>
                  </a:schemeClr>
                </a:solidFill>
                <a:latin typeface="Calibri (body)"/>
                <a:cs typeface="Calibri"/>
              </a:rPr>
              <a:t>J10/11 Qualitative information</a:t>
            </a:r>
          </a:p>
          <a:p>
            <a:pPr marL="180975"/>
            <a:endParaRPr lang="fr-FR" sz="1200" b="1" dirty="0">
              <a:solidFill>
                <a:schemeClr val="tx1">
                  <a:lumMod val="50000"/>
                </a:schemeClr>
              </a:solidFill>
              <a:latin typeface="Calibri (body)"/>
              <a:cs typeface="Calibri"/>
            </a:endParaRPr>
          </a:p>
          <a:p>
            <a:r>
              <a:rPr lang="fr-FR" sz="1200" dirty="0">
                <a:solidFill>
                  <a:schemeClr val="tx1">
                    <a:lumMod val="50000"/>
                  </a:schemeClr>
                </a:solidFill>
                <a:latin typeface="Calibri (body)"/>
              </a:rPr>
              <a:t>Les critères permettant de définir la taille de l’institution se trouvent dans le tableau ci-dessous.</a:t>
            </a:r>
            <a:endParaRPr lang="fr-FR" sz="1200" b="1" dirty="0">
              <a:solidFill>
                <a:schemeClr val="tx1">
                  <a:lumMod val="50000"/>
                </a:schemeClr>
              </a:solidFill>
              <a:latin typeface="Calibri (body)"/>
              <a:cs typeface="Calibri"/>
            </a:endParaRPr>
          </a:p>
        </p:txBody>
      </p:sp>
      <p:cxnSp>
        <p:nvCxnSpPr>
          <p:cNvPr id="10" name="Straight Connector 9">
            <a:extLst>
              <a:ext uri="{FF2B5EF4-FFF2-40B4-BE49-F238E27FC236}">
                <a16:creationId xmlns:a16="http://schemas.microsoft.com/office/drawing/2014/main" id="{2C02F1BF-A31A-1072-9784-3323AF92BEA4}"/>
              </a:ext>
            </a:extLst>
          </p:cNvPr>
          <p:cNvCxnSpPr>
            <a:cxnSpLocks/>
          </p:cNvCxnSpPr>
          <p:nvPr/>
        </p:nvCxnSpPr>
        <p:spPr>
          <a:xfrm>
            <a:off x="5086350" y="1400175"/>
            <a:ext cx="0" cy="4762500"/>
          </a:xfrm>
          <a:prstGeom prst="line">
            <a:avLst/>
          </a:prstGeom>
        </p:spPr>
        <p:style>
          <a:lnRef idx="1">
            <a:schemeClr val="accent2"/>
          </a:lnRef>
          <a:fillRef idx="0">
            <a:schemeClr val="accent2"/>
          </a:fillRef>
          <a:effectRef idx="0">
            <a:schemeClr val="accent2"/>
          </a:effectRef>
          <a:fontRef idx="minor">
            <a:schemeClr val="tx1"/>
          </a:fontRef>
        </p:style>
      </p:cxnSp>
      <p:grpSp>
        <p:nvGrpSpPr>
          <p:cNvPr id="14" name="Group 13">
            <a:extLst>
              <a:ext uri="{FF2B5EF4-FFF2-40B4-BE49-F238E27FC236}">
                <a16:creationId xmlns:a16="http://schemas.microsoft.com/office/drawing/2014/main" id="{026E6294-A454-2804-4F27-A80674032745}"/>
              </a:ext>
            </a:extLst>
          </p:cNvPr>
          <p:cNvGrpSpPr/>
          <p:nvPr/>
        </p:nvGrpSpPr>
        <p:grpSpPr>
          <a:xfrm>
            <a:off x="5614478" y="880405"/>
            <a:ext cx="5927782" cy="278136"/>
            <a:chOff x="5833553" y="1371237"/>
            <a:chExt cx="5927782" cy="278136"/>
          </a:xfrm>
        </p:grpSpPr>
        <p:sp>
          <p:nvSpPr>
            <p:cNvPr id="13" name="Rectangle 12">
              <a:extLst>
                <a:ext uri="{FF2B5EF4-FFF2-40B4-BE49-F238E27FC236}">
                  <a16:creationId xmlns:a16="http://schemas.microsoft.com/office/drawing/2014/main" id="{77DA2AD1-D8B8-F512-B283-E43732105F4E}"/>
                </a:ext>
              </a:extLst>
            </p:cNvPr>
            <p:cNvSpPr/>
            <p:nvPr/>
          </p:nvSpPr>
          <p:spPr>
            <a:xfrm>
              <a:off x="5833553" y="1372374"/>
              <a:ext cx="5927782" cy="276999"/>
            </a:xfrm>
            <a:prstGeom prst="rect">
              <a:avLst/>
            </a:prstGeom>
            <a:solidFill>
              <a:srgbClr val="EAF8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TextBox 11">
              <a:extLst>
                <a:ext uri="{FF2B5EF4-FFF2-40B4-BE49-F238E27FC236}">
                  <a16:creationId xmlns:a16="http://schemas.microsoft.com/office/drawing/2014/main" id="{D3FFCD42-8E59-52CF-0D67-2182B67AED6F}"/>
                </a:ext>
              </a:extLst>
            </p:cNvPr>
            <p:cNvSpPr txBox="1"/>
            <p:nvPr/>
          </p:nvSpPr>
          <p:spPr>
            <a:xfrm>
              <a:off x="7778269" y="1371237"/>
              <a:ext cx="2038350" cy="276999"/>
            </a:xfrm>
            <a:prstGeom prst="rect">
              <a:avLst/>
            </a:prstGeom>
            <a:noFill/>
          </p:spPr>
          <p:txBody>
            <a:bodyPr wrap="square" rtlCol="0">
              <a:spAutoFit/>
            </a:bodyPr>
            <a:lstStyle/>
            <a:p>
              <a:pPr algn="ctr"/>
              <a:r>
                <a:rPr lang="en-GB" sz="1200" b="1" dirty="0">
                  <a:solidFill>
                    <a:srgbClr val="197B96"/>
                  </a:solidFill>
                </a:rPr>
                <a:t>Proportionality Measures</a:t>
              </a:r>
              <a:endParaRPr lang="fr-FR" sz="1200" b="1" dirty="0">
                <a:solidFill>
                  <a:srgbClr val="197B96"/>
                </a:solidFill>
              </a:endParaRPr>
            </a:p>
          </p:txBody>
        </p:sp>
      </p:grpSp>
      <p:grpSp>
        <p:nvGrpSpPr>
          <p:cNvPr id="29" name="Group 28">
            <a:extLst>
              <a:ext uri="{FF2B5EF4-FFF2-40B4-BE49-F238E27FC236}">
                <a16:creationId xmlns:a16="http://schemas.microsoft.com/office/drawing/2014/main" id="{092BE883-D31C-8A6B-185C-EC4D9287C4F8}"/>
              </a:ext>
            </a:extLst>
          </p:cNvPr>
          <p:cNvGrpSpPr/>
          <p:nvPr/>
        </p:nvGrpSpPr>
        <p:grpSpPr>
          <a:xfrm>
            <a:off x="5614477" y="2025586"/>
            <a:ext cx="1125572" cy="1125572"/>
            <a:chOff x="5614477" y="1412100"/>
            <a:chExt cx="1125572" cy="1125572"/>
          </a:xfrm>
        </p:grpSpPr>
        <p:sp>
          <p:nvSpPr>
            <p:cNvPr id="25" name="Oval 24">
              <a:extLst>
                <a:ext uri="{FF2B5EF4-FFF2-40B4-BE49-F238E27FC236}">
                  <a16:creationId xmlns:a16="http://schemas.microsoft.com/office/drawing/2014/main" id="{38BFEFAD-28E6-04A0-D512-95AD565FAF23}"/>
                </a:ext>
              </a:extLst>
            </p:cNvPr>
            <p:cNvSpPr/>
            <p:nvPr/>
          </p:nvSpPr>
          <p:spPr>
            <a:xfrm>
              <a:off x="5614477" y="1412100"/>
              <a:ext cx="1125572" cy="1125572"/>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1" name="Graphic 20" descr="Building with solid fill">
              <a:extLst>
                <a:ext uri="{FF2B5EF4-FFF2-40B4-BE49-F238E27FC236}">
                  <a16:creationId xmlns:a16="http://schemas.microsoft.com/office/drawing/2014/main" id="{1529CDE9-44F5-1193-3986-A900338706F2}"/>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891063" y="1688686"/>
              <a:ext cx="572400" cy="572400"/>
            </a:xfrm>
            <a:prstGeom prst="rect">
              <a:avLst/>
            </a:prstGeom>
          </p:spPr>
        </p:pic>
      </p:grpSp>
      <p:grpSp>
        <p:nvGrpSpPr>
          <p:cNvPr id="27" name="Group 26">
            <a:extLst>
              <a:ext uri="{FF2B5EF4-FFF2-40B4-BE49-F238E27FC236}">
                <a16:creationId xmlns:a16="http://schemas.microsoft.com/office/drawing/2014/main" id="{CB97B8B8-B7B5-2A20-7343-860962C48AE2}"/>
              </a:ext>
            </a:extLst>
          </p:cNvPr>
          <p:cNvGrpSpPr/>
          <p:nvPr/>
        </p:nvGrpSpPr>
        <p:grpSpPr>
          <a:xfrm>
            <a:off x="5616699" y="5413672"/>
            <a:ext cx="1125572" cy="1125572"/>
            <a:chOff x="5616699" y="4322728"/>
            <a:chExt cx="1125572" cy="1125572"/>
          </a:xfrm>
        </p:grpSpPr>
        <p:sp>
          <p:nvSpPr>
            <p:cNvPr id="26" name="Oval 25">
              <a:extLst>
                <a:ext uri="{FF2B5EF4-FFF2-40B4-BE49-F238E27FC236}">
                  <a16:creationId xmlns:a16="http://schemas.microsoft.com/office/drawing/2014/main" id="{E77A5F85-5E60-9B6D-FEA3-4AD475C68155}"/>
                </a:ext>
              </a:extLst>
            </p:cNvPr>
            <p:cNvSpPr/>
            <p:nvPr/>
          </p:nvSpPr>
          <p:spPr>
            <a:xfrm>
              <a:off x="5616699" y="4322728"/>
              <a:ext cx="1125572" cy="1125572"/>
            </a:xfrm>
            <a:prstGeom prst="ellipse">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3" name="Graphic 22" descr="City with solid fill">
              <a:extLst>
                <a:ext uri="{FF2B5EF4-FFF2-40B4-BE49-F238E27FC236}">
                  <a16:creationId xmlns:a16="http://schemas.microsoft.com/office/drawing/2014/main" id="{25926EEA-67AA-56E5-5CBE-596AA5917F9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893285" y="4599314"/>
              <a:ext cx="572400" cy="572400"/>
            </a:xfrm>
            <a:prstGeom prst="rect">
              <a:avLst/>
            </a:prstGeom>
          </p:spPr>
        </p:pic>
      </p:grpSp>
      <p:sp>
        <p:nvSpPr>
          <p:cNvPr id="30" name="TextBox 29">
            <a:extLst>
              <a:ext uri="{FF2B5EF4-FFF2-40B4-BE49-F238E27FC236}">
                <a16:creationId xmlns:a16="http://schemas.microsoft.com/office/drawing/2014/main" id="{43C53F75-EF25-78DB-5925-5AB1C69A07E0}"/>
              </a:ext>
            </a:extLst>
          </p:cNvPr>
          <p:cNvSpPr txBox="1"/>
          <p:nvPr/>
        </p:nvSpPr>
        <p:spPr>
          <a:xfrm>
            <a:off x="5614476" y="1249608"/>
            <a:ext cx="5927781" cy="577081"/>
          </a:xfrm>
          <a:prstGeom prst="rect">
            <a:avLst/>
          </a:prstGeom>
          <a:noFill/>
        </p:spPr>
        <p:txBody>
          <a:bodyPr wrap="square" rtlCol="0">
            <a:spAutoFit/>
          </a:bodyPr>
          <a:lstStyle/>
          <a:p>
            <a:r>
              <a:rPr lang="en-GB" sz="1050" dirty="0">
                <a:latin typeface="+mn-lt"/>
              </a:rPr>
              <a:t>Depending on the size and complexity of the institution concerned, the templates to be completed can be simplified.</a:t>
            </a:r>
          </a:p>
          <a:p>
            <a:r>
              <a:rPr lang="en-GB" sz="1050" dirty="0">
                <a:latin typeface="+mn-lt"/>
              </a:rPr>
              <a:t>There are the three types of institution :</a:t>
            </a:r>
            <a:endParaRPr lang="fr-FR" sz="1050" dirty="0">
              <a:latin typeface="+mn-lt"/>
            </a:endParaRPr>
          </a:p>
        </p:txBody>
      </p:sp>
      <p:sp>
        <p:nvSpPr>
          <p:cNvPr id="31" name="TextBox 30">
            <a:extLst>
              <a:ext uri="{FF2B5EF4-FFF2-40B4-BE49-F238E27FC236}">
                <a16:creationId xmlns:a16="http://schemas.microsoft.com/office/drawing/2014/main" id="{E2D5D929-377F-32CB-A3B0-A2BAD82460C0}"/>
              </a:ext>
            </a:extLst>
          </p:cNvPr>
          <p:cNvSpPr txBox="1"/>
          <p:nvPr/>
        </p:nvSpPr>
        <p:spPr>
          <a:xfrm>
            <a:off x="6740049" y="2021955"/>
            <a:ext cx="4270849" cy="1000274"/>
          </a:xfrm>
          <a:prstGeom prst="rect">
            <a:avLst/>
          </a:prstGeom>
          <a:noFill/>
        </p:spPr>
        <p:txBody>
          <a:bodyPr wrap="square" rtlCol="0">
            <a:spAutoFit/>
          </a:bodyPr>
          <a:lstStyle>
            <a:defPPr marR="0" lvl="0" algn="l" rtl="0">
              <a:lnSpc>
                <a:spcPct val="100000"/>
              </a:lnSpc>
              <a:spcBef>
                <a:spcPts val="0"/>
              </a:spcBef>
              <a:spcAft>
                <a:spcPts val="0"/>
              </a:spcAft>
            </a:defPPr>
            <a:lvl1pPr>
              <a:defRPr sz="1050">
                <a:latin typeface="+mn-lt"/>
              </a:defRPr>
            </a:lvl1pPr>
          </a:lstStyle>
          <a:p>
            <a:r>
              <a:rPr lang="en-GB" sz="1200" b="1" dirty="0">
                <a:solidFill>
                  <a:srgbClr val="165C71"/>
                </a:solidFill>
              </a:rPr>
              <a:t>“Large institutions”</a:t>
            </a:r>
            <a:r>
              <a:rPr lang="en-GB" sz="1200" b="1" dirty="0"/>
              <a:t>, at least one criterion satisfied among:</a:t>
            </a:r>
          </a:p>
          <a:p>
            <a:endParaRPr lang="en-GB" sz="500" b="1" dirty="0"/>
          </a:p>
          <a:p>
            <a:pPr marL="361950" indent="-171450">
              <a:buFont typeface="Wingdings" panose="05000000000000000000" pitchFamily="2" charset="2"/>
              <a:buChar char="§"/>
            </a:pPr>
            <a:r>
              <a:rPr lang="en-GB" dirty="0"/>
              <a:t>G-SII</a:t>
            </a:r>
          </a:p>
          <a:p>
            <a:pPr marL="361950" indent="-171450">
              <a:buFont typeface="Wingdings" panose="05000000000000000000" pitchFamily="2" charset="2"/>
              <a:buChar char="§"/>
            </a:pPr>
            <a:r>
              <a:rPr lang="en-GB" dirty="0"/>
              <a:t>O-SII</a:t>
            </a:r>
          </a:p>
          <a:p>
            <a:pPr marL="361950" indent="-171450">
              <a:buFont typeface="Wingdings" panose="05000000000000000000" pitchFamily="2" charset="2"/>
              <a:buChar char="§"/>
            </a:pPr>
            <a:r>
              <a:rPr lang="en-GB" dirty="0"/>
              <a:t>One of the 3 largest institution in the country</a:t>
            </a:r>
          </a:p>
          <a:p>
            <a:pPr marL="361950" indent="-171450">
              <a:buFont typeface="Wingdings" panose="05000000000000000000" pitchFamily="2" charset="2"/>
              <a:buChar char="§"/>
            </a:pPr>
            <a:r>
              <a:rPr lang="en-GB" dirty="0"/>
              <a:t>Assets &gt; 30 billion</a:t>
            </a:r>
            <a:endParaRPr lang="fr-FR" dirty="0"/>
          </a:p>
        </p:txBody>
      </p:sp>
      <p:sp>
        <p:nvSpPr>
          <p:cNvPr id="32" name="TextBox 31">
            <a:extLst>
              <a:ext uri="{FF2B5EF4-FFF2-40B4-BE49-F238E27FC236}">
                <a16:creationId xmlns:a16="http://schemas.microsoft.com/office/drawing/2014/main" id="{2110AB15-8423-A206-8470-7C20B39D2405}"/>
              </a:ext>
            </a:extLst>
          </p:cNvPr>
          <p:cNvSpPr txBox="1"/>
          <p:nvPr/>
        </p:nvSpPr>
        <p:spPr>
          <a:xfrm>
            <a:off x="6740049" y="3516670"/>
            <a:ext cx="5021285" cy="1669688"/>
          </a:xfrm>
          <a:prstGeom prst="rect">
            <a:avLst/>
          </a:prstGeom>
          <a:noFill/>
        </p:spPr>
        <p:txBody>
          <a:bodyPr wrap="square" rtlCol="0">
            <a:spAutoFit/>
          </a:bodyPr>
          <a:lstStyle>
            <a:defPPr marR="0" lvl="0" algn="l" rtl="0">
              <a:lnSpc>
                <a:spcPct val="100000"/>
              </a:lnSpc>
              <a:spcBef>
                <a:spcPts val="0"/>
              </a:spcBef>
              <a:spcAft>
                <a:spcPts val="0"/>
              </a:spcAft>
            </a:defPPr>
            <a:lvl1pPr>
              <a:defRPr sz="1050">
                <a:latin typeface="+mn-lt"/>
              </a:defRPr>
            </a:lvl1pPr>
          </a:lstStyle>
          <a:p>
            <a:r>
              <a:rPr lang="en-GB" sz="1200" b="1" dirty="0">
                <a:solidFill>
                  <a:srgbClr val="197B96"/>
                </a:solidFill>
              </a:rPr>
              <a:t>“SNCIs (Small and non-complex organization)”</a:t>
            </a:r>
            <a:r>
              <a:rPr lang="en-GB" sz="1200" b="1" dirty="0"/>
              <a:t>, all of the following criteria met:</a:t>
            </a:r>
          </a:p>
          <a:p>
            <a:endParaRPr lang="en-GB" sz="500" b="1" dirty="0"/>
          </a:p>
          <a:p>
            <a:pPr marL="361950" indent="-171450">
              <a:buFont typeface="Wingdings" panose="05000000000000000000" pitchFamily="2" charset="2"/>
              <a:buChar char="§"/>
            </a:pPr>
            <a:r>
              <a:rPr lang="en-GB" dirty="0"/>
              <a:t>Not a large institution</a:t>
            </a:r>
          </a:p>
          <a:p>
            <a:pPr marL="361950" indent="-171450">
              <a:buFont typeface="Wingdings" panose="05000000000000000000" pitchFamily="2" charset="2"/>
              <a:buChar char="§"/>
            </a:pPr>
            <a:r>
              <a:rPr lang="en-GB" dirty="0"/>
              <a:t>Assets &lt; 5 billion</a:t>
            </a:r>
          </a:p>
          <a:p>
            <a:pPr marL="361950" indent="-171450">
              <a:buFont typeface="Wingdings" panose="05000000000000000000" pitchFamily="2" charset="2"/>
              <a:buChar char="§"/>
            </a:pPr>
            <a:r>
              <a:rPr lang="en-GB" dirty="0"/>
              <a:t>Not in resolution</a:t>
            </a:r>
          </a:p>
          <a:p>
            <a:pPr marL="361950" indent="-171450">
              <a:buFont typeface="Wingdings" panose="05000000000000000000" pitchFamily="2" charset="2"/>
              <a:buChar char="§"/>
            </a:pPr>
            <a:r>
              <a:rPr lang="en-GB" dirty="0"/>
              <a:t>Trading book categorized as “small”</a:t>
            </a:r>
          </a:p>
          <a:p>
            <a:pPr marL="361950" indent="-171450">
              <a:buFont typeface="Wingdings" panose="05000000000000000000" pitchFamily="2" charset="2"/>
              <a:buChar char="§"/>
            </a:pPr>
            <a:r>
              <a:rPr lang="en-GB" dirty="0"/>
              <a:t>Trading derivatives &lt; 2% of balance sheet, total derivatives &lt; 5% of balance sheet</a:t>
            </a:r>
          </a:p>
          <a:p>
            <a:pPr marL="361950" indent="-171450">
              <a:buFont typeface="Wingdings" panose="05000000000000000000" pitchFamily="2" charset="2"/>
              <a:buChar char="§"/>
            </a:pPr>
            <a:r>
              <a:rPr lang="en-GB" dirty="0"/>
              <a:t>At least 75% of assets and </a:t>
            </a:r>
            <a:r>
              <a:rPr lang="en-GB" dirty="0" err="1"/>
              <a:t>libailities</a:t>
            </a:r>
            <a:r>
              <a:rPr lang="en-GB" dirty="0"/>
              <a:t> with European counterparties</a:t>
            </a:r>
          </a:p>
          <a:p>
            <a:pPr marL="361950" indent="-171450">
              <a:buFont typeface="Wingdings" panose="05000000000000000000" pitchFamily="2" charset="2"/>
              <a:buChar char="§"/>
            </a:pPr>
            <a:r>
              <a:rPr lang="en-GB" dirty="0"/>
              <a:t>No contradiction from authorities</a:t>
            </a:r>
            <a:endParaRPr lang="fr-FR" dirty="0"/>
          </a:p>
        </p:txBody>
      </p:sp>
      <p:sp>
        <p:nvSpPr>
          <p:cNvPr id="34" name="TextBox 33">
            <a:extLst>
              <a:ext uri="{FF2B5EF4-FFF2-40B4-BE49-F238E27FC236}">
                <a16:creationId xmlns:a16="http://schemas.microsoft.com/office/drawing/2014/main" id="{A3F74409-70D3-93C1-1DDA-1A3F6AABE74B}"/>
              </a:ext>
            </a:extLst>
          </p:cNvPr>
          <p:cNvSpPr txBox="1"/>
          <p:nvPr/>
        </p:nvSpPr>
        <p:spPr>
          <a:xfrm>
            <a:off x="6740049" y="5413672"/>
            <a:ext cx="4270849" cy="515526"/>
          </a:xfrm>
          <a:prstGeom prst="rect">
            <a:avLst/>
          </a:prstGeom>
          <a:noFill/>
        </p:spPr>
        <p:txBody>
          <a:bodyPr wrap="square" rtlCol="0">
            <a:spAutoFit/>
          </a:bodyPr>
          <a:lstStyle>
            <a:defPPr marR="0" lvl="0" algn="l" rtl="0">
              <a:lnSpc>
                <a:spcPct val="100000"/>
              </a:lnSpc>
              <a:spcBef>
                <a:spcPts val="0"/>
              </a:spcBef>
              <a:spcAft>
                <a:spcPts val="0"/>
              </a:spcAft>
            </a:defPPr>
            <a:lvl1pPr>
              <a:defRPr sz="1050">
                <a:latin typeface="+mn-lt"/>
              </a:defRPr>
            </a:lvl1pPr>
          </a:lstStyle>
          <a:p>
            <a:r>
              <a:rPr lang="en-GB" sz="1200" b="1" dirty="0">
                <a:solidFill>
                  <a:schemeClr val="tx1">
                    <a:lumMod val="60000"/>
                    <a:lumOff val="40000"/>
                  </a:schemeClr>
                </a:solidFill>
              </a:rPr>
              <a:t>“Other institutions”</a:t>
            </a:r>
            <a:endParaRPr lang="en-GB" sz="1200" b="1" dirty="0"/>
          </a:p>
          <a:p>
            <a:endParaRPr lang="en-GB" sz="500" b="1" dirty="0"/>
          </a:p>
          <a:p>
            <a:pPr marL="361950" indent="-171450">
              <a:buFont typeface="Wingdings" panose="05000000000000000000" pitchFamily="2" charset="2"/>
              <a:buChar char="§"/>
            </a:pPr>
            <a:r>
              <a:rPr lang="en-GB" dirty="0"/>
              <a:t>Every other </a:t>
            </a:r>
            <a:r>
              <a:rPr lang="en-GB" dirty="0" err="1"/>
              <a:t>insititution</a:t>
            </a:r>
            <a:r>
              <a:rPr lang="en-GB" dirty="0"/>
              <a:t> by default</a:t>
            </a:r>
          </a:p>
        </p:txBody>
      </p:sp>
      <p:grpSp>
        <p:nvGrpSpPr>
          <p:cNvPr id="37" name="Group 36">
            <a:extLst>
              <a:ext uri="{FF2B5EF4-FFF2-40B4-BE49-F238E27FC236}">
                <a16:creationId xmlns:a16="http://schemas.microsoft.com/office/drawing/2014/main" id="{36F9492C-808B-CFCF-3DDF-58C67A257B18}"/>
              </a:ext>
            </a:extLst>
          </p:cNvPr>
          <p:cNvGrpSpPr/>
          <p:nvPr/>
        </p:nvGrpSpPr>
        <p:grpSpPr>
          <a:xfrm>
            <a:off x="5614477" y="3518486"/>
            <a:ext cx="1125572" cy="1125572"/>
            <a:chOff x="5614477" y="3518486"/>
            <a:chExt cx="1125572" cy="1125572"/>
          </a:xfrm>
        </p:grpSpPr>
        <p:sp>
          <p:nvSpPr>
            <p:cNvPr id="24" name="Oval 23">
              <a:extLst>
                <a:ext uri="{FF2B5EF4-FFF2-40B4-BE49-F238E27FC236}">
                  <a16:creationId xmlns:a16="http://schemas.microsoft.com/office/drawing/2014/main" id="{91F515D7-4257-95B0-DFA7-9B67A8A42264}"/>
                </a:ext>
              </a:extLst>
            </p:cNvPr>
            <p:cNvSpPr/>
            <p:nvPr/>
          </p:nvSpPr>
          <p:spPr>
            <a:xfrm>
              <a:off x="5614477" y="3518486"/>
              <a:ext cx="1125572" cy="1125572"/>
            </a:xfrm>
            <a:prstGeom prst="ellipse">
              <a:avLst/>
            </a:prstGeom>
            <a:solidFill>
              <a:schemeClr val="accent5">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36" name="Graphic 35" descr="Bank with solid fill">
              <a:extLst>
                <a:ext uri="{FF2B5EF4-FFF2-40B4-BE49-F238E27FC236}">
                  <a16:creationId xmlns:a16="http://schemas.microsoft.com/office/drawing/2014/main" id="{EE2AD537-781C-75ED-A757-9BD3A53E30E7}"/>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5891063" y="3781425"/>
              <a:ext cx="572400" cy="572400"/>
            </a:xfrm>
            <a:prstGeom prst="rect">
              <a:avLst/>
            </a:prstGeom>
          </p:spPr>
        </p:pic>
      </p:grpSp>
    </p:spTree>
    <p:extLst>
      <p:ext uri="{BB962C8B-B14F-4D97-AF65-F5344CB8AC3E}">
        <p14:creationId xmlns:p14="http://schemas.microsoft.com/office/powerpoint/2010/main" val="51189885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dirty="0">
                <a:latin typeface="Calibri"/>
                <a:cs typeface="Calibri"/>
              </a:rPr>
              <a:t>b- Inventaire des templates à renseigner</a:t>
            </a:r>
          </a:p>
        </p:txBody>
      </p:sp>
      <p:sp>
        <p:nvSpPr>
          <p:cNvPr id="2" name="Espace réservé du texte 15">
            <a:extLst>
              <a:ext uri="{FF2B5EF4-FFF2-40B4-BE49-F238E27FC236}">
                <a16:creationId xmlns:a16="http://schemas.microsoft.com/office/drawing/2014/main" id="{69E5D344-ADD3-F380-D170-9A5CC8A62B61}"/>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
        <p:nvSpPr>
          <p:cNvPr id="89" name="TextBox 88">
            <a:extLst>
              <a:ext uri="{FF2B5EF4-FFF2-40B4-BE49-F238E27FC236}">
                <a16:creationId xmlns:a16="http://schemas.microsoft.com/office/drawing/2014/main" id="{D2A45137-571D-1AE6-60ED-6E7DCCB71632}"/>
              </a:ext>
            </a:extLst>
          </p:cNvPr>
          <p:cNvSpPr txBox="1"/>
          <p:nvPr/>
        </p:nvSpPr>
        <p:spPr>
          <a:xfrm>
            <a:off x="8440848" y="1927253"/>
            <a:ext cx="1502875" cy="276999"/>
          </a:xfrm>
          <a:prstGeom prst="rect">
            <a:avLst/>
          </a:prstGeom>
          <a:noFill/>
        </p:spPr>
        <p:txBody>
          <a:bodyPr wrap="square" rtlCol="0">
            <a:spAutoFit/>
          </a:bodyPr>
          <a:lstStyle/>
          <a:p>
            <a:pPr algn="ctr"/>
            <a:r>
              <a:rPr lang="en-GB" sz="1200" b="1" dirty="0">
                <a:solidFill>
                  <a:schemeClr val="bg1"/>
                </a:solidFill>
              </a:rPr>
              <a:t>Other institutions</a:t>
            </a:r>
            <a:endParaRPr lang="fr-FR" sz="1200" b="1" dirty="0">
              <a:solidFill>
                <a:schemeClr val="bg1"/>
              </a:solidFill>
            </a:endParaRPr>
          </a:p>
        </p:txBody>
      </p:sp>
      <p:grpSp>
        <p:nvGrpSpPr>
          <p:cNvPr id="105" name="Group 104">
            <a:extLst>
              <a:ext uri="{FF2B5EF4-FFF2-40B4-BE49-F238E27FC236}">
                <a16:creationId xmlns:a16="http://schemas.microsoft.com/office/drawing/2014/main" id="{93CC4414-C0E0-B58A-77DC-092F6C870D15}"/>
              </a:ext>
            </a:extLst>
          </p:cNvPr>
          <p:cNvGrpSpPr/>
          <p:nvPr/>
        </p:nvGrpSpPr>
        <p:grpSpPr>
          <a:xfrm>
            <a:off x="712912" y="2660716"/>
            <a:ext cx="8594977" cy="2740327"/>
            <a:chOff x="1513326" y="3376908"/>
            <a:chExt cx="8594977" cy="2740327"/>
          </a:xfrm>
        </p:grpSpPr>
        <p:grpSp>
          <p:nvGrpSpPr>
            <p:cNvPr id="104" name="Group 103">
              <a:extLst>
                <a:ext uri="{FF2B5EF4-FFF2-40B4-BE49-F238E27FC236}">
                  <a16:creationId xmlns:a16="http://schemas.microsoft.com/office/drawing/2014/main" id="{BFA0E4C2-5318-8626-5A1B-B4E99BBE1FC5}"/>
                </a:ext>
              </a:extLst>
            </p:cNvPr>
            <p:cNvGrpSpPr/>
            <p:nvPr/>
          </p:nvGrpSpPr>
          <p:grpSpPr>
            <a:xfrm>
              <a:off x="1513326" y="3376908"/>
              <a:ext cx="2701170" cy="2740327"/>
              <a:chOff x="897691" y="2951429"/>
              <a:chExt cx="2701170" cy="2740327"/>
            </a:xfrm>
          </p:grpSpPr>
          <p:sp>
            <p:nvSpPr>
              <p:cNvPr id="86" name="Rectangle 85">
                <a:extLst>
                  <a:ext uri="{FF2B5EF4-FFF2-40B4-BE49-F238E27FC236}">
                    <a16:creationId xmlns:a16="http://schemas.microsoft.com/office/drawing/2014/main" id="{A7631D20-BF12-CD23-0A1C-AE138541825E}"/>
                  </a:ext>
                </a:extLst>
              </p:cNvPr>
              <p:cNvSpPr/>
              <p:nvPr/>
            </p:nvSpPr>
            <p:spPr>
              <a:xfrm>
                <a:off x="897691" y="2951429"/>
                <a:ext cx="2701170" cy="2740327"/>
              </a:xfrm>
              <a:prstGeom prst="rect">
                <a:avLst/>
              </a:prstGeom>
              <a:gradFill>
                <a:gsLst>
                  <a:gs pos="11000">
                    <a:srgbClr val="197B96"/>
                  </a:gs>
                  <a:gs pos="11000">
                    <a:schemeClr val="bg1">
                      <a:lumMod val="9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TextBox 89">
                <a:extLst>
                  <a:ext uri="{FF2B5EF4-FFF2-40B4-BE49-F238E27FC236}">
                    <a16:creationId xmlns:a16="http://schemas.microsoft.com/office/drawing/2014/main" id="{E52BAD43-5BA1-951F-F516-25856ECF27A6}"/>
                  </a:ext>
                </a:extLst>
              </p:cNvPr>
              <p:cNvSpPr txBox="1"/>
              <p:nvPr/>
            </p:nvSpPr>
            <p:spPr>
              <a:xfrm>
                <a:off x="1496838" y="2986508"/>
                <a:ext cx="1502875" cy="276999"/>
              </a:xfrm>
              <a:prstGeom prst="rect">
                <a:avLst/>
              </a:prstGeom>
              <a:noFill/>
            </p:spPr>
            <p:txBody>
              <a:bodyPr wrap="square" rtlCol="0">
                <a:spAutoFit/>
              </a:bodyPr>
              <a:lstStyle/>
              <a:p>
                <a:pPr algn="ctr"/>
                <a:r>
                  <a:rPr lang="en-GB" sz="1200" b="1" dirty="0">
                    <a:solidFill>
                      <a:schemeClr val="bg1"/>
                    </a:solidFill>
                  </a:rPr>
                  <a:t>Small institutions</a:t>
                </a:r>
                <a:endParaRPr lang="fr-FR" sz="1200" b="1" dirty="0">
                  <a:solidFill>
                    <a:schemeClr val="bg1"/>
                  </a:solidFill>
                </a:endParaRPr>
              </a:p>
            </p:txBody>
          </p:sp>
          <p:sp>
            <p:nvSpPr>
              <p:cNvPr id="91" name="TextBox 90">
                <a:extLst>
                  <a:ext uri="{FF2B5EF4-FFF2-40B4-BE49-F238E27FC236}">
                    <a16:creationId xmlns:a16="http://schemas.microsoft.com/office/drawing/2014/main" id="{FDB65436-BFA9-3C34-8BC6-1F1C82A1C25E}"/>
                  </a:ext>
                </a:extLst>
              </p:cNvPr>
              <p:cNvSpPr txBox="1"/>
              <p:nvPr/>
            </p:nvSpPr>
            <p:spPr>
              <a:xfrm>
                <a:off x="1013988" y="3530717"/>
                <a:ext cx="2498756" cy="707886"/>
              </a:xfrm>
              <a:prstGeom prst="rect">
                <a:avLst/>
              </a:prstGeom>
              <a:noFill/>
            </p:spPr>
            <p:txBody>
              <a:bodyPr wrap="square" rtlCol="0">
                <a:spAutoFit/>
              </a:bodyPr>
              <a:lstStyle/>
              <a:p>
                <a:r>
                  <a:rPr lang="fr-FR" sz="1000" dirty="0"/>
                  <a:t>Un exemplaire par devise significative avec un exemplaire devise significative agrégée pour le </a:t>
                </a:r>
                <a:r>
                  <a:rPr lang="fr-FR" sz="1000" dirty="0" err="1"/>
                  <a:t>template</a:t>
                </a:r>
                <a:r>
                  <a:rPr lang="fr-FR" sz="1000" dirty="0"/>
                  <a:t>:</a:t>
                </a:r>
              </a:p>
              <a:p>
                <a:pPr marL="352425" indent="-171450">
                  <a:buClr>
                    <a:srgbClr val="197B96"/>
                  </a:buClr>
                  <a:buFont typeface="Wingdings" panose="05000000000000000000" pitchFamily="2" charset="2"/>
                  <a:buChar char="§"/>
                </a:pPr>
                <a:r>
                  <a:rPr lang="fr-FR" sz="1000" b="1" dirty="0">
                    <a:solidFill>
                      <a:srgbClr val="197B96"/>
                    </a:solidFill>
                  </a:rPr>
                  <a:t>J01</a:t>
                </a:r>
              </a:p>
            </p:txBody>
          </p:sp>
          <p:sp>
            <p:nvSpPr>
              <p:cNvPr id="92" name="TextBox 91">
                <a:extLst>
                  <a:ext uri="{FF2B5EF4-FFF2-40B4-BE49-F238E27FC236}">
                    <a16:creationId xmlns:a16="http://schemas.microsoft.com/office/drawing/2014/main" id="{C411B2D2-A06B-933A-92FD-EC947C6D3D8C}"/>
                  </a:ext>
                </a:extLst>
              </p:cNvPr>
              <p:cNvSpPr txBox="1"/>
              <p:nvPr/>
            </p:nvSpPr>
            <p:spPr>
              <a:xfrm>
                <a:off x="1013988" y="4304788"/>
                <a:ext cx="2498756" cy="1015663"/>
              </a:xfrm>
              <a:prstGeom prst="rect">
                <a:avLst/>
              </a:prstGeom>
              <a:noFill/>
            </p:spPr>
            <p:txBody>
              <a:bodyPr wrap="square" rtlCol="0">
                <a:spAutoFit/>
              </a:bodyPr>
              <a:lstStyle/>
              <a:p>
                <a:r>
                  <a:rPr lang="fr-FR" sz="1000" dirty="0"/>
                  <a:t>Un exemplaire de chaque </a:t>
                </a:r>
                <a:r>
                  <a:rPr lang="fr-FR" sz="1000" dirty="0" err="1"/>
                  <a:t>template</a:t>
                </a:r>
                <a:r>
                  <a:rPr lang="fr-FR" sz="1000" dirty="0"/>
                  <a:t> par devise significative:</a:t>
                </a:r>
              </a:p>
              <a:p>
                <a:pPr marL="352425" indent="-171450">
                  <a:buClr>
                    <a:srgbClr val="197B96"/>
                  </a:buClr>
                  <a:buFont typeface="Wingdings" panose="05000000000000000000" pitchFamily="2" charset="2"/>
                  <a:buChar char="§"/>
                </a:pPr>
                <a:r>
                  <a:rPr lang="fr-FR" sz="1000" b="1" dirty="0">
                    <a:solidFill>
                      <a:srgbClr val="197B96"/>
                    </a:solidFill>
                  </a:rPr>
                  <a:t>J04</a:t>
                </a:r>
              </a:p>
              <a:p>
                <a:pPr marL="352425" indent="-171450">
                  <a:buClr>
                    <a:srgbClr val="197B96"/>
                  </a:buClr>
                  <a:buFont typeface="Wingdings" panose="05000000000000000000" pitchFamily="2" charset="2"/>
                  <a:buChar char="§"/>
                </a:pPr>
                <a:r>
                  <a:rPr lang="fr-FR" sz="1000" b="1" dirty="0">
                    <a:solidFill>
                      <a:srgbClr val="197B96"/>
                    </a:solidFill>
                  </a:rPr>
                  <a:t>J07</a:t>
                </a:r>
              </a:p>
              <a:p>
                <a:pPr marL="352425" indent="-171450">
                  <a:buClr>
                    <a:srgbClr val="197B96"/>
                  </a:buClr>
                  <a:buFont typeface="Wingdings" panose="05000000000000000000" pitchFamily="2" charset="2"/>
                  <a:buChar char="§"/>
                </a:pPr>
                <a:r>
                  <a:rPr lang="fr-FR" sz="1000" b="1" dirty="0">
                    <a:solidFill>
                      <a:srgbClr val="197B96"/>
                    </a:solidFill>
                  </a:rPr>
                  <a:t>J09</a:t>
                </a:r>
              </a:p>
              <a:p>
                <a:pPr marL="352425" indent="-171450">
                  <a:buClr>
                    <a:srgbClr val="197B96"/>
                  </a:buClr>
                  <a:buFont typeface="Wingdings" panose="05000000000000000000" pitchFamily="2" charset="2"/>
                  <a:buChar char="§"/>
                </a:pPr>
                <a:r>
                  <a:rPr lang="fr-FR" sz="1000" b="1" dirty="0">
                    <a:solidFill>
                      <a:srgbClr val="197B96"/>
                    </a:solidFill>
                  </a:rPr>
                  <a:t>J11</a:t>
                </a:r>
              </a:p>
            </p:txBody>
          </p:sp>
        </p:grpSp>
        <p:grpSp>
          <p:nvGrpSpPr>
            <p:cNvPr id="98" name="Group 97">
              <a:extLst>
                <a:ext uri="{FF2B5EF4-FFF2-40B4-BE49-F238E27FC236}">
                  <a16:creationId xmlns:a16="http://schemas.microsoft.com/office/drawing/2014/main" id="{7B01582F-489F-186C-CDB8-8FA862279FF9}"/>
                </a:ext>
              </a:extLst>
            </p:cNvPr>
            <p:cNvGrpSpPr/>
            <p:nvPr/>
          </p:nvGrpSpPr>
          <p:grpSpPr>
            <a:xfrm>
              <a:off x="4460229" y="3376908"/>
              <a:ext cx="2701170" cy="2740327"/>
              <a:chOff x="3903442" y="2951429"/>
              <a:chExt cx="2701170" cy="2740327"/>
            </a:xfrm>
          </p:grpSpPr>
          <p:sp>
            <p:nvSpPr>
              <p:cNvPr id="93" name="Rectangle 92">
                <a:extLst>
                  <a:ext uri="{FF2B5EF4-FFF2-40B4-BE49-F238E27FC236}">
                    <a16:creationId xmlns:a16="http://schemas.microsoft.com/office/drawing/2014/main" id="{33F525CF-B7E1-A57F-206A-DF16D9CC1ACF}"/>
                  </a:ext>
                </a:extLst>
              </p:cNvPr>
              <p:cNvSpPr/>
              <p:nvPr/>
            </p:nvSpPr>
            <p:spPr>
              <a:xfrm>
                <a:off x="3903442" y="2951429"/>
                <a:ext cx="2701170" cy="2740327"/>
              </a:xfrm>
              <a:prstGeom prst="rect">
                <a:avLst/>
              </a:prstGeom>
              <a:gradFill>
                <a:gsLst>
                  <a:gs pos="11000">
                    <a:srgbClr val="197B96"/>
                  </a:gs>
                  <a:gs pos="11000">
                    <a:schemeClr val="bg1">
                      <a:lumMod val="9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TextBox 93">
                <a:extLst>
                  <a:ext uri="{FF2B5EF4-FFF2-40B4-BE49-F238E27FC236}">
                    <a16:creationId xmlns:a16="http://schemas.microsoft.com/office/drawing/2014/main" id="{6D4FF5EB-62A9-AAE3-F1B1-4CBFFE907D62}"/>
                  </a:ext>
                </a:extLst>
              </p:cNvPr>
              <p:cNvSpPr txBox="1"/>
              <p:nvPr/>
            </p:nvSpPr>
            <p:spPr>
              <a:xfrm>
                <a:off x="4502589" y="2986508"/>
                <a:ext cx="1502875" cy="276999"/>
              </a:xfrm>
              <a:prstGeom prst="rect">
                <a:avLst/>
              </a:prstGeom>
              <a:noFill/>
            </p:spPr>
            <p:txBody>
              <a:bodyPr wrap="square" rtlCol="0">
                <a:spAutoFit/>
              </a:bodyPr>
              <a:lstStyle/>
              <a:p>
                <a:pPr algn="ctr"/>
                <a:r>
                  <a:rPr lang="en-GB" sz="1200" b="1" dirty="0">
                    <a:solidFill>
                      <a:schemeClr val="bg1"/>
                    </a:solidFill>
                  </a:rPr>
                  <a:t>Large institutions</a:t>
                </a:r>
                <a:endParaRPr lang="fr-FR" sz="1200" b="1" dirty="0">
                  <a:solidFill>
                    <a:schemeClr val="bg1"/>
                  </a:solidFill>
                </a:endParaRPr>
              </a:p>
            </p:txBody>
          </p:sp>
          <p:sp>
            <p:nvSpPr>
              <p:cNvPr id="95" name="TextBox 94">
                <a:extLst>
                  <a:ext uri="{FF2B5EF4-FFF2-40B4-BE49-F238E27FC236}">
                    <a16:creationId xmlns:a16="http://schemas.microsoft.com/office/drawing/2014/main" id="{D7510718-147D-EA13-0A1C-92AC1711B814}"/>
                  </a:ext>
                </a:extLst>
              </p:cNvPr>
              <p:cNvSpPr txBox="1"/>
              <p:nvPr/>
            </p:nvSpPr>
            <p:spPr>
              <a:xfrm>
                <a:off x="4019739" y="3530717"/>
                <a:ext cx="2498756" cy="707886"/>
              </a:xfrm>
              <a:prstGeom prst="rect">
                <a:avLst/>
              </a:prstGeom>
              <a:noFill/>
            </p:spPr>
            <p:txBody>
              <a:bodyPr wrap="square" rtlCol="0">
                <a:spAutoFit/>
              </a:bodyPr>
              <a:lstStyle/>
              <a:p>
                <a:r>
                  <a:rPr lang="fr-FR" sz="1000" dirty="0"/>
                  <a:t>Un exemplaire par devise significative avec un exemplaire devise significative agrégée pour le </a:t>
                </a:r>
                <a:r>
                  <a:rPr lang="fr-FR" sz="1000" dirty="0" err="1"/>
                  <a:t>template</a:t>
                </a:r>
                <a:r>
                  <a:rPr lang="fr-FR" sz="1000" dirty="0"/>
                  <a:t>:</a:t>
                </a:r>
              </a:p>
              <a:p>
                <a:pPr marL="352425" indent="-171450">
                  <a:buClr>
                    <a:srgbClr val="197B96"/>
                  </a:buClr>
                  <a:buFont typeface="Wingdings" panose="05000000000000000000" pitchFamily="2" charset="2"/>
                  <a:buChar char="§"/>
                </a:pPr>
                <a:r>
                  <a:rPr lang="fr-FR" sz="1000" b="1" dirty="0">
                    <a:solidFill>
                      <a:srgbClr val="197B96"/>
                    </a:solidFill>
                  </a:rPr>
                  <a:t>J01</a:t>
                </a:r>
              </a:p>
            </p:txBody>
          </p:sp>
          <p:sp>
            <p:nvSpPr>
              <p:cNvPr id="96" name="TextBox 95">
                <a:extLst>
                  <a:ext uri="{FF2B5EF4-FFF2-40B4-BE49-F238E27FC236}">
                    <a16:creationId xmlns:a16="http://schemas.microsoft.com/office/drawing/2014/main" id="{7E904E4A-40FC-671D-27B6-E70BF8F60511}"/>
                  </a:ext>
                </a:extLst>
              </p:cNvPr>
              <p:cNvSpPr txBox="1"/>
              <p:nvPr/>
            </p:nvSpPr>
            <p:spPr>
              <a:xfrm>
                <a:off x="4019739" y="4304788"/>
                <a:ext cx="2498756" cy="1015663"/>
              </a:xfrm>
              <a:prstGeom prst="rect">
                <a:avLst/>
              </a:prstGeom>
              <a:noFill/>
            </p:spPr>
            <p:txBody>
              <a:bodyPr wrap="square" rtlCol="0">
                <a:spAutoFit/>
              </a:bodyPr>
              <a:lstStyle/>
              <a:p>
                <a:r>
                  <a:rPr lang="fr-FR" sz="1000" dirty="0"/>
                  <a:t>Un exemplaire de chaque </a:t>
                </a:r>
                <a:r>
                  <a:rPr lang="fr-FR" sz="1000" dirty="0" err="1"/>
                  <a:t>template</a:t>
                </a:r>
                <a:r>
                  <a:rPr lang="fr-FR" sz="1000" dirty="0"/>
                  <a:t> par devise significative :</a:t>
                </a:r>
              </a:p>
              <a:p>
                <a:pPr marL="352425" indent="-171450">
                  <a:buClr>
                    <a:srgbClr val="197B96"/>
                  </a:buClr>
                  <a:buFont typeface="Wingdings" panose="05000000000000000000" pitchFamily="2" charset="2"/>
                  <a:buChar char="§"/>
                </a:pPr>
                <a:r>
                  <a:rPr lang="fr-FR" sz="1000" b="1" dirty="0">
                    <a:solidFill>
                      <a:srgbClr val="197B96"/>
                    </a:solidFill>
                  </a:rPr>
                  <a:t>J02</a:t>
                </a:r>
              </a:p>
              <a:p>
                <a:pPr marL="352425" indent="-171450">
                  <a:buClr>
                    <a:srgbClr val="197B96"/>
                  </a:buClr>
                  <a:buFont typeface="Wingdings" panose="05000000000000000000" pitchFamily="2" charset="2"/>
                  <a:buChar char="§"/>
                </a:pPr>
                <a:r>
                  <a:rPr lang="fr-FR" sz="1000" b="1" dirty="0">
                    <a:solidFill>
                      <a:srgbClr val="197B96"/>
                    </a:solidFill>
                  </a:rPr>
                  <a:t>J05</a:t>
                </a:r>
              </a:p>
              <a:p>
                <a:pPr marL="352425" indent="-171450">
                  <a:buClr>
                    <a:srgbClr val="197B96"/>
                  </a:buClr>
                  <a:buFont typeface="Wingdings" panose="05000000000000000000" pitchFamily="2" charset="2"/>
                  <a:buChar char="§"/>
                </a:pPr>
                <a:r>
                  <a:rPr lang="fr-FR" sz="1000" b="1" dirty="0">
                    <a:solidFill>
                      <a:srgbClr val="197B96"/>
                    </a:solidFill>
                  </a:rPr>
                  <a:t>J08</a:t>
                </a:r>
              </a:p>
              <a:p>
                <a:pPr marL="352425" indent="-171450">
                  <a:buClr>
                    <a:srgbClr val="197B96"/>
                  </a:buClr>
                  <a:buFont typeface="Wingdings" panose="05000000000000000000" pitchFamily="2" charset="2"/>
                  <a:buChar char="§"/>
                </a:pPr>
                <a:r>
                  <a:rPr lang="fr-FR" sz="1000" b="1" dirty="0">
                    <a:solidFill>
                      <a:srgbClr val="197B96"/>
                    </a:solidFill>
                  </a:rPr>
                  <a:t>J10</a:t>
                </a:r>
              </a:p>
            </p:txBody>
          </p:sp>
        </p:grpSp>
        <p:grpSp>
          <p:nvGrpSpPr>
            <p:cNvPr id="99" name="Group 98">
              <a:extLst>
                <a:ext uri="{FF2B5EF4-FFF2-40B4-BE49-F238E27FC236}">
                  <a16:creationId xmlns:a16="http://schemas.microsoft.com/office/drawing/2014/main" id="{909155EA-D65B-8BB6-D067-BAE4F7B44E1A}"/>
                </a:ext>
              </a:extLst>
            </p:cNvPr>
            <p:cNvGrpSpPr/>
            <p:nvPr/>
          </p:nvGrpSpPr>
          <p:grpSpPr>
            <a:xfrm>
              <a:off x="7407133" y="3376908"/>
              <a:ext cx="2701170" cy="2740327"/>
              <a:chOff x="3903442" y="2951429"/>
              <a:chExt cx="2701170" cy="2740327"/>
            </a:xfrm>
          </p:grpSpPr>
          <p:sp>
            <p:nvSpPr>
              <p:cNvPr id="100" name="Rectangle 99">
                <a:extLst>
                  <a:ext uri="{FF2B5EF4-FFF2-40B4-BE49-F238E27FC236}">
                    <a16:creationId xmlns:a16="http://schemas.microsoft.com/office/drawing/2014/main" id="{61C5EAB9-0401-4F36-8632-27424C702C65}"/>
                  </a:ext>
                </a:extLst>
              </p:cNvPr>
              <p:cNvSpPr/>
              <p:nvPr/>
            </p:nvSpPr>
            <p:spPr>
              <a:xfrm>
                <a:off x="3903442" y="2951429"/>
                <a:ext cx="2701170" cy="2740327"/>
              </a:xfrm>
              <a:prstGeom prst="rect">
                <a:avLst/>
              </a:prstGeom>
              <a:gradFill>
                <a:gsLst>
                  <a:gs pos="11000">
                    <a:srgbClr val="197B96"/>
                  </a:gs>
                  <a:gs pos="11000">
                    <a:schemeClr val="bg1">
                      <a:lumMod val="9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1" name="TextBox 100">
                <a:extLst>
                  <a:ext uri="{FF2B5EF4-FFF2-40B4-BE49-F238E27FC236}">
                    <a16:creationId xmlns:a16="http://schemas.microsoft.com/office/drawing/2014/main" id="{F604FA43-27EE-B94B-D553-1333F6339B4B}"/>
                  </a:ext>
                </a:extLst>
              </p:cNvPr>
              <p:cNvSpPr txBox="1"/>
              <p:nvPr/>
            </p:nvSpPr>
            <p:spPr>
              <a:xfrm>
                <a:off x="4502589" y="2986508"/>
                <a:ext cx="1502875" cy="276999"/>
              </a:xfrm>
              <a:prstGeom prst="rect">
                <a:avLst/>
              </a:prstGeom>
              <a:noFill/>
            </p:spPr>
            <p:txBody>
              <a:bodyPr wrap="square" rtlCol="0">
                <a:spAutoFit/>
              </a:bodyPr>
              <a:lstStyle/>
              <a:p>
                <a:pPr algn="ctr"/>
                <a:r>
                  <a:rPr lang="en-GB" sz="1200" b="1" dirty="0">
                    <a:solidFill>
                      <a:schemeClr val="bg1"/>
                    </a:solidFill>
                  </a:rPr>
                  <a:t>Other institutions</a:t>
                </a:r>
                <a:endParaRPr lang="fr-FR" sz="1200" b="1" dirty="0">
                  <a:solidFill>
                    <a:schemeClr val="bg1"/>
                  </a:solidFill>
                </a:endParaRPr>
              </a:p>
            </p:txBody>
          </p:sp>
          <p:sp>
            <p:nvSpPr>
              <p:cNvPr id="102" name="TextBox 101">
                <a:extLst>
                  <a:ext uri="{FF2B5EF4-FFF2-40B4-BE49-F238E27FC236}">
                    <a16:creationId xmlns:a16="http://schemas.microsoft.com/office/drawing/2014/main" id="{4717A89F-3DED-3DF3-62FF-180A3BE773C4}"/>
                  </a:ext>
                </a:extLst>
              </p:cNvPr>
              <p:cNvSpPr txBox="1"/>
              <p:nvPr/>
            </p:nvSpPr>
            <p:spPr>
              <a:xfrm>
                <a:off x="4019739" y="3530717"/>
                <a:ext cx="2498756" cy="707886"/>
              </a:xfrm>
              <a:prstGeom prst="rect">
                <a:avLst/>
              </a:prstGeom>
              <a:noFill/>
            </p:spPr>
            <p:txBody>
              <a:bodyPr wrap="square" rtlCol="0">
                <a:spAutoFit/>
              </a:bodyPr>
              <a:lstStyle/>
              <a:p>
                <a:r>
                  <a:rPr lang="fr-FR" sz="1000" dirty="0"/>
                  <a:t>Un exemplaire par devise significative avec un exemplaire devise significative agrégée pour le </a:t>
                </a:r>
                <a:r>
                  <a:rPr lang="fr-FR" sz="1000" dirty="0" err="1"/>
                  <a:t>template</a:t>
                </a:r>
                <a:r>
                  <a:rPr lang="fr-FR" sz="1000" dirty="0"/>
                  <a:t>:</a:t>
                </a:r>
              </a:p>
              <a:p>
                <a:pPr marL="352425" indent="-171450">
                  <a:buClr>
                    <a:srgbClr val="197B96"/>
                  </a:buClr>
                  <a:buFont typeface="Wingdings" panose="05000000000000000000" pitchFamily="2" charset="2"/>
                  <a:buChar char="§"/>
                </a:pPr>
                <a:r>
                  <a:rPr lang="fr-FR" sz="1000" b="1" dirty="0">
                    <a:solidFill>
                      <a:srgbClr val="197B96"/>
                    </a:solidFill>
                  </a:rPr>
                  <a:t>J01</a:t>
                </a:r>
              </a:p>
            </p:txBody>
          </p:sp>
          <p:sp>
            <p:nvSpPr>
              <p:cNvPr id="103" name="TextBox 102">
                <a:extLst>
                  <a:ext uri="{FF2B5EF4-FFF2-40B4-BE49-F238E27FC236}">
                    <a16:creationId xmlns:a16="http://schemas.microsoft.com/office/drawing/2014/main" id="{72AC523F-882F-BE35-F713-A58278BD2624}"/>
                  </a:ext>
                </a:extLst>
              </p:cNvPr>
              <p:cNvSpPr txBox="1"/>
              <p:nvPr/>
            </p:nvSpPr>
            <p:spPr>
              <a:xfrm>
                <a:off x="4019739" y="4304788"/>
                <a:ext cx="2498756" cy="1015663"/>
              </a:xfrm>
              <a:prstGeom prst="rect">
                <a:avLst/>
              </a:prstGeom>
              <a:noFill/>
            </p:spPr>
            <p:txBody>
              <a:bodyPr wrap="square" rtlCol="0">
                <a:spAutoFit/>
              </a:bodyPr>
              <a:lstStyle/>
              <a:p>
                <a:r>
                  <a:rPr lang="fr-FR" sz="1000" dirty="0"/>
                  <a:t>Un exemplaire de chaque </a:t>
                </a:r>
                <a:r>
                  <a:rPr lang="fr-FR" sz="1000" dirty="0" err="1"/>
                  <a:t>template</a:t>
                </a:r>
                <a:r>
                  <a:rPr lang="fr-FR" sz="1000" dirty="0"/>
                  <a:t> par devise significative :</a:t>
                </a:r>
              </a:p>
              <a:p>
                <a:pPr marL="352425" indent="-171450">
                  <a:buClr>
                    <a:srgbClr val="197B96"/>
                  </a:buClr>
                  <a:buFont typeface="Wingdings" panose="05000000000000000000" pitchFamily="2" charset="2"/>
                  <a:buChar char="§"/>
                </a:pPr>
                <a:r>
                  <a:rPr lang="fr-FR" sz="1000" b="1" dirty="0">
                    <a:solidFill>
                      <a:srgbClr val="197B96"/>
                    </a:solidFill>
                  </a:rPr>
                  <a:t>J03</a:t>
                </a:r>
              </a:p>
              <a:p>
                <a:pPr marL="352425" indent="-171450">
                  <a:buClr>
                    <a:srgbClr val="197B96"/>
                  </a:buClr>
                  <a:buFont typeface="Wingdings" panose="05000000000000000000" pitchFamily="2" charset="2"/>
                  <a:buChar char="§"/>
                </a:pPr>
                <a:r>
                  <a:rPr lang="fr-FR" sz="1000" b="1" dirty="0">
                    <a:solidFill>
                      <a:srgbClr val="197B96"/>
                    </a:solidFill>
                  </a:rPr>
                  <a:t>J06</a:t>
                </a:r>
              </a:p>
              <a:p>
                <a:pPr marL="352425" indent="-171450">
                  <a:buClr>
                    <a:srgbClr val="197B96"/>
                  </a:buClr>
                  <a:buFont typeface="Wingdings" panose="05000000000000000000" pitchFamily="2" charset="2"/>
                  <a:buChar char="§"/>
                </a:pPr>
                <a:r>
                  <a:rPr lang="fr-FR" sz="1000" b="1" dirty="0">
                    <a:solidFill>
                      <a:srgbClr val="197B96"/>
                    </a:solidFill>
                  </a:rPr>
                  <a:t>J09</a:t>
                </a:r>
              </a:p>
              <a:p>
                <a:pPr marL="352425" indent="-171450">
                  <a:buClr>
                    <a:srgbClr val="197B96"/>
                  </a:buClr>
                  <a:buFont typeface="Wingdings" panose="05000000000000000000" pitchFamily="2" charset="2"/>
                  <a:buChar char="§"/>
                </a:pPr>
                <a:r>
                  <a:rPr lang="fr-FR" sz="1000" b="1" dirty="0">
                    <a:solidFill>
                      <a:srgbClr val="197B96"/>
                    </a:solidFill>
                  </a:rPr>
                  <a:t>J11</a:t>
                </a:r>
              </a:p>
            </p:txBody>
          </p:sp>
        </p:grpSp>
      </p:grpSp>
      <p:sp>
        <p:nvSpPr>
          <p:cNvPr id="106" name="TextBox 105">
            <a:extLst>
              <a:ext uri="{FF2B5EF4-FFF2-40B4-BE49-F238E27FC236}">
                <a16:creationId xmlns:a16="http://schemas.microsoft.com/office/drawing/2014/main" id="{BD234039-FA20-5E1C-E138-7AD720CF52EC}"/>
              </a:ext>
            </a:extLst>
          </p:cNvPr>
          <p:cNvSpPr txBox="1"/>
          <p:nvPr/>
        </p:nvSpPr>
        <p:spPr>
          <a:xfrm>
            <a:off x="604271" y="1456957"/>
            <a:ext cx="9230811" cy="830997"/>
          </a:xfrm>
          <a:prstGeom prst="rect">
            <a:avLst/>
          </a:prstGeom>
          <a:noFill/>
        </p:spPr>
        <p:txBody>
          <a:bodyPr wrap="square" rtlCol="0">
            <a:spAutoFit/>
          </a:bodyPr>
          <a:lstStyle/>
          <a:p>
            <a:r>
              <a:rPr lang="fr-FR" sz="1200" dirty="0">
                <a:solidFill>
                  <a:srgbClr val="165C71"/>
                </a:solidFill>
                <a:latin typeface="Calibri (body)"/>
              </a:rPr>
              <a:t>Selon la taille de l’institution, les templates à compléter diffèrent. </a:t>
            </a:r>
          </a:p>
          <a:p>
            <a:r>
              <a:rPr lang="fr-FR" sz="1200" dirty="0">
                <a:solidFill>
                  <a:srgbClr val="165C71"/>
                </a:solidFill>
                <a:latin typeface="Calibri (body)"/>
              </a:rPr>
              <a:t>De plus, il est attendu un certain nombre d’exemplaire des différents templates qui sont à réaliser séparément par devise significative identifiée.</a:t>
            </a:r>
          </a:p>
          <a:p>
            <a:r>
              <a:rPr lang="fr-FR" sz="1200" dirty="0">
                <a:solidFill>
                  <a:srgbClr val="165C71"/>
                </a:solidFill>
                <a:latin typeface="Calibri (body)"/>
              </a:rPr>
              <a:t> </a:t>
            </a:r>
          </a:p>
          <a:p>
            <a:r>
              <a:rPr lang="fr-FR" sz="1200" dirty="0">
                <a:solidFill>
                  <a:srgbClr val="165C71"/>
                </a:solidFill>
                <a:latin typeface="Calibri (body)"/>
              </a:rPr>
              <a:t>Ci-dessous une synthèse des exemplaires attendus.</a:t>
            </a:r>
          </a:p>
        </p:txBody>
      </p:sp>
    </p:spTree>
    <p:extLst>
      <p:ext uri="{BB962C8B-B14F-4D97-AF65-F5344CB8AC3E}">
        <p14:creationId xmlns:p14="http://schemas.microsoft.com/office/powerpoint/2010/main" val="102223422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a- Template </a:t>
            </a:r>
            <a:r>
              <a:rPr lang="fr-FR" sz="2000" i="1" dirty="0">
                <a:highlight>
                  <a:srgbClr val="FF0000"/>
                </a:highlight>
                <a:latin typeface="Calibri (body)"/>
                <a:cs typeface="Calibri"/>
              </a:rPr>
              <a:t>J02/3/4</a:t>
            </a:r>
            <a:r>
              <a:rPr lang="fr-FR" sz="2000" i="1" dirty="0">
                <a:latin typeface="Calibri (body)"/>
                <a:cs typeface="Calibri"/>
              </a:rPr>
              <a:t> – Breakdown of </a:t>
            </a:r>
            <a:r>
              <a:rPr lang="fr-FR" sz="2000" i="1" dirty="0" err="1">
                <a:latin typeface="Calibri (body)"/>
                <a:cs typeface="Calibri"/>
              </a:rPr>
              <a:t>sensitivity</a:t>
            </a:r>
            <a:r>
              <a:rPr lang="fr-FR" sz="2000" i="1" dirty="0">
                <a:latin typeface="Calibri (body)"/>
                <a:cs typeface="Calibri"/>
              </a:rPr>
              <a:t> </a:t>
            </a:r>
            <a:r>
              <a:rPr lang="fr-FR" sz="2000" i="1" dirty="0" err="1">
                <a:latin typeface="Calibri (body)"/>
                <a:cs typeface="Calibri"/>
              </a:rPr>
              <a:t>estimates</a:t>
            </a:r>
            <a:endParaRPr lang="fr-FR" dirty="0">
              <a:latin typeface="Calibri"/>
              <a:cs typeface="Calibri"/>
            </a:endParaRPr>
          </a:p>
        </p:txBody>
      </p:sp>
      <p:sp>
        <p:nvSpPr>
          <p:cNvPr id="2" name="Espace réservé du texte 15">
            <a:extLst>
              <a:ext uri="{FF2B5EF4-FFF2-40B4-BE49-F238E27FC236}">
                <a16:creationId xmlns:a16="http://schemas.microsoft.com/office/drawing/2014/main" id="{69E5D344-ADD3-F380-D170-9A5CC8A62B61}"/>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
        <p:nvSpPr>
          <p:cNvPr id="4" name="TextBox 3">
            <a:extLst>
              <a:ext uri="{FF2B5EF4-FFF2-40B4-BE49-F238E27FC236}">
                <a16:creationId xmlns:a16="http://schemas.microsoft.com/office/drawing/2014/main" id="{F96882F6-8092-AB46-66F8-C1A2E24AA108}"/>
              </a:ext>
            </a:extLst>
          </p:cNvPr>
          <p:cNvSpPr txBox="1"/>
          <p:nvPr/>
        </p:nvSpPr>
        <p:spPr>
          <a:xfrm>
            <a:off x="283767" y="934435"/>
            <a:ext cx="8336409" cy="1015663"/>
          </a:xfrm>
          <a:prstGeom prst="rect">
            <a:avLst/>
          </a:prstGeom>
          <a:noFill/>
        </p:spPr>
        <p:txBody>
          <a:bodyPr wrap="square" rtlCol="0">
            <a:spAutoFit/>
          </a:bodyPr>
          <a:lstStyle/>
          <a:p>
            <a:r>
              <a:rPr lang="fr-FR" sz="1200" dirty="0">
                <a:solidFill>
                  <a:schemeClr val="tx1">
                    <a:lumMod val="50000"/>
                  </a:schemeClr>
                </a:solidFill>
                <a:latin typeface="Calibri (body)"/>
              </a:rPr>
              <a:t>Le Template </a:t>
            </a:r>
            <a:r>
              <a:rPr lang="fr-FR" sz="1200" b="1" dirty="0">
                <a:solidFill>
                  <a:srgbClr val="197B96"/>
                </a:solidFill>
                <a:latin typeface="Calibri (body)"/>
              </a:rPr>
              <a:t>J02/3/4</a:t>
            </a:r>
            <a:r>
              <a:rPr lang="fr-FR" sz="1200" dirty="0">
                <a:solidFill>
                  <a:schemeClr val="tx1">
                    <a:lumMod val="50000"/>
                  </a:schemeClr>
                </a:solidFill>
                <a:latin typeface="Calibri (body)"/>
              </a:rPr>
              <a:t> a pour objectif </a:t>
            </a:r>
            <a:r>
              <a:rPr lang="fr-FR" sz="1200" b="1" dirty="0">
                <a:solidFill>
                  <a:srgbClr val="197B96"/>
                </a:solidFill>
                <a:latin typeface="Calibri (body)"/>
              </a:rPr>
              <a:t>de renseigner la contribution de chaque encours </a:t>
            </a:r>
            <a:r>
              <a:rPr lang="fr-FR" sz="1200" dirty="0">
                <a:solidFill>
                  <a:schemeClr val="tx1">
                    <a:lumMod val="50000"/>
                  </a:schemeClr>
                </a:solidFill>
                <a:latin typeface="Calibri (body)"/>
              </a:rPr>
              <a:t>de bilan et hors-bilan :</a:t>
            </a:r>
            <a:endParaRPr lang="fr-FR" sz="200" dirty="0">
              <a:solidFill>
                <a:schemeClr val="tx1">
                  <a:lumMod val="50000"/>
                </a:schemeClr>
              </a:solidFill>
              <a:latin typeface="Calibri (body)"/>
            </a:endParaRPr>
          </a:p>
          <a:p>
            <a:pPr marL="352425" lvl="5" indent="-171450">
              <a:buClr>
                <a:srgbClr val="197B96"/>
              </a:buClr>
              <a:buFont typeface="Wingdings" panose="05000000000000000000" pitchFamily="2" charset="2"/>
              <a:buChar char="§"/>
            </a:pPr>
            <a:r>
              <a:rPr lang="fr-FR" sz="1200" dirty="0">
                <a:solidFill>
                  <a:schemeClr val="tx1">
                    <a:lumMod val="50000"/>
                  </a:schemeClr>
                </a:solidFill>
                <a:latin typeface="Calibri (body)"/>
              </a:rPr>
              <a:t>au niveau des indicateurs d’EVE, de MNI et de Valeur de marché avant application des stress scenarii </a:t>
            </a:r>
            <a:r>
              <a:rPr lang="fr-FR" sz="1200" dirty="0">
                <a:solidFill>
                  <a:srgbClr val="197B96"/>
                </a:solidFill>
                <a:latin typeface="Calibri (body)"/>
              </a:rPr>
              <a:t>(montant en </a:t>
            </a:r>
            <a:r>
              <a:rPr lang="fr-FR" sz="1200" dirty="0" err="1">
                <a:solidFill>
                  <a:srgbClr val="197B96"/>
                </a:solidFill>
                <a:latin typeface="Calibri (body)"/>
              </a:rPr>
              <a:t>baseline</a:t>
            </a:r>
            <a:r>
              <a:rPr lang="fr-FR" sz="1200" dirty="0">
                <a:solidFill>
                  <a:srgbClr val="197B96"/>
                </a:solidFill>
                <a:latin typeface="Calibri (body)"/>
              </a:rPr>
              <a:t>)</a:t>
            </a:r>
          </a:p>
          <a:p>
            <a:pPr marL="352425" lvl="5" indent="-171450">
              <a:buClr>
                <a:srgbClr val="197B96"/>
              </a:buClr>
              <a:buFont typeface="Wingdings" panose="05000000000000000000" pitchFamily="2" charset="2"/>
              <a:buChar char="§"/>
            </a:pPr>
            <a:r>
              <a:rPr lang="fr-FR" sz="1200" dirty="0">
                <a:solidFill>
                  <a:schemeClr val="tx1">
                    <a:lumMod val="50000"/>
                  </a:schemeClr>
                </a:solidFill>
                <a:latin typeface="Calibri (body)"/>
              </a:rPr>
              <a:t>à la sensibilité de ces indicateurs après application des stress scenarii </a:t>
            </a:r>
            <a:r>
              <a:rPr lang="fr-FR" sz="1200" dirty="0">
                <a:solidFill>
                  <a:srgbClr val="197B96"/>
                </a:solidFill>
                <a:latin typeface="Calibri (body)"/>
              </a:rPr>
              <a:t>(montant choqué) </a:t>
            </a:r>
          </a:p>
          <a:p>
            <a:pPr lvl="5">
              <a:buClr>
                <a:srgbClr val="197B96"/>
              </a:buClr>
            </a:pPr>
            <a:r>
              <a:rPr lang="fr-FR" sz="1200" b="1" dirty="0">
                <a:solidFill>
                  <a:schemeClr val="tx1">
                    <a:lumMod val="50000"/>
                  </a:schemeClr>
                </a:solidFill>
                <a:latin typeface="Calibri (body)"/>
              </a:rPr>
              <a:t>Ce Template est à produire par devise significative.</a:t>
            </a:r>
          </a:p>
          <a:p>
            <a:pPr lvl="5">
              <a:buClr>
                <a:srgbClr val="197B96"/>
              </a:buClr>
            </a:pPr>
            <a:endParaRPr lang="fr-FR" sz="1200" dirty="0">
              <a:solidFill>
                <a:srgbClr val="197B96"/>
              </a:solidFill>
              <a:latin typeface="Calibri (body)"/>
            </a:endParaRPr>
          </a:p>
        </p:txBody>
      </p:sp>
      <p:sp>
        <p:nvSpPr>
          <p:cNvPr id="5" name="TextBox 4">
            <a:extLst>
              <a:ext uri="{FF2B5EF4-FFF2-40B4-BE49-F238E27FC236}">
                <a16:creationId xmlns:a16="http://schemas.microsoft.com/office/drawing/2014/main" id="{4F43E092-783D-B433-4874-29FD8C574120}"/>
              </a:ext>
            </a:extLst>
          </p:cNvPr>
          <p:cNvSpPr txBox="1"/>
          <p:nvPr/>
        </p:nvSpPr>
        <p:spPr>
          <a:xfrm>
            <a:off x="283767" y="1775152"/>
            <a:ext cx="4840683" cy="276999"/>
          </a:xfrm>
          <a:prstGeom prst="rect">
            <a:avLst/>
          </a:prstGeom>
          <a:noFill/>
        </p:spPr>
        <p:txBody>
          <a:bodyPr wrap="square" rtlCol="0">
            <a:spAutoFit/>
          </a:bodyPr>
          <a:lstStyle/>
          <a:p>
            <a:r>
              <a:rPr lang="fr-FR" sz="1200" b="1" dirty="0">
                <a:solidFill>
                  <a:srgbClr val="197B96"/>
                </a:solidFill>
                <a:latin typeface="Calibri (body)"/>
              </a:rPr>
              <a:t>Les stress scénarii </a:t>
            </a:r>
            <a:r>
              <a:rPr lang="fr-FR" sz="1200" dirty="0">
                <a:solidFill>
                  <a:schemeClr val="tx1">
                    <a:lumMod val="50000"/>
                  </a:schemeClr>
                </a:solidFill>
                <a:latin typeface="Calibri (body)"/>
              </a:rPr>
              <a:t>à appliquer dans le cadre de </a:t>
            </a:r>
            <a:r>
              <a:rPr lang="fr-FR" sz="1200" b="1" dirty="0">
                <a:solidFill>
                  <a:srgbClr val="197B96"/>
                </a:solidFill>
                <a:latin typeface="Calibri (body)"/>
              </a:rPr>
              <a:t>l’EVE sont au nombre de 6</a:t>
            </a:r>
          </a:p>
        </p:txBody>
      </p:sp>
      <p:grpSp>
        <p:nvGrpSpPr>
          <p:cNvPr id="43" name="Group 42">
            <a:extLst>
              <a:ext uri="{FF2B5EF4-FFF2-40B4-BE49-F238E27FC236}">
                <a16:creationId xmlns:a16="http://schemas.microsoft.com/office/drawing/2014/main" id="{E7E1C5F0-E86F-24CD-21BB-C37151A3ACCC}"/>
              </a:ext>
            </a:extLst>
          </p:cNvPr>
          <p:cNvGrpSpPr/>
          <p:nvPr/>
        </p:nvGrpSpPr>
        <p:grpSpPr>
          <a:xfrm>
            <a:off x="283767" y="2056415"/>
            <a:ext cx="8336409" cy="4229100"/>
            <a:chOff x="779042" y="2066925"/>
            <a:chExt cx="8336409" cy="4229100"/>
          </a:xfrm>
        </p:grpSpPr>
        <p:grpSp>
          <p:nvGrpSpPr>
            <p:cNvPr id="42" name="Group 41">
              <a:extLst>
                <a:ext uri="{FF2B5EF4-FFF2-40B4-BE49-F238E27FC236}">
                  <a16:creationId xmlns:a16="http://schemas.microsoft.com/office/drawing/2014/main" id="{8C82DFAF-0922-3625-C148-5FCAD5CF7F40}"/>
                </a:ext>
              </a:extLst>
            </p:cNvPr>
            <p:cNvGrpSpPr/>
            <p:nvPr/>
          </p:nvGrpSpPr>
          <p:grpSpPr>
            <a:xfrm>
              <a:off x="950145" y="2114048"/>
              <a:ext cx="7994202" cy="4134853"/>
              <a:chOff x="450456" y="1953359"/>
              <a:chExt cx="7994202" cy="4134853"/>
            </a:xfrm>
          </p:grpSpPr>
          <p:grpSp>
            <p:nvGrpSpPr>
              <p:cNvPr id="30" name="Group 29">
                <a:extLst>
                  <a:ext uri="{FF2B5EF4-FFF2-40B4-BE49-F238E27FC236}">
                    <a16:creationId xmlns:a16="http://schemas.microsoft.com/office/drawing/2014/main" id="{2D832FA6-BBDA-4FDC-24F2-213FC8342104}"/>
                  </a:ext>
                </a:extLst>
              </p:cNvPr>
              <p:cNvGrpSpPr/>
              <p:nvPr/>
            </p:nvGrpSpPr>
            <p:grpSpPr>
              <a:xfrm>
                <a:off x="450456" y="2199272"/>
                <a:ext cx="2564207" cy="3758463"/>
                <a:chOff x="450456" y="2199272"/>
                <a:chExt cx="2564207" cy="3758463"/>
              </a:xfrm>
            </p:grpSpPr>
            <p:sp>
              <p:nvSpPr>
                <p:cNvPr id="9" name="TextBox 8">
                  <a:extLst>
                    <a:ext uri="{FF2B5EF4-FFF2-40B4-BE49-F238E27FC236}">
                      <a16:creationId xmlns:a16="http://schemas.microsoft.com/office/drawing/2014/main" id="{758E1A60-D540-B9BC-84B1-B22DC3E936D1}"/>
                    </a:ext>
                  </a:extLst>
                </p:cNvPr>
                <p:cNvSpPr txBox="1"/>
                <p:nvPr/>
              </p:nvSpPr>
              <p:spPr>
                <a:xfrm>
                  <a:off x="450456" y="2199272"/>
                  <a:ext cx="2564207" cy="415498"/>
                </a:xfrm>
                <a:prstGeom prst="rect">
                  <a:avLst/>
                </a:prstGeom>
                <a:noFill/>
              </p:spPr>
              <p:txBody>
                <a:bodyPr wrap="square" rtlCol="0">
                  <a:spAutoFit/>
                </a:bodyPr>
                <a:lstStyle/>
                <a:p>
                  <a:pPr algn="just"/>
                  <a:r>
                    <a:rPr lang="fr-FR" sz="1050" dirty="0">
                      <a:solidFill>
                        <a:schemeClr val="accent4">
                          <a:lumMod val="10000"/>
                        </a:schemeClr>
                      </a:solidFill>
                      <a:latin typeface="Calibri (body)"/>
                    </a:rPr>
                    <a:t>Variation parallèle des taux à la hausse et à la baisse d’une ampleur de 200 bps (en €)</a:t>
                  </a:r>
                </a:p>
              </p:txBody>
            </p:sp>
            <p:graphicFrame>
              <p:nvGraphicFramePr>
                <p:cNvPr id="11" name="Chart 10">
                  <a:extLst>
                    <a:ext uri="{FF2B5EF4-FFF2-40B4-BE49-F238E27FC236}">
                      <a16:creationId xmlns:a16="http://schemas.microsoft.com/office/drawing/2014/main" id="{B82F7A97-E4BC-359C-2F13-C9C8A882A5E3}"/>
                    </a:ext>
                  </a:extLst>
                </p:cNvPr>
                <p:cNvGraphicFramePr>
                  <a:graphicFrameLocks/>
                </p:cNvGraphicFramePr>
                <p:nvPr>
                  <p:extLst>
                    <p:ext uri="{D42A27DB-BD31-4B8C-83A1-F6EECF244321}">
                      <p14:modId xmlns:p14="http://schemas.microsoft.com/office/powerpoint/2010/main" val="128284684"/>
                    </p:ext>
                  </p:extLst>
                </p:nvPr>
              </p:nvGraphicFramePr>
              <p:xfrm>
                <a:off x="500910" y="2933979"/>
                <a:ext cx="2463299" cy="1493778"/>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4" name="Chart 13">
                  <a:extLst>
                    <a:ext uri="{FF2B5EF4-FFF2-40B4-BE49-F238E27FC236}">
                      <a16:creationId xmlns:a16="http://schemas.microsoft.com/office/drawing/2014/main" id="{1040A87B-30D5-2032-1557-3CBA0912D0FD}"/>
                    </a:ext>
                  </a:extLst>
                </p:cNvPr>
                <p:cNvGraphicFramePr>
                  <a:graphicFrameLocks/>
                </p:cNvGraphicFramePr>
                <p:nvPr>
                  <p:extLst>
                    <p:ext uri="{D42A27DB-BD31-4B8C-83A1-F6EECF244321}">
                      <p14:modId xmlns:p14="http://schemas.microsoft.com/office/powerpoint/2010/main" val="3299264517"/>
                    </p:ext>
                  </p:extLst>
                </p:nvPr>
              </p:nvGraphicFramePr>
              <p:xfrm>
                <a:off x="500910" y="4463957"/>
                <a:ext cx="2463299" cy="1493778"/>
              </p:xfrm>
              <a:graphic>
                <a:graphicData uri="http://schemas.openxmlformats.org/drawingml/2006/chart">
                  <c:chart xmlns:c="http://schemas.openxmlformats.org/drawingml/2006/chart" xmlns:r="http://schemas.openxmlformats.org/officeDocument/2006/relationships" r:id="rId8"/>
                </a:graphicData>
              </a:graphic>
            </p:graphicFrame>
            <p:sp>
              <p:nvSpPr>
                <p:cNvPr id="24" name="TextBox 23">
                  <a:extLst>
                    <a:ext uri="{FF2B5EF4-FFF2-40B4-BE49-F238E27FC236}">
                      <a16:creationId xmlns:a16="http://schemas.microsoft.com/office/drawing/2014/main" id="{1C27BA49-09ED-3403-07DE-E3A688DF43E3}"/>
                    </a:ext>
                  </a:extLst>
                </p:cNvPr>
                <p:cNvSpPr txBox="1"/>
                <p:nvPr/>
              </p:nvSpPr>
              <p:spPr>
                <a:xfrm>
                  <a:off x="1269358" y="3044513"/>
                  <a:ext cx="926403" cy="246221"/>
                </a:xfrm>
                <a:prstGeom prst="rect">
                  <a:avLst/>
                </a:prstGeom>
                <a:noFill/>
              </p:spPr>
              <p:txBody>
                <a:bodyPr wrap="square" rtlCol="0">
                  <a:spAutoFit/>
                </a:bodyPr>
                <a:lstStyle/>
                <a:p>
                  <a:r>
                    <a:rPr lang="en-GB" sz="1000" b="1" dirty="0">
                      <a:solidFill>
                        <a:srgbClr val="197B96"/>
                      </a:solidFill>
                    </a:rPr>
                    <a:t>Parallel Up</a:t>
                  </a:r>
                  <a:endParaRPr lang="fr-FR" sz="1000" b="1" dirty="0">
                    <a:solidFill>
                      <a:srgbClr val="197B96"/>
                    </a:solidFill>
                  </a:endParaRPr>
                </a:p>
              </p:txBody>
            </p:sp>
            <p:sp>
              <p:nvSpPr>
                <p:cNvPr id="25" name="TextBox 24">
                  <a:extLst>
                    <a:ext uri="{FF2B5EF4-FFF2-40B4-BE49-F238E27FC236}">
                      <a16:creationId xmlns:a16="http://schemas.microsoft.com/office/drawing/2014/main" id="{B8A5C113-37E3-C9EC-798D-D28C4E16AF95}"/>
                    </a:ext>
                  </a:extLst>
                </p:cNvPr>
                <p:cNvSpPr txBox="1"/>
                <p:nvPr/>
              </p:nvSpPr>
              <p:spPr>
                <a:xfrm>
                  <a:off x="1215679" y="4585151"/>
                  <a:ext cx="1033760" cy="246221"/>
                </a:xfrm>
                <a:prstGeom prst="rect">
                  <a:avLst/>
                </a:prstGeom>
                <a:noFill/>
              </p:spPr>
              <p:txBody>
                <a:bodyPr wrap="square" rtlCol="0">
                  <a:spAutoFit/>
                </a:bodyPr>
                <a:lstStyle/>
                <a:p>
                  <a:r>
                    <a:rPr lang="en-GB" sz="1000" b="1" dirty="0">
                      <a:solidFill>
                        <a:srgbClr val="197B96"/>
                      </a:solidFill>
                    </a:rPr>
                    <a:t>Parallel Down</a:t>
                  </a:r>
                  <a:endParaRPr lang="fr-FR" sz="1000" b="1" dirty="0">
                    <a:solidFill>
                      <a:srgbClr val="197B96"/>
                    </a:solidFill>
                  </a:endParaRPr>
                </a:p>
              </p:txBody>
            </p:sp>
          </p:grpSp>
          <p:grpSp>
            <p:nvGrpSpPr>
              <p:cNvPr id="31" name="Group 30">
                <a:extLst>
                  <a:ext uri="{FF2B5EF4-FFF2-40B4-BE49-F238E27FC236}">
                    <a16:creationId xmlns:a16="http://schemas.microsoft.com/office/drawing/2014/main" id="{B75C57B1-69EE-5012-DFD6-BE33758296ED}"/>
                  </a:ext>
                </a:extLst>
              </p:cNvPr>
              <p:cNvGrpSpPr/>
              <p:nvPr/>
            </p:nvGrpSpPr>
            <p:grpSpPr>
              <a:xfrm>
                <a:off x="3266361" y="2199272"/>
                <a:ext cx="2463299" cy="3758463"/>
                <a:chOff x="3270752" y="2199272"/>
                <a:chExt cx="2463299" cy="3758463"/>
              </a:xfrm>
            </p:grpSpPr>
            <p:sp>
              <p:nvSpPr>
                <p:cNvPr id="15" name="TextBox 14">
                  <a:extLst>
                    <a:ext uri="{FF2B5EF4-FFF2-40B4-BE49-F238E27FC236}">
                      <a16:creationId xmlns:a16="http://schemas.microsoft.com/office/drawing/2014/main" id="{50F9713C-300C-4951-FDC1-5FAA7ED92A5E}"/>
                    </a:ext>
                  </a:extLst>
                </p:cNvPr>
                <p:cNvSpPr txBox="1"/>
                <p:nvPr/>
              </p:nvSpPr>
              <p:spPr>
                <a:xfrm>
                  <a:off x="3582544" y="2199272"/>
                  <a:ext cx="1839714" cy="415498"/>
                </a:xfrm>
                <a:prstGeom prst="rect">
                  <a:avLst/>
                </a:prstGeom>
                <a:noFill/>
              </p:spPr>
              <p:txBody>
                <a:bodyPr wrap="square" rtlCol="0">
                  <a:spAutoFit/>
                </a:bodyPr>
                <a:lstStyle/>
                <a:p>
                  <a:pPr algn="just"/>
                  <a:r>
                    <a:rPr lang="fr-FR" sz="1050" dirty="0">
                      <a:solidFill>
                        <a:schemeClr val="tx1">
                          <a:lumMod val="50000"/>
                        </a:schemeClr>
                      </a:solidFill>
                      <a:latin typeface="Calibri (body)"/>
                    </a:rPr>
                    <a:t>Pentification et aplatissement de la courbe des taux</a:t>
                  </a:r>
                  <a:endParaRPr lang="fr-FR" sz="1050" dirty="0">
                    <a:solidFill>
                      <a:schemeClr val="accent4">
                        <a:lumMod val="10000"/>
                      </a:schemeClr>
                    </a:solidFill>
                    <a:latin typeface="Calibri (body)"/>
                  </a:endParaRPr>
                </a:p>
              </p:txBody>
            </p:sp>
            <p:graphicFrame>
              <p:nvGraphicFramePr>
                <p:cNvPr id="16" name="Chart 15">
                  <a:extLst>
                    <a:ext uri="{FF2B5EF4-FFF2-40B4-BE49-F238E27FC236}">
                      <a16:creationId xmlns:a16="http://schemas.microsoft.com/office/drawing/2014/main" id="{AA0A40AF-D073-A9A5-1BE8-369F260A753D}"/>
                    </a:ext>
                  </a:extLst>
                </p:cNvPr>
                <p:cNvGraphicFramePr>
                  <a:graphicFrameLocks/>
                </p:cNvGraphicFramePr>
                <p:nvPr>
                  <p:extLst>
                    <p:ext uri="{D42A27DB-BD31-4B8C-83A1-F6EECF244321}">
                      <p14:modId xmlns:p14="http://schemas.microsoft.com/office/powerpoint/2010/main" val="1518307806"/>
                    </p:ext>
                  </p:extLst>
                </p:nvPr>
              </p:nvGraphicFramePr>
              <p:xfrm>
                <a:off x="3270752" y="2933979"/>
                <a:ext cx="2463299" cy="1493778"/>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9" name="Chart 18">
                  <a:extLst>
                    <a:ext uri="{FF2B5EF4-FFF2-40B4-BE49-F238E27FC236}">
                      <a16:creationId xmlns:a16="http://schemas.microsoft.com/office/drawing/2014/main" id="{ADC25B9B-FCD5-10DB-DE05-60F57C5297DE}"/>
                    </a:ext>
                  </a:extLst>
                </p:cNvPr>
                <p:cNvGraphicFramePr>
                  <a:graphicFrameLocks/>
                </p:cNvGraphicFramePr>
                <p:nvPr>
                  <p:extLst>
                    <p:ext uri="{D42A27DB-BD31-4B8C-83A1-F6EECF244321}">
                      <p14:modId xmlns:p14="http://schemas.microsoft.com/office/powerpoint/2010/main" val="212758613"/>
                    </p:ext>
                  </p:extLst>
                </p:nvPr>
              </p:nvGraphicFramePr>
              <p:xfrm>
                <a:off x="3270752" y="4463957"/>
                <a:ext cx="2463299" cy="1493778"/>
              </p:xfrm>
              <a:graphic>
                <a:graphicData uri="http://schemas.openxmlformats.org/drawingml/2006/chart">
                  <c:chart xmlns:c="http://schemas.openxmlformats.org/drawingml/2006/chart" xmlns:r="http://schemas.openxmlformats.org/officeDocument/2006/relationships" r:id="rId10"/>
                </a:graphicData>
              </a:graphic>
            </p:graphicFrame>
            <p:sp>
              <p:nvSpPr>
                <p:cNvPr id="26" name="TextBox 25">
                  <a:extLst>
                    <a:ext uri="{FF2B5EF4-FFF2-40B4-BE49-F238E27FC236}">
                      <a16:creationId xmlns:a16="http://schemas.microsoft.com/office/drawing/2014/main" id="{290871C9-CEC1-C409-0673-A7239C841823}"/>
                    </a:ext>
                  </a:extLst>
                </p:cNvPr>
                <p:cNvSpPr txBox="1"/>
                <p:nvPr/>
              </p:nvSpPr>
              <p:spPr>
                <a:xfrm>
                  <a:off x="4039200" y="3044513"/>
                  <a:ext cx="926403" cy="246221"/>
                </a:xfrm>
                <a:prstGeom prst="rect">
                  <a:avLst/>
                </a:prstGeom>
                <a:noFill/>
              </p:spPr>
              <p:txBody>
                <a:bodyPr wrap="square" rtlCol="0">
                  <a:spAutoFit/>
                </a:bodyPr>
                <a:lstStyle/>
                <a:p>
                  <a:r>
                    <a:rPr lang="en-GB" sz="1000" b="1" dirty="0" err="1">
                      <a:solidFill>
                        <a:srgbClr val="197B96"/>
                      </a:solidFill>
                    </a:rPr>
                    <a:t>Steepener</a:t>
                  </a:r>
                  <a:endParaRPr lang="fr-FR" sz="1000" b="1" dirty="0">
                    <a:solidFill>
                      <a:srgbClr val="197B96"/>
                    </a:solidFill>
                  </a:endParaRPr>
                </a:p>
              </p:txBody>
            </p:sp>
            <p:sp>
              <p:nvSpPr>
                <p:cNvPr id="27" name="TextBox 26">
                  <a:extLst>
                    <a:ext uri="{FF2B5EF4-FFF2-40B4-BE49-F238E27FC236}">
                      <a16:creationId xmlns:a16="http://schemas.microsoft.com/office/drawing/2014/main" id="{396EA302-1700-75D2-B50D-CE43495EF1E3}"/>
                    </a:ext>
                  </a:extLst>
                </p:cNvPr>
                <p:cNvSpPr txBox="1"/>
                <p:nvPr/>
              </p:nvSpPr>
              <p:spPr>
                <a:xfrm>
                  <a:off x="4123634" y="4585151"/>
                  <a:ext cx="757535" cy="246221"/>
                </a:xfrm>
                <a:prstGeom prst="rect">
                  <a:avLst/>
                </a:prstGeom>
                <a:noFill/>
              </p:spPr>
              <p:txBody>
                <a:bodyPr wrap="square" rtlCol="0">
                  <a:spAutoFit/>
                </a:bodyPr>
                <a:lstStyle/>
                <a:p>
                  <a:r>
                    <a:rPr lang="en-GB" sz="1000" b="1" dirty="0">
                      <a:solidFill>
                        <a:srgbClr val="197B96"/>
                      </a:solidFill>
                    </a:rPr>
                    <a:t>Flattener</a:t>
                  </a:r>
                  <a:endParaRPr lang="fr-FR" sz="1000" b="1" dirty="0">
                    <a:solidFill>
                      <a:srgbClr val="197B96"/>
                    </a:solidFill>
                  </a:endParaRPr>
                </a:p>
              </p:txBody>
            </p:sp>
          </p:grpSp>
          <p:grpSp>
            <p:nvGrpSpPr>
              <p:cNvPr id="32" name="Group 31">
                <a:extLst>
                  <a:ext uri="{FF2B5EF4-FFF2-40B4-BE49-F238E27FC236}">
                    <a16:creationId xmlns:a16="http://schemas.microsoft.com/office/drawing/2014/main" id="{8826756F-2F27-A4AB-2FCA-2615BC298792}"/>
                  </a:ext>
                </a:extLst>
              </p:cNvPr>
              <p:cNvGrpSpPr/>
              <p:nvPr/>
            </p:nvGrpSpPr>
            <p:grpSpPr>
              <a:xfrm>
                <a:off x="5981359" y="2199272"/>
                <a:ext cx="2463299" cy="3758463"/>
                <a:chOff x="5981359" y="2199272"/>
                <a:chExt cx="2463299" cy="3758463"/>
              </a:xfrm>
            </p:grpSpPr>
            <p:sp>
              <p:nvSpPr>
                <p:cNvPr id="21" name="TextBox 20">
                  <a:extLst>
                    <a:ext uri="{FF2B5EF4-FFF2-40B4-BE49-F238E27FC236}">
                      <a16:creationId xmlns:a16="http://schemas.microsoft.com/office/drawing/2014/main" id="{1F3CF2CD-A603-10DC-8507-7A5FF570DF70}"/>
                    </a:ext>
                  </a:extLst>
                </p:cNvPr>
                <p:cNvSpPr txBox="1"/>
                <p:nvPr/>
              </p:nvSpPr>
              <p:spPr>
                <a:xfrm>
                  <a:off x="6293151" y="2199272"/>
                  <a:ext cx="1839714" cy="415498"/>
                </a:xfrm>
                <a:prstGeom prst="rect">
                  <a:avLst/>
                </a:prstGeom>
                <a:noFill/>
              </p:spPr>
              <p:txBody>
                <a:bodyPr wrap="square" rtlCol="0">
                  <a:spAutoFit/>
                </a:bodyPr>
                <a:lstStyle/>
                <a:p>
                  <a:pPr algn="just"/>
                  <a:r>
                    <a:rPr lang="fr-FR" sz="1050" dirty="0">
                      <a:solidFill>
                        <a:schemeClr val="accent4">
                          <a:lumMod val="10000"/>
                        </a:schemeClr>
                      </a:solidFill>
                      <a:latin typeface="Calibri (body)"/>
                    </a:rPr>
                    <a:t>Choc à la hausse et à la baisse des taux courts </a:t>
                  </a:r>
                </a:p>
              </p:txBody>
            </p:sp>
            <p:graphicFrame>
              <p:nvGraphicFramePr>
                <p:cNvPr id="22" name="Chart 21">
                  <a:extLst>
                    <a:ext uri="{FF2B5EF4-FFF2-40B4-BE49-F238E27FC236}">
                      <a16:creationId xmlns:a16="http://schemas.microsoft.com/office/drawing/2014/main" id="{B2779953-2AD6-FBE7-07FE-A6CBC936A462}"/>
                    </a:ext>
                  </a:extLst>
                </p:cNvPr>
                <p:cNvGraphicFramePr>
                  <a:graphicFrameLocks/>
                </p:cNvGraphicFramePr>
                <p:nvPr>
                  <p:extLst>
                    <p:ext uri="{D42A27DB-BD31-4B8C-83A1-F6EECF244321}">
                      <p14:modId xmlns:p14="http://schemas.microsoft.com/office/powerpoint/2010/main" val="857638411"/>
                    </p:ext>
                  </p:extLst>
                </p:nvPr>
              </p:nvGraphicFramePr>
              <p:xfrm>
                <a:off x="5981359" y="2933979"/>
                <a:ext cx="2463299" cy="1493778"/>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23" name="Chart 22">
                  <a:extLst>
                    <a:ext uri="{FF2B5EF4-FFF2-40B4-BE49-F238E27FC236}">
                      <a16:creationId xmlns:a16="http://schemas.microsoft.com/office/drawing/2014/main" id="{DC25E6E2-DDE5-A0D5-5357-F093A39824C1}"/>
                    </a:ext>
                  </a:extLst>
                </p:cNvPr>
                <p:cNvGraphicFramePr>
                  <a:graphicFrameLocks/>
                </p:cNvGraphicFramePr>
                <p:nvPr>
                  <p:extLst>
                    <p:ext uri="{D42A27DB-BD31-4B8C-83A1-F6EECF244321}">
                      <p14:modId xmlns:p14="http://schemas.microsoft.com/office/powerpoint/2010/main" val="1464009622"/>
                    </p:ext>
                  </p:extLst>
                </p:nvPr>
              </p:nvGraphicFramePr>
              <p:xfrm>
                <a:off x="5981359" y="4463957"/>
                <a:ext cx="2463299" cy="1493778"/>
              </p:xfrm>
              <a:graphic>
                <a:graphicData uri="http://schemas.openxmlformats.org/drawingml/2006/chart">
                  <c:chart xmlns:c="http://schemas.openxmlformats.org/drawingml/2006/chart" xmlns:r="http://schemas.openxmlformats.org/officeDocument/2006/relationships" r:id="rId12"/>
                </a:graphicData>
              </a:graphic>
            </p:graphicFrame>
            <p:sp>
              <p:nvSpPr>
                <p:cNvPr id="28" name="TextBox 27">
                  <a:extLst>
                    <a:ext uri="{FF2B5EF4-FFF2-40B4-BE49-F238E27FC236}">
                      <a16:creationId xmlns:a16="http://schemas.microsoft.com/office/drawing/2014/main" id="{493AA2EC-BF5F-9590-368D-797CF353C9DD}"/>
                    </a:ext>
                  </a:extLst>
                </p:cNvPr>
                <p:cNvSpPr txBox="1"/>
                <p:nvPr/>
              </p:nvSpPr>
              <p:spPr>
                <a:xfrm>
                  <a:off x="6681841" y="3044513"/>
                  <a:ext cx="1108667" cy="246221"/>
                </a:xfrm>
                <a:prstGeom prst="rect">
                  <a:avLst/>
                </a:prstGeom>
                <a:noFill/>
              </p:spPr>
              <p:txBody>
                <a:bodyPr wrap="square" rtlCol="0">
                  <a:spAutoFit/>
                </a:bodyPr>
                <a:lstStyle/>
                <a:p>
                  <a:r>
                    <a:rPr lang="en-GB" sz="1000" b="1" dirty="0">
                      <a:solidFill>
                        <a:srgbClr val="197B96"/>
                      </a:solidFill>
                    </a:rPr>
                    <a:t>Short Rates Up</a:t>
                  </a:r>
                  <a:endParaRPr lang="fr-FR" sz="1000" b="1" dirty="0">
                    <a:solidFill>
                      <a:srgbClr val="197B96"/>
                    </a:solidFill>
                  </a:endParaRPr>
                </a:p>
              </p:txBody>
            </p:sp>
            <p:sp>
              <p:nvSpPr>
                <p:cNvPr id="29" name="TextBox 28">
                  <a:extLst>
                    <a:ext uri="{FF2B5EF4-FFF2-40B4-BE49-F238E27FC236}">
                      <a16:creationId xmlns:a16="http://schemas.microsoft.com/office/drawing/2014/main" id="{B18CB8C7-9728-D914-0A6D-C8345FB9F1CE}"/>
                    </a:ext>
                  </a:extLst>
                </p:cNvPr>
                <p:cNvSpPr txBox="1"/>
                <p:nvPr/>
              </p:nvSpPr>
              <p:spPr>
                <a:xfrm>
                  <a:off x="6534203" y="4585151"/>
                  <a:ext cx="1357610" cy="246221"/>
                </a:xfrm>
                <a:prstGeom prst="rect">
                  <a:avLst/>
                </a:prstGeom>
                <a:noFill/>
              </p:spPr>
              <p:txBody>
                <a:bodyPr wrap="square" rtlCol="0">
                  <a:spAutoFit/>
                </a:bodyPr>
                <a:lstStyle/>
                <a:p>
                  <a:r>
                    <a:rPr lang="en-GB" sz="1000" b="1" dirty="0">
                      <a:solidFill>
                        <a:srgbClr val="197B96"/>
                      </a:solidFill>
                    </a:rPr>
                    <a:t>Short Rates Down</a:t>
                  </a:r>
                  <a:endParaRPr lang="fr-FR" sz="1000" b="1" dirty="0">
                    <a:solidFill>
                      <a:srgbClr val="197B96"/>
                    </a:solidFill>
                  </a:endParaRPr>
                </a:p>
              </p:txBody>
            </p:sp>
          </p:grpSp>
          <p:cxnSp>
            <p:nvCxnSpPr>
              <p:cNvPr id="34" name="Straight Connector 33">
                <a:extLst>
                  <a:ext uri="{FF2B5EF4-FFF2-40B4-BE49-F238E27FC236}">
                    <a16:creationId xmlns:a16="http://schemas.microsoft.com/office/drawing/2014/main" id="{6D718984-71F9-9D76-7152-9238D9A63AE7}"/>
                  </a:ext>
                </a:extLst>
              </p:cNvPr>
              <p:cNvCxnSpPr/>
              <p:nvPr/>
            </p:nvCxnSpPr>
            <p:spPr>
              <a:xfrm>
                <a:off x="3152061" y="1953359"/>
                <a:ext cx="0" cy="4134853"/>
              </a:xfrm>
              <a:prstGeom prst="line">
                <a:avLst/>
              </a:prstGeom>
              <a:ln>
                <a:solidFill>
                  <a:schemeClr val="bg1">
                    <a:lumMod val="85000"/>
                  </a:schemeClr>
                </a:solidFill>
                <a:prstDash val="dash"/>
              </a:ln>
            </p:spPr>
            <p:style>
              <a:lnRef idx="1">
                <a:schemeClr val="accent4"/>
              </a:lnRef>
              <a:fillRef idx="0">
                <a:schemeClr val="accent4"/>
              </a:fillRef>
              <a:effectRef idx="0">
                <a:schemeClr val="accent4"/>
              </a:effectRef>
              <a:fontRef idx="minor">
                <a:schemeClr val="tx1"/>
              </a:fontRef>
            </p:style>
          </p:cxnSp>
          <p:cxnSp>
            <p:nvCxnSpPr>
              <p:cNvPr id="35" name="Straight Connector 34">
                <a:extLst>
                  <a:ext uri="{FF2B5EF4-FFF2-40B4-BE49-F238E27FC236}">
                    <a16:creationId xmlns:a16="http://schemas.microsoft.com/office/drawing/2014/main" id="{4B6F2BF7-511C-F60A-38FB-CCA824956FA6}"/>
                  </a:ext>
                </a:extLst>
              </p:cNvPr>
              <p:cNvCxnSpPr/>
              <p:nvPr/>
            </p:nvCxnSpPr>
            <p:spPr>
              <a:xfrm>
                <a:off x="5981359" y="1953359"/>
                <a:ext cx="0" cy="4134853"/>
              </a:xfrm>
              <a:prstGeom prst="line">
                <a:avLst/>
              </a:prstGeom>
              <a:ln>
                <a:solidFill>
                  <a:schemeClr val="bg1">
                    <a:lumMod val="85000"/>
                  </a:schemeClr>
                </a:solidFill>
                <a:prstDash val="dash"/>
              </a:ln>
            </p:spPr>
            <p:style>
              <a:lnRef idx="1">
                <a:schemeClr val="accent4"/>
              </a:lnRef>
              <a:fillRef idx="0">
                <a:schemeClr val="accent4"/>
              </a:fillRef>
              <a:effectRef idx="0">
                <a:schemeClr val="accent4"/>
              </a:effectRef>
              <a:fontRef idx="minor">
                <a:schemeClr val="tx1"/>
              </a:fontRef>
            </p:style>
          </p:cxnSp>
          <p:cxnSp>
            <p:nvCxnSpPr>
              <p:cNvPr id="37" name="Straight Connector 36">
                <a:extLst>
                  <a:ext uri="{FF2B5EF4-FFF2-40B4-BE49-F238E27FC236}">
                    <a16:creationId xmlns:a16="http://schemas.microsoft.com/office/drawing/2014/main" id="{245F081B-C194-0A52-4FDB-F4DAB7B277EA}"/>
                  </a:ext>
                </a:extLst>
              </p:cNvPr>
              <p:cNvCxnSpPr>
                <a:cxnSpLocks/>
              </p:cNvCxnSpPr>
              <p:nvPr/>
            </p:nvCxnSpPr>
            <p:spPr>
              <a:xfrm>
                <a:off x="542987" y="2614770"/>
                <a:ext cx="726371" cy="0"/>
              </a:xfrm>
              <a:prstGeom prst="line">
                <a:avLst/>
              </a:prstGeom>
              <a:ln w="31750" cap="rnd">
                <a:solidFill>
                  <a:srgbClr val="197B96"/>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D0023BA4-FEA1-0AB5-66B1-310EBFA9E41C}"/>
                  </a:ext>
                </a:extLst>
              </p:cNvPr>
              <p:cNvCxnSpPr>
                <a:cxnSpLocks/>
              </p:cNvCxnSpPr>
              <p:nvPr/>
            </p:nvCxnSpPr>
            <p:spPr>
              <a:xfrm>
                <a:off x="3671623" y="2614770"/>
                <a:ext cx="726371" cy="0"/>
              </a:xfrm>
              <a:prstGeom prst="line">
                <a:avLst/>
              </a:prstGeom>
              <a:ln w="31750" cap="rnd">
                <a:solidFill>
                  <a:srgbClr val="197B96"/>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08C78DA-7D55-1B4D-DF53-ACE0179E2EEC}"/>
                  </a:ext>
                </a:extLst>
              </p:cNvPr>
              <p:cNvCxnSpPr>
                <a:cxnSpLocks/>
              </p:cNvCxnSpPr>
              <p:nvPr/>
            </p:nvCxnSpPr>
            <p:spPr>
              <a:xfrm>
                <a:off x="6414823" y="2614770"/>
                <a:ext cx="726371" cy="0"/>
              </a:xfrm>
              <a:prstGeom prst="line">
                <a:avLst/>
              </a:prstGeom>
              <a:ln w="31750" cap="rnd">
                <a:solidFill>
                  <a:srgbClr val="197B96"/>
                </a:solidFill>
              </a:ln>
            </p:spPr>
            <p:style>
              <a:lnRef idx="1">
                <a:schemeClr val="accent1"/>
              </a:lnRef>
              <a:fillRef idx="0">
                <a:schemeClr val="accent1"/>
              </a:fillRef>
              <a:effectRef idx="0">
                <a:schemeClr val="accent1"/>
              </a:effectRef>
              <a:fontRef idx="minor">
                <a:schemeClr val="tx1"/>
              </a:fontRef>
            </p:style>
          </p:cxnSp>
        </p:grpSp>
        <p:sp>
          <p:nvSpPr>
            <p:cNvPr id="41" name="Rectangle 40">
              <a:extLst>
                <a:ext uri="{FF2B5EF4-FFF2-40B4-BE49-F238E27FC236}">
                  <a16:creationId xmlns:a16="http://schemas.microsoft.com/office/drawing/2014/main" id="{A7422EB5-1D91-7528-AD9B-6B9BF400E939}"/>
                </a:ext>
              </a:extLst>
            </p:cNvPr>
            <p:cNvSpPr/>
            <p:nvPr/>
          </p:nvSpPr>
          <p:spPr>
            <a:xfrm>
              <a:off x="779042" y="2066925"/>
              <a:ext cx="8336409" cy="4229100"/>
            </a:xfrm>
            <a:prstGeom prst="rect">
              <a:avLst/>
            </a:prstGeom>
            <a:noFill/>
            <a:ln>
              <a:solidFill>
                <a:srgbClr val="197B96">
                  <a:alpha val="36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 name="Group 45">
            <a:extLst>
              <a:ext uri="{FF2B5EF4-FFF2-40B4-BE49-F238E27FC236}">
                <a16:creationId xmlns:a16="http://schemas.microsoft.com/office/drawing/2014/main" id="{A536923E-E27A-DD84-9752-58D8A9B06AF7}"/>
              </a:ext>
            </a:extLst>
          </p:cNvPr>
          <p:cNvGrpSpPr/>
          <p:nvPr/>
        </p:nvGrpSpPr>
        <p:grpSpPr>
          <a:xfrm>
            <a:off x="9168099" y="2078199"/>
            <a:ext cx="2476500" cy="1376849"/>
            <a:chOff x="9320657" y="2078199"/>
            <a:chExt cx="2476500" cy="1376849"/>
          </a:xfrm>
        </p:grpSpPr>
        <p:sp>
          <p:nvSpPr>
            <p:cNvPr id="44" name="Rectangle 43">
              <a:extLst>
                <a:ext uri="{FF2B5EF4-FFF2-40B4-BE49-F238E27FC236}">
                  <a16:creationId xmlns:a16="http://schemas.microsoft.com/office/drawing/2014/main" id="{8B9DD0F2-CFCD-3E42-C34F-EFCE1D80DD57}"/>
                </a:ext>
              </a:extLst>
            </p:cNvPr>
            <p:cNvSpPr/>
            <p:nvPr/>
          </p:nvSpPr>
          <p:spPr>
            <a:xfrm>
              <a:off x="9320657" y="2078199"/>
              <a:ext cx="2476500" cy="1376849"/>
            </a:xfrm>
            <a:prstGeom prst="rect">
              <a:avLst/>
            </a:prstGeom>
            <a:solidFill>
              <a:srgbClr val="197B96">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TextBox 44">
              <a:extLst>
                <a:ext uri="{FF2B5EF4-FFF2-40B4-BE49-F238E27FC236}">
                  <a16:creationId xmlns:a16="http://schemas.microsoft.com/office/drawing/2014/main" id="{2F5C1693-C833-0342-A5AE-09278349A782}"/>
                </a:ext>
              </a:extLst>
            </p:cNvPr>
            <p:cNvSpPr txBox="1"/>
            <p:nvPr/>
          </p:nvSpPr>
          <p:spPr>
            <a:xfrm>
              <a:off x="9417870" y="2154917"/>
              <a:ext cx="2282075" cy="1223412"/>
            </a:xfrm>
            <a:prstGeom prst="rect">
              <a:avLst/>
            </a:prstGeom>
            <a:noFill/>
          </p:spPr>
          <p:txBody>
            <a:bodyPr wrap="square" rtlCol="0">
              <a:spAutoFit/>
            </a:bodyPr>
            <a:lstStyle/>
            <a:p>
              <a:r>
                <a:rPr lang="fr-FR" sz="1050" dirty="0">
                  <a:solidFill>
                    <a:srgbClr val="197B96"/>
                  </a:solidFill>
                  <a:latin typeface="Calibri (body)"/>
                </a:rPr>
                <a:t>Les 2 stress scénarii à appliquer dans le cadre de la MNI et de la valeur de marché sont identiques et correspondent aux variations parallèles des taux à la hausse et à la baisse d’une ampleur de </a:t>
              </a:r>
              <a:r>
                <a:rPr lang="fr-FR" sz="1050" b="1" dirty="0">
                  <a:solidFill>
                    <a:srgbClr val="197B96"/>
                  </a:solidFill>
                  <a:latin typeface="Calibri (body)"/>
                </a:rPr>
                <a:t>200 bps (en €), (</a:t>
              </a:r>
              <a:r>
                <a:rPr lang="fr-FR" sz="1050" b="1" dirty="0" err="1">
                  <a:solidFill>
                    <a:srgbClr val="197B96"/>
                  </a:solidFill>
                  <a:latin typeface="Calibri (body)"/>
                </a:rPr>
                <a:t>parallel</a:t>
              </a:r>
              <a:r>
                <a:rPr lang="fr-FR" sz="1050" b="1" dirty="0">
                  <a:solidFill>
                    <a:srgbClr val="197B96"/>
                  </a:solidFill>
                  <a:latin typeface="Calibri (body)"/>
                </a:rPr>
                <a:t> up/down).</a:t>
              </a:r>
            </a:p>
          </p:txBody>
        </p:sp>
      </p:grpSp>
      <p:grpSp>
        <p:nvGrpSpPr>
          <p:cNvPr id="47" name="Group 46">
            <a:extLst>
              <a:ext uri="{FF2B5EF4-FFF2-40B4-BE49-F238E27FC236}">
                <a16:creationId xmlns:a16="http://schemas.microsoft.com/office/drawing/2014/main" id="{10BAFFEF-521E-6947-DD79-FC9530D0FA7C}"/>
              </a:ext>
            </a:extLst>
          </p:cNvPr>
          <p:cNvGrpSpPr/>
          <p:nvPr/>
        </p:nvGrpSpPr>
        <p:grpSpPr>
          <a:xfrm>
            <a:off x="9168099" y="3831047"/>
            <a:ext cx="2476500" cy="1376849"/>
            <a:chOff x="9320657" y="2078199"/>
            <a:chExt cx="2476500" cy="1376849"/>
          </a:xfrm>
        </p:grpSpPr>
        <p:sp>
          <p:nvSpPr>
            <p:cNvPr id="48" name="Rectangle 47">
              <a:extLst>
                <a:ext uri="{FF2B5EF4-FFF2-40B4-BE49-F238E27FC236}">
                  <a16:creationId xmlns:a16="http://schemas.microsoft.com/office/drawing/2014/main" id="{0FE3B52B-53A4-B9BD-61DA-C7691ECA00EE}"/>
                </a:ext>
              </a:extLst>
            </p:cNvPr>
            <p:cNvSpPr/>
            <p:nvPr/>
          </p:nvSpPr>
          <p:spPr>
            <a:xfrm>
              <a:off x="9320657" y="2078199"/>
              <a:ext cx="2476500" cy="1376849"/>
            </a:xfrm>
            <a:prstGeom prst="rect">
              <a:avLst/>
            </a:prstGeom>
            <a:solidFill>
              <a:srgbClr val="197B96">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TextBox 48">
              <a:extLst>
                <a:ext uri="{FF2B5EF4-FFF2-40B4-BE49-F238E27FC236}">
                  <a16:creationId xmlns:a16="http://schemas.microsoft.com/office/drawing/2014/main" id="{E1BBBA91-0E89-4339-09B3-931740EA0BF4}"/>
                </a:ext>
              </a:extLst>
            </p:cNvPr>
            <p:cNvSpPr txBox="1"/>
            <p:nvPr/>
          </p:nvSpPr>
          <p:spPr>
            <a:xfrm>
              <a:off x="9417870" y="2235708"/>
              <a:ext cx="2282075" cy="1061829"/>
            </a:xfrm>
            <a:prstGeom prst="rect">
              <a:avLst/>
            </a:prstGeom>
            <a:noFill/>
          </p:spPr>
          <p:txBody>
            <a:bodyPr wrap="square" rtlCol="0">
              <a:spAutoFit/>
            </a:bodyPr>
            <a:lstStyle/>
            <a:p>
              <a:r>
                <a:rPr lang="fr-FR" sz="1050" b="1" dirty="0">
                  <a:solidFill>
                    <a:srgbClr val="197B96"/>
                  </a:solidFill>
                  <a:latin typeface="Calibri (body)"/>
                </a:rPr>
                <a:t>La Duration:</a:t>
              </a:r>
              <a:br>
                <a:rPr lang="fr-FR" sz="1050" dirty="0">
                  <a:solidFill>
                    <a:srgbClr val="197B96"/>
                  </a:solidFill>
                  <a:latin typeface="Calibri (body)"/>
                </a:rPr>
              </a:br>
              <a:endParaRPr lang="fr-FR" sz="1050" dirty="0">
                <a:solidFill>
                  <a:srgbClr val="197B96"/>
                </a:solidFill>
                <a:latin typeface="Calibri (body)"/>
              </a:endParaRPr>
            </a:p>
            <a:p>
              <a:r>
                <a:rPr lang="fr-FR" sz="1050" dirty="0">
                  <a:solidFill>
                    <a:srgbClr val="197B96"/>
                  </a:solidFill>
                  <a:latin typeface="Calibri (body)"/>
                </a:rPr>
                <a:t>La duration est un nouvel indicateur à renseigner, calculé comme la sensibilité de la valeur économique à 1 point de base.</a:t>
              </a:r>
            </a:p>
          </p:txBody>
        </p:sp>
      </p:grpSp>
    </p:spTree>
    <p:extLst>
      <p:ext uri="{BB962C8B-B14F-4D97-AF65-F5344CB8AC3E}">
        <p14:creationId xmlns:p14="http://schemas.microsoft.com/office/powerpoint/2010/main" val="144776641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a- Template </a:t>
            </a:r>
            <a:r>
              <a:rPr lang="fr-FR" sz="2000" i="1" dirty="0">
                <a:highlight>
                  <a:srgbClr val="FF0000"/>
                </a:highlight>
                <a:latin typeface="Calibri (body)"/>
                <a:cs typeface="Calibri"/>
              </a:rPr>
              <a:t>J04</a:t>
            </a:r>
            <a:r>
              <a:rPr lang="fr-FR" sz="2000" i="1" dirty="0">
                <a:latin typeface="Calibri (body)"/>
                <a:cs typeface="Calibri"/>
              </a:rPr>
              <a:t> – Breakdown of </a:t>
            </a:r>
            <a:r>
              <a:rPr lang="fr-FR" sz="2000" i="1" dirty="0" err="1">
                <a:latin typeface="Calibri (body)"/>
                <a:cs typeface="Calibri"/>
              </a:rPr>
              <a:t>sensitivity</a:t>
            </a:r>
            <a:r>
              <a:rPr lang="fr-FR" sz="2000" i="1" dirty="0">
                <a:latin typeface="Calibri (body)"/>
                <a:cs typeface="Calibri"/>
              </a:rPr>
              <a:t> </a:t>
            </a:r>
            <a:r>
              <a:rPr lang="fr-FR" sz="2000" i="1" dirty="0" err="1">
                <a:latin typeface="Calibri (body)"/>
                <a:cs typeface="Calibri"/>
              </a:rPr>
              <a:t>estimates</a:t>
            </a:r>
            <a:endParaRPr lang="fr-FR" sz="2000" dirty="0">
              <a:latin typeface="Calibri"/>
              <a:cs typeface="Calibri"/>
            </a:endParaRPr>
          </a:p>
        </p:txBody>
      </p:sp>
      <p:sp>
        <p:nvSpPr>
          <p:cNvPr id="25" name="Rectangle 24">
            <a:extLst>
              <a:ext uri="{FF2B5EF4-FFF2-40B4-BE49-F238E27FC236}">
                <a16:creationId xmlns:a16="http://schemas.microsoft.com/office/drawing/2014/main" id="{129773B8-2EA0-180F-04F4-F7CDFC6BFB28}"/>
              </a:ext>
            </a:extLst>
          </p:cNvPr>
          <p:cNvSpPr/>
          <p:nvPr/>
        </p:nvSpPr>
        <p:spPr>
          <a:xfrm>
            <a:off x="8994606" y="5314557"/>
            <a:ext cx="95250" cy="1138911"/>
          </a:xfrm>
          <a:prstGeom prst="rect">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TextBox 3">
            <a:extLst>
              <a:ext uri="{FF2B5EF4-FFF2-40B4-BE49-F238E27FC236}">
                <a16:creationId xmlns:a16="http://schemas.microsoft.com/office/drawing/2014/main" id="{6D1B1F1A-3AE2-C8D1-F4D4-D5955879DECE}"/>
              </a:ext>
            </a:extLst>
          </p:cNvPr>
          <p:cNvSpPr txBox="1"/>
          <p:nvPr/>
        </p:nvSpPr>
        <p:spPr>
          <a:xfrm>
            <a:off x="320042" y="1023659"/>
            <a:ext cx="11551916" cy="600164"/>
          </a:xfrm>
          <a:prstGeom prst="rect">
            <a:avLst/>
          </a:prstGeom>
          <a:noFill/>
          <a:ln>
            <a:noFill/>
          </a:ln>
        </p:spPr>
        <p:txBody>
          <a:bodyPr wrap="square" rtlCol="0">
            <a:spAutoFit/>
          </a:bodyPr>
          <a:lstStyle/>
          <a:p>
            <a:r>
              <a:rPr lang="fr-FR" sz="1100" dirty="0">
                <a:solidFill>
                  <a:schemeClr val="tx1">
                    <a:lumMod val="50000"/>
                  </a:schemeClr>
                </a:solidFill>
                <a:latin typeface="Calibri (body)"/>
              </a:rPr>
              <a:t>Ce </a:t>
            </a:r>
            <a:r>
              <a:rPr lang="fr-FR" sz="1100" dirty="0" err="1">
                <a:solidFill>
                  <a:schemeClr val="tx1">
                    <a:lumMod val="50000"/>
                  </a:schemeClr>
                </a:solidFill>
                <a:latin typeface="Calibri (body)"/>
              </a:rPr>
              <a:t>template</a:t>
            </a:r>
            <a:r>
              <a:rPr lang="fr-FR" sz="1100" dirty="0">
                <a:solidFill>
                  <a:schemeClr val="tx1">
                    <a:lumMod val="50000"/>
                  </a:schemeClr>
                </a:solidFill>
                <a:latin typeface="Calibri (body)"/>
              </a:rPr>
              <a:t> permet d’alimenter le </a:t>
            </a:r>
            <a:r>
              <a:rPr lang="fr-FR" sz="1100" dirty="0" err="1">
                <a:solidFill>
                  <a:schemeClr val="tx1">
                    <a:lumMod val="50000"/>
                  </a:schemeClr>
                </a:solidFill>
                <a:latin typeface="Calibri (body)"/>
              </a:rPr>
              <a:t>template</a:t>
            </a:r>
            <a:r>
              <a:rPr lang="fr-FR" sz="1100" dirty="0">
                <a:solidFill>
                  <a:schemeClr val="tx1">
                    <a:lumMod val="50000"/>
                  </a:schemeClr>
                </a:solidFill>
                <a:latin typeface="Calibri (body)"/>
              </a:rPr>
              <a:t> J01.</a:t>
            </a:r>
          </a:p>
          <a:p>
            <a:r>
              <a:rPr lang="fr-FR" sz="1100" dirty="0">
                <a:solidFill>
                  <a:schemeClr val="tx1">
                    <a:lumMod val="50000"/>
                  </a:schemeClr>
                </a:solidFill>
                <a:latin typeface="Calibri (body)"/>
              </a:rPr>
              <a:t>Il présente les résultats obtenus de façon légèrement plus détaillé, permettant de décomposer la contribution Actif/Passif des différentes métriques dans chaque devise significative.</a:t>
            </a:r>
          </a:p>
          <a:p>
            <a:r>
              <a:rPr lang="fr-FR" sz="1100" dirty="0">
                <a:solidFill>
                  <a:schemeClr val="tx1">
                    <a:lumMod val="50000"/>
                  </a:schemeClr>
                </a:solidFill>
                <a:latin typeface="Calibri (body)"/>
              </a:rPr>
              <a:t>Il introduit également la notion de </a:t>
            </a:r>
            <a:r>
              <a:rPr lang="fr-FR" sz="1100" b="1" dirty="0">
                <a:solidFill>
                  <a:srgbClr val="197B96"/>
                </a:solidFill>
                <a:latin typeface="Calibri (body)"/>
              </a:rPr>
              <a:t>duration, une « métrique » additionnelle correspondant à un choc de + 1bp de la valeur économique.</a:t>
            </a:r>
          </a:p>
        </p:txBody>
      </p:sp>
      <p:sp>
        <p:nvSpPr>
          <p:cNvPr id="5" name="Espace réservé du texte 15">
            <a:extLst>
              <a:ext uri="{FF2B5EF4-FFF2-40B4-BE49-F238E27FC236}">
                <a16:creationId xmlns:a16="http://schemas.microsoft.com/office/drawing/2014/main" id="{A31FE1E5-5E95-B912-4217-41AAD2A5E848}"/>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7" name="Table 6">
            <a:extLst>
              <a:ext uri="{FF2B5EF4-FFF2-40B4-BE49-F238E27FC236}">
                <a16:creationId xmlns:a16="http://schemas.microsoft.com/office/drawing/2014/main" id="{60C22BFC-3255-CBCB-73CF-8657ACC1D32B}"/>
              </a:ext>
            </a:extLst>
          </p:cNvPr>
          <p:cNvGraphicFramePr>
            <a:graphicFrameLocks noGrp="1"/>
          </p:cNvGraphicFramePr>
          <p:nvPr>
            <p:extLst>
              <p:ext uri="{D42A27DB-BD31-4B8C-83A1-F6EECF244321}">
                <p14:modId xmlns:p14="http://schemas.microsoft.com/office/powerpoint/2010/main" val="3652419110"/>
              </p:ext>
            </p:extLst>
          </p:nvPr>
        </p:nvGraphicFramePr>
        <p:xfrm>
          <a:off x="388541" y="1868306"/>
          <a:ext cx="11157136" cy="4351337"/>
        </p:xfrm>
        <a:graphic>
          <a:graphicData uri="http://schemas.openxmlformats.org/drawingml/2006/table">
            <a:tbl>
              <a:tblPr/>
              <a:tblGrid>
                <a:gridCol w="2351749">
                  <a:extLst>
                    <a:ext uri="{9D8B030D-6E8A-4147-A177-3AD203B41FA5}">
                      <a16:colId xmlns:a16="http://schemas.microsoft.com/office/drawing/2014/main" val="2905774658"/>
                    </a:ext>
                  </a:extLst>
                </a:gridCol>
                <a:gridCol w="205095">
                  <a:extLst>
                    <a:ext uri="{9D8B030D-6E8A-4147-A177-3AD203B41FA5}">
                      <a16:colId xmlns:a16="http://schemas.microsoft.com/office/drawing/2014/main" val="378089388"/>
                    </a:ext>
                  </a:extLst>
                </a:gridCol>
                <a:gridCol w="669975">
                  <a:extLst>
                    <a:ext uri="{9D8B030D-6E8A-4147-A177-3AD203B41FA5}">
                      <a16:colId xmlns:a16="http://schemas.microsoft.com/office/drawing/2014/main" val="2417791385"/>
                    </a:ext>
                  </a:extLst>
                </a:gridCol>
                <a:gridCol w="382843">
                  <a:extLst>
                    <a:ext uri="{9D8B030D-6E8A-4147-A177-3AD203B41FA5}">
                      <a16:colId xmlns:a16="http://schemas.microsoft.com/office/drawing/2014/main" val="3343022379"/>
                    </a:ext>
                  </a:extLst>
                </a:gridCol>
                <a:gridCol w="587937">
                  <a:extLst>
                    <a:ext uri="{9D8B030D-6E8A-4147-A177-3AD203B41FA5}">
                      <a16:colId xmlns:a16="http://schemas.microsoft.com/office/drawing/2014/main" val="3239049468"/>
                    </a:ext>
                  </a:extLst>
                </a:gridCol>
                <a:gridCol w="628956">
                  <a:extLst>
                    <a:ext uri="{9D8B030D-6E8A-4147-A177-3AD203B41FA5}">
                      <a16:colId xmlns:a16="http://schemas.microsoft.com/office/drawing/2014/main" val="935799491"/>
                    </a:ext>
                  </a:extLst>
                </a:gridCol>
                <a:gridCol w="628956">
                  <a:extLst>
                    <a:ext uri="{9D8B030D-6E8A-4147-A177-3AD203B41FA5}">
                      <a16:colId xmlns:a16="http://schemas.microsoft.com/office/drawing/2014/main" val="3930209838"/>
                    </a:ext>
                  </a:extLst>
                </a:gridCol>
                <a:gridCol w="464881">
                  <a:extLst>
                    <a:ext uri="{9D8B030D-6E8A-4147-A177-3AD203B41FA5}">
                      <a16:colId xmlns:a16="http://schemas.microsoft.com/office/drawing/2014/main" val="1078944890"/>
                    </a:ext>
                  </a:extLst>
                </a:gridCol>
                <a:gridCol w="642629">
                  <a:extLst>
                    <a:ext uri="{9D8B030D-6E8A-4147-A177-3AD203B41FA5}">
                      <a16:colId xmlns:a16="http://schemas.microsoft.com/office/drawing/2014/main" val="1517814444"/>
                    </a:ext>
                  </a:extLst>
                </a:gridCol>
                <a:gridCol w="601610">
                  <a:extLst>
                    <a:ext uri="{9D8B030D-6E8A-4147-A177-3AD203B41FA5}">
                      <a16:colId xmlns:a16="http://schemas.microsoft.com/office/drawing/2014/main" val="2852736618"/>
                    </a:ext>
                  </a:extLst>
                </a:gridCol>
                <a:gridCol w="560592">
                  <a:extLst>
                    <a:ext uri="{9D8B030D-6E8A-4147-A177-3AD203B41FA5}">
                      <a16:colId xmlns:a16="http://schemas.microsoft.com/office/drawing/2014/main" val="4101961522"/>
                    </a:ext>
                  </a:extLst>
                </a:gridCol>
                <a:gridCol w="519572">
                  <a:extLst>
                    <a:ext uri="{9D8B030D-6E8A-4147-A177-3AD203B41FA5}">
                      <a16:colId xmlns:a16="http://schemas.microsoft.com/office/drawing/2014/main" val="2045538109"/>
                    </a:ext>
                  </a:extLst>
                </a:gridCol>
                <a:gridCol w="546919">
                  <a:extLst>
                    <a:ext uri="{9D8B030D-6E8A-4147-A177-3AD203B41FA5}">
                      <a16:colId xmlns:a16="http://schemas.microsoft.com/office/drawing/2014/main" val="3235942087"/>
                    </a:ext>
                  </a:extLst>
                </a:gridCol>
                <a:gridCol w="628956">
                  <a:extLst>
                    <a:ext uri="{9D8B030D-6E8A-4147-A177-3AD203B41FA5}">
                      <a16:colId xmlns:a16="http://schemas.microsoft.com/office/drawing/2014/main" val="2332007859"/>
                    </a:ext>
                  </a:extLst>
                </a:gridCol>
                <a:gridCol w="546919">
                  <a:extLst>
                    <a:ext uri="{9D8B030D-6E8A-4147-A177-3AD203B41FA5}">
                      <a16:colId xmlns:a16="http://schemas.microsoft.com/office/drawing/2014/main" val="451583128"/>
                    </a:ext>
                  </a:extLst>
                </a:gridCol>
                <a:gridCol w="587937">
                  <a:extLst>
                    <a:ext uri="{9D8B030D-6E8A-4147-A177-3AD203B41FA5}">
                      <a16:colId xmlns:a16="http://schemas.microsoft.com/office/drawing/2014/main" val="2690773500"/>
                    </a:ext>
                  </a:extLst>
                </a:gridCol>
                <a:gridCol w="601610">
                  <a:extLst>
                    <a:ext uri="{9D8B030D-6E8A-4147-A177-3AD203B41FA5}">
                      <a16:colId xmlns:a16="http://schemas.microsoft.com/office/drawing/2014/main" val="1754445713"/>
                    </a:ext>
                  </a:extLst>
                </a:gridCol>
              </a:tblGrid>
              <a:tr h="228243">
                <a:tc>
                  <a:txBody>
                    <a:bodyPr/>
                    <a:lstStyle/>
                    <a:p>
                      <a:pPr algn="l" rtl="0" fontAlgn="ctr"/>
                      <a:r>
                        <a:rPr lang="en-US" sz="700" b="1" i="0" u="none" strike="noStrike">
                          <a:solidFill>
                            <a:srgbClr val="197B96"/>
                          </a:solidFill>
                          <a:effectLst/>
                          <a:latin typeface="Verdana" panose="020B0604030504040204" pitchFamily="34" charset="0"/>
                        </a:rPr>
                        <a:t>J 04.00 - BREAKDOWN OF SENSITIVITY ESTIMATES  (SIMPLIFIED FOR SNCIS)</a:t>
                      </a:r>
                    </a:p>
                  </a:txBody>
                  <a:tcPr marL="7363" marR="7363" marT="7363" marB="0" anchor="ctr">
                    <a:lnL w="12700" cap="flat" cmpd="sng" algn="ctr">
                      <a:solidFill>
                        <a:srgbClr val="197B96"/>
                      </a:solidFill>
                      <a:prstDash val="solid"/>
                      <a:round/>
                      <a:headEnd type="none" w="med" len="med"/>
                      <a:tailEnd type="none" w="med" len="med"/>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400" b="1" i="0" u="none" strike="noStrike">
                          <a:solidFill>
                            <a:srgbClr val="000000"/>
                          </a:solidFill>
                          <a:effectLst/>
                          <a:latin typeface="Verdana" panose="020B0604030504040204" pitchFamily="34" charset="0"/>
                        </a:rPr>
                        <a:t> </a:t>
                      </a:r>
                    </a:p>
                  </a:txBody>
                  <a:tcPr marL="7363" marR="7363" marT="7363" marB="0" anchor="ctr">
                    <a:lnL>
                      <a:noFill/>
                    </a:lnL>
                    <a:lnR w="12700" cap="flat" cmpd="sng" algn="ctr">
                      <a:solidFill>
                        <a:srgbClr val="197B96"/>
                      </a:solidFill>
                      <a:prstDash val="solid"/>
                      <a:round/>
                      <a:headEnd type="none" w="med" len="med"/>
                      <a:tailEnd type="none" w="med" len="med"/>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extLst>
                  <a:ext uri="{0D108BD9-81ED-4DB2-BD59-A6C34878D82A}">
                    <a16:rowId xmlns:a16="http://schemas.microsoft.com/office/drawing/2014/main" val="28988089"/>
                  </a:ext>
                </a:extLst>
              </a:tr>
              <a:tr h="272419">
                <a:tc>
                  <a:txBody>
                    <a:bodyPr/>
                    <a:lstStyle/>
                    <a:p>
                      <a:pPr algn="l" fontAlgn="b"/>
                      <a:endParaRPr lang="fr-FR" sz="1100" b="0" i="0" u="none" strike="noStrike" dirty="0">
                        <a:solidFill>
                          <a:srgbClr val="000000"/>
                        </a:solidFill>
                        <a:effectLst/>
                        <a:latin typeface="Aptos Narrow" panose="020B00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ptos Narrow" panose="020B00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ptos Narrow" panose="020B00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ptos Narrow" panose="020B00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ptos Narrow" panose="020B0004020202020204" pitchFamily="34" charset="0"/>
                      </a:endParaRPr>
                    </a:p>
                  </a:txBody>
                  <a:tcPr marL="7363" marR="7363" marT="7363" marB="0" anchor="b">
                    <a:lnL>
                      <a:noFill/>
                    </a:lnL>
                    <a:lnR w="6350" cap="flat" cmpd="sng" algn="ctr">
                      <a:solidFill>
                        <a:srgbClr val="000000"/>
                      </a:solidFill>
                      <a:prstDash val="solid"/>
                      <a:round/>
                      <a:headEnd type="none" w="med" len="med"/>
                      <a:tailEnd type="none" w="med" len="med"/>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1700" b="0" i="0" u="none" strike="noStrike">
                          <a:solidFill>
                            <a:srgbClr val="000000"/>
                          </a:solidFill>
                          <a:effectLst/>
                          <a:latin typeface="Arial" panose="020B0604020202020204" pitchFamily="34" charset="0"/>
                        </a:rPr>
                        <a:t> </a:t>
                      </a:r>
                    </a:p>
                  </a:txBody>
                  <a:tcPr marL="7363" marR="7363" marT="7363" marB="0" anchor="b">
                    <a:lnL w="6350" cap="flat" cmpd="sng" algn="ctr">
                      <a:solidFill>
                        <a:srgbClr val="000000"/>
                      </a:solidFill>
                      <a:prstDash val="solid"/>
                      <a:round/>
                      <a:headEnd type="none" w="med" len="med"/>
                      <a:tailEnd type="none" w="med" len="med"/>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12700" cap="flat" cmpd="sng" algn="ctr">
                      <a:solidFill>
                        <a:srgbClr val="197B96"/>
                      </a:solidFill>
                      <a:prstDash val="solid"/>
                      <a:round/>
                      <a:headEnd type="none" w="med" len="med"/>
                      <a:tailEnd type="none" w="med" len="med"/>
                    </a:lnT>
                    <a:lnB>
                      <a:noFill/>
                    </a:lnB>
                    <a:noFill/>
                  </a:tcPr>
                </a:tc>
                <a:extLst>
                  <a:ext uri="{0D108BD9-81ED-4DB2-BD59-A6C34878D82A}">
                    <a16:rowId xmlns:a16="http://schemas.microsoft.com/office/drawing/2014/main" val="1064960159"/>
                  </a:ext>
                </a:extLst>
              </a:tr>
              <a:tr h="279781">
                <a:tc>
                  <a:txBody>
                    <a:bodyPr/>
                    <a:lstStyle/>
                    <a:p>
                      <a:pPr algn="r" rtl="0" fontAlgn="ctr"/>
                      <a:r>
                        <a:rPr lang="fr-FR" sz="600" b="1" i="0" u="none" strike="noStrike" dirty="0">
                          <a:solidFill>
                            <a:srgbClr val="197B96"/>
                          </a:solidFill>
                          <a:effectLst/>
                          <a:latin typeface="Verdana" panose="020B0604030504040204" pitchFamily="34" charset="0"/>
                        </a:rPr>
                        <a:t>Currency:</a:t>
                      </a:r>
                    </a:p>
                  </a:txBody>
                  <a:tcPr marL="7363" marR="7363" marT="7363"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rtl="0" fontAlgn="b"/>
                      <a:r>
                        <a:rPr lang="fr-FR" sz="400" b="0" i="0" u="none" strike="noStrike" dirty="0">
                          <a:solidFill>
                            <a:srgbClr val="000000"/>
                          </a:solidFill>
                          <a:effectLst/>
                          <a:latin typeface="Verdana" panose="020B0604030504040204" pitchFamily="34" charset="0"/>
                        </a:rPr>
                        <a:t> </a:t>
                      </a:r>
                    </a:p>
                  </a:txBody>
                  <a:tcPr marL="7363" marR="7363" marT="7363"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400" b="0" i="0" u="none" strike="noStrike">
                          <a:solidFill>
                            <a:srgbClr val="000000"/>
                          </a:solidFill>
                          <a:effectLst/>
                          <a:latin typeface="Verdana" panose="020B0604030504040204" pitchFamily="34" charset="0"/>
                        </a:rPr>
                        <a:t> </a:t>
                      </a:r>
                    </a:p>
                  </a:txBody>
                  <a:tcPr marL="7363" marR="7363" marT="736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400" b="0" i="0" u="none" strike="noStrike">
                          <a:solidFill>
                            <a:srgbClr val="000000"/>
                          </a:solidFill>
                          <a:effectLst/>
                          <a:latin typeface="Verdana" panose="020B0604030504040204" pitchFamily="34" charset="0"/>
                        </a:rPr>
                        <a:t> </a:t>
                      </a:r>
                    </a:p>
                  </a:txBody>
                  <a:tcPr marL="7363" marR="7363" marT="736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400" b="0" i="0" u="none" strike="noStrike">
                          <a:solidFill>
                            <a:srgbClr val="000000"/>
                          </a:solidFill>
                          <a:effectLst/>
                          <a:latin typeface="Verdana" panose="020B0604030504040204" pitchFamily="34" charset="0"/>
                        </a:rPr>
                        <a:t> </a:t>
                      </a:r>
                    </a:p>
                  </a:txBody>
                  <a:tcPr marL="7363" marR="7363" marT="7363"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w="6350" cap="flat" cmpd="sng" algn="ctr">
                      <a:solidFill>
                        <a:srgbClr val="000000"/>
                      </a:solidFill>
                      <a:prstDash val="solid"/>
                      <a:round/>
                      <a:headEnd type="none" w="med" len="med"/>
                      <a:tailEnd type="none" w="med" len="med"/>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a:noFill/>
                    </a:lnB>
                    <a:noFill/>
                  </a:tcPr>
                </a:tc>
                <a:extLst>
                  <a:ext uri="{0D108BD9-81ED-4DB2-BD59-A6C34878D82A}">
                    <a16:rowId xmlns:a16="http://schemas.microsoft.com/office/drawing/2014/main" val="2546198043"/>
                  </a:ext>
                </a:extLst>
              </a:tr>
              <a:tr h="272419">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700" b="0" i="0" u="none" strike="noStrike">
                        <a:solidFill>
                          <a:srgbClr val="000000"/>
                        </a:solidFill>
                        <a:effectLst/>
                        <a:latin typeface="Arial" panose="020B0604020202020204" pitchFamily="34" charset="0"/>
                      </a:endParaRPr>
                    </a:p>
                  </a:txBody>
                  <a:tcPr marL="7363" marR="7363" marT="7363" marB="0" anchor="b">
                    <a:lnL>
                      <a:noFill/>
                    </a:lnL>
                    <a:lnR>
                      <a:noFill/>
                    </a:lnR>
                    <a:lnT>
                      <a:noFill/>
                    </a:lnT>
                    <a:lnB w="12700" cap="flat" cmpd="sng" algn="ctr">
                      <a:solidFill>
                        <a:srgbClr val="197B96"/>
                      </a:solidFill>
                      <a:prstDash val="solid"/>
                      <a:round/>
                      <a:headEnd type="none" w="med" len="med"/>
                      <a:tailEnd type="none" w="med" len="med"/>
                    </a:lnB>
                    <a:noFill/>
                  </a:tcPr>
                </a:tc>
                <a:extLst>
                  <a:ext uri="{0D108BD9-81ED-4DB2-BD59-A6C34878D82A}">
                    <a16:rowId xmlns:a16="http://schemas.microsoft.com/office/drawing/2014/main" val="4108296938"/>
                  </a:ext>
                </a:extLst>
              </a:tr>
              <a:tr h="176704">
                <a:tc>
                  <a:txBody>
                    <a:bodyPr/>
                    <a:lstStyle/>
                    <a:p>
                      <a:pPr algn="l" rtl="0" fontAlgn="ctr"/>
                      <a:r>
                        <a:rPr lang="fr-FR" sz="600" b="1" i="0" u="none" strike="noStrike">
                          <a:solidFill>
                            <a:srgbClr val="197B96"/>
                          </a:solidFill>
                          <a:effectLst/>
                          <a:latin typeface="Verdana" panose="020B0604030504040204" pitchFamily="34" charset="0"/>
                        </a:rPr>
                        <a:t> </a:t>
                      </a:r>
                    </a:p>
                  </a:txBody>
                  <a:tcPr marL="7363" marR="7363" marT="7363" marB="0" anchor="ctr">
                    <a:lnL w="12700" cap="flat" cmpd="sng" algn="ctr">
                      <a:solidFill>
                        <a:srgbClr val="197B96"/>
                      </a:solidFill>
                      <a:prstDash val="solid"/>
                      <a:round/>
                      <a:headEnd type="none" w="med" len="med"/>
                      <a:tailEnd type="none" w="med" len="med"/>
                    </a:lnL>
                    <a:lnR>
                      <a:noFill/>
                    </a:lnR>
                    <a:lnT w="12700" cap="flat" cmpd="sng" algn="ctr">
                      <a:solidFill>
                        <a:srgbClr val="197B96"/>
                      </a:solidFill>
                      <a:prstDash val="solid"/>
                      <a:round/>
                      <a:headEnd type="none" w="med" len="med"/>
                      <a:tailEnd type="none" w="med" len="med"/>
                    </a:lnT>
                    <a:lnB>
                      <a:noFill/>
                    </a:lnB>
                    <a:solidFill>
                      <a:srgbClr val="E3EFF2"/>
                    </a:solidFill>
                  </a:tcPr>
                </a:tc>
                <a:tc>
                  <a:txBody>
                    <a:bodyPr/>
                    <a:lstStyle/>
                    <a:p>
                      <a:pPr algn="l" rtl="0" fontAlgn="ctr"/>
                      <a:r>
                        <a:rPr lang="fr-FR" sz="600" b="1" i="0" u="none" strike="noStrike">
                          <a:solidFill>
                            <a:srgbClr val="000000"/>
                          </a:solidFill>
                          <a:effectLst/>
                          <a:latin typeface="Verdana" panose="020B0604030504040204" pitchFamily="34" charset="0"/>
                        </a:rPr>
                        <a:t> </a:t>
                      </a:r>
                    </a:p>
                  </a:txBody>
                  <a:tcPr marL="7363" marR="7363" marT="7363" marB="0" anchor="ctr">
                    <a:lnL>
                      <a:noFill/>
                    </a:lnL>
                    <a:lnR w="6350" cap="flat" cmpd="sng" algn="ctr">
                      <a:solidFill>
                        <a:srgbClr val="000000"/>
                      </a:solidFill>
                      <a:prstDash val="solid"/>
                      <a:round/>
                      <a:headEnd type="none" w="med" len="med"/>
                      <a:tailEnd type="none" w="med" len="med"/>
                    </a:lnR>
                    <a:lnT w="12700" cap="flat" cmpd="sng" algn="ctr">
                      <a:solidFill>
                        <a:srgbClr val="197B96"/>
                      </a:solidFill>
                      <a:prstDash val="solid"/>
                      <a:round/>
                      <a:headEnd type="none" w="med" len="med"/>
                      <a:tailEnd type="none" w="med" len="med"/>
                    </a:lnT>
                    <a:lnB>
                      <a:noFill/>
                    </a:lnB>
                    <a:solidFill>
                      <a:srgbClr val="E3EFF2"/>
                    </a:solidFill>
                  </a:tcPr>
                </a:tc>
                <a:tc rowSpan="4">
                  <a:txBody>
                    <a:bodyPr/>
                    <a:lstStyle/>
                    <a:p>
                      <a:pPr algn="ctr" rtl="0" fontAlgn="ctr"/>
                      <a:r>
                        <a:rPr lang="fr-FR" sz="600" b="0" i="0" u="none" strike="noStrike">
                          <a:solidFill>
                            <a:srgbClr val="197B96"/>
                          </a:solidFill>
                          <a:effectLst/>
                          <a:latin typeface="Verdana" panose="020B0604030504040204" pitchFamily="34" charset="0"/>
                        </a:rPr>
                        <a:t>Carrying amount</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rowSpan="4">
                  <a:txBody>
                    <a:bodyPr/>
                    <a:lstStyle/>
                    <a:p>
                      <a:pPr algn="ctr" rtl="0" fontAlgn="ctr"/>
                      <a:r>
                        <a:rPr lang="fr-FR" sz="600" b="0" i="0" u="none" strike="noStrike">
                          <a:solidFill>
                            <a:srgbClr val="197B96"/>
                          </a:solidFill>
                          <a:effectLst/>
                          <a:latin typeface="Verdana" panose="020B0604030504040204" pitchFamily="34" charset="0"/>
                        </a:rPr>
                        <a:t>Duration</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rowSpan="2" gridSpan="13">
                  <a:txBody>
                    <a:bodyPr/>
                    <a:lstStyle/>
                    <a:p>
                      <a:pPr algn="ctr" rtl="0" fontAlgn="ctr"/>
                      <a:r>
                        <a:rPr lang="en-US" sz="600" b="1" i="0" u="none" strike="noStrike">
                          <a:solidFill>
                            <a:srgbClr val="197B96"/>
                          </a:solidFill>
                          <a:effectLst/>
                          <a:latin typeface="Verdana" panose="020B0604030504040204" pitchFamily="34" charset="0"/>
                        </a:rPr>
                        <a:t>Bank estimate of IRRBB sensivitities including behavioural, conditional and automatic optionality</a:t>
                      </a:r>
                    </a:p>
                  </a:txBody>
                  <a:tcPr marL="7363" marR="7363" marT="7363"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528692012"/>
                  </a:ext>
                </a:extLst>
              </a:tr>
              <a:tr h="176704">
                <a:tc>
                  <a:txBody>
                    <a:bodyPr/>
                    <a:lstStyle/>
                    <a:p>
                      <a:pPr algn="l" rtl="0" fontAlgn="ctr"/>
                      <a:r>
                        <a:rPr lang="fr-FR" sz="600" b="1" i="0" u="none" strike="noStrike">
                          <a:solidFill>
                            <a:srgbClr val="197B96"/>
                          </a:solidFill>
                          <a:effectLst/>
                          <a:latin typeface="Verdana" panose="020B0604030504040204" pitchFamily="34" charset="0"/>
                        </a:rPr>
                        <a:t> </a:t>
                      </a:r>
                    </a:p>
                  </a:txBody>
                  <a:tcPr marL="7363" marR="7363" marT="7363" marB="0" anchor="ctr">
                    <a:lnL w="12700" cap="flat" cmpd="sng" algn="ctr">
                      <a:solidFill>
                        <a:srgbClr val="197B96"/>
                      </a:solidFill>
                      <a:prstDash val="solid"/>
                      <a:round/>
                      <a:headEnd type="none" w="med" len="med"/>
                      <a:tailEnd type="none" w="med" len="med"/>
                    </a:lnL>
                    <a:lnR>
                      <a:noFill/>
                    </a:lnR>
                    <a:lnT>
                      <a:noFill/>
                    </a:lnT>
                    <a:lnB>
                      <a:noFill/>
                    </a:lnB>
                    <a:solidFill>
                      <a:srgbClr val="E3EFF2"/>
                    </a:solidFill>
                  </a:tcPr>
                </a:tc>
                <a:tc>
                  <a:txBody>
                    <a:bodyPr/>
                    <a:lstStyle/>
                    <a:p>
                      <a:pPr algn="l" rtl="0" fontAlgn="ctr"/>
                      <a:r>
                        <a:rPr lang="fr-FR" sz="600" b="1" i="0" u="none" strike="noStrike">
                          <a:solidFill>
                            <a:srgbClr val="000000"/>
                          </a:solidFill>
                          <a:effectLst/>
                          <a:latin typeface="Verdana" panose="020B0604030504040204" pitchFamily="34" charset="0"/>
                        </a:rPr>
                        <a:t> </a:t>
                      </a:r>
                    </a:p>
                  </a:txBody>
                  <a:tcPr marL="7363" marR="7363" marT="7363" marB="0" anchor="ctr">
                    <a:lnL>
                      <a:noFill/>
                    </a:lnL>
                    <a:lnR w="6350" cap="flat" cmpd="sng" algn="ctr">
                      <a:solidFill>
                        <a:srgbClr val="000000"/>
                      </a:solidFill>
                      <a:prstDash val="solid"/>
                      <a:round/>
                      <a:headEnd type="none" w="med" len="med"/>
                      <a:tailEnd type="none" w="med" len="med"/>
                    </a:lnR>
                    <a:lnT>
                      <a:noFill/>
                    </a:lnT>
                    <a:lnB>
                      <a:noFill/>
                    </a:lnB>
                    <a:solidFill>
                      <a:srgbClr val="E3EFF2"/>
                    </a:solidFill>
                  </a:tcPr>
                </a:tc>
                <a:tc vMerge="1">
                  <a:txBody>
                    <a:bodyPr/>
                    <a:lstStyle/>
                    <a:p>
                      <a:endParaRPr lang="fr-FR"/>
                    </a:p>
                  </a:txBody>
                  <a:tcPr/>
                </a:tc>
                <a:tc vMerge="1">
                  <a:txBody>
                    <a:bodyPr/>
                    <a:lstStyle/>
                    <a:p>
                      <a:endParaRPr lang="fr-FR"/>
                    </a:p>
                  </a:txBody>
                  <a:tcPr/>
                </a:tc>
                <a:tc gridSpan="13"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80782931"/>
                  </a:ext>
                </a:extLst>
              </a:tr>
              <a:tr h="176704">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12700" cap="flat" cmpd="sng" algn="ctr">
                      <a:solidFill>
                        <a:srgbClr val="197B96"/>
                      </a:solidFill>
                      <a:prstDash val="solid"/>
                      <a:round/>
                      <a:headEnd type="none" w="med" len="med"/>
                      <a:tailEnd type="none" w="med" len="med"/>
                    </a:lnL>
                    <a:lnR>
                      <a:noFill/>
                    </a:lnR>
                    <a:lnT>
                      <a:noFill/>
                    </a:lnT>
                    <a:lnB>
                      <a:noFill/>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7363" marR="7363" marT="7363" marB="0" anchor="ctr">
                    <a:lnL>
                      <a:noFill/>
                    </a:lnL>
                    <a:lnR w="6350" cap="flat" cmpd="sng" algn="ctr">
                      <a:solidFill>
                        <a:srgbClr val="000000"/>
                      </a:solidFill>
                      <a:prstDash val="solid"/>
                      <a:round/>
                      <a:headEnd type="none" w="med" len="med"/>
                      <a:tailEnd type="none" w="med" len="med"/>
                    </a:lnR>
                    <a:lnT>
                      <a:noFill/>
                    </a:lnT>
                    <a:lnB>
                      <a:noFill/>
                    </a:lnB>
                    <a:solidFill>
                      <a:srgbClr val="E3EFF2"/>
                    </a:solidFill>
                  </a:tcPr>
                </a:tc>
                <a:tc vMerge="1">
                  <a:txBody>
                    <a:bodyPr/>
                    <a:lstStyle/>
                    <a:p>
                      <a:endParaRPr lang="fr-FR"/>
                    </a:p>
                  </a:txBody>
                  <a:tcPr/>
                </a:tc>
                <a:tc vMerge="1">
                  <a:txBody>
                    <a:bodyPr/>
                    <a:lstStyle/>
                    <a:p>
                      <a:endParaRPr lang="fr-FR"/>
                    </a:p>
                  </a:txBody>
                  <a:tcPr/>
                </a:tc>
                <a:tc gridSpan="7">
                  <a:txBody>
                    <a:bodyPr/>
                    <a:lstStyle/>
                    <a:p>
                      <a:pPr algn="ctr" rtl="0" fontAlgn="ctr"/>
                      <a:r>
                        <a:rPr lang="fr-FR" sz="600" b="1" i="0" u="none" strike="noStrike">
                          <a:solidFill>
                            <a:srgbClr val="197B96"/>
                          </a:solidFill>
                          <a:effectLst/>
                          <a:latin typeface="Verdana" panose="020B0604030504040204" pitchFamily="34" charset="0"/>
                        </a:rPr>
                        <a:t>Economic value of equity</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3">
                  <a:txBody>
                    <a:bodyPr/>
                    <a:lstStyle/>
                    <a:p>
                      <a:pPr algn="ctr" rtl="0" fontAlgn="ctr"/>
                      <a:r>
                        <a:rPr lang="fr-FR" sz="600" b="1" i="0" u="none" strike="noStrike">
                          <a:solidFill>
                            <a:srgbClr val="197B96"/>
                          </a:solidFill>
                          <a:effectLst/>
                          <a:latin typeface="Verdana" panose="020B0604030504040204" pitchFamily="34" charset="0"/>
                        </a:rPr>
                        <a:t>Net interest income</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tc gridSpan="3">
                  <a:txBody>
                    <a:bodyPr/>
                    <a:lstStyle/>
                    <a:p>
                      <a:pPr algn="ctr" rtl="0" fontAlgn="ctr"/>
                      <a:r>
                        <a:rPr lang="fr-FR" sz="600" b="1" i="0" u="none" strike="noStrike">
                          <a:solidFill>
                            <a:srgbClr val="197B96"/>
                          </a:solidFill>
                          <a:effectLst/>
                          <a:latin typeface="Verdana" panose="020B0604030504040204" pitchFamily="34" charset="0"/>
                        </a:rPr>
                        <a:t>Market value</a:t>
                      </a:r>
                    </a:p>
                  </a:txBody>
                  <a:tcPr marL="7363" marR="7363" marT="7363"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71645478"/>
                  </a:ext>
                </a:extLst>
              </a:tr>
              <a:tr h="287144">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12700" cap="flat" cmpd="sng" algn="ctr">
                      <a:solidFill>
                        <a:srgbClr val="197B96"/>
                      </a:solidFill>
                      <a:prstDash val="solid"/>
                      <a:round/>
                      <a:headEnd type="none" w="med" len="med"/>
                      <a:tailEnd type="none" w="med" len="med"/>
                    </a:lnL>
                    <a:lnR>
                      <a:noFill/>
                    </a:lnR>
                    <a:lnT>
                      <a:noFill/>
                    </a:lnT>
                    <a:lnB>
                      <a:noFill/>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a:noFill/>
                    </a:lnL>
                    <a:lnR w="6350" cap="flat" cmpd="sng" algn="ctr">
                      <a:solidFill>
                        <a:srgbClr val="000000"/>
                      </a:solidFill>
                      <a:prstDash val="solid"/>
                      <a:round/>
                      <a:headEnd type="none" w="med" len="med"/>
                      <a:tailEnd type="none" w="med" len="med"/>
                    </a:lnR>
                    <a:lnT>
                      <a:noFill/>
                    </a:lnT>
                    <a:lnB>
                      <a:noFill/>
                    </a:lnB>
                    <a:solidFill>
                      <a:srgbClr val="E3EFF2"/>
                    </a:solidFill>
                  </a:tcPr>
                </a:tc>
                <a:tc vMerge="1">
                  <a:txBody>
                    <a:bodyPr/>
                    <a:lstStyle/>
                    <a:p>
                      <a:endParaRPr lang="fr-FR"/>
                    </a:p>
                  </a:txBody>
                  <a:tcPr/>
                </a:tc>
                <a:tc vMerge="1">
                  <a:txBody>
                    <a:bodyPr/>
                    <a:lstStyle/>
                    <a:p>
                      <a:endParaRPr lang="fr-FR"/>
                    </a:p>
                  </a:txBody>
                  <a:tcPr/>
                </a:tc>
                <a:tc>
                  <a:txBody>
                    <a:bodyPr/>
                    <a:lstStyle/>
                    <a:p>
                      <a:pPr algn="ctr" rtl="0" fontAlgn="ctr"/>
                      <a:r>
                        <a:rPr lang="en-US" sz="600" b="0" i="0" u="none" strike="noStrike">
                          <a:solidFill>
                            <a:srgbClr val="197B96"/>
                          </a:solidFill>
                          <a:effectLst/>
                          <a:latin typeface="Verdana" panose="020B0604030504040204" pitchFamily="34" charset="0"/>
                        </a:rPr>
                        <a:t>Level of EVE - Baseline scenario</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 EVE - Parallel shock up</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∆EVE -  Parallel shock down</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∆EVE - Steepener shock</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∆EVE - Flattener shock</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en-US" sz="600" b="0" i="0" u="none" strike="noStrike">
                          <a:solidFill>
                            <a:srgbClr val="197B96"/>
                          </a:solidFill>
                          <a:effectLst/>
                          <a:latin typeface="Verdana" panose="020B0604030504040204" pitchFamily="34" charset="0"/>
                        </a:rPr>
                        <a:t>∆EVE - Short rates shock up</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en-US" sz="600" b="0" i="0" u="none" strike="noStrike">
                          <a:solidFill>
                            <a:srgbClr val="197B96"/>
                          </a:solidFill>
                          <a:effectLst/>
                          <a:latin typeface="Verdana" panose="020B0604030504040204" pitchFamily="34" charset="0"/>
                        </a:rPr>
                        <a:t>∆EVE -  Short rates shock down</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en-US" sz="600" b="0" i="0" u="none" strike="noStrike">
                          <a:solidFill>
                            <a:srgbClr val="197B96"/>
                          </a:solidFill>
                          <a:effectLst/>
                          <a:latin typeface="Verdana" panose="020B0604030504040204" pitchFamily="34" charset="0"/>
                        </a:rPr>
                        <a:t>Level of NII - Baseline scenario</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∆NII - Parallel shock up</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∆EVE -  Parallel shock down</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en-US" sz="600" b="0" i="0" u="none" strike="noStrike">
                          <a:solidFill>
                            <a:srgbClr val="197B96"/>
                          </a:solidFill>
                          <a:effectLst/>
                          <a:latin typeface="Verdana" panose="020B0604030504040204" pitchFamily="34" charset="0"/>
                        </a:rPr>
                        <a:t>Level of MV - Baseline scenario</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∆MV - Parallel shock up</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∆MV -  Parallel shock down</a:t>
                      </a:r>
                    </a:p>
                  </a:txBody>
                  <a:tcPr marL="7363" marR="7363" marT="7363"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2636424841"/>
                  </a:ext>
                </a:extLst>
              </a:tr>
              <a:tr h="176704">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12700" cap="flat" cmpd="sng" algn="ctr">
                      <a:solidFill>
                        <a:srgbClr val="197B96"/>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20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30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40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50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60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70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80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90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100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110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120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130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140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150</a:t>
                      </a:r>
                    </a:p>
                  </a:txBody>
                  <a:tcPr marL="7363" marR="7363" marT="7363"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2117422149"/>
                  </a:ext>
                </a:extLst>
              </a:tr>
              <a:tr h="176704">
                <a:tc>
                  <a:txBody>
                    <a:bodyPr/>
                    <a:lstStyle/>
                    <a:p>
                      <a:pPr algn="l" rtl="0" fontAlgn="ctr"/>
                      <a:r>
                        <a:rPr lang="fr-FR" sz="600" b="1" i="0" u="none" strike="noStrike">
                          <a:solidFill>
                            <a:srgbClr val="197B96"/>
                          </a:solidFill>
                          <a:effectLst/>
                          <a:latin typeface="Verdana" panose="020B0604030504040204" pitchFamily="34" charset="0"/>
                        </a:rPr>
                        <a:t>TOTAL ASSETS</a:t>
                      </a:r>
                    </a:p>
                  </a:txBody>
                  <a:tcPr marL="7363" marR="7363" marT="736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10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3424436673"/>
                  </a:ext>
                </a:extLst>
              </a:tr>
              <a:tr h="176704">
                <a:tc>
                  <a:txBody>
                    <a:bodyPr/>
                    <a:lstStyle/>
                    <a:p>
                      <a:pPr algn="l" rtl="0" fontAlgn="ctr"/>
                      <a:r>
                        <a:rPr lang="en-US" sz="600" b="1" i="0" u="none" strike="noStrike">
                          <a:solidFill>
                            <a:srgbClr val="197B96"/>
                          </a:solidFill>
                          <a:effectLst/>
                          <a:latin typeface="Verdana" panose="020B0604030504040204" pitchFamily="34" charset="0"/>
                        </a:rPr>
                        <a:t>Off-balance sheet assets: contingent assets</a:t>
                      </a:r>
                    </a:p>
                  </a:txBody>
                  <a:tcPr marL="7363" marR="7363" marT="736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190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197B96"/>
                          </a:solidFill>
                          <a:effectLst/>
                          <a:latin typeface="Verdana" panose="020B0604030504040204" pitchFamily="34" charset="0"/>
                        </a:rPr>
                        <a:t> </a:t>
                      </a:r>
                    </a:p>
                  </a:txBody>
                  <a:tcPr marL="7363" marR="7363" marT="736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041550104"/>
                  </a:ext>
                </a:extLst>
              </a:tr>
              <a:tr h="176704">
                <a:tc>
                  <a:txBody>
                    <a:bodyPr/>
                    <a:lstStyle/>
                    <a:p>
                      <a:pPr algn="l" rtl="0" fontAlgn="ctr"/>
                      <a:r>
                        <a:rPr lang="fr-FR" sz="600" b="1" i="0" u="none" strike="noStrike">
                          <a:solidFill>
                            <a:srgbClr val="197B96"/>
                          </a:solidFill>
                          <a:effectLst/>
                          <a:latin typeface="Verdana" panose="020B0604030504040204" pitchFamily="34" charset="0"/>
                        </a:rPr>
                        <a:t>TOTAL LIABILITIES</a:t>
                      </a:r>
                    </a:p>
                  </a:txBody>
                  <a:tcPr marL="7363" marR="7363" marT="736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200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68408908"/>
                  </a:ext>
                </a:extLst>
              </a:tr>
              <a:tr h="176704">
                <a:tc>
                  <a:txBody>
                    <a:bodyPr/>
                    <a:lstStyle/>
                    <a:p>
                      <a:pPr algn="l" rtl="0" fontAlgn="ctr"/>
                      <a:r>
                        <a:rPr lang="fr-FR" sz="600" b="1" i="0" u="none" strike="noStrike">
                          <a:solidFill>
                            <a:srgbClr val="197B96"/>
                          </a:solidFill>
                          <a:effectLst/>
                          <a:latin typeface="Verdana" panose="020B0604030504040204" pitchFamily="34" charset="0"/>
                        </a:rPr>
                        <a:t>Off-balance sheet liabilities: contingent liabilities</a:t>
                      </a:r>
                    </a:p>
                  </a:txBody>
                  <a:tcPr marL="7363" marR="7363" marT="736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520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197B96"/>
                          </a:solidFill>
                          <a:effectLst/>
                          <a:latin typeface="Verdana" panose="020B0604030504040204" pitchFamily="34" charset="0"/>
                        </a:rPr>
                        <a:t> </a:t>
                      </a:r>
                    </a:p>
                  </a:txBody>
                  <a:tcPr marL="7363" marR="7363" marT="736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3906693195"/>
                  </a:ext>
                </a:extLst>
              </a:tr>
              <a:tr h="176704">
                <a:tc gridSpan="17">
                  <a:txBody>
                    <a:bodyPr/>
                    <a:lstStyle/>
                    <a:p>
                      <a:pPr algn="l" rtl="0" fontAlgn="ctr"/>
                      <a:r>
                        <a:rPr lang="fr-FR" sz="600" b="1" i="0" u="none" strike="noStrike">
                          <a:solidFill>
                            <a:srgbClr val="197B96"/>
                          </a:solidFill>
                          <a:effectLst/>
                          <a:latin typeface="Verdana" panose="020B0604030504040204" pitchFamily="34" charset="0"/>
                        </a:rPr>
                        <a:t>MEMORANDUM ITEMS</a:t>
                      </a:r>
                    </a:p>
                  </a:txBody>
                  <a:tcPr marL="7363" marR="7363" marT="7363" marB="0" anchor="ctr">
                    <a:lnL w="12700" cap="flat" cmpd="sng" algn="ctr">
                      <a:solidFill>
                        <a:srgbClr val="197B96"/>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357722697"/>
                  </a:ext>
                </a:extLst>
              </a:tr>
              <a:tr h="176704">
                <a:tc>
                  <a:txBody>
                    <a:bodyPr/>
                    <a:lstStyle/>
                    <a:p>
                      <a:pPr algn="l" rtl="0" fontAlgn="ctr"/>
                      <a:r>
                        <a:rPr lang="en-US" sz="600" b="1" i="0" u="none" strike="noStrike">
                          <a:solidFill>
                            <a:srgbClr val="197B96"/>
                          </a:solidFill>
                          <a:effectLst/>
                          <a:latin typeface="Verdana" panose="020B0604030504040204" pitchFamily="34" charset="0"/>
                        </a:rPr>
                        <a:t>Total Assets with MV impact</a:t>
                      </a:r>
                    </a:p>
                  </a:txBody>
                  <a:tcPr marL="7363" marR="7363" marT="736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570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143671908"/>
                  </a:ext>
                </a:extLst>
              </a:tr>
              <a:tr h="176704">
                <a:tc>
                  <a:txBody>
                    <a:bodyPr/>
                    <a:lstStyle/>
                    <a:p>
                      <a:pPr algn="l" rtl="0" fontAlgn="ctr"/>
                      <a:r>
                        <a:rPr lang="fr-FR" sz="600" b="0" i="0" u="none" strike="noStrike">
                          <a:solidFill>
                            <a:srgbClr val="197B96"/>
                          </a:solidFill>
                          <a:effectLst/>
                          <a:latin typeface="Verdana" panose="020B0604030504040204" pitchFamily="34" charset="0"/>
                        </a:rPr>
                        <a:t>Debt securities</a:t>
                      </a:r>
                    </a:p>
                  </a:txBody>
                  <a:tcPr marL="66264" marR="7363" marT="736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580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555419361"/>
                  </a:ext>
                </a:extLst>
              </a:tr>
              <a:tr h="176704">
                <a:tc>
                  <a:txBody>
                    <a:bodyPr/>
                    <a:lstStyle/>
                    <a:p>
                      <a:pPr algn="l" rtl="0" fontAlgn="ctr"/>
                      <a:r>
                        <a:rPr lang="fr-FR" sz="600" b="0" i="0" u="none" strike="noStrike">
                          <a:solidFill>
                            <a:srgbClr val="197B96"/>
                          </a:solidFill>
                          <a:effectLst/>
                          <a:latin typeface="Verdana" panose="020B0604030504040204" pitchFamily="34" charset="0"/>
                        </a:rPr>
                        <a:t>Derivatives</a:t>
                      </a:r>
                    </a:p>
                  </a:txBody>
                  <a:tcPr marL="66264" marR="7363" marT="736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590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674500782"/>
                  </a:ext>
                </a:extLst>
              </a:tr>
              <a:tr h="176704">
                <a:tc>
                  <a:txBody>
                    <a:bodyPr/>
                    <a:lstStyle/>
                    <a:p>
                      <a:pPr algn="l" rtl="0" fontAlgn="ctr"/>
                      <a:r>
                        <a:rPr lang="fr-FR" sz="600" b="0" i="0" u="none" strike="noStrike">
                          <a:solidFill>
                            <a:srgbClr val="197B96"/>
                          </a:solidFill>
                          <a:effectLst/>
                          <a:latin typeface="Verdana" panose="020B0604030504040204" pitchFamily="34" charset="0"/>
                        </a:rPr>
                        <a:t>Other</a:t>
                      </a:r>
                    </a:p>
                  </a:txBody>
                  <a:tcPr marL="66264" marR="7363" marT="736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600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006910039"/>
                  </a:ext>
                </a:extLst>
              </a:tr>
              <a:tr h="176704">
                <a:tc>
                  <a:txBody>
                    <a:bodyPr/>
                    <a:lstStyle/>
                    <a:p>
                      <a:pPr algn="l" rtl="0" fontAlgn="ctr"/>
                      <a:r>
                        <a:rPr lang="en-US" sz="600" b="1" i="0" u="none" strike="noStrike">
                          <a:solidFill>
                            <a:srgbClr val="197B96"/>
                          </a:solidFill>
                          <a:effectLst/>
                          <a:latin typeface="Verdana" panose="020B0604030504040204" pitchFamily="34" charset="0"/>
                        </a:rPr>
                        <a:t>Total Liabilities with MV impact</a:t>
                      </a:r>
                    </a:p>
                  </a:txBody>
                  <a:tcPr marL="7363" marR="7363" marT="736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610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000361067"/>
                  </a:ext>
                </a:extLst>
              </a:tr>
              <a:tr h="176704">
                <a:tc>
                  <a:txBody>
                    <a:bodyPr/>
                    <a:lstStyle/>
                    <a:p>
                      <a:pPr algn="l" rtl="0" fontAlgn="ctr"/>
                      <a:r>
                        <a:rPr lang="fr-FR" sz="600" b="0" i="0" u="none" strike="noStrike">
                          <a:solidFill>
                            <a:srgbClr val="197B96"/>
                          </a:solidFill>
                          <a:effectLst/>
                          <a:latin typeface="Verdana" panose="020B0604030504040204" pitchFamily="34" charset="0"/>
                        </a:rPr>
                        <a:t>Debt securities issued</a:t>
                      </a:r>
                    </a:p>
                  </a:txBody>
                  <a:tcPr marL="66264" marR="7363" marT="736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620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76723126"/>
                  </a:ext>
                </a:extLst>
              </a:tr>
              <a:tr h="176704">
                <a:tc>
                  <a:txBody>
                    <a:bodyPr/>
                    <a:lstStyle/>
                    <a:p>
                      <a:pPr algn="l" rtl="0" fontAlgn="b"/>
                      <a:r>
                        <a:rPr lang="fr-FR" sz="600" b="0" i="0" u="none" strike="noStrike">
                          <a:solidFill>
                            <a:srgbClr val="197B96"/>
                          </a:solidFill>
                          <a:effectLst/>
                          <a:latin typeface="Verdana" panose="020B0604030504040204" pitchFamily="34" charset="0"/>
                        </a:rPr>
                        <a:t>Derivatives </a:t>
                      </a:r>
                    </a:p>
                  </a:txBody>
                  <a:tcPr marL="7363" marR="7363" marT="7363" marB="0" anchor="b">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630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171578494"/>
                  </a:ext>
                </a:extLst>
              </a:tr>
              <a:tr h="184067">
                <a:tc>
                  <a:txBody>
                    <a:bodyPr/>
                    <a:lstStyle/>
                    <a:p>
                      <a:pPr algn="l" rtl="0" fontAlgn="b"/>
                      <a:r>
                        <a:rPr lang="fr-FR" sz="600" b="0" i="0" u="none" strike="noStrike">
                          <a:solidFill>
                            <a:srgbClr val="197B96"/>
                          </a:solidFill>
                          <a:effectLst/>
                          <a:latin typeface="Verdana" panose="020B0604030504040204" pitchFamily="34" charset="0"/>
                        </a:rPr>
                        <a:t>Other</a:t>
                      </a:r>
                    </a:p>
                  </a:txBody>
                  <a:tcPr marL="7363" marR="7363" marT="7363" marB="0" anchor="b">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640</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7363" marR="7363" marT="736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noFill/>
                  </a:tcPr>
                </a:tc>
                <a:tc>
                  <a:txBody>
                    <a:bodyPr/>
                    <a:lstStyle/>
                    <a:p>
                      <a:pPr algn="l" rtl="0" fontAlgn="b"/>
                      <a:r>
                        <a:rPr lang="fr-FR" sz="600" b="0" i="0" u="none" strike="noStrike" dirty="0">
                          <a:solidFill>
                            <a:srgbClr val="000000"/>
                          </a:solidFill>
                          <a:effectLst/>
                          <a:latin typeface="Verdana" panose="020B0604030504040204" pitchFamily="34" charset="0"/>
                        </a:rPr>
                        <a:t> </a:t>
                      </a:r>
                    </a:p>
                  </a:txBody>
                  <a:tcPr marL="7363" marR="7363" marT="736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noFill/>
                  </a:tcPr>
                </a:tc>
                <a:extLst>
                  <a:ext uri="{0D108BD9-81ED-4DB2-BD59-A6C34878D82A}">
                    <a16:rowId xmlns:a16="http://schemas.microsoft.com/office/drawing/2014/main" val="3486108077"/>
                  </a:ext>
                </a:extLst>
              </a:tr>
            </a:tbl>
          </a:graphicData>
        </a:graphic>
      </p:graphicFrame>
      <p:sp>
        <p:nvSpPr>
          <p:cNvPr id="8" name="Rectangle 7">
            <a:extLst>
              <a:ext uri="{FF2B5EF4-FFF2-40B4-BE49-F238E27FC236}">
                <a16:creationId xmlns:a16="http://schemas.microsoft.com/office/drawing/2014/main" id="{77ACC2BC-219D-CAC4-2BAB-D12460A0DC71}"/>
              </a:ext>
            </a:extLst>
          </p:cNvPr>
          <p:cNvSpPr/>
          <p:nvPr/>
        </p:nvSpPr>
        <p:spPr>
          <a:xfrm>
            <a:off x="320042" y="4593207"/>
            <a:ext cx="11306655" cy="1670433"/>
          </a:xfrm>
          <a:prstGeom prst="rect">
            <a:avLst/>
          </a:prstGeom>
          <a:noFill/>
          <a:ln w="19050">
            <a:solidFill>
              <a:srgbClr val="FFCC00">
                <a:alpha val="50000"/>
              </a:srgb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400219003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997B170-99F2-48D7-7939-42F8EB21D799}"/>
              </a:ext>
            </a:extLst>
          </p:cNvPr>
          <p:cNvSpPr/>
          <p:nvPr/>
        </p:nvSpPr>
        <p:spPr>
          <a:xfrm>
            <a:off x="8556859" y="6063916"/>
            <a:ext cx="3551722" cy="794084"/>
          </a:xfrm>
          <a:prstGeom prst="rect">
            <a:avLst/>
          </a:prstGeom>
          <a:solidFill>
            <a:schemeClr val="bg1"/>
          </a:solidFill>
          <a:ln>
            <a:solidFill>
              <a:srgbClr val="F2F2F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a- Template </a:t>
            </a:r>
            <a:r>
              <a:rPr lang="fr-FR" sz="2000" i="1" dirty="0">
                <a:highlight>
                  <a:srgbClr val="FF0000"/>
                </a:highlight>
                <a:latin typeface="Calibri (body)"/>
                <a:cs typeface="Calibri"/>
              </a:rPr>
              <a:t>J03</a:t>
            </a:r>
            <a:r>
              <a:rPr lang="fr-FR" sz="2000" i="1" dirty="0">
                <a:latin typeface="Calibri (body)"/>
                <a:cs typeface="Calibri"/>
              </a:rPr>
              <a:t> – Breakdown of </a:t>
            </a:r>
            <a:r>
              <a:rPr lang="fr-FR" sz="2000" i="1" dirty="0" err="1">
                <a:latin typeface="Calibri (body)"/>
                <a:cs typeface="Calibri"/>
              </a:rPr>
              <a:t>sensitivity</a:t>
            </a:r>
            <a:r>
              <a:rPr lang="fr-FR" sz="2000" i="1" dirty="0">
                <a:latin typeface="Calibri (body)"/>
                <a:cs typeface="Calibri"/>
              </a:rPr>
              <a:t> </a:t>
            </a:r>
            <a:r>
              <a:rPr lang="fr-FR" sz="2000" i="1" dirty="0" err="1">
                <a:latin typeface="Calibri (body)"/>
                <a:cs typeface="Calibri"/>
              </a:rPr>
              <a:t>estimates</a:t>
            </a:r>
            <a:endParaRPr lang="fr-FR" sz="2000" dirty="0">
              <a:latin typeface="Calibri"/>
              <a:cs typeface="Calibri"/>
            </a:endParaRPr>
          </a:p>
        </p:txBody>
      </p:sp>
      <p:sp>
        <p:nvSpPr>
          <p:cNvPr id="25" name="Rectangle 24">
            <a:extLst>
              <a:ext uri="{FF2B5EF4-FFF2-40B4-BE49-F238E27FC236}">
                <a16:creationId xmlns:a16="http://schemas.microsoft.com/office/drawing/2014/main" id="{129773B8-2EA0-180F-04F4-F7CDFC6BFB28}"/>
              </a:ext>
            </a:extLst>
          </p:cNvPr>
          <p:cNvSpPr/>
          <p:nvPr/>
        </p:nvSpPr>
        <p:spPr>
          <a:xfrm>
            <a:off x="8994606" y="5314557"/>
            <a:ext cx="95250" cy="1138911"/>
          </a:xfrm>
          <a:prstGeom prst="rect">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TextBox 3">
            <a:extLst>
              <a:ext uri="{FF2B5EF4-FFF2-40B4-BE49-F238E27FC236}">
                <a16:creationId xmlns:a16="http://schemas.microsoft.com/office/drawing/2014/main" id="{6D1B1F1A-3AE2-C8D1-F4D4-D5955879DECE}"/>
              </a:ext>
            </a:extLst>
          </p:cNvPr>
          <p:cNvSpPr txBox="1"/>
          <p:nvPr/>
        </p:nvSpPr>
        <p:spPr>
          <a:xfrm>
            <a:off x="320042" y="811056"/>
            <a:ext cx="11466412" cy="600164"/>
          </a:xfrm>
          <a:prstGeom prst="rect">
            <a:avLst/>
          </a:prstGeom>
          <a:noFill/>
          <a:ln>
            <a:noFill/>
          </a:ln>
        </p:spPr>
        <p:txBody>
          <a:bodyPr wrap="square" rtlCol="0">
            <a:spAutoFit/>
          </a:bodyPr>
          <a:lstStyle/>
          <a:p>
            <a:r>
              <a:rPr lang="fr-FR" sz="1100" dirty="0">
                <a:solidFill>
                  <a:schemeClr val="tx1">
                    <a:lumMod val="50000"/>
                  </a:schemeClr>
                </a:solidFill>
                <a:latin typeface="Calibri (body)"/>
              </a:rPr>
              <a:t>Ce </a:t>
            </a:r>
            <a:r>
              <a:rPr lang="fr-FR" sz="1100" dirty="0" err="1">
                <a:solidFill>
                  <a:schemeClr val="tx1">
                    <a:lumMod val="50000"/>
                  </a:schemeClr>
                </a:solidFill>
                <a:latin typeface="Calibri (body)"/>
              </a:rPr>
              <a:t>template</a:t>
            </a:r>
            <a:r>
              <a:rPr lang="fr-FR" sz="1100" dirty="0">
                <a:solidFill>
                  <a:schemeClr val="tx1">
                    <a:lumMod val="50000"/>
                  </a:schemeClr>
                </a:solidFill>
                <a:latin typeface="Calibri (body)"/>
              </a:rPr>
              <a:t> permet d’alimenter le </a:t>
            </a:r>
            <a:r>
              <a:rPr lang="fr-FR" sz="1100" dirty="0" err="1">
                <a:solidFill>
                  <a:schemeClr val="tx1">
                    <a:lumMod val="50000"/>
                  </a:schemeClr>
                </a:solidFill>
                <a:latin typeface="Calibri (body)"/>
              </a:rPr>
              <a:t>template</a:t>
            </a:r>
            <a:r>
              <a:rPr lang="fr-FR" sz="1100" dirty="0">
                <a:solidFill>
                  <a:schemeClr val="tx1">
                    <a:lumMod val="50000"/>
                  </a:schemeClr>
                </a:solidFill>
                <a:latin typeface="Calibri (body)"/>
              </a:rPr>
              <a:t> J01.</a:t>
            </a:r>
          </a:p>
          <a:p>
            <a:r>
              <a:rPr lang="fr-FR" sz="1100" dirty="0">
                <a:solidFill>
                  <a:schemeClr val="tx1">
                    <a:lumMod val="50000"/>
                  </a:schemeClr>
                </a:solidFill>
                <a:latin typeface="Calibri (body)"/>
              </a:rPr>
              <a:t>Il présente les résultats obtenus de façon détaillé, permettant de décomposer la contribution des différentes typologies d’encours à chaque métrique dans chaque devise significative.</a:t>
            </a:r>
          </a:p>
          <a:p>
            <a:r>
              <a:rPr lang="fr-FR" sz="1100" dirty="0">
                <a:solidFill>
                  <a:schemeClr val="tx1">
                    <a:lumMod val="50000"/>
                  </a:schemeClr>
                </a:solidFill>
                <a:latin typeface="Calibri (body)"/>
              </a:rPr>
              <a:t>Il introduit également la notion de </a:t>
            </a:r>
            <a:r>
              <a:rPr lang="fr-FR" sz="1100" b="1" dirty="0">
                <a:solidFill>
                  <a:srgbClr val="197B96"/>
                </a:solidFill>
                <a:latin typeface="Calibri (body)"/>
              </a:rPr>
              <a:t>duration, une « métrique » additionnelle correspondant à un choc de + 1bp de la valeur économique.</a:t>
            </a:r>
          </a:p>
        </p:txBody>
      </p:sp>
      <p:sp>
        <p:nvSpPr>
          <p:cNvPr id="5" name="Espace réservé du texte 15">
            <a:extLst>
              <a:ext uri="{FF2B5EF4-FFF2-40B4-BE49-F238E27FC236}">
                <a16:creationId xmlns:a16="http://schemas.microsoft.com/office/drawing/2014/main" id="{A31FE1E5-5E95-B912-4217-41AAD2A5E848}"/>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8" name="Table 7">
            <a:extLst>
              <a:ext uri="{FF2B5EF4-FFF2-40B4-BE49-F238E27FC236}">
                <a16:creationId xmlns:a16="http://schemas.microsoft.com/office/drawing/2014/main" id="{4D79C296-F423-F077-B5C7-63F5259AB866}"/>
              </a:ext>
            </a:extLst>
          </p:cNvPr>
          <p:cNvGraphicFramePr>
            <a:graphicFrameLocks noGrp="1"/>
          </p:cNvGraphicFramePr>
          <p:nvPr>
            <p:extLst>
              <p:ext uri="{D42A27DB-BD31-4B8C-83A1-F6EECF244321}">
                <p14:modId xmlns:p14="http://schemas.microsoft.com/office/powerpoint/2010/main" val="1962455494"/>
              </p:ext>
            </p:extLst>
          </p:nvPr>
        </p:nvGraphicFramePr>
        <p:xfrm>
          <a:off x="320042" y="1435108"/>
          <a:ext cx="11466412" cy="5331941"/>
        </p:xfrm>
        <a:graphic>
          <a:graphicData uri="http://schemas.openxmlformats.org/drawingml/2006/table">
            <a:tbl>
              <a:tblPr/>
              <a:tblGrid>
                <a:gridCol w="2416938">
                  <a:extLst>
                    <a:ext uri="{9D8B030D-6E8A-4147-A177-3AD203B41FA5}">
                      <a16:colId xmlns:a16="http://schemas.microsoft.com/office/drawing/2014/main" val="1926768716"/>
                    </a:ext>
                  </a:extLst>
                </a:gridCol>
                <a:gridCol w="210780">
                  <a:extLst>
                    <a:ext uri="{9D8B030D-6E8A-4147-A177-3AD203B41FA5}">
                      <a16:colId xmlns:a16="http://schemas.microsoft.com/office/drawing/2014/main" val="4207885577"/>
                    </a:ext>
                  </a:extLst>
                </a:gridCol>
                <a:gridCol w="688546">
                  <a:extLst>
                    <a:ext uri="{9D8B030D-6E8A-4147-A177-3AD203B41FA5}">
                      <a16:colId xmlns:a16="http://schemas.microsoft.com/office/drawing/2014/main" val="2621415425"/>
                    </a:ext>
                  </a:extLst>
                </a:gridCol>
                <a:gridCol w="393455">
                  <a:extLst>
                    <a:ext uri="{9D8B030D-6E8A-4147-A177-3AD203B41FA5}">
                      <a16:colId xmlns:a16="http://schemas.microsoft.com/office/drawing/2014/main" val="3396361099"/>
                    </a:ext>
                  </a:extLst>
                </a:gridCol>
                <a:gridCol w="604235">
                  <a:extLst>
                    <a:ext uri="{9D8B030D-6E8A-4147-A177-3AD203B41FA5}">
                      <a16:colId xmlns:a16="http://schemas.microsoft.com/office/drawing/2014/main" val="1089772387"/>
                    </a:ext>
                  </a:extLst>
                </a:gridCol>
                <a:gridCol w="646392">
                  <a:extLst>
                    <a:ext uri="{9D8B030D-6E8A-4147-A177-3AD203B41FA5}">
                      <a16:colId xmlns:a16="http://schemas.microsoft.com/office/drawing/2014/main" val="1158608325"/>
                    </a:ext>
                  </a:extLst>
                </a:gridCol>
                <a:gridCol w="646392">
                  <a:extLst>
                    <a:ext uri="{9D8B030D-6E8A-4147-A177-3AD203B41FA5}">
                      <a16:colId xmlns:a16="http://schemas.microsoft.com/office/drawing/2014/main" val="2875613176"/>
                    </a:ext>
                  </a:extLst>
                </a:gridCol>
                <a:gridCol w="477768">
                  <a:extLst>
                    <a:ext uri="{9D8B030D-6E8A-4147-A177-3AD203B41FA5}">
                      <a16:colId xmlns:a16="http://schemas.microsoft.com/office/drawing/2014/main" val="350094935"/>
                    </a:ext>
                  </a:extLst>
                </a:gridCol>
                <a:gridCol w="660443">
                  <a:extLst>
                    <a:ext uri="{9D8B030D-6E8A-4147-A177-3AD203B41FA5}">
                      <a16:colId xmlns:a16="http://schemas.microsoft.com/office/drawing/2014/main" val="2856987783"/>
                    </a:ext>
                  </a:extLst>
                </a:gridCol>
                <a:gridCol w="618286">
                  <a:extLst>
                    <a:ext uri="{9D8B030D-6E8A-4147-A177-3AD203B41FA5}">
                      <a16:colId xmlns:a16="http://schemas.microsoft.com/office/drawing/2014/main" val="2140460793"/>
                    </a:ext>
                  </a:extLst>
                </a:gridCol>
                <a:gridCol w="576130">
                  <a:extLst>
                    <a:ext uri="{9D8B030D-6E8A-4147-A177-3AD203B41FA5}">
                      <a16:colId xmlns:a16="http://schemas.microsoft.com/office/drawing/2014/main" val="2459645862"/>
                    </a:ext>
                  </a:extLst>
                </a:gridCol>
                <a:gridCol w="533976">
                  <a:extLst>
                    <a:ext uri="{9D8B030D-6E8A-4147-A177-3AD203B41FA5}">
                      <a16:colId xmlns:a16="http://schemas.microsoft.com/office/drawing/2014/main" val="2794800566"/>
                    </a:ext>
                  </a:extLst>
                </a:gridCol>
                <a:gridCol w="562079">
                  <a:extLst>
                    <a:ext uri="{9D8B030D-6E8A-4147-A177-3AD203B41FA5}">
                      <a16:colId xmlns:a16="http://schemas.microsoft.com/office/drawing/2014/main" val="662635530"/>
                    </a:ext>
                  </a:extLst>
                </a:gridCol>
                <a:gridCol w="646392">
                  <a:extLst>
                    <a:ext uri="{9D8B030D-6E8A-4147-A177-3AD203B41FA5}">
                      <a16:colId xmlns:a16="http://schemas.microsoft.com/office/drawing/2014/main" val="3771525121"/>
                    </a:ext>
                  </a:extLst>
                </a:gridCol>
                <a:gridCol w="562079">
                  <a:extLst>
                    <a:ext uri="{9D8B030D-6E8A-4147-A177-3AD203B41FA5}">
                      <a16:colId xmlns:a16="http://schemas.microsoft.com/office/drawing/2014/main" val="3796749268"/>
                    </a:ext>
                  </a:extLst>
                </a:gridCol>
                <a:gridCol w="604235">
                  <a:extLst>
                    <a:ext uri="{9D8B030D-6E8A-4147-A177-3AD203B41FA5}">
                      <a16:colId xmlns:a16="http://schemas.microsoft.com/office/drawing/2014/main" val="1080406254"/>
                    </a:ext>
                  </a:extLst>
                </a:gridCol>
                <a:gridCol w="618286">
                  <a:extLst>
                    <a:ext uri="{9D8B030D-6E8A-4147-A177-3AD203B41FA5}">
                      <a16:colId xmlns:a16="http://schemas.microsoft.com/office/drawing/2014/main" val="2561085274"/>
                    </a:ext>
                  </a:extLst>
                </a:gridCol>
              </a:tblGrid>
              <a:tr h="149890">
                <a:tc>
                  <a:txBody>
                    <a:bodyPr/>
                    <a:lstStyle/>
                    <a:p>
                      <a:pPr algn="l" rtl="0" fontAlgn="ctr"/>
                      <a:r>
                        <a:rPr lang="en-US" sz="700" b="1" i="0" u="none" strike="noStrike">
                          <a:solidFill>
                            <a:srgbClr val="197B96"/>
                          </a:solidFill>
                          <a:effectLst/>
                          <a:latin typeface="Verdana" panose="020B0604030504040204" pitchFamily="34" charset="0"/>
                        </a:rPr>
                        <a:t>J 03.00 - BREAKDOWN OF SENSITIVITY ESTIMATES (SIMPLIFIED FOR 'OTHER' INSTITUTIONS)</a:t>
                      </a:r>
                    </a:p>
                  </a:txBody>
                  <a:tcPr marL="3523" marR="3523" marT="3523" marB="0" anchor="ctr">
                    <a:lnL w="12700" cap="flat" cmpd="sng" algn="ctr">
                      <a:solidFill>
                        <a:srgbClr val="197B96"/>
                      </a:solidFill>
                      <a:prstDash val="solid"/>
                      <a:round/>
                      <a:headEnd type="none" w="med" len="med"/>
                      <a:tailEnd type="none" w="med" len="med"/>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000" b="1" i="0" u="none" strike="noStrike">
                          <a:solidFill>
                            <a:srgbClr val="197B96"/>
                          </a:solidFill>
                          <a:effectLst/>
                          <a:latin typeface="Verdana" panose="020B0604030504040204" pitchFamily="34" charset="0"/>
                        </a:rPr>
                        <a:t> </a:t>
                      </a:r>
                    </a:p>
                  </a:txBody>
                  <a:tcPr marL="3523" marR="3523" marT="3523" marB="0" anchor="ctr">
                    <a:lnL>
                      <a:noFill/>
                    </a:lnL>
                    <a:lnR w="12700" cap="flat" cmpd="sng" algn="ctr">
                      <a:solidFill>
                        <a:srgbClr val="197B96"/>
                      </a:solidFill>
                      <a:prstDash val="solid"/>
                      <a:round/>
                      <a:headEnd type="none" w="med" len="med"/>
                      <a:tailEnd type="none" w="med" len="med"/>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extLst>
                  <a:ext uri="{0D108BD9-81ED-4DB2-BD59-A6C34878D82A}">
                    <a16:rowId xmlns:a16="http://schemas.microsoft.com/office/drawing/2014/main" val="3273970974"/>
                  </a:ext>
                </a:extLst>
              </a:tr>
              <a:tr h="138648">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a:noFill/>
                    </a:lnL>
                    <a:lnR>
                      <a:noFill/>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a:noFill/>
                    </a:lnL>
                    <a:lnR>
                      <a:noFill/>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a:noFill/>
                    </a:lnL>
                    <a:lnR>
                      <a:noFill/>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a:noFill/>
                    </a:lnL>
                    <a:lnR>
                      <a:noFill/>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w="12700" cap="flat" cmpd="sng" algn="ctr">
                      <a:solidFill>
                        <a:srgbClr val="197B96"/>
                      </a:solidFill>
                      <a:prstDash val="solid"/>
                      <a:round/>
                      <a:headEnd type="none" w="med" len="med"/>
                      <a:tailEnd type="none" w="med" len="med"/>
                    </a:lnT>
                    <a:lnB>
                      <a:noFill/>
                    </a:lnB>
                    <a:noFill/>
                  </a:tcPr>
                </a:tc>
                <a:extLst>
                  <a:ext uri="{0D108BD9-81ED-4DB2-BD59-A6C34878D82A}">
                    <a16:rowId xmlns:a16="http://schemas.microsoft.com/office/drawing/2014/main" val="3227428099"/>
                  </a:ext>
                </a:extLst>
              </a:tr>
              <a:tr h="142395">
                <a:tc>
                  <a:txBody>
                    <a:bodyPr/>
                    <a:lstStyle/>
                    <a:p>
                      <a:pPr algn="r" rtl="0" fontAlgn="ctr"/>
                      <a:r>
                        <a:rPr lang="fr-FR" sz="600" b="1" i="0" u="none" strike="noStrike">
                          <a:solidFill>
                            <a:srgbClr val="197B96"/>
                          </a:solidFill>
                          <a:effectLst/>
                          <a:latin typeface="Verdana" panose="020B0604030504040204" pitchFamily="34" charset="0"/>
                        </a:rPr>
                        <a:t>Currency:</a:t>
                      </a:r>
                    </a:p>
                  </a:txBody>
                  <a:tcPr marL="3523" marR="3523" marT="3523"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w="6350" cap="flat" cmpd="sng" algn="ctr">
                      <a:solidFill>
                        <a:srgbClr val="000000"/>
                      </a:solidFill>
                      <a:prstDash val="solid"/>
                      <a:round/>
                      <a:headEnd type="none" w="med" len="med"/>
                      <a:tailEnd type="none" w="med" len="med"/>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extLst>
                  <a:ext uri="{0D108BD9-81ED-4DB2-BD59-A6C34878D82A}">
                    <a16:rowId xmlns:a16="http://schemas.microsoft.com/office/drawing/2014/main" val="3872546101"/>
                  </a:ext>
                </a:extLst>
              </a:tr>
              <a:tr h="138648">
                <a:tc>
                  <a:txBody>
                    <a:bodyPr/>
                    <a:lstStyle/>
                    <a:p>
                      <a:pPr algn="l" fontAlgn="b"/>
                      <a:endParaRPr lang="fr-FR" sz="1100" b="0" i="0" u="none" strike="noStrike" dirty="0">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dirty="0">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a:noFill/>
                    </a:lnB>
                    <a:noFill/>
                  </a:tcPr>
                </a:tc>
                <a:extLst>
                  <a:ext uri="{0D108BD9-81ED-4DB2-BD59-A6C34878D82A}">
                    <a16:rowId xmlns:a16="http://schemas.microsoft.com/office/drawing/2014/main" val="393498928"/>
                  </a:ext>
                </a:extLst>
              </a:tr>
              <a:tr h="138648">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endParaRPr lang="fr-FR" sz="1100" b="0" i="0" u="none" strike="noStrike">
                        <a:solidFill>
                          <a:srgbClr val="000000"/>
                        </a:solidFill>
                        <a:effectLst/>
                        <a:latin typeface="Arial" panose="020B0604020202020204" pitchFamily="34" charset="0"/>
                      </a:endParaRPr>
                    </a:p>
                  </a:txBody>
                  <a:tcPr marL="3523" marR="3523" marT="3523" marB="0" anchor="b">
                    <a:lnL>
                      <a:noFill/>
                    </a:lnL>
                    <a:lnR>
                      <a:noFill/>
                    </a:lnR>
                    <a:lnT>
                      <a:noFill/>
                    </a:lnT>
                    <a:lnB w="12700" cap="flat" cmpd="sng" algn="ctr">
                      <a:solidFill>
                        <a:srgbClr val="197B96"/>
                      </a:solidFill>
                      <a:prstDash val="solid"/>
                      <a:round/>
                      <a:headEnd type="none" w="med" len="med"/>
                      <a:tailEnd type="none" w="med" len="med"/>
                    </a:lnB>
                    <a:noFill/>
                  </a:tcPr>
                </a:tc>
                <a:extLst>
                  <a:ext uri="{0D108BD9-81ED-4DB2-BD59-A6C34878D82A}">
                    <a16:rowId xmlns:a16="http://schemas.microsoft.com/office/drawing/2014/main" val="3485574451"/>
                  </a:ext>
                </a:extLst>
              </a:tr>
              <a:tr h="89934">
                <a:tc>
                  <a:txBody>
                    <a:bodyPr/>
                    <a:lstStyle/>
                    <a:p>
                      <a:pPr algn="l" rtl="0" fontAlgn="ctr"/>
                      <a:r>
                        <a:rPr lang="fr-FR" sz="600" b="1" i="0" u="none" strike="noStrike">
                          <a:solidFill>
                            <a:srgbClr val="197B96"/>
                          </a:solidFill>
                          <a:effectLst/>
                          <a:latin typeface="Verdana" panose="020B0604030504040204" pitchFamily="34" charset="0"/>
                        </a:rPr>
                        <a:t> </a:t>
                      </a:r>
                    </a:p>
                  </a:txBody>
                  <a:tcPr marL="3523" marR="3523" marT="3523" marB="0" anchor="ctr">
                    <a:lnL w="12700" cap="flat" cmpd="sng" algn="ctr">
                      <a:solidFill>
                        <a:srgbClr val="197B96"/>
                      </a:solidFill>
                      <a:prstDash val="solid"/>
                      <a:round/>
                      <a:headEnd type="none" w="med" len="med"/>
                      <a:tailEnd type="none" w="med" len="med"/>
                    </a:lnL>
                    <a:lnR>
                      <a:noFill/>
                    </a:lnR>
                    <a:lnT w="12700" cap="flat" cmpd="sng" algn="ctr">
                      <a:solidFill>
                        <a:srgbClr val="197B96"/>
                      </a:solidFill>
                      <a:prstDash val="solid"/>
                      <a:round/>
                      <a:headEnd type="none" w="med" len="med"/>
                      <a:tailEnd type="none" w="med" len="med"/>
                    </a:lnT>
                    <a:lnB>
                      <a:noFill/>
                    </a:lnB>
                    <a:solidFill>
                      <a:srgbClr val="E3EFF2"/>
                    </a:solidFill>
                  </a:tcPr>
                </a:tc>
                <a:tc>
                  <a:txBody>
                    <a:bodyPr/>
                    <a:lstStyle/>
                    <a:p>
                      <a:pPr algn="l" rtl="0" fontAlgn="ctr"/>
                      <a:r>
                        <a:rPr lang="fr-FR" sz="600" b="1" i="0" u="none" strike="noStrike">
                          <a:solidFill>
                            <a:srgbClr val="197B96"/>
                          </a:solidFill>
                          <a:effectLst/>
                          <a:latin typeface="Verdana" panose="020B0604030504040204" pitchFamily="34" charset="0"/>
                        </a:rPr>
                        <a:t> </a:t>
                      </a:r>
                    </a:p>
                  </a:txBody>
                  <a:tcPr marL="3523" marR="3523" marT="3523" marB="0" anchor="ctr">
                    <a:lnL>
                      <a:noFill/>
                    </a:lnL>
                    <a:lnR w="6350" cap="flat" cmpd="sng" algn="ctr">
                      <a:solidFill>
                        <a:srgbClr val="000000"/>
                      </a:solidFill>
                      <a:prstDash val="solid"/>
                      <a:round/>
                      <a:headEnd type="none" w="med" len="med"/>
                      <a:tailEnd type="none" w="med" len="med"/>
                    </a:lnR>
                    <a:lnT w="12700" cap="flat" cmpd="sng" algn="ctr">
                      <a:solidFill>
                        <a:srgbClr val="197B96"/>
                      </a:solidFill>
                      <a:prstDash val="solid"/>
                      <a:round/>
                      <a:headEnd type="none" w="med" len="med"/>
                      <a:tailEnd type="none" w="med" len="med"/>
                    </a:lnT>
                    <a:lnB>
                      <a:noFill/>
                    </a:lnB>
                    <a:solidFill>
                      <a:srgbClr val="E3EFF2"/>
                    </a:solidFill>
                  </a:tcPr>
                </a:tc>
                <a:tc rowSpan="4">
                  <a:txBody>
                    <a:bodyPr/>
                    <a:lstStyle/>
                    <a:p>
                      <a:pPr algn="ctr" rtl="0" fontAlgn="ctr"/>
                      <a:r>
                        <a:rPr lang="fr-FR" sz="600" b="0" i="0" u="none" strike="noStrike">
                          <a:solidFill>
                            <a:srgbClr val="197B96"/>
                          </a:solidFill>
                          <a:effectLst/>
                          <a:latin typeface="Verdana" panose="020B0604030504040204" pitchFamily="34" charset="0"/>
                        </a:rPr>
                        <a:t>Carrying amount</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rowSpan="4">
                  <a:txBody>
                    <a:bodyPr/>
                    <a:lstStyle/>
                    <a:p>
                      <a:pPr algn="ctr" rtl="0" fontAlgn="ctr"/>
                      <a:r>
                        <a:rPr lang="fr-FR" sz="600" b="0" i="0" u="none" strike="noStrike">
                          <a:solidFill>
                            <a:srgbClr val="197B96"/>
                          </a:solidFill>
                          <a:effectLst/>
                          <a:latin typeface="Verdana" panose="020B0604030504040204" pitchFamily="34" charset="0"/>
                        </a:rPr>
                        <a:t>Duration</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rowSpan="2" gridSpan="13">
                  <a:txBody>
                    <a:bodyPr/>
                    <a:lstStyle/>
                    <a:p>
                      <a:pPr algn="ctr" rtl="0" fontAlgn="ctr"/>
                      <a:r>
                        <a:rPr lang="en-US" sz="600" b="1" i="0" u="none" strike="noStrike">
                          <a:solidFill>
                            <a:srgbClr val="197B96"/>
                          </a:solidFill>
                          <a:effectLst/>
                          <a:latin typeface="Verdana" panose="020B0604030504040204" pitchFamily="34" charset="0"/>
                        </a:rPr>
                        <a:t>Bank estimate of IRRBB sensivitities including behavioural, conditional and automatic optionality</a:t>
                      </a:r>
                    </a:p>
                  </a:txBody>
                  <a:tcPr marL="3523" marR="3523" marT="3523"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869983988"/>
                  </a:ext>
                </a:extLst>
              </a:tr>
              <a:tr h="89934">
                <a:tc>
                  <a:txBody>
                    <a:bodyPr/>
                    <a:lstStyle/>
                    <a:p>
                      <a:pPr algn="l" rtl="0" fontAlgn="ctr"/>
                      <a:r>
                        <a:rPr lang="fr-FR" sz="600" b="1" i="0" u="none" strike="noStrike">
                          <a:solidFill>
                            <a:srgbClr val="197B96"/>
                          </a:solidFill>
                          <a:effectLst/>
                          <a:latin typeface="Verdana" panose="020B0604030504040204" pitchFamily="34" charset="0"/>
                        </a:rPr>
                        <a:t> </a:t>
                      </a:r>
                    </a:p>
                  </a:txBody>
                  <a:tcPr marL="3523" marR="3523" marT="3523" marB="0" anchor="ctr">
                    <a:lnL w="12700" cap="flat" cmpd="sng" algn="ctr">
                      <a:solidFill>
                        <a:srgbClr val="197B96"/>
                      </a:solidFill>
                      <a:prstDash val="solid"/>
                      <a:round/>
                      <a:headEnd type="none" w="med" len="med"/>
                      <a:tailEnd type="none" w="med" len="med"/>
                    </a:lnL>
                    <a:lnR>
                      <a:noFill/>
                    </a:lnR>
                    <a:lnT>
                      <a:noFill/>
                    </a:lnT>
                    <a:lnB>
                      <a:noFill/>
                    </a:lnB>
                    <a:solidFill>
                      <a:srgbClr val="E3EFF2"/>
                    </a:solidFill>
                  </a:tcPr>
                </a:tc>
                <a:tc>
                  <a:txBody>
                    <a:bodyPr/>
                    <a:lstStyle/>
                    <a:p>
                      <a:pPr algn="l" rtl="0" fontAlgn="ctr"/>
                      <a:r>
                        <a:rPr lang="fr-FR" sz="600" b="1" i="0" u="none" strike="noStrike">
                          <a:solidFill>
                            <a:srgbClr val="197B96"/>
                          </a:solidFill>
                          <a:effectLst/>
                          <a:latin typeface="Verdana" panose="020B0604030504040204" pitchFamily="34" charset="0"/>
                        </a:rPr>
                        <a:t> </a:t>
                      </a:r>
                    </a:p>
                  </a:txBody>
                  <a:tcPr marL="3523" marR="3523" marT="3523" marB="0" anchor="ctr">
                    <a:lnL>
                      <a:noFill/>
                    </a:lnL>
                    <a:lnR w="6350" cap="flat" cmpd="sng" algn="ctr">
                      <a:solidFill>
                        <a:srgbClr val="000000"/>
                      </a:solidFill>
                      <a:prstDash val="solid"/>
                      <a:round/>
                      <a:headEnd type="none" w="med" len="med"/>
                      <a:tailEnd type="none" w="med" len="med"/>
                    </a:lnR>
                    <a:lnT>
                      <a:noFill/>
                    </a:lnT>
                    <a:lnB>
                      <a:noFill/>
                    </a:lnB>
                    <a:solidFill>
                      <a:srgbClr val="E3EFF2"/>
                    </a:solidFill>
                  </a:tcPr>
                </a:tc>
                <a:tc vMerge="1">
                  <a:txBody>
                    <a:bodyPr/>
                    <a:lstStyle/>
                    <a:p>
                      <a:endParaRPr lang="fr-FR"/>
                    </a:p>
                  </a:txBody>
                  <a:tcPr/>
                </a:tc>
                <a:tc vMerge="1">
                  <a:txBody>
                    <a:bodyPr/>
                    <a:lstStyle/>
                    <a:p>
                      <a:endParaRPr lang="fr-FR"/>
                    </a:p>
                  </a:txBody>
                  <a:tcPr/>
                </a:tc>
                <a:tc gridSpan="13"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3834417751"/>
                  </a:ext>
                </a:extLst>
              </a:tr>
              <a:tr h="89934">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12700" cap="flat" cmpd="sng" algn="ctr">
                      <a:solidFill>
                        <a:srgbClr val="197B96"/>
                      </a:solidFill>
                      <a:prstDash val="solid"/>
                      <a:round/>
                      <a:headEnd type="none" w="med" len="med"/>
                      <a:tailEnd type="none" w="med" len="med"/>
                    </a:lnL>
                    <a:lnR>
                      <a:noFill/>
                    </a:lnR>
                    <a:lnT>
                      <a:noFill/>
                    </a:lnT>
                    <a:lnB>
                      <a:noFill/>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a:noFill/>
                    </a:lnL>
                    <a:lnR w="6350" cap="flat" cmpd="sng" algn="ctr">
                      <a:solidFill>
                        <a:srgbClr val="000000"/>
                      </a:solidFill>
                      <a:prstDash val="solid"/>
                      <a:round/>
                      <a:headEnd type="none" w="med" len="med"/>
                      <a:tailEnd type="none" w="med" len="med"/>
                    </a:lnR>
                    <a:lnT>
                      <a:noFill/>
                    </a:lnT>
                    <a:lnB>
                      <a:noFill/>
                    </a:lnB>
                    <a:solidFill>
                      <a:srgbClr val="E3EFF2"/>
                    </a:solidFill>
                  </a:tcPr>
                </a:tc>
                <a:tc vMerge="1">
                  <a:txBody>
                    <a:bodyPr/>
                    <a:lstStyle/>
                    <a:p>
                      <a:endParaRPr lang="fr-FR"/>
                    </a:p>
                  </a:txBody>
                  <a:tcPr/>
                </a:tc>
                <a:tc vMerge="1">
                  <a:txBody>
                    <a:bodyPr/>
                    <a:lstStyle/>
                    <a:p>
                      <a:endParaRPr lang="fr-FR"/>
                    </a:p>
                  </a:txBody>
                  <a:tcPr/>
                </a:tc>
                <a:tc gridSpan="7">
                  <a:txBody>
                    <a:bodyPr/>
                    <a:lstStyle/>
                    <a:p>
                      <a:pPr algn="ctr" rtl="0" fontAlgn="ctr"/>
                      <a:r>
                        <a:rPr lang="fr-FR" sz="600" b="1" i="0" u="none" strike="noStrike">
                          <a:solidFill>
                            <a:srgbClr val="197B96"/>
                          </a:solidFill>
                          <a:effectLst/>
                          <a:latin typeface="Verdana" panose="020B0604030504040204" pitchFamily="34" charset="0"/>
                        </a:rPr>
                        <a:t>Economic value of equity</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3">
                  <a:txBody>
                    <a:bodyPr/>
                    <a:lstStyle/>
                    <a:p>
                      <a:pPr algn="ctr" rtl="0" fontAlgn="ctr"/>
                      <a:r>
                        <a:rPr lang="fr-FR" sz="600" b="1" i="0" u="none" strike="noStrike">
                          <a:solidFill>
                            <a:srgbClr val="197B96"/>
                          </a:solidFill>
                          <a:effectLst/>
                          <a:latin typeface="Verdana" panose="020B0604030504040204" pitchFamily="34" charset="0"/>
                        </a:rPr>
                        <a:t>Net interest income</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tc gridSpan="3">
                  <a:txBody>
                    <a:bodyPr/>
                    <a:lstStyle/>
                    <a:p>
                      <a:pPr algn="ctr" rtl="0" fontAlgn="ctr"/>
                      <a:r>
                        <a:rPr lang="fr-FR" sz="600" b="1" i="0" u="none" strike="noStrike">
                          <a:solidFill>
                            <a:srgbClr val="197B96"/>
                          </a:solidFill>
                          <a:effectLst/>
                          <a:latin typeface="Verdana" panose="020B0604030504040204" pitchFamily="34" charset="0"/>
                        </a:rPr>
                        <a:t>Market value</a:t>
                      </a:r>
                    </a:p>
                  </a:txBody>
                  <a:tcPr marL="3523" marR="3523" marT="3523"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212905474"/>
                  </a:ext>
                </a:extLst>
              </a:tr>
              <a:tr h="123660">
                <a:tc>
                  <a:txBody>
                    <a:bodyPr/>
                    <a:lstStyle/>
                    <a:p>
                      <a:pPr algn="ctr" rtl="0" fontAlgn="ctr"/>
                      <a:r>
                        <a:rPr lang="fr-FR" sz="600" b="0" i="0" u="none" strike="noStrike">
                          <a:solidFill>
                            <a:srgbClr val="197B96"/>
                          </a:solidFill>
                          <a:effectLst/>
                          <a:latin typeface="Verdana" panose="020B0604030504040204" pitchFamily="34" charset="0"/>
                        </a:rPr>
                        <a:t> </a:t>
                      </a:r>
                    </a:p>
                  </a:txBody>
                  <a:tcPr marL="3523" marR="3523" marT="3523" marB="0" anchor="ctr">
                    <a:lnL w="12700" cap="flat" cmpd="sng" algn="ctr">
                      <a:solidFill>
                        <a:srgbClr val="197B96"/>
                      </a:solidFill>
                      <a:prstDash val="solid"/>
                      <a:round/>
                      <a:headEnd type="none" w="med" len="med"/>
                      <a:tailEnd type="none" w="med" len="med"/>
                    </a:lnL>
                    <a:lnR>
                      <a:noFill/>
                    </a:lnR>
                    <a:lnT>
                      <a:noFill/>
                    </a:lnT>
                    <a:lnB>
                      <a:noFill/>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 </a:t>
                      </a:r>
                    </a:p>
                  </a:txBody>
                  <a:tcPr marL="3523" marR="3523" marT="3523" marB="0" anchor="ctr">
                    <a:lnL>
                      <a:noFill/>
                    </a:lnL>
                    <a:lnR w="6350" cap="flat" cmpd="sng" algn="ctr">
                      <a:solidFill>
                        <a:srgbClr val="000000"/>
                      </a:solidFill>
                      <a:prstDash val="solid"/>
                      <a:round/>
                      <a:headEnd type="none" w="med" len="med"/>
                      <a:tailEnd type="none" w="med" len="med"/>
                    </a:lnR>
                    <a:lnT>
                      <a:noFill/>
                    </a:lnT>
                    <a:lnB>
                      <a:noFill/>
                    </a:lnB>
                    <a:solidFill>
                      <a:srgbClr val="E3EFF2"/>
                    </a:solidFill>
                  </a:tcPr>
                </a:tc>
                <a:tc vMerge="1">
                  <a:txBody>
                    <a:bodyPr/>
                    <a:lstStyle/>
                    <a:p>
                      <a:endParaRPr lang="fr-FR"/>
                    </a:p>
                  </a:txBody>
                  <a:tcPr/>
                </a:tc>
                <a:tc vMerge="1">
                  <a:txBody>
                    <a:bodyPr/>
                    <a:lstStyle/>
                    <a:p>
                      <a:endParaRPr lang="fr-FR"/>
                    </a:p>
                  </a:txBody>
                  <a:tcPr/>
                </a:tc>
                <a:tc>
                  <a:txBody>
                    <a:bodyPr/>
                    <a:lstStyle/>
                    <a:p>
                      <a:pPr algn="ctr" rtl="0" fontAlgn="ctr"/>
                      <a:r>
                        <a:rPr lang="en-US" sz="600" b="0" i="0" u="none" strike="noStrike">
                          <a:solidFill>
                            <a:srgbClr val="197B96"/>
                          </a:solidFill>
                          <a:effectLst/>
                          <a:latin typeface="Verdana" panose="020B0604030504040204" pitchFamily="34" charset="0"/>
                        </a:rPr>
                        <a:t>Level of EVE - Baseline scenario</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 EVE - Parallel shock up</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∆EVE -  Parallel shock down</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∆EVE - Steepener shock</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∆EVE - Flattener shock</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en-US" sz="600" b="0" i="0" u="none" strike="noStrike">
                          <a:solidFill>
                            <a:srgbClr val="197B96"/>
                          </a:solidFill>
                          <a:effectLst/>
                          <a:latin typeface="Verdana" panose="020B0604030504040204" pitchFamily="34" charset="0"/>
                        </a:rPr>
                        <a:t>∆EVE - Short rates shock up</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en-US" sz="600" b="0" i="0" u="none" strike="noStrike">
                          <a:solidFill>
                            <a:srgbClr val="197B96"/>
                          </a:solidFill>
                          <a:effectLst/>
                          <a:latin typeface="Verdana" panose="020B0604030504040204" pitchFamily="34" charset="0"/>
                        </a:rPr>
                        <a:t>∆EVE -  Short rates shock down</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en-US" sz="600" b="0" i="0" u="none" strike="noStrike">
                          <a:solidFill>
                            <a:srgbClr val="197B96"/>
                          </a:solidFill>
                          <a:effectLst/>
                          <a:latin typeface="Verdana" panose="020B0604030504040204" pitchFamily="34" charset="0"/>
                        </a:rPr>
                        <a:t>Level of NII - Baseline scenario</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∆NII - Parallel shock up</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∆EVE -  Parallel shock down</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en-US" sz="600" b="0" i="0" u="none" strike="noStrike">
                          <a:solidFill>
                            <a:srgbClr val="197B96"/>
                          </a:solidFill>
                          <a:effectLst/>
                          <a:latin typeface="Verdana" panose="020B0604030504040204" pitchFamily="34" charset="0"/>
                        </a:rPr>
                        <a:t>Level of MV - Baseline scenario</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∆MV - Parallel shock up</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∆MV -  Parallel shock down</a:t>
                      </a:r>
                    </a:p>
                  </a:txBody>
                  <a:tcPr marL="3523" marR="3523" marT="3523"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732472809"/>
                  </a:ext>
                </a:extLst>
              </a:tr>
              <a:tr h="89934">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12700" cap="flat" cmpd="sng" algn="ctr">
                      <a:solidFill>
                        <a:srgbClr val="197B96"/>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20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30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40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50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60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70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80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90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100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110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120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130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600" b="0" i="0" u="none" strike="noStrike">
                          <a:solidFill>
                            <a:srgbClr val="197B96"/>
                          </a:solidFill>
                          <a:effectLst/>
                          <a:latin typeface="Verdana" panose="020B0604030504040204" pitchFamily="34" charset="0"/>
                        </a:rPr>
                        <a:t>140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b"/>
                      <a:r>
                        <a:rPr lang="fr-FR" sz="600" b="0" i="0" u="none" strike="noStrike">
                          <a:solidFill>
                            <a:srgbClr val="197B96"/>
                          </a:solidFill>
                          <a:effectLst/>
                          <a:latin typeface="Verdana" panose="020B0604030504040204" pitchFamily="34" charset="0"/>
                        </a:rPr>
                        <a:t>150</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1195480639"/>
                  </a:ext>
                </a:extLst>
              </a:tr>
              <a:tr h="89934">
                <a:tc>
                  <a:txBody>
                    <a:bodyPr/>
                    <a:lstStyle/>
                    <a:p>
                      <a:pPr algn="l" rtl="0" fontAlgn="ctr"/>
                      <a:r>
                        <a:rPr lang="fr-FR" sz="600" b="1" i="0" u="none" strike="noStrike">
                          <a:solidFill>
                            <a:srgbClr val="197B96"/>
                          </a:solidFill>
                          <a:effectLst/>
                          <a:latin typeface="Verdana" panose="020B0604030504040204" pitchFamily="34" charset="0"/>
                        </a:rPr>
                        <a:t>TOTAL ASSETS</a:t>
                      </a:r>
                    </a:p>
                  </a:txBody>
                  <a:tcPr marL="3523"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10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3777799089"/>
                  </a:ext>
                </a:extLst>
              </a:tr>
              <a:tr h="89934">
                <a:tc>
                  <a:txBody>
                    <a:bodyPr/>
                    <a:lstStyle/>
                    <a:p>
                      <a:pPr algn="l" rtl="0" fontAlgn="ctr"/>
                      <a:r>
                        <a:rPr lang="fr-FR" sz="600" b="1" i="0" u="none" strike="noStrike">
                          <a:solidFill>
                            <a:srgbClr val="197B96"/>
                          </a:solidFill>
                          <a:effectLst/>
                          <a:latin typeface="Verdana" panose="020B0604030504040204" pitchFamily="34" charset="0"/>
                        </a:rPr>
                        <a:t>Central bank</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30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3748916161"/>
                  </a:ext>
                </a:extLst>
              </a:tr>
              <a:tr h="89934">
                <a:tc>
                  <a:txBody>
                    <a:bodyPr/>
                    <a:lstStyle/>
                    <a:p>
                      <a:pPr algn="l" rtl="0" fontAlgn="ctr"/>
                      <a:r>
                        <a:rPr lang="fr-FR" sz="600" b="1" i="0" u="none" strike="noStrike">
                          <a:solidFill>
                            <a:srgbClr val="197B96"/>
                          </a:solidFill>
                          <a:effectLst/>
                          <a:latin typeface="Verdana" panose="020B0604030504040204" pitchFamily="34" charset="0"/>
                        </a:rPr>
                        <a:t>Interbank</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40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2493447535"/>
                  </a:ext>
                </a:extLst>
              </a:tr>
              <a:tr h="89934">
                <a:tc>
                  <a:txBody>
                    <a:bodyPr/>
                    <a:lstStyle/>
                    <a:p>
                      <a:pPr algn="l" rtl="0" fontAlgn="ctr"/>
                      <a:r>
                        <a:rPr lang="fr-FR" sz="600" b="1" i="0" u="none" strike="noStrike">
                          <a:solidFill>
                            <a:srgbClr val="197B96"/>
                          </a:solidFill>
                          <a:effectLst/>
                          <a:latin typeface="Verdana" panose="020B0604030504040204" pitchFamily="34" charset="0"/>
                        </a:rPr>
                        <a:t>Loans and advances</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565414886"/>
                  </a:ext>
                </a:extLst>
              </a:tr>
              <a:tr h="89934">
                <a:tc>
                  <a:txBody>
                    <a:bodyPr/>
                    <a:lstStyle/>
                    <a:p>
                      <a:pPr algn="l" rtl="0" fontAlgn="ctr"/>
                      <a:r>
                        <a:rPr lang="fr-FR" sz="600" b="1" i="0" u="none" strike="noStrike">
                          <a:solidFill>
                            <a:srgbClr val="197B96"/>
                          </a:solidFill>
                          <a:effectLst/>
                          <a:latin typeface="Verdana" panose="020B0604030504040204" pitchFamily="34" charset="0"/>
                        </a:rPr>
                        <a:t>Debt securities</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120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3029010633"/>
                  </a:ext>
                </a:extLst>
              </a:tr>
              <a:tr h="89934">
                <a:tc>
                  <a:txBody>
                    <a:bodyPr/>
                    <a:lstStyle/>
                    <a:p>
                      <a:pPr algn="l" rtl="0" fontAlgn="ctr"/>
                      <a:r>
                        <a:rPr lang="fr-FR" sz="600" b="1" i="0" u="none" strike="noStrike">
                          <a:solidFill>
                            <a:srgbClr val="197B96"/>
                          </a:solidFill>
                          <a:effectLst/>
                          <a:latin typeface="Verdana" panose="020B0604030504040204" pitchFamily="34" charset="0"/>
                        </a:rPr>
                        <a:t>Derivatives hedging assets</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140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3089980315"/>
                  </a:ext>
                </a:extLst>
              </a:tr>
              <a:tr h="89934">
                <a:tc>
                  <a:txBody>
                    <a:bodyPr/>
                    <a:lstStyle/>
                    <a:p>
                      <a:pPr algn="l" rtl="0" fontAlgn="ctr"/>
                      <a:r>
                        <a:rPr lang="fr-FR" sz="600" b="0" i="0" u="none" strike="noStrike">
                          <a:solidFill>
                            <a:srgbClr val="197B96"/>
                          </a:solidFill>
                          <a:effectLst/>
                          <a:latin typeface="Verdana" panose="020B0604030504040204" pitchFamily="34" charset="0"/>
                        </a:rPr>
                        <a:t>Hedging debt securities</a:t>
                      </a:r>
                    </a:p>
                  </a:txBody>
                  <a:tcPr marL="6342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160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78009885"/>
                  </a:ext>
                </a:extLst>
              </a:tr>
              <a:tr h="89934">
                <a:tc>
                  <a:txBody>
                    <a:bodyPr/>
                    <a:lstStyle/>
                    <a:p>
                      <a:pPr algn="l" rtl="0" fontAlgn="ctr"/>
                      <a:r>
                        <a:rPr lang="fr-FR" sz="600" b="0" i="0" u="none" strike="noStrike">
                          <a:solidFill>
                            <a:srgbClr val="197B96"/>
                          </a:solidFill>
                          <a:effectLst/>
                          <a:latin typeface="Verdana" panose="020B0604030504040204" pitchFamily="34" charset="0"/>
                        </a:rPr>
                        <a:t>Hedging other assets</a:t>
                      </a:r>
                    </a:p>
                  </a:txBody>
                  <a:tcPr marL="6342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170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538223419"/>
                  </a:ext>
                </a:extLst>
              </a:tr>
              <a:tr h="89934">
                <a:tc>
                  <a:txBody>
                    <a:bodyPr/>
                    <a:lstStyle/>
                    <a:p>
                      <a:pPr algn="l" rtl="0" fontAlgn="ctr"/>
                      <a:r>
                        <a:rPr lang="fr-FR" sz="600" b="1" i="0" u="none" strike="noStrike">
                          <a:solidFill>
                            <a:srgbClr val="197B96"/>
                          </a:solidFill>
                          <a:effectLst/>
                          <a:latin typeface="Verdana" panose="020B0604030504040204" pitchFamily="34" charset="0"/>
                        </a:rPr>
                        <a:t>Other</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180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2011305468"/>
                  </a:ext>
                </a:extLst>
              </a:tr>
              <a:tr h="89934">
                <a:tc>
                  <a:txBody>
                    <a:bodyPr/>
                    <a:lstStyle/>
                    <a:p>
                      <a:pPr algn="l" rtl="0" fontAlgn="ctr"/>
                      <a:r>
                        <a:rPr lang="en-US" sz="600" b="1" i="0" u="none" strike="noStrike">
                          <a:solidFill>
                            <a:srgbClr val="197B96"/>
                          </a:solidFill>
                          <a:effectLst/>
                          <a:latin typeface="Verdana" panose="020B0604030504040204" pitchFamily="34" charset="0"/>
                        </a:rPr>
                        <a:t>Off-balance sheet assets: contingent assets</a:t>
                      </a:r>
                    </a:p>
                  </a:txBody>
                  <a:tcPr marL="3523"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190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3982890169"/>
                  </a:ext>
                </a:extLst>
              </a:tr>
              <a:tr h="89934">
                <a:tc>
                  <a:txBody>
                    <a:bodyPr/>
                    <a:lstStyle/>
                    <a:p>
                      <a:pPr algn="l" rtl="0" fontAlgn="ctr"/>
                      <a:r>
                        <a:rPr lang="fr-FR" sz="600" b="1" i="0" u="none" strike="noStrike">
                          <a:solidFill>
                            <a:srgbClr val="197B96"/>
                          </a:solidFill>
                          <a:effectLst/>
                          <a:latin typeface="Verdana" panose="020B0604030504040204" pitchFamily="34" charset="0"/>
                        </a:rPr>
                        <a:t>TOTAL LIABILITIES</a:t>
                      </a:r>
                    </a:p>
                  </a:txBody>
                  <a:tcPr marL="3523"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200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a:noFill/>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3568751221"/>
                  </a:ext>
                </a:extLst>
              </a:tr>
              <a:tr h="89934">
                <a:tc>
                  <a:txBody>
                    <a:bodyPr/>
                    <a:lstStyle/>
                    <a:p>
                      <a:pPr algn="l" rtl="0" fontAlgn="ctr"/>
                      <a:r>
                        <a:rPr lang="fr-FR" sz="600" b="1" i="0" u="none" strike="noStrike">
                          <a:solidFill>
                            <a:srgbClr val="197B96"/>
                          </a:solidFill>
                          <a:effectLst/>
                          <a:latin typeface="Verdana" panose="020B0604030504040204" pitchFamily="34" charset="0"/>
                        </a:rPr>
                        <a:t>Central bank</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220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3412051338"/>
                  </a:ext>
                </a:extLst>
              </a:tr>
              <a:tr h="89934">
                <a:tc>
                  <a:txBody>
                    <a:bodyPr/>
                    <a:lstStyle/>
                    <a:p>
                      <a:pPr algn="l" rtl="0" fontAlgn="ctr"/>
                      <a:r>
                        <a:rPr lang="fr-FR" sz="600" b="1" i="0" u="none" strike="noStrike">
                          <a:solidFill>
                            <a:srgbClr val="197B96"/>
                          </a:solidFill>
                          <a:effectLst/>
                          <a:latin typeface="Verdana" panose="020B0604030504040204" pitchFamily="34" charset="0"/>
                        </a:rPr>
                        <a:t>Interbank</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230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2055973169"/>
                  </a:ext>
                </a:extLst>
              </a:tr>
              <a:tr h="89934">
                <a:tc>
                  <a:txBody>
                    <a:bodyPr/>
                    <a:lstStyle/>
                    <a:p>
                      <a:pPr algn="l" rtl="0" fontAlgn="ctr"/>
                      <a:r>
                        <a:rPr lang="fr-FR" sz="600" b="1" i="0" u="none" strike="noStrike">
                          <a:solidFill>
                            <a:srgbClr val="197B96"/>
                          </a:solidFill>
                          <a:effectLst/>
                          <a:latin typeface="Verdana" panose="020B0604030504040204" pitchFamily="34" charset="0"/>
                        </a:rPr>
                        <a:t>Debt securities issued</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240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3799044728"/>
                  </a:ext>
                </a:extLst>
              </a:tr>
              <a:tr h="89934">
                <a:tc>
                  <a:txBody>
                    <a:bodyPr/>
                    <a:lstStyle/>
                    <a:p>
                      <a:pPr algn="l" rtl="0" fontAlgn="b"/>
                      <a:r>
                        <a:rPr lang="fr-FR" sz="600" b="1" i="0" u="none" strike="noStrike">
                          <a:solidFill>
                            <a:srgbClr val="197B96"/>
                          </a:solidFill>
                          <a:effectLst/>
                          <a:latin typeface="Verdana" panose="020B0604030504040204" pitchFamily="34" charset="0"/>
                        </a:rPr>
                        <a:t>NMDs: Retail transactional</a:t>
                      </a:r>
                    </a:p>
                  </a:txBody>
                  <a:tcPr marL="3523" marR="3523" marT="3523" marB="0" anchor="b">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270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3833266765"/>
                  </a:ext>
                </a:extLst>
              </a:tr>
              <a:tr h="142395">
                <a:tc>
                  <a:txBody>
                    <a:bodyPr/>
                    <a:lstStyle/>
                    <a:p>
                      <a:pPr algn="l" rtl="0" fontAlgn="b"/>
                      <a:r>
                        <a:rPr lang="fr-FR" sz="600" b="1" i="0" u="none" strike="noStrike">
                          <a:solidFill>
                            <a:srgbClr val="197B96"/>
                          </a:solidFill>
                          <a:effectLst/>
                          <a:latin typeface="Verdana" panose="020B0604030504040204" pitchFamily="34" charset="0"/>
                        </a:rPr>
                        <a:t>NMDs: Retail non-transactional</a:t>
                      </a:r>
                    </a:p>
                  </a:txBody>
                  <a:tcPr marL="3523" marR="3523" marT="3523" marB="0" anchor="b">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310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a:noFill/>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2179433948"/>
                  </a:ext>
                </a:extLst>
              </a:tr>
              <a:tr h="142395">
                <a:tc>
                  <a:txBody>
                    <a:bodyPr/>
                    <a:lstStyle/>
                    <a:p>
                      <a:pPr algn="l" rtl="0" fontAlgn="b"/>
                      <a:r>
                        <a:rPr lang="fr-FR" sz="600" b="1" i="0" u="none" strike="noStrike">
                          <a:solidFill>
                            <a:srgbClr val="197B96"/>
                          </a:solidFill>
                          <a:effectLst/>
                          <a:latin typeface="Verdana" panose="020B0604030504040204" pitchFamily="34" charset="0"/>
                        </a:rPr>
                        <a:t>NMDs: Wholesale non-financial</a:t>
                      </a:r>
                    </a:p>
                  </a:txBody>
                  <a:tcPr marL="3523" marR="3523" marT="3523" marB="0" anchor="b">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350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1100" b="0" i="0" u="none" strike="noStrike">
                          <a:solidFill>
                            <a:srgbClr val="000000"/>
                          </a:solidFill>
                          <a:effectLst/>
                          <a:latin typeface="Arial" panose="020B060402020202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a:noFill/>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4142922162"/>
                  </a:ext>
                </a:extLst>
              </a:tr>
              <a:tr h="89934">
                <a:tc>
                  <a:txBody>
                    <a:bodyPr/>
                    <a:lstStyle/>
                    <a:p>
                      <a:pPr algn="l" rtl="0" fontAlgn="b"/>
                      <a:r>
                        <a:rPr lang="fr-FR" sz="600" b="1" i="0" u="none" strike="noStrike">
                          <a:solidFill>
                            <a:srgbClr val="197B96"/>
                          </a:solidFill>
                          <a:effectLst/>
                          <a:latin typeface="Verdana" panose="020B0604030504040204" pitchFamily="34" charset="0"/>
                        </a:rPr>
                        <a:t>NMDs: Wholesale financial</a:t>
                      </a:r>
                    </a:p>
                  </a:txBody>
                  <a:tcPr marL="3523" marR="3523" marT="3523" marB="0" anchor="b">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390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2769913006"/>
                  </a:ext>
                </a:extLst>
              </a:tr>
              <a:tr h="89934">
                <a:tc>
                  <a:txBody>
                    <a:bodyPr/>
                    <a:lstStyle/>
                    <a:p>
                      <a:pPr algn="l" rtl="0" fontAlgn="b"/>
                      <a:r>
                        <a:rPr lang="fr-FR" sz="600" b="1" i="0" u="none" strike="noStrike">
                          <a:solidFill>
                            <a:srgbClr val="197B96"/>
                          </a:solidFill>
                          <a:effectLst/>
                          <a:latin typeface="Verdana" panose="020B0604030504040204" pitchFamily="34" charset="0"/>
                        </a:rPr>
                        <a:t>Term deposits</a:t>
                      </a:r>
                    </a:p>
                  </a:txBody>
                  <a:tcPr marL="3523" marR="3523" marT="3523" marB="0" anchor="b">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420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2485742282"/>
                  </a:ext>
                </a:extLst>
              </a:tr>
              <a:tr h="89934">
                <a:tc>
                  <a:txBody>
                    <a:bodyPr/>
                    <a:lstStyle/>
                    <a:p>
                      <a:pPr algn="l" rtl="0" fontAlgn="ctr"/>
                      <a:r>
                        <a:rPr lang="fr-FR" sz="600" b="1" i="0" u="none" strike="noStrike">
                          <a:solidFill>
                            <a:srgbClr val="197B96"/>
                          </a:solidFill>
                          <a:effectLst/>
                          <a:latin typeface="Verdana" panose="020B0604030504040204" pitchFamily="34" charset="0"/>
                        </a:rPr>
                        <a:t>Derivatives hedging liabilities</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470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930317950"/>
                  </a:ext>
                </a:extLst>
              </a:tr>
              <a:tr h="89934">
                <a:tc>
                  <a:txBody>
                    <a:bodyPr/>
                    <a:lstStyle/>
                    <a:p>
                      <a:pPr algn="l" rtl="0" fontAlgn="ctr"/>
                      <a:r>
                        <a:rPr lang="fr-FR" sz="600" b="0" i="0" u="none" strike="noStrike">
                          <a:solidFill>
                            <a:srgbClr val="197B96"/>
                          </a:solidFill>
                          <a:effectLst/>
                          <a:latin typeface="Verdana" panose="020B0604030504040204" pitchFamily="34" charset="0"/>
                        </a:rPr>
                        <a:t>Hedging debt securities</a:t>
                      </a:r>
                    </a:p>
                  </a:txBody>
                  <a:tcPr marL="6342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490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223133983"/>
                  </a:ext>
                </a:extLst>
              </a:tr>
              <a:tr h="89934">
                <a:tc>
                  <a:txBody>
                    <a:bodyPr/>
                    <a:lstStyle/>
                    <a:p>
                      <a:pPr algn="l" rtl="0" fontAlgn="ctr"/>
                      <a:r>
                        <a:rPr lang="fr-FR" sz="600" b="0" i="0" u="none" strike="noStrike">
                          <a:solidFill>
                            <a:srgbClr val="197B96"/>
                          </a:solidFill>
                          <a:effectLst/>
                          <a:latin typeface="Verdana" panose="020B0604030504040204" pitchFamily="34" charset="0"/>
                        </a:rPr>
                        <a:t>Hedging other liabilities</a:t>
                      </a:r>
                    </a:p>
                  </a:txBody>
                  <a:tcPr marL="6342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500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720762191"/>
                  </a:ext>
                </a:extLst>
              </a:tr>
              <a:tr h="89934">
                <a:tc>
                  <a:txBody>
                    <a:bodyPr/>
                    <a:lstStyle/>
                    <a:p>
                      <a:pPr algn="l" rtl="0" fontAlgn="b"/>
                      <a:r>
                        <a:rPr lang="fr-FR" sz="600" b="1" i="0" u="none" strike="noStrike">
                          <a:solidFill>
                            <a:srgbClr val="197B96"/>
                          </a:solidFill>
                          <a:effectLst/>
                          <a:latin typeface="Verdana" panose="020B0604030504040204" pitchFamily="34" charset="0"/>
                        </a:rPr>
                        <a:t>Other</a:t>
                      </a:r>
                    </a:p>
                  </a:txBody>
                  <a:tcPr marL="3523" marR="3523" marT="3523" marB="0" anchor="b">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510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dirty="0">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4218009446"/>
                  </a:ext>
                </a:extLst>
              </a:tr>
              <a:tr h="89934">
                <a:tc>
                  <a:txBody>
                    <a:bodyPr/>
                    <a:lstStyle/>
                    <a:p>
                      <a:pPr algn="l" rtl="0" fontAlgn="ctr"/>
                      <a:r>
                        <a:rPr lang="fr-FR" sz="600" b="1" i="0" u="none" strike="noStrike">
                          <a:solidFill>
                            <a:srgbClr val="197B96"/>
                          </a:solidFill>
                          <a:effectLst/>
                          <a:latin typeface="Verdana" panose="020B0604030504040204" pitchFamily="34" charset="0"/>
                        </a:rPr>
                        <a:t>Off-balance sheet liabilities: Contingent liabilities</a:t>
                      </a:r>
                    </a:p>
                  </a:txBody>
                  <a:tcPr marL="3523"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520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665233748"/>
                  </a:ext>
                </a:extLst>
              </a:tr>
              <a:tr h="89934">
                <a:tc>
                  <a:txBody>
                    <a:bodyPr/>
                    <a:lstStyle/>
                    <a:p>
                      <a:pPr algn="l" rtl="0" fontAlgn="ctr"/>
                      <a:r>
                        <a:rPr lang="fr-FR" sz="600" b="1" i="0" u="none" strike="noStrike">
                          <a:solidFill>
                            <a:srgbClr val="197B96"/>
                          </a:solidFill>
                          <a:effectLst/>
                          <a:latin typeface="Verdana" panose="020B0604030504040204" pitchFamily="34" charset="0"/>
                        </a:rPr>
                        <a:t>Other derivatives (Net asset/liability)</a:t>
                      </a:r>
                    </a:p>
                  </a:txBody>
                  <a:tcPr marL="3523"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530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04944699"/>
                  </a:ext>
                </a:extLst>
              </a:tr>
              <a:tr h="89934">
                <a:tc gridSpan="17">
                  <a:txBody>
                    <a:bodyPr/>
                    <a:lstStyle/>
                    <a:p>
                      <a:pPr algn="l" rtl="0" fontAlgn="ctr"/>
                      <a:r>
                        <a:rPr lang="fr-FR" sz="600" b="1" i="0" u="none" strike="noStrike">
                          <a:solidFill>
                            <a:srgbClr val="197B96"/>
                          </a:solidFill>
                          <a:effectLst/>
                          <a:latin typeface="Verdana" panose="020B0604030504040204" pitchFamily="34" charset="0"/>
                        </a:rPr>
                        <a:t>MEMORANDUM ITEMS</a:t>
                      </a:r>
                    </a:p>
                  </a:txBody>
                  <a:tcPr marL="3523" marR="3523" marT="3523" marB="0" anchor="ctr">
                    <a:lnL w="12700" cap="flat" cmpd="sng" algn="ctr">
                      <a:solidFill>
                        <a:srgbClr val="197B96"/>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182342584"/>
                  </a:ext>
                </a:extLst>
              </a:tr>
              <a:tr h="89934">
                <a:tc>
                  <a:txBody>
                    <a:bodyPr/>
                    <a:lstStyle/>
                    <a:p>
                      <a:pPr algn="l" rtl="0" fontAlgn="ctr"/>
                      <a:r>
                        <a:rPr lang="fr-FR" sz="600" b="1" i="0" u="none" strike="noStrike">
                          <a:solidFill>
                            <a:srgbClr val="197B96"/>
                          </a:solidFill>
                          <a:effectLst/>
                          <a:latin typeface="Verdana" panose="020B0604030504040204" pitchFamily="34" charset="0"/>
                        </a:rPr>
                        <a:t>Net derivatives</a:t>
                      </a:r>
                    </a:p>
                  </a:txBody>
                  <a:tcPr marL="3523"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540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197B96"/>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197B96"/>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2671181758"/>
                  </a:ext>
                </a:extLst>
              </a:tr>
              <a:tr h="89934">
                <a:tc>
                  <a:txBody>
                    <a:bodyPr/>
                    <a:lstStyle/>
                    <a:p>
                      <a:pPr algn="l" rtl="0" fontAlgn="ctr"/>
                      <a:r>
                        <a:rPr lang="en-US" sz="600" b="1" i="0" u="none" strike="noStrike">
                          <a:solidFill>
                            <a:srgbClr val="197B96"/>
                          </a:solidFill>
                          <a:effectLst/>
                          <a:latin typeface="Verdana" panose="020B0604030504040204" pitchFamily="34" charset="0"/>
                        </a:rPr>
                        <a:t>Net interest rate position without derivatives</a:t>
                      </a:r>
                    </a:p>
                  </a:txBody>
                  <a:tcPr marL="3523"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550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197B96"/>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197B96"/>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481573133"/>
                  </a:ext>
                </a:extLst>
              </a:tr>
              <a:tr h="89934">
                <a:tc>
                  <a:txBody>
                    <a:bodyPr/>
                    <a:lstStyle/>
                    <a:p>
                      <a:pPr algn="l" rtl="0" fontAlgn="ctr"/>
                      <a:r>
                        <a:rPr lang="en-US" sz="600" b="1" i="0" u="none" strike="noStrike">
                          <a:solidFill>
                            <a:srgbClr val="197B96"/>
                          </a:solidFill>
                          <a:effectLst/>
                          <a:latin typeface="Verdana" panose="020B0604030504040204" pitchFamily="34" charset="0"/>
                        </a:rPr>
                        <a:t>Net interest rate position with derivatives</a:t>
                      </a:r>
                    </a:p>
                  </a:txBody>
                  <a:tcPr marL="3523"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560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197B96"/>
                          </a:solidFill>
                          <a:effectLst/>
                          <a:latin typeface="Verdana" panose="020B0604030504040204" pitchFamily="34" charset="0"/>
                        </a:rPr>
                        <a:t> </a:t>
                      </a:r>
                    </a:p>
                  </a:txBody>
                  <a:tcPr marL="3523" marR="3523" marT="3523"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197B96"/>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60840955"/>
                  </a:ext>
                </a:extLst>
              </a:tr>
              <a:tr h="89934">
                <a:tc>
                  <a:txBody>
                    <a:bodyPr/>
                    <a:lstStyle/>
                    <a:p>
                      <a:pPr algn="l" rtl="0" fontAlgn="ctr"/>
                      <a:r>
                        <a:rPr lang="en-US" sz="600" b="1" i="0" u="none" strike="noStrike">
                          <a:solidFill>
                            <a:srgbClr val="197B96"/>
                          </a:solidFill>
                          <a:effectLst/>
                          <a:latin typeface="Verdana" panose="020B0604030504040204" pitchFamily="34" charset="0"/>
                        </a:rPr>
                        <a:t>Total Assets with MV impact</a:t>
                      </a:r>
                    </a:p>
                  </a:txBody>
                  <a:tcPr marL="3523"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570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92254837"/>
                  </a:ext>
                </a:extLst>
              </a:tr>
              <a:tr h="89934">
                <a:tc>
                  <a:txBody>
                    <a:bodyPr/>
                    <a:lstStyle/>
                    <a:p>
                      <a:pPr algn="l" rtl="0" fontAlgn="ctr"/>
                      <a:r>
                        <a:rPr lang="fr-FR" sz="600" b="0" i="0" u="none" strike="noStrike">
                          <a:solidFill>
                            <a:srgbClr val="197B96"/>
                          </a:solidFill>
                          <a:effectLst/>
                          <a:latin typeface="Verdana" panose="020B0604030504040204" pitchFamily="34" charset="0"/>
                        </a:rPr>
                        <a:t>Debt securities</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580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185691243"/>
                  </a:ext>
                </a:extLst>
              </a:tr>
              <a:tr h="89934">
                <a:tc>
                  <a:txBody>
                    <a:bodyPr/>
                    <a:lstStyle/>
                    <a:p>
                      <a:pPr algn="l" rtl="0" fontAlgn="ctr"/>
                      <a:r>
                        <a:rPr lang="fr-FR" sz="600" b="0" i="0" u="none" strike="noStrike">
                          <a:solidFill>
                            <a:srgbClr val="197B96"/>
                          </a:solidFill>
                          <a:effectLst/>
                          <a:latin typeface="Verdana" panose="020B0604030504040204" pitchFamily="34" charset="0"/>
                        </a:rPr>
                        <a:t>Derivatives</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590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537930112"/>
                  </a:ext>
                </a:extLst>
              </a:tr>
              <a:tr h="89934">
                <a:tc>
                  <a:txBody>
                    <a:bodyPr/>
                    <a:lstStyle/>
                    <a:p>
                      <a:pPr algn="l" rtl="0" fontAlgn="ctr"/>
                      <a:r>
                        <a:rPr lang="fr-FR" sz="600" b="0" i="0" u="none" strike="noStrike">
                          <a:solidFill>
                            <a:srgbClr val="197B96"/>
                          </a:solidFill>
                          <a:effectLst/>
                          <a:latin typeface="Verdana" panose="020B0604030504040204" pitchFamily="34" charset="0"/>
                        </a:rPr>
                        <a:t>Other</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600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20586887"/>
                  </a:ext>
                </a:extLst>
              </a:tr>
              <a:tr h="89934">
                <a:tc>
                  <a:txBody>
                    <a:bodyPr/>
                    <a:lstStyle/>
                    <a:p>
                      <a:pPr algn="l" rtl="0" fontAlgn="ctr"/>
                      <a:r>
                        <a:rPr lang="en-US" sz="600" b="1" i="0" u="none" strike="noStrike">
                          <a:solidFill>
                            <a:srgbClr val="197B96"/>
                          </a:solidFill>
                          <a:effectLst/>
                          <a:latin typeface="Verdana" panose="020B0604030504040204" pitchFamily="34" charset="0"/>
                        </a:rPr>
                        <a:t>Total Liabilities with MV impact</a:t>
                      </a:r>
                    </a:p>
                  </a:txBody>
                  <a:tcPr marL="3523"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610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235520069"/>
                  </a:ext>
                </a:extLst>
              </a:tr>
              <a:tr h="89934">
                <a:tc>
                  <a:txBody>
                    <a:bodyPr/>
                    <a:lstStyle/>
                    <a:p>
                      <a:pPr algn="l" rtl="0" fontAlgn="ctr"/>
                      <a:r>
                        <a:rPr lang="fr-FR" sz="600" b="0" i="0" u="none" strike="noStrike">
                          <a:solidFill>
                            <a:srgbClr val="197B96"/>
                          </a:solidFill>
                          <a:effectLst/>
                          <a:latin typeface="Verdana" panose="020B0604030504040204" pitchFamily="34" charset="0"/>
                        </a:rPr>
                        <a:t>Debt securities issued</a:t>
                      </a:r>
                    </a:p>
                  </a:txBody>
                  <a:tcPr marL="31710" marR="3523" marT="3523"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620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132310815"/>
                  </a:ext>
                </a:extLst>
              </a:tr>
              <a:tr h="89934">
                <a:tc>
                  <a:txBody>
                    <a:bodyPr/>
                    <a:lstStyle/>
                    <a:p>
                      <a:pPr algn="l" rtl="0" fontAlgn="b"/>
                      <a:r>
                        <a:rPr lang="fr-FR" sz="600" b="0" i="0" u="none" strike="noStrike">
                          <a:solidFill>
                            <a:srgbClr val="197B96"/>
                          </a:solidFill>
                          <a:effectLst/>
                          <a:latin typeface="Verdana" panose="020B0604030504040204" pitchFamily="34" charset="0"/>
                        </a:rPr>
                        <a:t>Derivatives </a:t>
                      </a:r>
                    </a:p>
                  </a:txBody>
                  <a:tcPr marL="3523" marR="3523" marT="3523" marB="0" anchor="b">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630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480356180"/>
                  </a:ext>
                </a:extLst>
              </a:tr>
              <a:tr h="93681">
                <a:tc>
                  <a:txBody>
                    <a:bodyPr/>
                    <a:lstStyle/>
                    <a:p>
                      <a:pPr algn="l" rtl="0" fontAlgn="b"/>
                      <a:r>
                        <a:rPr lang="fr-FR" sz="600" b="0" i="0" u="none" strike="noStrike">
                          <a:solidFill>
                            <a:srgbClr val="197B96"/>
                          </a:solidFill>
                          <a:effectLst/>
                          <a:latin typeface="Verdana" panose="020B0604030504040204" pitchFamily="34" charset="0"/>
                        </a:rPr>
                        <a:t>Other</a:t>
                      </a:r>
                    </a:p>
                  </a:txBody>
                  <a:tcPr marL="3523" marR="3523" marT="3523" marB="0" anchor="b">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640</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197B96"/>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600" b="0" i="0" u="none" strike="noStrike">
                          <a:solidFill>
                            <a:srgbClr val="000000"/>
                          </a:solidFill>
                          <a:effectLst/>
                          <a:latin typeface="Verdana" panose="020B0604030504040204" pitchFamily="34" charset="0"/>
                        </a:rPr>
                        <a:t> </a:t>
                      </a:r>
                    </a:p>
                  </a:txBody>
                  <a:tcPr marL="3523" marR="3523" marT="3523"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noFill/>
                  </a:tcPr>
                </a:tc>
                <a:tc>
                  <a:txBody>
                    <a:bodyPr/>
                    <a:lstStyle/>
                    <a:p>
                      <a:pPr algn="l" rtl="0" fontAlgn="b"/>
                      <a:r>
                        <a:rPr lang="fr-FR" sz="600" b="0" i="0" u="none" strike="noStrike" dirty="0">
                          <a:solidFill>
                            <a:srgbClr val="000000"/>
                          </a:solidFill>
                          <a:effectLst/>
                          <a:latin typeface="Verdana" panose="020B0604030504040204" pitchFamily="34" charset="0"/>
                        </a:rPr>
                        <a:t> </a:t>
                      </a:r>
                    </a:p>
                  </a:txBody>
                  <a:tcPr marL="3523" marR="3523" marT="3523" marB="0" anchor="b">
                    <a:lnL w="6350" cap="flat" cmpd="sng" algn="ctr">
                      <a:solidFill>
                        <a:srgbClr val="D9D9D9"/>
                      </a:solidFill>
                      <a:prstDash val="dash"/>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noFill/>
                  </a:tcPr>
                </a:tc>
                <a:extLst>
                  <a:ext uri="{0D108BD9-81ED-4DB2-BD59-A6C34878D82A}">
                    <a16:rowId xmlns:a16="http://schemas.microsoft.com/office/drawing/2014/main" val="4024083801"/>
                  </a:ext>
                </a:extLst>
              </a:tr>
            </a:tbl>
          </a:graphicData>
        </a:graphic>
      </p:graphicFrame>
      <p:sp>
        <p:nvSpPr>
          <p:cNvPr id="9" name="Rectangle 8">
            <a:extLst>
              <a:ext uri="{FF2B5EF4-FFF2-40B4-BE49-F238E27FC236}">
                <a16:creationId xmlns:a16="http://schemas.microsoft.com/office/drawing/2014/main" id="{4CA9EEC9-3F1E-7911-A604-CCB466EEA305}"/>
              </a:ext>
            </a:extLst>
          </p:cNvPr>
          <p:cNvSpPr/>
          <p:nvPr/>
        </p:nvSpPr>
        <p:spPr>
          <a:xfrm>
            <a:off x="287887" y="5991071"/>
            <a:ext cx="11533919" cy="794084"/>
          </a:xfrm>
          <a:prstGeom prst="rect">
            <a:avLst/>
          </a:prstGeom>
          <a:noFill/>
          <a:ln w="19050">
            <a:solidFill>
              <a:srgbClr val="FFCC00">
                <a:alpha val="49804"/>
              </a:srgb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410749443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b- Template J01 – Evaluation of the IRRBB : EVE/NII SOT and MV changes</a:t>
            </a:r>
            <a:endParaRPr lang="fr-FR" dirty="0">
              <a:latin typeface="Calibri"/>
              <a:cs typeface="Calibri"/>
            </a:endParaRPr>
          </a:p>
        </p:txBody>
      </p:sp>
      <p:sp>
        <p:nvSpPr>
          <p:cNvPr id="18" name="Rectangle 17">
            <a:extLst>
              <a:ext uri="{FF2B5EF4-FFF2-40B4-BE49-F238E27FC236}">
                <a16:creationId xmlns:a16="http://schemas.microsoft.com/office/drawing/2014/main" id="{95979EDC-0659-D785-164E-B6F8BCBAD42D}"/>
              </a:ext>
            </a:extLst>
          </p:cNvPr>
          <p:cNvSpPr/>
          <p:nvPr/>
        </p:nvSpPr>
        <p:spPr>
          <a:xfrm>
            <a:off x="9157686" y="6334780"/>
            <a:ext cx="3034313" cy="5232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6" name="Espace réservé du texte 15">
            <a:extLst>
              <a:ext uri="{FF2B5EF4-FFF2-40B4-BE49-F238E27FC236}">
                <a16:creationId xmlns:a16="http://schemas.microsoft.com/office/drawing/2014/main" id="{3DC0E7FD-1947-3831-4835-331060CD4BD4}"/>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7" name="Table 6">
            <a:extLst>
              <a:ext uri="{FF2B5EF4-FFF2-40B4-BE49-F238E27FC236}">
                <a16:creationId xmlns:a16="http://schemas.microsoft.com/office/drawing/2014/main" id="{465A7C82-2059-82A3-8C44-565A1C9CB625}"/>
              </a:ext>
            </a:extLst>
          </p:cNvPr>
          <p:cNvGraphicFramePr>
            <a:graphicFrameLocks noGrp="1"/>
          </p:cNvGraphicFramePr>
          <p:nvPr>
            <p:extLst>
              <p:ext uri="{D42A27DB-BD31-4B8C-83A1-F6EECF244321}">
                <p14:modId xmlns:p14="http://schemas.microsoft.com/office/powerpoint/2010/main" val="4191849376"/>
              </p:ext>
            </p:extLst>
          </p:nvPr>
        </p:nvGraphicFramePr>
        <p:xfrm>
          <a:off x="5877648" y="954536"/>
          <a:ext cx="5638077" cy="5769257"/>
        </p:xfrm>
        <a:graphic>
          <a:graphicData uri="http://schemas.openxmlformats.org/drawingml/2006/table">
            <a:tbl>
              <a:tblPr/>
              <a:tblGrid>
                <a:gridCol w="4673273">
                  <a:extLst>
                    <a:ext uri="{9D8B030D-6E8A-4147-A177-3AD203B41FA5}">
                      <a16:colId xmlns:a16="http://schemas.microsoft.com/office/drawing/2014/main" val="3283009494"/>
                    </a:ext>
                  </a:extLst>
                </a:gridCol>
                <a:gridCol w="467327">
                  <a:extLst>
                    <a:ext uri="{9D8B030D-6E8A-4147-A177-3AD203B41FA5}">
                      <a16:colId xmlns:a16="http://schemas.microsoft.com/office/drawing/2014/main" val="3970599456"/>
                    </a:ext>
                  </a:extLst>
                </a:gridCol>
                <a:gridCol w="497477">
                  <a:extLst>
                    <a:ext uri="{9D8B030D-6E8A-4147-A177-3AD203B41FA5}">
                      <a16:colId xmlns:a16="http://schemas.microsoft.com/office/drawing/2014/main" val="3451480619"/>
                    </a:ext>
                  </a:extLst>
                </a:gridCol>
              </a:tblGrid>
              <a:tr h="263905">
                <a:tc>
                  <a:txBody>
                    <a:bodyPr/>
                    <a:lstStyle/>
                    <a:p>
                      <a:pPr algn="l" rtl="0" fontAlgn="ctr"/>
                      <a:r>
                        <a:rPr lang="en-US" sz="700" b="1" i="0" u="none" strike="noStrike" dirty="0">
                          <a:solidFill>
                            <a:srgbClr val="197B96"/>
                          </a:solidFill>
                          <a:effectLst/>
                          <a:latin typeface="Verdana" panose="020B0604030504040204" pitchFamily="34" charset="0"/>
                        </a:rPr>
                        <a:t>J 01.00 - EVALUATION OF THE IRRBB: EVE/NII SOT AND MV CHANGES</a:t>
                      </a:r>
                    </a:p>
                  </a:txBody>
                  <a:tcPr marL="5224" marR="5224" marT="5224" marB="0" anchor="ctr">
                    <a:lnL w="12700" cap="flat" cmpd="sng" algn="ctr">
                      <a:solidFill>
                        <a:srgbClr val="197B96"/>
                      </a:solidFill>
                      <a:prstDash val="solid"/>
                      <a:round/>
                      <a:headEnd type="none" w="med" len="med"/>
                      <a:tailEnd type="none" w="med" len="med"/>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600" b="1" i="0" u="none" strike="noStrike">
                          <a:solidFill>
                            <a:srgbClr val="197B96"/>
                          </a:solidFill>
                          <a:effectLst/>
                          <a:latin typeface="Verdana" panose="020B0604030504040204" pitchFamily="34" charset="0"/>
                        </a:rPr>
                        <a:t> </a:t>
                      </a:r>
                    </a:p>
                  </a:txBody>
                  <a:tcPr marL="5224" marR="5224" marT="5224" marB="0" anchor="ctr">
                    <a:lnL>
                      <a:noFill/>
                    </a:lnL>
                    <a:lnR>
                      <a:noFill/>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1600" b="1" i="0" u="none" strike="noStrike">
                          <a:solidFill>
                            <a:srgbClr val="197B96"/>
                          </a:solidFill>
                          <a:effectLst/>
                          <a:latin typeface="Verdana" panose="020B0604030504040204" pitchFamily="34" charset="0"/>
                        </a:rPr>
                        <a:t> </a:t>
                      </a:r>
                    </a:p>
                  </a:txBody>
                  <a:tcPr marL="5224" marR="5224" marT="5224" marB="0" anchor="ctr">
                    <a:lnL>
                      <a:noFill/>
                    </a:lnL>
                    <a:lnR w="12700" cap="flat" cmpd="sng" algn="ctr">
                      <a:solidFill>
                        <a:srgbClr val="197B96"/>
                      </a:solidFill>
                      <a:prstDash val="solid"/>
                      <a:round/>
                      <a:headEnd type="none" w="med" len="med"/>
                      <a:tailEnd type="none" w="med" len="med"/>
                    </a:lnR>
                    <a:lnT w="12700" cap="flat" cmpd="sng" algn="ctr">
                      <a:solidFill>
                        <a:srgbClr val="197B96"/>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extLst>
                  <a:ext uri="{0D108BD9-81ED-4DB2-BD59-A6C34878D82A}">
                    <a16:rowId xmlns:a16="http://schemas.microsoft.com/office/drawing/2014/main" val="1600769087"/>
                  </a:ext>
                </a:extLst>
              </a:tr>
              <a:tr h="230435">
                <a:tc>
                  <a:txBody>
                    <a:bodyPr/>
                    <a:lstStyle/>
                    <a:p>
                      <a:pPr algn="l" fontAlgn="b"/>
                      <a:endParaRPr lang="fr-FR" sz="1600" b="0" i="0" u="none" strike="noStrike">
                        <a:solidFill>
                          <a:srgbClr val="000000"/>
                        </a:solidFill>
                        <a:effectLst/>
                        <a:latin typeface="Arial" panose="020B0604020202020204" pitchFamily="34" charset="0"/>
                      </a:endParaRPr>
                    </a:p>
                  </a:txBody>
                  <a:tcPr marL="5224" marR="5224" marT="5224" marB="0" anchor="b">
                    <a:lnL>
                      <a:noFill/>
                    </a:lnL>
                    <a:lnR>
                      <a:noFill/>
                    </a:lnR>
                    <a:lnT w="12700" cap="flat" cmpd="sng" algn="ctr">
                      <a:solidFill>
                        <a:srgbClr val="197B96"/>
                      </a:solidFill>
                      <a:prstDash val="solid"/>
                      <a:round/>
                      <a:headEnd type="none" w="med" len="med"/>
                      <a:tailEnd type="none" w="med" len="med"/>
                    </a:lnT>
                    <a:lnB>
                      <a:noFill/>
                    </a:lnB>
                    <a:noFill/>
                  </a:tcPr>
                </a:tc>
                <a:tc>
                  <a:txBody>
                    <a:bodyPr/>
                    <a:lstStyle/>
                    <a:p>
                      <a:pPr algn="l" fontAlgn="b"/>
                      <a:r>
                        <a:rPr lang="fr-FR" sz="1600" b="0" i="0" u="none" strike="noStrike">
                          <a:solidFill>
                            <a:srgbClr val="000000"/>
                          </a:solidFill>
                          <a:effectLst/>
                          <a:latin typeface="Arial" panose="020B0604020202020204" pitchFamily="34" charset="0"/>
                        </a:rPr>
                        <a:t> </a:t>
                      </a:r>
                    </a:p>
                  </a:txBody>
                  <a:tcPr marL="5224" marR="5224" marT="5224" marB="0" anchor="b">
                    <a:lnL>
                      <a:noFill/>
                    </a:lnL>
                    <a:lnR>
                      <a:noFill/>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1600" b="0" i="0" u="none" strike="noStrike">
                          <a:solidFill>
                            <a:srgbClr val="000000"/>
                          </a:solidFill>
                          <a:effectLst/>
                          <a:latin typeface="Arial" panose="020B0604020202020204" pitchFamily="34" charset="0"/>
                        </a:rPr>
                        <a:t> </a:t>
                      </a:r>
                    </a:p>
                  </a:txBody>
                  <a:tcPr marL="5224" marR="5224" marT="5224" marB="0" anchor="b">
                    <a:lnL>
                      <a:noFill/>
                    </a:lnL>
                    <a:lnR>
                      <a:noFill/>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46230052"/>
                  </a:ext>
                </a:extLst>
              </a:tr>
              <a:tr h="166676">
                <a:tc>
                  <a:txBody>
                    <a:bodyPr/>
                    <a:lstStyle/>
                    <a:p>
                      <a:pPr algn="r" rtl="0" fontAlgn="ctr"/>
                      <a:r>
                        <a:rPr lang="fr-FR" sz="700" b="1" i="0" u="none" strike="noStrike" dirty="0">
                          <a:solidFill>
                            <a:srgbClr val="197B96"/>
                          </a:solidFill>
                          <a:effectLst/>
                          <a:latin typeface="Verdana" panose="020B0604030504040204" pitchFamily="34" charset="0"/>
                        </a:rPr>
                        <a:t>Currency: </a:t>
                      </a:r>
                    </a:p>
                  </a:txBody>
                  <a:tcPr marL="5224" marR="5224" marT="5224"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5224" marR="5224" marT="5224"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b"/>
                      <a:r>
                        <a:rPr lang="fr-FR" sz="600" b="0" i="0" u="none" strike="noStrike">
                          <a:solidFill>
                            <a:srgbClr val="000000"/>
                          </a:solidFill>
                          <a:effectLst/>
                          <a:latin typeface="Verdana" panose="020B0604030504040204" pitchFamily="34" charset="0"/>
                        </a:rPr>
                        <a:t> </a:t>
                      </a:r>
                    </a:p>
                  </a:txBody>
                  <a:tcPr marL="5224" marR="5224" marT="5224"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5181394"/>
                  </a:ext>
                </a:extLst>
              </a:tr>
              <a:tr h="230435">
                <a:tc>
                  <a:txBody>
                    <a:bodyPr/>
                    <a:lstStyle/>
                    <a:p>
                      <a:pPr algn="l" fontAlgn="b"/>
                      <a:endParaRPr lang="fr-FR" sz="1600" b="0" i="0" u="none" strike="noStrike">
                        <a:solidFill>
                          <a:srgbClr val="000000"/>
                        </a:solidFill>
                        <a:effectLst/>
                        <a:latin typeface="Arial" panose="020B0604020202020204" pitchFamily="34" charset="0"/>
                      </a:endParaRPr>
                    </a:p>
                  </a:txBody>
                  <a:tcPr marL="5224" marR="5224" marT="5224" marB="0" anchor="b">
                    <a:lnL>
                      <a:noFill/>
                    </a:lnL>
                    <a:lnR>
                      <a:noFill/>
                    </a:lnR>
                    <a:lnT>
                      <a:noFill/>
                    </a:lnT>
                    <a:lnB w="12700" cap="flat" cmpd="sng" algn="ctr">
                      <a:solidFill>
                        <a:srgbClr val="197B96"/>
                      </a:solidFill>
                      <a:prstDash val="solid"/>
                      <a:round/>
                      <a:headEnd type="none" w="med" len="med"/>
                      <a:tailEnd type="none" w="med" len="med"/>
                    </a:lnB>
                    <a:noFill/>
                  </a:tcPr>
                </a:tc>
                <a:tc>
                  <a:txBody>
                    <a:bodyPr/>
                    <a:lstStyle/>
                    <a:p>
                      <a:pPr algn="l" fontAlgn="b"/>
                      <a:r>
                        <a:rPr lang="fr-FR" sz="1600" b="0" i="0" u="none" strike="noStrike">
                          <a:solidFill>
                            <a:srgbClr val="000000"/>
                          </a:solidFill>
                          <a:effectLst/>
                          <a:latin typeface="Arial" panose="020B0604020202020204" pitchFamily="34" charset="0"/>
                        </a:rPr>
                        <a:t> </a:t>
                      </a:r>
                    </a:p>
                  </a:txBody>
                  <a:tcPr marL="5224" marR="5224" marT="5224" marB="0" anchor="b">
                    <a:lnL>
                      <a:noFill/>
                    </a:lnL>
                    <a:lnR>
                      <a:noFill/>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noFill/>
                  </a:tcPr>
                </a:tc>
                <a:tc>
                  <a:txBody>
                    <a:bodyPr/>
                    <a:lstStyle/>
                    <a:p>
                      <a:pPr algn="l" fontAlgn="b"/>
                      <a:r>
                        <a:rPr lang="fr-FR" sz="1600" b="0" i="0" u="none" strike="noStrike">
                          <a:solidFill>
                            <a:srgbClr val="000000"/>
                          </a:solidFill>
                          <a:effectLst/>
                          <a:latin typeface="Arial" panose="020B0604020202020204" pitchFamily="34" charset="0"/>
                        </a:rPr>
                        <a:t> </a:t>
                      </a:r>
                    </a:p>
                  </a:txBody>
                  <a:tcPr marL="5224" marR="5224" marT="5224" marB="0" anchor="b">
                    <a:lnL>
                      <a:noFill/>
                    </a:lnL>
                    <a:lnR>
                      <a:noFill/>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noFill/>
                  </a:tcPr>
                </a:tc>
                <a:extLst>
                  <a:ext uri="{0D108BD9-81ED-4DB2-BD59-A6C34878D82A}">
                    <a16:rowId xmlns:a16="http://schemas.microsoft.com/office/drawing/2014/main" val="2507128934"/>
                  </a:ext>
                </a:extLst>
              </a:tr>
              <a:tr h="166676">
                <a:tc>
                  <a:txBody>
                    <a:bodyPr/>
                    <a:lstStyle/>
                    <a:p>
                      <a:pPr algn="l" rtl="0" fontAlgn="ctr"/>
                      <a:r>
                        <a:rPr lang="fr-FR" sz="700" b="1" i="0" u="none" strike="noStrike">
                          <a:solidFill>
                            <a:srgbClr val="197B96"/>
                          </a:solidFill>
                          <a:effectLst/>
                          <a:latin typeface="Verdana" panose="020B0604030504040204" pitchFamily="34" charset="0"/>
                        </a:rPr>
                        <a:t> </a:t>
                      </a:r>
                    </a:p>
                  </a:txBody>
                  <a:tcPr marL="5224" marR="5224" marT="5224" marB="0" anchor="ctr">
                    <a:lnL w="12700" cap="flat" cmpd="sng" algn="ctr">
                      <a:solidFill>
                        <a:srgbClr val="197B96"/>
                      </a:solidFill>
                      <a:prstDash val="solid"/>
                      <a:round/>
                      <a:headEnd type="none" w="med" len="med"/>
                      <a:tailEnd type="none" w="med" len="med"/>
                    </a:lnL>
                    <a:lnR>
                      <a:noFill/>
                    </a:lnR>
                    <a:lnT w="12700" cap="flat" cmpd="sng" algn="ctr">
                      <a:solidFill>
                        <a:srgbClr val="197B96"/>
                      </a:solidFill>
                      <a:prstDash val="solid"/>
                      <a:round/>
                      <a:headEnd type="none" w="med" len="med"/>
                      <a:tailEnd type="none" w="med" len="med"/>
                    </a:lnT>
                    <a:lnB>
                      <a:noFill/>
                    </a:lnB>
                    <a:solidFill>
                      <a:srgbClr val="E3EFF2"/>
                    </a:solidFill>
                  </a:tcPr>
                </a:tc>
                <a:tc>
                  <a:txBody>
                    <a:bodyPr/>
                    <a:lstStyle/>
                    <a:p>
                      <a:pPr algn="l" rtl="0" fontAlgn="ctr"/>
                      <a:r>
                        <a:rPr lang="fr-FR" sz="700" b="1" i="0" u="none" strike="noStrike">
                          <a:solidFill>
                            <a:srgbClr val="197B96"/>
                          </a:solidFill>
                          <a:effectLst/>
                          <a:latin typeface="Verdana" panose="020B0604030504040204" pitchFamily="34" charset="0"/>
                        </a:rPr>
                        <a:t> </a:t>
                      </a:r>
                    </a:p>
                  </a:txBody>
                  <a:tcPr marL="5224" marR="5224" marT="5224" marB="0" anchor="ctr">
                    <a:lnL>
                      <a:noFill/>
                    </a:lnL>
                    <a:lnR w="6350" cap="flat" cmpd="sng" algn="ctr">
                      <a:solidFill>
                        <a:srgbClr val="000000"/>
                      </a:solidFill>
                      <a:prstDash val="solid"/>
                      <a:round/>
                      <a:headEnd type="none" w="med" len="med"/>
                      <a:tailEnd type="none" w="med" len="med"/>
                    </a:lnR>
                    <a:lnT w="12700" cap="flat" cmpd="sng" algn="ctr">
                      <a:solidFill>
                        <a:srgbClr val="197B96"/>
                      </a:solidFill>
                      <a:prstDash val="solid"/>
                      <a:round/>
                      <a:headEnd type="none" w="med" len="med"/>
                      <a:tailEnd type="none" w="med" len="med"/>
                    </a:lnT>
                    <a:lnB>
                      <a:noFill/>
                    </a:lnB>
                    <a:solidFill>
                      <a:srgbClr val="E3EFF2"/>
                    </a:solidFill>
                  </a:tcPr>
                </a:tc>
                <a:tc>
                  <a:txBody>
                    <a:bodyPr/>
                    <a:lstStyle/>
                    <a:p>
                      <a:pPr algn="ctr" rtl="0" fontAlgn="ctr"/>
                      <a:r>
                        <a:rPr lang="fr-FR" sz="700" b="0" i="0" u="none" strike="noStrike">
                          <a:solidFill>
                            <a:srgbClr val="197B96"/>
                          </a:solidFill>
                          <a:effectLst/>
                          <a:latin typeface="Verdana" panose="020B0604030504040204" pitchFamily="34" charset="0"/>
                        </a:rPr>
                        <a:t>Amount</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12700" cap="flat" cmpd="sng" algn="ctr">
                      <a:solidFill>
                        <a:srgbClr val="197B9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2028837405"/>
                  </a:ext>
                </a:extLst>
              </a:tr>
              <a:tr h="166676">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12700" cap="flat" cmpd="sng" algn="ctr">
                      <a:solidFill>
                        <a:srgbClr val="197B96"/>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E3EFF2"/>
                    </a:solidFill>
                  </a:tcPr>
                </a:tc>
                <a:tc>
                  <a:txBody>
                    <a:bodyPr/>
                    <a:lstStyle/>
                    <a:p>
                      <a:pPr algn="ctr" rtl="0" fontAlgn="ctr"/>
                      <a:r>
                        <a:rPr lang="fr-FR" sz="700" b="0" i="0" u="none" strike="noStrike">
                          <a:solidFill>
                            <a:srgbClr val="197B96"/>
                          </a:solidFill>
                          <a:effectLst/>
                          <a:latin typeface="Verdana" panose="020B0604030504040204" pitchFamily="34" charset="0"/>
                        </a:rPr>
                        <a:t>10</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3776756625"/>
                  </a:ext>
                </a:extLst>
              </a:tr>
              <a:tr h="166676">
                <a:tc gridSpan="3">
                  <a:txBody>
                    <a:bodyPr/>
                    <a:lstStyle/>
                    <a:p>
                      <a:pPr algn="l" rtl="0" fontAlgn="ctr"/>
                      <a:r>
                        <a:rPr lang="fr-FR" sz="700" b="1" i="0" u="none" strike="noStrike">
                          <a:solidFill>
                            <a:srgbClr val="197B96"/>
                          </a:solidFill>
                          <a:effectLst/>
                          <a:latin typeface="Verdana" panose="020B0604030504040204" pitchFamily="34" charset="0"/>
                        </a:rPr>
                        <a:t>Economic value of equity</a:t>
                      </a:r>
                    </a:p>
                  </a:txBody>
                  <a:tcPr marL="5224" marR="5224" marT="5224" marB="0" anchor="ctr">
                    <a:lnL w="12700" cap="flat" cmpd="sng" algn="ctr">
                      <a:solidFill>
                        <a:srgbClr val="197B96"/>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4110327992"/>
                  </a:ext>
                </a:extLst>
              </a:tr>
              <a:tr h="166676">
                <a:tc>
                  <a:txBody>
                    <a:bodyPr/>
                    <a:lstStyle/>
                    <a:p>
                      <a:pPr algn="l" rtl="0" fontAlgn="ctr"/>
                      <a:r>
                        <a:rPr lang="fr-FR" sz="700" b="0" i="0" u="none" strike="noStrike">
                          <a:solidFill>
                            <a:srgbClr val="197B96"/>
                          </a:solidFill>
                          <a:effectLst/>
                          <a:latin typeface="Verdana" panose="020B0604030504040204" pitchFamily="34" charset="0"/>
                        </a:rPr>
                        <a:t>∆ EVE under worst scenario</a:t>
                      </a:r>
                    </a:p>
                  </a:txBody>
                  <a:tcPr marL="5224"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0010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2648048714"/>
                  </a:ext>
                </a:extLst>
              </a:tr>
              <a:tr h="166676">
                <a:tc>
                  <a:txBody>
                    <a:bodyPr/>
                    <a:lstStyle/>
                    <a:p>
                      <a:pPr algn="l" rtl="0" fontAlgn="ctr"/>
                      <a:r>
                        <a:rPr lang="en-US" sz="700" b="0" i="0" u="none" strike="noStrike">
                          <a:solidFill>
                            <a:srgbClr val="197B96"/>
                          </a:solidFill>
                          <a:effectLst/>
                          <a:latin typeface="Verdana" panose="020B0604030504040204" pitchFamily="34" charset="0"/>
                        </a:rPr>
                        <a:t>∆ EVE ratio under worst scenario</a:t>
                      </a:r>
                    </a:p>
                  </a:txBody>
                  <a:tcPr marL="5224"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0020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3740809327"/>
                  </a:ext>
                </a:extLst>
              </a:tr>
              <a:tr h="166676">
                <a:tc gridSpan="3">
                  <a:txBody>
                    <a:bodyPr/>
                    <a:lstStyle/>
                    <a:p>
                      <a:pPr algn="l" rtl="0" fontAlgn="ctr"/>
                      <a:r>
                        <a:rPr lang="en-US" sz="700" b="1" i="0" u="none" strike="noStrike">
                          <a:solidFill>
                            <a:srgbClr val="197B96"/>
                          </a:solidFill>
                          <a:effectLst/>
                          <a:latin typeface="Verdana" panose="020B0604030504040204" pitchFamily="34" charset="0"/>
                        </a:rPr>
                        <a:t>EVE under baseline and supervisory shock scenarios </a:t>
                      </a:r>
                    </a:p>
                  </a:txBody>
                  <a:tcPr marL="5224" marR="5224" marT="5224" marB="0" anchor="ctr">
                    <a:lnL w="12700" cap="flat" cmpd="sng" algn="ctr">
                      <a:solidFill>
                        <a:srgbClr val="197B96"/>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050936096"/>
                  </a:ext>
                </a:extLst>
              </a:tr>
              <a:tr h="166676">
                <a:tc>
                  <a:txBody>
                    <a:bodyPr/>
                    <a:lstStyle/>
                    <a:p>
                      <a:pPr algn="l" rtl="0" fontAlgn="ctr"/>
                      <a:r>
                        <a:rPr lang="en-US" sz="700" b="0" i="0" u="none" strike="noStrike">
                          <a:solidFill>
                            <a:srgbClr val="197B96"/>
                          </a:solidFill>
                          <a:effectLst/>
                          <a:latin typeface="Verdana" panose="020B0604030504040204" pitchFamily="34" charset="0"/>
                        </a:rPr>
                        <a:t>Level of EVE under baseline scenario</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0030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365026039"/>
                  </a:ext>
                </a:extLst>
              </a:tr>
              <a:tr h="166676">
                <a:tc>
                  <a:txBody>
                    <a:bodyPr/>
                    <a:lstStyle/>
                    <a:p>
                      <a:pPr algn="l" rtl="0" fontAlgn="ctr"/>
                      <a:r>
                        <a:rPr lang="en-US" sz="700" b="0" i="0" u="none" strike="noStrike">
                          <a:solidFill>
                            <a:srgbClr val="197B96"/>
                          </a:solidFill>
                          <a:effectLst/>
                          <a:latin typeface="Verdana" panose="020B0604030504040204" pitchFamily="34" charset="0"/>
                        </a:rPr>
                        <a:t>∆ EVE under parallel shock up</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0040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889658194"/>
                  </a:ext>
                </a:extLst>
              </a:tr>
              <a:tr h="166676">
                <a:tc>
                  <a:txBody>
                    <a:bodyPr/>
                    <a:lstStyle/>
                    <a:p>
                      <a:pPr algn="l" rtl="0" fontAlgn="ctr"/>
                      <a:r>
                        <a:rPr lang="en-US" sz="700" b="0" i="0" u="none" strike="noStrike">
                          <a:solidFill>
                            <a:srgbClr val="197B96"/>
                          </a:solidFill>
                          <a:effectLst/>
                          <a:latin typeface="Verdana" panose="020B0604030504040204" pitchFamily="34" charset="0"/>
                        </a:rPr>
                        <a:t>∆ EVE under parallel shock down</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0050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3025953296"/>
                  </a:ext>
                </a:extLst>
              </a:tr>
              <a:tr h="166676">
                <a:tc>
                  <a:txBody>
                    <a:bodyPr/>
                    <a:lstStyle/>
                    <a:p>
                      <a:pPr algn="l" rtl="0" fontAlgn="ctr"/>
                      <a:r>
                        <a:rPr lang="fr-FR" sz="700" b="0" i="0" u="none" strike="noStrike">
                          <a:solidFill>
                            <a:srgbClr val="197B96"/>
                          </a:solidFill>
                          <a:effectLst/>
                          <a:latin typeface="Verdana" panose="020B0604030504040204" pitchFamily="34" charset="0"/>
                        </a:rPr>
                        <a:t>∆ EVE under steepener shock</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0060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054328777"/>
                  </a:ext>
                </a:extLst>
              </a:tr>
              <a:tr h="166676">
                <a:tc>
                  <a:txBody>
                    <a:bodyPr/>
                    <a:lstStyle/>
                    <a:p>
                      <a:pPr algn="l" rtl="0" fontAlgn="ctr"/>
                      <a:r>
                        <a:rPr lang="fr-FR" sz="700" b="0" i="0" u="none" strike="noStrike">
                          <a:solidFill>
                            <a:srgbClr val="197B96"/>
                          </a:solidFill>
                          <a:effectLst/>
                          <a:latin typeface="Verdana" panose="020B0604030504040204" pitchFamily="34" charset="0"/>
                        </a:rPr>
                        <a:t>∆ EVE under flattener shock</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0070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4181633633"/>
                  </a:ext>
                </a:extLst>
              </a:tr>
              <a:tr h="166676">
                <a:tc>
                  <a:txBody>
                    <a:bodyPr/>
                    <a:lstStyle/>
                    <a:p>
                      <a:pPr algn="l" rtl="0" fontAlgn="ctr"/>
                      <a:r>
                        <a:rPr lang="en-US" sz="700" b="0" i="0" u="none" strike="noStrike">
                          <a:solidFill>
                            <a:srgbClr val="197B96"/>
                          </a:solidFill>
                          <a:effectLst/>
                          <a:latin typeface="Verdana" panose="020B0604030504040204" pitchFamily="34" charset="0"/>
                        </a:rPr>
                        <a:t>∆ EVE under short rates shock up</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0080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862254329"/>
                  </a:ext>
                </a:extLst>
              </a:tr>
              <a:tr h="166676">
                <a:tc>
                  <a:txBody>
                    <a:bodyPr/>
                    <a:lstStyle/>
                    <a:p>
                      <a:pPr algn="l" rtl="0" fontAlgn="ctr"/>
                      <a:r>
                        <a:rPr lang="en-US" sz="700" b="0" i="0" u="none" strike="noStrike">
                          <a:solidFill>
                            <a:srgbClr val="197B96"/>
                          </a:solidFill>
                          <a:effectLst/>
                          <a:latin typeface="Verdana" panose="020B0604030504040204" pitchFamily="34" charset="0"/>
                        </a:rPr>
                        <a:t>∆ EVE under short rates shock down</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0090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613815205"/>
                  </a:ext>
                </a:extLst>
              </a:tr>
              <a:tr h="166676">
                <a:tc gridSpan="3">
                  <a:txBody>
                    <a:bodyPr/>
                    <a:lstStyle/>
                    <a:p>
                      <a:pPr algn="l" rtl="0" fontAlgn="ctr"/>
                      <a:r>
                        <a:rPr lang="fr-FR" sz="700" b="1" i="0" u="none" strike="noStrike">
                          <a:solidFill>
                            <a:srgbClr val="197B96"/>
                          </a:solidFill>
                          <a:effectLst/>
                          <a:latin typeface="Verdana" panose="020B0604030504040204" pitchFamily="34" charset="0"/>
                        </a:rPr>
                        <a:t>Net interest income</a:t>
                      </a:r>
                    </a:p>
                  </a:txBody>
                  <a:tcPr marL="5224" marR="5224" marT="5224" marB="0" anchor="ctr">
                    <a:lnL w="12700" cap="flat" cmpd="sng" algn="ctr">
                      <a:solidFill>
                        <a:srgbClr val="197B96"/>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944645454"/>
                  </a:ext>
                </a:extLst>
              </a:tr>
              <a:tr h="166676">
                <a:tc>
                  <a:txBody>
                    <a:bodyPr/>
                    <a:lstStyle/>
                    <a:p>
                      <a:pPr algn="l" rtl="0" fontAlgn="ctr"/>
                      <a:r>
                        <a:rPr lang="fr-FR" sz="700" b="0" i="0" u="none" strike="noStrike">
                          <a:solidFill>
                            <a:srgbClr val="197B96"/>
                          </a:solidFill>
                          <a:effectLst/>
                          <a:latin typeface="Verdana" panose="020B0604030504040204" pitchFamily="34" charset="0"/>
                        </a:rPr>
                        <a:t>∆ NII under worst scenario</a:t>
                      </a:r>
                    </a:p>
                  </a:txBody>
                  <a:tcPr marL="5224"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0100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046075986"/>
                  </a:ext>
                </a:extLst>
              </a:tr>
              <a:tr h="166676">
                <a:tc>
                  <a:txBody>
                    <a:bodyPr/>
                    <a:lstStyle/>
                    <a:p>
                      <a:pPr algn="l" rtl="0" fontAlgn="ctr"/>
                      <a:r>
                        <a:rPr lang="fr-FR" sz="700" b="0" i="0" u="none" strike="noStrike">
                          <a:solidFill>
                            <a:srgbClr val="197B96"/>
                          </a:solidFill>
                          <a:effectLst/>
                          <a:latin typeface="Verdana" panose="020B0604030504040204" pitchFamily="34" charset="0"/>
                        </a:rPr>
                        <a:t>∆ NII ratio under worst scenario</a:t>
                      </a:r>
                    </a:p>
                  </a:txBody>
                  <a:tcPr marL="5224"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0110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70423857"/>
                  </a:ext>
                </a:extLst>
              </a:tr>
              <a:tr h="166676">
                <a:tc gridSpan="3">
                  <a:txBody>
                    <a:bodyPr/>
                    <a:lstStyle/>
                    <a:p>
                      <a:pPr algn="l" rtl="0" fontAlgn="ctr"/>
                      <a:r>
                        <a:rPr lang="en-US" sz="700" b="1" i="0" u="none" strike="noStrike">
                          <a:solidFill>
                            <a:srgbClr val="197B96"/>
                          </a:solidFill>
                          <a:effectLst/>
                          <a:latin typeface="Verdana" panose="020B0604030504040204" pitchFamily="34" charset="0"/>
                        </a:rPr>
                        <a:t>NII under baseline and supervisory shock scenarios</a:t>
                      </a:r>
                    </a:p>
                  </a:txBody>
                  <a:tcPr marL="5224" marR="5224" marT="5224" marB="0" anchor="ctr">
                    <a:lnL w="12700" cap="flat" cmpd="sng" algn="ctr">
                      <a:solidFill>
                        <a:srgbClr val="197B96"/>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203650323"/>
                  </a:ext>
                </a:extLst>
              </a:tr>
              <a:tr h="166676">
                <a:tc>
                  <a:txBody>
                    <a:bodyPr/>
                    <a:lstStyle/>
                    <a:p>
                      <a:pPr algn="l" rtl="0" fontAlgn="ctr"/>
                      <a:r>
                        <a:rPr lang="en-US" sz="700" b="0" i="0" u="none" strike="noStrike">
                          <a:solidFill>
                            <a:srgbClr val="197B96"/>
                          </a:solidFill>
                          <a:effectLst/>
                          <a:latin typeface="Verdana" panose="020B0604030504040204" pitchFamily="34" charset="0"/>
                        </a:rPr>
                        <a:t>Level of NII under baseline scenario</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0120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411171814"/>
                  </a:ext>
                </a:extLst>
              </a:tr>
              <a:tr h="166676">
                <a:tc>
                  <a:txBody>
                    <a:bodyPr/>
                    <a:lstStyle/>
                    <a:p>
                      <a:pPr algn="l" rtl="0" fontAlgn="ctr"/>
                      <a:r>
                        <a:rPr lang="en-US" sz="700" b="0" i="0" u="none" strike="noStrike">
                          <a:solidFill>
                            <a:srgbClr val="197B96"/>
                          </a:solidFill>
                          <a:effectLst/>
                          <a:latin typeface="Verdana" panose="020B0604030504040204" pitchFamily="34" charset="0"/>
                        </a:rPr>
                        <a:t>∆ NII under parallel shock up</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0130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3188991786"/>
                  </a:ext>
                </a:extLst>
              </a:tr>
              <a:tr h="166676">
                <a:tc>
                  <a:txBody>
                    <a:bodyPr/>
                    <a:lstStyle/>
                    <a:p>
                      <a:pPr algn="l" rtl="0" fontAlgn="ctr"/>
                      <a:r>
                        <a:rPr lang="en-US" sz="700" b="0" i="0" u="none" strike="noStrike">
                          <a:solidFill>
                            <a:srgbClr val="197B96"/>
                          </a:solidFill>
                          <a:effectLst/>
                          <a:latin typeface="Verdana" panose="020B0604030504040204" pitchFamily="34" charset="0"/>
                        </a:rPr>
                        <a:t>∆ NII under parallel shock down</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0140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2357659466"/>
                  </a:ext>
                </a:extLst>
              </a:tr>
              <a:tr h="166676">
                <a:tc gridSpan="3">
                  <a:txBody>
                    <a:bodyPr/>
                    <a:lstStyle/>
                    <a:p>
                      <a:pPr algn="l" rtl="0" fontAlgn="ctr"/>
                      <a:r>
                        <a:rPr lang="fr-FR" sz="700" b="1" i="0" u="none" strike="noStrike">
                          <a:solidFill>
                            <a:srgbClr val="197B96"/>
                          </a:solidFill>
                          <a:effectLst/>
                          <a:latin typeface="Verdana" panose="020B0604030504040204" pitchFamily="34" charset="0"/>
                        </a:rPr>
                        <a:t>IMS Market value changes</a:t>
                      </a:r>
                    </a:p>
                  </a:txBody>
                  <a:tcPr marL="5224" marR="5224" marT="5224" marB="0" anchor="ctr">
                    <a:lnL w="12700" cap="flat" cmpd="sng" algn="ctr">
                      <a:solidFill>
                        <a:srgbClr val="197B96"/>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233968781"/>
                  </a:ext>
                </a:extLst>
              </a:tr>
              <a:tr h="166676">
                <a:tc gridSpan="3">
                  <a:txBody>
                    <a:bodyPr/>
                    <a:lstStyle/>
                    <a:p>
                      <a:pPr algn="l" rtl="0" fontAlgn="ctr"/>
                      <a:r>
                        <a:rPr lang="en-US" sz="700" b="1" i="0" u="none" strike="noStrike">
                          <a:solidFill>
                            <a:srgbClr val="197B96"/>
                          </a:solidFill>
                          <a:effectLst/>
                          <a:latin typeface="Verdana" panose="020B0604030504040204" pitchFamily="34" charset="0"/>
                        </a:rPr>
                        <a:t>MV under baseline and supervisory shock scenarios</a:t>
                      </a:r>
                    </a:p>
                  </a:txBody>
                  <a:tcPr marL="5224" marR="5224" marT="5224" marB="0" anchor="ctr">
                    <a:lnL w="12700" cap="flat" cmpd="sng" algn="ctr">
                      <a:solidFill>
                        <a:srgbClr val="197B96"/>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685137397"/>
                  </a:ext>
                </a:extLst>
              </a:tr>
              <a:tr h="166676">
                <a:tc>
                  <a:txBody>
                    <a:bodyPr/>
                    <a:lstStyle/>
                    <a:p>
                      <a:pPr algn="l" rtl="0" fontAlgn="ctr"/>
                      <a:r>
                        <a:rPr lang="en-US" sz="700" b="0" i="0" u="none" strike="noStrike" dirty="0">
                          <a:solidFill>
                            <a:srgbClr val="197B96"/>
                          </a:solidFill>
                          <a:effectLst/>
                          <a:latin typeface="Verdana" panose="020B0604030504040204" pitchFamily="34" charset="0"/>
                        </a:rPr>
                        <a:t>Level of market value under baseline scenario</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0150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466631157"/>
                  </a:ext>
                </a:extLst>
              </a:tr>
              <a:tr h="166676">
                <a:tc>
                  <a:txBody>
                    <a:bodyPr/>
                    <a:lstStyle/>
                    <a:p>
                      <a:pPr algn="l" rtl="0" fontAlgn="ctr"/>
                      <a:r>
                        <a:rPr lang="en-US" sz="700" b="0" i="0" u="none" strike="noStrike">
                          <a:solidFill>
                            <a:srgbClr val="197B96"/>
                          </a:solidFill>
                          <a:effectLst/>
                          <a:latin typeface="Verdana" panose="020B0604030504040204" pitchFamily="34" charset="0"/>
                        </a:rPr>
                        <a:t>∆ MV under parallel shock up</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0160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2768639084"/>
                  </a:ext>
                </a:extLst>
              </a:tr>
              <a:tr h="166676">
                <a:tc>
                  <a:txBody>
                    <a:bodyPr/>
                    <a:lstStyle/>
                    <a:p>
                      <a:pPr algn="l" rtl="0" fontAlgn="ctr"/>
                      <a:r>
                        <a:rPr lang="en-US" sz="700" b="0" i="0" u="none" strike="noStrike">
                          <a:solidFill>
                            <a:srgbClr val="197B96"/>
                          </a:solidFill>
                          <a:effectLst/>
                          <a:latin typeface="Verdana" panose="020B0604030504040204" pitchFamily="34" charset="0"/>
                        </a:rPr>
                        <a:t>∆ MV under parallel shock down</a:t>
                      </a:r>
                    </a:p>
                  </a:txBody>
                  <a:tcPr marL="94027"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0170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extLst>
                  <a:ext uri="{0D108BD9-81ED-4DB2-BD59-A6C34878D82A}">
                    <a16:rowId xmlns:a16="http://schemas.microsoft.com/office/drawing/2014/main" val="2040603010"/>
                  </a:ext>
                </a:extLst>
              </a:tr>
              <a:tr h="166676">
                <a:tc gridSpan="3">
                  <a:txBody>
                    <a:bodyPr/>
                    <a:lstStyle/>
                    <a:p>
                      <a:pPr algn="l" rtl="0" fontAlgn="ctr"/>
                      <a:r>
                        <a:rPr lang="en-US" sz="700" b="1" i="0" u="none" strike="noStrike">
                          <a:solidFill>
                            <a:srgbClr val="197B96"/>
                          </a:solidFill>
                          <a:effectLst/>
                          <a:latin typeface="Verdana" panose="020B0604030504040204" pitchFamily="34" charset="0"/>
                        </a:rPr>
                        <a:t>Other currencies: Size of interest rate shocks</a:t>
                      </a:r>
                    </a:p>
                  </a:txBody>
                  <a:tcPr marL="5224" marR="5224" marT="5224" marB="0" anchor="ctr">
                    <a:lnL w="12700" cap="flat" cmpd="sng" algn="ctr">
                      <a:solidFill>
                        <a:srgbClr val="197B96"/>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783827881"/>
                  </a:ext>
                </a:extLst>
              </a:tr>
              <a:tr h="166676">
                <a:tc>
                  <a:txBody>
                    <a:bodyPr/>
                    <a:lstStyle/>
                    <a:p>
                      <a:pPr algn="l" rtl="0" fontAlgn="ctr"/>
                      <a:r>
                        <a:rPr lang="fr-FR" sz="700" b="0" i="0" u="none" strike="noStrike">
                          <a:solidFill>
                            <a:srgbClr val="197B96"/>
                          </a:solidFill>
                          <a:effectLst/>
                          <a:latin typeface="Verdana" panose="020B0604030504040204" pitchFamily="34" charset="0"/>
                        </a:rPr>
                        <a:t>Parallel shock</a:t>
                      </a:r>
                    </a:p>
                  </a:txBody>
                  <a:tcPr marL="5224"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0180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637488196"/>
                  </a:ext>
                </a:extLst>
              </a:tr>
              <a:tr h="166676">
                <a:tc>
                  <a:txBody>
                    <a:bodyPr/>
                    <a:lstStyle/>
                    <a:p>
                      <a:pPr algn="l" rtl="0" fontAlgn="ctr"/>
                      <a:r>
                        <a:rPr lang="fr-FR" sz="700" b="0" i="0" u="none" strike="noStrike">
                          <a:solidFill>
                            <a:srgbClr val="197B96"/>
                          </a:solidFill>
                          <a:effectLst/>
                          <a:latin typeface="Verdana" panose="020B0604030504040204" pitchFamily="34" charset="0"/>
                        </a:rPr>
                        <a:t>Short rate shock</a:t>
                      </a:r>
                    </a:p>
                  </a:txBody>
                  <a:tcPr marL="5224"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0190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E3EFF2"/>
                    </a:solidFill>
                  </a:tcPr>
                </a:tc>
                <a:extLst>
                  <a:ext uri="{0D108BD9-81ED-4DB2-BD59-A6C34878D82A}">
                    <a16:rowId xmlns:a16="http://schemas.microsoft.com/office/drawing/2014/main" val="1879229016"/>
                  </a:ext>
                </a:extLst>
              </a:tr>
              <a:tr h="173620">
                <a:tc>
                  <a:txBody>
                    <a:bodyPr/>
                    <a:lstStyle/>
                    <a:p>
                      <a:pPr algn="l" rtl="0" fontAlgn="ctr"/>
                      <a:r>
                        <a:rPr lang="fr-FR" sz="700" b="0" i="0" u="none" strike="noStrike">
                          <a:solidFill>
                            <a:srgbClr val="197B96"/>
                          </a:solidFill>
                          <a:effectLst/>
                          <a:latin typeface="Verdana" panose="020B0604030504040204" pitchFamily="34" charset="0"/>
                        </a:rPr>
                        <a:t>Long rate shock</a:t>
                      </a:r>
                    </a:p>
                  </a:txBody>
                  <a:tcPr marL="5224" marR="5224" marT="5224" marB="0" anchor="ctr">
                    <a:lnL w="12700" cap="flat" cmpd="sng" algn="ctr">
                      <a:solidFill>
                        <a:srgbClr val="197B9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700" b="0" i="0" u="none" strike="noStrike">
                          <a:solidFill>
                            <a:srgbClr val="197B96"/>
                          </a:solidFill>
                          <a:effectLst/>
                          <a:latin typeface="Verdana" panose="020B0604030504040204" pitchFamily="34" charset="0"/>
                        </a:rPr>
                        <a:t>0200</a:t>
                      </a:r>
                    </a:p>
                  </a:txBody>
                  <a:tcPr marL="5224" marR="5224" marT="52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tc>
                  <a:txBody>
                    <a:bodyPr/>
                    <a:lstStyle/>
                    <a:p>
                      <a:pPr algn="l" rtl="0" fontAlgn="ctr"/>
                      <a:r>
                        <a:rPr lang="fr-FR" sz="700" b="0" i="0" u="none" strike="noStrike" dirty="0">
                          <a:solidFill>
                            <a:srgbClr val="197B96"/>
                          </a:solidFill>
                          <a:effectLst/>
                          <a:latin typeface="Verdana" panose="020B0604030504040204" pitchFamily="34" charset="0"/>
                        </a:rPr>
                        <a:t> </a:t>
                      </a:r>
                    </a:p>
                  </a:txBody>
                  <a:tcPr marL="5224" marR="5224" marT="5224" marB="0" anchor="ctr">
                    <a:lnL w="6350" cap="flat" cmpd="sng" algn="ctr">
                      <a:solidFill>
                        <a:srgbClr val="000000"/>
                      </a:solidFill>
                      <a:prstDash val="solid"/>
                      <a:round/>
                      <a:headEnd type="none" w="med" len="med"/>
                      <a:tailEnd type="none" w="med" len="med"/>
                    </a:lnL>
                    <a:lnR w="12700" cap="flat" cmpd="sng" algn="ctr">
                      <a:solidFill>
                        <a:srgbClr val="197B96"/>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197B96"/>
                      </a:solidFill>
                      <a:prstDash val="solid"/>
                      <a:round/>
                      <a:headEnd type="none" w="med" len="med"/>
                      <a:tailEnd type="none" w="med" len="med"/>
                    </a:lnB>
                    <a:solidFill>
                      <a:srgbClr val="E3EFF2"/>
                    </a:solidFill>
                  </a:tcPr>
                </a:tc>
                <a:extLst>
                  <a:ext uri="{0D108BD9-81ED-4DB2-BD59-A6C34878D82A}">
                    <a16:rowId xmlns:a16="http://schemas.microsoft.com/office/drawing/2014/main" val="2701962430"/>
                  </a:ext>
                </a:extLst>
              </a:tr>
            </a:tbl>
          </a:graphicData>
        </a:graphic>
      </p:graphicFrame>
      <p:sp>
        <p:nvSpPr>
          <p:cNvPr id="11" name="TextBox 10">
            <a:extLst>
              <a:ext uri="{FF2B5EF4-FFF2-40B4-BE49-F238E27FC236}">
                <a16:creationId xmlns:a16="http://schemas.microsoft.com/office/drawing/2014/main" id="{79D16A78-7224-6D41-4F54-A78CF9B7BE94}"/>
              </a:ext>
            </a:extLst>
          </p:cNvPr>
          <p:cNvSpPr txBox="1"/>
          <p:nvPr/>
        </p:nvSpPr>
        <p:spPr>
          <a:xfrm>
            <a:off x="712912" y="1701541"/>
            <a:ext cx="4572000" cy="600164"/>
          </a:xfrm>
          <a:prstGeom prst="rect">
            <a:avLst/>
          </a:prstGeom>
          <a:noFill/>
        </p:spPr>
        <p:txBody>
          <a:bodyPr wrap="square" rtlCol="0">
            <a:spAutoFit/>
          </a:bodyPr>
          <a:lstStyle/>
          <a:p>
            <a:r>
              <a:rPr lang="fr-FR" sz="1100" dirty="0">
                <a:solidFill>
                  <a:srgbClr val="165C71"/>
                </a:solidFill>
                <a:latin typeface="Calibri (body)"/>
              </a:rPr>
              <a:t>Le Template J01 permet de formaliser sur un seul onglet l’ensemble des résultats obtenus pour les différentes métriques calculées.</a:t>
            </a:r>
          </a:p>
          <a:p>
            <a:r>
              <a:rPr lang="fr-FR" sz="1100" dirty="0">
                <a:solidFill>
                  <a:srgbClr val="165C71"/>
                </a:solidFill>
                <a:latin typeface="Calibri (body)"/>
              </a:rPr>
              <a:t>Permettant de mettre en avant :</a:t>
            </a:r>
          </a:p>
        </p:txBody>
      </p:sp>
      <p:grpSp>
        <p:nvGrpSpPr>
          <p:cNvPr id="42" name="Group 41">
            <a:extLst>
              <a:ext uri="{FF2B5EF4-FFF2-40B4-BE49-F238E27FC236}">
                <a16:creationId xmlns:a16="http://schemas.microsoft.com/office/drawing/2014/main" id="{1BEE2E4D-2B90-576E-D89B-26AC1A733C1C}"/>
              </a:ext>
            </a:extLst>
          </p:cNvPr>
          <p:cNvGrpSpPr/>
          <p:nvPr/>
        </p:nvGrpSpPr>
        <p:grpSpPr>
          <a:xfrm>
            <a:off x="825228" y="2513895"/>
            <a:ext cx="3626688" cy="2871667"/>
            <a:chOff x="388542" y="1677070"/>
            <a:chExt cx="3626688" cy="2871667"/>
          </a:xfrm>
        </p:grpSpPr>
        <p:cxnSp>
          <p:nvCxnSpPr>
            <p:cNvPr id="16" name="Straight Connector 15">
              <a:extLst>
                <a:ext uri="{FF2B5EF4-FFF2-40B4-BE49-F238E27FC236}">
                  <a16:creationId xmlns:a16="http://schemas.microsoft.com/office/drawing/2014/main" id="{D83896CF-766E-25E7-B56C-F5C1B98E1EB6}"/>
                </a:ext>
              </a:extLst>
            </p:cNvPr>
            <p:cNvCxnSpPr>
              <a:cxnSpLocks/>
            </p:cNvCxnSpPr>
            <p:nvPr/>
          </p:nvCxnSpPr>
          <p:spPr>
            <a:xfrm>
              <a:off x="469822" y="1943313"/>
              <a:ext cx="0" cy="2237769"/>
            </a:xfrm>
            <a:prstGeom prst="line">
              <a:avLst/>
            </a:prstGeom>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358749DE-34AE-AD46-6E52-1E8A48D005B6}"/>
                </a:ext>
              </a:extLst>
            </p:cNvPr>
            <p:cNvGrpSpPr/>
            <p:nvPr/>
          </p:nvGrpSpPr>
          <p:grpSpPr>
            <a:xfrm>
              <a:off x="388542" y="1677070"/>
              <a:ext cx="3626688" cy="430887"/>
              <a:chOff x="388542" y="1677070"/>
              <a:chExt cx="3626688" cy="430887"/>
            </a:xfrm>
          </p:grpSpPr>
          <p:grpSp>
            <p:nvGrpSpPr>
              <p:cNvPr id="14" name="Group 13">
                <a:extLst>
                  <a:ext uri="{FF2B5EF4-FFF2-40B4-BE49-F238E27FC236}">
                    <a16:creationId xmlns:a16="http://schemas.microsoft.com/office/drawing/2014/main" id="{51E54CE0-96EB-AF89-7F93-F438E5ADCCE2}"/>
                  </a:ext>
                </a:extLst>
              </p:cNvPr>
              <p:cNvGrpSpPr/>
              <p:nvPr/>
            </p:nvGrpSpPr>
            <p:grpSpPr>
              <a:xfrm>
                <a:off x="388542" y="1803613"/>
                <a:ext cx="177801" cy="177801"/>
                <a:chOff x="1048473" y="1800225"/>
                <a:chExt cx="177801" cy="177801"/>
              </a:xfrm>
            </p:grpSpPr>
            <p:sp>
              <p:nvSpPr>
                <p:cNvPr id="13" name="Oval 12">
                  <a:extLst>
                    <a:ext uri="{FF2B5EF4-FFF2-40B4-BE49-F238E27FC236}">
                      <a16:creationId xmlns:a16="http://schemas.microsoft.com/office/drawing/2014/main" id="{24D89435-D9BB-087C-38B6-87F9B3A7E262}"/>
                    </a:ext>
                  </a:extLst>
                </p:cNvPr>
                <p:cNvSpPr/>
                <p:nvPr/>
              </p:nvSpPr>
              <p:spPr>
                <a:xfrm>
                  <a:off x="1048473" y="1800225"/>
                  <a:ext cx="177801" cy="177801"/>
                </a:xfrm>
                <a:prstGeom prst="ellipse">
                  <a:avLst/>
                </a:prstGeom>
                <a:solidFill>
                  <a:srgbClr val="D4F0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Oval 11">
                  <a:extLst>
                    <a:ext uri="{FF2B5EF4-FFF2-40B4-BE49-F238E27FC236}">
                      <a16:creationId xmlns:a16="http://schemas.microsoft.com/office/drawing/2014/main" id="{4762D0F6-3962-78B5-ED31-7E22232318FD}"/>
                    </a:ext>
                  </a:extLst>
                </p:cNvPr>
                <p:cNvSpPr/>
                <p:nvPr/>
              </p:nvSpPr>
              <p:spPr>
                <a:xfrm>
                  <a:off x="1086573" y="1838325"/>
                  <a:ext cx="101600" cy="1016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1" name="TextBox 20">
                <a:extLst>
                  <a:ext uri="{FF2B5EF4-FFF2-40B4-BE49-F238E27FC236}">
                    <a16:creationId xmlns:a16="http://schemas.microsoft.com/office/drawing/2014/main" id="{59EC7B5C-D455-FF69-D899-E618B9B7B20F}"/>
                  </a:ext>
                </a:extLst>
              </p:cNvPr>
              <p:cNvSpPr txBox="1"/>
              <p:nvPr/>
            </p:nvSpPr>
            <p:spPr>
              <a:xfrm>
                <a:off x="560002" y="1677070"/>
                <a:ext cx="3455228" cy="430887"/>
              </a:xfrm>
              <a:prstGeom prst="rect">
                <a:avLst/>
              </a:prstGeom>
              <a:noFill/>
            </p:spPr>
            <p:txBody>
              <a:bodyPr wrap="square" rtlCol="0">
                <a:spAutoFit/>
              </a:bodyPr>
              <a:lstStyle/>
              <a:p>
                <a:r>
                  <a:rPr lang="fr-FR" sz="1100" dirty="0">
                    <a:solidFill>
                      <a:srgbClr val="165C71"/>
                    </a:solidFill>
                    <a:latin typeface="+mj-lt"/>
                  </a:rPr>
                  <a:t>La sensibilité en valeur pour chaque métrique en fonction de chaque scénario réglementaire</a:t>
                </a:r>
              </a:p>
            </p:txBody>
          </p:sp>
        </p:grpSp>
        <p:grpSp>
          <p:nvGrpSpPr>
            <p:cNvPr id="40" name="Group 39">
              <a:extLst>
                <a:ext uri="{FF2B5EF4-FFF2-40B4-BE49-F238E27FC236}">
                  <a16:creationId xmlns:a16="http://schemas.microsoft.com/office/drawing/2014/main" id="{6DCC1DA7-27ED-C35E-10D1-6414EC74643B}"/>
                </a:ext>
              </a:extLst>
            </p:cNvPr>
            <p:cNvGrpSpPr/>
            <p:nvPr/>
          </p:nvGrpSpPr>
          <p:grpSpPr>
            <a:xfrm>
              <a:off x="388542" y="2490663"/>
              <a:ext cx="3626688" cy="430887"/>
              <a:chOff x="388542" y="2281990"/>
              <a:chExt cx="3626688" cy="430887"/>
            </a:xfrm>
          </p:grpSpPr>
          <p:grpSp>
            <p:nvGrpSpPr>
              <p:cNvPr id="22" name="Group 21">
                <a:extLst>
                  <a:ext uri="{FF2B5EF4-FFF2-40B4-BE49-F238E27FC236}">
                    <a16:creationId xmlns:a16="http://schemas.microsoft.com/office/drawing/2014/main" id="{102288E0-DA62-5B56-5FC1-801ACD86F763}"/>
                  </a:ext>
                </a:extLst>
              </p:cNvPr>
              <p:cNvGrpSpPr/>
              <p:nvPr/>
            </p:nvGrpSpPr>
            <p:grpSpPr>
              <a:xfrm>
                <a:off x="388542" y="2408533"/>
                <a:ext cx="177801" cy="177801"/>
                <a:chOff x="1048473" y="1800225"/>
                <a:chExt cx="177801" cy="177801"/>
              </a:xfrm>
            </p:grpSpPr>
            <p:sp>
              <p:nvSpPr>
                <p:cNvPr id="23" name="Oval 22">
                  <a:extLst>
                    <a:ext uri="{FF2B5EF4-FFF2-40B4-BE49-F238E27FC236}">
                      <a16:creationId xmlns:a16="http://schemas.microsoft.com/office/drawing/2014/main" id="{F96FB26B-4803-10C1-A808-31C7B659BC11}"/>
                    </a:ext>
                  </a:extLst>
                </p:cNvPr>
                <p:cNvSpPr/>
                <p:nvPr/>
              </p:nvSpPr>
              <p:spPr>
                <a:xfrm>
                  <a:off x="1048473" y="1800225"/>
                  <a:ext cx="177801" cy="177801"/>
                </a:xfrm>
                <a:prstGeom prst="ellipse">
                  <a:avLst/>
                </a:prstGeom>
                <a:solidFill>
                  <a:srgbClr val="D4F0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Oval 23">
                  <a:extLst>
                    <a:ext uri="{FF2B5EF4-FFF2-40B4-BE49-F238E27FC236}">
                      <a16:creationId xmlns:a16="http://schemas.microsoft.com/office/drawing/2014/main" id="{FA21AB7F-8768-B766-69BF-FC5B2DDA5C5E}"/>
                    </a:ext>
                  </a:extLst>
                </p:cNvPr>
                <p:cNvSpPr/>
                <p:nvPr/>
              </p:nvSpPr>
              <p:spPr>
                <a:xfrm>
                  <a:off x="1086573" y="1838325"/>
                  <a:ext cx="101600" cy="1016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7" name="TextBox 26">
                <a:extLst>
                  <a:ext uri="{FF2B5EF4-FFF2-40B4-BE49-F238E27FC236}">
                    <a16:creationId xmlns:a16="http://schemas.microsoft.com/office/drawing/2014/main" id="{02F60EE0-7CA5-A8C3-622F-4B17DBE74EB6}"/>
                  </a:ext>
                </a:extLst>
              </p:cNvPr>
              <p:cNvSpPr txBox="1"/>
              <p:nvPr/>
            </p:nvSpPr>
            <p:spPr>
              <a:xfrm>
                <a:off x="560002" y="2281990"/>
                <a:ext cx="3455228" cy="430887"/>
              </a:xfrm>
              <a:prstGeom prst="rect">
                <a:avLst/>
              </a:prstGeom>
              <a:noFill/>
            </p:spPr>
            <p:txBody>
              <a:bodyPr wrap="square" rtlCol="0">
                <a:spAutoFit/>
              </a:bodyPr>
              <a:lstStyle/>
              <a:p>
                <a:r>
                  <a:rPr lang="fr-FR" sz="1100" dirty="0">
                    <a:solidFill>
                      <a:srgbClr val="165C71"/>
                    </a:solidFill>
                    <a:latin typeface="+mj-lt"/>
                  </a:rPr>
                  <a:t>Identifier le scénario le plus impactant pour l’établissement</a:t>
                </a:r>
              </a:p>
            </p:txBody>
          </p:sp>
        </p:grpSp>
        <p:grpSp>
          <p:nvGrpSpPr>
            <p:cNvPr id="39" name="Group 38">
              <a:extLst>
                <a:ext uri="{FF2B5EF4-FFF2-40B4-BE49-F238E27FC236}">
                  <a16:creationId xmlns:a16="http://schemas.microsoft.com/office/drawing/2014/main" id="{B9551F3A-41EC-1DDC-D747-BBA370F3A98B}"/>
                </a:ext>
              </a:extLst>
            </p:cNvPr>
            <p:cNvGrpSpPr/>
            <p:nvPr/>
          </p:nvGrpSpPr>
          <p:grpSpPr>
            <a:xfrm>
              <a:off x="388542" y="3304256"/>
              <a:ext cx="3626688" cy="261610"/>
              <a:chOff x="388542" y="3065764"/>
              <a:chExt cx="3626688" cy="261610"/>
            </a:xfrm>
          </p:grpSpPr>
          <p:grpSp>
            <p:nvGrpSpPr>
              <p:cNvPr id="28" name="Group 27">
                <a:extLst>
                  <a:ext uri="{FF2B5EF4-FFF2-40B4-BE49-F238E27FC236}">
                    <a16:creationId xmlns:a16="http://schemas.microsoft.com/office/drawing/2014/main" id="{C49FF8F0-5DC3-EA3E-6664-0C1786EB8DDB}"/>
                  </a:ext>
                </a:extLst>
              </p:cNvPr>
              <p:cNvGrpSpPr/>
              <p:nvPr/>
            </p:nvGrpSpPr>
            <p:grpSpPr>
              <a:xfrm>
                <a:off x="388542" y="3107669"/>
                <a:ext cx="177801" cy="177801"/>
                <a:chOff x="1048473" y="1800225"/>
                <a:chExt cx="177801" cy="177801"/>
              </a:xfrm>
            </p:grpSpPr>
            <p:sp>
              <p:nvSpPr>
                <p:cNvPr id="29" name="Oval 28">
                  <a:extLst>
                    <a:ext uri="{FF2B5EF4-FFF2-40B4-BE49-F238E27FC236}">
                      <a16:creationId xmlns:a16="http://schemas.microsoft.com/office/drawing/2014/main" id="{EAD62A87-E938-9197-1786-8DA9C90CCEBB}"/>
                    </a:ext>
                  </a:extLst>
                </p:cNvPr>
                <p:cNvSpPr/>
                <p:nvPr/>
              </p:nvSpPr>
              <p:spPr>
                <a:xfrm>
                  <a:off x="1048473" y="1800225"/>
                  <a:ext cx="177801" cy="177801"/>
                </a:xfrm>
                <a:prstGeom prst="ellipse">
                  <a:avLst/>
                </a:prstGeom>
                <a:solidFill>
                  <a:srgbClr val="D4F0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Oval 29">
                  <a:extLst>
                    <a:ext uri="{FF2B5EF4-FFF2-40B4-BE49-F238E27FC236}">
                      <a16:creationId xmlns:a16="http://schemas.microsoft.com/office/drawing/2014/main" id="{DCB2628F-D339-038A-2E2D-D79328F4535D}"/>
                    </a:ext>
                  </a:extLst>
                </p:cNvPr>
                <p:cNvSpPr/>
                <p:nvPr/>
              </p:nvSpPr>
              <p:spPr>
                <a:xfrm>
                  <a:off x="1086573" y="1838325"/>
                  <a:ext cx="101600" cy="1016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1" name="TextBox 30">
                <a:extLst>
                  <a:ext uri="{FF2B5EF4-FFF2-40B4-BE49-F238E27FC236}">
                    <a16:creationId xmlns:a16="http://schemas.microsoft.com/office/drawing/2014/main" id="{2813C259-801B-E961-AF31-93B1C08BCDDF}"/>
                  </a:ext>
                </a:extLst>
              </p:cNvPr>
              <p:cNvSpPr txBox="1"/>
              <p:nvPr/>
            </p:nvSpPr>
            <p:spPr>
              <a:xfrm>
                <a:off x="560002" y="3065764"/>
                <a:ext cx="3455228" cy="261610"/>
              </a:xfrm>
              <a:prstGeom prst="rect">
                <a:avLst/>
              </a:prstGeom>
              <a:noFill/>
            </p:spPr>
            <p:txBody>
              <a:bodyPr wrap="square" rtlCol="0">
                <a:spAutoFit/>
              </a:bodyPr>
              <a:lstStyle/>
              <a:p>
                <a:r>
                  <a:rPr lang="fr-FR" sz="1100" dirty="0">
                    <a:solidFill>
                      <a:srgbClr val="165C71"/>
                    </a:solidFill>
                    <a:latin typeface="+mj-lt"/>
                  </a:rPr>
                  <a:t>Un Template par devise significative est à réaliser </a:t>
                </a:r>
              </a:p>
            </p:txBody>
          </p:sp>
        </p:grpSp>
        <p:grpSp>
          <p:nvGrpSpPr>
            <p:cNvPr id="38" name="Group 37">
              <a:extLst>
                <a:ext uri="{FF2B5EF4-FFF2-40B4-BE49-F238E27FC236}">
                  <a16:creationId xmlns:a16="http://schemas.microsoft.com/office/drawing/2014/main" id="{E045833F-B5A7-E7CC-29EF-7234F1D42B28}"/>
                </a:ext>
              </a:extLst>
            </p:cNvPr>
            <p:cNvGrpSpPr/>
            <p:nvPr/>
          </p:nvGrpSpPr>
          <p:grpSpPr>
            <a:xfrm>
              <a:off x="388542" y="3948573"/>
              <a:ext cx="3626688" cy="600164"/>
              <a:chOff x="388542" y="3948573"/>
              <a:chExt cx="3626688" cy="600164"/>
            </a:xfrm>
          </p:grpSpPr>
          <p:grpSp>
            <p:nvGrpSpPr>
              <p:cNvPr id="32" name="Group 31">
                <a:extLst>
                  <a:ext uri="{FF2B5EF4-FFF2-40B4-BE49-F238E27FC236}">
                    <a16:creationId xmlns:a16="http://schemas.microsoft.com/office/drawing/2014/main" id="{84B4F409-2C22-F33E-A160-BCF032B9CBF6}"/>
                  </a:ext>
                </a:extLst>
              </p:cNvPr>
              <p:cNvGrpSpPr/>
              <p:nvPr/>
            </p:nvGrpSpPr>
            <p:grpSpPr>
              <a:xfrm>
                <a:off x="388542" y="4159755"/>
                <a:ext cx="177801" cy="177801"/>
                <a:chOff x="1048473" y="1800225"/>
                <a:chExt cx="177801" cy="177801"/>
              </a:xfrm>
            </p:grpSpPr>
            <p:sp>
              <p:nvSpPr>
                <p:cNvPr id="33" name="Oval 32">
                  <a:extLst>
                    <a:ext uri="{FF2B5EF4-FFF2-40B4-BE49-F238E27FC236}">
                      <a16:creationId xmlns:a16="http://schemas.microsoft.com/office/drawing/2014/main" id="{4D983AED-5C6E-F72D-7752-F6738DCEF3B6}"/>
                    </a:ext>
                  </a:extLst>
                </p:cNvPr>
                <p:cNvSpPr/>
                <p:nvPr/>
              </p:nvSpPr>
              <p:spPr>
                <a:xfrm>
                  <a:off x="1048473" y="1800225"/>
                  <a:ext cx="177801" cy="177801"/>
                </a:xfrm>
                <a:prstGeom prst="ellipse">
                  <a:avLst/>
                </a:prstGeom>
                <a:solidFill>
                  <a:srgbClr val="D4F0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Oval 33">
                  <a:extLst>
                    <a:ext uri="{FF2B5EF4-FFF2-40B4-BE49-F238E27FC236}">
                      <a16:creationId xmlns:a16="http://schemas.microsoft.com/office/drawing/2014/main" id="{834D95B4-69B0-B37E-21BF-4B65EBA13E41}"/>
                    </a:ext>
                  </a:extLst>
                </p:cNvPr>
                <p:cNvSpPr/>
                <p:nvPr/>
              </p:nvSpPr>
              <p:spPr>
                <a:xfrm>
                  <a:off x="1086573" y="1838325"/>
                  <a:ext cx="101600" cy="1016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5" name="TextBox 34">
                <a:extLst>
                  <a:ext uri="{FF2B5EF4-FFF2-40B4-BE49-F238E27FC236}">
                    <a16:creationId xmlns:a16="http://schemas.microsoft.com/office/drawing/2014/main" id="{8C402CF7-6839-38E8-E232-B4506E5F0C97}"/>
                  </a:ext>
                </a:extLst>
              </p:cNvPr>
              <p:cNvSpPr txBox="1"/>
              <p:nvPr/>
            </p:nvSpPr>
            <p:spPr>
              <a:xfrm>
                <a:off x="560002" y="3948573"/>
                <a:ext cx="3455228" cy="600164"/>
              </a:xfrm>
              <a:prstGeom prst="rect">
                <a:avLst/>
              </a:prstGeom>
              <a:noFill/>
            </p:spPr>
            <p:txBody>
              <a:bodyPr wrap="square" rtlCol="0">
                <a:spAutoFit/>
              </a:bodyPr>
              <a:lstStyle/>
              <a:p>
                <a:r>
                  <a:rPr lang="fr-FR" sz="1100" dirty="0">
                    <a:solidFill>
                      <a:srgbClr val="165C71"/>
                    </a:solidFill>
                    <a:latin typeface="+mj-lt"/>
                  </a:rPr>
                  <a:t>Un Template comprenant l’agrégat des devises significatives est à compléter également en convertissant les devises en monnaie de </a:t>
                </a:r>
                <a:r>
                  <a:rPr lang="fr-FR" sz="1100" dirty="0" err="1">
                    <a:solidFill>
                      <a:srgbClr val="165C71"/>
                    </a:solidFill>
                    <a:latin typeface="+mj-lt"/>
                  </a:rPr>
                  <a:t>reporting</a:t>
                </a:r>
                <a:r>
                  <a:rPr lang="fr-FR" sz="1100" dirty="0">
                    <a:solidFill>
                      <a:srgbClr val="165C71"/>
                    </a:solidFill>
                    <a:latin typeface="+mj-lt"/>
                  </a:rPr>
                  <a:t> (€)</a:t>
                </a:r>
              </a:p>
            </p:txBody>
          </p:sp>
        </p:grpSp>
      </p:grpSp>
    </p:spTree>
    <p:extLst>
      <p:ext uri="{BB962C8B-B14F-4D97-AF65-F5344CB8AC3E}">
        <p14:creationId xmlns:p14="http://schemas.microsoft.com/office/powerpoint/2010/main" val="304347667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c- Template </a:t>
            </a:r>
            <a:r>
              <a:rPr lang="fr-FR" sz="2000" i="1" dirty="0">
                <a:highlight>
                  <a:srgbClr val="FF0000"/>
                </a:highlight>
                <a:latin typeface="Calibri (body)"/>
                <a:cs typeface="Calibri"/>
              </a:rPr>
              <a:t>J05/6/7</a:t>
            </a:r>
            <a:r>
              <a:rPr lang="fr-FR" sz="2000" i="1" dirty="0">
                <a:latin typeface="Calibri (body)"/>
                <a:cs typeface="Calibri"/>
              </a:rPr>
              <a:t> – </a:t>
            </a:r>
            <a:r>
              <a:rPr lang="fr-FR" sz="2000" i="1" dirty="0" err="1">
                <a:latin typeface="Calibri (body)"/>
                <a:cs typeface="Calibri"/>
              </a:rPr>
              <a:t>Repricing</a:t>
            </a:r>
            <a:r>
              <a:rPr lang="fr-FR" sz="2000" i="1" dirty="0">
                <a:latin typeface="Calibri (body)"/>
                <a:cs typeface="Calibri"/>
              </a:rPr>
              <a:t> cash-flows</a:t>
            </a:r>
            <a:endParaRPr lang="fr-FR" sz="2000" dirty="0">
              <a:latin typeface="Calibri"/>
              <a:cs typeface="Calibri"/>
            </a:endParaRPr>
          </a:p>
        </p:txBody>
      </p:sp>
      <p:sp>
        <p:nvSpPr>
          <p:cNvPr id="24" name="ZoneTexte 23">
            <a:extLst>
              <a:ext uri="{FF2B5EF4-FFF2-40B4-BE49-F238E27FC236}">
                <a16:creationId xmlns:a16="http://schemas.microsoft.com/office/drawing/2014/main" id="{B43E300C-1C72-5946-3A2D-6E92E6C3EF11}"/>
              </a:ext>
            </a:extLst>
          </p:cNvPr>
          <p:cNvSpPr txBox="1"/>
          <p:nvPr/>
        </p:nvSpPr>
        <p:spPr>
          <a:xfrm>
            <a:off x="319716" y="903721"/>
            <a:ext cx="6094708" cy="307777"/>
          </a:xfrm>
          <a:prstGeom prst="rect">
            <a:avLst/>
          </a:prstGeom>
          <a:noFill/>
        </p:spPr>
        <p:txBody>
          <a:bodyPr wrap="square">
            <a:spAutoFit/>
          </a:bodyPr>
          <a:lstStyle/>
          <a:p>
            <a:r>
              <a:rPr lang="fr-FR" b="1" dirty="0">
                <a:solidFill>
                  <a:schemeClr val="tx1">
                    <a:lumMod val="50000"/>
                  </a:schemeClr>
                </a:solidFill>
                <a:latin typeface="Calibri (bdoy)"/>
              </a:rPr>
              <a:t>Taux fixe :</a:t>
            </a:r>
            <a:endParaRPr lang="fr-FR" sz="1400" b="1" dirty="0">
              <a:solidFill>
                <a:schemeClr val="tx1">
                  <a:lumMod val="50000"/>
                </a:schemeClr>
              </a:solidFill>
              <a:latin typeface="Calibri (bdoy)"/>
            </a:endParaRPr>
          </a:p>
        </p:txBody>
      </p:sp>
      <p:sp>
        <p:nvSpPr>
          <p:cNvPr id="25" name="ZoneTexte 24">
            <a:extLst>
              <a:ext uri="{FF2B5EF4-FFF2-40B4-BE49-F238E27FC236}">
                <a16:creationId xmlns:a16="http://schemas.microsoft.com/office/drawing/2014/main" id="{5A4158E5-8B59-2108-91A4-C59C426390DE}"/>
              </a:ext>
            </a:extLst>
          </p:cNvPr>
          <p:cNvSpPr txBox="1"/>
          <p:nvPr/>
        </p:nvSpPr>
        <p:spPr>
          <a:xfrm>
            <a:off x="319716" y="2551364"/>
            <a:ext cx="6094708" cy="307777"/>
          </a:xfrm>
          <a:prstGeom prst="rect">
            <a:avLst/>
          </a:prstGeom>
          <a:noFill/>
        </p:spPr>
        <p:txBody>
          <a:bodyPr wrap="square">
            <a:spAutoFit/>
          </a:bodyPr>
          <a:lstStyle/>
          <a:p>
            <a:r>
              <a:rPr lang="fr-FR" b="1" dirty="0">
                <a:solidFill>
                  <a:schemeClr val="tx1">
                    <a:lumMod val="50000"/>
                  </a:schemeClr>
                </a:solidFill>
                <a:latin typeface="Calibri (bdoy)"/>
              </a:rPr>
              <a:t>Taux révisable :</a:t>
            </a:r>
            <a:endParaRPr lang="fr-FR" sz="1400" b="1" dirty="0">
              <a:solidFill>
                <a:schemeClr val="tx1">
                  <a:lumMod val="50000"/>
                </a:schemeClr>
              </a:solidFill>
              <a:latin typeface="Calibri (bdoy)"/>
            </a:endParaRPr>
          </a:p>
        </p:txBody>
      </p:sp>
      <p:sp>
        <p:nvSpPr>
          <p:cNvPr id="5" name="TextBox 4">
            <a:extLst>
              <a:ext uri="{FF2B5EF4-FFF2-40B4-BE49-F238E27FC236}">
                <a16:creationId xmlns:a16="http://schemas.microsoft.com/office/drawing/2014/main" id="{E52CF253-195F-EFDE-1F52-8843BBB6CB05}"/>
              </a:ext>
            </a:extLst>
          </p:cNvPr>
          <p:cNvSpPr txBox="1"/>
          <p:nvPr/>
        </p:nvSpPr>
        <p:spPr>
          <a:xfrm>
            <a:off x="388542" y="4510558"/>
            <a:ext cx="9378456" cy="1538883"/>
          </a:xfrm>
          <a:prstGeom prst="rect">
            <a:avLst/>
          </a:prstGeom>
          <a:noFill/>
          <a:ln>
            <a:solidFill>
              <a:schemeClr val="tx1">
                <a:lumMod val="50000"/>
              </a:schemeClr>
            </a:solidFill>
          </a:ln>
        </p:spPr>
        <p:txBody>
          <a:bodyPr wrap="square">
            <a:spAutoFit/>
          </a:bodyPr>
          <a:lstStyle/>
          <a:p>
            <a:r>
              <a:rPr lang="fr-FR" dirty="0">
                <a:solidFill>
                  <a:schemeClr val="tx1">
                    <a:lumMod val="50000"/>
                  </a:schemeClr>
                </a:solidFill>
                <a:latin typeface="Calibri (body)"/>
              </a:rPr>
              <a:t>Les colonnes à reporter </a:t>
            </a:r>
            <a:r>
              <a:rPr lang="fr-FR" b="1" dirty="0">
                <a:solidFill>
                  <a:schemeClr val="tx1">
                    <a:lumMod val="50000"/>
                  </a:schemeClr>
                </a:solidFill>
                <a:latin typeface="Calibri (body)"/>
              </a:rPr>
              <a:t>introduisent 6 éléments, à compléter uniquement en modélisation comportementale </a:t>
            </a:r>
            <a:r>
              <a:rPr lang="fr-FR" dirty="0">
                <a:solidFill>
                  <a:schemeClr val="tx1">
                    <a:lumMod val="50000"/>
                  </a:schemeClr>
                </a:solidFill>
                <a:latin typeface="Calibri (body)"/>
              </a:rPr>
              <a:t>:</a:t>
            </a:r>
          </a:p>
          <a:p>
            <a:endParaRPr lang="fr-FR" sz="1000" dirty="0">
              <a:solidFill>
                <a:schemeClr val="tx1">
                  <a:lumMod val="50000"/>
                </a:schemeClr>
              </a:solidFill>
              <a:latin typeface="Calibri (body)"/>
            </a:endParaRPr>
          </a:p>
          <a:p>
            <a:pPr marL="285750" indent="-285750">
              <a:buFont typeface="Arial" panose="020B0604020202020204" pitchFamily="34" charset="0"/>
              <a:buChar char="•"/>
            </a:pPr>
            <a:r>
              <a:rPr lang="fr-FR" dirty="0">
                <a:solidFill>
                  <a:schemeClr val="tx1">
                    <a:lumMod val="50000"/>
                  </a:schemeClr>
                </a:solidFill>
                <a:latin typeface="Calibri (body)"/>
              </a:rPr>
              <a:t>Le montant notionnel des encours (différent du montant comptable qui comprend : principal + intérêts)</a:t>
            </a:r>
          </a:p>
          <a:p>
            <a:pPr marL="285750" indent="-285750">
              <a:buFont typeface="Arial" panose="020B0604020202020204" pitchFamily="34" charset="0"/>
              <a:buChar char="•"/>
            </a:pPr>
            <a:r>
              <a:rPr lang="fr-FR" dirty="0">
                <a:solidFill>
                  <a:schemeClr val="tx1">
                    <a:lumMod val="50000"/>
                  </a:schemeClr>
                </a:solidFill>
                <a:latin typeface="Calibri (body)"/>
              </a:rPr>
              <a:t>Le pourcentage des encours concernés par la présence d’options explicites achetées ou vendues (</a:t>
            </a:r>
            <a:r>
              <a:rPr lang="fr-FR" dirty="0" err="1">
                <a:solidFill>
                  <a:schemeClr val="tx1">
                    <a:lumMod val="50000"/>
                  </a:schemeClr>
                </a:solidFill>
                <a:latin typeface="Calibri (body)"/>
              </a:rPr>
              <a:t>cap,floor</a:t>
            </a:r>
            <a:r>
              <a:rPr lang="fr-FR" dirty="0">
                <a:solidFill>
                  <a:schemeClr val="tx1">
                    <a:lumMod val="50000"/>
                  </a:schemeClr>
                </a:solidFill>
                <a:latin typeface="Calibri (body)"/>
              </a:rPr>
              <a:t>..)</a:t>
            </a:r>
          </a:p>
          <a:p>
            <a:pPr marL="285750" indent="-285750">
              <a:buFont typeface="Arial" panose="020B0604020202020204" pitchFamily="34" charset="0"/>
              <a:buChar char="•"/>
            </a:pPr>
            <a:r>
              <a:rPr lang="fr-FR" dirty="0">
                <a:solidFill>
                  <a:schemeClr val="tx1">
                    <a:lumMod val="50000"/>
                  </a:schemeClr>
                </a:solidFill>
                <a:latin typeface="Calibri (body)"/>
              </a:rPr>
              <a:t>Le pourcentage de notionnel sujet à la modélisation comportementale</a:t>
            </a:r>
          </a:p>
          <a:p>
            <a:pPr marL="285750" indent="-285750">
              <a:buFont typeface="Arial" panose="020B0604020202020204" pitchFamily="34" charset="0"/>
              <a:buChar char="•"/>
            </a:pPr>
            <a:r>
              <a:rPr lang="fr-FR" dirty="0">
                <a:solidFill>
                  <a:schemeClr val="tx1">
                    <a:lumMod val="50000"/>
                  </a:schemeClr>
                </a:solidFill>
                <a:latin typeface="Calibri (body)"/>
              </a:rPr>
              <a:t>Le rendement moyen annualisé pondéré par le notionnel</a:t>
            </a:r>
          </a:p>
          <a:p>
            <a:pPr marL="285750" indent="-285750">
              <a:buFont typeface="Arial" panose="020B0604020202020204" pitchFamily="34" charset="0"/>
              <a:buChar char="•"/>
            </a:pPr>
            <a:r>
              <a:rPr lang="fr-FR" dirty="0">
                <a:solidFill>
                  <a:schemeClr val="tx1">
                    <a:lumMod val="50000"/>
                  </a:schemeClr>
                </a:solidFill>
                <a:latin typeface="Calibri (body)"/>
              </a:rPr>
              <a:t>La maturité contractuelle moyenne pondérée par le notionnel</a:t>
            </a:r>
          </a:p>
        </p:txBody>
      </p:sp>
      <p:graphicFrame>
        <p:nvGraphicFramePr>
          <p:cNvPr id="7" name="Table 6">
            <a:extLst>
              <a:ext uri="{FF2B5EF4-FFF2-40B4-BE49-F238E27FC236}">
                <a16:creationId xmlns:a16="http://schemas.microsoft.com/office/drawing/2014/main" id="{B6CE5517-982C-93EA-0751-6BCF640064C3}"/>
              </a:ext>
            </a:extLst>
          </p:cNvPr>
          <p:cNvGraphicFramePr>
            <a:graphicFrameLocks noGrp="1"/>
          </p:cNvGraphicFramePr>
          <p:nvPr/>
        </p:nvGraphicFramePr>
        <p:xfrm>
          <a:off x="388542" y="1212743"/>
          <a:ext cx="11738708" cy="1134700"/>
        </p:xfrm>
        <a:graphic>
          <a:graphicData uri="http://schemas.openxmlformats.org/drawingml/2006/table">
            <a:tbl>
              <a:tblPr/>
              <a:tblGrid>
                <a:gridCol w="707111">
                  <a:extLst>
                    <a:ext uri="{9D8B030D-6E8A-4147-A177-3AD203B41FA5}">
                      <a16:colId xmlns:a16="http://schemas.microsoft.com/office/drawing/2014/main" val="3697346818"/>
                    </a:ext>
                  </a:extLst>
                </a:gridCol>
                <a:gridCol w="389236">
                  <a:extLst>
                    <a:ext uri="{9D8B030D-6E8A-4147-A177-3AD203B41FA5}">
                      <a16:colId xmlns:a16="http://schemas.microsoft.com/office/drawing/2014/main" val="3174623765"/>
                    </a:ext>
                  </a:extLst>
                </a:gridCol>
                <a:gridCol w="389236">
                  <a:extLst>
                    <a:ext uri="{9D8B030D-6E8A-4147-A177-3AD203B41FA5}">
                      <a16:colId xmlns:a16="http://schemas.microsoft.com/office/drawing/2014/main" val="1936259734"/>
                    </a:ext>
                  </a:extLst>
                </a:gridCol>
                <a:gridCol w="629265">
                  <a:extLst>
                    <a:ext uri="{9D8B030D-6E8A-4147-A177-3AD203B41FA5}">
                      <a16:colId xmlns:a16="http://schemas.microsoft.com/office/drawing/2014/main" val="2804619814"/>
                    </a:ext>
                  </a:extLst>
                </a:gridCol>
                <a:gridCol w="389236">
                  <a:extLst>
                    <a:ext uri="{9D8B030D-6E8A-4147-A177-3AD203B41FA5}">
                      <a16:colId xmlns:a16="http://schemas.microsoft.com/office/drawing/2014/main" val="427388150"/>
                    </a:ext>
                  </a:extLst>
                </a:gridCol>
                <a:gridCol w="389236">
                  <a:extLst>
                    <a:ext uri="{9D8B030D-6E8A-4147-A177-3AD203B41FA5}">
                      <a16:colId xmlns:a16="http://schemas.microsoft.com/office/drawing/2014/main" val="1599879367"/>
                    </a:ext>
                  </a:extLst>
                </a:gridCol>
                <a:gridCol w="804421">
                  <a:extLst>
                    <a:ext uri="{9D8B030D-6E8A-4147-A177-3AD203B41FA5}">
                      <a16:colId xmlns:a16="http://schemas.microsoft.com/office/drawing/2014/main" val="1309729375"/>
                    </a:ext>
                  </a:extLst>
                </a:gridCol>
                <a:gridCol w="765497">
                  <a:extLst>
                    <a:ext uri="{9D8B030D-6E8A-4147-A177-3AD203B41FA5}">
                      <a16:colId xmlns:a16="http://schemas.microsoft.com/office/drawing/2014/main" val="3250360267"/>
                    </a:ext>
                  </a:extLst>
                </a:gridCol>
                <a:gridCol w="797934">
                  <a:extLst>
                    <a:ext uri="{9D8B030D-6E8A-4147-A177-3AD203B41FA5}">
                      <a16:colId xmlns:a16="http://schemas.microsoft.com/office/drawing/2014/main" val="933662578"/>
                    </a:ext>
                  </a:extLst>
                </a:gridCol>
                <a:gridCol w="401400">
                  <a:extLst>
                    <a:ext uri="{9D8B030D-6E8A-4147-A177-3AD203B41FA5}">
                      <a16:colId xmlns:a16="http://schemas.microsoft.com/office/drawing/2014/main" val="3435618645"/>
                    </a:ext>
                  </a:extLst>
                </a:gridCol>
                <a:gridCol w="804421">
                  <a:extLst>
                    <a:ext uri="{9D8B030D-6E8A-4147-A177-3AD203B41FA5}">
                      <a16:colId xmlns:a16="http://schemas.microsoft.com/office/drawing/2014/main" val="1181640942"/>
                    </a:ext>
                  </a:extLst>
                </a:gridCol>
                <a:gridCol w="403832">
                  <a:extLst>
                    <a:ext uri="{9D8B030D-6E8A-4147-A177-3AD203B41FA5}">
                      <a16:colId xmlns:a16="http://schemas.microsoft.com/office/drawing/2014/main" val="89277206"/>
                    </a:ext>
                  </a:extLst>
                </a:gridCol>
                <a:gridCol w="389236">
                  <a:extLst>
                    <a:ext uri="{9D8B030D-6E8A-4147-A177-3AD203B41FA5}">
                      <a16:colId xmlns:a16="http://schemas.microsoft.com/office/drawing/2014/main" val="2109102087"/>
                    </a:ext>
                  </a:extLst>
                </a:gridCol>
                <a:gridCol w="389236">
                  <a:extLst>
                    <a:ext uri="{9D8B030D-6E8A-4147-A177-3AD203B41FA5}">
                      <a16:colId xmlns:a16="http://schemas.microsoft.com/office/drawing/2014/main" val="699635208"/>
                    </a:ext>
                  </a:extLst>
                </a:gridCol>
                <a:gridCol w="389236">
                  <a:extLst>
                    <a:ext uri="{9D8B030D-6E8A-4147-A177-3AD203B41FA5}">
                      <a16:colId xmlns:a16="http://schemas.microsoft.com/office/drawing/2014/main" val="3450826577"/>
                    </a:ext>
                  </a:extLst>
                </a:gridCol>
                <a:gridCol w="389236">
                  <a:extLst>
                    <a:ext uri="{9D8B030D-6E8A-4147-A177-3AD203B41FA5}">
                      <a16:colId xmlns:a16="http://schemas.microsoft.com/office/drawing/2014/main" val="3198610180"/>
                    </a:ext>
                  </a:extLst>
                </a:gridCol>
                <a:gridCol w="389236">
                  <a:extLst>
                    <a:ext uri="{9D8B030D-6E8A-4147-A177-3AD203B41FA5}">
                      <a16:colId xmlns:a16="http://schemas.microsoft.com/office/drawing/2014/main" val="3973019533"/>
                    </a:ext>
                  </a:extLst>
                </a:gridCol>
                <a:gridCol w="389236">
                  <a:extLst>
                    <a:ext uri="{9D8B030D-6E8A-4147-A177-3AD203B41FA5}">
                      <a16:colId xmlns:a16="http://schemas.microsoft.com/office/drawing/2014/main" val="607686120"/>
                    </a:ext>
                  </a:extLst>
                </a:gridCol>
                <a:gridCol w="389236">
                  <a:extLst>
                    <a:ext uri="{9D8B030D-6E8A-4147-A177-3AD203B41FA5}">
                      <a16:colId xmlns:a16="http://schemas.microsoft.com/office/drawing/2014/main" val="761454474"/>
                    </a:ext>
                  </a:extLst>
                </a:gridCol>
                <a:gridCol w="389236">
                  <a:extLst>
                    <a:ext uri="{9D8B030D-6E8A-4147-A177-3AD203B41FA5}">
                      <a16:colId xmlns:a16="http://schemas.microsoft.com/office/drawing/2014/main" val="238371540"/>
                    </a:ext>
                  </a:extLst>
                </a:gridCol>
                <a:gridCol w="389236">
                  <a:extLst>
                    <a:ext uri="{9D8B030D-6E8A-4147-A177-3AD203B41FA5}">
                      <a16:colId xmlns:a16="http://schemas.microsoft.com/office/drawing/2014/main" val="743602536"/>
                    </a:ext>
                  </a:extLst>
                </a:gridCol>
                <a:gridCol w="389236">
                  <a:extLst>
                    <a:ext uri="{9D8B030D-6E8A-4147-A177-3AD203B41FA5}">
                      <a16:colId xmlns:a16="http://schemas.microsoft.com/office/drawing/2014/main" val="3047013120"/>
                    </a:ext>
                  </a:extLst>
                </a:gridCol>
                <a:gridCol w="389236">
                  <a:extLst>
                    <a:ext uri="{9D8B030D-6E8A-4147-A177-3AD203B41FA5}">
                      <a16:colId xmlns:a16="http://schemas.microsoft.com/office/drawing/2014/main" val="3782825119"/>
                    </a:ext>
                  </a:extLst>
                </a:gridCol>
                <a:gridCol w="389236">
                  <a:extLst>
                    <a:ext uri="{9D8B030D-6E8A-4147-A177-3AD203B41FA5}">
                      <a16:colId xmlns:a16="http://schemas.microsoft.com/office/drawing/2014/main" val="2380120882"/>
                    </a:ext>
                  </a:extLst>
                </a:gridCol>
                <a:gridCol w="197051">
                  <a:extLst>
                    <a:ext uri="{9D8B030D-6E8A-4147-A177-3AD203B41FA5}">
                      <a16:colId xmlns:a16="http://schemas.microsoft.com/office/drawing/2014/main" val="3039629480"/>
                    </a:ext>
                  </a:extLst>
                </a:gridCol>
              </a:tblGrid>
              <a:tr h="136904">
                <a:tc gridSpan="25">
                  <a:txBody>
                    <a:bodyPr/>
                    <a:lstStyle/>
                    <a:p>
                      <a:pPr algn="ctr" fontAlgn="ctr"/>
                      <a:r>
                        <a:rPr lang="fr-FR" sz="500" b="0" i="0" u="none" strike="noStrike" dirty="0" err="1">
                          <a:solidFill>
                            <a:srgbClr val="000000"/>
                          </a:solidFill>
                          <a:effectLst/>
                          <a:latin typeface="Verdana" panose="020B0604030504040204" pitchFamily="34" charset="0"/>
                        </a:rPr>
                        <a:t>Fixed</a:t>
                      </a:r>
                      <a:r>
                        <a:rPr lang="fr-FR" sz="500" b="0" i="0" u="none" strike="noStrike" dirty="0">
                          <a:solidFill>
                            <a:srgbClr val="000000"/>
                          </a:solidFill>
                          <a:effectLst/>
                          <a:latin typeface="Verdana" panose="020B0604030504040204" pitchFamily="34" charset="0"/>
                        </a:rPr>
                        <a:t> rate</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068095528"/>
                  </a:ext>
                </a:extLst>
              </a:tr>
              <a:tr h="129949">
                <a:tc rowSpan="3">
                  <a:txBody>
                    <a:bodyPr/>
                    <a:lstStyle/>
                    <a:p>
                      <a:pPr algn="ctr" fontAlgn="ctr"/>
                      <a:r>
                        <a:rPr lang="fr-FR" sz="500" b="0" i="0" u="none" strike="noStrike" dirty="0" err="1">
                          <a:solidFill>
                            <a:srgbClr val="000000"/>
                          </a:solidFill>
                          <a:effectLst/>
                          <a:latin typeface="Verdana" panose="020B0604030504040204" pitchFamily="34" charset="0"/>
                        </a:rPr>
                        <a:t>Notional</a:t>
                      </a:r>
                      <a:r>
                        <a:rPr lang="fr-FR" sz="500" b="0" i="0" u="none" strike="noStrike" dirty="0">
                          <a:solidFill>
                            <a:srgbClr val="000000"/>
                          </a:solidFill>
                          <a:effectLst/>
                          <a:latin typeface="Verdana" panose="020B0604030504040204" pitchFamily="34" charset="0"/>
                        </a:rPr>
                        <a:t> </a:t>
                      </a:r>
                      <a:r>
                        <a:rPr lang="fr-FR" sz="500" b="0" i="0" u="none" strike="noStrike" dirty="0" err="1">
                          <a:solidFill>
                            <a:srgbClr val="000000"/>
                          </a:solidFill>
                          <a:effectLst/>
                          <a:latin typeface="Verdana" panose="020B0604030504040204" pitchFamily="34" charset="0"/>
                        </a:rPr>
                        <a:t>amount</a:t>
                      </a:r>
                      <a:endParaRPr lang="fr-FR" sz="5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l" fontAlgn="ctr"/>
                      <a:r>
                        <a:rPr lang="fr-FR" sz="500" b="0" i="0" u="none" strike="noStrike">
                          <a:solidFill>
                            <a:srgbClr val="000000"/>
                          </a:solidFill>
                          <a:effectLst/>
                          <a:latin typeface="Verdana" panose="020B0604030504040204" pitchFamily="34" charset="0"/>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3">
                  <a:txBody>
                    <a:bodyPr/>
                    <a:lstStyle/>
                    <a:p>
                      <a:pPr algn="ctr" fontAlgn="ctr"/>
                      <a:r>
                        <a:rPr lang="fr-FR" sz="500" b="0" i="0" u="none" strike="noStrike" dirty="0" err="1">
                          <a:solidFill>
                            <a:srgbClr val="000000"/>
                          </a:solidFill>
                          <a:effectLst/>
                          <a:latin typeface="Verdana" panose="020B0604030504040204" pitchFamily="34" charset="0"/>
                        </a:rPr>
                        <a:t>Weighted</a:t>
                      </a:r>
                      <a:r>
                        <a:rPr lang="fr-FR" sz="500" b="0" i="0" u="none" strike="noStrike" dirty="0">
                          <a:solidFill>
                            <a:srgbClr val="000000"/>
                          </a:solidFill>
                          <a:effectLst/>
                          <a:latin typeface="Verdana" panose="020B0604030504040204" pitchFamily="34" charset="0"/>
                        </a:rPr>
                        <a:t> </a:t>
                      </a:r>
                      <a:r>
                        <a:rPr lang="fr-FR" sz="500" b="0" i="0" u="none" strike="noStrike" dirty="0" err="1">
                          <a:solidFill>
                            <a:srgbClr val="000000"/>
                          </a:solidFill>
                          <a:effectLst/>
                          <a:latin typeface="Verdana" panose="020B0604030504040204" pitchFamily="34" charset="0"/>
                        </a:rPr>
                        <a:t>average</a:t>
                      </a:r>
                      <a:r>
                        <a:rPr lang="fr-FR" sz="500" b="0" i="0" u="none" strike="noStrike" dirty="0">
                          <a:solidFill>
                            <a:srgbClr val="000000"/>
                          </a:solidFill>
                          <a:effectLst/>
                          <a:latin typeface="Verdana" panose="020B0604030504040204" pitchFamily="34" charset="0"/>
                        </a:rPr>
                        <a:t> </a:t>
                      </a:r>
                      <a:r>
                        <a:rPr lang="fr-FR" sz="500" b="0" i="0" u="none" strike="noStrike" dirty="0" err="1">
                          <a:solidFill>
                            <a:srgbClr val="000000"/>
                          </a:solidFill>
                          <a:effectLst/>
                          <a:latin typeface="Verdana" panose="020B0604030504040204" pitchFamily="34" charset="0"/>
                        </a:rPr>
                        <a:t>yield</a:t>
                      </a:r>
                      <a:endParaRPr lang="fr-FR" sz="5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3">
                  <a:txBody>
                    <a:bodyPr/>
                    <a:lstStyle/>
                    <a:p>
                      <a:pPr algn="ctr" fontAlgn="ctr"/>
                      <a:r>
                        <a:rPr lang="fr-FR" sz="500" b="0" i="0" u="none" strike="noStrike">
                          <a:solidFill>
                            <a:srgbClr val="000000"/>
                          </a:solidFill>
                          <a:effectLst/>
                          <a:latin typeface="Verdana" panose="020B0604030504040204" pitchFamily="34" charset="0"/>
                        </a:rPr>
                        <a:t>Weighted average maturity (contractual)</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gridSpan="19">
                  <a:txBody>
                    <a:bodyPr/>
                    <a:lstStyle/>
                    <a:p>
                      <a:pPr algn="ctr" fontAlgn="b"/>
                      <a:r>
                        <a:rPr lang="en-US" sz="500" b="1" i="0" u="none" strike="noStrike" dirty="0">
                          <a:solidFill>
                            <a:srgbClr val="000000"/>
                          </a:solidFill>
                          <a:effectLst/>
                          <a:latin typeface="Verdana" panose="020B0604030504040204" pitchFamily="34" charset="0"/>
                        </a:rPr>
                        <a:t>Repricing schedule for all notional repricing cash flows</a:t>
                      </a:r>
                    </a:p>
                  </a:txBody>
                  <a:tcPr marL="0" marR="0" marT="0"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775264159"/>
                  </a:ext>
                </a:extLst>
              </a:tr>
              <a:tr h="346745">
                <a:tc vMerge="1">
                  <a:txBody>
                    <a:bodyPr/>
                    <a:lstStyle/>
                    <a:p>
                      <a:endParaRPr lang="fr-FR"/>
                    </a:p>
                  </a:txBody>
                  <a:tcPr/>
                </a:tc>
                <a:tc gridSpan="2">
                  <a:txBody>
                    <a:bodyPr/>
                    <a:lstStyle/>
                    <a:p>
                      <a:pPr algn="ctr" fontAlgn="ctr"/>
                      <a:r>
                        <a:rPr lang="en-US" sz="500" b="0" i="0" u="none" strike="noStrike" dirty="0">
                          <a:solidFill>
                            <a:srgbClr val="000000"/>
                          </a:solidFill>
                          <a:effectLst/>
                          <a:latin typeface="Verdana" panose="020B0604030504040204" pitchFamily="34" charset="0"/>
                        </a:rPr>
                        <a:t>% With embedded or </a:t>
                      </a:r>
                      <a:r>
                        <a:rPr lang="en-US" sz="500" b="0" i="0" u="none" strike="noStrike" dirty="0" err="1">
                          <a:solidFill>
                            <a:srgbClr val="000000"/>
                          </a:solidFill>
                          <a:effectLst/>
                          <a:latin typeface="Verdana" panose="020B0604030504040204" pitchFamily="34" charset="0"/>
                        </a:rPr>
                        <a:t>explicity</a:t>
                      </a:r>
                      <a:r>
                        <a:rPr lang="en-US" sz="500" b="0" i="0" u="none" strike="noStrike" dirty="0">
                          <a:solidFill>
                            <a:srgbClr val="000000"/>
                          </a:solidFill>
                          <a:effectLst/>
                          <a:latin typeface="Verdana" panose="020B0604030504040204" pitchFamily="34" charset="0"/>
                        </a:rPr>
                        <a:t> automatic optionality</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hMerge="1">
                  <a:txBody>
                    <a:bodyPr/>
                    <a:lstStyle/>
                    <a:p>
                      <a:endParaRPr lang="fr-FR"/>
                    </a:p>
                  </a:txBody>
                  <a:tcPr/>
                </a:tc>
                <a:tc rowSpan="2">
                  <a:txBody>
                    <a:bodyPr/>
                    <a:lstStyle/>
                    <a:p>
                      <a:pPr algn="ctr" fontAlgn="ctr"/>
                      <a:r>
                        <a:rPr lang="fr-FR" sz="500" b="0" i="0" u="none" strike="noStrike" dirty="0">
                          <a:solidFill>
                            <a:srgbClr val="000000"/>
                          </a:solidFill>
                          <a:effectLst/>
                          <a:latin typeface="Verdana" panose="020B0604030504040204" pitchFamily="34" charset="0"/>
                        </a:rPr>
                        <a:t>% </a:t>
                      </a:r>
                      <a:r>
                        <a:rPr lang="fr-FR" sz="500" b="0" i="0" u="none" strike="noStrike" dirty="0" err="1">
                          <a:solidFill>
                            <a:srgbClr val="000000"/>
                          </a:solidFill>
                          <a:effectLst/>
                          <a:latin typeface="Verdana" panose="020B0604030504040204" pitchFamily="34" charset="0"/>
                        </a:rPr>
                        <a:t>Subject</a:t>
                      </a:r>
                      <a:r>
                        <a:rPr lang="fr-FR" sz="500" b="0" i="0" u="none" strike="noStrike" dirty="0">
                          <a:solidFill>
                            <a:srgbClr val="000000"/>
                          </a:solidFill>
                          <a:effectLst/>
                          <a:latin typeface="Verdana" panose="020B0604030504040204" pitchFamily="34" charset="0"/>
                        </a:rPr>
                        <a:t> to </a:t>
                      </a:r>
                      <a:r>
                        <a:rPr lang="fr-FR" sz="500" b="0" i="0" u="none" strike="noStrike" dirty="0" err="1">
                          <a:solidFill>
                            <a:srgbClr val="000000"/>
                          </a:solidFill>
                          <a:effectLst/>
                          <a:latin typeface="Verdana" panose="020B0604030504040204" pitchFamily="34" charset="0"/>
                        </a:rPr>
                        <a:t>behavioural</a:t>
                      </a:r>
                      <a:r>
                        <a:rPr lang="fr-FR" sz="500" b="0" i="0" u="none" strike="noStrike" dirty="0">
                          <a:solidFill>
                            <a:srgbClr val="000000"/>
                          </a:solidFill>
                          <a:effectLst/>
                          <a:latin typeface="Verdana" panose="020B0604030504040204" pitchFamily="34" charset="0"/>
                        </a:rPr>
                        <a:t> </a:t>
                      </a:r>
                      <a:r>
                        <a:rPr lang="fr-FR" sz="500" b="0" i="0" u="none" strike="noStrike" dirty="0" err="1">
                          <a:solidFill>
                            <a:srgbClr val="000000"/>
                          </a:solidFill>
                          <a:effectLst/>
                          <a:latin typeface="Verdana" panose="020B0604030504040204" pitchFamily="34" charset="0"/>
                        </a:rPr>
                        <a:t>modelling</a:t>
                      </a:r>
                      <a:endParaRPr lang="fr-FR" sz="5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rowSpan="2">
                  <a:txBody>
                    <a:bodyPr/>
                    <a:lstStyle/>
                    <a:p>
                      <a:pPr algn="ctr" fontAlgn="ctr"/>
                      <a:r>
                        <a:rPr lang="fr-FR" sz="500" b="0" i="0" u="none" strike="noStrike">
                          <a:solidFill>
                            <a:srgbClr val="000000"/>
                          </a:solidFill>
                          <a:effectLst/>
                          <a:latin typeface="Verdana" panose="020B0604030504040204" pitchFamily="34" charset="0"/>
                        </a:rPr>
                        <a:t>Overnight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dirty="0">
                          <a:solidFill>
                            <a:srgbClr val="000000"/>
                          </a:solidFill>
                          <a:effectLst/>
                          <a:latin typeface="Verdana" panose="020B0604030504040204" pitchFamily="34" charset="0"/>
                        </a:rPr>
                        <a:t>Greater than overnight up to 1 month</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1 month up to 3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dirty="0">
                          <a:solidFill>
                            <a:srgbClr val="000000"/>
                          </a:solidFill>
                          <a:effectLst/>
                          <a:latin typeface="Verdana" panose="020B0604030504040204" pitchFamily="34" charset="0"/>
                        </a:rPr>
                        <a:t>Greater than 3 months up to 6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6 months up to 9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9 months up to 12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12 months up to 1.5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1.5 years up to 2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2 years up to 3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3 years up to 4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4 years up to 5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5 years up to 6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6 years up to 7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7 years up to 8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8 years up to 9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9 years up to 10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10 years up to 15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en-US" sz="500" b="0" i="0" u="none" strike="noStrike">
                          <a:solidFill>
                            <a:srgbClr val="000000"/>
                          </a:solidFill>
                          <a:effectLst/>
                          <a:latin typeface="Verdana" panose="020B0604030504040204" pitchFamily="34" charset="0"/>
                        </a:rPr>
                        <a:t>Greater than 15 years up to 20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rowSpan="2">
                  <a:txBody>
                    <a:bodyPr/>
                    <a:lstStyle/>
                    <a:p>
                      <a:pPr algn="ctr" fontAlgn="ctr"/>
                      <a:r>
                        <a:rPr lang="fr-FR" sz="500" b="0" i="0" u="none" strike="noStrike">
                          <a:solidFill>
                            <a:srgbClr val="000000"/>
                          </a:solidFill>
                          <a:effectLst/>
                          <a:latin typeface="Verdana" panose="020B0604030504040204" pitchFamily="34" charset="0"/>
                        </a:rPr>
                        <a:t>Greater than 20 years</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extLst>
                  <a:ext uri="{0D108BD9-81ED-4DB2-BD59-A6C34878D82A}">
                    <a16:rowId xmlns:a16="http://schemas.microsoft.com/office/drawing/2014/main" val="3874406281"/>
                  </a:ext>
                </a:extLst>
              </a:tr>
              <a:tr h="521102">
                <a:tc vMerge="1">
                  <a:txBody>
                    <a:bodyPr/>
                    <a:lstStyle/>
                    <a:p>
                      <a:endParaRPr lang="fr-FR"/>
                    </a:p>
                  </a:txBody>
                  <a:tcPr/>
                </a:tc>
                <a:tc>
                  <a:txBody>
                    <a:bodyPr/>
                    <a:lstStyle/>
                    <a:p>
                      <a:pPr algn="ctr" fontAlgn="ctr"/>
                      <a:r>
                        <a:rPr lang="fr-FR" sz="500" b="0" i="0" u="none" strike="noStrike" dirty="0" err="1">
                          <a:solidFill>
                            <a:srgbClr val="000000"/>
                          </a:solidFill>
                          <a:effectLst/>
                          <a:latin typeface="Verdana" panose="020B0604030504040204" pitchFamily="34" charset="0"/>
                        </a:rPr>
                        <a:t>Bought</a:t>
                      </a:r>
                      <a:endParaRPr lang="fr-FR" sz="5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500" b="0" i="0" u="none" strike="noStrike" dirty="0" err="1">
                          <a:solidFill>
                            <a:srgbClr val="000000"/>
                          </a:solidFill>
                          <a:effectLst/>
                          <a:latin typeface="Verdana" panose="020B0604030504040204" pitchFamily="34" charset="0"/>
                        </a:rPr>
                        <a:t>Sold</a:t>
                      </a:r>
                      <a:endParaRPr lang="fr-FR" sz="5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3798880610"/>
                  </a:ext>
                </a:extLst>
              </a:tr>
            </a:tbl>
          </a:graphicData>
        </a:graphic>
      </p:graphicFrame>
      <p:graphicFrame>
        <p:nvGraphicFramePr>
          <p:cNvPr id="9" name="Table 8">
            <a:extLst>
              <a:ext uri="{FF2B5EF4-FFF2-40B4-BE49-F238E27FC236}">
                <a16:creationId xmlns:a16="http://schemas.microsoft.com/office/drawing/2014/main" id="{A03CB69C-838E-93A2-B028-A8D563FFB75F}"/>
              </a:ext>
            </a:extLst>
          </p:cNvPr>
          <p:cNvGraphicFramePr>
            <a:graphicFrameLocks noGrp="1"/>
          </p:cNvGraphicFramePr>
          <p:nvPr/>
        </p:nvGraphicFramePr>
        <p:xfrm>
          <a:off x="388542" y="2864859"/>
          <a:ext cx="11738705" cy="1134001"/>
        </p:xfrm>
        <a:graphic>
          <a:graphicData uri="http://schemas.openxmlformats.org/drawingml/2006/table">
            <a:tbl>
              <a:tblPr/>
              <a:tblGrid>
                <a:gridCol w="1205590">
                  <a:extLst>
                    <a:ext uri="{9D8B030D-6E8A-4147-A177-3AD203B41FA5}">
                      <a16:colId xmlns:a16="http://schemas.microsoft.com/office/drawing/2014/main" val="763455507"/>
                    </a:ext>
                  </a:extLst>
                </a:gridCol>
                <a:gridCol w="688908">
                  <a:extLst>
                    <a:ext uri="{9D8B030D-6E8A-4147-A177-3AD203B41FA5}">
                      <a16:colId xmlns:a16="http://schemas.microsoft.com/office/drawing/2014/main" val="4142265549"/>
                    </a:ext>
                  </a:extLst>
                </a:gridCol>
                <a:gridCol w="688908">
                  <a:extLst>
                    <a:ext uri="{9D8B030D-6E8A-4147-A177-3AD203B41FA5}">
                      <a16:colId xmlns:a16="http://schemas.microsoft.com/office/drawing/2014/main" val="249935271"/>
                    </a:ext>
                  </a:extLst>
                </a:gridCol>
                <a:gridCol w="1366333">
                  <a:extLst>
                    <a:ext uri="{9D8B030D-6E8A-4147-A177-3AD203B41FA5}">
                      <a16:colId xmlns:a16="http://schemas.microsoft.com/office/drawing/2014/main" val="1734597342"/>
                    </a:ext>
                  </a:extLst>
                </a:gridCol>
                <a:gridCol w="1458189">
                  <a:extLst>
                    <a:ext uri="{9D8B030D-6E8A-4147-A177-3AD203B41FA5}">
                      <a16:colId xmlns:a16="http://schemas.microsoft.com/office/drawing/2014/main" val="939551229"/>
                    </a:ext>
                  </a:extLst>
                </a:gridCol>
                <a:gridCol w="688908">
                  <a:extLst>
                    <a:ext uri="{9D8B030D-6E8A-4147-A177-3AD203B41FA5}">
                      <a16:colId xmlns:a16="http://schemas.microsoft.com/office/drawing/2014/main" val="1670119838"/>
                    </a:ext>
                  </a:extLst>
                </a:gridCol>
                <a:gridCol w="1159661">
                  <a:extLst>
                    <a:ext uri="{9D8B030D-6E8A-4147-A177-3AD203B41FA5}">
                      <a16:colId xmlns:a16="http://schemas.microsoft.com/office/drawing/2014/main" val="1920631572"/>
                    </a:ext>
                  </a:extLst>
                </a:gridCol>
                <a:gridCol w="688908">
                  <a:extLst>
                    <a:ext uri="{9D8B030D-6E8A-4147-A177-3AD203B41FA5}">
                      <a16:colId xmlns:a16="http://schemas.microsoft.com/office/drawing/2014/main" val="1707274470"/>
                    </a:ext>
                  </a:extLst>
                </a:gridCol>
                <a:gridCol w="688908">
                  <a:extLst>
                    <a:ext uri="{9D8B030D-6E8A-4147-A177-3AD203B41FA5}">
                      <a16:colId xmlns:a16="http://schemas.microsoft.com/office/drawing/2014/main" val="3440454056"/>
                    </a:ext>
                  </a:extLst>
                </a:gridCol>
                <a:gridCol w="688908">
                  <a:extLst>
                    <a:ext uri="{9D8B030D-6E8A-4147-A177-3AD203B41FA5}">
                      <a16:colId xmlns:a16="http://schemas.microsoft.com/office/drawing/2014/main" val="4063702387"/>
                    </a:ext>
                  </a:extLst>
                </a:gridCol>
                <a:gridCol w="688908">
                  <a:extLst>
                    <a:ext uri="{9D8B030D-6E8A-4147-A177-3AD203B41FA5}">
                      <a16:colId xmlns:a16="http://schemas.microsoft.com/office/drawing/2014/main" val="1645696669"/>
                    </a:ext>
                  </a:extLst>
                </a:gridCol>
                <a:gridCol w="688908">
                  <a:extLst>
                    <a:ext uri="{9D8B030D-6E8A-4147-A177-3AD203B41FA5}">
                      <a16:colId xmlns:a16="http://schemas.microsoft.com/office/drawing/2014/main" val="2568580646"/>
                    </a:ext>
                  </a:extLst>
                </a:gridCol>
                <a:gridCol w="688908">
                  <a:extLst>
                    <a:ext uri="{9D8B030D-6E8A-4147-A177-3AD203B41FA5}">
                      <a16:colId xmlns:a16="http://schemas.microsoft.com/office/drawing/2014/main" val="2182667554"/>
                    </a:ext>
                  </a:extLst>
                </a:gridCol>
                <a:gridCol w="348760">
                  <a:extLst>
                    <a:ext uri="{9D8B030D-6E8A-4147-A177-3AD203B41FA5}">
                      <a16:colId xmlns:a16="http://schemas.microsoft.com/office/drawing/2014/main" val="2748516250"/>
                    </a:ext>
                  </a:extLst>
                </a:gridCol>
              </a:tblGrid>
              <a:tr h="124382">
                <a:tc gridSpan="14">
                  <a:txBody>
                    <a:bodyPr/>
                    <a:lstStyle/>
                    <a:p>
                      <a:pPr algn="ctr" fontAlgn="ctr"/>
                      <a:r>
                        <a:rPr lang="fr-FR" sz="800" b="0" i="0" u="none" strike="noStrike" dirty="0" err="1">
                          <a:solidFill>
                            <a:srgbClr val="000000"/>
                          </a:solidFill>
                          <a:effectLst/>
                          <a:latin typeface="Verdana" panose="020B0604030504040204" pitchFamily="34" charset="0"/>
                        </a:rPr>
                        <a:t>Floating</a:t>
                      </a:r>
                      <a:r>
                        <a:rPr lang="fr-FR" sz="800" b="0" i="0" u="none" strike="noStrike" dirty="0">
                          <a:solidFill>
                            <a:srgbClr val="000000"/>
                          </a:solidFill>
                          <a:effectLst/>
                          <a:latin typeface="Verdana" panose="020B0604030504040204" pitchFamily="34" charset="0"/>
                        </a:rPr>
                        <a:t> rate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162562927"/>
                  </a:ext>
                </a:extLst>
              </a:tr>
              <a:tr h="124382">
                <a:tc rowSpan="3">
                  <a:txBody>
                    <a:bodyPr/>
                    <a:lstStyle/>
                    <a:p>
                      <a:pPr algn="ctr" fontAlgn="ctr"/>
                      <a:r>
                        <a:rPr lang="fr-FR" sz="800" b="0" i="0" u="none" strike="noStrike" dirty="0" err="1">
                          <a:solidFill>
                            <a:srgbClr val="000000"/>
                          </a:solidFill>
                          <a:effectLst/>
                          <a:latin typeface="Verdana" panose="020B0604030504040204" pitchFamily="34" charset="0"/>
                        </a:rPr>
                        <a:t>Notional</a:t>
                      </a:r>
                      <a:r>
                        <a:rPr lang="fr-FR" sz="800" b="0" i="0" u="none" strike="noStrike" dirty="0">
                          <a:solidFill>
                            <a:srgbClr val="000000"/>
                          </a:solidFill>
                          <a:effectLst/>
                          <a:latin typeface="Verdana" panose="020B0604030504040204" pitchFamily="34" charset="0"/>
                        </a:rPr>
                        <a:t> </a:t>
                      </a:r>
                      <a:r>
                        <a:rPr lang="fr-FR" sz="800" b="0" i="0" u="none" strike="noStrike" dirty="0" err="1">
                          <a:solidFill>
                            <a:srgbClr val="000000"/>
                          </a:solidFill>
                          <a:effectLst/>
                          <a:latin typeface="Verdana" panose="020B0604030504040204" pitchFamily="34" charset="0"/>
                        </a:rPr>
                        <a:t>amount</a:t>
                      </a:r>
                      <a:endParaRPr lang="fr-FR" sz="800" b="0" i="0" u="none" strike="noStrike" dirty="0">
                        <a:solidFill>
                          <a:srgbClr val="000000"/>
                        </a:solidFill>
                        <a:effectLst/>
                        <a:latin typeface="Verdana" panose="020B0604030504040204" pitchFamily="34" charset="0"/>
                      </a:endParaRP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0"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0"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800" b="0" i="0" u="none" strike="noStrike">
                          <a:solidFill>
                            <a:srgbClr val="000000"/>
                          </a:solidFill>
                          <a:effectLst/>
                          <a:latin typeface="Verdana" panose="020B0604030504040204" pitchFamily="34" charset="0"/>
                        </a:rPr>
                        <a:t> </a:t>
                      </a:r>
                    </a:p>
                  </a:txBody>
                  <a:tcPr marL="0" marR="0" marT="0" marB="0" anchor="ctr">
                    <a:lnL>
                      <a:noFill/>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3">
                  <a:txBody>
                    <a:bodyPr/>
                    <a:lstStyle/>
                    <a:p>
                      <a:pPr algn="ctr" fontAlgn="ctr"/>
                      <a:r>
                        <a:rPr lang="fr-FR" sz="800" b="0" i="0" u="none" strike="noStrike">
                          <a:solidFill>
                            <a:srgbClr val="000000"/>
                          </a:solidFill>
                          <a:effectLst/>
                          <a:latin typeface="Verdana" panose="020B0604030504040204" pitchFamily="34" charset="0"/>
                        </a:rPr>
                        <a:t>Weighted average yield</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3">
                  <a:txBody>
                    <a:bodyPr/>
                    <a:lstStyle/>
                    <a:p>
                      <a:pPr algn="ctr" fontAlgn="ctr"/>
                      <a:r>
                        <a:rPr lang="fr-FR" sz="800" b="0" i="0" u="none" strike="noStrike">
                          <a:solidFill>
                            <a:srgbClr val="000000"/>
                          </a:solidFill>
                          <a:effectLst/>
                          <a:latin typeface="Verdana" panose="020B0604030504040204" pitchFamily="34" charset="0"/>
                        </a:rPr>
                        <a:t>Weighted average maturity (contractual)</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gridSpan="8">
                  <a:txBody>
                    <a:bodyPr/>
                    <a:lstStyle/>
                    <a:p>
                      <a:pPr algn="ctr" fontAlgn="b"/>
                      <a:r>
                        <a:rPr lang="en-US" sz="800" b="1" i="0" u="none" strike="noStrike">
                          <a:solidFill>
                            <a:srgbClr val="000000"/>
                          </a:solidFill>
                          <a:effectLst/>
                          <a:latin typeface="Verdana" panose="020B0604030504040204" pitchFamily="34" charset="0"/>
                        </a:rPr>
                        <a:t>Repricing schedule for all notional repricing cash flows</a:t>
                      </a:r>
                    </a:p>
                  </a:txBody>
                  <a:tcPr marL="0" marR="0" marT="0"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651118527"/>
                  </a:ext>
                </a:extLst>
              </a:tr>
              <a:tr h="373146">
                <a:tc vMerge="1">
                  <a:txBody>
                    <a:bodyPr/>
                    <a:lstStyle/>
                    <a:p>
                      <a:endParaRPr lang="fr-FR"/>
                    </a:p>
                  </a:txBody>
                  <a:tcPr/>
                </a:tc>
                <a:tc gridSpan="2">
                  <a:txBody>
                    <a:bodyPr/>
                    <a:lstStyle/>
                    <a:p>
                      <a:pPr algn="ctr" fontAlgn="ctr"/>
                      <a:r>
                        <a:rPr lang="en-US" sz="800" b="0" i="0" u="none" strike="noStrike" dirty="0">
                          <a:solidFill>
                            <a:srgbClr val="000000"/>
                          </a:solidFill>
                          <a:effectLst/>
                          <a:latin typeface="Verdana" panose="020B0604030504040204" pitchFamily="34" charset="0"/>
                        </a:rPr>
                        <a:t>% With embedded or </a:t>
                      </a:r>
                      <a:r>
                        <a:rPr lang="en-US" sz="800" b="0" i="0" u="none" strike="noStrike" dirty="0" err="1">
                          <a:solidFill>
                            <a:srgbClr val="000000"/>
                          </a:solidFill>
                          <a:effectLst/>
                          <a:latin typeface="Verdana" panose="020B0604030504040204" pitchFamily="34" charset="0"/>
                        </a:rPr>
                        <a:t>explicity</a:t>
                      </a:r>
                      <a:r>
                        <a:rPr lang="en-US" sz="800" b="0" i="0" u="none" strike="noStrike" dirty="0">
                          <a:solidFill>
                            <a:srgbClr val="000000"/>
                          </a:solidFill>
                          <a:effectLst/>
                          <a:latin typeface="Verdana" panose="020B0604030504040204" pitchFamily="34" charset="0"/>
                        </a:rPr>
                        <a:t> automatic optionality</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tc rowSpan="2">
                  <a:txBody>
                    <a:bodyPr/>
                    <a:lstStyle/>
                    <a:p>
                      <a:pPr algn="ctr" fontAlgn="ctr"/>
                      <a:r>
                        <a:rPr lang="fr-FR" sz="800" b="0" i="0" u="none" strike="noStrike" dirty="0">
                          <a:solidFill>
                            <a:srgbClr val="000000"/>
                          </a:solidFill>
                          <a:effectLst/>
                          <a:latin typeface="Verdana" panose="020B0604030504040204" pitchFamily="34" charset="0"/>
                        </a:rPr>
                        <a:t>% </a:t>
                      </a:r>
                      <a:r>
                        <a:rPr lang="fr-FR" sz="800" b="0" i="0" u="none" strike="noStrike" dirty="0" err="1">
                          <a:solidFill>
                            <a:srgbClr val="000000"/>
                          </a:solidFill>
                          <a:effectLst/>
                          <a:latin typeface="Verdana" panose="020B0604030504040204" pitchFamily="34" charset="0"/>
                        </a:rPr>
                        <a:t>Subject</a:t>
                      </a:r>
                      <a:r>
                        <a:rPr lang="fr-FR" sz="800" b="0" i="0" u="none" strike="noStrike" dirty="0">
                          <a:solidFill>
                            <a:srgbClr val="000000"/>
                          </a:solidFill>
                          <a:effectLst/>
                          <a:latin typeface="Verdana" panose="020B0604030504040204" pitchFamily="34" charset="0"/>
                        </a:rPr>
                        <a:t> to </a:t>
                      </a:r>
                      <a:r>
                        <a:rPr lang="fr-FR" sz="800" b="0" i="0" u="none" strike="noStrike" dirty="0" err="1">
                          <a:solidFill>
                            <a:srgbClr val="000000"/>
                          </a:solidFill>
                          <a:effectLst/>
                          <a:latin typeface="Verdana" panose="020B0604030504040204" pitchFamily="34" charset="0"/>
                        </a:rPr>
                        <a:t>behavioural</a:t>
                      </a:r>
                      <a:r>
                        <a:rPr lang="fr-FR" sz="800" b="0" i="0" u="none" strike="noStrike" dirty="0">
                          <a:solidFill>
                            <a:srgbClr val="000000"/>
                          </a:solidFill>
                          <a:effectLst/>
                          <a:latin typeface="Verdana" panose="020B0604030504040204" pitchFamily="34" charset="0"/>
                        </a:rPr>
                        <a:t> </a:t>
                      </a:r>
                      <a:r>
                        <a:rPr lang="fr-FR" sz="800" b="0" i="0" u="none" strike="noStrike" dirty="0" err="1">
                          <a:solidFill>
                            <a:srgbClr val="000000"/>
                          </a:solidFill>
                          <a:effectLst/>
                          <a:latin typeface="Verdana" panose="020B0604030504040204" pitchFamily="34" charset="0"/>
                        </a:rPr>
                        <a:t>modelling</a:t>
                      </a:r>
                      <a:endParaRPr lang="fr-FR" sz="8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rowSpan="2">
                  <a:txBody>
                    <a:bodyPr/>
                    <a:lstStyle/>
                    <a:p>
                      <a:pPr algn="ctr" fontAlgn="ctr"/>
                      <a:r>
                        <a:rPr lang="fr-FR" sz="800" b="0" i="0" u="none" strike="noStrike">
                          <a:solidFill>
                            <a:srgbClr val="000000"/>
                          </a:solidFill>
                          <a:effectLst/>
                          <a:latin typeface="Verdana" panose="020B0604030504040204" pitchFamily="34" charset="0"/>
                        </a:rPr>
                        <a:t>Overnight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a:solidFill>
                            <a:srgbClr val="000000"/>
                          </a:solidFill>
                          <a:effectLst/>
                          <a:latin typeface="Verdana" panose="020B0604030504040204" pitchFamily="34" charset="0"/>
                        </a:rPr>
                        <a:t>Greater than overnight up to 1 month</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dirty="0">
                          <a:solidFill>
                            <a:srgbClr val="000000"/>
                          </a:solidFill>
                          <a:effectLst/>
                          <a:latin typeface="Verdana" panose="020B0604030504040204" pitchFamily="34" charset="0"/>
                        </a:rPr>
                        <a:t>Greater than 1 month up to 3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dirty="0">
                          <a:solidFill>
                            <a:srgbClr val="000000"/>
                          </a:solidFill>
                          <a:effectLst/>
                          <a:latin typeface="Verdana" panose="020B0604030504040204" pitchFamily="34" charset="0"/>
                        </a:rPr>
                        <a:t>Greater than 3 months up to 6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a:solidFill>
                            <a:srgbClr val="000000"/>
                          </a:solidFill>
                          <a:effectLst/>
                          <a:latin typeface="Verdana" panose="020B0604030504040204" pitchFamily="34" charset="0"/>
                        </a:rPr>
                        <a:t>Greater than 6 months up to 9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a:solidFill>
                            <a:srgbClr val="000000"/>
                          </a:solidFill>
                          <a:effectLst/>
                          <a:latin typeface="Verdana" panose="020B0604030504040204" pitchFamily="34" charset="0"/>
                        </a:rPr>
                        <a:t>Greater than 9 months up to 12 months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a:solidFill>
                            <a:srgbClr val="000000"/>
                          </a:solidFill>
                          <a:effectLst/>
                          <a:latin typeface="Verdana" panose="020B0604030504040204" pitchFamily="34" charset="0"/>
                        </a:rPr>
                        <a:t>Greater than 12 months up to 1.5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en-US" sz="800" b="0" i="0" u="none" strike="noStrike">
                          <a:solidFill>
                            <a:srgbClr val="000000"/>
                          </a:solidFill>
                          <a:effectLst/>
                          <a:latin typeface="Verdana" panose="020B0604030504040204" pitchFamily="34" charset="0"/>
                        </a:rPr>
                        <a:t>Greater than 1.5 years up to 2 years</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72128067"/>
                  </a:ext>
                </a:extLst>
              </a:tr>
              <a:tr h="512091">
                <a:tc vMerge="1">
                  <a:txBody>
                    <a:bodyPr/>
                    <a:lstStyle/>
                    <a:p>
                      <a:endParaRPr lang="fr-FR"/>
                    </a:p>
                  </a:txBody>
                  <a:tcPr/>
                </a:tc>
                <a:tc>
                  <a:txBody>
                    <a:bodyPr/>
                    <a:lstStyle/>
                    <a:p>
                      <a:pPr algn="ctr" fontAlgn="ctr"/>
                      <a:r>
                        <a:rPr lang="fr-FR" sz="800" b="0" i="0" u="none" strike="noStrike" dirty="0" err="1">
                          <a:solidFill>
                            <a:srgbClr val="000000"/>
                          </a:solidFill>
                          <a:effectLst/>
                          <a:latin typeface="Verdana" panose="020B0604030504040204" pitchFamily="34" charset="0"/>
                        </a:rPr>
                        <a:t>Bought</a:t>
                      </a:r>
                      <a:endParaRPr lang="fr-FR" sz="8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fr-FR" sz="800" b="0" i="0" u="none" strike="noStrike" dirty="0" err="1">
                          <a:solidFill>
                            <a:srgbClr val="000000"/>
                          </a:solidFill>
                          <a:effectLst/>
                          <a:latin typeface="Verdana" panose="020B0604030504040204" pitchFamily="34" charset="0"/>
                        </a:rPr>
                        <a:t>Sold</a:t>
                      </a:r>
                      <a:endParaRPr lang="fr-FR" sz="8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322237835"/>
                  </a:ext>
                </a:extLst>
              </a:tr>
            </a:tbl>
          </a:graphicData>
        </a:graphic>
      </p:graphicFrame>
      <p:sp>
        <p:nvSpPr>
          <p:cNvPr id="2" name="Espace réservé du texte 15">
            <a:extLst>
              <a:ext uri="{FF2B5EF4-FFF2-40B4-BE49-F238E27FC236}">
                <a16:creationId xmlns:a16="http://schemas.microsoft.com/office/drawing/2014/main" id="{DFF24CCD-2BBA-9853-3996-3CC019A6B518}"/>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60390973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c- Template </a:t>
            </a:r>
            <a:r>
              <a:rPr lang="fr-FR" sz="2000" i="1" dirty="0">
                <a:highlight>
                  <a:srgbClr val="FF0000"/>
                </a:highlight>
                <a:latin typeface="Calibri (body)"/>
                <a:cs typeface="Calibri"/>
              </a:rPr>
              <a:t>J07</a:t>
            </a:r>
            <a:r>
              <a:rPr lang="fr-FR" sz="2000" i="1" dirty="0">
                <a:latin typeface="Calibri (body)"/>
                <a:cs typeface="Calibri"/>
              </a:rPr>
              <a:t> – </a:t>
            </a:r>
            <a:r>
              <a:rPr lang="fr-FR" sz="2000" i="1" dirty="0" err="1">
                <a:latin typeface="Calibri (body)"/>
                <a:cs typeface="Calibri"/>
              </a:rPr>
              <a:t>Repricing</a:t>
            </a:r>
            <a:r>
              <a:rPr lang="fr-FR" sz="2000" i="1" dirty="0">
                <a:latin typeface="Calibri (body)"/>
                <a:cs typeface="Calibri"/>
              </a:rPr>
              <a:t> cash-flows</a:t>
            </a:r>
            <a:endParaRPr lang="fr-FR" dirty="0">
              <a:latin typeface="Calibri"/>
              <a:cs typeface="Calibri"/>
            </a:endParaRP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7" name="ZoneTexte 6">
            <a:extLst>
              <a:ext uri="{FF2B5EF4-FFF2-40B4-BE49-F238E27FC236}">
                <a16:creationId xmlns:a16="http://schemas.microsoft.com/office/drawing/2014/main" id="{719920D1-78BE-017C-0359-4E178C901634}"/>
              </a:ext>
            </a:extLst>
          </p:cNvPr>
          <p:cNvSpPr txBox="1"/>
          <p:nvPr/>
        </p:nvSpPr>
        <p:spPr>
          <a:xfrm>
            <a:off x="6096000" y="1659285"/>
            <a:ext cx="5399315" cy="3539430"/>
          </a:xfrm>
          <a:prstGeom prst="rect">
            <a:avLst/>
          </a:prstGeom>
          <a:noFill/>
          <a:ln>
            <a:solidFill>
              <a:schemeClr val="tx1"/>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Le Template J07 a pour objectif de renseigner </a:t>
            </a:r>
            <a:r>
              <a:rPr lang="fr-FR" b="1" dirty="0">
                <a:solidFill>
                  <a:schemeClr val="tx1">
                    <a:lumMod val="50000"/>
                  </a:schemeClr>
                </a:solidFill>
                <a:latin typeface="Calibri (body)"/>
              </a:rPr>
              <a:t>les flux non actualisés </a:t>
            </a:r>
            <a:r>
              <a:rPr lang="fr-FR" dirty="0">
                <a:solidFill>
                  <a:schemeClr val="tx1">
                    <a:lumMod val="50000"/>
                  </a:schemeClr>
                </a:solidFill>
                <a:latin typeface="Calibri (body)"/>
              </a:rPr>
              <a:t>utilisés pour le calcul de l’EVE </a:t>
            </a:r>
            <a:r>
              <a:rPr lang="fr-FR" b="1" dirty="0">
                <a:solidFill>
                  <a:schemeClr val="tx1">
                    <a:lumMod val="50000"/>
                  </a:schemeClr>
                </a:solidFill>
                <a:latin typeface="Calibri (body)"/>
              </a:rPr>
              <a:t>sous deux modélisations différentes :</a:t>
            </a:r>
            <a:r>
              <a:rPr lang="fr-FR" dirty="0">
                <a:solidFill>
                  <a:schemeClr val="tx1">
                    <a:lumMod val="50000"/>
                  </a:schemeClr>
                </a:solidFill>
                <a:latin typeface="Calibri (body)"/>
              </a:rPr>
              <a:t> la modélisation contractuelle et la modélisation comportementale, en distinguant les natures de taux (fixe et révisable).</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Les lignes à reporter diffèrent du Template J04, beaucoup plus simplifié.</a:t>
            </a:r>
          </a:p>
          <a:p>
            <a:r>
              <a:rPr lang="fr-FR" dirty="0">
                <a:solidFill>
                  <a:schemeClr val="tx1">
                    <a:lumMod val="50000"/>
                  </a:schemeClr>
                </a:solidFill>
                <a:latin typeface="Calibri (body)"/>
              </a:rPr>
              <a:t>La granularité de ce Template est plus fine. La décomposition par typologie d’encours à l’actif et au passif y est intégrée.</a:t>
            </a:r>
          </a:p>
          <a:p>
            <a:endParaRPr lang="fr-FR" dirty="0">
              <a:solidFill>
                <a:schemeClr val="tx1">
                  <a:lumMod val="50000"/>
                </a:schemeClr>
              </a:solidFill>
              <a:latin typeface="Calibri (body)"/>
            </a:endParaRPr>
          </a:p>
          <a:p>
            <a:r>
              <a:rPr lang="fr-FR" sz="1400" dirty="0">
                <a:solidFill>
                  <a:schemeClr val="tx1">
                    <a:lumMod val="50000"/>
                  </a:schemeClr>
                </a:solidFill>
                <a:latin typeface="Calibri (body)"/>
              </a:rPr>
              <a:t>Il permet également de </a:t>
            </a:r>
            <a:r>
              <a:rPr lang="fr-FR" sz="1400" dirty="0">
                <a:solidFill>
                  <a:schemeClr val="tx1">
                    <a:lumMod val="50000"/>
                  </a:schemeClr>
                </a:solidFill>
                <a:latin typeface="Calibri (body)"/>
                <a:cs typeface="Arial" panose="020B0604020202020204" pitchFamily="34" charset="0"/>
              </a:rPr>
              <a:t>détailler</a:t>
            </a:r>
            <a:r>
              <a:rPr lang="fr-FR" sz="1400" dirty="0">
                <a:solidFill>
                  <a:schemeClr val="tx1">
                    <a:lumMod val="50000"/>
                  </a:schemeClr>
                </a:solidFill>
                <a:latin typeface="Calibri (body)"/>
              </a:rPr>
              <a:t> l’écoulement du bilan par typologie d’encours comprenant les flux de capital et les flux d’intérêts. </a:t>
            </a:r>
          </a:p>
          <a:p>
            <a:endParaRPr lang="fr-FR" b="1" dirty="0">
              <a:solidFill>
                <a:schemeClr val="tx1">
                  <a:lumMod val="50000"/>
                </a:schemeClr>
              </a:solidFill>
              <a:latin typeface="Calibri (body)"/>
            </a:endParaRPr>
          </a:p>
          <a:p>
            <a:r>
              <a:rPr lang="fr-FR" sz="1400" dirty="0">
                <a:solidFill>
                  <a:schemeClr val="tx1">
                    <a:lumMod val="50000"/>
                  </a:schemeClr>
                </a:solidFill>
                <a:latin typeface="Calibri (body)"/>
              </a:rPr>
              <a:t>Ce Template est également à compléter par devise significative.</a:t>
            </a:r>
          </a:p>
          <a:p>
            <a:endParaRPr lang="fr-FR" dirty="0">
              <a:solidFill>
                <a:schemeClr val="tx1">
                  <a:lumMod val="50000"/>
                </a:schemeClr>
              </a:solidFill>
              <a:latin typeface="Calibri (body)"/>
            </a:endParaRPr>
          </a:p>
          <a:p>
            <a:endParaRPr lang="fr-FR" sz="1400" dirty="0">
              <a:solidFill>
                <a:schemeClr val="tx1">
                  <a:lumMod val="50000"/>
                </a:schemeClr>
              </a:solidFill>
              <a:latin typeface="Calibri (body)"/>
            </a:endParaRPr>
          </a:p>
        </p:txBody>
      </p:sp>
      <p:graphicFrame>
        <p:nvGraphicFramePr>
          <p:cNvPr id="2" name="Table 1">
            <a:extLst>
              <a:ext uri="{FF2B5EF4-FFF2-40B4-BE49-F238E27FC236}">
                <a16:creationId xmlns:a16="http://schemas.microsoft.com/office/drawing/2014/main" id="{FDAEB20C-3B5A-594A-6370-A47EAAD37FCC}"/>
              </a:ext>
            </a:extLst>
          </p:cNvPr>
          <p:cNvGraphicFramePr>
            <a:graphicFrameLocks noGrp="1"/>
          </p:cNvGraphicFramePr>
          <p:nvPr/>
        </p:nvGraphicFramePr>
        <p:xfrm>
          <a:off x="687197" y="1105144"/>
          <a:ext cx="5050412" cy="5066065"/>
        </p:xfrm>
        <a:graphic>
          <a:graphicData uri="http://schemas.openxmlformats.org/drawingml/2006/table">
            <a:tbl>
              <a:tblPr/>
              <a:tblGrid>
                <a:gridCol w="4682365">
                  <a:extLst>
                    <a:ext uri="{9D8B030D-6E8A-4147-A177-3AD203B41FA5}">
                      <a16:colId xmlns:a16="http://schemas.microsoft.com/office/drawing/2014/main" val="4263379878"/>
                    </a:ext>
                  </a:extLst>
                </a:gridCol>
                <a:gridCol w="368047">
                  <a:extLst>
                    <a:ext uri="{9D8B030D-6E8A-4147-A177-3AD203B41FA5}">
                      <a16:colId xmlns:a16="http://schemas.microsoft.com/office/drawing/2014/main" val="3405161272"/>
                    </a:ext>
                  </a:extLst>
                </a:gridCol>
              </a:tblGrid>
              <a:tr h="128003">
                <a:tc>
                  <a:txBody>
                    <a:bodyPr/>
                    <a:lstStyle/>
                    <a:p>
                      <a:pPr algn="l" fontAlgn="ctr"/>
                      <a:r>
                        <a:rPr lang="fr-FR" sz="700" b="1" i="0" u="none" strike="noStrike">
                          <a:solidFill>
                            <a:srgbClr val="000000"/>
                          </a:solidFill>
                          <a:effectLst/>
                          <a:latin typeface="Verdana" panose="020B0604030504040204" pitchFamily="34" charset="0"/>
                        </a:rPr>
                        <a:t>TOTAL ASSETS</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4312825"/>
                  </a:ext>
                </a:extLst>
              </a:tr>
              <a:tr h="124489">
                <a:tc>
                  <a:txBody>
                    <a:bodyPr/>
                    <a:lstStyle/>
                    <a:p>
                      <a:pPr algn="l" fontAlgn="ctr"/>
                      <a:r>
                        <a:rPr lang="fr-FR" sz="700" b="1" i="0" u="none" strike="noStrike">
                          <a:solidFill>
                            <a:srgbClr val="000000"/>
                          </a:solidFill>
                          <a:effectLst/>
                          <a:latin typeface="Verdana" panose="020B0604030504040204" pitchFamily="34" charset="0"/>
                        </a:rPr>
                        <a:t>Central bank</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40723891"/>
                  </a:ext>
                </a:extLst>
              </a:tr>
              <a:tr h="124489">
                <a:tc>
                  <a:txBody>
                    <a:bodyPr/>
                    <a:lstStyle/>
                    <a:p>
                      <a:pPr algn="l" fontAlgn="ctr"/>
                      <a:r>
                        <a:rPr lang="fr-FR" sz="700" b="1" i="0" u="none" strike="noStrike">
                          <a:solidFill>
                            <a:srgbClr val="000000"/>
                          </a:solidFill>
                          <a:effectLst/>
                          <a:latin typeface="Verdana" panose="020B0604030504040204" pitchFamily="34" charset="0"/>
                        </a:rPr>
                        <a:t>Interbank</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053757022"/>
                  </a:ext>
                </a:extLst>
              </a:tr>
              <a:tr h="124489">
                <a:tc>
                  <a:txBody>
                    <a:bodyPr/>
                    <a:lstStyle/>
                    <a:p>
                      <a:pPr algn="l" fontAlgn="ctr"/>
                      <a:r>
                        <a:rPr lang="fr-FR" sz="700" b="1" i="0" u="none" strike="noStrike">
                          <a:solidFill>
                            <a:srgbClr val="000000"/>
                          </a:solidFill>
                          <a:effectLst/>
                          <a:latin typeface="Verdana" panose="020B0604030504040204" pitchFamily="34" charset="0"/>
                        </a:rPr>
                        <a:t>Loans and advances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0050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614599413"/>
                  </a:ext>
                </a:extLst>
              </a:tr>
              <a:tr h="124489">
                <a:tc>
                  <a:txBody>
                    <a:bodyPr/>
                    <a:lstStyle/>
                    <a:p>
                      <a:pPr algn="l" fontAlgn="ctr"/>
                      <a:r>
                        <a:rPr lang="fr-FR" sz="700" b="1" i="0" u="none" strike="noStrike">
                          <a:solidFill>
                            <a:srgbClr val="000000"/>
                          </a:solidFill>
                          <a:effectLst/>
                          <a:latin typeface="Verdana" panose="020B0604030504040204" pitchFamily="34" charset="0"/>
                        </a:rPr>
                        <a:t>Debt securities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731663662"/>
                  </a:ext>
                </a:extLst>
              </a:tr>
              <a:tr h="124489">
                <a:tc>
                  <a:txBody>
                    <a:bodyPr/>
                    <a:lstStyle/>
                    <a:p>
                      <a:pPr algn="l" fontAlgn="ctr"/>
                      <a:r>
                        <a:rPr lang="fr-FR" sz="700" b="1" i="0" u="none" strike="noStrike">
                          <a:solidFill>
                            <a:srgbClr val="000000"/>
                          </a:solidFill>
                          <a:effectLst/>
                          <a:latin typeface="Verdana" panose="020B0604030504040204" pitchFamily="34" charset="0"/>
                        </a:rPr>
                        <a:t>Derivatives hedging assets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399059482"/>
                  </a:ext>
                </a:extLst>
              </a:tr>
              <a:tr h="143062">
                <a:tc>
                  <a:txBody>
                    <a:bodyPr/>
                    <a:lstStyle/>
                    <a:p>
                      <a:pPr algn="l" fontAlgn="ctr"/>
                      <a:r>
                        <a:rPr lang="fr-FR" sz="700" b="1" i="0" u="none" strike="noStrike">
                          <a:solidFill>
                            <a:srgbClr val="000000"/>
                          </a:solidFill>
                          <a:effectLst/>
                          <a:latin typeface="Verdana" panose="020B0604030504040204" pitchFamily="34" charset="0"/>
                        </a:rPr>
                        <a:t>Other</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165868546"/>
                  </a:ext>
                </a:extLst>
              </a:tr>
              <a:tr h="124489">
                <a:tc>
                  <a:txBody>
                    <a:bodyPr/>
                    <a:lstStyle/>
                    <a:p>
                      <a:pPr algn="l" fontAlgn="ctr"/>
                      <a:r>
                        <a:rPr lang="en-US" sz="700" b="1" i="0" u="none" strike="noStrike">
                          <a:solidFill>
                            <a:srgbClr val="000000"/>
                          </a:solidFill>
                          <a:effectLst/>
                          <a:latin typeface="Verdana" panose="020B0604030504040204" pitchFamily="34" charset="0"/>
                        </a:rPr>
                        <a:t>Off-balance sheet assets: contingent assets</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0190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15246772"/>
                  </a:ext>
                </a:extLst>
              </a:tr>
              <a:tr h="124489">
                <a:tc>
                  <a:txBody>
                    <a:bodyPr/>
                    <a:lstStyle/>
                    <a:p>
                      <a:pPr algn="l" fontAlgn="ctr"/>
                      <a:r>
                        <a:rPr lang="fr-FR" sz="700" b="1" i="0" u="none" strike="noStrike">
                          <a:solidFill>
                            <a:srgbClr val="000000"/>
                          </a:solidFill>
                          <a:effectLst/>
                          <a:latin typeface="Verdana" panose="020B0604030504040204" pitchFamily="34" charset="0"/>
                        </a:rPr>
                        <a:t>TOTAL LIABILITIES</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00225102"/>
                  </a:ext>
                </a:extLst>
              </a:tr>
              <a:tr h="124489">
                <a:tc>
                  <a:txBody>
                    <a:bodyPr/>
                    <a:lstStyle/>
                    <a:p>
                      <a:pPr algn="l" fontAlgn="ctr"/>
                      <a:r>
                        <a:rPr lang="fr-FR" sz="700" b="1" i="0" u="none" strike="noStrike">
                          <a:solidFill>
                            <a:srgbClr val="000000"/>
                          </a:solidFill>
                          <a:effectLst/>
                          <a:latin typeface="Verdana" panose="020B0604030504040204" pitchFamily="34" charset="0"/>
                        </a:rPr>
                        <a:t>Central bank</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895322265"/>
                  </a:ext>
                </a:extLst>
              </a:tr>
              <a:tr h="124489">
                <a:tc>
                  <a:txBody>
                    <a:bodyPr/>
                    <a:lstStyle/>
                    <a:p>
                      <a:pPr algn="l" fontAlgn="ctr"/>
                      <a:r>
                        <a:rPr lang="fr-FR" sz="700" b="1" i="0" u="none" strike="noStrike">
                          <a:solidFill>
                            <a:srgbClr val="000000"/>
                          </a:solidFill>
                          <a:effectLst/>
                          <a:latin typeface="Verdana" panose="020B0604030504040204" pitchFamily="34" charset="0"/>
                        </a:rPr>
                        <a:t>Interbank</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70361472"/>
                  </a:ext>
                </a:extLst>
              </a:tr>
              <a:tr h="124489">
                <a:tc>
                  <a:txBody>
                    <a:bodyPr/>
                    <a:lstStyle/>
                    <a:p>
                      <a:pPr algn="l" fontAlgn="ctr"/>
                      <a:r>
                        <a:rPr lang="fr-FR" sz="700" b="1" i="0" u="none" strike="noStrike">
                          <a:solidFill>
                            <a:srgbClr val="000000"/>
                          </a:solidFill>
                          <a:effectLst/>
                          <a:latin typeface="Verdana" panose="020B0604030504040204" pitchFamily="34" charset="0"/>
                        </a:rPr>
                        <a:t>Debt securities issued</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034865694"/>
                  </a:ext>
                </a:extLst>
              </a:tr>
              <a:tr h="124489">
                <a:tc>
                  <a:txBody>
                    <a:bodyPr/>
                    <a:lstStyle/>
                    <a:p>
                      <a:pPr algn="l" fontAlgn="b"/>
                      <a:r>
                        <a:rPr lang="fr-FR" sz="700" b="1" i="0" u="none" strike="noStrike">
                          <a:solidFill>
                            <a:srgbClr val="000000"/>
                          </a:solidFill>
                          <a:effectLst/>
                          <a:latin typeface="Verdana" panose="020B0604030504040204" pitchFamily="34" charset="0"/>
                        </a:rPr>
                        <a:t>NMD: Retail transactional</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36535313"/>
                  </a:ext>
                </a:extLst>
              </a:tr>
              <a:tr h="124489">
                <a:tc>
                  <a:txBody>
                    <a:bodyPr/>
                    <a:lstStyle/>
                    <a:p>
                      <a:pPr algn="l" fontAlgn="ctr"/>
                      <a:r>
                        <a:rPr lang="fr-FR" sz="700" b="0" i="0" u="none" strike="noStrike">
                          <a:solidFill>
                            <a:srgbClr val="000000"/>
                          </a:solidFill>
                          <a:effectLst/>
                          <a:latin typeface="Verdana" panose="020B0604030504040204" pitchFamily="34" charset="0"/>
                        </a:rPr>
                        <a:t>of which: core component</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0290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0391431"/>
                  </a:ext>
                </a:extLst>
              </a:tr>
              <a:tr h="124489">
                <a:tc>
                  <a:txBody>
                    <a:bodyPr/>
                    <a:lstStyle/>
                    <a:p>
                      <a:pPr algn="l" fontAlgn="ctr"/>
                      <a:r>
                        <a:rPr lang="en-US" sz="700" b="0" i="0" u="none" strike="noStrike" dirty="0">
                          <a:solidFill>
                            <a:srgbClr val="000000"/>
                          </a:solidFill>
                          <a:effectLst/>
                          <a:latin typeface="Verdana" panose="020B0604030504040204" pitchFamily="34" charset="0"/>
                        </a:rPr>
                        <a:t>of which: exempted from the 5Y cap</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46279833"/>
                  </a:ext>
                </a:extLst>
              </a:tr>
              <a:tr h="124489">
                <a:tc>
                  <a:txBody>
                    <a:bodyPr/>
                    <a:lstStyle/>
                    <a:p>
                      <a:pPr algn="l" fontAlgn="b"/>
                      <a:r>
                        <a:rPr lang="fr-FR" sz="700" b="1" i="0" u="none" strike="noStrike">
                          <a:solidFill>
                            <a:srgbClr val="000000"/>
                          </a:solidFill>
                          <a:effectLst/>
                          <a:latin typeface="Verdana" panose="020B0604030504040204" pitchFamily="34" charset="0"/>
                        </a:rPr>
                        <a:t>NMDs: Retail non-transactional</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77713140"/>
                  </a:ext>
                </a:extLst>
              </a:tr>
              <a:tr h="124489">
                <a:tc>
                  <a:txBody>
                    <a:bodyPr/>
                    <a:lstStyle/>
                    <a:p>
                      <a:pPr algn="l" fontAlgn="ctr"/>
                      <a:r>
                        <a:rPr lang="fr-FR" sz="700" b="0" i="0" u="none" strike="noStrike">
                          <a:solidFill>
                            <a:srgbClr val="000000"/>
                          </a:solidFill>
                          <a:effectLst/>
                          <a:latin typeface="Verdana" panose="020B0604030504040204" pitchFamily="34" charset="0"/>
                        </a:rPr>
                        <a:t>of which: core component</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458743866"/>
                  </a:ext>
                </a:extLst>
              </a:tr>
              <a:tr h="124489">
                <a:tc>
                  <a:txBody>
                    <a:bodyPr/>
                    <a:lstStyle/>
                    <a:p>
                      <a:pPr algn="l" fontAlgn="ctr"/>
                      <a:r>
                        <a:rPr lang="en-US" sz="700" b="0" i="0" u="none" strike="noStrike">
                          <a:solidFill>
                            <a:srgbClr val="000000"/>
                          </a:solidFill>
                          <a:effectLst/>
                          <a:latin typeface="Verdana" panose="020B0604030504040204" pitchFamily="34" charset="0"/>
                        </a:rPr>
                        <a:t>of which: exempted from the 5Y cap</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20555050"/>
                  </a:ext>
                </a:extLst>
              </a:tr>
              <a:tr h="124489">
                <a:tc>
                  <a:txBody>
                    <a:bodyPr/>
                    <a:lstStyle/>
                    <a:p>
                      <a:pPr algn="l" fontAlgn="b"/>
                      <a:r>
                        <a:rPr lang="fr-FR" sz="700" b="1" i="0" u="none" strike="noStrike">
                          <a:solidFill>
                            <a:srgbClr val="000000"/>
                          </a:solidFill>
                          <a:effectLst/>
                          <a:latin typeface="Verdana" panose="020B0604030504040204" pitchFamily="34" charset="0"/>
                        </a:rPr>
                        <a:t>NMDs: Wholesale non-financial</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960921753"/>
                  </a:ext>
                </a:extLst>
              </a:tr>
              <a:tr h="124489">
                <a:tc>
                  <a:txBody>
                    <a:bodyPr/>
                    <a:lstStyle/>
                    <a:p>
                      <a:pPr algn="l" fontAlgn="ctr"/>
                      <a:r>
                        <a:rPr lang="fr-FR" sz="700" b="0" i="0" u="none" strike="noStrike">
                          <a:solidFill>
                            <a:srgbClr val="000000"/>
                          </a:solidFill>
                          <a:effectLst/>
                          <a:latin typeface="Verdana" panose="020B0604030504040204" pitchFamily="34" charset="0"/>
                        </a:rPr>
                        <a:t>of which: core component</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37044067"/>
                  </a:ext>
                </a:extLst>
              </a:tr>
              <a:tr h="124489">
                <a:tc>
                  <a:txBody>
                    <a:bodyPr/>
                    <a:lstStyle/>
                    <a:p>
                      <a:pPr algn="l" fontAlgn="ctr"/>
                      <a:r>
                        <a:rPr lang="en-US" sz="700" b="0" i="0" u="none" strike="noStrike">
                          <a:solidFill>
                            <a:srgbClr val="000000"/>
                          </a:solidFill>
                          <a:effectLst/>
                          <a:latin typeface="Verdana" panose="020B0604030504040204" pitchFamily="34" charset="0"/>
                        </a:rPr>
                        <a:t>of which: exempted from the 5Y cap</a:t>
                      </a: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621644311"/>
                  </a:ext>
                </a:extLst>
              </a:tr>
              <a:tr h="124489">
                <a:tc>
                  <a:txBody>
                    <a:bodyPr/>
                    <a:lstStyle/>
                    <a:p>
                      <a:pPr algn="l" fontAlgn="b"/>
                      <a:r>
                        <a:rPr lang="fr-FR" sz="700" b="1" i="0" u="none" strike="noStrike" dirty="0" err="1">
                          <a:solidFill>
                            <a:srgbClr val="000000"/>
                          </a:solidFill>
                          <a:effectLst/>
                          <a:latin typeface="Verdana" panose="020B0604030504040204" pitchFamily="34" charset="0"/>
                        </a:rPr>
                        <a:t>NMDs</a:t>
                      </a:r>
                      <a:r>
                        <a:rPr lang="fr-FR" sz="700" b="1" i="0" u="none" strike="noStrike" dirty="0">
                          <a:solidFill>
                            <a:srgbClr val="000000"/>
                          </a:solidFill>
                          <a:effectLst/>
                          <a:latin typeface="Verdana" panose="020B0604030504040204" pitchFamily="34" charset="0"/>
                        </a:rPr>
                        <a:t>: </a:t>
                      </a:r>
                      <a:r>
                        <a:rPr lang="fr-FR" sz="700" b="1" i="0" u="none" strike="noStrike" dirty="0" err="1">
                          <a:solidFill>
                            <a:srgbClr val="000000"/>
                          </a:solidFill>
                          <a:effectLst/>
                          <a:latin typeface="Verdana" panose="020B0604030504040204" pitchFamily="34" charset="0"/>
                        </a:rPr>
                        <a:t>Wholesale</a:t>
                      </a:r>
                      <a:r>
                        <a:rPr lang="fr-FR" sz="700" b="1" i="0" u="none" strike="noStrike" dirty="0">
                          <a:solidFill>
                            <a:srgbClr val="000000"/>
                          </a:solidFill>
                          <a:effectLst/>
                          <a:latin typeface="Verdana" panose="020B0604030504040204" pitchFamily="34" charset="0"/>
                        </a:rPr>
                        <a:t> </a:t>
                      </a:r>
                      <a:r>
                        <a:rPr lang="fr-FR" sz="700" b="1" i="0" u="none" strike="noStrike" dirty="0" err="1">
                          <a:solidFill>
                            <a:srgbClr val="000000"/>
                          </a:solidFill>
                          <a:effectLst/>
                          <a:latin typeface="Verdana" panose="020B0604030504040204" pitchFamily="34" charset="0"/>
                        </a:rPr>
                        <a:t>financial</a:t>
                      </a:r>
                      <a:endParaRPr lang="fr-FR" sz="700" b="1" i="0" u="none" strike="noStrike" dirty="0">
                        <a:solidFill>
                          <a:srgbClr val="000000"/>
                        </a:solidFill>
                        <a:effectLst/>
                        <a:latin typeface="Verdana" panose="020B0604030504040204" pitchFamily="34" charset="0"/>
                      </a:endParaRP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0390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2127203"/>
                  </a:ext>
                </a:extLst>
              </a:tr>
              <a:tr h="124489">
                <a:tc>
                  <a:txBody>
                    <a:bodyPr/>
                    <a:lstStyle/>
                    <a:p>
                      <a:pPr algn="l" fontAlgn="ctr"/>
                      <a:r>
                        <a:rPr lang="fr-FR" sz="700" b="0" i="0" u="none" strike="noStrike" dirty="0">
                          <a:solidFill>
                            <a:srgbClr val="000000"/>
                          </a:solidFill>
                          <a:effectLst/>
                          <a:latin typeface="Verdana" panose="020B0604030504040204" pitchFamily="34" charset="0"/>
                        </a:rPr>
                        <a:t>of </a:t>
                      </a:r>
                      <a:r>
                        <a:rPr lang="fr-FR" sz="700" b="0" i="0" u="none" strike="noStrike" dirty="0" err="1">
                          <a:solidFill>
                            <a:srgbClr val="000000"/>
                          </a:solidFill>
                          <a:effectLst/>
                          <a:latin typeface="Verdana" panose="020B0604030504040204" pitchFamily="34" charset="0"/>
                        </a:rPr>
                        <a:t>which</a:t>
                      </a:r>
                      <a:r>
                        <a:rPr lang="fr-FR" sz="700" b="0" i="0" u="none" strike="noStrike" dirty="0">
                          <a:solidFill>
                            <a:srgbClr val="000000"/>
                          </a:solidFill>
                          <a:effectLst/>
                          <a:latin typeface="Verdana" panose="020B0604030504040204" pitchFamily="34" charset="0"/>
                        </a:rPr>
                        <a:t>: </a:t>
                      </a:r>
                      <a:r>
                        <a:rPr lang="fr-FR" sz="700" b="0" i="0" u="none" strike="noStrike" dirty="0" err="1">
                          <a:solidFill>
                            <a:srgbClr val="000000"/>
                          </a:solidFill>
                          <a:effectLst/>
                          <a:latin typeface="Verdana" panose="020B0604030504040204" pitchFamily="34" charset="0"/>
                        </a:rPr>
                        <a:t>operational</a:t>
                      </a:r>
                      <a:r>
                        <a:rPr lang="fr-FR" sz="700" b="0" i="0" u="none" strike="noStrike" dirty="0">
                          <a:solidFill>
                            <a:srgbClr val="000000"/>
                          </a:solidFill>
                          <a:effectLst/>
                          <a:latin typeface="Verdana" panose="020B0604030504040204" pitchFamily="34" charset="0"/>
                        </a:rPr>
                        <a:t> </a:t>
                      </a:r>
                      <a:r>
                        <a:rPr lang="fr-FR" sz="700" b="0" i="0" u="none" strike="noStrike" dirty="0" err="1">
                          <a:solidFill>
                            <a:srgbClr val="000000"/>
                          </a:solidFill>
                          <a:effectLst/>
                          <a:latin typeface="Verdana" panose="020B0604030504040204" pitchFamily="34" charset="0"/>
                        </a:rPr>
                        <a:t>deposits</a:t>
                      </a:r>
                      <a:endParaRPr lang="fr-FR" sz="700" b="0" i="0" u="none" strike="noStrike" dirty="0">
                        <a:solidFill>
                          <a:srgbClr val="000000"/>
                        </a:solidFill>
                        <a:effectLst/>
                        <a:latin typeface="Verdana" panose="020B0604030504040204" pitchFamily="34" charset="0"/>
                      </a:endParaRPr>
                    </a:p>
                  </a:txBody>
                  <a:tcPr marL="274932"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594297262"/>
                  </a:ext>
                </a:extLst>
              </a:tr>
              <a:tr h="124489">
                <a:tc>
                  <a:txBody>
                    <a:bodyPr/>
                    <a:lstStyle/>
                    <a:p>
                      <a:pPr algn="l" fontAlgn="b"/>
                      <a:r>
                        <a:rPr lang="fr-FR" sz="700" b="1" i="0" u="none" strike="noStrike">
                          <a:solidFill>
                            <a:srgbClr val="000000"/>
                          </a:solidFill>
                          <a:effectLst/>
                          <a:latin typeface="Verdana" panose="020B0604030504040204" pitchFamily="34" charset="0"/>
                        </a:rPr>
                        <a:t>Term deposits</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11760512"/>
                  </a:ext>
                </a:extLst>
              </a:tr>
              <a:tr h="124489">
                <a:tc>
                  <a:txBody>
                    <a:bodyPr/>
                    <a:lstStyle/>
                    <a:p>
                      <a:pPr algn="l" fontAlgn="b"/>
                      <a:r>
                        <a:rPr lang="fr-FR" sz="700" b="0" i="0" u="none" strike="noStrike">
                          <a:solidFill>
                            <a:srgbClr val="000000"/>
                          </a:solidFill>
                          <a:effectLst/>
                          <a:latin typeface="Verdana" panose="020B0604030504040204" pitchFamily="34" charset="0"/>
                        </a:rPr>
                        <a:t>Retail</a:t>
                      </a:r>
                    </a:p>
                  </a:txBody>
                  <a:tcPr marL="274932"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717576637"/>
                  </a:ext>
                </a:extLst>
              </a:tr>
              <a:tr h="124489">
                <a:tc>
                  <a:txBody>
                    <a:bodyPr/>
                    <a:lstStyle/>
                    <a:p>
                      <a:pPr algn="l" fontAlgn="b"/>
                      <a:r>
                        <a:rPr lang="fr-FR" sz="700" b="0" i="0" u="none" strike="noStrike">
                          <a:solidFill>
                            <a:srgbClr val="000000"/>
                          </a:solidFill>
                          <a:effectLst/>
                          <a:latin typeface="Verdana" panose="020B0604030504040204" pitchFamily="34" charset="0"/>
                        </a:rPr>
                        <a:t>Wholesale non-financial</a:t>
                      </a:r>
                    </a:p>
                  </a:txBody>
                  <a:tcPr marL="274932"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031375371"/>
                  </a:ext>
                </a:extLst>
              </a:tr>
              <a:tr h="124489">
                <a:tc>
                  <a:txBody>
                    <a:bodyPr/>
                    <a:lstStyle/>
                    <a:p>
                      <a:pPr algn="l" fontAlgn="b"/>
                      <a:r>
                        <a:rPr lang="fr-FR" sz="700" b="0" i="0" u="none" strike="noStrike">
                          <a:solidFill>
                            <a:srgbClr val="000000"/>
                          </a:solidFill>
                          <a:effectLst/>
                          <a:latin typeface="Verdana" panose="020B0604030504040204" pitchFamily="34" charset="0"/>
                        </a:rPr>
                        <a:t>Wholesale financial</a:t>
                      </a:r>
                    </a:p>
                  </a:txBody>
                  <a:tcPr marL="274932"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0460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45056447"/>
                  </a:ext>
                </a:extLst>
              </a:tr>
              <a:tr h="124489">
                <a:tc>
                  <a:txBody>
                    <a:bodyPr/>
                    <a:lstStyle/>
                    <a:p>
                      <a:pPr algn="l" fontAlgn="ctr"/>
                      <a:r>
                        <a:rPr lang="fr-FR" sz="700" b="1" i="0" u="none" strike="noStrike">
                          <a:solidFill>
                            <a:srgbClr val="000000"/>
                          </a:solidFill>
                          <a:effectLst/>
                          <a:latin typeface="Verdana" panose="020B0604030504040204" pitchFamily="34" charset="0"/>
                        </a:rPr>
                        <a:t>Derivatives hedging liabilities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0470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75551982"/>
                  </a:ext>
                </a:extLst>
              </a:tr>
              <a:tr h="124489">
                <a:tc>
                  <a:txBody>
                    <a:bodyPr/>
                    <a:lstStyle/>
                    <a:p>
                      <a:pPr algn="l" fontAlgn="b"/>
                      <a:r>
                        <a:rPr lang="fr-FR" sz="700" b="1" i="0" u="none" strike="noStrike">
                          <a:solidFill>
                            <a:srgbClr val="000000"/>
                          </a:solidFill>
                          <a:effectLst/>
                          <a:latin typeface="Verdana" panose="020B0604030504040204" pitchFamily="34" charset="0"/>
                        </a:rPr>
                        <a:t>Other</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54398087"/>
                  </a:ext>
                </a:extLst>
              </a:tr>
              <a:tr h="124489">
                <a:tc>
                  <a:txBody>
                    <a:bodyPr/>
                    <a:lstStyle/>
                    <a:p>
                      <a:pPr algn="l" fontAlgn="ctr"/>
                      <a:r>
                        <a:rPr lang="fr-FR" sz="700" b="1" i="0" u="none" strike="noStrike">
                          <a:solidFill>
                            <a:srgbClr val="000000"/>
                          </a:solidFill>
                          <a:effectLst/>
                          <a:latin typeface="Verdana" panose="020B0604030504040204" pitchFamily="34" charset="0"/>
                        </a:rPr>
                        <a:t>Off-balance sheet liabilities: contingent liabilities</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480714694"/>
                  </a:ext>
                </a:extLst>
              </a:tr>
              <a:tr h="124489">
                <a:tc>
                  <a:txBody>
                    <a:bodyPr/>
                    <a:lstStyle/>
                    <a:p>
                      <a:pPr algn="l" fontAlgn="ctr"/>
                      <a:r>
                        <a:rPr lang="fr-FR" sz="700" b="1" i="0" u="none" strike="noStrike">
                          <a:solidFill>
                            <a:srgbClr val="000000"/>
                          </a:solidFill>
                          <a:effectLst/>
                          <a:latin typeface="Verdana" panose="020B0604030504040204" pitchFamily="34" charset="0"/>
                        </a:rPr>
                        <a:t>Other derivatives (Net asset/liability)</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99933141"/>
                  </a:ext>
                </a:extLst>
              </a:tr>
              <a:tr h="185393">
                <a:tc>
                  <a:txBody>
                    <a:bodyPr/>
                    <a:lstStyle/>
                    <a:p>
                      <a:pPr algn="l" fontAlgn="ctr"/>
                      <a:r>
                        <a:rPr lang="fr-FR" sz="700" b="1" i="0" u="none" strike="noStrike">
                          <a:solidFill>
                            <a:srgbClr val="000000"/>
                          </a:solidFill>
                          <a:effectLst/>
                          <a:latin typeface="Verdana" panose="020B0604030504040204" pitchFamily="34" charset="0"/>
                        </a:rPr>
                        <a:t>MEMORANDUM ITEMS</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1" i="0" u="none" strike="noStrike">
                          <a:solidFill>
                            <a:srgbClr val="000000"/>
                          </a:solidFill>
                          <a:effectLst/>
                          <a:latin typeface="Verdana" panose="020B060403050404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51870438"/>
                  </a:ext>
                </a:extLst>
              </a:tr>
              <a:tr h="124489">
                <a:tc>
                  <a:txBody>
                    <a:bodyPr/>
                    <a:lstStyle/>
                    <a:p>
                      <a:pPr algn="l" fontAlgn="ctr"/>
                      <a:r>
                        <a:rPr lang="en-US" sz="700" b="1" i="0" u="none" strike="noStrike">
                          <a:solidFill>
                            <a:srgbClr val="000000"/>
                          </a:solidFill>
                          <a:effectLst/>
                          <a:latin typeface="Verdana" panose="020B0604030504040204" pitchFamily="34" charset="0"/>
                        </a:rPr>
                        <a:t>Total Assets with MV impact</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494466435"/>
                  </a:ext>
                </a:extLst>
              </a:tr>
              <a:tr h="124489">
                <a:tc>
                  <a:txBody>
                    <a:bodyPr/>
                    <a:lstStyle/>
                    <a:p>
                      <a:pPr algn="l" fontAlgn="ctr"/>
                      <a:r>
                        <a:rPr lang="fr-FR" sz="700" b="0" i="0" u="none" strike="noStrike">
                          <a:solidFill>
                            <a:srgbClr val="000000"/>
                          </a:solidFill>
                          <a:effectLst/>
                          <a:latin typeface="Verdana" panose="020B0604030504040204" pitchFamily="34" charset="0"/>
                        </a:rPr>
                        <a:t>Debt securities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919058900"/>
                  </a:ext>
                </a:extLst>
              </a:tr>
              <a:tr h="124489">
                <a:tc>
                  <a:txBody>
                    <a:bodyPr/>
                    <a:lstStyle/>
                    <a:p>
                      <a:pPr algn="l" fontAlgn="ctr"/>
                      <a:r>
                        <a:rPr lang="fr-FR" sz="700" b="0" i="0" u="none" strike="noStrike">
                          <a:solidFill>
                            <a:srgbClr val="000000"/>
                          </a:solidFill>
                          <a:effectLst/>
                          <a:latin typeface="Verdana" panose="020B0604030504040204" pitchFamily="34" charset="0"/>
                        </a:rPr>
                        <a:t>Derivatives</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0590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538555231"/>
                  </a:ext>
                </a:extLst>
              </a:tr>
              <a:tr h="124489">
                <a:tc>
                  <a:txBody>
                    <a:bodyPr/>
                    <a:lstStyle/>
                    <a:p>
                      <a:pPr algn="l" fontAlgn="ctr"/>
                      <a:r>
                        <a:rPr lang="fr-FR" sz="700" b="0" i="0" u="none" strike="noStrike">
                          <a:solidFill>
                            <a:srgbClr val="000000"/>
                          </a:solidFill>
                          <a:effectLst/>
                          <a:latin typeface="Verdana" panose="020B0604030504040204" pitchFamily="34" charset="0"/>
                        </a:rPr>
                        <a:t>Other</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0600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558093318"/>
                  </a:ext>
                </a:extLst>
              </a:tr>
              <a:tr h="124489">
                <a:tc>
                  <a:txBody>
                    <a:bodyPr/>
                    <a:lstStyle/>
                    <a:p>
                      <a:pPr algn="l" fontAlgn="ctr"/>
                      <a:r>
                        <a:rPr lang="en-US" sz="700" b="1" i="0" u="none" strike="noStrike">
                          <a:solidFill>
                            <a:srgbClr val="000000"/>
                          </a:solidFill>
                          <a:effectLst/>
                          <a:latin typeface="Verdana" panose="020B0604030504040204" pitchFamily="34" charset="0"/>
                        </a:rPr>
                        <a:t>Total Liabilities with MV impact</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0610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488677516"/>
                  </a:ext>
                </a:extLst>
              </a:tr>
              <a:tr h="124489">
                <a:tc>
                  <a:txBody>
                    <a:bodyPr/>
                    <a:lstStyle/>
                    <a:p>
                      <a:pPr algn="l" fontAlgn="ctr"/>
                      <a:r>
                        <a:rPr lang="fr-FR" sz="700" b="0" i="0" u="none" strike="noStrike">
                          <a:solidFill>
                            <a:srgbClr val="000000"/>
                          </a:solidFill>
                          <a:effectLst/>
                          <a:latin typeface="Verdana" panose="020B0604030504040204" pitchFamily="34" charset="0"/>
                        </a:rPr>
                        <a:t>Debt securities issued</a:t>
                      </a:r>
                    </a:p>
                  </a:txBody>
                  <a:tcPr marL="13746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0620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376715007"/>
                  </a:ext>
                </a:extLst>
              </a:tr>
              <a:tr h="124489">
                <a:tc>
                  <a:txBody>
                    <a:bodyPr/>
                    <a:lstStyle/>
                    <a:p>
                      <a:pPr algn="l" fontAlgn="b"/>
                      <a:r>
                        <a:rPr lang="fr-FR" sz="700" b="0" i="0" u="none" strike="noStrike">
                          <a:solidFill>
                            <a:srgbClr val="000000"/>
                          </a:solidFill>
                          <a:effectLst/>
                          <a:latin typeface="Verdana" panose="020B0604030504040204" pitchFamily="34" charset="0"/>
                        </a:rPr>
                        <a:t>Derivatives </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a:solidFill>
                            <a:srgbClr val="000000"/>
                          </a:solidFill>
                          <a:effectLst/>
                          <a:latin typeface="Verdana" panose="020B0604030504040204" pitchFamily="34" charset="0"/>
                        </a:rPr>
                        <a:t>0630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820892270"/>
                  </a:ext>
                </a:extLst>
              </a:tr>
              <a:tr h="128003">
                <a:tc>
                  <a:txBody>
                    <a:bodyPr/>
                    <a:lstStyle/>
                    <a:p>
                      <a:pPr algn="l" fontAlgn="b"/>
                      <a:r>
                        <a:rPr lang="fr-FR" sz="700" b="0" i="0" u="none" strike="noStrike">
                          <a:solidFill>
                            <a:srgbClr val="000000"/>
                          </a:solidFill>
                          <a:effectLst/>
                          <a:latin typeface="Verdana" panose="020B0604030504040204" pitchFamily="34" charset="0"/>
                        </a:rPr>
                        <a:t>Other</a:t>
                      </a:r>
                    </a:p>
                  </a:txBody>
                  <a:tcPr marL="137466"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700" b="0" i="0" u="none" strike="noStrike" dirty="0">
                          <a:solidFill>
                            <a:srgbClr val="000000"/>
                          </a:solidFill>
                          <a:effectLst/>
                          <a:latin typeface="Verdana" panose="020B0604030504040204" pitchFamily="34" charset="0"/>
                        </a:rPr>
                        <a:t>0640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96091276"/>
                  </a:ext>
                </a:extLst>
              </a:tr>
            </a:tbl>
          </a:graphicData>
        </a:graphic>
      </p:graphicFrame>
      <p:sp>
        <p:nvSpPr>
          <p:cNvPr id="4" name="Espace réservé du texte 15">
            <a:extLst>
              <a:ext uri="{FF2B5EF4-FFF2-40B4-BE49-F238E27FC236}">
                <a16:creationId xmlns:a16="http://schemas.microsoft.com/office/drawing/2014/main" id="{D2017308-22DD-DF56-52FB-EEF6D405EAEA}"/>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71793432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c- Template </a:t>
            </a:r>
            <a:r>
              <a:rPr lang="fr-FR" sz="2000" i="1" dirty="0">
                <a:highlight>
                  <a:srgbClr val="FF0000"/>
                </a:highlight>
                <a:latin typeface="Calibri (body)"/>
                <a:cs typeface="Calibri"/>
              </a:rPr>
              <a:t>J06</a:t>
            </a:r>
            <a:r>
              <a:rPr lang="fr-FR" sz="2000" i="1" dirty="0">
                <a:latin typeface="Calibri (body)"/>
                <a:cs typeface="Calibri"/>
              </a:rPr>
              <a:t> – </a:t>
            </a:r>
            <a:r>
              <a:rPr lang="fr-FR" sz="2000" i="1" dirty="0" err="1">
                <a:latin typeface="Calibri (body)"/>
                <a:cs typeface="Calibri"/>
              </a:rPr>
              <a:t>Repricing</a:t>
            </a:r>
            <a:r>
              <a:rPr lang="fr-FR" sz="2000" i="1" dirty="0">
                <a:latin typeface="Calibri (body)"/>
                <a:cs typeface="Calibri"/>
              </a:rPr>
              <a:t> cash-flows</a:t>
            </a:r>
            <a:endParaRPr lang="fr-FR" dirty="0">
              <a:latin typeface="Calibri"/>
              <a:cs typeface="Calibri"/>
            </a:endParaRP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7" name="ZoneTexte 6">
            <a:extLst>
              <a:ext uri="{FF2B5EF4-FFF2-40B4-BE49-F238E27FC236}">
                <a16:creationId xmlns:a16="http://schemas.microsoft.com/office/drawing/2014/main" id="{719920D1-78BE-017C-0359-4E178C901634}"/>
              </a:ext>
            </a:extLst>
          </p:cNvPr>
          <p:cNvSpPr txBox="1"/>
          <p:nvPr/>
        </p:nvSpPr>
        <p:spPr>
          <a:xfrm>
            <a:off x="6095999" y="1659285"/>
            <a:ext cx="5399315" cy="3539430"/>
          </a:xfrm>
          <a:prstGeom prst="rect">
            <a:avLst/>
          </a:prstGeom>
          <a:noFill/>
          <a:ln>
            <a:solidFill>
              <a:schemeClr val="tx1"/>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Le Template J06 a pour objectif de renseigner </a:t>
            </a:r>
            <a:r>
              <a:rPr lang="fr-FR" b="1" dirty="0">
                <a:solidFill>
                  <a:schemeClr val="tx1">
                    <a:lumMod val="50000"/>
                  </a:schemeClr>
                </a:solidFill>
                <a:latin typeface="Calibri (body)"/>
              </a:rPr>
              <a:t>les flux non actualisés </a:t>
            </a:r>
            <a:r>
              <a:rPr lang="fr-FR" dirty="0">
                <a:solidFill>
                  <a:schemeClr val="tx1">
                    <a:lumMod val="50000"/>
                  </a:schemeClr>
                </a:solidFill>
                <a:latin typeface="Calibri (body)"/>
              </a:rPr>
              <a:t>utilisés pour le calcul de l’EVE </a:t>
            </a:r>
            <a:r>
              <a:rPr lang="fr-FR" b="1" dirty="0">
                <a:solidFill>
                  <a:schemeClr val="tx1">
                    <a:lumMod val="50000"/>
                  </a:schemeClr>
                </a:solidFill>
                <a:latin typeface="Calibri (body)"/>
              </a:rPr>
              <a:t>sous deux modélisations différentes :</a:t>
            </a:r>
            <a:r>
              <a:rPr lang="fr-FR" dirty="0">
                <a:solidFill>
                  <a:schemeClr val="tx1">
                    <a:lumMod val="50000"/>
                  </a:schemeClr>
                </a:solidFill>
                <a:latin typeface="Calibri (body)"/>
              </a:rPr>
              <a:t> la modélisation contractuelle et la modélisation comportementale, en distinguant les natures de taux (fixe et révisable).</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Les lignes à reporter diffèrent du Template J03 qui requiert une granularité moindre. </a:t>
            </a:r>
          </a:p>
          <a:p>
            <a:r>
              <a:rPr lang="fr-FR" dirty="0">
                <a:solidFill>
                  <a:schemeClr val="tx1">
                    <a:lumMod val="50000"/>
                  </a:schemeClr>
                </a:solidFill>
                <a:latin typeface="Calibri (body)"/>
              </a:rPr>
              <a:t>On intègre ici, la sous décomposition des encours, principalement par type de contrepartie sur le passif du bilan.</a:t>
            </a:r>
          </a:p>
          <a:p>
            <a:endParaRPr lang="fr-FR" dirty="0">
              <a:solidFill>
                <a:schemeClr val="tx1">
                  <a:lumMod val="50000"/>
                </a:schemeClr>
              </a:solidFill>
              <a:latin typeface="Calibri (body)"/>
            </a:endParaRPr>
          </a:p>
          <a:p>
            <a:r>
              <a:rPr lang="fr-FR" sz="1400" dirty="0">
                <a:solidFill>
                  <a:schemeClr val="tx1">
                    <a:lumMod val="50000"/>
                  </a:schemeClr>
                </a:solidFill>
                <a:latin typeface="Calibri (body)"/>
              </a:rPr>
              <a:t>Il permet également de </a:t>
            </a:r>
            <a:r>
              <a:rPr lang="fr-FR" sz="1400" dirty="0">
                <a:solidFill>
                  <a:schemeClr val="tx1">
                    <a:lumMod val="50000"/>
                  </a:schemeClr>
                </a:solidFill>
                <a:latin typeface="Calibri (body)"/>
                <a:cs typeface="Arial" panose="020B0604020202020204" pitchFamily="34" charset="0"/>
              </a:rPr>
              <a:t>détailler</a:t>
            </a:r>
            <a:r>
              <a:rPr lang="fr-FR" sz="1400" dirty="0">
                <a:solidFill>
                  <a:schemeClr val="tx1">
                    <a:lumMod val="50000"/>
                  </a:schemeClr>
                </a:solidFill>
                <a:latin typeface="Calibri (body)"/>
              </a:rPr>
              <a:t> l’écoulement du bilan par typologie d’encours comprenant les flux de capital et les flux d’intérêts. </a:t>
            </a:r>
          </a:p>
          <a:p>
            <a:endParaRPr lang="fr-FR" b="1" dirty="0">
              <a:solidFill>
                <a:schemeClr val="tx1">
                  <a:lumMod val="50000"/>
                </a:schemeClr>
              </a:solidFill>
              <a:latin typeface="Calibri (body)"/>
            </a:endParaRPr>
          </a:p>
          <a:p>
            <a:r>
              <a:rPr lang="fr-FR" sz="1400" dirty="0">
                <a:solidFill>
                  <a:schemeClr val="tx1">
                    <a:lumMod val="50000"/>
                  </a:schemeClr>
                </a:solidFill>
                <a:latin typeface="Calibri (body)"/>
              </a:rPr>
              <a:t>Ce Template est également à compléter par devise significative.</a:t>
            </a:r>
          </a:p>
          <a:p>
            <a:endParaRPr lang="fr-FR" dirty="0">
              <a:solidFill>
                <a:schemeClr val="tx1">
                  <a:lumMod val="50000"/>
                </a:schemeClr>
              </a:solidFill>
              <a:latin typeface="Calibri (body)"/>
            </a:endParaRPr>
          </a:p>
        </p:txBody>
      </p:sp>
      <p:sp>
        <p:nvSpPr>
          <p:cNvPr id="4" name="Espace réservé du texte 15">
            <a:extLst>
              <a:ext uri="{FF2B5EF4-FFF2-40B4-BE49-F238E27FC236}">
                <a16:creationId xmlns:a16="http://schemas.microsoft.com/office/drawing/2014/main" id="{D2017308-22DD-DF56-52FB-EEF6D405EAEA}"/>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5" name="Table 4">
            <a:extLst>
              <a:ext uri="{FF2B5EF4-FFF2-40B4-BE49-F238E27FC236}">
                <a16:creationId xmlns:a16="http://schemas.microsoft.com/office/drawing/2014/main" id="{D83853BE-5917-0AF4-D2CE-489BB6762A6E}"/>
              </a:ext>
            </a:extLst>
          </p:cNvPr>
          <p:cNvGraphicFramePr>
            <a:graphicFrameLocks noGrp="1"/>
          </p:cNvGraphicFramePr>
          <p:nvPr/>
        </p:nvGraphicFramePr>
        <p:xfrm>
          <a:off x="696686" y="1001027"/>
          <a:ext cx="4924467" cy="5242805"/>
        </p:xfrm>
        <a:graphic>
          <a:graphicData uri="http://schemas.openxmlformats.org/drawingml/2006/table">
            <a:tbl>
              <a:tblPr/>
              <a:tblGrid>
                <a:gridCol w="4558185">
                  <a:extLst>
                    <a:ext uri="{9D8B030D-6E8A-4147-A177-3AD203B41FA5}">
                      <a16:colId xmlns:a16="http://schemas.microsoft.com/office/drawing/2014/main" val="3590743668"/>
                    </a:ext>
                  </a:extLst>
                </a:gridCol>
                <a:gridCol w="366282">
                  <a:extLst>
                    <a:ext uri="{9D8B030D-6E8A-4147-A177-3AD203B41FA5}">
                      <a16:colId xmlns:a16="http://schemas.microsoft.com/office/drawing/2014/main" val="3601487927"/>
                    </a:ext>
                  </a:extLst>
                </a:gridCol>
              </a:tblGrid>
              <a:tr h="116411">
                <a:tc>
                  <a:txBody>
                    <a:bodyPr/>
                    <a:lstStyle/>
                    <a:p>
                      <a:pPr algn="l" fontAlgn="ctr"/>
                      <a:r>
                        <a:rPr lang="fr-FR" sz="600" b="1" i="0" u="none" strike="noStrike">
                          <a:solidFill>
                            <a:srgbClr val="000000"/>
                          </a:solidFill>
                          <a:effectLst/>
                          <a:latin typeface="Verdana" panose="020B0604030504040204" pitchFamily="34" charset="0"/>
                        </a:rPr>
                        <a:t>TOTAL ASSETS</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0010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601751791"/>
                  </a:ext>
                </a:extLst>
              </a:tr>
              <a:tr h="116411">
                <a:tc>
                  <a:txBody>
                    <a:bodyPr/>
                    <a:lstStyle/>
                    <a:p>
                      <a:pPr algn="l" fontAlgn="ctr"/>
                      <a:r>
                        <a:rPr lang="fr-FR" sz="600" b="1" i="0" u="none" strike="noStrike">
                          <a:solidFill>
                            <a:srgbClr val="000000"/>
                          </a:solidFill>
                          <a:effectLst/>
                          <a:latin typeface="Verdana" panose="020B0604030504040204" pitchFamily="34" charset="0"/>
                        </a:rPr>
                        <a:t>Central bank</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0030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82961955"/>
                  </a:ext>
                </a:extLst>
              </a:tr>
              <a:tr h="116411">
                <a:tc>
                  <a:txBody>
                    <a:bodyPr/>
                    <a:lstStyle/>
                    <a:p>
                      <a:pPr algn="l" fontAlgn="ctr"/>
                      <a:r>
                        <a:rPr lang="fr-FR" sz="600" b="1" i="0" u="none" strike="noStrike">
                          <a:solidFill>
                            <a:srgbClr val="000000"/>
                          </a:solidFill>
                          <a:effectLst/>
                          <a:latin typeface="Verdana" panose="020B0604030504040204" pitchFamily="34" charset="0"/>
                        </a:rPr>
                        <a:t>Interbank</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062786224"/>
                  </a:ext>
                </a:extLst>
              </a:tr>
              <a:tr h="116411">
                <a:tc>
                  <a:txBody>
                    <a:bodyPr/>
                    <a:lstStyle/>
                    <a:p>
                      <a:pPr algn="l" fontAlgn="ctr"/>
                      <a:r>
                        <a:rPr lang="fr-FR" sz="600" b="1" i="0" u="none" strike="noStrike">
                          <a:solidFill>
                            <a:srgbClr val="000000"/>
                          </a:solidFill>
                          <a:effectLst/>
                          <a:latin typeface="Verdana" panose="020B0604030504040204" pitchFamily="34" charset="0"/>
                        </a:rPr>
                        <a:t>Loans and advances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0050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838800958"/>
                  </a:ext>
                </a:extLst>
              </a:tr>
              <a:tr h="116411">
                <a:tc>
                  <a:txBody>
                    <a:bodyPr/>
                    <a:lstStyle/>
                    <a:p>
                      <a:pPr algn="l" fontAlgn="ctr"/>
                      <a:r>
                        <a:rPr lang="fr-FR" sz="600" b="1" i="0" u="none" strike="noStrike">
                          <a:solidFill>
                            <a:srgbClr val="000000"/>
                          </a:solidFill>
                          <a:effectLst/>
                          <a:latin typeface="Verdana" panose="020B0604030504040204" pitchFamily="34" charset="0"/>
                        </a:rPr>
                        <a:t>Debt securities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0120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323041608"/>
                  </a:ext>
                </a:extLst>
              </a:tr>
              <a:tr h="116411">
                <a:tc>
                  <a:txBody>
                    <a:bodyPr/>
                    <a:lstStyle/>
                    <a:p>
                      <a:pPr algn="l" fontAlgn="ctr"/>
                      <a:r>
                        <a:rPr lang="fr-FR" sz="600" b="1" i="0" u="none" strike="noStrike">
                          <a:solidFill>
                            <a:srgbClr val="000000"/>
                          </a:solidFill>
                          <a:effectLst/>
                          <a:latin typeface="Verdana" panose="020B0604030504040204" pitchFamily="34" charset="0"/>
                        </a:rPr>
                        <a:t>Derivatives hedging assets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328941351"/>
                  </a:ext>
                </a:extLst>
              </a:tr>
              <a:tr h="116411">
                <a:tc>
                  <a:txBody>
                    <a:bodyPr/>
                    <a:lstStyle/>
                    <a:p>
                      <a:pPr algn="l" fontAlgn="ctr"/>
                      <a:r>
                        <a:rPr lang="fr-FR" sz="600" b="0" i="0" u="none" strike="noStrike">
                          <a:solidFill>
                            <a:srgbClr val="000000"/>
                          </a:solidFill>
                          <a:effectLst/>
                          <a:latin typeface="Verdana" panose="020B0604030504040204" pitchFamily="34" charset="0"/>
                        </a:rPr>
                        <a:t>Hedging debt securities</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0160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644051263"/>
                  </a:ext>
                </a:extLst>
              </a:tr>
              <a:tr h="116411">
                <a:tc>
                  <a:txBody>
                    <a:bodyPr/>
                    <a:lstStyle/>
                    <a:p>
                      <a:pPr algn="l" fontAlgn="ctr"/>
                      <a:r>
                        <a:rPr lang="fr-FR" sz="600" b="0" i="0" u="none" strike="noStrike">
                          <a:solidFill>
                            <a:srgbClr val="000000"/>
                          </a:solidFill>
                          <a:effectLst/>
                          <a:latin typeface="Verdana" panose="020B0604030504040204" pitchFamily="34" charset="0"/>
                        </a:rPr>
                        <a:t>Hedging other assets</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0170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620455534"/>
                  </a:ext>
                </a:extLst>
              </a:tr>
              <a:tr h="116411">
                <a:tc>
                  <a:txBody>
                    <a:bodyPr/>
                    <a:lstStyle/>
                    <a:p>
                      <a:pPr algn="l" fontAlgn="ctr"/>
                      <a:r>
                        <a:rPr lang="fr-FR" sz="600" b="1" i="0" u="none" strike="noStrike">
                          <a:solidFill>
                            <a:srgbClr val="000000"/>
                          </a:solidFill>
                          <a:effectLst/>
                          <a:latin typeface="Verdana" panose="020B0604030504040204" pitchFamily="34" charset="0"/>
                        </a:rPr>
                        <a:t>Other</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0180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53917530"/>
                  </a:ext>
                </a:extLst>
              </a:tr>
              <a:tr h="116411">
                <a:tc>
                  <a:txBody>
                    <a:bodyPr/>
                    <a:lstStyle/>
                    <a:p>
                      <a:pPr algn="l" fontAlgn="ctr"/>
                      <a:r>
                        <a:rPr lang="en-US" sz="600" b="1" i="0" u="none" strike="noStrike">
                          <a:solidFill>
                            <a:srgbClr val="000000"/>
                          </a:solidFill>
                          <a:effectLst/>
                          <a:latin typeface="Verdana" panose="020B0604030504040204" pitchFamily="34" charset="0"/>
                        </a:rPr>
                        <a:t>Off-balance sheet assets: contingent assets</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0190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175621967"/>
                  </a:ext>
                </a:extLst>
              </a:tr>
              <a:tr h="116411">
                <a:tc>
                  <a:txBody>
                    <a:bodyPr/>
                    <a:lstStyle/>
                    <a:p>
                      <a:pPr algn="l" fontAlgn="ctr"/>
                      <a:r>
                        <a:rPr lang="fr-FR" sz="600" b="1" i="0" u="none" strike="noStrike">
                          <a:solidFill>
                            <a:srgbClr val="000000"/>
                          </a:solidFill>
                          <a:effectLst/>
                          <a:latin typeface="Verdana" panose="020B0604030504040204" pitchFamily="34" charset="0"/>
                        </a:rPr>
                        <a:t>TOTAL LIABILITIES</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0200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330555616"/>
                  </a:ext>
                </a:extLst>
              </a:tr>
              <a:tr h="116411">
                <a:tc>
                  <a:txBody>
                    <a:bodyPr/>
                    <a:lstStyle/>
                    <a:p>
                      <a:pPr algn="l" fontAlgn="ctr"/>
                      <a:r>
                        <a:rPr lang="fr-FR" sz="600" b="1" i="0" u="none" strike="noStrike">
                          <a:solidFill>
                            <a:srgbClr val="000000"/>
                          </a:solidFill>
                          <a:effectLst/>
                          <a:latin typeface="Verdana" panose="020B0604030504040204" pitchFamily="34" charset="0"/>
                        </a:rPr>
                        <a:t>Central bank</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0220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17972734"/>
                  </a:ext>
                </a:extLst>
              </a:tr>
              <a:tr h="116411">
                <a:tc>
                  <a:txBody>
                    <a:bodyPr/>
                    <a:lstStyle/>
                    <a:p>
                      <a:pPr algn="l" fontAlgn="ctr"/>
                      <a:r>
                        <a:rPr lang="fr-FR" sz="600" b="1" i="0" u="none" strike="noStrike">
                          <a:solidFill>
                            <a:srgbClr val="000000"/>
                          </a:solidFill>
                          <a:effectLst/>
                          <a:latin typeface="Verdana" panose="020B0604030504040204" pitchFamily="34" charset="0"/>
                        </a:rPr>
                        <a:t>Interbank</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0230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13209391"/>
                  </a:ext>
                </a:extLst>
              </a:tr>
              <a:tr h="116411">
                <a:tc>
                  <a:txBody>
                    <a:bodyPr/>
                    <a:lstStyle/>
                    <a:p>
                      <a:pPr algn="l" fontAlgn="ctr"/>
                      <a:r>
                        <a:rPr lang="fr-FR" sz="600" b="1" i="0" u="none" strike="noStrike">
                          <a:solidFill>
                            <a:srgbClr val="000000"/>
                          </a:solidFill>
                          <a:effectLst/>
                          <a:latin typeface="Verdana" panose="020B0604030504040204" pitchFamily="34" charset="0"/>
                        </a:rPr>
                        <a:t>Debt securities issued</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88405480"/>
                  </a:ext>
                </a:extLst>
              </a:tr>
              <a:tr h="116411">
                <a:tc>
                  <a:txBody>
                    <a:bodyPr/>
                    <a:lstStyle/>
                    <a:p>
                      <a:pPr algn="l" fontAlgn="ctr"/>
                      <a:r>
                        <a:rPr lang="en-US" sz="600" b="0" i="0" u="none" strike="noStrike">
                          <a:solidFill>
                            <a:srgbClr val="000000"/>
                          </a:solidFill>
                          <a:effectLst/>
                          <a:latin typeface="Verdana" panose="020B0604030504040204" pitchFamily="34" charset="0"/>
                        </a:rPr>
                        <a:t>of which: AT1 or T2</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0260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1217175"/>
                  </a:ext>
                </a:extLst>
              </a:tr>
              <a:tr h="116411">
                <a:tc>
                  <a:txBody>
                    <a:bodyPr/>
                    <a:lstStyle/>
                    <a:p>
                      <a:pPr algn="l" fontAlgn="b"/>
                      <a:r>
                        <a:rPr lang="fr-FR" sz="600" b="1" i="0" u="none" strike="noStrike">
                          <a:solidFill>
                            <a:srgbClr val="000000"/>
                          </a:solidFill>
                          <a:effectLst/>
                          <a:latin typeface="Verdana" panose="020B0604030504040204" pitchFamily="34" charset="0"/>
                        </a:rPr>
                        <a:t>NMD: Retail transactional</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0270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302891339"/>
                  </a:ext>
                </a:extLst>
              </a:tr>
              <a:tr h="116411">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0290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189260507"/>
                  </a:ext>
                </a:extLst>
              </a:tr>
              <a:tr h="116411">
                <a:tc>
                  <a:txBody>
                    <a:bodyPr/>
                    <a:lstStyle/>
                    <a:p>
                      <a:pPr algn="l" fontAlgn="ctr"/>
                      <a:r>
                        <a:rPr lang="en-US" sz="600" b="0" i="0" u="none" strike="noStrike">
                          <a:solidFill>
                            <a:srgbClr val="000000"/>
                          </a:solidFill>
                          <a:effectLst/>
                          <a:latin typeface="Verdana" panose="020B0604030504040204" pitchFamily="34" charset="0"/>
                        </a:rPr>
                        <a:t>of which: exempted from the 5Y cap</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0300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613545357"/>
                  </a:ext>
                </a:extLst>
              </a:tr>
              <a:tr h="116411">
                <a:tc>
                  <a:txBody>
                    <a:bodyPr/>
                    <a:lstStyle/>
                    <a:p>
                      <a:pPr algn="l" fontAlgn="b"/>
                      <a:r>
                        <a:rPr lang="fr-FR" sz="600" b="1" i="0" u="none" strike="noStrike">
                          <a:solidFill>
                            <a:srgbClr val="000000"/>
                          </a:solidFill>
                          <a:effectLst/>
                          <a:latin typeface="Verdana" panose="020B0604030504040204" pitchFamily="34" charset="0"/>
                        </a:rPr>
                        <a:t>NMDs: Retail non-transactional</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0310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811695333"/>
                  </a:ext>
                </a:extLst>
              </a:tr>
              <a:tr h="116411">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0330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911206798"/>
                  </a:ext>
                </a:extLst>
              </a:tr>
              <a:tr h="116411">
                <a:tc>
                  <a:txBody>
                    <a:bodyPr/>
                    <a:lstStyle/>
                    <a:p>
                      <a:pPr algn="l" fontAlgn="ctr"/>
                      <a:r>
                        <a:rPr lang="en-US" sz="600" b="0" i="0" u="none" strike="noStrike">
                          <a:solidFill>
                            <a:srgbClr val="000000"/>
                          </a:solidFill>
                          <a:effectLst/>
                          <a:latin typeface="Verdana" panose="020B0604030504040204" pitchFamily="34" charset="0"/>
                        </a:rPr>
                        <a:t>of which: exempted from the 5Y cap</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950765132"/>
                  </a:ext>
                </a:extLst>
              </a:tr>
              <a:tr h="116411">
                <a:tc>
                  <a:txBody>
                    <a:bodyPr/>
                    <a:lstStyle/>
                    <a:p>
                      <a:pPr algn="l" fontAlgn="b"/>
                      <a:r>
                        <a:rPr lang="fr-FR" sz="600" b="1" i="0" u="none" strike="noStrike">
                          <a:solidFill>
                            <a:srgbClr val="000000"/>
                          </a:solidFill>
                          <a:effectLst/>
                          <a:latin typeface="Verdana" panose="020B0604030504040204" pitchFamily="34" charset="0"/>
                        </a:rPr>
                        <a:t>NMDs: Wholesale non-financial</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0350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66981401"/>
                  </a:ext>
                </a:extLst>
              </a:tr>
              <a:tr h="116411">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0370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12695799"/>
                  </a:ext>
                </a:extLst>
              </a:tr>
              <a:tr h="116411">
                <a:tc>
                  <a:txBody>
                    <a:bodyPr/>
                    <a:lstStyle/>
                    <a:p>
                      <a:pPr algn="l" fontAlgn="ctr"/>
                      <a:r>
                        <a:rPr lang="en-US" sz="600" b="0" i="0" u="none" strike="noStrike">
                          <a:solidFill>
                            <a:srgbClr val="000000"/>
                          </a:solidFill>
                          <a:effectLst/>
                          <a:latin typeface="Verdana" panose="020B0604030504040204" pitchFamily="34" charset="0"/>
                        </a:rPr>
                        <a:t>of which: exempted from the 5Y cap</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0380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655537913"/>
                  </a:ext>
                </a:extLst>
              </a:tr>
              <a:tr h="116411">
                <a:tc>
                  <a:txBody>
                    <a:bodyPr/>
                    <a:lstStyle/>
                    <a:p>
                      <a:pPr algn="l" fontAlgn="b"/>
                      <a:r>
                        <a:rPr lang="fr-FR" sz="600" b="1" i="0" u="none" strike="noStrike">
                          <a:solidFill>
                            <a:srgbClr val="000000"/>
                          </a:solidFill>
                          <a:effectLst/>
                          <a:latin typeface="Verdana" panose="020B0604030504040204" pitchFamily="34" charset="0"/>
                        </a:rPr>
                        <a:t>NMDs: Wholesale financial</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0390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134163805"/>
                  </a:ext>
                </a:extLst>
              </a:tr>
              <a:tr h="116411">
                <a:tc>
                  <a:txBody>
                    <a:bodyPr/>
                    <a:lstStyle/>
                    <a:p>
                      <a:pPr algn="l" fontAlgn="ctr"/>
                      <a:r>
                        <a:rPr lang="fr-FR" sz="600" b="0" i="0" u="none" strike="noStrike">
                          <a:solidFill>
                            <a:srgbClr val="000000"/>
                          </a:solidFill>
                          <a:effectLst/>
                          <a:latin typeface="Verdana" panose="020B0604030504040204" pitchFamily="34" charset="0"/>
                        </a:rPr>
                        <a:t>of which: operational deposits</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0410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543895972"/>
                  </a:ext>
                </a:extLst>
              </a:tr>
              <a:tr h="116411">
                <a:tc>
                  <a:txBody>
                    <a:bodyPr/>
                    <a:lstStyle/>
                    <a:p>
                      <a:pPr algn="l" fontAlgn="b"/>
                      <a:r>
                        <a:rPr lang="fr-FR" sz="600" b="1" i="0" u="none" strike="noStrike">
                          <a:solidFill>
                            <a:srgbClr val="000000"/>
                          </a:solidFill>
                          <a:effectLst/>
                          <a:latin typeface="Verdana" panose="020B0604030504040204" pitchFamily="34" charset="0"/>
                        </a:rPr>
                        <a:t>Term deposits</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0420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334675169"/>
                  </a:ext>
                </a:extLst>
              </a:tr>
              <a:tr h="116411">
                <a:tc>
                  <a:txBody>
                    <a:bodyPr/>
                    <a:lstStyle/>
                    <a:p>
                      <a:pPr algn="l" fontAlgn="b"/>
                      <a:r>
                        <a:rPr lang="fr-FR" sz="600" b="0" i="0" u="none" strike="noStrike">
                          <a:solidFill>
                            <a:srgbClr val="000000"/>
                          </a:solidFill>
                          <a:effectLst/>
                          <a:latin typeface="Verdana" panose="020B0604030504040204" pitchFamily="34" charset="0"/>
                        </a:rPr>
                        <a:t>Retail</a:t>
                      </a:r>
                    </a:p>
                  </a:txBody>
                  <a:tcPr marL="214704"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656106934"/>
                  </a:ext>
                </a:extLst>
              </a:tr>
              <a:tr h="116411">
                <a:tc>
                  <a:txBody>
                    <a:bodyPr/>
                    <a:lstStyle/>
                    <a:p>
                      <a:pPr algn="l" fontAlgn="b"/>
                      <a:r>
                        <a:rPr lang="fr-FR" sz="600" b="0" i="0" u="none" strike="noStrike">
                          <a:solidFill>
                            <a:srgbClr val="000000"/>
                          </a:solidFill>
                          <a:effectLst/>
                          <a:latin typeface="Verdana" panose="020B0604030504040204" pitchFamily="34" charset="0"/>
                        </a:rPr>
                        <a:t>Wholesale non-financial</a:t>
                      </a:r>
                    </a:p>
                  </a:txBody>
                  <a:tcPr marL="214704"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0450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78375980"/>
                  </a:ext>
                </a:extLst>
              </a:tr>
              <a:tr h="116411">
                <a:tc>
                  <a:txBody>
                    <a:bodyPr/>
                    <a:lstStyle/>
                    <a:p>
                      <a:pPr algn="l" fontAlgn="b"/>
                      <a:r>
                        <a:rPr lang="fr-FR" sz="600" b="0" i="0" u="none" strike="noStrike">
                          <a:solidFill>
                            <a:srgbClr val="000000"/>
                          </a:solidFill>
                          <a:effectLst/>
                          <a:latin typeface="Verdana" panose="020B0604030504040204" pitchFamily="34" charset="0"/>
                        </a:rPr>
                        <a:t>Wholesale financial</a:t>
                      </a:r>
                    </a:p>
                  </a:txBody>
                  <a:tcPr marL="214704"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0460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48408847"/>
                  </a:ext>
                </a:extLst>
              </a:tr>
              <a:tr h="116411">
                <a:tc>
                  <a:txBody>
                    <a:bodyPr/>
                    <a:lstStyle/>
                    <a:p>
                      <a:pPr algn="l" fontAlgn="ctr"/>
                      <a:r>
                        <a:rPr lang="fr-FR" sz="600" b="1" i="0" u="none" strike="noStrike">
                          <a:solidFill>
                            <a:srgbClr val="000000"/>
                          </a:solidFill>
                          <a:effectLst/>
                          <a:latin typeface="Verdana" panose="020B0604030504040204" pitchFamily="34" charset="0"/>
                        </a:rPr>
                        <a:t>Derivatives hedging liabilities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0470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91612123"/>
                  </a:ext>
                </a:extLst>
              </a:tr>
              <a:tr h="116411">
                <a:tc>
                  <a:txBody>
                    <a:bodyPr/>
                    <a:lstStyle/>
                    <a:p>
                      <a:pPr algn="l" fontAlgn="ctr"/>
                      <a:r>
                        <a:rPr lang="fr-FR" sz="600" b="0" i="0" u="none" strike="noStrike">
                          <a:solidFill>
                            <a:srgbClr val="000000"/>
                          </a:solidFill>
                          <a:effectLst/>
                          <a:latin typeface="Verdana" panose="020B0604030504040204" pitchFamily="34" charset="0"/>
                        </a:rPr>
                        <a:t>Hedging debt securities</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0490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640844068"/>
                  </a:ext>
                </a:extLst>
              </a:tr>
              <a:tr h="116411">
                <a:tc>
                  <a:txBody>
                    <a:bodyPr/>
                    <a:lstStyle/>
                    <a:p>
                      <a:pPr algn="l" fontAlgn="ctr"/>
                      <a:r>
                        <a:rPr lang="fr-FR" sz="600" b="0" i="0" u="none" strike="noStrike">
                          <a:solidFill>
                            <a:srgbClr val="000000"/>
                          </a:solidFill>
                          <a:effectLst/>
                          <a:latin typeface="Verdana" panose="020B0604030504040204" pitchFamily="34" charset="0"/>
                        </a:rPr>
                        <a:t>Hedging other liabilities</a:t>
                      </a:r>
                    </a:p>
                  </a:txBody>
                  <a:tcPr marL="214704"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0500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263460385"/>
                  </a:ext>
                </a:extLst>
              </a:tr>
              <a:tr h="116411">
                <a:tc>
                  <a:txBody>
                    <a:bodyPr/>
                    <a:lstStyle/>
                    <a:p>
                      <a:pPr algn="l" fontAlgn="b"/>
                      <a:r>
                        <a:rPr lang="fr-FR" sz="600" b="1" i="0" u="none" strike="noStrike">
                          <a:solidFill>
                            <a:srgbClr val="000000"/>
                          </a:solidFill>
                          <a:effectLst/>
                          <a:latin typeface="Verdana" panose="020B0604030504040204" pitchFamily="34" charset="0"/>
                        </a:rPr>
                        <a:t>Other</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0510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76760161"/>
                  </a:ext>
                </a:extLst>
              </a:tr>
              <a:tr h="116411">
                <a:tc>
                  <a:txBody>
                    <a:bodyPr/>
                    <a:lstStyle/>
                    <a:p>
                      <a:pPr algn="l" fontAlgn="ctr"/>
                      <a:r>
                        <a:rPr lang="fr-FR" sz="600" b="1" i="0" u="none" strike="noStrike">
                          <a:solidFill>
                            <a:srgbClr val="000000"/>
                          </a:solidFill>
                          <a:effectLst/>
                          <a:latin typeface="Verdana" panose="020B0604030504040204" pitchFamily="34" charset="0"/>
                        </a:rPr>
                        <a:t>Off-balance sheet liabilities: contingent liabilities</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0520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16101604"/>
                  </a:ext>
                </a:extLst>
              </a:tr>
              <a:tr h="116411">
                <a:tc>
                  <a:txBody>
                    <a:bodyPr/>
                    <a:lstStyle/>
                    <a:p>
                      <a:pPr algn="l" fontAlgn="ctr"/>
                      <a:r>
                        <a:rPr lang="fr-FR" sz="600" b="1" i="0" u="none" strike="noStrike">
                          <a:solidFill>
                            <a:srgbClr val="000000"/>
                          </a:solidFill>
                          <a:effectLst/>
                          <a:latin typeface="Verdana" panose="020B0604030504040204" pitchFamily="34" charset="0"/>
                        </a:rPr>
                        <a:t>Other derivatives (Net asset/liability)</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0530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925038375"/>
                  </a:ext>
                </a:extLst>
              </a:tr>
              <a:tr h="116411">
                <a:tc gridSpan="2">
                  <a:txBody>
                    <a:bodyPr/>
                    <a:lstStyle/>
                    <a:p>
                      <a:pPr algn="ctr" fontAlgn="ctr"/>
                      <a:r>
                        <a:rPr lang="fr-FR" sz="600" b="1" i="0" u="none" strike="noStrike">
                          <a:solidFill>
                            <a:srgbClr val="000000"/>
                          </a:solidFill>
                          <a:effectLst/>
                          <a:latin typeface="Verdana" panose="020B0604030504040204" pitchFamily="34" charset="0"/>
                        </a:rPr>
                        <a:t>MEMORANDUM ITEMS</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extLst>
                  <a:ext uri="{0D108BD9-81ED-4DB2-BD59-A6C34878D82A}">
                    <a16:rowId xmlns:a16="http://schemas.microsoft.com/office/drawing/2014/main" val="1010267433"/>
                  </a:ext>
                </a:extLst>
              </a:tr>
              <a:tr h="116411">
                <a:tc>
                  <a:txBody>
                    <a:bodyPr/>
                    <a:lstStyle/>
                    <a:p>
                      <a:pPr algn="l" fontAlgn="ctr"/>
                      <a:r>
                        <a:rPr lang="en-US" sz="600" b="1" i="0" u="none" strike="noStrike">
                          <a:solidFill>
                            <a:srgbClr val="000000"/>
                          </a:solidFill>
                          <a:effectLst/>
                          <a:latin typeface="Verdana" panose="020B0604030504040204" pitchFamily="34" charset="0"/>
                        </a:rPr>
                        <a:t>Total Assets with MV impact</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0570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344707358"/>
                  </a:ext>
                </a:extLst>
              </a:tr>
              <a:tr h="116411">
                <a:tc>
                  <a:txBody>
                    <a:bodyPr/>
                    <a:lstStyle/>
                    <a:p>
                      <a:pPr algn="l" fontAlgn="ctr"/>
                      <a:r>
                        <a:rPr lang="fr-FR" sz="600" b="0" i="0" u="none" strike="noStrike">
                          <a:solidFill>
                            <a:srgbClr val="000000"/>
                          </a:solidFill>
                          <a:effectLst/>
                          <a:latin typeface="Verdana" panose="020B0604030504040204" pitchFamily="34" charset="0"/>
                        </a:rPr>
                        <a:t>Debt securities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0580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10554913"/>
                  </a:ext>
                </a:extLst>
              </a:tr>
              <a:tr h="116411">
                <a:tc>
                  <a:txBody>
                    <a:bodyPr/>
                    <a:lstStyle/>
                    <a:p>
                      <a:pPr algn="l" fontAlgn="ctr"/>
                      <a:r>
                        <a:rPr lang="fr-FR" sz="600" b="0" i="0" u="none" strike="noStrike">
                          <a:solidFill>
                            <a:srgbClr val="000000"/>
                          </a:solidFill>
                          <a:effectLst/>
                          <a:latin typeface="Verdana" panose="020B0604030504040204" pitchFamily="34" charset="0"/>
                        </a:rPr>
                        <a:t>Derivatives</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0590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09910254"/>
                  </a:ext>
                </a:extLst>
              </a:tr>
              <a:tr h="116411">
                <a:tc>
                  <a:txBody>
                    <a:bodyPr/>
                    <a:lstStyle/>
                    <a:p>
                      <a:pPr algn="l" fontAlgn="ctr"/>
                      <a:r>
                        <a:rPr lang="fr-FR" sz="600" b="0" i="0" u="none" strike="noStrike">
                          <a:solidFill>
                            <a:srgbClr val="000000"/>
                          </a:solidFill>
                          <a:effectLst/>
                          <a:latin typeface="Verdana" panose="020B0604030504040204" pitchFamily="34" charset="0"/>
                        </a:rPr>
                        <a:t>Other</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0600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719582764"/>
                  </a:ext>
                </a:extLst>
              </a:tr>
              <a:tr h="116411">
                <a:tc>
                  <a:txBody>
                    <a:bodyPr/>
                    <a:lstStyle/>
                    <a:p>
                      <a:pPr algn="l" fontAlgn="ctr"/>
                      <a:r>
                        <a:rPr lang="en-US" sz="600" b="1" i="0" u="none" strike="noStrike">
                          <a:solidFill>
                            <a:srgbClr val="000000"/>
                          </a:solidFill>
                          <a:effectLst/>
                          <a:latin typeface="Verdana" panose="020B0604030504040204" pitchFamily="34" charset="0"/>
                        </a:rPr>
                        <a:t>Total Liabilities with MV impact</a:t>
                      </a:r>
                    </a:p>
                  </a:txBody>
                  <a:tcPr marL="3578"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0610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85674292"/>
                  </a:ext>
                </a:extLst>
              </a:tr>
              <a:tr h="116411">
                <a:tc>
                  <a:txBody>
                    <a:bodyPr/>
                    <a:lstStyle/>
                    <a:p>
                      <a:pPr algn="l" fontAlgn="ctr"/>
                      <a:r>
                        <a:rPr lang="fr-FR" sz="600" b="0" i="0" u="none" strike="noStrike">
                          <a:solidFill>
                            <a:srgbClr val="000000"/>
                          </a:solidFill>
                          <a:effectLst/>
                          <a:latin typeface="Verdana" panose="020B0604030504040204" pitchFamily="34" charset="0"/>
                        </a:rPr>
                        <a:t>Debt securities issued</a:t>
                      </a:r>
                    </a:p>
                  </a:txBody>
                  <a:tcPr marL="107352" marR="3578" marT="357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0620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374816151"/>
                  </a:ext>
                </a:extLst>
              </a:tr>
              <a:tr h="116411">
                <a:tc>
                  <a:txBody>
                    <a:bodyPr/>
                    <a:lstStyle/>
                    <a:p>
                      <a:pPr algn="l" fontAlgn="b"/>
                      <a:r>
                        <a:rPr lang="fr-FR" sz="600" b="0" i="0" u="none" strike="noStrike">
                          <a:solidFill>
                            <a:srgbClr val="000000"/>
                          </a:solidFill>
                          <a:effectLst/>
                          <a:latin typeface="Verdana" panose="020B0604030504040204" pitchFamily="34" charset="0"/>
                        </a:rPr>
                        <a:t>Derivatives </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0630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106041732"/>
                  </a:ext>
                </a:extLst>
              </a:tr>
              <a:tr h="120721">
                <a:tc>
                  <a:txBody>
                    <a:bodyPr/>
                    <a:lstStyle/>
                    <a:p>
                      <a:pPr algn="l" fontAlgn="b"/>
                      <a:r>
                        <a:rPr lang="fr-FR" sz="600" b="0" i="0" u="none" strike="noStrike">
                          <a:solidFill>
                            <a:srgbClr val="000000"/>
                          </a:solidFill>
                          <a:effectLst/>
                          <a:latin typeface="Verdana" panose="020B0604030504040204" pitchFamily="34" charset="0"/>
                        </a:rPr>
                        <a:t>Other</a:t>
                      </a:r>
                    </a:p>
                  </a:txBody>
                  <a:tcPr marL="107352" marR="3578" marT="3578"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dirty="0">
                          <a:solidFill>
                            <a:srgbClr val="000000"/>
                          </a:solidFill>
                          <a:effectLst/>
                          <a:latin typeface="Verdana" panose="020B0604030504040204" pitchFamily="34" charset="0"/>
                        </a:rPr>
                        <a:t>0640</a:t>
                      </a:r>
                    </a:p>
                  </a:txBody>
                  <a:tcPr marL="3578" marR="3578" marT="357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95052821"/>
                  </a:ext>
                </a:extLst>
              </a:tr>
            </a:tbl>
          </a:graphicData>
        </a:graphic>
      </p:graphicFrame>
    </p:spTree>
    <p:extLst>
      <p:ext uri="{BB962C8B-B14F-4D97-AF65-F5344CB8AC3E}">
        <p14:creationId xmlns:p14="http://schemas.microsoft.com/office/powerpoint/2010/main" val="381349174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c- Template </a:t>
            </a:r>
            <a:r>
              <a:rPr lang="fr-FR" sz="2000" i="1" dirty="0">
                <a:highlight>
                  <a:srgbClr val="FF0000"/>
                </a:highlight>
                <a:latin typeface="Calibri (body)"/>
                <a:cs typeface="Calibri"/>
              </a:rPr>
              <a:t>J05</a:t>
            </a:r>
            <a:r>
              <a:rPr lang="fr-FR" sz="2000" i="1" dirty="0">
                <a:latin typeface="Calibri (body)"/>
                <a:cs typeface="Calibri"/>
              </a:rPr>
              <a:t> – </a:t>
            </a:r>
            <a:r>
              <a:rPr lang="fr-FR" sz="2000" i="1" dirty="0" err="1">
                <a:latin typeface="Calibri (body)"/>
                <a:cs typeface="Calibri"/>
              </a:rPr>
              <a:t>Repricing</a:t>
            </a:r>
            <a:r>
              <a:rPr lang="fr-FR" sz="2000" i="1" dirty="0">
                <a:latin typeface="Calibri (body)"/>
                <a:cs typeface="Calibri"/>
              </a:rPr>
              <a:t> cash-flows</a:t>
            </a:r>
            <a:endParaRPr lang="fr-FR" dirty="0">
              <a:latin typeface="Calibri"/>
              <a:cs typeface="Calibri"/>
            </a:endParaRP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7" name="ZoneTexte 6">
            <a:extLst>
              <a:ext uri="{FF2B5EF4-FFF2-40B4-BE49-F238E27FC236}">
                <a16:creationId xmlns:a16="http://schemas.microsoft.com/office/drawing/2014/main" id="{719920D1-78BE-017C-0359-4E178C901634}"/>
              </a:ext>
            </a:extLst>
          </p:cNvPr>
          <p:cNvSpPr txBox="1"/>
          <p:nvPr/>
        </p:nvSpPr>
        <p:spPr>
          <a:xfrm>
            <a:off x="5916279" y="1917331"/>
            <a:ext cx="5399315" cy="3754874"/>
          </a:xfrm>
          <a:prstGeom prst="rect">
            <a:avLst/>
          </a:prstGeom>
          <a:noFill/>
          <a:ln>
            <a:solidFill>
              <a:schemeClr val="tx1"/>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Le Template J05 a pour objectif de renseigner </a:t>
            </a:r>
            <a:r>
              <a:rPr lang="fr-FR" b="1" dirty="0">
                <a:solidFill>
                  <a:schemeClr val="tx1">
                    <a:lumMod val="50000"/>
                  </a:schemeClr>
                </a:solidFill>
                <a:latin typeface="Calibri (body)"/>
              </a:rPr>
              <a:t>les flux non actualisés </a:t>
            </a:r>
            <a:r>
              <a:rPr lang="fr-FR" dirty="0">
                <a:solidFill>
                  <a:schemeClr val="tx1">
                    <a:lumMod val="50000"/>
                  </a:schemeClr>
                </a:solidFill>
                <a:latin typeface="Calibri (body)"/>
              </a:rPr>
              <a:t>utilisés pour le calcul de l’EVE </a:t>
            </a:r>
            <a:r>
              <a:rPr lang="fr-FR" b="1" dirty="0">
                <a:solidFill>
                  <a:schemeClr val="tx1">
                    <a:lumMod val="50000"/>
                  </a:schemeClr>
                </a:solidFill>
                <a:latin typeface="Calibri (body)"/>
              </a:rPr>
              <a:t>sous deux modélisations différentes :</a:t>
            </a:r>
            <a:r>
              <a:rPr lang="fr-FR" dirty="0">
                <a:solidFill>
                  <a:schemeClr val="tx1">
                    <a:lumMod val="50000"/>
                  </a:schemeClr>
                </a:solidFill>
                <a:latin typeface="Calibri (body)"/>
              </a:rPr>
              <a:t> la modélisation contractuelle et la modélisation comportementale, en distinguant les natures de taux (fixe et révisable).</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Les lignes à reporter diffèrent légèrement du Template J02. Les sous catégories « dont taux fixe » ont été supprimées car les colonnes du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permettent de distinguer les flux à TF des flux à TV directement.</a:t>
            </a:r>
          </a:p>
          <a:p>
            <a:endParaRPr lang="fr-FR" dirty="0">
              <a:solidFill>
                <a:schemeClr val="tx1">
                  <a:lumMod val="50000"/>
                </a:schemeClr>
              </a:solidFill>
              <a:latin typeface="Calibri (body)"/>
            </a:endParaRPr>
          </a:p>
          <a:p>
            <a:r>
              <a:rPr lang="fr-FR" sz="1400" dirty="0">
                <a:solidFill>
                  <a:schemeClr val="tx1">
                    <a:lumMod val="50000"/>
                  </a:schemeClr>
                </a:solidFill>
                <a:latin typeface="Calibri (body)"/>
              </a:rPr>
              <a:t>Il permet également de </a:t>
            </a:r>
            <a:r>
              <a:rPr lang="fr-FR" sz="1400" dirty="0">
                <a:solidFill>
                  <a:schemeClr val="tx1">
                    <a:lumMod val="50000"/>
                  </a:schemeClr>
                </a:solidFill>
                <a:latin typeface="Calibri (body)"/>
                <a:cs typeface="Arial" panose="020B0604020202020204" pitchFamily="34" charset="0"/>
              </a:rPr>
              <a:t>détailler</a:t>
            </a:r>
            <a:r>
              <a:rPr lang="fr-FR" sz="1400" dirty="0">
                <a:solidFill>
                  <a:schemeClr val="tx1">
                    <a:lumMod val="50000"/>
                  </a:schemeClr>
                </a:solidFill>
                <a:latin typeface="Calibri (body)"/>
              </a:rPr>
              <a:t> l’écoulement du bilan par typologie d’encours comprenant les flux de capital et les flux d’intérêts. </a:t>
            </a:r>
          </a:p>
          <a:p>
            <a:endParaRPr lang="fr-FR" b="1" dirty="0">
              <a:solidFill>
                <a:schemeClr val="tx1">
                  <a:lumMod val="50000"/>
                </a:schemeClr>
              </a:solidFill>
              <a:latin typeface="Calibri (body)"/>
            </a:endParaRPr>
          </a:p>
          <a:p>
            <a:r>
              <a:rPr lang="fr-FR" sz="1400" dirty="0">
                <a:solidFill>
                  <a:schemeClr val="tx1">
                    <a:lumMod val="50000"/>
                  </a:schemeClr>
                </a:solidFill>
                <a:latin typeface="Calibri (body)"/>
              </a:rPr>
              <a:t>Ce Template est également à compléter par devise significative.</a:t>
            </a:r>
          </a:p>
          <a:p>
            <a:endParaRPr lang="fr-FR" dirty="0">
              <a:solidFill>
                <a:schemeClr val="tx1">
                  <a:lumMod val="50000"/>
                </a:schemeClr>
              </a:solidFill>
              <a:latin typeface="Calibri (body)"/>
            </a:endParaRPr>
          </a:p>
          <a:p>
            <a:endParaRPr lang="fr-FR" sz="1400" dirty="0">
              <a:solidFill>
                <a:schemeClr val="tx1">
                  <a:lumMod val="50000"/>
                </a:schemeClr>
              </a:solidFill>
              <a:latin typeface="Calibri (body)"/>
            </a:endParaRPr>
          </a:p>
        </p:txBody>
      </p:sp>
      <p:sp>
        <p:nvSpPr>
          <p:cNvPr id="4" name="Espace réservé du texte 15">
            <a:extLst>
              <a:ext uri="{FF2B5EF4-FFF2-40B4-BE49-F238E27FC236}">
                <a16:creationId xmlns:a16="http://schemas.microsoft.com/office/drawing/2014/main" id="{D2017308-22DD-DF56-52FB-EEF6D405EAEA}"/>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6" name="Table 5">
            <a:extLst>
              <a:ext uri="{FF2B5EF4-FFF2-40B4-BE49-F238E27FC236}">
                <a16:creationId xmlns:a16="http://schemas.microsoft.com/office/drawing/2014/main" id="{1F5D6224-0408-063B-9757-01F33F69B187}"/>
              </a:ext>
            </a:extLst>
          </p:cNvPr>
          <p:cNvGraphicFramePr>
            <a:graphicFrameLocks noGrp="1"/>
          </p:cNvGraphicFramePr>
          <p:nvPr/>
        </p:nvGraphicFramePr>
        <p:xfrm>
          <a:off x="269509" y="892385"/>
          <a:ext cx="5467148" cy="5874664"/>
        </p:xfrm>
        <a:graphic>
          <a:graphicData uri="http://schemas.openxmlformats.org/drawingml/2006/table">
            <a:tbl>
              <a:tblPr/>
              <a:tblGrid>
                <a:gridCol w="5060501">
                  <a:extLst>
                    <a:ext uri="{9D8B030D-6E8A-4147-A177-3AD203B41FA5}">
                      <a16:colId xmlns:a16="http://schemas.microsoft.com/office/drawing/2014/main" val="2521504177"/>
                    </a:ext>
                  </a:extLst>
                </a:gridCol>
                <a:gridCol w="406647">
                  <a:extLst>
                    <a:ext uri="{9D8B030D-6E8A-4147-A177-3AD203B41FA5}">
                      <a16:colId xmlns:a16="http://schemas.microsoft.com/office/drawing/2014/main" val="3170252162"/>
                    </a:ext>
                  </a:extLst>
                </a:gridCol>
              </a:tblGrid>
              <a:tr h="109362">
                <a:tc>
                  <a:txBody>
                    <a:bodyPr/>
                    <a:lstStyle/>
                    <a:p>
                      <a:pPr algn="l" fontAlgn="ctr"/>
                      <a:r>
                        <a:rPr lang="fr-FR" sz="500" b="1" i="0" u="none" strike="noStrike">
                          <a:solidFill>
                            <a:srgbClr val="000000"/>
                          </a:solidFill>
                          <a:effectLst/>
                          <a:latin typeface="Verdana" panose="020B0604030504040204" pitchFamily="34" charset="0"/>
                        </a:rPr>
                        <a:t>TOTAL ASSETS</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097152282"/>
                  </a:ext>
                </a:extLst>
              </a:tr>
              <a:tr h="115795">
                <a:tc>
                  <a:txBody>
                    <a:bodyPr/>
                    <a:lstStyle/>
                    <a:p>
                      <a:pPr algn="l" fontAlgn="ctr"/>
                      <a:r>
                        <a:rPr lang="fr-FR" sz="500" b="1" i="0" u="none" strike="noStrike">
                          <a:solidFill>
                            <a:srgbClr val="000000"/>
                          </a:solidFill>
                          <a:effectLst/>
                          <a:latin typeface="Verdana" panose="020B0604030504040204" pitchFamily="34" charset="0"/>
                        </a:rPr>
                        <a:t>Central bank</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0030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9310830"/>
                  </a:ext>
                </a:extLst>
              </a:tr>
              <a:tr h="115795">
                <a:tc>
                  <a:txBody>
                    <a:bodyPr/>
                    <a:lstStyle/>
                    <a:p>
                      <a:pPr algn="l" fontAlgn="ctr"/>
                      <a:r>
                        <a:rPr lang="fr-FR" sz="500" b="1" i="0" u="none" strike="noStrike">
                          <a:solidFill>
                            <a:srgbClr val="000000"/>
                          </a:solidFill>
                          <a:effectLst/>
                          <a:latin typeface="Verdana" panose="020B0604030504040204" pitchFamily="34" charset="0"/>
                        </a:rPr>
                        <a:t>Interbank</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25775616"/>
                  </a:ext>
                </a:extLst>
              </a:tr>
              <a:tr h="115795">
                <a:tc>
                  <a:txBody>
                    <a:bodyPr/>
                    <a:lstStyle/>
                    <a:p>
                      <a:pPr algn="l" fontAlgn="ctr"/>
                      <a:r>
                        <a:rPr lang="fr-FR" sz="500" b="1" i="0" u="none" strike="noStrike">
                          <a:solidFill>
                            <a:srgbClr val="000000"/>
                          </a:solidFill>
                          <a:effectLst/>
                          <a:latin typeface="Verdana" panose="020B0604030504040204" pitchFamily="34" charset="0"/>
                        </a:rPr>
                        <a:t>Loans and advances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0050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31381051"/>
                  </a:ext>
                </a:extLst>
              </a:tr>
              <a:tr h="115795">
                <a:tc>
                  <a:txBody>
                    <a:bodyPr/>
                    <a:lstStyle/>
                    <a:p>
                      <a:pPr algn="l" fontAlgn="ctr"/>
                      <a:r>
                        <a:rPr lang="fr-FR" sz="500" b="0" i="0" u="none" strike="noStrike">
                          <a:solidFill>
                            <a:srgbClr val="000000"/>
                          </a:solidFill>
                          <a:effectLst/>
                          <a:latin typeface="Verdana" panose="020B0604030504040204" pitchFamily="34" charset="0"/>
                        </a:rPr>
                        <a:t>of which: non-performing</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0060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633019072"/>
                  </a:ext>
                </a:extLst>
              </a:tr>
              <a:tr h="115795">
                <a:tc>
                  <a:txBody>
                    <a:bodyPr/>
                    <a:lstStyle/>
                    <a:p>
                      <a:pPr algn="l" fontAlgn="ctr"/>
                      <a:r>
                        <a:rPr lang="fr-FR" sz="500" b="0" i="0" u="none" strike="noStrike">
                          <a:solidFill>
                            <a:srgbClr val="000000"/>
                          </a:solidFill>
                          <a:effectLst/>
                          <a:latin typeface="Verdana" panose="020B0604030504040204" pitchFamily="34" charset="0"/>
                        </a:rPr>
                        <a:t>Retail</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040671595"/>
                  </a:ext>
                </a:extLst>
              </a:tr>
              <a:tr h="202855">
                <a:tc>
                  <a:txBody>
                    <a:bodyPr/>
                    <a:lstStyle/>
                    <a:p>
                      <a:pPr algn="l" fontAlgn="ctr"/>
                      <a:r>
                        <a:rPr lang="en-US" sz="500" b="0" i="0" u="none" strike="noStrike">
                          <a:solidFill>
                            <a:srgbClr val="000000"/>
                          </a:solidFill>
                          <a:effectLst/>
                          <a:latin typeface="Verdana" panose="020B0604030504040204" pitchFamily="34" charset="0"/>
                        </a:rPr>
                        <a:t>of which: secured by residential real estate </a:t>
                      </a:r>
                      <a:r>
                        <a:rPr lang="en-US" sz="500" b="0" i="0" u="none" strike="sngStrike">
                          <a:solidFill>
                            <a:srgbClr val="000000"/>
                          </a:solidFill>
                          <a:effectLst/>
                          <a:latin typeface="Verdana" panose="020B0604030504040204" pitchFamily="34" charset="0"/>
                        </a:rPr>
                        <a:t>secured by immovable property</a:t>
                      </a:r>
                      <a:endParaRPr lang="en-US" sz="500" b="0" i="0" u="none" strike="noStrike">
                        <a:solidFill>
                          <a:srgbClr val="000000"/>
                        </a:solidFill>
                        <a:effectLst/>
                        <a:latin typeface="Verdana" panose="020B0604030504040204" pitchFamily="34" charset="0"/>
                      </a:endParaRPr>
                    </a:p>
                  </a:txBody>
                  <a:tcPr marL="285896"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0090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750861853"/>
                  </a:ext>
                </a:extLst>
              </a:tr>
              <a:tr h="115795">
                <a:tc>
                  <a:txBody>
                    <a:bodyPr/>
                    <a:lstStyle/>
                    <a:p>
                      <a:pPr algn="l" fontAlgn="ctr"/>
                      <a:r>
                        <a:rPr lang="fr-FR" sz="500" b="0" i="0" u="none" strike="noStrike">
                          <a:solidFill>
                            <a:srgbClr val="000000"/>
                          </a:solidFill>
                          <a:effectLst/>
                          <a:latin typeface="Verdana" panose="020B0604030504040204" pitchFamily="34" charset="0"/>
                        </a:rPr>
                        <a:t>Wholesale non-financial</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0100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020061536"/>
                  </a:ext>
                </a:extLst>
              </a:tr>
              <a:tr h="115795">
                <a:tc>
                  <a:txBody>
                    <a:bodyPr/>
                    <a:lstStyle/>
                    <a:p>
                      <a:pPr algn="l" fontAlgn="ctr"/>
                      <a:r>
                        <a:rPr lang="fr-FR" sz="500" b="0" i="0" u="none" strike="noStrike">
                          <a:solidFill>
                            <a:srgbClr val="000000"/>
                          </a:solidFill>
                          <a:effectLst/>
                          <a:latin typeface="Verdana" panose="020B0604030504040204" pitchFamily="34" charset="0"/>
                        </a:rPr>
                        <a:t>Wholesale financial</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179722512"/>
                  </a:ext>
                </a:extLst>
              </a:tr>
              <a:tr h="115795">
                <a:tc>
                  <a:txBody>
                    <a:bodyPr/>
                    <a:lstStyle/>
                    <a:p>
                      <a:pPr algn="l" fontAlgn="ctr"/>
                      <a:r>
                        <a:rPr lang="fr-FR" sz="500" b="1" i="0" u="none" strike="noStrike">
                          <a:solidFill>
                            <a:srgbClr val="000000"/>
                          </a:solidFill>
                          <a:effectLst/>
                          <a:latin typeface="Verdana" panose="020B0604030504040204" pitchFamily="34" charset="0"/>
                        </a:rPr>
                        <a:t>Debt securities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0120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59084491"/>
                  </a:ext>
                </a:extLst>
              </a:tr>
              <a:tr h="115795">
                <a:tc>
                  <a:txBody>
                    <a:bodyPr/>
                    <a:lstStyle/>
                    <a:p>
                      <a:pPr algn="l" fontAlgn="ctr"/>
                      <a:r>
                        <a:rPr lang="fr-FR" sz="500" b="1" i="0" u="none" strike="noStrike">
                          <a:solidFill>
                            <a:srgbClr val="000000"/>
                          </a:solidFill>
                          <a:effectLst/>
                          <a:latin typeface="Verdana" panose="020B0604030504040204" pitchFamily="34" charset="0"/>
                        </a:rPr>
                        <a:t>Derivatives hedging assets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752159982"/>
                  </a:ext>
                </a:extLst>
              </a:tr>
              <a:tr h="115795">
                <a:tc>
                  <a:txBody>
                    <a:bodyPr/>
                    <a:lstStyle/>
                    <a:p>
                      <a:pPr algn="l" fontAlgn="ctr"/>
                      <a:r>
                        <a:rPr lang="fr-FR" sz="500" b="0" i="0" u="none" strike="noStrike">
                          <a:solidFill>
                            <a:srgbClr val="000000"/>
                          </a:solidFill>
                          <a:effectLst/>
                          <a:latin typeface="Verdana" panose="020B0604030504040204" pitchFamily="34" charset="0"/>
                        </a:rPr>
                        <a:t>Hedging debt securities</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0160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92830416"/>
                  </a:ext>
                </a:extLst>
              </a:tr>
              <a:tr h="115795">
                <a:tc>
                  <a:txBody>
                    <a:bodyPr/>
                    <a:lstStyle/>
                    <a:p>
                      <a:pPr algn="l" fontAlgn="ctr"/>
                      <a:r>
                        <a:rPr lang="fr-FR" sz="500" b="0" i="0" u="none" strike="noStrike">
                          <a:solidFill>
                            <a:srgbClr val="000000"/>
                          </a:solidFill>
                          <a:effectLst/>
                          <a:latin typeface="Verdana" panose="020B0604030504040204" pitchFamily="34" charset="0"/>
                        </a:rPr>
                        <a:t>Hedging other assets</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068293292"/>
                  </a:ext>
                </a:extLst>
              </a:tr>
              <a:tr h="115795">
                <a:tc>
                  <a:txBody>
                    <a:bodyPr/>
                    <a:lstStyle/>
                    <a:p>
                      <a:pPr algn="l" fontAlgn="ctr"/>
                      <a:r>
                        <a:rPr lang="fr-FR" sz="500" b="1" i="0" u="none" strike="noStrike">
                          <a:solidFill>
                            <a:srgbClr val="000000"/>
                          </a:solidFill>
                          <a:effectLst/>
                          <a:latin typeface="Verdana" panose="020B0604030504040204" pitchFamily="34" charset="0"/>
                        </a:rPr>
                        <a:t>Other</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0180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44351087"/>
                  </a:ext>
                </a:extLst>
              </a:tr>
              <a:tr h="115795">
                <a:tc>
                  <a:txBody>
                    <a:bodyPr/>
                    <a:lstStyle/>
                    <a:p>
                      <a:pPr algn="l" fontAlgn="ctr"/>
                      <a:r>
                        <a:rPr lang="en-US" sz="500" b="1" i="0" u="none" strike="noStrike">
                          <a:solidFill>
                            <a:srgbClr val="000000"/>
                          </a:solidFill>
                          <a:effectLst/>
                          <a:latin typeface="Verdana" panose="020B0604030504040204" pitchFamily="34" charset="0"/>
                        </a:rPr>
                        <a:t>Off-balance sheet assets: contingent assets</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0190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719806026"/>
                  </a:ext>
                </a:extLst>
              </a:tr>
              <a:tr h="115795">
                <a:tc>
                  <a:txBody>
                    <a:bodyPr/>
                    <a:lstStyle/>
                    <a:p>
                      <a:pPr algn="l" fontAlgn="ctr"/>
                      <a:r>
                        <a:rPr lang="fr-FR" sz="500" b="1" i="0" u="none" strike="noStrike">
                          <a:solidFill>
                            <a:srgbClr val="000000"/>
                          </a:solidFill>
                          <a:effectLst/>
                          <a:latin typeface="Verdana" panose="020B0604030504040204" pitchFamily="34" charset="0"/>
                        </a:rPr>
                        <a:t>TOTAL LIABILITIES</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0200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356408310"/>
                  </a:ext>
                </a:extLst>
              </a:tr>
              <a:tr h="115795">
                <a:tc>
                  <a:txBody>
                    <a:bodyPr/>
                    <a:lstStyle/>
                    <a:p>
                      <a:pPr algn="l" fontAlgn="ctr"/>
                      <a:r>
                        <a:rPr lang="fr-FR" sz="500" b="1" i="0" u="none" strike="noStrike">
                          <a:solidFill>
                            <a:srgbClr val="000000"/>
                          </a:solidFill>
                          <a:effectLst/>
                          <a:latin typeface="Verdana" panose="020B0604030504040204" pitchFamily="34" charset="0"/>
                        </a:rPr>
                        <a:t>Central bank</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0220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635724618"/>
                  </a:ext>
                </a:extLst>
              </a:tr>
              <a:tr h="115795">
                <a:tc>
                  <a:txBody>
                    <a:bodyPr/>
                    <a:lstStyle/>
                    <a:p>
                      <a:pPr algn="l" fontAlgn="ctr"/>
                      <a:r>
                        <a:rPr lang="fr-FR" sz="500" b="1" i="0" u="none" strike="noStrike">
                          <a:solidFill>
                            <a:srgbClr val="000000"/>
                          </a:solidFill>
                          <a:effectLst/>
                          <a:latin typeface="Verdana" panose="020B0604030504040204" pitchFamily="34" charset="0"/>
                        </a:rPr>
                        <a:t>Interbank</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0230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62993534"/>
                  </a:ext>
                </a:extLst>
              </a:tr>
              <a:tr h="115795">
                <a:tc>
                  <a:txBody>
                    <a:bodyPr/>
                    <a:lstStyle/>
                    <a:p>
                      <a:pPr algn="l" fontAlgn="ctr"/>
                      <a:r>
                        <a:rPr lang="fr-FR" sz="500" b="1" i="0" u="none" strike="noStrike">
                          <a:solidFill>
                            <a:srgbClr val="000000"/>
                          </a:solidFill>
                          <a:effectLst/>
                          <a:latin typeface="Verdana" panose="020B0604030504040204" pitchFamily="34" charset="0"/>
                        </a:rPr>
                        <a:t>Debt securities issued</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24529558"/>
                  </a:ext>
                </a:extLst>
              </a:tr>
              <a:tr h="115795">
                <a:tc>
                  <a:txBody>
                    <a:bodyPr/>
                    <a:lstStyle/>
                    <a:p>
                      <a:pPr algn="l" fontAlgn="ctr"/>
                      <a:r>
                        <a:rPr lang="en-US" sz="500" b="0" i="0" u="none" strike="noStrike">
                          <a:solidFill>
                            <a:srgbClr val="000000"/>
                          </a:solidFill>
                          <a:effectLst/>
                          <a:latin typeface="Verdana" panose="020B0604030504040204" pitchFamily="34" charset="0"/>
                        </a:rPr>
                        <a:t>of which: AT1 or T2</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0260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794388515"/>
                  </a:ext>
                </a:extLst>
              </a:tr>
              <a:tr h="115795">
                <a:tc>
                  <a:txBody>
                    <a:bodyPr/>
                    <a:lstStyle/>
                    <a:p>
                      <a:pPr algn="l" fontAlgn="b"/>
                      <a:r>
                        <a:rPr lang="fr-FR" sz="500" b="1" i="0" u="none" strike="noStrike">
                          <a:solidFill>
                            <a:srgbClr val="000000"/>
                          </a:solidFill>
                          <a:effectLst/>
                          <a:latin typeface="Verdana" panose="020B0604030504040204" pitchFamily="34" charset="0"/>
                        </a:rPr>
                        <a:t>NMD: Retail transactional</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020598817"/>
                  </a:ext>
                </a:extLst>
              </a:tr>
              <a:tr h="115795">
                <a:tc>
                  <a:txBody>
                    <a:bodyPr/>
                    <a:lstStyle/>
                    <a:p>
                      <a:pPr algn="l" fontAlgn="ctr"/>
                      <a:r>
                        <a:rPr lang="fr-FR" sz="500" b="0" i="0" u="none" strike="noStrike">
                          <a:solidFill>
                            <a:srgbClr val="000000"/>
                          </a:solidFill>
                          <a:effectLst/>
                          <a:latin typeface="Verdana" panose="020B0604030504040204" pitchFamily="34" charset="0"/>
                        </a:rPr>
                        <a:t>of which: core component</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0290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676344361"/>
                  </a:ext>
                </a:extLst>
              </a:tr>
              <a:tr h="115795">
                <a:tc>
                  <a:txBody>
                    <a:bodyPr/>
                    <a:lstStyle/>
                    <a:p>
                      <a:pPr algn="l" fontAlgn="ctr"/>
                      <a:r>
                        <a:rPr lang="en-US" sz="500" b="0" i="0" u="none" strike="noStrike">
                          <a:solidFill>
                            <a:srgbClr val="000000"/>
                          </a:solidFill>
                          <a:effectLst/>
                          <a:latin typeface="Verdana" panose="020B0604030504040204" pitchFamily="34" charset="0"/>
                        </a:rPr>
                        <a:t>of which: exempted from the 5Y cap</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0300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133703929"/>
                  </a:ext>
                </a:extLst>
              </a:tr>
              <a:tr h="115795">
                <a:tc>
                  <a:txBody>
                    <a:bodyPr/>
                    <a:lstStyle/>
                    <a:p>
                      <a:pPr algn="l" fontAlgn="b"/>
                      <a:r>
                        <a:rPr lang="fr-FR" sz="500" b="1" i="0" u="none" strike="noStrike">
                          <a:solidFill>
                            <a:srgbClr val="000000"/>
                          </a:solidFill>
                          <a:effectLst/>
                          <a:latin typeface="Verdana" panose="020B0604030504040204" pitchFamily="34" charset="0"/>
                        </a:rPr>
                        <a:t>NMDs: Retail non-transactional</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63112804"/>
                  </a:ext>
                </a:extLst>
              </a:tr>
              <a:tr h="115795">
                <a:tc>
                  <a:txBody>
                    <a:bodyPr/>
                    <a:lstStyle/>
                    <a:p>
                      <a:pPr algn="l" fontAlgn="ctr"/>
                      <a:r>
                        <a:rPr lang="fr-FR" sz="500" b="0" i="0" u="none" strike="noStrike">
                          <a:solidFill>
                            <a:srgbClr val="000000"/>
                          </a:solidFill>
                          <a:effectLst/>
                          <a:latin typeface="Verdana" panose="020B0604030504040204" pitchFamily="34" charset="0"/>
                        </a:rPr>
                        <a:t>of which: core component</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0330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288716063"/>
                  </a:ext>
                </a:extLst>
              </a:tr>
              <a:tr h="115795">
                <a:tc>
                  <a:txBody>
                    <a:bodyPr/>
                    <a:lstStyle/>
                    <a:p>
                      <a:pPr algn="l" fontAlgn="ctr"/>
                      <a:r>
                        <a:rPr lang="en-US" sz="500" b="0" i="0" u="none" strike="noStrike">
                          <a:solidFill>
                            <a:srgbClr val="000000"/>
                          </a:solidFill>
                          <a:effectLst/>
                          <a:latin typeface="Verdana" panose="020B0604030504040204" pitchFamily="34" charset="0"/>
                        </a:rPr>
                        <a:t>of which: exempted from the 5Y cap</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29936724"/>
                  </a:ext>
                </a:extLst>
              </a:tr>
              <a:tr h="115795">
                <a:tc>
                  <a:txBody>
                    <a:bodyPr/>
                    <a:lstStyle/>
                    <a:p>
                      <a:pPr algn="l" fontAlgn="b"/>
                      <a:r>
                        <a:rPr lang="fr-FR" sz="500" b="1" i="0" u="none" strike="noStrike">
                          <a:solidFill>
                            <a:srgbClr val="000000"/>
                          </a:solidFill>
                          <a:effectLst/>
                          <a:latin typeface="Verdana" panose="020B0604030504040204" pitchFamily="34" charset="0"/>
                        </a:rPr>
                        <a:t>NMDs: Wholesale non-financial</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0350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240083183"/>
                  </a:ext>
                </a:extLst>
              </a:tr>
              <a:tr h="115795">
                <a:tc>
                  <a:txBody>
                    <a:bodyPr/>
                    <a:lstStyle/>
                    <a:p>
                      <a:pPr algn="l" fontAlgn="ctr"/>
                      <a:r>
                        <a:rPr lang="fr-FR" sz="500" b="0" i="0" u="none" strike="noStrike">
                          <a:solidFill>
                            <a:srgbClr val="000000"/>
                          </a:solidFill>
                          <a:effectLst/>
                          <a:latin typeface="Verdana" panose="020B0604030504040204" pitchFamily="34" charset="0"/>
                        </a:rPr>
                        <a:t>of which: core component</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424717715"/>
                  </a:ext>
                </a:extLst>
              </a:tr>
              <a:tr h="115795">
                <a:tc>
                  <a:txBody>
                    <a:bodyPr/>
                    <a:lstStyle/>
                    <a:p>
                      <a:pPr algn="l" fontAlgn="ctr"/>
                      <a:r>
                        <a:rPr lang="en-US" sz="500" b="0" i="0" u="none" strike="noStrike">
                          <a:solidFill>
                            <a:srgbClr val="000000"/>
                          </a:solidFill>
                          <a:effectLst/>
                          <a:latin typeface="Verdana" panose="020B0604030504040204" pitchFamily="34" charset="0"/>
                        </a:rPr>
                        <a:t>of which: exempted from the 5Y cap</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0380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048249916"/>
                  </a:ext>
                </a:extLst>
              </a:tr>
              <a:tr h="115795">
                <a:tc>
                  <a:txBody>
                    <a:bodyPr/>
                    <a:lstStyle/>
                    <a:p>
                      <a:pPr algn="l" fontAlgn="b"/>
                      <a:r>
                        <a:rPr lang="fr-FR" sz="500" b="1" i="0" u="none" strike="noStrike">
                          <a:solidFill>
                            <a:srgbClr val="000000"/>
                          </a:solidFill>
                          <a:effectLst/>
                          <a:latin typeface="Verdana" panose="020B0604030504040204" pitchFamily="34" charset="0"/>
                        </a:rPr>
                        <a:t>NMDs: Wholesale financial</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0390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591945167"/>
                  </a:ext>
                </a:extLst>
              </a:tr>
              <a:tr h="115795">
                <a:tc>
                  <a:txBody>
                    <a:bodyPr/>
                    <a:lstStyle/>
                    <a:p>
                      <a:pPr algn="l" fontAlgn="ctr"/>
                      <a:r>
                        <a:rPr lang="fr-FR" sz="500" b="0" i="0" u="none" strike="noStrike">
                          <a:solidFill>
                            <a:srgbClr val="000000"/>
                          </a:solidFill>
                          <a:effectLst/>
                          <a:latin typeface="Verdana" panose="020B0604030504040204" pitchFamily="34" charset="0"/>
                        </a:rPr>
                        <a:t>of which: operational deposits</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56621225"/>
                  </a:ext>
                </a:extLst>
              </a:tr>
              <a:tr h="115795">
                <a:tc>
                  <a:txBody>
                    <a:bodyPr/>
                    <a:lstStyle/>
                    <a:p>
                      <a:pPr algn="l" fontAlgn="b"/>
                      <a:r>
                        <a:rPr lang="fr-FR" sz="500" b="1" i="0" u="none" strike="noStrike">
                          <a:solidFill>
                            <a:srgbClr val="000000"/>
                          </a:solidFill>
                          <a:effectLst/>
                          <a:latin typeface="Verdana" panose="020B0604030504040204" pitchFamily="34" charset="0"/>
                        </a:rPr>
                        <a:t>Term deposits</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0420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714613770"/>
                  </a:ext>
                </a:extLst>
              </a:tr>
              <a:tr h="115795">
                <a:tc>
                  <a:txBody>
                    <a:bodyPr/>
                    <a:lstStyle/>
                    <a:p>
                      <a:pPr algn="l" fontAlgn="b"/>
                      <a:r>
                        <a:rPr lang="fr-FR" sz="500" b="0" i="0" u="none" strike="noStrike">
                          <a:solidFill>
                            <a:srgbClr val="000000"/>
                          </a:solidFill>
                          <a:effectLst/>
                          <a:latin typeface="Verdana" panose="020B0604030504040204" pitchFamily="34" charset="0"/>
                        </a:rPr>
                        <a:t>Retail</a:t>
                      </a:r>
                    </a:p>
                  </a:txBody>
                  <a:tcPr marL="190597"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83228630"/>
                  </a:ext>
                </a:extLst>
              </a:tr>
              <a:tr h="115795">
                <a:tc>
                  <a:txBody>
                    <a:bodyPr/>
                    <a:lstStyle/>
                    <a:p>
                      <a:pPr algn="l" fontAlgn="b"/>
                      <a:r>
                        <a:rPr lang="fr-FR" sz="500" b="0" i="0" u="none" strike="noStrike">
                          <a:solidFill>
                            <a:srgbClr val="000000"/>
                          </a:solidFill>
                          <a:effectLst/>
                          <a:latin typeface="Verdana" panose="020B0604030504040204" pitchFamily="34" charset="0"/>
                        </a:rPr>
                        <a:t>Wholesale non-financial</a:t>
                      </a:r>
                    </a:p>
                  </a:txBody>
                  <a:tcPr marL="190597"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0450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471105514"/>
                  </a:ext>
                </a:extLst>
              </a:tr>
              <a:tr h="115795">
                <a:tc>
                  <a:txBody>
                    <a:bodyPr/>
                    <a:lstStyle/>
                    <a:p>
                      <a:pPr algn="l" fontAlgn="b"/>
                      <a:r>
                        <a:rPr lang="fr-FR" sz="500" b="0" i="0" u="none" strike="noStrike">
                          <a:solidFill>
                            <a:srgbClr val="000000"/>
                          </a:solidFill>
                          <a:effectLst/>
                          <a:latin typeface="Verdana" panose="020B0604030504040204" pitchFamily="34" charset="0"/>
                        </a:rPr>
                        <a:t>Wholesale financial</a:t>
                      </a:r>
                    </a:p>
                  </a:txBody>
                  <a:tcPr marL="190597"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0460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37918876"/>
                  </a:ext>
                </a:extLst>
              </a:tr>
              <a:tr h="115795">
                <a:tc>
                  <a:txBody>
                    <a:bodyPr/>
                    <a:lstStyle/>
                    <a:p>
                      <a:pPr algn="l" fontAlgn="ctr"/>
                      <a:r>
                        <a:rPr lang="fr-FR" sz="500" b="1" i="0" u="none" strike="noStrike">
                          <a:solidFill>
                            <a:srgbClr val="000000"/>
                          </a:solidFill>
                          <a:effectLst/>
                          <a:latin typeface="Verdana" panose="020B0604030504040204" pitchFamily="34" charset="0"/>
                        </a:rPr>
                        <a:t>Derivatives hedging liabilities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44395457"/>
                  </a:ext>
                </a:extLst>
              </a:tr>
              <a:tr h="115795">
                <a:tc>
                  <a:txBody>
                    <a:bodyPr/>
                    <a:lstStyle/>
                    <a:p>
                      <a:pPr algn="l" fontAlgn="ctr"/>
                      <a:r>
                        <a:rPr lang="fr-FR" sz="500" b="0" i="0" u="none" strike="noStrike">
                          <a:solidFill>
                            <a:srgbClr val="000000"/>
                          </a:solidFill>
                          <a:effectLst/>
                          <a:latin typeface="Verdana" panose="020B0604030504040204" pitchFamily="34" charset="0"/>
                        </a:rPr>
                        <a:t>Hedging debt securities</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0490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5865576"/>
                  </a:ext>
                </a:extLst>
              </a:tr>
              <a:tr h="115795">
                <a:tc>
                  <a:txBody>
                    <a:bodyPr/>
                    <a:lstStyle/>
                    <a:p>
                      <a:pPr algn="l" fontAlgn="ctr"/>
                      <a:r>
                        <a:rPr lang="fr-FR" sz="500" b="0" i="0" u="none" strike="noStrike">
                          <a:solidFill>
                            <a:srgbClr val="000000"/>
                          </a:solidFill>
                          <a:effectLst/>
                          <a:latin typeface="Verdana" panose="020B0604030504040204" pitchFamily="34" charset="0"/>
                        </a:rPr>
                        <a:t>Hedging other liabilities</a:t>
                      </a:r>
                    </a:p>
                  </a:txBody>
                  <a:tcPr marL="19059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0500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734954570"/>
                  </a:ext>
                </a:extLst>
              </a:tr>
              <a:tr h="115795">
                <a:tc>
                  <a:txBody>
                    <a:bodyPr/>
                    <a:lstStyle/>
                    <a:p>
                      <a:pPr algn="l" fontAlgn="b"/>
                      <a:r>
                        <a:rPr lang="fr-FR" sz="500" b="1" i="0" u="none" strike="noStrike">
                          <a:solidFill>
                            <a:srgbClr val="000000"/>
                          </a:solidFill>
                          <a:effectLst/>
                          <a:latin typeface="Verdana" panose="020B0604030504040204" pitchFamily="34" charset="0"/>
                        </a:rPr>
                        <a:t>Other</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505292247"/>
                  </a:ext>
                </a:extLst>
              </a:tr>
              <a:tr h="115795">
                <a:tc>
                  <a:txBody>
                    <a:bodyPr/>
                    <a:lstStyle/>
                    <a:p>
                      <a:pPr algn="l" fontAlgn="ctr"/>
                      <a:r>
                        <a:rPr lang="fr-FR" sz="500" b="1" i="0" u="none" strike="noStrike">
                          <a:solidFill>
                            <a:srgbClr val="000000"/>
                          </a:solidFill>
                          <a:effectLst/>
                          <a:latin typeface="Verdana" panose="020B0604030504040204" pitchFamily="34" charset="0"/>
                        </a:rPr>
                        <a:t>Off-balance sheet liabilities: contingent liabilities</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0520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105603158"/>
                  </a:ext>
                </a:extLst>
              </a:tr>
              <a:tr h="115795">
                <a:tc>
                  <a:txBody>
                    <a:bodyPr/>
                    <a:lstStyle/>
                    <a:p>
                      <a:pPr algn="l" fontAlgn="ctr"/>
                      <a:r>
                        <a:rPr lang="fr-FR" sz="500" b="1" i="0" u="none" strike="noStrike">
                          <a:solidFill>
                            <a:srgbClr val="000000"/>
                          </a:solidFill>
                          <a:effectLst/>
                          <a:latin typeface="Verdana" panose="020B0604030504040204" pitchFamily="34" charset="0"/>
                        </a:rPr>
                        <a:t>Other derivatives (Net asset/liability)</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0530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288893369"/>
                  </a:ext>
                </a:extLst>
              </a:tr>
              <a:tr h="115795">
                <a:tc gridSpan="2">
                  <a:txBody>
                    <a:bodyPr/>
                    <a:lstStyle/>
                    <a:p>
                      <a:pPr algn="ctr" fontAlgn="ctr"/>
                      <a:r>
                        <a:rPr lang="fr-FR" sz="500" b="1" i="0" u="none" strike="noStrike">
                          <a:solidFill>
                            <a:srgbClr val="000000"/>
                          </a:solidFill>
                          <a:effectLst/>
                          <a:latin typeface="Verdana" panose="020B0604030504040204" pitchFamily="34" charset="0"/>
                        </a:rPr>
                        <a:t>MEMORANDUM ITEMS</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endParaRPr lang="fr-FR"/>
                    </a:p>
                  </a:txBody>
                  <a:tcPr/>
                </a:tc>
                <a:extLst>
                  <a:ext uri="{0D108BD9-81ED-4DB2-BD59-A6C34878D82A}">
                    <a16:rowId xmlns:a16="http://schemas.microsoft.com/office/drawing/2014/main" val="1410758177"/>
                  </a:ext>
                </a:extLst>
              </a:tr>
              <a:tr h="115795">
                <a:tc>
                  <a:txBody>
                    <a:bodyPr/>
                    <a:lstStyle/>
                    <a:p>
                      <a:pPr algn="l" fontAlgn="ctr"/>
                      <a:r>
                        <a:rPr lang="en-US" sz="500" b="1" i="0" u="none" strike="noStrike">
                          <a:solidFill>
                            <a:srgbClr val="000000"/>
                          </a:solidFill>
                          <a:effectLst/>
                          <a:latin typeface="Verdana" panose="020B0604030504040204" pitchFamily="34" charset="0"/>
                        </a:rPr>
                        <a:t>Total Assets with MV impact</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0570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703091694"/>
                  </a:ext>
                </a:extLst>
              </a:tr>
              <a:tr h="115795">
                <a:tc>
                  <a:txBody>
                    <a:bodyPr/>
                    <a:lstStyle/>
                    <a:p>
                      <a:pPr algn="l" fontAlgn="ctr"/>
                      <a:r>
                        <a:rPr lang="fr-FR" sz="500" b="0" i="0" u="none" strike="noStrike">
                          <a:solidFill>
                            <a:srgbClr val="000000"/>
                          </a:solidFill>
                          <a:effectLst/>
                          <a:latin typeface="Verdana" panose="020B0604030504040204" pitchFamily="34" charset="0"/>
                        </a:rPr>
                        <a:t>Debt securities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0580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70638010"/>
                  </a:ext>
                </a:extLst>
              </a:tr>
              <a:tr h="115795">
                <a:tc>
                  <a:txBody>
                    <a:bodyPr/>
                    <a:lstStyle/>
                    <a:p>
                      <a:pPr algn="l" fontAlgn="ctr"/>
                      <a:r>
                        <a:rPr lang="fr-FR" sz="500" b="0" i="0" u="none" strike="noStrike">
                          <a:solidFill>
                            <a:srgbClr val="000000"/>
                          </a:solidFill>
                          <a:effectLst/>
                          <a:latin typeface="Verdana" panose="020B0604030504040204" pitchFamily="34" charset="0"/>
                        </a:rPr>
                        <a:t>Derivatives</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0590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181356081"/>
                  </a:ext>
                </a:extLst>
              </a:tr>
              <a:tr h="115795">
                <a:tc>
                  <a:txBody>
                    <a:bodyPr/>
                    <a:lstStyle/>
                    <a:p>
                      <a:pPr algn="l" fontAlgn="ctr"/>
                      <a:r>
                        <a:rPr lang="fr-FR" sz="500" b="0" i="0" u="none" strike="noStrike">
                          <a:solidFill>
                            <a:srgbClr val="000000"/>
                          </a:solidFill>
                          <a:effectLst/>
                          <a:latin typeface="Verdana" panose="020B0604030504040204" pitchFamily="34" charset="0"/>
                        </a:rPr>
                        <a:t>Other</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0600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495207807"/>
                  </a:ext>
                </a:extLst>
              </a:tr>
              <a:tr h="115795">
                <a:tc>
                  <a:txBody>
                    <a:bodyPr/>
                    <a:lstStyle/>
                    <a:p>
                      <a:pPr algn="l" fontAlgn="ctr"/>
                      <a:r>
                        <a:rPr lang="en-US" sz="500" b="1" i="0" u="none" strike="noStrike">
                          <a:solidFill>
                            <a:srgbClr val="000000"/>
                          </a:solidFill>
                          <a:effectLst/>
                          <a:latin typeface="Verdana" panose="020B0604030504040204" pitchFamily="34" charset="0"/>
                        </a:rPr>
                        <a:t>Total Liabilities with MV impact</a:t>
                      </a:r>
                    </a:p>
                  </a:txBody>
                  <a:tcPr marL="3177"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0610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52505511"/>
                  </a:ext>
                </a:extLst>
              </a:tr>
              <a:tr h="115795">
                <a:tc>
                  <a:txBody>
                    <a:bodyPr/>
                    <a:lstStyle/>
                    <a:p>
                      <a:pPr algn="l" fontAlgn="ctr"/>
                      <a:r>
                        <a:rPr lang="fr-FR" sz="500" b="0" i="0" u="none" strike="noStrike">
                          <a:solidFill>
                            <a:srgbClr val="000000"/>
                          </a:solidFill>
                          <a:effectLst/>
                          <a:latin typeface="Verdana" panose="020B0604030504040204" pitchFamily="34" charset="0"/>
                        </a:rPr>
                        <a:t>Debt securities issued</a:t>
                      </a:r>
                    </a:p>
                  </a:txBody>
                  <a:tcPr marL="95299" marR="3177" marT="317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0620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52595622"/>
                  </a:ext>
                </a:extLst>
              </a:tr>
              <a:tr h="115795">
                <a:tc>
                  <a:txBody>
                    <a:bodyPr/>
                    <a:lstStyle/>
                    <a:p>
                      <a:pPr algn="l" fontAlgn="b"/>
                      <a:r>
                        <a:rPr lang="fr-FR" sz="500" b="0" i="0" u="none" strike="noStrike">
                          <a:solidFill>
                            <a:srgbClr val="000000"/>
                          </a:solidFill>
                          <a:effectLst/>
                          <a:latin typeface="Verdana" panose="020B0604030504040204" pitchFamily="34" charset="0"/>
                        </a:rPr>
                        <a:t>Derivatives </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a:solidFill>
                            <a:srgbClr val="000000"/>
                          </a:solidFill>
                          <a:effectLst/>
                          <a:latin typeface="Verdana" panose="020B0604030504040204" pitchFamily="34" charset="0"/>
                        </a:rPr>
                        <a:t>0630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47372843"/>
                  </a:ext>
                </a:extLst>
              </a:tr>
              <a:tr h="120082">
                <a:tc>
                  <a:txBody>
                    <a:bodyPr/>
                    <a:lstStyle/>
                    <a:p>
                      <a:pPr algn="l" fontAlgn="b"/>
                      <a:r>
                        <a:rPr lang="fr-FR" sz="500" b="0" i="0" u="none" strike="noStrike">
                          <a:solidFill>
                            <a:srgbClr val="000000"/>
                          </a:solidFill>
                          <a:effectLst/>
                          <a:latin typeface="Verdana" panose="020B0604030504040204" pitchFamily="34" charset="0"/>
                        </a:rPr>
                        <a:t>Other</a:t>
                      </a:r>
                    </a:p>
                  </a:txBody>
                  <a:tcPr marL="95299" marR="3177" marT="317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500" b="0" i="0" u="none" strike="noStrike" dirty="0">
                          <a:solidFill>
                            <a:srgbClr val="000000"/>
                          </a:solidFill>
                          <a:effectLst/>
                          <a:latin typeface="Verdana" panose="020B0604030504040204" pitchFamily="34" charset="0"/>
                        </a:rPr>
                        <a:t>0640</a:t>
                      </a:r>
                    </a:p>
                  </a:txBody>
                  <a:tcPr marL="3177" marR="3177" marT="31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11045664"/>
                  </a:ext>
                </a:extLst>
              </a:tr>
            </a:tbl>
          </a:graphicData>
        </a:graphic>
      </p:graphicFrame>
    </p:spTree>
    <p:extLst>
      <p:ext uri="{BB962C8B-B14F-4D97-AF65-F5344CB8AC3E}">
        <p14:creationId xmlns:p14="http://schemas.microsoft.com/office/powerpoint/2010/main" val="129461143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d- Template </a:t>
            </a:r>
            <a:r>
              <a:rPr lang="fr-FR" sz="2000" i="1" dirty="0">
                <a:highlight>
                  <a:srgbClr val="FF0000"/>
                </a:highlight>
                <a:latin typeface="Calibri (body)"/>
                <a:cs typeface="Calibri"/>
              </a:rPr>
              <a:t>J09</a:t>
            </a:r>
            <a:r>
              <a:rPr lang="fr-FR" sz="2000" i="1" dirty="0">
                <a:latin typeface="Calibri (body)"/>
                <a:cs typeface="Calibri"/>
              </a:rPr>
              <a:t> – Relevant </a:t>
            </a:r>
            <a:r>
              <a:rPr lang="fr-FR" sz="2000" i="1" dirty="0" err="1">
                <a:latin typeface="Calibri (body)"/>
                <a:cs typeface="Calibri"/>
              </a:rPr>
              <a:t>parameters</a:t>
            </a:r>
            <a:endParaRPr lang="fr-FR" dirty="0">
              <a:latin typeface="Calibri"/>
              <a:cs typeface="Calibri"/>
            </a:endParaRPr>
          </a:p>
        </p:txBody>
      </p:sp>
      <p:graphicFrame>
        <p:nvGraphicFramePr>
          <p:cNvPr id="2" name="Table 1">
            <a:extLst>
              <a:ext uri="{FF2B5EF4-FFF2-40B4-BE49-F238E27FC236}">
                <a16:creationId xmlns:a16="http://schemas.microsoft.com/office/drawing/2014/main" id="{37D05F59-690D-28A9-E862-B66FA8BD94FD}"/>
              </a:ext>
            </a:extLst>
          </p:cNvPr>
          <p:cNvGraphicFramePr>
            <a:graphicFrameLocks noGrp="1"/>
          </p:cNvGraphicFramePr>
          <p:nvPr/>
        </p:nvGraphicFramePr>
        <p:xfrm>
          <a:off x="712912" y="1121214"/>
          <a:ext cx="10761330" cy="4136207"/>
        </p:xfrm>
        <a:graphic>
          <a:graphicData uri="http://schemas.openxmlformats.org/drawingml/2006/table">
            <a:tbl>
              <a:tblPr/>
              <a:tblGrid>
                <a:gridCol w="2803241">
                  <a:extLst>
                    <a:ext uri="{9D8B030D-6E8A-4147-A177-3AD203B41FA5}">
                      <a16:colId xmlns:a16="http://schemas.microsoft.com/office/drawing/2014/main" val="3311833777"/>
                    </a:ext>
                  </a:extLst>
                </a:gridCol>
                <a:gridCol w="327044">
                  <a:extLst>
                    <a:ext uri="{9D8B030D-6E8A-4147-A177-3AD203B41FA5}">
                      <a16:colId xmlns:a16="http://schemas.microsoft.com/office/drawing/2014/main" val="2057005162"/>
                    </a:ext>
                  </a:extLst>
                </a:gridCol>
                <a:gridCol w="747532">
                  <a:extLst>
                    <a:ext uri="{9D8B030D-6E8A-4147-A177-3AD203B41FA5}">
                      <a16:colId xmlns:a16="http://schemas.microsoft.com/office/drawing/2014/main" val="1368608245"/>
                    </a:ext>
                  </a:extLst>
                </a:gridCol>
                <a:gridCol w="996707">
                  <a:extLst>
                    <a:ext uri="{9D8B030D-6E8A-4147-A177-3AD203B41FA5}">
                      <a16:colId xmlns:a16="http://schemas.microsoft.com/office/drawing/2014/main" val="3343643929"/>
                    </a:ext>
                  </a:extLst>
                </a:gridCol>
                <a:gridCol w="996707">
                  <a:extLst>
                    <a:ext uri="{9D8B030D-6E8A-4147-A177-3AD203B41FA5}">
                      <a16:colId xmlns:a16="http://schemas.microsoft.com/office/drawing/2014/main" val="3929051236"/>
                    </a:ext>
                  </a:extLst>
                </a:gridCol>
                <a:gridCol w="825399">
                  <a:extLst>
                    <a:ext uri="{9D8B030D-6E8A-4147-A177-3AD203B41FA5}">
                      <a16:colId xmlns:a16="http://schemas.microsoft.com/office/drawing/2014/main" val="1111915442"/>
                    </a:ext>
                  </a:extLst>
                </a:gridCol>
                <a:gridCol w="677450">
                  <a:extLst>
                    <a:ext uri="{9D8B030D-6E8A-4147-A177-3AD203B41FA5}">
                      <a16:colId xmlns:a16="http://schemas.microsoft.com/office/drawing/2014/main" val="2257471686"/>
                    </a:ext>
                  </a:extLst>
                </a:gridCol>
                <a:gridCol w="677450">
                  <a:extLst>
                    <a:ext uri="{9D8B030D-6E8A-4147-A177-3AD203B41FA5}">
                      <a16:colId xmlns:a16="http://schemas.microsoft.com/office/drawing/2014/main" val="1924614674"/>
                    </a:ext>
                  </a:extLst>
                </a:gridCol>
                <a:gridCol w="677450">
                  <a:extLst>
                    <a:ext uri="{9D8B030D-6E8A-4147-A177-3AD203B41FA5}">
                      <a16:colId xmlns:a16="http://schemas.microsoft.com/office/drawing/2014/main" val="3667771553"/>
                    </a:ext>
                  </a:extLst>
                </a:gridCol>
                <a:gridCol w="677450">
                  <a:extLst>
                    <a:ext uri="{9D8B030D-6E8A-4147-A177-3AD203B41FA5}">
                      <a16:colId xmlns:a16="http://schemas.microsoft.com/office/drawing/2014/main" val="2129063381"/>
                    </a:ext>
                  </a:extLst>
                </a:gridCol>
                <a:gridCol w="677450">
                  <a:extLst>
                    <a:ext uri="{9D8B030D-6E8A-4147-A177-3AD203B41FA5}">
                      <a16:colId xmlns:a16="http://schemas.microsoft.com/office/drawing/2014/main" val="669518399"/>
                    </a:ext>
                  </a:extLst>
                </a:gridCol>
                <a:gridCol w="677450">
                  <a:extLst>
                    <a:ext uri="{9D8B030D-6E8A-4147-A177-3AD203B41FA5}">
                      <a16:colId xmlns:a16="http://schemas.microsoft.com/office/drawing/2014/main" val="2760534934"/>
                    </a:ext>
                  </a:extLst>
                </a:gridCol>
              </a:tblGrid>
              <a:tr h="266832">
                <a:tc>
                  <a:txBody>
                    <a:bodyPr/>
                    <a:lstStyle/>
                    <a:p>
                      <a:pPr algn="l" fontAlgn="ctr"/>
                      <a:r>
                        <a:rPr lang="en-US" sz="700" b="1" i="0" u="none" strike="noStrike" dirty="0">
                          <a:solidFill>
                            <a:srgbClr val="000000"/>
                          </a:solidFill>
                          <a:effectLst/>
                          <a:latin typeface="Verdana" panose="020B0604030504040204" pitchFamily="34" charset="0"/>
                        </a:rPr>
                        <a:t>J 09.00 - RELEVANT PARAMETERS (SIMPLIFIED FOR SNCIS AND 'OTHER' INSTITUTIONS)</a:t>
                      </a: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600" b="1" i="0" u="none" strike="noStrike">
                          <a:solidFill>
                            <a:srgbClr val="000000"/>
                          </a:solidFill>
                          <a:effectLst/>
                          <a:latin typeface="Verdana" panose="020B0604030504040204" pitchFamily="34" charset="0"/>
                        </a:rPr>
                        <a:t> </a:t>
                      </a:r>
                    </a:p>
                  </a:txBody>
                  <a:tcPr marL="0" marR="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152545197"/>
                  </a:ext>
                </a:extLst>
              </a:tr>
              <a:tr h="110329">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1" i="0" u="sng"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1980688099"/>
                  </a:ext>
                </a:extLst>
              </a:tr>
              <a:tr h="110329">
                <a:tc>
                  <a:txBody>
                    <a:bodyPr/>
                    <a:lstStyle/>
                    <a:p>
                      <a:pPr algn="r" fontAlgn="ctr"/>
                      <a:r>
                        <a:rPr lang="fr-FR" sz="600" b="1" i="0" u="none" strike="noStrike">
                          <a:solidFill>
                            <a:srgbClr val="000000"/>
                          </a:solidFill>
                          <a:effectLst/>
                          <a:latin typeface="Verdana" panose="020B0604030504040204" pitchFamily="34" charset="0"/>
                        </a:rPr>
                        <a:t>Currency:</a:t>
                      </a:r>
                    </a:p>
                  </a:txBody>
                  <a:tcPr marL="0" marR="0" marT="0"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500" b="0" i="0" u="none" strike="noStrike">
                          <a:solidFill>
                            <a:srgbClr val="000000"/>
                          </a:solidFill>
                          <a:effectLst/>
                          <a:latin typeface="Verdana" panose="020B0604030504040204" pitchFamily="34" charset="0"/>
                        </a:rPr>
                        <a:t>EUR</a:t>
                      </a:r>
                    </a:p>
                  </a:txBody>
                  <a:tcPr marL="0" marR="0" marT="0"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0" marR="0" marT="0"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600" b="0" i="0" u="none" strike="noStrike">
                        <a:solidFill>
                          <a:srgbClr val="000000"/>
                        </a:solidFill>
                        <a:effectLst/>
                        <a:latin typeface="Verdana" panose="020B0604030504040204" pitchFamily="34" charset="0"/>
                      </a:endParaRPr>
                    </a:p>
                  </a:txBody>
                  <a:tcPr marL="0" marR="0" marT="0" marB="0" anchor="b">
                    <a:lnL w="6350" cap="flat" cmpd="sng" algn="ctr">
                      <a:solidFill>
                        <a:srgbClr val="000000"/>
                      </a:solidFill>
                      <a:prstDash val="solid"/>
                      <a:round/>
                      <a:headEnd type="none" w="med" len="med"/>
                      <a:tailEnd type="none" w="med" len="med"/>
                    </a:lnL>
                    <a:lnR>
                      <a:noFill/>
                    </a:lnR>
                    <a:lnT>
                      <a:noFill/>
                    </a:lnT>
                    <a:lnB>
                      <a:noFill/>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sng"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578295441"/>
                  </a:ext>
                </a:extLst>
              </a:tr>
              <a:tr h="113598">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700" b="0" i="0" u="none" strike="noStrike">
                        <a:solidFill>
                          <a:srgbClr val="000000"/>
                        </a:solidFill>
                        <a:effectLst/>
                        <a:latin typeface="Verdana" panose="020B0604030504040204" pitchFamily="34" charset="0"/>
                      </a:endParaRPr>
                    </a:p>
                  </a:txBody>
                  <a:tcPr marL="0" marR="0" marT="0"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05950272"/>
                  </a:ext>
                </a:extLst>
              </a:tr>
              <a:tr h="300340">
                <a:tc rowSpan="3" gridSpan="2">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3" hMerge="1">
                  <a:txBody>
                    <a:bodyPr/>
                    <a:lstStyle/>
                    <a:p>
                      <a:endParaRPr lang="fr-FR"/>
                    </a:p>
                  </a:txBody>
                  <a:tcPr/>
                </a:tc>
                <a:tc rowSpan="2">
                  <a:txBody>
                    <a:bodyPr/>
                    <a:lstStyle/>
                    <a:p>
                      <a:pPr algn="ctr" fontAlgn="ctr"/>
                      <a:r>
                        <a:rPr lang="fr-FR" sz="700" b="0" i="0" u="none" strike="noStrike">
                          <a:solidFill>
                            <a:srgbClr val="000000"/>
                          </a:solidFill>
                          <a:effectLst/>
                          <a:latin typeface="Verdana" panose="020B0604030504040204" pitchFamily="34" charset="0"/>
                        </a:rPr>
                        <a:t>Notional amount</a:t>
                      </a:r>
                    </a:p>
                  </a:txBody>
                  <a:tcPr marL="0" marR="0" marT="0" marB="0" anchor="ctr">
                    <a:lnL w="635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Baseline scenario (contractual)</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Baseline scenario (behavioural)</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dirty="0">
                          <a:solidFill>
                            <a:srgbClr val="000000"/>
                          </a:solidFill>
                          <a:effectLst/>
                          <a:latin typeface="Verdana" panose="020B0604030504040204" pitchFamily="34" charset="0"/>
                        </a:rPr>
                        <a:t>Parallel </a:t>
                      </a:r>
                      <a:r>
                        <a:rPr lang="fr-FR" sz="700" b="0" i="0" u="none" strike="noStrike" dirty="0" err="1">
                          <a:solidFill>
                            <a:srgbClr val="000000"/>
                          </a:solidFill>
                          <a:effectLst/>
                          <a:latin typeface="Verdana" panose="020B0604030504040204" pitchFamily="34" charset="0"/>
                        </a:rPr>
                        <a:t>shock</a:t>
                      </a:r>
                      <a:r>
                        <a:rPr lang="fr-FR" sz="700" b="0" i="0" u="none" strike="noStrike" dirty="0">
                          <a:solidFill>
                            <a:srgbClr val="000000"/>
                          </a:solidFill>
                          <a:effectLst/>
                          <a:latin typeface="Verdana" panose="020B0604030504040204" pitchFamily="34" charset="0"/>
                        </a:rPr>
                        <a:t> up</a:t>
                      </a:r>
                      <a:br>
                        <a:rPr lang="fr-FR" sz="700" b="0" i="0" u="none" strike="noStrike" dirty="0">
                          <a:solidFill>
                            <a:srgbClr val="000000"/>
                          </a:solidFill>
                          <a:effectLst/>
                          <a:latin typeface="Verdana" panose="020B0604030504040204" pitchFamily="34" charset="0"/>
                        </a:rPr>
                      </a:br>
                      <a:endParaRPr lang="fr-FR" sz="7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dirty="0">
                          <a:solidFill>
                            <a:srgbClr val="000000"/>
                          </a:solidFill>
                          <a:effectLst/>
                          <a:latin typeface="Verdana" panose="020B0604030504040204" pitchFamily="34" charset="0"/>
                        </a:rPr>
                        <a:t>Parallel </a:t>
                      </a:r>
                      <a:r>
                        <a:rPr lang="fr-FR" sz="700" b="0" i="0" u="none" strike="noStrike" dirty="0" err="1">
                          <a:solidFill>
                            <a:srgbClr val="000000"/>
                          </a:solidFill>
                          <a:effectLst/>
                          <a:latin typeface="Verdana" panose="020B0604030504040204" pitchFamily="34" charset="0"/>
                        </a:rPr>
                        <a:t>shock</a:t>
                      </a:r>
                      <a:r>
                        <a:rPr lang="fr-FR" sz="700" b="0" i="0" u="none" strike="noStrike" dirty="0">
                          <a:solidFill>
                            <a:srgbClr val="000000"/>
                          </a:solidFill>
                          <a:effectLst/>
                          <a:latin typeface="Verdana" panose="020B0604030504040204" pitchFamily="34" charset="0"/>
                        </a:rPr>
                        <a:t> down</a:t>
                      </a:r>
                      <a:br>
                        <a:rPr lang="fr-FR" sz="700" b="0" i="0" u="none" strike="noStrike" dirty="0">
                          <a:solidFill>
                            <a:srgbClr val="000000"/>
                          </a:solidFill>
                          <a:effectLst/>
                          <a:latin typeface="Verdana" panose="020B0604030504040204" pitchFamily="34" charset="0"/>
                        </a:rPr>
                      </a:br>
                      <a:endParaRPr lang="fr-FR" sz="700" b="0" i="0" u="none" strike="noStrike" dirty="0">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Steepener shock</a:t>
                      </a:r>
                      <a:br>
                        <a:rPr lang="fr-FR" sz="700" b="0" i="0" u="none" strike="noStrike">
                          <a:solidFill>
                            <a:srgbClr val="000000"/>
                          </a:solidFill>
                          <a:effectLst/>
                          <a:latin typeface="Verdana" panose="020B0604030504040204" pitchFamily="34" charset="0"/>
                        </a:rPr>
                      </a:br>
                      <a:endParaRPr lang="fr-FR" sz="700" b="0" i="0" u="none" strike="noStrike">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Flattener shock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   Short rates shock up</a:t>
                      </a:r>
                      <a:br>
                        <a:rPr lang="fr-FR" sz="700" b="0" i="0" u="none" strike="noStrike">
                          <a:solidFill>
                            <a:srgbClr val="000000"/>
                          </a:solidFill>
                          <a:effectLst/>
                          <a:latin typeface="Verdana" panose="020B0604030504040204" pitchFamily="34" charset="0"/>
                        </a:rPr>
                      </a:br>
                      <a:endParaRPr lang="fr-FR" sz="700" b="0" i="0" u="none" strike="noStrike">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700" b="0" i="0" u="none" strike="noStrike">
                          <a:solidFill>
                            <a:srgbClr val="000000"/>
                          </a:solidFill>
                          <a:effectLst/>
                          <a:latin typeface="Verdana" panose="020B0604030504040204" pitchFamily="34" charset="0"/>
                        </a:rPr>
                        <a:t>Short rates shock down</a:t>
                      </a:r>
                      <a:br>
                        <a:rPr lang="fr-FR" sz="700" b="0" i="0" u="none" strike="noStrike">
                          <a:solidFill>
                            <a:srgbClr val="000000"/>
                          </a:solidFill>
                          <a:effectLst/>
                          <a:latin typeface="Verdana" panose="020B0604030504040204" pitchFamily="34" charset="0"/>
                        </a:rPr>
                      </a:br>
                      <a:endParaRPr lang="fr-FR" sz="700" b="0" i="0" u="none" strike="noStrike">
                        <a:solidFill>
                          <a:srgbClr val="000000"/>
                        </a:solidFill>
                        <a:effectLst/>
                        <a:latin typeface="Verdana" panose="020B0604030504040204" pitchFamily="34" charset="0"/>
                      </a:endParaRP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64273565"/>
                  </a:ext>
                </a:extLst>
              </a:tr>
              <a:tr h="334540">
                <a:tc gridSpan="2" vMerge="1">
                  <a:txBody>
                    <a:bodyPr/>
                    <a:lstStyle/>
                    <a:p>
                      <a:endParaRPr lang="fr-FR"/>
                    </a:p>
                  </a:txBody>
                  <a:tcPr/>
                </a:tc>
                <a:tc hMerge="1" vMerge="1">
                  <a:txBody>
                    <a:bodyPr/>
                    <a:lstStyle/>
                    <a:p>
                      <a:endParaRPr lang="fr-FR"/>
                    </a:p>
                  </a:txBody>
                  <a:tcPr/>
                </a:tc>
                <a:tc vMerge="1">
                  <a:txBody>
                    <a:bodyPr/>
                    <a:lstStyle/>
                    <a:p>
                      <a:endParaRPr lang="fr-FR"/>
                    </a:p>
                  </a:txBody>
                  <a:tcPr/>
                </a:tc>
                <a:tc>
                  <a:txBody>
                    <a:bodyPr/>
                    <a:lstStyle/>
                    <a:p>
                      <a:pPr algn="ctr" fontAlgn="ctr"/>
                      <a:r>
                        <a:rPr lang="fr-FR" sz="700" b="0" i="0" u="none" strike="noStrike">
                          <a:solidFill>
                            <a:srgbClr val="000000"/>
                          </a:solidFill>
                          <a:effectLst/>
                          <a:latin typeface="Verdana" panose="020B0604030504040204" pitchFamily="34" charset="0"/>
                        </a:rPr>
                        <a:t>Subject to behavioural modelling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1511496150"/>
                  </a:ext>
                </a:extLst>
              </a:tr>
              <a:tr h="110329">
                <a:tc gridSpan="2" vMerge="1">
                  <a:txBody>
                    <a:bodyPr/>
                    <a:lstStyle/>
                    <a:p>
                      <a:endParaRPr lang="fr-FR"/>
                    </a:p>
                  </a:txBody>
                  <a:tcPr/>
                </a:tc>
                <a:tc hMerge="1" vMerge="1">
                  <a:txBody>
                    <a:bodyPr/>
                    <a:lstStyle/>
                    <a:p>
                      <a:endParaRPr lang="fr-FR"/>
                    </a:p>
                  </a:txBody>
                  <a:tcPr/>
                </a:tc>
                <a:tc>
                  <a:txBody>
                    <a:bodyPr/>
                    <a:lstStyle/>
                    <a:p>
                      <a:pPr algn="ctr" fontAlgn="ctr"/>
                      <a:r>
                        <a:rPr lang="fr-FR" sz="600" b="0" i="0" u="none" strike="noStrike">
                          <a:solidFill>
                            <a:srgbClr val="000000"/>
                          </a:solidFill>
                          <a:effectLst/>
                          <a:latin typeface="Verdana" panose="020B0604030504040204" pitchFamily="34" charset="0"/>
                        </a:rPr>
                        <a:t>0010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0060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0090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600" b="0" i="0" u="none" strike="noStrike">
                          <a:solidFill>
                            <a:srgbClr val="000000"/>
                          </a:solidFill>
                          <a:effectLst/>
                          <a:latin typeface="Verdana" panose="020B0604030504040204" pitchFamily="34" charset="0"/>
                        </a:rPr>
                        <a:t>0100</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extLst>
                  <a:ext uri="{0D108BD9-81ED-4DB2-BD59-A6C34878D82A}">
                    <a16:rowId xmlns:a16="http://schemas.microsoft.com/office/drawing/2014/main" val="2438230191"/>
                  </a:ext>
                </a:extLst>
              </a:tr>
              <a:tr h="111513">
                <a:tc gridSpan="12">
                  <a:txBody>
                    <a:bodyPr/>
                    <a:lstStyle/>
                    <a:p>
                      <a:pPr algn="l" fontAlgn="b"/>
                      <a:r>
                        <a:rPr lang="fr-FR" sz="700" b="1" i="0" u="none" strike="noStrike">
                          <a:solidFill>
                            <a:srgbClr val="000000"/>
                          </a:solidFill>
                          <a:effectLst/>
                          <a:latin typeface="Verdana" panose="020B0604030504040204" pitchFamily="34" charset="0"/>
                        </a:rPr>
                        <a:t>NMDs - Behavioural modelling </a:t>
                      </a:r>
                    </a:p>
                  </a:txBody>
                  <a:tcPr marL="0"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603986118"/>
                  </a:ext>
                </a:extLst>
              </a:tr>
              <a:tr h="111513">
                <a:tc gridSpan="12">
                  <a:txBody>
                    <a:bodyPr/>
                    <a:lstStyle/>
                    <a:p>
                      <a:pPr algn="l" fontAlgn="b"/>
                      <a:r>
                        <a:rPr lang="en-US" sz="700" b="0" i="0" u="none" strike="noStrike">
                          <a:solidFill>
                            <a:srgbClr val="000000"/>
                          </a:solidFill>
                          <a:effectLst/>
                          <a:latin typeface="Verdana" panose="020B0604030504040204" pitchFamily="34" charset="0"/>
                        </a:rPr>
                        <a:t>Average repricing dates before and after modelling</a:t>
                      </a:r>
                    </a:p>
                  </a:txBody>
                  <a:tcPr marL="61569"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13430042"/>
                  </a:ext>
                </a:extLst>
              </a:tr>
              <a:tr h="111513">
                <a:tc>
                  <a:txBody>
                    <a:bodyPr/>
                    <a:lstStyle/>
                    <a:p>
                      <a:pPr algn="l" fontAlgn="b"/>
                      <a:r>
                        <a:rPr lang="fr-FR" sz="600" b="0" i="0" u="none" strike="noStrike">
                          <a:solidFill>
                            <a:srgbClr val="000000"/>
                          </a:solidFill>
                          <a:effectLst/>
                          <a:latin typeface="Verdana" panose="020B0604030504040204" pitchFamily="34" charset="0"/>
                        </a:rPr>
                        <a:t>NMDs: Retail transactional</a:t>
                      </a:r>
                    </a:p>
                  </a:txBody>
                  <a:tcPr marL="123138"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56073816"/>
                  </a:ext>
                </a:extLst>
              </a:tr>
              <a:tr h="111513">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875151140"/>
                  </a:ext>
                </a:extLst>
              </a:tr>
              <a:tr h="111513">
                <a:tc>
                  <a:txBody>
                    <a:bodyPr/>
                    <a:lstStyle/>
                    <a:p>
                      <a:pPr algn="l" fontAlgn="ctr"/>
                      <a:r>
                        <a:rPr lang="en-US" sz="600" b="0" i="0" u="none" strike="noStrike">
                          <a:solidFill>
                            <a:srgbClr val="000000"/>
                          </a:solidFill>
                          <a:effectLst/>
                          <a:latin typeface="Verdana" panose="020B0604030504040204" pitchFamily="34" charset="0"/>
                        </a:rPr>
                        <a:t>of which: exempted from 5Y cap </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883783016"/>
                  </a:ext>
                </a:extLst>
              </a:tr>
              <a:tr h="111513">
                <a:tc>
                  <a:txBody>
                    <a:bodyPr/>
                    <a:lstStyle/>
                    <a:p>
                      <a:pPr algn="l" fontAlgn="b"/>
                      <a:r>
                        <a:rPr lang="fr-FR" sz="600" b="0" i="0" u="none" strike="noStrike" dirty="0" err="1">
                          <a:solidFill>
                            <a:srgbClr val="000000"/>
                          </a:solidFill>
                          <a:effectLst/>
                          <a:latin typeface="Verdana" panose="020B0604030504040204" pitchFamily="34" charset="0"/>
                        </a:rPr>
                        <a:t>NMDs</a:t>
                      </a:r>
                      <a:r>
                        <a:rPr lang="fr-FR" sz="600" b="0" i="0" u="none" strike="noStrike" dirty="0">
                          <a:solidFill>
                            <a:srgbClr val="000000"/>
                          </a:solidFill>
                          <a:effectLst/>
                          <a:latin typeface="Verdana" panose="020B0604030504040204" pitchFamily="34" charset="0"/>
                        </a:rPr>
                        <a:t>: </a:t>
                      </a:r>
                      <a:r>
                        <a:rPr lang="fr-FR" sz="600" b="0" i="0" u="none" strike="noStrike" dirty="0" err="1">
                          <a:solidFill>
                            <a:srgbClr val="000000"/>
                          </a:solidFill>
                          <a:effectLst/>
                          <a:latin typeface="Verdana" panose="020B0604030504040204" pitchFamily="34" charset="0"/>
                        </a:rPr>
                        <a:t>Retail</a:t>
                      </a:r>
                      <a:r>
                        <a:rPr lang="fr-FR" sz="600" b="0" i="0" u="none" strike="noStrike" dirty="0">
                          <a:solidFill>
                            <a:srgbClr val="000000"/>
                          </a:solidFill>
                          <a:effectLst/>
                          <a:latin typeface="Verdana" panose="020B0604030504040204" pitchFamily="34" charset="0"/>
                        </a:rPr>
                        <a:t> non-</a:t>
                      </a:r>
                      <a:r>
                        <a:rPr lang="fr-FR" sz="600" b="0" i="0" u="none" strike="noStrike" dirty="0" err="1">
                          <a:solidFill>
                            <a:srgbClr val="000000"/>
                          </a:solidFill>
                          <a:effectLst/>
                          <a:latin typeface="Verdana" panose="020B0604030504040204" pitchFamily="34" charset="0"/>
                        </a:rPr>
                        <a:t>transactional</a:t>
                      </a:r>
                      <a:endParaRPr lang="fr-FR" sz="600" b="0" i="0" u="none" strike="noStrike" dirty="0">
                        <a:solidFill>
                          <a:srgbClr val="000000"/>
                        </a:solidFill>
                        <a:effectLst/>
                        <a:latin typeface="Verdana" panose="020B0604030504040204" pitchFamily="34" charset="0"/>
                      </a:endParaRPr>
                    </a:p>
                  </a:txBody>
                  <a:tcPr marL="123138"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84273060"/>
                  </a:ext>
                </a:extLst>
              </a:tr>
              <a:tr h="111513">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495955795"/>
                  </a:ext>
                </a:extLst>
              </a:tr>
              <a:tr h="111513">
                <a:tc>
                  <a:txBody>
                    <a:bodyPr/>
                    <a:lstStyle/>
                    <a:p>
                      <a:pPr algn="l" fontAlgn="ctr"/>
                      <a:r>
                        <a:rPr lang="en-US" sz="600" b="0" i="0" u="none" strike="noStrike">
                          <a:solidFill>
                            <a:srgbClr val="000000"/>
                          </a:solidFill>
                          <a:effectLst/>
                          <a:latin typeface="Verdana" panose="020B0604030504040204" pitchFamily="34" charset="0"/>
                        </a:rPr>
                        <a:t>of which: exempted from 5Y cap </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0060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457429104"/>
                  </a:ext>
                </a:extLst>
              </a:tr>
              <a:tr h="111513">
                <a:tc>
                  <a:txBody>
                    <a:bodyPr/>
                    <a:lstStyle/>
                    <a:p>
                      <a:pPr algn="l" fontAlgn="b"/>
                      <a:r>
                        <a:rPr lang="fr-FR" sz="600" b="0" i="0" u="none" strike="noStrike">
                          <a:solidFill>
                            <a:srgbClr val="000000"/>
                          </a:solidFill>
                          <a:effectLst/>
                          <a:latin typeface="Verdana" panose="020B0604030504040204" pitchFamily="34" charset="0"/>
                        </a:rPr>
                        <a:t>NMDs: Wholesale non-financial</a:t>
                      </a:r>
                    </a:p>
                  </a:txBody>
                  <a:tcPr marL="123138"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0070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38369385"/>
                  </a:ext>
                </a:extLst>
              </a:tr>
              <a:tr h="111513">
                <a:tc>
                  <a:txBody>
                    <a:bodyPr/>
                    <a:lstStyle/>
                    <a:p>
                      <a:pPr algn="l" fontAlgn="ctr"/>
                      <a:r>
                        <a:rPr lang="fr-FR" sz="600" b="0" i="0" u="none" strike="noStrike">
                          <a:solidFill>
                            <a:srgbClr val="000000"/>
                          </a:solidFill>
                          <a:effectLst/>
                          <a:latin typeface="Verdana" panose="020B0604030504040204" pitchFamily="34" charset="0"/>
                        </a:rPr>
                        <a:t>of which: core component</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742492873"/>
                  </a:ext>
                </a:extLst>
              </a:tr>
              <a:tr h="111513">
                <a:tc>
                  <a:txBody>
                    <a:bodyPr/>
                    <a:lstStyle/>
                    <a:p>
                      <a:pPr algn="l" fontAlgn="ctr"/>
                      <a:r>
                        <a:rPr lang="en-US" sz="600" b="0" i="0" u="none" strike="noStrike">
                          <a:solidFill>
                            <a:srgbClr val="000000"/>
                          </a:solidFill>
                          <a:effectLst/>
                          <a:latin typeface="Verdana" panose="020B0604030504040204" pitchFamily="34" charset="0"/>
                        </a:rPr>
                        <a:t>of which: exempted from 5Y cap </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0090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580057199"/>
                  </a:ext>
                </a:extLst>
              </a:tr>
              <a:tr h="111513">
                <a:tc>
                  <a:txBody>
                    <a:bodyPr/>
                    <a:lstStyle/>
                    <a:p>
                      <a:pPr algn="l" fontAlgn="b"/>
                      <a:r>
                        <a:rPr lang="fr-FR" sz="600" b="0" i="0" u="none" strike="noStrike">
                          <a:solidFill>
                            <a:srgbClr val="000000"/>
                          </a:solidFill>
                          <a:effectLst/>
                          <a:latin typeface="Verdana" panose="020B0604030504040204" pitchFamily="34" charset="0"/>
                        </a:rPr>
                        <a:t>NMDs: Wholesale financial</a:t>
                      </a:r>
                    </a:p>
                  </a:txBody>
                  <a:tcPr marL="123138" marR="0" marT="0"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520047324"/>
                  </a:ext>
                </a:extLst>
              </a:tr>
              <a:tr h="111513">
                <a:tc>
                  <a:txBody>
                    <a:bodyPr/>
                    <a:lstStyle/>
                    <a:p>
                      <a:pPr algn="l" fontAlgn="ctr"/>
                      <a:r>
                        <a:rPr lang="fr-FR" sz="600" b="0" i="0" u="none" strike="noStrike">
                          <a:solidFill>
                            <a:srgbClr val="000000"/>
                          </a:solidFill>
                          <a:effectLst/>
                          <a:latin typeface="Verdana" panose="020B0604030504040204" pitchFamily="34" charset="0"/>
                        </a:rPr>
                        <a:t>of which: operational deposits</a:t>
                      </a:r>
                    </a:p>
                  </a:txBody>
                  <a:tcPr marL="246276"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 </a:t>
                      </a:r>
                    </a:p>
                  </a:txBody>
                  <a:tcPr marL="0" marR="0" marT="0"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57420074"/>
                  </a:ext>
                </a:extLst>
              </a:tr>
              <a:tr h="111513">
                <a:tc gridSpan="12">
                  <a:txBody>
                    <a:bodyPr/>
                    <a:lstStyle/>
                    <a:p>
                      <a:pPr algn="l" fontAlgn="b"/>
                      <a:r>
                        <a:rPr lang="fr-FR" sz="700" b="1" i="0" u="none" strike="noStrike">
                          <a:solidFill>
                            <a:srgbClr val="000000"/>
                          </a:solidFill>
                          <a:effectLst/>
                          <a:latin typeface="Verdana" panose="020B0604030504040204" pitchFamily="34" charset="0"/>
                        </a:rPr>
                        <a:t>Fixed Rate - Prepayment risk</a:t>
                      </a:r>
                    </a:p>
                  </a:txBody>
                  <a:tcPr marL="0"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083454512"/>
                  </a:ext>
                </a:extLst>
              </a:tr>
              <a:tr h="111513">
                <a:tc gridSpan="12">
                  <a:txBody>
                    <a:bodyPr/>
                    <a:lstStyle/>
                    <a:p>
                      <a:pPr algn="l" fontAlgn="b"/>
                      <a:r>
                        <a:rPr lang="en-US" sz="700" b="0" i="0" u="none" strike="noStrike">
                          <a:solidFill>
                            <a:srgbClr val="000000"/>
                          </a:solidFill>
                          <a:effectLst/>
                          <a:latin typeface="Verdana" panose="020B0604030504040204" pitchFamily="34" charset="0"/>
                        </a:rPr>
                        <a:t>Average repricing dates before and after modelling</a:t>
                      </a:r>
                    </a:p>
                  </a:txBody>
                  <a:tcPr marL="61569"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984425535"/>
                  </a:ext>
                </a:extLst>
              </a:tr>
              <a:tr h="111513">
                <a:tc>
                  <a:txBody>
                    <a:bodyPr/>
                    <a:lstStyle/>
                    <a:p>
                      <a:pPr algn="l" fontAlgn="ctr"/>
                      <a:r>
                        <a:rPr lang="fr-FR" sz="600" b="0" i="0" u="none" strike="noStrike">
                          <a:solidFill>
                            <a:srgbClr val="000000"/>
                          </a:solidFill>
                          <a:effectLst/>
                          <a:latin typeface="Verdana" panose="020B0604030504040204" pitchFamily="34" charset="0"/>
                        </a:rPr>
                        <a:t>Loans and advances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0160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330739366"/>
                  </a:ext>
                </a:extLst>
              </a:tr>
              <a:tr h="111513">
                <a:tc>
                  <a:txBody>
                    <a:bodyPr/>
                    <a:lstStyle/>
                    <a:p>
                      <a:pPr algn="l" fontAlgn="ctr"/>
                      <a:r>
                        <a:rPr lang="fr-FR" sz="600" b="0" i="0" u="none" strike="noStrike">
                          <a:solidFill>
                            <a:srgbClr val="000000"/>
                          </a:solidFill>
                          <a:effectLst/>
                          <a:latin typeface="Verdana" panose="020B0604030504040204" pitchFamily="34" charset="0"/>
                        </a:rPr>
                        <a:t>Debt securities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02497000"/>
                  </a:ext>
                </a:extLst>
              </a:tr>
              <a:tr h="111513">
                <a:tc gridSpan="12">
                  <a:txBody>
                    <a:bodyPr/>
                    <a:lstStyle/>
                    <a:p>
                      <a:pPr algn="l" fontAlgn="b"/>
                      <a:r>
                        <a:rPr lang="fr-FR" sz="700" b="0" i="0" u="none" strike="noStrike">
                          <a:solidFill>
                            <a:srgbClr val="000000"/>
                          </a:solidFill>
                          <a:effectLst/>
                          <a:latin typeface="Verdana" panose="020B0604030504040204" pitchFamily="34" charset="0"/>
                        </a:rPr>
                        <a:t>Conditional Prepayment Rates (average)</a:t>
                      </a:r>
                    </a:p>
                  </a:txBody>
                  <a:tcPr marL="61569"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660823282"/>
                  </a:ext>
                </a:extLst>
              </a:tr>
              <a:tr h="111513">
                <a:tc>
                  <a:txBody>
                    <a:bodyPr/>
                    <a:lstStyle/>
                    <a:p>
                      <a:pPr algn="l" fontAlgn="ctr"/>
                      <a:r>
                        <a:rPr lang="fr-FR" sz="600" b="0" i="0" u="none" strike="noStrike">
                          <a:solidFill>
                            <a:srgbClr val="000000"/>
                          </a:solidFill>
                          <a:effectLst/>
                          <a:latin typeface="Verdana" panose="020B0604030504040204" pitchFamily="34" charset="0"/>
                        </a:rPr>
                        <a:t>Loans and advances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479612454"/>
                  </a:ext>
                </a:extLst>
              </a:tr>
              <a:tr h="111513">
                <a:tc>
                  <a:txBody>
                    <a:bodyPr/>
                    <a:lstStyle/>
                    <a:p>
                      <a:pPr algn="l" fontAlgn="ctr"/>
                      <a:r>
                        <a:rPr lang="fr-FR" sz="600" b="0" i="0" u="none" strike="noStrike">
                          <a:solidFill>
                            <a:srgbClr val="000000"/>
                          </a:solidFill>
                          <a:effectLst/>
                          <a:latin typeface="Verdana" panose="020B0604030504040204" pitchFamily="34" charset="0"/>
                        </a:rPr>
                        <a:t>Debt securities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0290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95570698"/>
                  </a:ext>
                </a:extLst>
              </a:tr>
              <a:tr h="111513">
                <a:tc gridSpan="12">
                  <a:txBody>
                    <a:bodyPr/>
                    <a:lstStyle/>
                    <a:p>
                      <a:pPr algn="l" fontAlgn="b"/>
                      <a:r>
                        <a:rPr lang="fr-FR" sz="700" b="1" i="0" u="none" strike="noStrike">
                          <a:solidFill>
                            <a:srgbClr val="000000"/>
                          </a:solidFill>
                          <a:effectLst/>
                          <a:latin typeface="Verdana" panose="020B0604030504040204" pitchFamily="34" charset="0"/>
                        </a:rPr>
                        <a:t>Fixed Rate - Early Redemption</a:t>
                      </a:r>
                    </a:p>
                  </a:txBody>
                  <a:tcPr marL="0"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534233526"/>
                  </a:ext>
                </a:extLst>
              </a:tr>
              <a:tr h="111513">
                <a:tc gridSpan="12">
                  <a:txBody>
                    <a:bodyPr/>
                    <a:lstStyle/>
                    <a:p>
                      <a:pPr algn="l" fontAlgn="b"/>
                      <a:r>
                        <a:rPr lang="en-US" sz="700" b="0" i="0" u="none" strike="noStrike">
                          <a:solidFill>
                            <a:srgbClr val="000000"/>
                          </a:solidFill>
                          <a:effectLst/>
                          <a:latin typeface="Verdana" panose="020B0604030504040204" pitchFamily="34" charset="0"/>
                        </a:rPr>
                        <a:t>Average repricing dates before and after modelling</a:t>
                      </a:r>
                    </a:p>
                  </a:txBody>
                  <a:tcPr marL="61569"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52371541"/>
                  </a:ext>
                </a:extLst>
              </a:tr>
              <a:tr h="111513">
                <a:tc>
                  <a:txBody>
                    <a:bodyPr/>
                    <a:lstStyle/>
                    <a:p>
                      <a:pPr algn="l" fontAlgn="ctr"/>
                      <a:r>
                        <a:rPr lang="fr-FR" sz="600" b="0" i="0" u="none" strike="noStrike">
                          <a:solidFill>
                            <a:srgbClr val="000000"/>
                          </a:solidFill>
                          <a:effectLst/>
                          <a:latin typeface="Verdana" panose="020B0604030504040204" pitchFamily="34" charset="0"/>
                        </a:rPr>
                        <a:t>Term deposits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0505669"/>
                  </a:ext>
                </a:extLst>
              </a:tr>
              <a:tr h="111513">
                <a:tc gridSpan="12">
                  <a:txBody>
                    <a:bodyPr/>
                    <a:lstStyle/>
                    <a:p>
                      <a:pPr algn="l" fontAlgn="b"/>
                      <a:r>
                        <a:rPr lang="fr-FR" sz="700" b="0" i="0" u="none" strike="noStrike">
                          <a:solidFill>
                            <a:srgbClr val="000000"/>
                          </a:solidFill>
                          <a:effectLst/>
                          <a:latin typeface="Verdana" panose="020B0604030504040204" pitchFamily="34" charset="0"/>
                        </a:rPr>
                        <a:t>Early redemtpion rates (average)</a:t>
                      </a:r>
                    </a:p>
                  </a:txBody>
                  <a:tcPr marL="61569" marR="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4174262527"/>
                  </a:ext>
                </a:extLst>
              </a:tr>
              <a:tr h="113598">
                <a:tc>
                  <a:txBody>
                    <a:bodyPr/>
                    <a:lstStyle/>
                    <a:p>
                      <a:pPr algn="l" fontAlgn="ctr"/>
                      <a:r>
                        <a:rPr lang="fr-FR" sz="600" b="0" i="0" u="none" strike="noStrike">
                          <a:solidFill>
                            <a:srgbClr val="000000"/>
                          </a:solidFill>
                          <a:effectLst/>
                          <a:latin typeface="Verdana" panose="020B0604030504040204" pitchFamily="34" charset="0"/>
                        </a:rPr>
                        <a:t>Term deposits</a:t>
                      </a:r>
                    </a:p>
                  </a:txBody>
                  <a:tcPr marL="184707"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600" b="0" i="0" u="none" strike="noStrike">
                          <a:solidFill>
                            <a:srgbClr val="000000"/>
                          </a:solidFill>
                          <a:effectLst/>
                          <a:latin typeface="Verdana" panose="020B0604030504040204" pitchFamily="34" charset="0"/>
                        </a:rPr>
                        <a:t>0340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700" b="0" i="0" u="none" strike="noStrike" dirty="0">
                          <a:solidFill>
                            <a:srgbClr val="000000"/>
                          </a:solidFill>
                          <a:effectLst/>
                          <a:latin typeface="Verdana" panose="020B0604030504040204" pitchFamily="34" charset="0"/>
                        </a:rPr>
                        <a:t> </a:t>
                      </a:r>
                    </a:p>
                  </a:txBody>
                  <a:tcPr marL="0" marR="0" marT="0"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07501237"/>
                  </a:ext>
                </a:extLst>
              </a:tr>
            </a:tbl>
          </a:graphicData>
        </a:graphic>
      </p:graphicFrame>
      <p:sp>
        <p:nvSpPr>
          <p:cNvPr id="4" name="TextBox 3">
            <a:extLst>
              <a:ext uri="{FF2B5EF4-FFF2-40B4-BE49-F238E27FC236}">
                <a16:creationId xmlns:a16="http://schemas.microsoft.com/office/drawing/2014/main" id="{5B621834-1F83-3243-6141-E4395EC4FFAC}"/>
              </a:ext>
            </a:extLst>
          </p:cNvPr>
          <p:cNvSpPr txBox="1"/>
          <p:nvPr/>
        </p:nvSpPr>
        <p:spPr>
          <a:xfrm>
            <a:off x="712912" y="5582897"/>
            <a:ext cx="10761330" cy="307777"/>
          </a:xfrm>
          <a:prstGeom prst="rect">
            <a:avLst/>
          </a:prstGeom>
          <a:noFill/>
          <a:ln>
            <a:solidFill>
              <a:schemeClr val="tx1">
                <a:lumMod val="50000"/>
              </a:schemeClr>
            </a:solidFill>
          </a:ln>
        </p:spPr>
        <p:txBody>
          <a:bodyPr wrap="square">
            <a:spAutoFit/>
          </a:bodyPr>
          <a:lstStyle/>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J09 vise à mettre en évidence les paramètres liés à l'optionnalité utilisés dans le calcul des différents indicateurs.</a:t>
            </a:r>
          </a:p>
        </p:txBody>
      </p:sp>
      <p:sp>
        <p:nvSpPr>
          <p:cNvPr id="6" name="Espace réservé du texte 15">
            <a:extLst>
              <a:ext uri="{FF2B5EF4-FFF2-40B4-BE49-F238E27FC236}">
                <a16:creationId xmlns:a16="http://schemas.microsoft.com/office/drawing/2014/main" id="{AE2B5A1F-13D8-B4B4-2BA5-62276CF7C505}"/>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282751653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52D885F9-EF9E-4E04-F4B9-B568FABCB69E}"/>
              </a:ext>
            </a:extLst>
          </p:cNvPr>
          <p:cNvSpPr/>
          <p:nvPr/>
        </p:nvSpPr>
        <p:spPr>
          <a:xfrm>
            <a:off x="0" y="6083166"/>
            <a:ext cx="12127828" cy="774834"/>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d- Template </a:t>
            </a:r>
            <a:r>
              <a:rPr lang="fr-FR" sz="2000" i="1" dirty="0">
                <a:highlight>
                  <a:srgbClr val="FF0000"/>
                </a:highlight>
                <a:latin typeface="Calibri (body)"/>
                <a:cs typeface="Calibri"/>
              </a:rPr>
              <a:t>J08</a:t>
            </a:r>
            <a:r>
              <a:rPr lang="fr-FR" sz="2000" i="1" dirty="0">
                <a:latin typeface="Calibri (body)"/>
                <a:cs typeface="Calibri"/>
              </a:rPr>
              <a:t> – Relevant </a:t>
            </a:r>
            <a:r>
              <a:rPr lang="fr-FR" sz="2000" i="1" dirty="0" err="1">
                <a:latin typeface="Calibri (body)"/>
                <a:cs typeface="Calibri"/>
              </a:rPr>
              <a:t>parameters</a:t>
            </a:r>
            <a:endParaRPr lang="fr-FR" dirty="0">
              <a:latin typeface="Calibri"/>
              <a:cs typeface="Calibri"/>
            </a:endParaRPr>
          </a:p>
        </p:txBody>
      </p:sp>
      <p:sp>
        <p:nvSpPr>
          <p:cNvPr id="4" name="TextBox 3">
            <a:extLst>
              <a:ext uri="{FF2B5EF4-FFF2-40B4-BE49-F238E27FC236}">
                <a16:creationId xmlns:a16="http://schemas.microsoft.com/office/drawing/2014/main" id="{5B621834-1F83-3243-6141-E4395EC4FFAC}"/>
              </a:ext>
            </a:extLst>
          </p:cNvPr>
          <p:cNvSpPr txBox="1"/>
          <p:nvPr/>
        </p:nvSpPr>
        <p:spPr>
          <a:xfrm>
            <a:off x="388542" y="6162806"/>
            <a:ext cx="10761330" cy="307777"/>
          </a:xfrm>
          <a:prstGeom prst="rect">
            <a:avLst/>
          </a:prstGeom>
          <a:noFill/>
          <a:ln>
            <a:solidFill>
              <a:schemeClr val="tx1">
                <a:lumMod val="50000"/>
              </a:schemeClr>
            </a:solidFill>
          </a:ln>
        </p:spPr>
        <p:txBody>
          <a:bodyPr wrap="square">
            <a:spAutoFit/>
          </a:bodyPr>
          <a:lstStyle/>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J08 vise à mettre en évidence les paramètres liés à l'optionnalité utilisés dans le calcul des différents indicateurs.</a:t>
            </a:r>
          </a:p>
        </p:txBody>
      </p:sp>
      <p:sp>
        <p:nvSpPr>
          <p:cNvPr id="6" name="Espace réservé du texte 15">
            <a:extLst>
              <a:ext uri="{FF2B5EF4-FFF2-40B4-BE49-F238E27FC236}">
                <a16:creationId xmlns:a16="http://schemas.microsoft.com/office/drawing/2014/main" id="{AE2B5A1F-13D8-B4B4-2BA5-62276CF7C505}"/>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5" name="Table 4">
            <a:extLst>
              <a:ext uri="{FF2B5EF4-FFF2-40B4-BE49-F238E27FC236}">
                <a16:creationId xmlns:a16="http://schemas.microsoft.com/office/drawing/2014/main" id="{ECB9582A-9A91-4E88-91E2-CDE4D835CF99}"/>
              </a:ext>
            </a:extLst>
          </p:cNvPr>
          <p:cNvGraphicFramePr>
            <a:graphicFrameLocks noGrp="1"/>
          </p:cNvGraphicFramePr>
          <p:nvPr/>
        </p:nvGraphicFramePr>
        <p:xfrm>
          <a:off x="394637" y="865499"/>
          <a:ext cx="11521440" cy="5102144"/>
        </p:xfrm>
        <a:graphic>
          <a:graphicData uri="http://schemas.openxmlformats.org/drawingml/2006/table">
            <a:tbl>
              <a:tblPr/>
              <a:tblGrid>
                <a:gridCol w="2988614">
                  <a:extLst>
                    <a:ext uri="{9D8B030D-6E8A-4147-A177-3AD203B41FA5}">
                      <a16:colId xmlns:a16="http://schemas.microsoft.com/office/drawing/2014/main" val="2490117980"/>
                    </a:ext>
                  </a:extLst>
                </a:gridCol>
                <a:gridCol w="331124">
                  <a:extLst>
                    <a:ext uri="{9D8B030D-6E8A-4147-A177-3AD203B41FA5}">
                      <a16:colId xmlns:a16="http://schemas.microsoft.com/office/drawing/2014/main" val="3978395687"/>
                    </a:ext>
                  </a:extLst>
                </a:gridCol>
                <a:gridCol w="798095">
                  <a:extLst>
                    <a:ext uri="{9D8B030D-6E8A-4147-A177-3AD203B41FA5}">
                      <a16:colId xmlns:a16="http://schemas.microsoft.com/office/drawing/2014/main" val="1815169541"/>
                    </a:ext>
                  </a:extLst>
                </a:gridCol>
                <a:gridCol w="1069788">
                  <a:extLst>
                    <a:ext uri="{9D8B030D-6E8A-4147-A177-3AD203B41FA5}">
                      <a16:colId xmlns:a16="http://schemas.microsoft.com/office/drawing/2014/main" val="1027826662"/>
                    </a:ext>
                  </a:extLst>
                </a:gridCol>
                <a:gridCol w="1069788">
                  <a:extLst>
                    <a:ext uri="{9D8B030D-6E8A-4147-A177-3AD203B41FA5}">
                      <a16:colId xmlns:a16="http://schemas.microsoft.com/office/drawing/2014/main" val="2003663497"/>
                    </a:ext>
                  </a:extLst>
                </a:gridCol>
                <a:gridCol w="882999">
                  <a:extLst>
                    <a:ext uri="{9D8B030D-6E8A-4147-A177-3AD203B41FA5}">
                      <a16:colId xmlns:a16="http://schemas.microsoft.com/office/drawing/2014/main" val="1428936394"/>
                    </a:ext>
                  </a:extLst>
                </a:gridCol>
                <a:gridCol w="730172">
                  <a:extLst>
                    <a:ext uri="{9D8B030D-6E8A-4147-A177-3AD203B41FA5}">
                      <a16:colId xmlns:a16="http://schemas.microsoft.com/office/drawing/2014/main" val="1864593359"/>
                    </a:ext>
                  </a:extLst>
                </a:gridCol>
                <a:gridCol w="730172">
                  <a:extLst>
                    <a:ext uri="{9D8B030D-6E8A-4147-A177-3AD203B41FA5}">
                      <a16:colId xmlns:a16="http://schemas.microsoft.com/office/drawing/2014/main" val="1138501349"/>
                    </a:ext>
                  </a:extLst>
                </a:gridCol>
                <a:gridCol w="730172">
                  <a:extLst>
                    <a:ext uri="{9D8B030D-6E8A-4147-A177-3AD203B41FA5}">
                      <a16:colId xmlns:a16="http://schemas.microsoft.com/office/drawing/2014/main" val="3971856091"/>
                    </a:ext>
                  </a:extLst>
                </a:gridCol>
                <a:gridCol w="730172">
                  <a:extLst>
                    <a:ext uri="{9D8B030D-6E8A-4147-A177-3AD203B41FA5}">
                      <a16:colId xmlns:a16="http://schemas.microsoft.com/office/drawing/2014/main" val="1243503154"/>
                    </a:ext>
                  </a:extLst>
                </a:gridCol>
                <a:gridCol w="730172">
                  <a:extLst>
                    <a:ext uri="{9D8B030D-6E8A-4147-A177-3AD203B41FA5}">
                      <a16:colId xmlns:a16="http://schemas.microsoft.com/office/drawing/2014/main" val="2170491057"/>
                    </a:ext>
                  </a:extLst>
                </a:gridCol>
                <a:gridCol w="730172">
                  <a:extLst>
                    <a:ext uri="{9D8B030D-6E8A-4147-A177-3AD203B41FA5}">
                      <a16:colId xmlns:a16="http://schemas.microsoft.com/office/drawing/2014/main" val="904200442"/>
                    </a:ext>
                  </a:extLst>
                </a:gridCol>
              </a:tblGrid>
              <a:tr h="189153">
                <a:tc>
                  <a:txBody>
                    <a:bodyPr/>
                    <a:lstStyle/>
                    <a:p>
                      <a:pPr algn="l" fontAlgn="ctr"/>
                      <a:r>
                        <a:rPr lang="fr-FR" sz="500" b="1" i="0" u="none" strike="noStrike">
                          <a:solidFill>
                            <a:srgbClr val="000000"/>
                          </a:solidFill>
                          <a:effectLst/>
                          <a:latin typeface="Verdana" panose="020B0604030504040204" pitchFamily="34" charset="0"/>
                        </a:rPr>
                        <a:t>J 08.00 - RELEVANT PARAMETERS</a:t>
                      </a:r>
                    </a:p>
                  </a:txBody>
                  <a:tcPr marL="2667" marR="2667" marT="2667"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100" b="1" i="0" u="none" strike="noStrike">
                          <a:solidFill>
                            <a:srgbClr val="000000"/>
                          </a:solidFill>
                          <a:effectLst/>
                          <a:latin typeface="Verdana" panose="020B0604030504040204" pitchFamily="34" charset="0"/>
                        </a:rPr>
                        <a:t> </a:t>
                      </a:r>
                    </a:p>
                  </a:txBody>
                  <a:tcPr marL="2667" marR="2667" marT="266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483864781"/>
                  </a:ext>
                </a:extLst>
              </a:tr>
              <a:tr h="79799">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1" i="0" u="sng"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4117509888"/>
                  </a:ext>
                </a:extLst>
              </a:tr>
              <a:tr h="82754">
                <a:tc>
                  <a:txBody>
                    <a:bodyPr/>
                    <a:lstStyle/>
                    <a:p>
                      <a:pPr algn="r" fontAlgn="ctr"/>
                      <a:r>
                        <a:rPr lang="fr-FR" sz="400" b="1" i="0" u="none" strike="noStrike">
                          <a:solidFill>
                            <a:srgbClr val="000000"/>
                          </a:solidFill>
                          <a:effectLst/>
                          <a:latin typeface="Verdana" panose="020B0604030504040204" pitchFamily="34" charset="0"/>
                        </a:rPr>
                        <a:t>Currency:</a:t>
                      </a:r>
                    </a:p>
                  </a:txBody>
                  <a:tcPr marL="2667" marR="2667" marT="2667"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300" b="0" i="0" u="none" strike="noStrike">
                          <a:solidFill>
                            <a:srgbClr val="000000"/>
                          </a:solidFill>
                          <a:effectLst/>
                          <a:latin typeface="Verdana" panose="020B0604030504040204" pitchFamily="34" charset="0"/>
                        </a:rPr>
                        <a:t> </a:t>
                      </a:r>
                    </a:p>
                  </a:txBody>
                  <a:tcPr marL="2667" marR="2667" marT="2667"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fr-FR" sz="400" b="0" i="0" u="none" strike="noStrike">
                        <a:solidFill>
                          <a:srgbClr val="000000"/>
                        </a:solidFill>
                        <a:effectLst/>
                        <a:latin typeface="Verdana" panose="020B0604030504040204" pitchFamily="34" charset="0"/>
                      </a:endParaRPr>
                    </a:p>
                  </a:txBody>
                  <a:tcPr marL="2667" marR="2667" marT="2667" marB="0" anchor="b">
                    <a:lnL w="6350" cap="flat" cmpd="sng" algn="ctr">
                      <a:solidFill>
                        <a:srgbClr val="000000"/>
                      </a:solidFill>
                      <a:prstDash val="solid"/>
                      <a:round/>
                      <a:headEnd type="none" w="med" len="med"/>
                      <a:tailEnd type="none" w="med" len="med"/>
                    </a:lnL>
                    <a:lnR>
                      <a:noFill/>
                    </a:lnR>
                    <a:lnT>
                      <a:noFill/>
                    </a:lnT>
                    <a:lnB>
                      <a:noFill/>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sng"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tc>
                  <a:txBody>
                    <a:bodyPr/>
                    <a:lstStyle/>
                    <a:p>
                      <a:pPr algn="l" fontAlgn="b"/>
                      <a:endParaRPr lang="fr-FR" sz="3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a:noFill/>
                    </a:lnB>
                    <a:noFill/>
                  </a:tcPr>
                </a:tc>
                <a:extLst>
                  <a:ext uri="{0D108BD9-81ED-4DB2-BD59-A6C34878D82A}">
                    <a16:rowId xmlns:a16="http://schemas.microsoft.com/office/drawing/2014/main" val="4199733847"/>
                  </a:ext>
                </a:extLst>
              </a:tr>
              <a:tr h="87396">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87430114"/>
                  </a:ext>
                </a:extLst>
              </a:tr>
              <a:tr h="212798">
                <a:tc rowSpan="3" gridSpan="2">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3" hMerge="1">
                  <a:txBody>
                    <a:bodyPr/>
                    <a:lstStyle/>
                    <a:p>
                      <a:endParaRPr lang="fr-FR"/>
                    </a:p>
                  </a:txBody>
                  <a:tcPr/>
                </a:tc>
                <a:tc rowSpan="2">
                  <a:txBody>
                    <a:bodyPr/>
                    <a:lstStyle/>
                    <a:p>
                      <a:pPr algn="ctr" fontAlgn="ctr"/>
                      <a:r>
                        <a:rPr lang="fr-FR" sz="500" b="0" i="0" u="none" strike="noStrike">
                          <a:solidFill>
                            <a:srgbClr val="000000"/>
                          </a:solidFill>
                          <a:effectLst/>
                          <a:latin typeface="Verdana" panose="020B0604030504040204" pitchFamily="34" charset="0"/>
                        </a:rPr>
                        <a:t>Notional amount</a:t>
                      </a:r>
                    </a:p>
                  </a:txBody>
                  <a:tcPr marL="2667" marR="2667" marT="2667" marB="0" anchor="ctr">
                    <a:lnL w="635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Baseline scenario (contractual)</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Baseline scenario (behavioural)</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Parallel shock up</a:t>
                      </a:r>
                      <a:br>
                        <a:rPr lang="fr-FR" sz="500" b="0" i="0" u="none" strike="noStrike">
                          <a:solidFill>
                            <a:srgbClr val="000000"/>
                          </a:solidFill>
                          <a:effectLst/>
                          <a:latin typeface="Verdana" panose="020B0604030504040204" pitchFamily="34" charset="0"/>
                        </a:rPr>
                      </a:br>
                      <a:endParaRPr lang="fr-FR" sz="500" b="0" i="0" u="none" strike="noStrike">
                        <a:solidFill>
                          <a:srgbClr val="000000"/>
                        </a:solidFill>
                        <a:effectLst/>
                        <a:latin typeface="Verdana" panose="020B0604030504040204" pitchFamily="34" charset="0"/>
                      </a:endParaRP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Parallel shock down</a:t>
                      </a:r>
                      <a:br>
                        <a:rPr lang="fr-FR" sz="500" b="0" i="0" u="none" strike="noStrike">
                          <a:solidFill>
                            <a:srgbClr val="000000"/>
                          </a:solidFill>
                          <a:effectLst/>
                          <a:latin typeface="Verdana" panose="020B0604030504040204" pitchFamily="34" charset="0"/>
                        </a:rPr>
                      </a:br>
                      <a:endParaRPr lang="fr-FR" sz="500" b="0" i="0" u="none" strike="noStrike">
                        <a:solidFill>
                          <a:srgbClr val="000000"/>
                        </a:solidFill>
                        <a:effectLst/>
                        <a:latin typeface="Verdana" panose="020B0604030504040204" pitchFamily="34" charset="0"/>
                      </a:endParaRP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Steepener shock</a:t>
                      </a:r>
                      <a:br>
                        <a:rPr lang="fr-FR" sz="500" b="0" i="0" u="none" strike="noStrike">
                          <a:solidFill>
                            <a:srgbClr val="000000"/>
                          </a:solidFill>
                          <a:effectLst/>
                          <a:latin typeface="Verdana" panose="020B0604030504040204" pitchFamily="34" charset="0"/>
                        </a:rPr>
                      </a:br>
                      <a:endParaRPr lang="fr-FR" sz="500" b="0" i="0" u="none" strike="noStrike">
                        <a:solidFill>
                          <a:srgbClr val="000000"/>
                        </a:solidFill>
                        <a:effectLst/>
                        <a:latin typeface="Verdana" panose="020B0604030504040204" pitchFamily="34" charset="0"/>
                      </a:endParaRP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Flattener shock </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   Short rates shock up</a:t>
                      </a:r>
                      <a:br>
                        <a:rPr lang="fr-FR" sz="500" b="0" i="0" u="none" strike="noStrike">
                          <a:solidFill>
                            <a:srgbClr val="000000"/>
                          </a:solidFill>
                          <a:effectLst/>
                          <a:latin typeface="Verdana" panose="020B0604030504040204" pitchFamily="34" charset="0"/>
                        </a:rPr>
                      </a:br>
                      <a:endParaRPr lang="fr-FR" sz="500" b="0" i="0" u="none" strike="noStrike">
                        <a:solidFill>
                          <a:srgbClr val="000000"/>
                        </a:solidFill>
                        <a:effectLst/>
                        <a:latin typeface="Verdana" panose="020B0604030504040204" pitchFamily="34" charset="0"/>
                      </a:endParaRP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rowSpan="2">
                  <a:txBody>
                    <a:bodyPr/>
                    <a:lstStyle/>
                    <a:p>
                      <a:pPr algn="ctr" fontAlgn="ctr"/>
                      <a:r>
                        <a:rPr lang="fr-FR" sz="500" b="0" i="0" u="none" strike="noStrike">
                          <a:solidFill>
                            <a:srgbClr val="000000"/>
                          </a:solidFill>
                          <a:effectLst/>
                          <a:latin typeface="Verdana" panose="020B0604030504040204" pitchFamily="34" charset="0"/>
                        </a:rPr>
                        <a:t>Short rates shock down</a:t>
                      </a:r>
                      <a:br>
                        <a:rPr lang="fr-FR" sz="500" b="0" i="0" u="none" strike="noStrike">
                          <a:solidFill>
                            <a:srgbClr val="000000"/>
                          </a:solidFill>
                          <a:effectLst/>
                          <a:latin typeface="Verdana" panose="020B0604030504040204" pitchFamily="34" charset="0"/>
                        </a:rPr>
                      </a:br>
                      <a:endParaRPr lang="fr-FR" sz="500" b="0" i="0" u="none" strike="noStrike">
                        <a:solidFill>
                          <a:srgbClr val="000000"/>
                        </a:solidFill>
                        <a:effectLst/>
                        <a:latin typeface="Verdana" panose="020B0604030504040204" pitchFamily="34" charset="0"/>
                      </a:endParaRPr>
                    </a:p>
                  </a:txBody>
                  <a:tcPr marL="2667" marR="2667" marT="266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850901414"/>
                  </a:ext>
                </a:extLst>
              </a:tr>
              <a:tr h="350229">
                <a:tc gridSpan="2" vMerge="1">
                  <a:txBody>
                    <a:bodyPr/>
                    <a:lstStyle/>
                    <a:p>
                      <a:endParaRPr lang="fr-FR"/>
                    </a:p>
                  </a:txBody>
                  <a:tcPr/>
                </a:tc>
                <a:tc hMerge="1" vMerge="1">
                  <a:txBody>
                    <a:bodyPr/>
                    <a:lstStyle/>
                    <a:p>
                      <a:endParaRPr lang="fr-FR"/>
                    </a:p>
                  </a:txBody>
                  <a:tcPr/>
                </a:tc>
                <a:tc vMerge="1">
                  <a:txBody>
                    <a:bodyPr/>
                    <a:lstStyle/>
                    <a:p>
                      <a:endParaRPr lang="fr-FR"/>
                    </a:p>
                  </a:txBody>
                  <a:tcPr/>
                </a:tc>
                <a:tc>
                  <a:txBody>
                    <a:bodyPr/>
                    <a:lstStyle/>
                    <a:p>
                      <a:pPr algn="ctr" fontAlgn="ctr"/>
                      <a:r>
                        <a:rPr lang="fr-FR" sz="500" b="0" i="0" u="none" strike="noStrike">
                          <a:solidFill>
                            <a:srgbClr val="000000"/>
                          </a:solidFill>
                          <a:effectLst/>
                          <a:latin typeface="Verdana" panose="020B0604030504040204" pitchFamily="34" charset="0"/>
                        </a:rPr>
                        <a:t>Subject to behavioural modelling (%)</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2632933260"/>
                  </a:ext>
                </a:extLst>
              </a:tr>
              <a:tr h="79799">
                <a:tc gridSpan="2" vMerge="1">
                  <a:txBody>
                    <a:bodyPr/>
                    <a:lstStyle/>
                    <a:p>
                      <a:endParaRPr lang="fr-FR"/>
                    </a:p>
                  </a:txBody>
                  <a:tcPr/>
                </a:tc>
                <a:tc hMerge="1" vMerge="1">
                  <a:txBody>
                    <a:bodyPr/>
                    <a:lstStyle/>
                    <a:p>
                      <a:endParaRPr lang="fr-FR"/>
                    </a:p>
                  </a:txBody>
                  <a:tcPr/>
                </a:tc>
                <a:tc>
                  <a:txBody>
                    <a:bodyPr/>
                    <a:lstStyle/>
                    <a:p>
                      <a:pPr algn="ctr" fontAlgn="ctr"/>
                      <a:r>
                        <a:rPr lang="fr-FR" sz="400" b="0" i="0" u="none" strike="noStrike">
                          <a:solidFill>
                            <a:srgbClr val="000000"/>
                          </a:solidFill>
                          <a:effectLst/>
                          <a:latin typeface="Verdana" panose="020B0604030504040204" pitchFamily="34" charset="0"/>
                        </a:rPr>
                        <a:t>0010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0020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0030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0040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0050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0060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0070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0080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0090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ctr"/>
                      <a:r>
                        <a:rPr lang="fr-FR" sz="400" b="0" i="0" u="none" strike="noStrike">
                          <a:solidFill>
                            <a:srgbClr val="000000"/>
                          </a:solidFill>
                          <a:effectLst/>
                          <a:latin typeface="Verdana" panose="020B0604030504040204" pitchFamily="34" charset="0"/>
                        </a:rPr>
                        <a:t>0100</a:t>
                      </a:r>
                    </a:p>
                  </a:txBody>
                  <a:tcPr marL="2667" marR="2667" marT="266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extLst>
                  <a:ext uri="{0D108BD9-81ED-4DB2-BD59-A6C34878D82A}">
                    <a16:rowId xmlns:a16="http://schemas.microsoft.com/office/drawing/2014/main" val="1270312804"/>
                  </a:ext>
                </a:extLst>
              </a:tr>
              <a:tr h="87396">
                <a:tc gridSpan="12">
                  <a:txBody>
                    <a:bodyPr/>
                    <a:lstStyle/>
                    <a:p>
                      <a:pPr algn="l" fontAlgn="b"/>
                      <a:r>
                        <a:rPr lang="fr-FR" sz="500" b="1" i="0" u="none" strike="noStrike">
                          <a:solidFill>
                            <a:srgbClr val="000000"/>
                          </a:solidFill>
                          <a:effectLst/>
                          <a:latin typeface="Verdana" panose="020B0604030504040204" pitchFamily="34" charset="0"/>
                        </a:rPr>
                        <a:t>NMDs - Behavioural modelling </a:t>
                      </a:r>
                    </a:p>
                  </a:txBody>
                  <a:tcPr marL="2667"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261602065"/>
                  </a:ext>
                </a:extLst>
              </a:tr>
              <a:tr h="87396">
                <a:tc gridSpan="12">
                  <a:txBody>
                    <a:bodyPr/>
                    <a:lstStyle/>
                    <a:p>
                      <a:pPr algn="l" fontAlgn="b"/>
                      <a:r>
                        <a:rPr lang="en-US" sz="500" b="0" i="0" u="none" strike="noStrike">
                          <a:solidFill>
                            <a:srgbClr val="000000"/>
                          </a:solidFill>
                          <a:effectLst/>
                          <a:latin typeface="Verdana" panose="020B0604030504040204" pitchFamily="34" charset="0"/>
                        </a:rPr>
                        <a:t>Average repricing dates before and after modelling</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758810627"/>
                  </a:ext>
                </a:extLst>
              </a:tr>
              <a:tr h="87396">
                <a:tc>
                  <a:txBody>
                    <a:bodyPr/>
                    <a:lstStyle/>
                    <a:p>
                      <a:pPr algn="l" fontAlgn="b"/>
                      <a:r>
                        <a:rPr lang="fr-FR" sz="400" b="1" i="0" u="none" strike="noStrike">
                          <a:solidFill>
                            <a:srgbClr val="000000"/>
                          </a:solidFill>
                          <a:effectLst/>
                          <a:latin typeface="Verdana" panose="020B0604030504040204" pitchFamily="34" charset="0"/>
                        </a:rPr>
                        <a:t>NMDs: Retail transactional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0010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647110806"/>
                  </a:ext>
                </a:extLst>
              </a:tr>
              <a:tr h="87396">
                <a:tc>
                  <a:txBody>
                    <a:bodyPr/>
                    <a:lstStyle/>
                    <a:p>
                      <a:pPr algn="l" fontAlgn="ctr"/>
                      <a:r>
                        <a:rPr lang="fr-FR" sz="400" b="0" i="0" u="none" strike="noStrike">
                          <a:solidFill>
                            <a:srgbClr val="000000"/>
                          </a:solidFill>
                          <a:effectLst/>
                          <a:latin typeface="Verdana" panose="020B0604030504040204" pitchFamily="34" charset="0"/>
                        </a:rPr>
                        <a:t>of which: core component</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0020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316456424"/>
                  </a:ext>
                </a:extLst>
              </a:tr>
              <a:tr h="87396">
                <a:tc>
                  <a:txBody>
                    <a:bodyPr/>
                    <a:lstStyle/>
                    <a:p>
                      <a:pPr algn="l" fontAlgn="ctr"/>
                      <a:r>
                        <a:rPr lang="en-US" sz="400" b="0" i="0" u="none" strike="noStrike">
                          <a:solidFill>
                            <a:srgbClr val="000000"/>
                          </a:solidFill>
                          <a:effectLst/>
                          <a:latin typeface="Verdana" panose="020B0604030504040204" pitchFamily="34" charset="0"/>
                        </a:rPr>
                        <a:t>of which: exempted from 5Y cap </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0030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557697379"/>
                  </a:ext>
                </a:extLst>
              </a:tr>
              <a:tr h="87396">
                <a:tc>
                  <a:txBody>
                    <a:bodyPr/>
                    <a:lstStyle/>
                    <a:p>
                      <a:pPr algn="l" fontAlgn="b"/>
                      <a:r>
                        <a:rPr lang="fr-FR" sz="400" b="1" i="0" u="none" strike="noStrike">
                          <a:solidFill>
                            <a:srgbClr val="000000"/>
                          </a:solidFill>
                          <a:effectLst/>
                          <a:latin typeface="Verdana" panose="020B0604030504040204" pitchFamily="34" charset="0"/>
                        </a:rPr>
                        <a:t>NMDs: Retail non-transactional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0040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953467115"/>
                  </a:ext>
                </a:extLst>
              </a:tr>
              <a:tr h="87396">
                <a:tc>
                  <a:txBody>
                    <a:bodyPr/>
                    <a:lstStyle/>
                    <a:p>
                      <a:pPr algn="l" fontAlgn="ctr"/>
                      <a:r>
                        <a:rPr lang="fr-FR" sz="400" b="0" i="0" u="none" strike="noStrike">
                          <a:solidFill>
                            <a:srgbClr val="000000"/>
                          </a:solidFill>
                          <a:effectLst/>
                          <a:latin typeface="Verdana" panose="020B0604030504040204" pitchFamily="34" charset="0"/>
                        </a:rPr>
                        <a:t>of which: core component</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0050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622905352"/>
                  </a:ext>
                </a:extLst>
              </a:tr>
              <a:tr h="87396">
                <a:tc>
                  <a:txBody>
                    <a:bodyPr/>
                    <a:lstStyle/>
                    <a:p>
                      <a:pPr algn="l" fontAlgn="ctr"/>
                      <a:r>
                        <a:rPr lang="en-US" sz="400" b="0" i="0" u="none" strike="noStrike">
                          <a:solidFill>
                            <a:srgbClr val="000000"/>
                          </a:solidFill>
                          <a:effectLst/>
                          <a:latin typeface="Verdana" panose="020B0604030504040204" pitchFamily="34" charset="0"/>
                        </a:rPr>
                        <a:t>of which: exempted from 5Y cap </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0060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133102843"/>
                  </a:ext>
                </a:extLst>
              </a:tr>
              <a:tr h="87396">
                <a:tc>
                  <a:txBody>
                    <a:bodyPr/>
                    <a:lstStyle/>
                    <a:p>
                      <a:pPr algn="l" fontAlgn="b"/>
                      <a:r>
                        <a:rPr lang="fr-FR" sz="400" b="1" i="0" u="none" strike="noStrike">
                          <a:solidFill>
                            <a:srgbClr val="000000"/>
                          </a:solidFill>
                          <a:effectLst/>
                          <a:latin typeface="Verdana" panose="020B0604030504040204" pitchFamily="34" charset="0"/>
                        </a:rPr>
                        <a:t>NMDs: Wholesale non-financial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0070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01820447"/>
                  </a:ext>
                </a:extLst>
              </a:tr>
              <a:tr h="87396">
                <a:tc>
                  <a:txBody>
                    <a:bodyPr/>
                    <a:lstStyle/>
                    <a:p>
                      <a:pPr algn="l" fontAlgn="ctr"/>
                      <a:r>
                        <a:rPr lang="fr-FR" sz="400" b="0" i="0" u="none" strike="noStrike">
                          <a:solidFill>
                            <a:srgbClr val="000000"/>
                          </a:solidFill>
                          <a:effectLst/>
                          <a:latin typeface="Verdana" panose="020B0604030504040204" pitchFamily="34" charset="0"/>
                        </a:rPr>
                        <a:t>of which: core component</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0080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14287824"/>
                  </a:ext>
                </a:extLst>
              </a:tr>
              <a:tr h="87396">
                <a:tc>
                  <a:txBody>
                    <a:bodyPr/>
                    <a:lstStyle/>
                    <a:p>
                      <a:pPr algn="l" fontAlgn="ctr"/>
                      <a:r>
                        <a:rPr lang="en-US" sz="400" b="0" i="0" u="none" strike="noStrike">
                          <a:solidFill>
                            <a:srgbClr val="000000"/>
                          </a:solidFill>
                          <a:effectLst/>
                          <a:latin typeface="Verdana" panose="020B0604030504040204" pitchFamily="34" charset="0"/>
                        </a:rPr>
                        <a:t>of which: exempted from 5Y cap </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0090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w="6350" cap="flat" cmpd="sng" algn="ctr">
                      <a:solidFill>
                        <a:srgbClr val="D9D9D9"/>
                      </a:solidFill>
                      <a:prstDash val="dash"/>
                      <a:round/>
                      <a:headEnd type="none" w="med" len="med"/>
                      <a:tailEnd type="none" w="med" len="med"/>
                    </a:lnL>
                    <a:lnR>
                      <a:noFill/>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a:noFill/>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2667" marR="2667" marT="2667" marB="0" anchor="b">
                    <a:lnL>
                      <a:noFill/>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03409584"/>
                  </a:ext>
                </a:extLst>
              </a:tr>
              <a:tr h="87396">
                <a:tc>
                  <a:txBody>
                    <a:bodyPr/>
                    <a:lstStyle/>
                    <a:p>
                      <a:pPr algn="l" fontAlgn="b"/>
                      <a:r>
                        <a:rPr lang="fr-FR" sz="400" b="1" i="0" u="none" strike="noStrike">
                          <a:solidFill>
                            <a:srgbClr val="000000"/>
                          </a:solidFill>
                          <a:effectLst/>
                          <a:latin typeface="Verdana" panose="020B0604030504040204" pitchFamily="34" charset="0"/>
                        </a:rPr>
                        <a:t>NMDs: Wholesale financial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0100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846993632"/>
                  </a:ext>
                </a:extLst>
              </a:tr>
              <a:tr h="87396">
                <a:tc>
                  <a:txBody>
                    <a:bodyPr/>
                    <a:lstStyle/>
                    <a:p>
                      <a:pPr algn="l" fontAlgn="ctr"/>
                      <a:r>
                        <a:rPr lang="fr-FR" sz="400" b="0" i="0" u="none" strike="noStrike">
                          <a:solidFill>
                            <a:srgbClr val="000000"/>
                          </a:solidFill>
                          <a:effectLst/>
                          <a:latin typeface="Verdana" panose="020B0604030504040204" pitchFamily="34" charset="0"/>
                        </a:rPr>
                        <a:t>of which: operational deposits</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0110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48580507"/>
                  </a:ext>
                </a:extLst>
              </a:tr>
              <a:tr h="87396">
                <a:tc gridSpan="12">
                  <a:txBody>
                    <a:bodyPr/>
                    <a:lstStyle/>
                    <a:p>
                      <a:pPr algn="l" fontAlgn="b"/>
                      <a:r>
                        <a:rPr lang="en-US" sz="500" b="0" i="0" u="none" strike="noStrike">
                          <a:solidFill>
                            <a:srgbClr val="000000"/>
                          </a:solidFill>
                          <a:effectLst/>
                          <a:latin typeface="Verdana" panose="020B0604030504040204" pitchFamily="34" charset="0"/>
                        </a:rPr>
                        <a:t>PTR over 1 year horizon </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743566742"/>
                  </a:ext>
                </a:extLst>
              </a:tr>
              <a:tr h="87396">
                <a:tc>
                  <a:txBody>
                    <a:bodyPr/>
                    <a:lstStyle/>
                    <a:p>
                      <a:pPr algn="l" fontAlgn="b"/>
                      <a:r>
                        <a:rPr lang="fr-FR" sz="400" b="0" i="0" u="none" strike="noStrike">
                          <a:solidFill>
                            <a:srgbClr val="000000"/>
                          </a:solidFill>
                          <a:effectLst/>
                          <a:latin typeface="Verdana" panose="020B0604030504040204" pitchFamily="34" charset="0"/>
                        </a:rPr>
                        <a:t>NMDs: Retail transactional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0120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013379457"/>
                  </a:ext>
                </a:extLst>
              </a:tr>
              <a:tr h="87396">
                <a:tc>
                  <a:txBody>
                    <a:bodyPr/>
                    <a:lstStyle/>
                    <a:p>
                      <a:pPr algn="l" fontAlgn="b"/>
                      <a:r>
                        <a:rPr lang="fr-FR" sz="400" b="0" i="0" u="none" strike="noStrike">
                          <a:solidFill>
                            <a:srgbClr val="000000"/>
                          </a:solidFill>
                          <a:effectLst/>
                          <a:latin typeface="Verdana" panose="020B0604030504040204" pitchFamily="34" charset="0"/>
                        </a:rPr>
                        <a:t>NMDs: Retail non-transactional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0130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43966783"/>
                  </a:ext>
                </a:extLst>
              </a:tr>
              <a:tr h="87396">
                <a:tc>
                  <a:txBody>
                    <a:bodyPr/>
                    <a:lstStyle/>
                    <a:p>
                      <a:pPr algn="l" fontAlgn="b"/>
                      <a:r>
                        <a:rPr lang="fr-FR" sz="400" b="0" i="0" u="none" strike="noStrike">
                          <a:solidFill>
                            <a:srgbClr val="000000"/>
                          </a:solidFill>
                          <a:effectLst/>
                          <a:latin typeface="Verdana" panose="020B0604030504040204" pitchFamily="34" charset="0"/>
                        </a:rPr>
                        <a:t>NMDs: Wholesale non-financial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0140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45460503"/>
                  </a:ext>
                </a:extLst>
              </a:tr>
              <a:tr h="87396">
                <a:tc>
                  <a:txBody>
                    <a:bodyPr/>
                    <a:lstStyle/>
                    <a:p>
                      <a:pPr algn="l" fontAlgn="b"/>
                      <a:r>
                        <a:rPr lang="fr-FR" sz="400" b="0" i="0" u="none" strike="noStrike">
                          <a:solidFill>
                            <a:srgbClr val="000000"/>
                          </a:solidFill>
                          <a:effectLst/>
                          <a:latin typeface="Verdana" panose="020B0604030504040204" pitchFamily="34" charset="0"/>
                        </a:rPr>
                        <a:t>NMDs: Wholesale financial</a:t>
                      </a:r>
                    </a:p>
                  </a:txBody>
                  <a:tcPr marL="80012" marR="2667" marT="266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0150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 </a:t>
                      </a:r>
                    </a:p>
                  </a:txBody>
                  <a:tcPr marL="2667" marR="2667" marT="2667" marB="0" anchor="ctr">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38193692"/>
                  </a:ext>
                </a:extLst>
              </a:tr>
              <a:tr h="87396">
                <a:tc gridSpan="12">
                  <a:txBody>
                    <a:bodyPr/>
                    <a:lstStyle/>
                    <a:p>
                      <a:pPr algn="l" fontAlgn="b"/>
                      <a:r>
                        <a:rPr lang="fr-FR" sz="500" b="1" i="0" u="none" strike="noStrike">
                          <a:solidFill>
                            <a:srgbClr val="000000"/>
                          </a:solidFill>
                          <a:effectLst/>
                          <a:latin typeface="Verdana" panose="020B0604030504040204" pitchFamily="34" charset="0"/>
                        </a:rPr>
                        <a:t>Fixed Rate - Prepayment risk</a:t>
                      </a:r>
                    </a:p>
                  </a:txBody>
                  <a:tcPr marL="2667"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032119142"/>
                  </a:ext>
                </a:extLst>
              </a:tr>
              <a:tr h="87396">
                <a:tc gridSpan="12">
                  <a:txBody>
                    <a:bodyPr/>
                    <a:lstStyle/>
                    <a:p>
                      <a:pPr algn="l" fontAlgn="b"/>
                      <a:r>
                        <a:rPr lang="en-US" sz="500" b="0" i="0" u="none" strike="noStrike">
                          <a:solidFill>
                            <a:srgbClr val="000000"/>
                          </a:solidFill>
                          <a:effectLst/>
                          <a:latin typeface="Verdana" panose="020B0604030504040204" pitchFamily="34" charset="0"/>
                        </a:rPr>
                        <a:t>Average repricing dates before and after modelling</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242983137"/>
                  </a:ext>
                </a:extLst>
              </a:tr>
              <a:tr h="87396">
                <a:tc>
                  <a:txBody>
                    <a:bodyPr/>
                    <a:lstStyle/>
                    <a:p>
                      <a:pPr algn="l" fontAlgn="ctr"/>
                      <a:r>
                        <a:rPr lang="fr-FR" sz="400" b="0" i="0" u="none" strike="noStrike">
                          <a:solidFill>
                            <a:srgbClr val="000000"/>
                          </a:solidFill>
                          <a:effectLst/>
                          <a:latin typeface="Verdana" panose="020B0604030504040204" pitchFamily="34" charset="0"/>
                        </a:rPr>
                        <a:t>Loans and advances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0160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28819641"/>
                  </a:ext>
                </a:extLst>
              </a:tr>
              <a:tr h="87396">
                <a:tc>
                  <a:txBody>
                    <a:bodyPr/>
                    <a:lstStyle/>
                    <a:p>
                      <a:pPr algn="l" fontAlgn="ctr"/>
                      <a:r>
                        <a:rPr lang="fr-FR" sz="400" b="0" i="0" u="none" strike="noStrike">
                          <a:solidFill>
                            <a:srgbClr val="000000"/>
                          </a:solidFill>
                          <a:effectLst/>
                          <a:latin typeface="Verdana" panose="020B0604030504040204" pitchFamily="34" charset="0"/>
                        </a:rPr>
                        <a:t>of which: non-performing</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0170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59332875"/>
                  </a:ext>
                </a:extLst>
              </a:tr>
              <a:tr h="87396">
                <a:tc>
                  <a:txBody>
                    <a:bodyPr/>
                    <a:lstStyle/>
                    <a:p>
                      <a:pPr algn="l" fontAlgn="ctr"/>
                      <a:r>
                        <a:rPr lang="fr-FR" sz="400" b="0" i="0" u="none" strike="noStrike">
                          <a:solidFill>
                            <a:srgbClr val="000000"/>
                          </a:solidFill>
                          <a:effectLst/>
                          <a:latin typeface="Verdana" panose="020B0604030504040204" pitchFamily="34" charset="0"/>
                        </a:rPr>
                        <a:t>Retail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0180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055611592"/>
                  </a:ext>
                </a:extLst>
              </a:tr>
              <a:tr h="87396">
                <a:tc>
                  <a:txBody>
                    <a:bodyPr/>
                    <a:lstStyle/>
                    <a:p>
                      <a:pPr algn="l" fontAlgn="ctr"/>
                      <a:r>
                        <a:rPr lang="en-US" sz="400" b="0" i="0" u="none" strike="noStrike">
                          <a:solidFill>
                            <a:srgbClr val="000000"/>
                          </a:solidFill>
                          <a:effectLst/>
                          <a:latin typeface="Verdana" panose="020B0604030504040204" pitchFamily="34" charset="0"/>
                        </a:rPr>
                        <a:t>of which: secured by residential real estate </a:t>
                      </a:r>
                    </a:p>
                  </a:txBody>
                  <a:tcPr marL="32004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0190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981350656"/>
                  </a:ext>
                </a:extLst>
              </a:tr>
              <a:tr h="87396">
                <a:tc>
                  <a:txBody>
                    <a:bodyPr/>
                    <a:lstStyle/>
                    <a:p>
                      <a:pPr algn="l" fontAlgn="ctr"/>
                      <a:r>
                        <a:rPr lang="fr-FR" sz="400" b="0" i="0" u="none" strike="noStrike">
                          <a:solidFill>
                            <a:srgbClr val="000000"/>
                          </a:solidFill>
                          <a:effectLst/>
                          <a:latin typeface="Verdana" panose="020B0604030504040204" pitchFamily="34" charset="0"/>
                        </a:rPr>
                        <a:t>Wholesale non-financial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0200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25477265"/>
                  </a:ext>
                </a:extLst>
              </a:tr>
              <a:tr h="87396">
                <a:tc>
                  <a:txBody>
                    <a:bodyPr/>
                    <a:lstStyle/>
                    <a:p>
                      <a:pPr algn="l" fontAlgn="ctr"/>
                      <a:r>
                        <a:rPr lang="fr-FR" sz="400" b="0" i="0" u="none" strike="noStrike">
                          <a:solidFill>
                            <a:srgbClr val="000000"/>
                          </a:solidFill>
                          <a:effectLst/>
                          <a:latin typeface="Verdana" panose="020B0604030504040204" pitchFamily="34" charset="0"/>
                        </a:rPr>
                        <a:t>Wholesale financial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0210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735328279"/>
                  </a:ext>
                </a:extLst>
              </a:tr>
              <a:tr h="87396">
                <a:tc>
                  <a:txBody>
                    <a:bodyPr/>
                    <a:lstStyle/>
                    <a:p>
                      <a:pPr algn="l" fontAlgn="ctr"/>
                      <a:r>
                        <a:rPr lang="fr-FR" sz="400" b="0" i="0" u="none" strike="noStrike">
                          <a:solidFill>
                            <a:srgbClr val="000000"/>
                          </a:solidFill>
                          <a:effectLst/>
                          <a:latin typeface="Verdana" panose="020B0604030504040204" pitchFamily="34" charset="0"/>
                        </a:rPr>
                        <a:t>Debt securities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0220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2477950"/>
                  </a:ext>
                </a:extLst>
              </a:tr>
              <a:tr h="87396">
                <a:tc gridSpan="12">
                  <a:txBody>
                    <a:bodyPr/>
                    <a:lstStyle/>
                    <a:p>
                      <a:pPr algn="l" fontAlgn="b"/>
                      <a:r>
                        <a:rPr lang="en-US" sz="500" b="0" i="0" u="none" strike="noStrike">
                          <a:solidFill>
                            <a:srgbClr val="000000"/>
                          </a:solidFill>
                          <a:effectLst/>
                          <a:latin typeface="Verdana" panose="020B0604030504040204" pitchFamily="34" charset="0"/>
                        </a:rPr>
                        <a:t>Conditional prepayment rates (annualised average)</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216031"/>
                  </a:ext>
                </a:extLst>
              </a:tr>
              <a:tr h="87396">
                <a:tc>
                  <a:txBody>
                    <a:bodyPr/>
                    <a:lstStyle/>
                    <a:p>
                      <a:pPr algn="l" fontAlgn="ctr"/>
                      <a:r>
                        <a:rPr lang="fr-FR" sz="400" b="0" i="0" u="none" strike="noStrike">
                          <a:solidFill>
                            <a:srgbClr val="000000"/>
                          </a:solidFill>
                          <a:effectLst/>
                          <a:latin typeface="Verdana" panose="020B0604030504040204" pitchFamily="34" charset="0"/>
                        </a:rPr>
                        <a:t>Loans and advances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0230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183957247"/>
                  </a:ext>
                </a:extLst>
              </a:tr>
              <a:tr h="87396">
                <a:tc>
                  <a:txBody>
                    <a:bodyPr/>
                    <a:lstStyle/>
                    <a:p>
                      <a:pPr algn="l" fontAlgn="ctr"/>
                      <a:r>
                        <a:rPr lang="fr-FR" sz="400" b="0" i="0" u="none" strike="noStrike">
                          <a:solidFill>
                            <a:srgbClr val="000000"/>
                          </a:solidFill>
                          <a:effectLst/>
                          <a:latin typeface="Verdana" panose="020B0604030504040204" pitchFamily="34" charset="0"/>
                        </a:rPr>
                        <a:t>of which: non-performing</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0240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267838565"/>
                  </a:ext>
                </a:extLst>
              </a:tr>
              <a:tr h="87396">
                <a:tc>
                  <a:txBody>
                    <a:bodyPr/>
                    <a:lstStyle/>
                    <a:p>
                      <a:pPr algn="l" fontAlgn="ctr"/>
                      <a:r>
                        <a:rPr lang="fr-FR" sz="400" b="0" i="0" u="none" strike="noStrike">
                          <a:solidFill>
                            <a:srgbClr val="000000"/>
                          </a:solidFill>
                          <a:effectLst/>
                          <a:latin typeface="Verdana" panose="020B0604030504040204" pitchFamily="34" charset="0"/>
                        </a:rPr>
                        <a:t>Retail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0250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540085330"/>
                  </a:ext>
                </a:extLst>
              </a:tr>
              <a:tr h="87396">
                <a:tc>
                  <a:txBody>
                    <a:bodyPr/>
                    <a:lstStyle/>
                    <a:p>
                      <a:pPr algn="l" fontAlgn="ctr"/>
                      <a:r>
                        <a:rPr lang="en-US" sz="400" b="0" i="0" u="none" strike="noStrike">
                          <a:solidFill>
                            <a:srgbClr val="000000"/>
                          </a:solidFill>
                          <a:effectLst/>
                          <a:latin typeface="Verdana" panose="020B0604030504040204" pitchFamily="34" charset="0"/>
                        </a:rPr>
                        <a:t>of which: secured by residential real estate </a:t>
                      </a:r>
                    </a:p>
                  </a:txBody>
                  <a:tcPr marL="32004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0260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95046787"/>
                  </a:ext>
                </a:extLst>
              </a:tr>
              <a:tr h="87396">
                <a:tc>
                  <a:txBody>
                    <a:bodyPr/>
                    <a:lstStyle/>
                    <a:p>
                      <a:pPr algn="l" fontAlgn="ctr"/>
                      <a:r>
                        <a:rPr lang="fr-FR" sz="400" b="0" i="0" u="none" strike="noStrike">
                          <a:solidFill>
                            <a:srgbClr val="000000"/>
                          </a:solidFill>
                          <a:effectLst/>
                          <a:latin typeface="Verdana" panose="020B0604030504040204" pitchFamily="34" charset="0"/>
                        </a:rPr>
                        <a:t>Wholesale non-financial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0270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782508599"/>
                  </a:ext>
                </a:extLst>
              </a:tr>
              <a:tr h="87396">
                <a:tc>
                  <a:txBody>
                    <a:bodyPr/>
                    <a:lstStyle/>
                    <a:p>
                      <a:pPr algn="l" fontAlgn="ctr"/>
                      <a:r>
                        <a:rPr lang="fr-FR" sz="400" b="0" i="0" u="none" strike="noStrike">
                          <a:solidFill>
                            <a:srgbClr val="000000"/>
                          </a:solidFill>
                          <a:effectLst/>
                          <a:latin typeface="Verdana" panose="020B0604030504040204" pitchFamily="34" charset="0"/>
                        </a:rPr>
                        <a:t>Wholesale financial</a:t>
                      </a:r>
                    </a:p>
                  </a:txBody>
                  <a:tcPr marL="200031"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0280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78127412"/>
                  </a:ext>
                </a:extLst>
              </a:tr>
              <a:tr h="87396">
                <a:tc>
                  <a:txBody>
                    <a:bodyPr/>
                    <a:lstStyle/>
                    <a:p>
                      <a:pPr algn="l" fontAlgn="ctr"/>
                      <a:r>
                        <a:rPr lang="fr-FR" sz="400" b="0" i="0" u="none" strike="noStrike">
                          <a:solidFill>
                            <a:srgbClr val="000000"/>
                          </a:solidFill>
                          <a:effectLst/>
                          <a:latin typeface="Verdana" panose="020B0604030504040204" pitchFamily="34" charset="0"/>
                        </a:rPr>
                        <a:t>Debt securities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0290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18026861"/>
                  </a:ext>
                </a:extLst>
              </a:tr>
              <a:tr h="87396">
                <a:tc gridSpan="12">
                  <a:txBody>
                    <a:bodyPr/>
                    <a:lstStyle/>
                    <a:p>
                      <a:pPr algn="l" fontAlgn="b"/>
                      <a:r>
                        <a:rPr lang="fr-FR" sz="500" b="1" i="0" u="none" strike="noStrike">
                          <a:solidFill>
                            <a:srgbClr val="000000"/>
                          </a:solidFill>
                          <a:effectLst/>
                          <a:latin typeface="Verdana" panose="020B0604030504040204" pitchFamily="34" charset="0"/>
                        </a:rPr>
                        <a:t>Fixed Rate - early redemption</a:t>
                      </a:r>
                    </a:p>
                  </a:txBody>
                  <a:tcPr marL="2667"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6331691"/>
                  </a:ext>
                </a:extLst>
              </a:tr>
              <a:tr h="87396">
                <a:tc gridSpan="12">
                  <a:txBody>
                    <a:bodyPr/>
                    <a:lstStyle/>
                    <a:p>
                      <a:pPr algn="l" fontAlgn="b"/>
                      <a:r>
                        <a:rPr lang="en-US" sz="500" b="0" i="0" u="none" strike="noStrike">
                          <a:solidFill>
                            <a:srgbClr val="000000"/>
                          </a:solidFill>
                          <a:effectLst/>
                          <a:latin typeface="Verdana" panose="020B0604030504040204" pitchFamily="34" charset="0"/>
                        </a:rPr>
                        <a:t>Average repricing dates before and after modelling</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85117481"/>
                  </a:ext>
                </a:extLst>
              </a:tr>
              <a:tr h="87396">
                <a:tc>
                  <a:txBody>
                    <a:bodyPr/>
                    <a:lstStyle/>
                    <a:p>
                      <a:pPr algn="l" fontAlgn="ctr"/>
                      <a:r>
                        <a:rPr lang="fr-FR" sz="400" b="0" i="0" u="none" strike="noStrike">
                          <a:solidFill>
                            <a:srgbClr val="000000"/>
                          </a:solidFill>
                          <a:effectLst/>
                          <a:latin typeface="Verdana" panose="020B0604030504040204" pitchFamily="34" charset="0"/>
                        </a:rPr>
                        <a:t>Term deposits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0300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250157576"/>
                  </a:ext>
                </a:extLst>
              </a:tr>
              <a:tr h="87396">
                <a:tc>
                  <a:txBody>
                    <a:bodyPr/>
                    <a:lstStyle/>
                    <a:p>
                      <a:pPr algn="l" fontAlgn="ctr"/>
                      <a:r>
                        <a:rPr lang="fr-FR" sz="400" b="0" i="0" u="none" strike="noStrike">
                          <a:solidFill>
                            <a:srgbClr val="000000"/>
                          </a:solidFill>
                          <a:effectLst/>
                          <a:latin typeface="Verdana" panose="020B0604030504040204" pitchFamily="34" charset="0"/>
                        </a:rPr>
                        <a:t>Retail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0310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857402642"/>
                  </a:ext>
                </a:extLst>
              </a:tr>
              <a:tr h="87396">
                <a:tc>
                  <a:txBody>
                    <a:bodyPr/>
                    <a:lstStyle/>
                    <a:p>
                      <a:pPr algn="l" fontAlgn="ctr"/>
                      <a:r>
                        <a:rPr lang="fr-FR" sz="400" b="0" i="0" u="none" strike="noStrike">
                          <a:solidFill>
                            <a:srgbClr val="000000"/>
                          </a:solidFill>
                          <a:effectLst/>
                          <a:latin typeface="Verdana" panose="020B0604030504040204" pitchFamily="34" charset="0"/>
                        </a:rPr>
                        <a:t>Wholesale non-financial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0320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060886588"/>
                  </a:ext>
                </a:extLst>
              </a:tr>
              <a:tr h="87396">
                <a:tc>
                  <a:txBody>
                    <a:bodyPr/>
                    <a:lstStyle/>
                    <a:p>
                      <a:pPr algn="l" fontAlgn="ctr"/>
                      <a:r>
                        <a:rPr lang="fr-FR" sz="400" b="0" i="0" u="none" strike="noStrike">
                          <a:solidFill>
                            <a:srgbClr val="000000"/>
                          </a:solidFill>
                          <a:effectLst/>
                          <a:latin typeface="Verdana" panose="020B0604030504040204" pitchFamily="34" charset="0"/>
                        </a:rPr>
                        <a:t>Wholesale financial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0330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57156065"/>
                  </a:ext>
                </a:extLst>
              </a:tr>
              <a:tr h="87396">
                <a:tc gridSpan="12">
                  <a:txBody>
                    <a:bodyPr/>
                    <a:lstStyle/>
                    <a:p>
                      <a:pPr algn="l" fontAlgn="b"/>
                      <a:r>
                        <a:rPr lang="en-US" sz="500" b="0" i="0" u="none" strike="noStrike">
                          <a:solidFill>
                            <a:srgbClr val="000000"/>
                          </a:solidFill>
                          <a:effectLst/>
                          <a:latin typeface="Verdana" panose="020B0604030504040204" pitchFamily="34" charset="0"/>
                        </a:rPr>
                        <a:t>Early redemtpion rates (cumulative average)</a:t>
                      </a:r>
                    </a:p>
                  </a:txBody>
                  <a:tcPr marL="40006" marR="2667" marT="2667"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204027225"/>
                  </a:ext>
                </a:extLst>
              </a:tr>
              <a:tr h="87396">
                <a:tc>
                  <a:txBody>
                    <a:bodyPr/>
                    <a:lstStyle/>
                    <a:p>
                      <a:pPr algn="l" fontAlgn="ctr"/>
                      <a:r>
                        <a:rPr lang="fr-FR" sz="400" b="0" i="0" u="none" strike="noStrike">
                          <a:solidFill>
                            <a:srgbClr val="000000"/>
                          </a:solidFill>
                          <a:effectLst/>
                          <a:latin typeface="Verdana" panose="020B0604030504040204" pitchFamily="34" charset="0"/>
                        </a:rPr>
                        <a:t>Term deposits</a:t>
                      </a:r>
                    </a:p>
                  </a:txBody>
                  <a:tcPr marL="120019"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0340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712782378"/>
                  </a:ext>
                </a:extLst>
              </a:tr>
              <a:tr h="87396">
                <a:tc>
                  <a:txBody>
                    <a:bodyPr/>
                    <a:lstStyle/>
                    <a:p>
                      <a:pPr algn="l" fontAlgn="ctr"/>
                      <a:r>
                        <a:rPr lang="fr-FR" sz="400" b="0" i="0" u="none" strike="noStrike">
                          <a:solidFill>
                            <a:srgbClr val="000000"/>
                          </a:solidFill>
                          <a:effectLst/>
                          <a:latin typeface="Verdana" panose="020B0604030504040204" pitchFamily="34" charset="0"/>
                        </a:rPr>
                        <a:t>Retail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0350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245147331"/>
                  </a:ext>
                </a:extLst>
              </a:tr>
              <a:tr h="87396">
                <a:tc>
                  <a:txBody>
                    <a:bodyPr/>
                    <a:lstStyle/>
                    <a:p>
                      <a:pPr algn="l" fontAlgn="ctr"/>
                      <a:r>
                        <a:rPr lang="fr-FR" sz="400" b="0" i="0" u="none" strike="noStrike">
                          <a:solidFill>
                            <a:srgbClr val="000000"/>
                          </a:solidFill>
                          <a:effectLst/>
                          <a:latin typeface="Verdana" panose="020B0604030504040204" pitchFamily="34" charset="0"/>
                        </a:rPr>
                        <a:t>Wholesale non-financial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0360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626664552"/>
                  </a:ext>
                </a:extLst>
              </a:tr>
              <a:tr h="87396">
                <a:tc>
                  <a:txBody>
                    <a:bodyPr/>
                    <a:lstStyle/>
                    <a:p>
                      <a:pPr algn="l" fontAlgn="ctr"/>
                      <a:r>
                        <a:rPr lang="fr-FR" sz="400" b="0" i="0" u="none" strike="noStrike">
                          <a:solidFill>
                            <a:srgbClr val="000000"/>
                          </a:solidFill>
                          <a:effectLst/>
                          <a:latin typeface="Verdana" panose="020B0604030504040204" pitchFamily="34" charset="0"/>
                        </a:rPr>
                        <a:t>Wholesale financial</a:t>
                      </a:r>
                    </a:p>
                  </a:txBody>
                  <a:tcPr marL="160025" marR="2667" marT="266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400" b="0" i="0" u="none" strike="noStrike">
                          <a:solidFill>
                            <a:srgbClr val="000000"/>
                          </a:solidFill>
                          <a:effectLst/>
                          <a:latin typeface="Verdana" panose="020B0604030504040204" pitchFamily="34" charset="0"/>
                        </a:rPr>
                        <a:t>0370</a:t>
                      </a:r>
                    </a:p>
                  </a:txBody>
                  <a:tcPr marL="2667" marR="2667" marT="266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8D8D8"/>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000000"/>
                      </a:solidFill>
                      <a:prstDash val="solid"/>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6350" cap="flat" cmpd="sng" algn="ctr">
                      <a:solidFill>
                        <a:srgbClr val="D9D9D9"/>
                      </a:solidFill>
                      <a:prstDash val="dash"/>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fontAlgn="b"/>
                      <a:r>
                        <a:rPr lang="fr-FR" sz="500" b="0" i="0" u="none" strike="noStrike" dirty="0">
                          <a:solidFill>
                            <a:srgbClr val="000000"/>
                          </a:solidFill>
                          <a:effectLst/>
                          <a:latin typeface="Verdana" panose="020B0604030504040204" pitchFamily="34" charset="0"/>
                        </a:rPr>
                        <a:t> </a:t>
                      </a:r>
                    </a:p>
                  </a:txBody>
                  <a:tcPr marL="2667" marR="2667" marT="2667" marB="0" anchor="b">
                    <a:lnL w="6350" cap="flat" cmpd="sng" algn="ctr">
                      <a:solidFill>
                        <a:srgbClr val="D9D9D9"/>
                      </a:solidFill>
                      <a:prstDash val="dash"/>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6890990"/>
                  </a:ext>
                </a:extLst>
              </a:tr>
            </a:tbl>
          </a:graphicData>
        </a:graphic>
      </p:graphicFrame>
    </p:spTree>
    <p:extLst>
      <p:ext uri="{BB962C8B-B14F-4D97-AF65-F5344CB8AC3E}">
        <p14:creationId xmlns:p14="http://schemas.microsoft.com/office/powerpoint/2010/main" val="123469823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e- Template </a:t>
            </a:r>
            <a:r>
              <a:rPr lang="fr-FR" sz="2000" i="1" dirty="0">
                <a:highlight>
                  <a:srgbClr val="FF0000"/>
                </a:highlight>
                <a:latin typeface="Calibri (body)"/>
                <a:cs typeface="Calibri"/>
              </a:rPr>
              <a:t>J10</a:t>
            </a:r>
            <a:r>
              <a:rPr lang="fr-FR" sz="2000" i="1" dirty="0">
                <a:latin typeface="Calibri (body)"/>
                <a:cs typeface="Calibri"/>
              </a:rPr>
              <a:t> – Qualitative information</a:t>
            </a:r>
            <a:endParaRPr lang="fr-FR" dirty="0">
              <a:latin typeface="Calibri"/>
              <a:cs typeface="Calibri"/>
            </a:endParaRPr>
          </a:p>
        </p:txBody>
      </p:sp>
      <p:sp>
        <p:nvSpPr>
          <p:cNvPr id="6" name="Espace réservé du texte 15">
            <a:extLst>
              <a:ext uri="{FF2B5EF4-FFF2-40B4-BE49-F238E27FC236}">
                <a16:creationId xmlns:a16="http://schemas.microsoft.com/office/drawing/2014/main" id="{AE2B5A1F-13D8-B4B4-2BA5-62276CF7C505}"/>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7" name="Table 6">
            <a:extLst>
              <a:ext uri="{FF2B5EF4-FFF2-40B4-BE49-F238E27FC236}">
                <a16:creationId xmlns:a16="http://schemas.microsoft.com/office/drawing/2014/main" id="{6231FC4B-DCC3-5E2F-2C05-A895F61FDF05}"/>
              </a:ext>
            </a:extLst>
          </p:cNvPr>
          <p:cNvGraphicFramePr>
            <a:graphicFrameLocks noGrp="1"/>
          </p:cNvGraphicFramePr>
          <p:nvPr/>
        </p:nvGraphicFramePr>
        <p:xfrm>
          <a:off x="388542" y="864716"/>
          <a:ext cx="5261487" cy="5516770"/>
        </p:xfrm>
        <a:graphic>
          <a:graphicData uri="http://schemas.openxmlformats.org/drawingml/2006/table">
            <a:tbl>
              <a:tblPr/>
              <a:tblGrid>
                <a:gridCol w="3645514">
                  <a:extLst>
                    <a:ext uri="{9D8B030D-6E8A-4147-A177-3AD203B41FA5}">
                      <a16:colId xmlns:a16="http://schemas.microsoft.com/office/drawing/2014/main" val="611180102"/>
                    </a:ext>
                  </a:extLst>
                </a:gridCol>
                <a:gridCol w="329322">
                  <a:extLst>
                    <a:ext uri="{9D8B030D-6E8A-4147-A177-3AD203B41FA5}">
                      <a16:colId xmlns:a16="http://schemas.microsoft.com/office/drawing/2014/main" val="1974753217"/>
                    </a:ext>
                  </a:extLst>
                </a:gridCol>
                <a:gridCol w="1286651">
                  <a:extLst>
                    <a:ext uri="{9D8B030D-6E8A-4147-A177-3AD203B41FA5}">
                      <a16:colId xmlns:a16="http://schemas.microsoft.com/office/drawing/2014/main" val="3668532333"/>
                    </a:ext>
                  </a:extLst>
                </a:gridCol>
              </a:tblGrid>
              <a:tr h="254794">
                <a:tc>
                  <a:txBody>
                    <a:bodyPr/>
                    <a:lstStyle/>
                    <a:p>
                      <a:pPr algn="l" fontAlgn="ctr"/>
                      <a:r>
                        <a:rPr lang="fr-FR" sz="600" b="1" i="0" u="none" strike="noStrike">
                          <a:solidFill>
                            <a:srgbClr val="000000"/>
                          </a:solidFill>
                          <a:effectLst/>
                          <a:latin typeface="Verdana" panose="020B0604030504040204" pitchFamily="34" charset="0"/>
                        </a:rPr>
                        <a:t>J 10.00 - QUALITATIVE INFORMATION</a:t>
                      </a:r>
                    </a:p>
                  </a:txBody>
                  <a:tcPr marL="3069" marR="3069" marT="3069"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300" b="1" i="0" u="none" strike="noStrike">
                          <a:solidFill>
                            <a:srgbClr val="000000"/>
                          </a:solidFill>
                          <a:effectLst/>
                          <a:latin typeface="Verdana" panose="020B0604030504040204" pitchFamily="34" charset="0"/>
                        </a:rPr>
                        <a:t> </a:t>
                      </a:r>
                    </a:p>
                  </a:txBody>
                  <a:tcPr marL="3069" marR="3069" marT="306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300" b="1" i="0" u="none" strike="noStrike">
                          <a:solidFill>
                            <a:srgbClr val="000000"/>
                          </a:solidFill>
                          <a:effectLst/>
                          <a:latin typeface="Verdana" panose="020B0604030504040204" pitchFamily="34" charset="0"/>
                        </a:rPr>
                        <a:t> </a:t>
                      </a:r>
                    </a:p>
                  </a:txBody>
                  <a:tcPr marL="3069" marR="3069" marT="3069"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915200118"/>
                  </a:ext>
                </a:extLst>
              </a:tr>
              <a:tr h="104936">
                <a:tc>
                  <a:txBody>
                    <a:bodyPr/>
                    <a:lstStyle/>
                    <a:p>
                      <a:pPr algn="l" fontAlgn="b"/>
                      <a:endParaRPr lang="fr-FR" sz="400" b="0" i="0" u="none"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1906123504"/>
                  </a:ext>
                </a:extLst>
              </a:tr>
              <a:tr h="104936">
                <a:tc>
                  <a:txBody>
                    <a:bodyPr/>
                    <a:lstStyle/>
                    <a:p>
                      <a:pPr algn="l" fontAlgn="b"/>
                      <a:r>
                        <a:rPr lang="fr-FR" sz="500" b="1" i="0" u="none" strike="noStrike">
                          <a:solidFill>
                            <a:srgbClr val="000000"/>
                          </a:solidFill>
                          <a:effectLst/>
                          <a:latin typeface="Verdana" panose="020B0604030504040204" pitchFamily="34" charset="0"/>
                        </a:rPr>
                        <a:t>10.1 General qualitative information</a:t>
                      </a: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extLst>
                  <a:ext uri="{0D108BD9-81ED-4DB2-BD59-A6C34878D82A}">
                    <a16:rowId xmlns:a16="http://schemas.microsoft.com/office/drawing/2014/main" val="4205454218"/>
                  </a:ext>
                </a:extLst>
              </a:tr>
              <a:tr h="108823">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68207095"/>
                  </a:ext>
                </a:extLst>
              </a:tr>
              <a:tr h="106491">
                <a:tc gridSpan="3">
                  <a:txBody>
                    <a:bodyPr/>
                    <a:lstStyle/>
                    <a:p>
                      <a:pPr algn="l" fontAlgn="b"/>
                      <a:r>
                        <a:rPr lang="en-US" sz="500" b="1" i="0" u="none" strike="noStrike">
                          <a:solidFill>
                            <a:srgbClr val="000000"/>
                          </a:solidFill>
                          <a:effectLst/>
                          <a:latin typeface="Verdana" panose="020B0604030504040204" pitchFamily="34" charset="0"/>
                        </a:rPr>
                        <a:t>Approach NII and EVE SOT estimates</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720603325"/>
                  </a:ext>
                </a:extLst>
              </a:tr>
              <a:tr h="106491">
                <a:tc>
                  <a:txBody>
                    <a:bodyPr/>
                    <a:lstStyle/>
                    <a:p>
                      <a:pPr algn="l" fontAlgn="t"/>
                      <a:r>
                        <a:rPr lang="en-US" sz="500" b="0" i="0" u="none" strike="noStrike">
                          <a:solidFill>
                            <a:srgbClr val="000000"/>
                          </a:solidFill>
                          <a:effectLst/>
                          <a:latin typeface="Verdana" panose="020B0604030504040204" pitchFamily="34" charset="0"/>
                        </a:rPr>
                        <a:t>Approach used for the purpose of the SOT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608461573"/>
                  </a:ext>
                </a:extLst>
              </a:tr>
              <a:tr h="106491">
                <a:tc>
                  <a:txBody>
                    <a:bodyPr/>
                    <a:lstStyle/>
                    <a:p>
                      <a:pPr algn="l" fontAlgn="t"/>
                      <a:r>
                        <a:rPr lang="en-US" sz="500" b="0" i="0" u="none" strike="noStrike">
                          <a:solidFill>
                            <a:srgbClr val="000000"/>
                          </a:solidFill>
                          <a:effectLst/>
                          <a:latin typeface="Verdana" panose="020B0604030504040204" pitchFamily="34" charset="0"/>
                        </a:rPr>
                        <a:t>Requirement from the Competent Authority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96350658"/>
                  </a:ext>
                </a:extLst>
              </a:tr>
              <a:tr h="106491">
                <a:tc gridSpan="3">
                  <a:txBody>
                    <a:bodyPr/>
                    <a:lstStyle/>
                    <a:p>
                      <a:pPr algn="l" fontAlgn="b"/>
                      <a:r>
                        <a:rPr lang="fr-FR" sz="500" b="1" i="0" u="none" strike="noStrike">
                          <a:solidFill>
                            <a:srgbClr val="000000"/>
                          </a:solidFill>
                          <a:effectLst/>
                          <a:latin typeface="Verdana" panose="020B0604030504040204" pitchFamily="34" charset="0"/>
                        </a:rPr>
                        <a:t>NII methodology</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488526577"/>
                  </a:ext>
                </a:extLst>
              </a:tr>
              <a:tr h="106491">
                <a:tc>
                  <a:txBody>
                    <a:bodyPr/>
                    <a:lstStyle/>
                    <a:p>
                      <a:pPr algn="l" fontAlgn="t"/>
                      <a:r>
                        <a:rPr lang="fr-FR" sz="500" b="0" i="0" u="none" strike="noStrike">
                          <a:solidFill>
                            <a:srgbClr val="000000"/>
                          </a:solidFill>
                          <a:effectLst/>
                          <a:latin typeface="Verdana" panose="020B0604030504040204" pitchFamily="34" charset="0"/>
                        </a:rPr>
                        <a:t>Methodology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25439487"/>
                  </a:ext>
                </a:extLst>
              </a:tr>
              <a:tr h="106491">
                <a:tc>
                  <a:txBody>
                    <a:bodyPr/>
                    <a:lstStyle/>
                    <a:p>
                      <a:pPr algn="l" fontAlgn="t"/>
                      <a:r>
                        <a:rPr lang="fr-FR" sz="500" b="0" i="0" u="none" strike="noStrike">
                          <a:solidFill>
                            <a:srgbClr val="000000"/>
                          </a:solidFill>
                          <a:effectLst/>
                          <a:latin typeface="Verdana" panose="020B0604030504040204" pitchFamily="34" charset="0"/>
                        </a:rPr>
                        <a:t>Conditional Cash Flows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835193822"/>
                  </a:ext>
                </a:extLst>
              </a:tr>
              <a:tr h="106491">
                <a:tc>
                  <a:txBody>
                    <a:bodyPr/>
                    <a:lstStyle/>
                    <a:p>
                      <a:pPr algn="l" fontAlgn="t"/>
                      <a:r>
                        <a:rPr lang="fr-FR" sz="500" b="0" i="0" u="none" strike="noStrike">
                          <a:solidFill>
                            <a:srgbClr val="000000"/>
                          </a:solidFill>
                          <a:effectLst/>
                          <a:latin typeface="Verdana" panose="020B0604030504040204" pitchFamily="34" charset="0"/>
                        </a:rPr>
                        <a:t>Option Risk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650878483"/>
                  </a:ext>
                </a:extLst>
              </a:tr>
              <a:tr h="106491">
                <a:tc>
                  <a:txBody>
                    <a:bodyPr/>
                    <a:lstStyle/>
                    <a:p>
                      <a:pPr algn="l" fontAlgn="t"/>
                      <a:r>
                        <a:rPr lang="fr-FR" sz="500" b="0" i="0" u="none" strike="noStrike">
                          <a:solidFill>
                            <a:srgbClr val="000000"/>
                          </a:solidFill>
                          <a:effectLst/>
                          <a:latin typeface="Verdana" panose="020B0604030504040204" pitchFamily="34" charset="0"/>
                        </a:rPr>
                        <a:t>Basis Risk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82769896"/>
                  </a:ext>
                </a:extLst>
              </a:tr>
              <a:tr h="106491">
                <a:tc gridSpan="3">
                  <a:txBody>
                    <a:bodyPr/>
                    <a:lstStyle/>
                    <a:p>
                      <a:pPr algn="l" fontAlgn="b"/>
                      <a:r>
                        <a:rPr lang="fr-FR" sz="500" b="1" i="0" u="none" strike="noStrike">
                          <a:solidFill>
                            <a:srgbClr val="000000"/>
                          </a:solidFill>
                          <a:effectLst/>
                          <a:latin typeface="Verdana" panose="020B0604030504040204" pitchFamily="34" charset="0"/>
                        </a:rPr>
                        <a:t>EVE methodology</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811489845"/>
                  </a:ext>
                </a:extLst>
              </a:tr>
              <a:tr h="106491">
                <a:tc>
                  <a:txBody>
                    <a:bodyPr/>
                    <a:lstStyle/>
                    <a:p>
                      <a:pPr algn="l" fontAlgn="t"/>
                      <a:r>
                        <a:rPr lang="fr-FR" sz="500" b="0" i="0" u="none" strike="noStrike">
                          <a:solidFill>
                            <a:srgbClr val="000000"/>
                          </a:solidFill>
                          <a:effectLst/>
                          <a:latin typeface="Verdana" panose="020B0604030504040204" pitchFamily="34" charset="0"/>
                        </a:rPr>
                        <a:t>Methodology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458515505"/>
                  </a:ext>
                </a:extLst>
              </a:tr>
              <a:tr h="106491">
                <a:tc>
                  <a:txBody>
                    <a:bodyPr/>
                    <a:lstStyle/>
                    <a:p>
                      <a:pPr algn="l" fontAlgn="t"/>
                      <a:r>
                        <a:rPr lang="fr-FR" sz="500" b="0" i="0" u="none" strike="noStrike">
                          <a:solidFill>
                            <a:srgbClr val="000000"/>
                          </a:solidFill>
                          <a:effectLst/>
                          <a:latin typeface="Verdana" panose="020B0604030504040204" pitchFamily="34" charset="0"/>
                        </a:rPr>
                        <a:t>Conditional Cash Flows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265185486"/>
                  </a:ext>
                </a:extLst>
              </a:tr>
              <a:tr h="106491">
                <a:tc>
                  <a:txBody>
                    <a:bodyPr/>
                    <a:lstStyle/>
                    <a:p>
                      <a:pPr algn="l" fontAlgn="t"/>
                      <a:r>
                        <a:rPr lang="fr-FR" sz="500" b="0" i="0" u="none" strike="noStrike">
                          <a:solidFill>
                            <a:srgbClr val="000000"/>
                          </a:solidFill>
                          <a:effectLst/>
                          <a:latin typeface="Verdana" panose="020B0604030504040204" pitchFamily="34" charset="0"/>
                        </a:rPr>
                        <a:t>Option Risk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357993231"/>
                  </a:ext>
                </a:extLst>
              </a:tr>
              <a:tr h="106491">
                <a:tc>
                  <a:txBody>
                    <a:bodyPr/>
                    <a:lstStyle/>
                    <a:p>
                      <a:pPr algn="l" fontAlgn="t"/>
                      <a:r>
                        <a:rPr lang="fr-FR" sz="500" b="0" i="0" u="none" strike="noStrike">
                          <a:solidFill>
                            <a:srgbClr val="000000"/>
                          </a:solidFill>
                          <a:effectLst/>
                          <a:latin typeface="Verdana" panose="020B0604030504040204" pitchFamily="34" charset="0"/>
                        </a:rPr>
                        <a:t>Basis Risk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90420235"/>
                  </a:ext>
                </a:extLst>
              </a:tr>
              <a:tr h="106491">
                <a:tc>
                  <a:txBody>
                    <a:bodyPr/>
                    <a:lstStyle/>
                    <a:p>
                      <a:pPr algn="l" fontAlgn="b"/>
                      <a:r>
                        <a:rPr lang="en-US" sz="500" b="0" i="0" u="none" strike="noStrike">
                          <a:solidFill>
                            <a:srgbClr val="000000"/>
                          </a:solidFill>
                          <a:effectLst/>
                          <a:latin typeface="Verdana" panose="020B0604030504040204" pitchFamily="34" charset="0"/>
                        </a:rPr>
                        <a:t>Commercial margins/other spread components (EVE)</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70380465"/>
                  </a:ext>
                </a:extLst>
              </a:tr>
              <a:tr h="110767">
                <a:tc gridSpan="3">
                  <a:txBody>
                    <a:bodyPr/>
                    <a:lstStyle/>
                    <a:p>
                      <a:pPr algn="l" fontAlgn="b"/>
                      <a:r>
                        <a:rPr lang="en-US" sz="500" b="1" i="0" u="none" strike="noStrike">
                          <a:solidFill>
                            <a:srgbClr val="000000"/>
                          </a:solidFill>
                          <a:effectLst/>
                          <a:latin typeface="Verdana" panose="020B0604030504040204" pitchFamily="34" charset="0"/>
                        </a:rPr>
                        <a:t>Scope/Materiality Thresholds (NII/EVE)</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713420463"/>
                  </a:ext>
                </a:extLst>
              </a:tr>
              <a:tr h="106491">
                <a:tc>
                  <a:txBody>
                    <a:bodyPr/>
                    <a:lstStyle/>
                    <a:p>
                      <a:pPr algn="l" fontAlgn="b"/>
                      <a:r>
                        <a:rPr lang="en-US" sz="500" b="0" i="0" u="none" strike="noStrike">
                          <a:solidFill>
                            <a:srgbClr val="000000"/>
                          </a:solidFill>
                          <a:effectLst/>
                          <a:latin typeface="Verdana" panose="020B0604030504040204" pitchFamily="34" charset="0"/>
                        </a:rPr>
                        <a:t>Penalty fees from loan prepayments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10585394"/>
                  </a:ext>
                </a:extLst>
              </a:tr>
              <a:tr h="106491">
                <a:tc>
                  <a:txBody>
                    <a:bodyPr/>
                    <a:lstStyle/>
                    <a:p>
                      <a:pPr algn="l" fontAlgn="b"/>
                      <a:r>
                        <a:rPr lang="fr-FR" sz="500" b="0" i="0" u="none" strike="noStrike">
                          <a:solidFill>
                            <a:srgbClr val="000000"/>
                          </a:solidFill>
                          <a:effectLst/>
                          <a:latin typeface="Verdana" panose="020B0604030504040204" pitchFamily="34" charset="0"/>
                        </a:rPr>
                        <a:t>Pension obligations/pension plan assets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06424352"/>
                  </a:ext>
                </a:extLst>
              </a:tr>
              <a:tr h="106491">
                <a:tc>
                  <a:txBody>
                    <a:bodyPr/>
                    <a:lstStyle/>
                    <a:p>
                      <a:pPr algn="l" fontAlgn="t"/>
                      <a:r>
                        <a:rPr lang="fr-FR" sz="500" b="0" i="0" u="none" strike="noStrike">
                          <a:solidFill>
                            <a:srgbClr val="000000"/>
                          </a:solidFill>
                          <a:effectLst/>
                          <a:latin typeface="Verdana" panose="020B0604030504040204" pitchFamily="34" charset="0"/>
                        </a:rPr>
                        <a:t>Non-performing exposures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820647436"/>
                  </a:ext>
                </a:extLst>
              </a:tr>
              <a:tr h="106491">
                <a:tc>
                  <a:txBody>
                    <a:bodyPr/>
                    <a:lstStyle/>
                    <a:p>
                      <a:pPr algn="l" fontAlgn="t"/>
                      <a:r>
                        <a:rPr lang="fr-FR" sz="500" b="0" i="0" u="none" strike="noStrike">
                          <a:solidFill>
                            <a:srgbClr val="000000"/>
                          </a:solidFill>
                          <a:effectLst/>
                          <a:latin typeface="Verdana" panose="020B0604030504040204" pitchFamily="34" charset="0"/>
                        </a:rPr>
                        <a:t>Fixed rate loan committments </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69292946"/>
                  </a:ext>
                </a:extLst>
              </a:tr>
              <a:tr h="106491">
                <a:tc>
                  <a:txBody>
                    <a:bodyPr/>
                    <a:lstStyle/>
                    <a:p>
                      <a:pPr algn="l" fontAlgn="t"/>
                      <a:r>
                        <a:rPr lang="fr-FR" sz="500" b="0" i="0" u="none" strike="noStrike">
                          <a:solidFill>
                            <a:srgbClr val="000000"/>
                          </a:solidFill>
                          <a:effectLst/>
                          <a:latin typeface="Verdana" panose="020B0604030504040204" pitchFamily="34" charset="0"/>
                        </a:rPr>
                        <a:t>Risk of prepayment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462812476"/>
                  </a:ext>
                </a:extLst>
              </a:tr>
              <a:tr h="108823">
                <a:tc>
                  <a:txBody>
                    <a:bodyPr/>
                    <a:lstStyle/>
                    <a:p>
                      <a:pPr algn="l" fontAlgn="b"/>
                      <a:r>
                        <a:rPr lang="fr-FR" sz="500" b="0" i="0" u="none" strike="noStrike">
                          <a:solidFill>
                            <a:srgbClr val="000000"/>
                          </a:solidFill>
                          <a:effectLst/>
                          <a:latin typeface="Verdana" panose="020B0604030504040204" pitchFamily="34" charset="0"/>
                        </a:rPr>
                        <a:t>Risk of early redemption </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27129799"/>
                  </a:ext>
                </a:extLst>
              </a:tr>
              <a:tr h="106491">
                <a:tc gridSpan="3">
                  <a:txBody>
                    <a:bodyPr/>
                    <a:lstStyle/>
                    <a:p>
                      <a:pPr algn="l" fontAlgn="b"/>
                      <a:r>
                        <a:rPr lang="fr-FR" sz="500" b="1" i="0" u="none" strike="noStrike">
                          <a:solidFill>
                            <a:srgbClr val="000000"/>
                          </a:solidFill>
                          <a:effectLst/>
                          <a:latin typeface="Verdana" panose="020B0604030504040204" pitchFamily="34" charset="0"/>
                        </a:rPr>
                        <a:t>Additional qualitative information</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176435504"/>
                  </a:ext>
                </a:extLst>
              </a:tr>
              <a:tr h="106491">
                <a:tc>
                  <a:txBody>
                    <a:bodyPr/>
                    <a:lstStyle/>
                    <a:p>
                      <a:pPr algn="l" fontAlgn="b"/>
                      <a:r>
                        <a:rPr lang="en-US" sz="500" b="0" i="0" u="none" strike="noStrike">
                          <a:solidFill>
                            <a:srgbClr val="000000"/>
                          </a:solidFill>
                          <a:effectLst/>
                          <a:latin typeface="Verdana" panose="020B0604030504040204" pitchFamily="34" charset="0"/>
                        </a:rPr>
                        <a:t>General approach for NMD modelling</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255985058"/>
                  </a:ext>
                </a:extLst>
              </a:tr>
              <a:tr h="106491">
                <a:tc>
                  <a:txBody>
                    <a:bodyPr/>
                    <a:lstStyle/>
                    <a:p>
                      <a:pPr algn="l" fontAlgn="t"/>
                      <a:r>
                        <a:rPr lang="fr-FR" sz="500" b="0" i="0" u="none" strike="noStrike">
                          <a:solidFill>
                            <a:srgbClr val="000000"/>
                          </a:solidFill>
                          <a:effectLst/>
                          <a:latin typeface="Verdana" panose="020B0604030504040204" pitchFamily="34" charset="0"/>
                        </a:rPr>
                        <a:t>Identification of core component NMD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612032533"/>
                  </a:ext>
                </a:extLst>
              </a:tr>
              <a:tr h="106491">
                <a:tc>
                  <a:txBody>
                    <a:bodyPr/>
                    <a:lstStyle/>
                    <a:p>
                      <a:pPr algn="l" fontAlgn="t"/>
                      <a:r>
                        <a:rPr lang="fr-FR" sz="500" b="0" i="0" u="none" strike="noStrike">
                          <a:solidFill>
                            <a:srgbClr val="000000"/>
                          </a:solidFill>
                          <a:effectLst/>
                          <a:latin typeface="Verdana" panose="020B0604030504040204" pitchFamily="34" charset="0"/>
                        </a:rPr>
                        <a:t>Relevant drivers for NMD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67353937"/>
                  </a:ext>
                </a:extLst>
              </a:tr>
              <a:tr h="106491">
                <a:tc>
                  <a:txBody>
                    <a:bodyPr/>
                    <a:lstStyle/>
                    <a:p>
                      <a:pPr algn="l" fontAlgn="t"/>
                      <a:r>
                        <a:rPr lang="en-US" sz="500" b="0" i="0" u="none" strike="noStrike">
                          <a:solidFill>
                            <a:srgbClr val="000000"/>
                          </a:solidFill>
                          <a:effectLst/>
                          <a:latin typeface="Verdana" panose="020B0604030504040204" pitchFamily="34" charset="0"/>
                        </a:rPr>
                        <a:t>NMD core component balances (slotting of core component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708308865"/>
                  </a:ext>
                </a:extLst>
              </a:tr>
              <a:tr h="106491">
                <a:tc>
                  <a:txBody>
                    <a:bodyPr/>
                    <a:lstStyle/>
                    <a:p>
                      <a:pPr algn="l" fontAlgn="t"/>
                      <a:r>
                        <a:rPr lang="en-US" sz="500" b="0" i="0" u="none" strike="noStrike">
                          <a:solidFill>
                            <a:srgbClr val="000000"/>
                          </a:solidFill>
                          <a:effectLst/>
                          <a:latin typeface="Verdana" panose="020B0604030504040204" pitchFamily="34" charset="0"/>
                        </a:rPr>
                        <a:t>5-year NMD repricing cap on IRRBB risk management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58596376"/>
                  </a:ext>
                </a:extLst>
              </a:tr>
              <a:tr h="106491">
                <a:tc>
                  <a:txBody>
                    <a:bodyPr/>
                    <a:lstStyle/>
                    <a:p>
                      <a:pPr algn="l" fontAlgn="b"/>
                      <a:r>
                        <a:rPr lang="en-US" sz="500" b="0" i="0" u="none" strike="noStrike">
                          <a:solidFill>
                            <a:srgbClr val="000000"/>
                          </a:solidFill>
                          <a:effectLst/>
                          <a:latin typeface="Verdana" panose="020B0604030504040204" pitchFamily="34" charset="0"/>
                        </a:rPr>
                        <a:t>Exemptions to the 5-year NMD repricing cap</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905497092"/>
                  </a:ext>
                </a:extLst>
              </a:tr>
              <a:tr h="106491">
                <a:tc>
                  <a:txBody>
                    <a:bodyPr/>
                    <a:lstStyle/>
                    <a:p>
                      <a:pPr algn="l" fontAlgn="b"/>
                      <a:r>
                        <a:rPr lang="en-US" sz="500" b="0" i="0" u="none" strike="noStrike">
                          <a:solidFill>
                            <a:srgbClr val="000000"/>
                          </a:solidFill>
                          <a:effectLst/>
                          <a:latin typeface="Verdana" panose="020B0604030504040204" pitchFamily="34" charset="0"/>
                        </a:rPr>
                        <a:t>Modelling of operational NMDs from financial customers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77697501"/>
                  </a:ext>
                </a:extLst>
              </a:tr>
              <a:tr h="106491">
                <a:tc>
                  <a:txBody>
                    <a:bodyPr/>
                    <a:lstStyle/>
                    <a:p>
                      <a:pPr algn="l" fontAlgn="t"/>
                      <a:r>
                        <a:rPr lang="en-US" sz="500" b="0" i="0" u="none" strike="noStrike">
                          <a:solidFill>
                            <a:srgbClr val="000000"/>
                          </a:solidFill>
                          <a:effectLst/>
                          <a:latin typeface="Verdana" panose="020B0604030504040204" pitchFamily="34" charset="0"/>
                        </a:rPr>
                        <a:t>Changes in balance sheet structure due to interest rates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691106892"/>
                  </a:ext>
                </a:extLst>
              </a:tr>
              <a:tr h="106491">
                <a:tc>
                  <a:txBody>
                    <a:bodyPr/>
                    <a:lstStyle/>
                    <a:p>
                      <a:pPr algn="l" fontAlgn="t"/>
                      <a:r>
                        <a:rPr lang="en-US" sz="500" b="0" i="0" u="none" strike="noStrike">
                          <a:solidFill>
                            <a:srgbClr val="000000"/>
                          </a:solidFill>
                          <a:effectLst/>
                          <a:latin typeface="Verdana" panose="020B0604030504040204" pitchFamily="34" charset="0"/>
                        </a:rPr>
                        <a:t>IRRBB mitigation and hedging strategies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199234988"/>
                  </a:ext>
                </a:extLst>
              </a:tr>
              <a:tr h="106491">
                <a:tc>
                  <a:txBody>
                    <a:bodyPr/>
                    <a:lstStyle/>
                    <a:p>
                      <a:pPr algn="l" fontAlgn="t"/>
                      <a:r>
                        <a:rPr lang="en-US" sz="500" b="0" i="0" u="none" strike="noStrike">
                          <a:solidFill>
                            <a:srgbClr val="000000"/>
                          </a:solidFill>
                          <a:effectLst/>
                          <a:latin typeface="Verdana" panose="020B0604030504040204" pitchFamily="34" charset="0"/>
                        </a:rPr>
                        <a:t>IRRBB mitigation and hedging strategies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62226312"/>
                  </a:ext>
                </a:extLst>
              </a:tr>
              <a:tr h="139915">
                <a:tc>
                  <a:txBody>
                    <a:bodyPr/>
                    <a:lstStyle/>
                    <a:p>
                      <a:pPr algn="l" fontAlgn="t"/>
                      <a:r>
                        <a:rPr lang="en-US" sz="500" b="0" i="0" u="none" strike="noStrike">
                          <a:solidFill>
                            <a:srgbClr val="000000"/>
                          </a:solidFill>
                          <a:effectLst/>
                          <a:latin typeface="Verdana" panose="020B0604030504040204" pitchFamily="34" charset="0"/>
                        </a:rPr>
                        <a:t>SOT on NII risk measure under the IMS Approach - PTR of Retail Term deposits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8354433"/>
                  </a:ext>
                </a:extLst>
              </a:tr>
              <a:tr h="106491">
                <a:tc>
                  <a:txBody>
                    <a:bodyPr/>
                    <a:lstStyle/>
                    <a:p>
                      <a:pPr algn="l" fontAlgn="t"/>
                      <a:r>
                        <a:rPr lang="en-US" sz="500" b="0" i="0" u="none" strike="noStrike">
                          <a:solidFill>
                            <a:srgbClr val="000000"/>
                          </a:solidFill>
                          <a:effectLst/>
                          <a:latin typeface="Verdana" panose="020B0604030504040204" pitchFamily="34" charset="0"/>
                        </a:rPr>
                        <a:t>SOT on NII risk measure under the IMS Approach - PTR of Fixed Retail Loans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74683898"/>
                  </a:ext>
                </a:extLst>
              </a:tr>
              <a:tr h="106491">
                <a:tc>
                  <a:txBody>
                    <a:bodyPr/>
                    <a:lstStyle/>
                    <a:p>
                      <a:pPr algn="l" fontAlgn="t"/>
                      <a:r>
                        <a:rPr lang="fr-FR" sz="500" b="0" i="0" u="none" strike="noStrike">
                          <a:solidFill>
                            <a:srgbClr val="000000"/>
                          </a:solidFill>
                          <a:effectLst/>
                          <a:latin typeface="Verdana" panose="020B0604030504040204" pitchFamily="34" charset="0"/>
                        </a:rPr>
                        <a:t>Basis risk</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81049185"/>
                  </a:ext>
                </a:extLst>
              </a:tr>
              <a:tr h="108823">
                <a:tc>
                  <a:txBody>
                    <a:bodyPr/>
                    <a:lstStyle/>
                    <a:p>
                      <a:pPr algn="l" fontAlgn="t"/>
                      <a:r>
                        <a:rPr lang="fr-FR" sz="500" b="0" i="0" u="none" strike="noStrike">
                          <a:solidFill>
                            <a:srgbClr val="000000"/>
                          </a:solidFill>
                          <a:effectLst/>
                          <a:latin typeface="Verdana" panose="020B0604030504040204" pitchFamily="34" charset="0"/>
                        </a:rPr>
                        <a:t>CSRBB</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78176579"/>
                  </a:ext>
                </a:extLst>
              </a:tr>
              <a:tr h="104936">
                <a:tc>
                  <a:txBody>
                    <a:bodyPr/>
                    <a:lstStyle/>
                    <a:p>
                      <a:pPr algn="l" fontAlgn="b"/>
                      <a:endParaRPr lang="fr-FR" sz="400" b="0" i="0" u="none"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4143973310"/>
                  </a:ext>
                </a:extLst>
              </a:tr>
              <a:tr h="104936">
                <a:tc>
                  <a:txBody>
                    <a:bodyPr/>
                    <a:lstStyle/>
                    <a:p>
                      <a:pPr algn="l" fontAlgn="b"/>
                      <a:r>
                        <a:rPr lang="en-US" sz="500" b="1" i="0" u="none" strike="noStrike">
                          <a:solidFill>
                            <a:srgbClr val="000000"/>
                          </a:solidFill>
                          <a:effectLst/>
                          <a:latin typeface="Verdana" panose="020B0604030504040204" pitchFamily="34" charset="0"/>
                        </a:rPr>
                        <a:t>10.2 Qualitative information "currency by currency"</a:t>
                      </a: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extLst>
                  <a:ext uri="{0D108BD9-81ED-4DB2-BD59-A6C34878D82A}">
                    <a16:rowId xmlns:a16="http://schemas.microsoft.com/office/drawing/2014/main" val="45165818"/>
                  </a:ext>
                </a:extLst>
              </a:tr>
              <a:tr h="104936">
                <a:tc>
                  <a:txBody>
                    <a:bodyPr/>
                    <a:lstStyle/>
                    <a:p>
                      <a:pPr algn="l" fontAlgn="b"/>
                      <a:endParaRPr lang="fr-FR" sz="5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89273041"/>
                  </a:ext>
                </a:extLst>
              </a:tr>
              <a:tr h="108823">
                <a:tc>
                  <a:txBody>
                    <a:bodyPr/>
                    <a:lstStyle/>
                    <a:p>
                      <a:pPr algn="r" fontAlgn="ctr"/>
                      <a:r>
                        <a:rPr lang="fr-FR" sz="500" b="1" i="0" u="none" strike="noStrike">
                          <a:solidFill>
                            <a:srgbClr val="000000"/>
                          </a:solidFill>
                          <a:effectLst/>
                          <a:latin typeface="Verdana" panose="020B0604030504040204" pitchFamily="34" charset="0"/>
                        </a:rPr>
                        <a:t>Currency:</a:t>
                      </a:r>
                    </a:p>
                  </a:txBody>
                  <a:tcPr marL="3069" marR="3069" marT="3069"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69" marR="3069" marT="3069"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58865190"/>
                  </a:ext>
                </a:extLst>
              </a:tr>
              <a:tr h="108823">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23189246"/>
                  </a:ext>
                </a:extLst>
              </a:tr>
              <a:tr h="106491">
                <a:tc>
                  <a:txBody>
                    <a:bodyPr/>
                    <a:lstStyle/>
                    <a:p>
                      <a:pPr algn="l" fontAlgn="t"/>
                      <a:r>
                        <a:rPr lang="en-US" sz="500" b="0" i="0" u="none" strike="noStrike">
                          <a:solidFill>
                            <a:srgbClr val="000000"/>
                          </a:solidFill>
                          <a:effectLst/>
                          <a:latin typeface="Verdana" panose="020B0604030504040204" pitchFamily="34" charset="0"/>
                        </a:rPr>
                        <a:t>Risk-free yield curve (discounting in EVE SOT)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207093459"/>
                  </a:ext>
                </a:extLst>
              </a:tr>
              <a:tr h="106491">
                <a:tc>
                  <a:txBody>
                    <a:bodyPr/>
                    <a:lstStyle/>
                    <a:p>
                      <a:pPr algn="l" fontAlgn="t"/>
                      <a:r>
                        <a:rPr lang="en-US" sz="500" b="0" i="0" u="none" strike="noStrike">
                          <a:solidFill>
                            <a:srgbClr val="000000"/>
                          </a:solidFill>
                          <a:effectLst/>
                          <a:latin typeface="Verdana" panose="020B0604030504040204" pitchFamily="34" charset="0"/>
                        </a:rPr>
                        <a:t>Risk-free yield curve (internal risk measures of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17703832"/>
                  </a:ext>
                </a:extLst>
              </a:tr>
              <a:tr h="106491">
                <a:tc>
                  <a:txBody>
                    <a:bodyPr/>
                    <a:lstStyle/>
                    <a:p>
                      <a:pPr algn="l" fontAlgn="b"/>
                      <a:r>
                        <a:rPr lang="en-US" sz="500" b="0" i="0" u="none" strike="noStrike">
                          <a:solidFill>
                            <a:srgbClr val="000000"/>
                          </a:solidFill>
                          <a:effectLst/>
                          <a:latin typeface="Verdana" panose="020B0604030504040204" pitchFamily="34" charset="0"/>
                        </a:rPr>
                        <a:t>Change of material assumptions (EVE)</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014982197"/>
                  </a:ext>
                </a:extLst>
              </a:tr>
              <a:tr h="106491">
                <a:tc>
                  <a:txBody>
                    <a:bodyPr/>
                    <a:lstStyle/>
                    <a:p>
                      <a:pPr algn="l" fontAlgn="b"/>
                      <a:r>
                        <a:rPr lang="en-US" sz="500" b="0" i="0" u="none" strike="noStrike">
                          <a:solidFill>
                            <a:srgbClr val="000000"/>
                          </a:solidFill>
                          <a:effectLst/>
                          <a:latin typeface="Verdana" panose="020B0604030504040204" pitchFamily="34" charset="0"/>
                        </a:rPr>
                        <a:t>Change of material assumptions (NII)</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66915883"/>
                  </a:ext>
                </a:extLst>
              </a:tr>
              <a:tr h="108823">
                <a:tc>
                  <a:txBody>
                    <a:bodyPr/>
                    <a:lstStyle/>
                    <a:p>
                      <a:pPr algn="l" fontAlgn="t"/>
                      <a:r>
                        <a:rPr lang="en-US" sz="500" b="0" i="0" u="none" strike="noStrike">
                          <a:solidFill>
                            <a:srgbClr val="000000"/>
                          </a:solidFill>
                          <a:effectLst/>
                          <a:latin typeface="Verdana" panose="020B0604030504040204" pitchFamily="34" charset="0"/>
                        </a:rPr>
                        <a:t>Post-shock interest rate floor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dirty="0">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67733881"/>
                  </a:ext>
                </a:extLst>
              </a:tr>
            </a:tbl>
          </a:graphicData>
        </a:graphic>
      </p:graphicFrame>
      <p:sp>
        <p:nvSpPr>
          <p:cNvPr id="8" name="TextBox 7">
            <a:extLst>
              <a:ext uri="{FF2B5EF4-FFF2-40B4-BE49-F238E27FC236}">
                <a16:creationId xmlns:a16="http://schemas.microsoft.com/office/drawing/2014/main" id="{CCE73BCF-8430-08B6-1FC9-AA0C3035796E}"/>
              </a:ext>
            </a:extLst>
          </p:cNvPr>
          <p:cNvSpPr txBox="1"/>
          <p:nvPr/>
        </p:nvSpPr>
        <p:spPr>
          <a:xfrm>
            <a:off x="6541973" y="1874728"/>
            <a:ext cx="3851034" cy="3108543"/>
          </a:xfrm>
          <a:prstGeom prst="rect">
            <a:avLst/>
          </a:prstGeom>
          <a:noFill/>
          <a:ln>
            <a:solidFill>
              <a:schemeClr val="tx1">
                <a:lumMod val="50000"/>
              </a:schemeClr>
            </a:solidFill>
          </a:ln>
        </p:spPr>
        <p:txBody>
          <a:bodyPr wrap="square">
            <a:spAutoFit/>
          </a:bodyPr>
          <a:lstStyle/>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J10 vise à fournir au régulateur des informations sur  les points méthodologiques utilisés pour la réalisation des templates </a:t>
            </a:r>
            <a:r>
              <a:rPr lang="fr-FR" dirty="0" err="1">
                <a:solidFill>
                  <a:schemeClr val="tx1">
                    <a:lumMod val="50000"/>
                  </a:schemeClr>
                </a:solidFill>
                <a:latin typeface="Calibri (body)"/>
              </a:rPr>
              <a:t>précèdents</a:t>
            </a:r>
            <a:r>
              <a:rPr lang="fr-FR" dirty="0">
                <a:solidFill>
                  <a:schemeClr val="tx1">
                    <a:lumMod val="50000"/>
                  </a:schemeClr>
                </a:solidFill>
                <a:latin typeface="Calibri (body)"/>
              </a:rPr>
              <a:t>.</a:t>
            </a:r>
          </a:p>
          <a:p>
            <a:r>
              <a:rPr lang="fr-FR" dirty="0">
                <a:solidFill>
                  <a:schemeClr val="tx1">
                    <a:lumMod val="50000"/>
                  </a:schemeClr>
                </a:solidFill>
                <a:latin typeface="Calibri (body)"/>
              </a:rPr>
              <a:t>Les réponses attendues sont prédéfinies.</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présent en divisé en 2 parties.</a:t>
            </a:r>
          </a:p>
          <a:p>
            <a:r>
              <a:rPr lang="fr-FR" dirty="0">
                <a:solidFill>
                  <a:schemeClr val="tx1">
                    <a:lumMod val="50000"/>
                  </a:schemeClr>
                </a:solidFill>
                <a:latin typeface="Calibri (body)"/>
              </a:rPr>
              <a:t>10.1 : Reprenant les informations qualitatives sur la méthodologie de calcul des indicateurs</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10.2 : Reprenant les informations qualitatives par rapport à la devise significative associée, notamment sur le type de courbe sans risque utilisé.</a:t>
            </a:r>
          </a:p>
        </p:txBody>
      </p:sp>
    </p:spTree>
    <p:extLst>
      <p:ext uri="{BB962C8B-B14F-4D97-AF65-F5344CB8AC3E}">
        <p14:creationId xmlns:p14="http://schemas.microsoft.com/office/powerpoint/2010/main" val="60024036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Présentation des templates</a:t>
            </a:r>
          </a:p>
          <a:p>
            <a:pPr>
              <a:spcBef>
                <a:spcPts val="0"/>
              </a:spcBef>
              <a:defRPr/>
            </a:pPr>
            <a:r>
              <a:rPr lang="fr-FR" sz="2000" i="1" dirty="0">
                <a:latin typeface="Calibri (body)"/>
                <a:cs typeface="Calibri"/>
              </a:rPr>
              <a:t>e- Template </a:t>
            </a:r>
            <a:r>
              <a:rPr lang="fr-FR" sz="2000" i="1" dirty="0">
                <a:highlight>
                  <a:srgbClr val="FF0000"/>
                </a:highlight>
                <a:latin typeface="Calibri (body)"/>
                <a:cs typeface="Calibri"/>
              </a:rPr>
              <a:t>J11</a:t>
            </a:r>
            <a:r>
              <a:rPr lang="fr-FR" sz="2000" i="1" dirty="0">
                <a:latin typeface="Calibri (body)"/>
                <a:cs typeface="Calibri"/>
              </a:rPr>
              <a:t>– Qualitative information</a:t>
            </a:r>
            <a:endParaRPr lang="fr-FR" dirty="0">
              <a:latin typeface="Calibri"/>
              <a:cs typeface="Calibri"/>
            </a:endParaRPr>
          </a:p>
        </p:txBody>
      </p:sp>
      <p:sp>
        <p:nvSpPr>
          <p:cNvPr id="6" name="Espace réservé du texte 15">
            <a:extLst>
              <a:ext uri="{FF2B5EF4-FFF2-40B4-BE49-F238E27FC236}">
                <a16:creationId xmlns:a16="http://schemas.microsoft.com/office/drawing/2014/main" id="{AE2B5A1F-13D8-B4B4-2BA5-62276CF7C505}"/>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graphicFrame>
        <p:nvGraphicFramePr>
          <p:cNvPr id="7" name="Table 6">
            <a:extLst>
              <a:ext uri="{FF2B5EF4-FFF2-40B4-BE49-F238E27FC236}">
                <a16:creationId xmlns:a16="http://schemas.microsoft.com/office/drawing/2014/main" id="{6231FC4B-DCC3-5E2F-2C05-A895F61FDF05}"/>
              </a:ext>
            </a:extLst>
          </p:cNvPr>
          <p:cNvGraphicFramePr>
            <a:graphicFrameLocks noGrp="1"/>
          </p:cNvGraphicFramePr>
          <p:nvPr/>
        </p:nvGraphicFramePr>
        <p:xfrm>
          <a:off x="388542" y="864716"/>
          <a:ext cx="5261487" cy="5516770"/>
        </p:xfrm>
        <a:graphic>
          <a:graphicData uri="http://schemas.openxmlformats.org/drawingml/2006/table">
            <a:tbl>
              <a:tblPr/>
              <a:tblGrid>
                <a:gridCol w="3645514">
                  <a:extLst>
                    <a:ext uri="{9D8B030D-6E8A-4147-A177-3AD203B41FA5}">
                      <a16:colId xmlns:a16="http://schemas.microsoft.com/office/drawing/2014/main" val="611180102"/>
                    </a:ext>
                  </a:extLst>
                </a:gridCol>
                <a:gridCol w="329322">
                  <a:extLst>
                    <a:ext uri="{9D8B030D-6E8A-4147-A177-3AD203B41FA5}">
                      <a16:colId xmlns:a16="http://schemas.microsoft.com/office/drawing/2014/main" val="1974753217"/>
                    </a:ext>
                  </a:extLst>
                </a:gridCol>
                <a:gridCol w="1286651">
                  <a:extLst>
                    <a:ext uri="{9D8B030D-6E8A-4147-A177-3AD203B41FA5}">
                      <a16:colId xmlns:a16="http://schemas.microsoft.com/office/drawing/2014/main" val="3668532333"/>
                    </a:ext>
                  </a:extLst>
                </a:gridCol>
              </a:tblGrid>
              <a:tr h="254794">
                <a:tc>
                  <a:txBody>
                    <a:bodyPr/>
                    <a:lstStyle/>
                    <a:p>
                      <a:pPr algn="l" fontAlgn="ctr"/>
                      <a:r>
                        <a:rPr lang="fr-FR" sz="600" b="1" i="0" u="none" strike="noStrike">
                          <a:solidFill>
                            <a:srgbClr val="000000"/>
                          </a:solidFill>
                          <a:effectLst/>
                          <a:latin typeface="Verdana" panose="020B0604030504040204" pitchFamily="34" charset="0"/>
                        </a:rPr>
                        <a:t>J 10.00 - QUALITATIVE INFORMATION</a:t>
                      </a:r>
                    </a:p>
                  </a:txBody>
                  <a:tcPr marL="3069" marR="3069" marT="3069"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300" b="1" i="0" u="none" strike="noStrike">
                          <a:solidFill>
                            <a:srgbClr val="000000"/>
                          </a:solidFill>
                          <a:effectLst/>
                          <a:latin typeface="Verdana" panose="020B0604030504040204" pitchFamily="34" charset="0"/>
                        </a:rPr>
                        <a:t> </a:t>
                      </a:r>
                    </a:p>
                  </a:txBody>
                  <a:tcPr marL="3069" marR="3069" marT="3069"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l" fontAlgn="ctr"/>
                      <a:r>
                        <a:rPr lang="fr-FR" sz="1300" b="1" i="0" u="none" strike="noStrike">
                          <a:solidFill>
                            <a:srgbClr val="000000"/>
                          </a:solidFill>
                          <a:effectLst/>
                          <a:latin typeface="Verdana" panose="020B0604030504040204" pitchFamily="34" charset="0"/>
                        </a:rPr>
                        <a:t> </a:t>
                      </a:r>
                    </a:p>
                  </a:txBody>
                  <a:tcPr marL="3069" marR="3069" marT="3069"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915200118"/>
                  </a:ext>
                </a:extLst>
              </a:tr>
              <a:tr h="104936">
                <a:tc>
                  <a:txBody>
                    <a:bodyPr/>
                    <a:lstStyle/>
                    <a:p>
                      <a:pPr algn="l" fontAlgn="b"/>
                      <a:endParaRPr lang="fr-FR" sz="400" b="0" i="0" u="none"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1906123504"/>
                  </a:ext>
                </a:extLst>
              </a:tr>
              <a:tr h="104936">
                <a:tc>
                  <a:txBody>
                    <a:bodyPr/>
                    <a:lstStyle/>
                    <a:p>
                      <a:pPr algn="l" fontAlgn="b"/>
                      <a:r>
                        <a:rPr lang="fr-FR" sz="500" b="1" i="0" u="none" strike="noStrike">
                          <a:solidFill>
                            <a:srgbClr val="000000"/>
                          </a:solidFill>
                          <a:effectLst/>
                          <a:latin typeface="Verdana" panose="020B0604030504040204" pitchFamily="34" charset="0"/>
                        </a:rPr>
                        <a:t>10.1 General qualitative information</a:t>
                      </a: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extLst>
                  <a:ext uri="{0D108BD9-81ED-4DB2-BD59-A6C34878D82A}">
                    <a16:rowId xmlns:a16="http://schemas.microsoft.com/office/drawing/2014/main" val="4205454218"/>
                  </a:ext>
                </a:extLst>
              </a:tr>
              <a:tr h="108823">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68207095"/>
                  </a:ext>
                </a:extLst>
              </a:tr>
              <a:tr h="106491">
                <a:tc gridSpan="3">
                  <a:txBody>
                    <a:bodyPr/>
                    <a:lstStyle/>
                    <a:p>
                      <a:pPr algn="l" fontAlgn="b"/>
                      <a:r>
                        <a:rPr lang="en-US" sz="500" b="1" i="0" u="none" strike="noStrike">
                          <a:solidFill>
                            <a:srgbClr val="000000"/>
                          </a:solidFill>
                          <a:effectLst/>
                          <a:latin typeface="Verdana" panose="020B0604030504040204" pitchFamily="34" charset="0"/>
                        </a:rPr>
                        <a:t>Approach NII and EVE SOT estimates</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720603325"/>
                  </a:ext>
                </a:extLst>
              </a:tr>
              <a:tr h="106491">
                <a:tc>
                  <a:txBody>
                    <a:bodyPr/>
                    <a:lstStyle/>
                    <a:p>
                      <a:pPr algn="l" fontAlgn="t"/>
                      <a:r>
                        <a:rPr lang="en-US" sz="500" b="0" i="0" u="none" strike="noStrike">
                          <a:solidFill>
                            <a:srgbClr val="000000"/>
                          </a:solidFill>
                          <a:effectLst/>
                          <a:latin typeface="Verdana" panose="020B0604030504040204" pitchFamily="34" charset="0"/>
                        </a:rPr>
                        <a:t>Approach used for the purpose of the SOT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608461573"/>
                  </a:ext>
                </a:extLst>
              </a:tr>
              <a:tr h="106491">
                <a:tc>
                  <a:txBody>
                    <a:bodyPr/>
                    <a:lstStyle/>
                    <a:p>
                      <a:pPr algn="l" fontAlgn="t"/>
                      <a:r>
                        <a:rPr lang="en-US" sz="500" b="0" i="0" u="none" strike="noStrike">
                          <a:solidFill>
                            <a:srgbClr val="000000"/>
                          </a:solidFill>
                          <a:effectLst/>
                          <a:latin typeface="Verdana" panose="020B0604030504040204" pitchFamily="34" charset="0"/>
                        </a:rPr>
                        <a:t>Requirement from the Competent Authority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96350658"/>
                  </a:ext>
                </a:extLst>
              </a:tr>
              <a:tr h="106491">
                <a:tc gridSpan="3">
                  <a:txBody>
                    <a:bodyPr/>
                    <a:lstStyle/>
                    <a:p>
                      <a:pPr algn="l" fontAlgn="b"/>
                      <a:r>
                        <a:rPr lang="fr-FR" sz="500" b="1" i="0" u="none" strike="noStrike">
                          <a:solidFill>
                            <a:srgbClr val="000000"/>
                          </a:solidFill>
                          <a:effectLst/>
                          <a:latin typeface="Verdana" panose="020B0604030504040204" pitchFamily="34" charset="0"/>
                        </a:rPr>
                        <a:t>NII methodology</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488526577"/>
                  </a:ext>
                </a:extLst>
              </a:tr>
              <a:tr h="106491">
                <a:tc>
                  <a:txBody>
                    <a:bodyPr/>
                    <a:lstStyle/>
                    <a:p>
                      <a:pPr algn="l" fontAlgn="t"/>
                      <a:r>
                        <a:rPr lang="fr-FR" sz="500" b="0" i="0" u="none" strike="noStrike">
                          <a:solidFill>
                            <a:srgbClr val="000000"/>
                          </a:solidFill>
                          <a:effectLst/>
                          <a:latin typeface="Verdana" panose="020B0604030504040204" pitchFamily="34" charset="0"/>
                        </a:rPr>
                        <a:t>Methodology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25439487"/>
                  </a:ext>
                </a:extLst>
              </a:tr>
              <a:tr h="106491">
                <a:tc>
                  <a:txBody>
                    <a:bodyPr/>
                    <a:lstStyle/>
                    <a:p>
                      <a:pPr algn="l" fontAlgn="t"/>
                      <a:r>
                        <a:rPr lang="fr-FR" sz="500" b="0" i="0" u="none" strike="noStrike">
                          <a:solidFill>
                            <a:srgbClr val="000000"/>
                          </a:solidFill>
                          <a:effectLst/>
                          <a:latin typeface="Verdana" panose="020B0604030504040204" pitchFamily="34" charset="0"/>
                        </a:rPr>
                        <a:t>Conditional Cash Flows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835193822"/>
                  </a:ext>
                </a:extLst>
              </a:tr>
              <a:tr h="106491">
                <a:tc>
                  <a:txBody>
                    <a:bodyPr/>
                    <a:lstStyle/>
                    <a:p>
                      <a:pPr algn="l" fontAlgn="t"/>
                      <a:r>
                        <a:rPr lang="fr-FR" sz="500" b="0" i="0" u="none" strike="noStrike">
                          <a:solidFill>
                            <a:srgbClr val="000000"/>
                          </a:solidFill>
                          <a:effectLst/>
                          <a:latin typeface="Verdana" panose="020B0604030504040204" pitchFamily="34" charset="0"/>
                        </a:rPr>
                        <a:t>Option Risk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650878483"/>
                  </a:ext>
                </a:extLst>
              </a:tr>
              <a:tr h="106491">
                <a:tc>
                  <a:txBody>
                    <a:bodyPr/>
                    <a:lstStyle/>
                    <a:p>
                      <a:pPr algn="l" fontAlgn="t"/>
                      <a:r>
                        <a:rPr lang="fr-FR" sz="500" b="0" i="0" u="none" strike="noStrike">
                          <a:solidFill>
                            <a:srgbClr val="000000"/>
                          </a:solidFill>
                          <a:effectLst/>
                          <a:latin typeface="Verdana" panose="020B0604030504040204" pitchFamily="34" charset="0"/>
                        </a:rPr>
                        <a:t>Basis Risk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82769896"/>
                  </a:ext>
                </a:extLst>
              </a:tr>
              <a:tr h="106491">
                <a:tc gridSpan="3">
                  <a:txBody>
                    <a:bodyPr/>
                    <a:lstStyle/>
                    <a:p>
                      <a:pPr algn="l" fontAlgn="b"/>
                      <a:r>
                        <a:rPr lang="fr-FR" sz="500" b="1" i="0" u="none" strike="noStrike">
                          <a:solidFill>
                            <a:srgbClr val="000000"/>
                          </a:solidFill>
                          <a:effectLst/>
                          <a:latin typeface="Verdana" panose="020B0604030504040204" pitchFamily="34" charset="0"/>
                        </a:rPr>
                        <a:t>EVE methodology</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811489845"/>
                  </a:ext>
                </a:extLst>
              </a:tr>
              <a:tr h="106491">
                <a:tc>
                  <a:txBody>
                    <a:bodyPr/>
                    <a:lstStyle/>
                    <a:p>
                      <a:pPr algn="l" fontAlgn="t"/>
                      <a:r>
                        <a:rPr lang="fr-FR" sz="500" b="0" i="0" u="none" strike="noStrike">
                          <a:solidFill>
                            <a:srgbClr val="000000"/>
                          </a:solidFill>
                          <a:effectLst/>
                          <a:latin typeface="Verdana" panose="020B0604030504040204" pitchFamily="34" charset="0"/>
                        </a:rPr>
                        <a:t>Methodology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458515505"/>
                  </a:ext>
                </a:extLst>
              </a:tr>
              <a:tr h="106491">
                <a:tc>
                  <a:txBody>
                    <a:bodyPr/>
                    <a:lstStyle/>
                    <a:p>
                      <a:pPr algn="l" fontAlgn="t"/>
                      <a:r>
                        <a:rPr lang="fr-FR" sz="500" b="0" i="0" u="none" strike="noStrike">
                          <a:solidFill>
                            <a:srgbClr val="000000"/>
                          </a:solidFill>
                          <a:effectLst/>
                          <a:latin typeface="Verdana" panose="020B0604030504040204" pitchFamily="34" charset="0"/>
                        </a:rPr>
                        <a:t>Conditional Cash Flows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265185486"/>
                  </a:ext>
                </a:extLst>
              </a:tr>
              <a:tr h="106491">
                <a:tc>
                  <a:txBody>
                    <a:bodyPr/>
                    <a:lstStyle/>
                    <a:p>
                      <a:pPr algn="l" fontAlgn="t"/>
                      <a:r>
                        <a:rPr lang="fr-FR" sz="500" b="0" i="0" u="none" strike="noStrike">
                          <a:solidFill>
                            <a:srgbClr val="000000"/>
                          </a:solidFill>
                          <a:effectLst/>
                          <a:latin typeface="Verdana" panose="020B0604030504040204" pitchFamily="34" charset="0"/>
                        </a:rPr>
                        <a:t>Option Risk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0090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357993231"/>
                  </a:ext>
                </a:extLst>
              </a:tr>
              <a:tr h="106491">
                <a:tc>
                  <a:txBody>
                    <a:bodyPr/>
                    <a:lstStyle/>
                    <a:p>
                      <a:pPr algn="l" fontAlgn="t"/>
                      <a:r>
                        <a:rPr lang="fr-FR" sz="500" b="0" i="0" u="none" strike="noStrike">
                          <a:solidFill>
                            <a:srgbClr val="000000"/>
                          </a:solidFill>
                          <a:effectLst/>
                          <a:latin typeface="Verdana" panose="020B0604030504040204" pitchFamily="34" charset="0"/>
                        </a:rPr>
                        <a:t>Basis Risk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t"/>
                      <a:r>
                        <a:rPr lang="fr-FR" sz="500" b="1" i="0" u="none" strike="noStrike">
                          <a:solidFill>
                            <a:srgbClr val="000000"/>
                          </a:solidFill>
                          <a:effectLst/>
                          <a:latin typeface="Verdana" panose="020B0604030504040204" pitchFamily="34" charset="0"/>
                        </a:rPr>
                        <a:t> </a:t>
                      </a:r>
                    </a:p>
                  </a:txBody>
                  <a:tcPr marL="3069" marR="3069" marT="3069"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90420235"/>
                  </a:ext>
                </a:extLst>
              </a:tr>
              <a:tr h="106491">
                <a:tc>
                  <a:txBody>
                    <a:bodyPr/>
                    <a:lstStyle/>
                    <a:p>
                      <a:pPr algn="l" fontAlgn="b"/>
                      <a:r>
                        <a:rPr lang="en-US" sz="500" b="0" i="0" u="none" strike="noStrike">
                          <a:solidFill>
                            <a:srgbClr val="000000"/>
                          </a:solidFill>
                          <a:effectLst/>
                          <a:latin typeface="Verdana" panose="020B0604030504040204" pitchFamily="34" charset="0"/>
                        </a:rPr>
                        <a:t>Commercial margins/other spread components (EVE)</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70380465"/>
                  </a:ext>
                </a:extLst>
              </a:tr>
              <a:tr h="110767">
                <a:tc gridSpan="3">
                  <a:txBody>
                    <a:bodyPr/>
                    <a:lstStyle/>
                    <a:p>
                      <a:pPr algn="l" fontAlgn="b"/>
                      <a:r>
                        <a:rPr lang="en-US" sz="500" b="1" i="0" u="none" strike="noStrike">
                          <a:solidFill>
                            <a:srgbClr val="000000"/>
                          </a:solidFill>
                          <a:effectLst/>
                          <a:latin typeface="Verdana" panose="020B0604030504040204" pitchFamily="34" charset="0"/>
                        </a:rPr>
                        <a:t>Scope/Materiality Thresholds (NII/EVE)</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713420463"/>
                  </a:ext>
                </a:extLst>
              </a:tr>
              <a:tr h="106491">
                <a:tc>
                  <a:txBody>
                    <a:bodyPr/>
                    <a:lstStyle/>
                    <a:p>
                      <a:pPr algn="l" fontAlgn="b"/>
                      <a:r>
                        <a:rPr lang="en-US" sz="500" b="0" i="0" u="none" strike="noStrike">
                          <a:solidFill>
                            <a:srgbClr val="000000"/>
                          </a:solidFill>
                          <a:effectLst/>
                          <a:latin typeface="Verdana" panose="020B0604030504040204" pitchFamily="34" charset="0"/>
                        </a:rPr>
                        <a:t>Penalty fees from loan prepayments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10585394"/>
                  </a:ext>
                </a:extLst>
              </a:tr>
              <a:tr h="106491">
                <a:tc>
                  <a:txBody>
                    <a:bodyPr/>
                    <a:lstStyle/>
                    <a:p>
                      <a:pPr algn="l" fontAlgn="b"/>
                      <a:r>
                        <a:rPr lang="fr-FR" sz="500" b="0" i="0" u="none" strike="noStrike">
                          <a:solidFill>
                            <a:srgbClr val="000000"/>
                          </a:solidFill>
                          <a:effectLst/>
                          <a:latin typeface="Verdana" panose="020B0604030504040204" pitchFamily="34" charset="0"/>
                        </a:rPr>
                        <a:t>Pension obligations/pension plan assets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806424352"/>
                  </a:ext>
                </a:extLst>
              </a:tr>
              <a:tr h="106491">
                <a:tc>
                  <a:txBody>
                    <a:bodyPr/>
                    <a:lstStyle/>
                    <a:p>
                      <a:pPr algn="l" fontAlgn="t"/>
                      <a:r>
                        <a:rPr lang="fr-FR" sz="500" b="0" i="0" u="none" strike="noStrike">
                          <a:solidFill>
                            <a:srgbClr val="000000"/>
                          </a:solidFill>
                          <a:effectLst/>
                          <a:latin typeface="Verdana" panose="020B0604030504040204" pitchFamily="34" charset="0"/>
                        </a:rPr>
                        <a:t>Non-performing exposures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820647436"/>
                  </a:ext>
                </a:extLst>
              </a:tr>
              <a:tr h="106491">
                <a:tc>
                  <a:txBody>
                    <a:bodyPr/>
                    <a:lstStyle/>
                    <a:p>
                      <a:pPr algn="l" fontAlgn="t"/>
                      <a:r>
                        <a:rPr lang="fr-FR" sz="500" b="0" i="0" u="none" strike="noStrike">
                          <a:solidFill>
                            <a:srgbClr val="000000"/>
                          </a:solidFill>
                          <a:effectLst/>
                          <a:latin typeface="Verdana" panose="020B0604030504040204" pitchFamily="34" charset="0"/>
                        </a:rPr>
                        <a:t>Fixed rate loan committments </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69292946"/>
                  </a:ext>
                </a:extLst>
              </a:tr>
              <a:tr h="106491">
                <a:tc>
                  <a:txBody>
                    <a:bodyPr/>
                    <a:lstStyle/>
                    <a:p>
                      <a:pPr algn="l" fontAlgn="t"/>
                      <a:r>
                        <a:rPr lang="fr-FR" sz="500" b="0" i="0" u="none" strike="noStrike">
                          <a:solidFill>
                            <a:srgbClr val="000000"/>
                          </a:solidFill>
                          <a:effectLst/>
                          <a:latin typeface="Verdana" panose="020B0604030504040204" pitchFamily="34" charset="0"/>
                        </a:rPr>
                        <a:t>Risk of prepayment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462812476"/>
                  </a:ext>
                </a:extLst>
              </a:tr>
              <a:tr h="108823">
                <a:tc>
                  <a:txBody>
                    <a:bodyPr/>
                    <a:lstStyle/>
                    <a:p>
                      <a:pPr algn="l" fontAlgn="b"/>
                      <a:r>
                        <a:rPr lang="fr-FR" sz="500" b="0" i="0" u="none" strike="noStrike">
                          <a:solidFill>
                            <a:srgbClr val="000000"/>
                          </a:solidFill>
                          <a:effectLst/>
                          <a:latin typeface="Verdana" panose="020B0604030504040204" pitchFamily="34" charset="0"/>
                        </a:rPr>
                        <a:t>Risk of early redemption </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27129799"/>
                  </a:ext>
                </a:extLst>
              </a:tr>
              <a:tr h="106491">
                <a:tc gridSpan="3">
                  <a:txBody>
                    <a:bodyPr/>
                    <a:lstStyle/>
                    <a:p>
                      <a:pPr algn="l" fontAlgn="b"/>
                      <a:r>
                        <a:rPr lang="fr-FR" sz="500" b="1" i="0" u="none" strike="noStrike">
                          <a:solidFill>
                            <a:srgbClr val="000000"/>
                          </a:solidFill>
                          <a:effectLst/>
                          <a:latin typeface="Verdana" panose="020B0604030504040204" pitchFamily="34" charset="0"/>
                        </a:rPr>
                        <a:t>Additional qualitative information</a:t>
                      </a:r>
                    </a:p>
                  </a:txBody>
                  <a:tcPr marL="3069" marR="3069" marT="30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6A6A6"/>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176435504"/>
                  </a:ext>
                </a:extLst>
              </a:tr>
              <a:tr h="106491">
                <a:tc>
                  <a:txBody>
                    <a:bodyPr/>
                    <a:lstStyle/>
                    <a:p>
                      <a:pPr algn="l" fontAlgn="b"/>
                      <a:r>
                        <a:rPr lang="en-US" sz="500" b="0" i="0" u="none" strike="noStrike">
                          <a:solidFill>
                            <a:srgbClr val="000000"/>
                          </a:solidFill>
                          <a:effectLst/>
                          <a:latin typeface="Verdana" panose="020B0604030504040204" pitchFamily="34" charset="0"/>
                        </a:rPr>
                        <a:t>General approach for NMD modelling</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255985058"/>
                  </a:ext>
                </a:extLst>
              </a:tr>
              <a:tr h="106491">
                <a:tc>
                  <a:txBody>
                    <a:bodyPr/>
                    <a:lstStyle/>
                    <a:p>
                      <a:pPr algn="l" fontAlgn="t"/>
                      <a:r>
                        <a:rPr lang="fr-FR" sz="500" b="0" i="0" u="none" strike="noStrike">
                          <a:solidFill>
                            <a:srgbClr val="000000"/>
                          </a:solidFill>
                          <a:effectLst/>
                          <a:latin typeface="Verdana" panose="020B0604030504040204" pitchFamily="34" charset="0"/>
                        </a:rPr>
                        <a:t>Identification of core component NMD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0190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612032533"/>
                  </a:ext>
                </a:extLst>
              </a:tr>
              <a:tr h="106491">
                <a:tc>
                  <a:txBody>
                    <a:bodyPr/>
                    <a:lstStyle/>
                    <a:p>
                      <a:pPr algn="l" fontAlgn="t"/>
                      <a:r>
                        <a:rPr lang="fr-FR" sz="500" b="0" i="0" u="none" strike="noStrike">
                          <a:solidFill>
                            <a:srgbClr val="000000"/>
                          </a:solidFill>
                          <a:effectLst/>
                          <a:latin typeface="Verdana" panose="020B0604030504040204" pitchFamily="34" charset="0"/>
                        </a:rPr>
                        <a:t>Relevant drivers for NMD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67353937"/>
                  </a:ext>
                </a:extLst>
              </a:tr>
              <a:tr h="106491">
                <a:tc>
                  <a:txBody>
                    <a:bodyPr/>
                    <a:lstStyle/>
                    <a:p>
                      <a:pPr algn="l" fontAlgn="t"/>
                      <a:r>
                        <a:rPr lang="en-US" sz="500" b="0" i="0" u="none" strike="noStrike">
                          <a:solidFill>
                            <a:srgbClr val="000000"/>
                          </a:solidFill>
                          <a:effectLst/>
                          <a:latin typeface="Verdana" panose="020B0604030504040204" pitchFamily="34" charset="0"/>
                        </a:rPr>
                        <a:t>NMD core component balances (slotting of core component balances)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708308865"/>
                  </a:ext>
                </a:extLst>
              </a:tr>
              <a:tr h="106491">
                <a:tc>
                  <a:txBody>
                    <a:bodyPr/>
                    <a:lstStyle/>
                    <a:p>
                      <a:pPr algn="l" fontAlgn="t"/>
                      <a:r>
                        <a:rPr lang="en-US" sz="500" b="0" i="0" u="none" strike="noStrike">
                          <a:solidFill>
                            <a:srgbClr val="000000"/>
                          </a:solidFill>
                          <a:effectLst/>
                          <a:latin typeface="Verdana" panose="020B0604030504040204" pitchFamily="34" charset="0"/>
                        </a:rPr>
                        <a:t>5-year NMD repricing cap on IRRBB risk management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58596376"/>
                  </a:ext>
                </a:extLst>
              </a:tr>
              <a:tr h="106491">
                <a:tc>
                  <a:txBody>
                    <a:bodyPr/>
                    <a:lstStyle/>
                    <a:p>
                      <a:pPr algn="l" fontAlgn="b"/>
                      <a:r>
                        <a:rPr lang="en-US" sz="500" b="0" i="0" u="none" strike="noStrike">
                          <a:solidFill>
                            <a:srgbClr val="000000"/>
                          </a:solidFill>
                          <a:effectLst/>
                          <a:latin typeface="Verdana" panose="020B0604030504040204" pitchFamily="34" charset="0"/>
                        </a:rPr>
                        <a:t>Exemptions to the 5-year NMD repricing cap</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905497092"/>
                  </a:ext>
                </a:extLst>
              </a:tr>
              <a:tr h="106491">
                <a:tc>
                  <a:txBody>
                    <a:bodyPr/>
                    <a:lstStyle/>
                    <a:p>
                      <a:pPr algn="l" fontAlgn="b"/>
                      <a:r>
                        <a:rPr lang="en-US" sz="500" b="0" i="0" u="none" strike="noStrike">
                          <a:solidFill>
                            <a:srgbClr val="000000"/>
                          </a:solidFill>
                          <a:effectLst/>
                          <a:latin typeface="Verdana" panose="020B0604030504040204" pitchFamily="34" charset="0"/>
                        </a:rPr>
                        <a:t>Modelling of operational NMDs from financial customers</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77697501"/>
                  </a:ext>
                </a:extLst>
              </a:tr>
              <a:tr h="106491">
                <a:tc>
                  <a:txBody>
                    <a:bodyPr/>
                    <a:lstStyle/>
                    <a:p>
                      <a:pPr algn="l" fontAlgn="t"/>
                      <a:r>
                        <a:rPr lang="en-US" sz="500" b="0" i="0" u="none" strike="noStrike">
                          <a:solidFill>
                            <a:srgbClr val="000000"/>
                          </a:solidFill>
                          <a:effectLst/>
                          <a:latin typeface="Verdana" panose="020B0604030504040204" pitchFamily="34" charset="0"/>
                        </a:rPr>
                        <a:t>Changes in balance sheet structure due to interest rates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691106892"/>
                  </a:ext>
                </a:extLst>
              </a:tr>
              <a:tr h="106491">
                <a:tc>
                  <a:txBody>
                    <a:bodyPr/>
                    <a:lstStyle/>
                    <a:p>
                      <a:pPr algn="l" fontAlgn="t"/>
                      <a:r>
                        <a:rPr lang="en-US" sz="500" b="0" i="0" u="none" strike="noStrike">
                          <a:solidFill>
                            <a:srgbClr val="000000"/>
                          </a:solidFill>
                          <a:effectLst/>
                          <a:latin typeface="Verdana" panose="020B0604030504040204" pitchFamily="34" charset="0"/>
                        </a:rPr>
                        <a:t>IRRBB mitigation and hedging strategies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199234988"/>
                  </a:ext>
                </a:extLst>
              </a:tr>
              <a:tr h="106491">
                <a:tc>
                  <a:txBody>
                    <a:bodyPr/>
                    <a:lstStyle/>
                    <a:p>
                      <a:pPr algn="l" fontAlgn="t"/>
                      <a:r>
                        <a:rPr lang="en-US" sz="500" b="0" i="0" u="none" strike="noStrike">
                          <a:solidFill>
                            <a:srgbClr val="000000"/>
                          </a:solidFill>
                          <a:effectLst/>
                          <a:latin typeface="Verdana" panose="020B0604030504040204" pitchFamily="34" charset="0"/>
                        </a:rPr>
                        <a:t>IRRBB mitigation and hedging strategies (NII)</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0270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62226312"/>
                  </a:ext>
                </a:extLst>
              </a:tr>
              <a:tr h="139915">
                <a:tc>
                  <a:txBody>
                    <a:bodyPr/>
                    <a:lstStyle/>
                    <a:p>
                      <a:pPr algn="l" fontAlgn="t"/>
                      <a:r>
                        <a:rPr lang="en-US" sz="500" b="0" i="0" u="none" strike="noStrike">
                          <a:solidFill>
                            <a:srgbClr val="000000"/>
                          </a:solidFill>
                          <a:effectLst/>
                          <a:latin typeface="Verdana" panose="020B0604030504040204" pitchFamily="34" charset="0"/>
                        </a:rPr>
                        <a:t>SOT on NII risk measure under the IMS Approach - PTR of Retail Term deposits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0280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48354433"/>
                  </a:ext>
                </a:extLst>
              </a:tr>
              <a:tr h="106491">
                <a:tc>
                  <a:txBody>
                    <a:bodyPr/>
                    <a:lstStyle/>
                    <a:p>
                      <a:pPr algn="l" fontAlgn="t"/>
                      <a:r>
                        <a:rPr lang="en-US" sz="500" b="0" i="0" u="none" strike="noStrike">
                          <a:solidFill>
                            <a:srgbClr val="000000"/>
                          </a:solidFill>
                          <a:effectLst/>
                          <a:latin typeface="Verdana" panose="020B0604030504040204" pitchFamily="34" charset="0"/>
                        </a:rPr>
                        <a:t>SOT on NII risk measure under the IMS Approach - PTR of Fixed Retail Loans</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0290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74683898"/>
                  </a:ext>
                </a:extLst>
              </a:tr>
              <a:tr h="106491">
                <a:tc>
                  <a:txBody>
                    <a:bodyPr/>
                    <a:lstStyle/>
                    <a:p>
                      <a:pPr algn="l" fontAlgn="t"/>
                      <a:r>
                        <a:rPr lang="fr-FR" sz="500" b="0" i="0" u="none" strike="noStrike">
                          <a:solidFill>
                            <a:srgbClr val="000000"/>
                          </a:solidFill>
                          <a:effectLst/>
                          <a:latin typeface="Verdana" panose="020B0604030504040204" pitchFamily="34" charset="0"/>
                        </a:rPr>
                        <a:t>Basis risk</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0300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181049185"/>
                  </a:ext>
                </a:extLst>
              </a:tr>
              <a:tr h="108823">
                <a:tc>
                  <a:txBody>
                    <a:bodyPr/>
                    <a:lstStyle/>
                    <a:p>
                      <a:pPr algn="l" fontAlgn="t"/>
                      <a:r>
                        <a:rPr lang="fr-FR" sz="500" b="0" i="0" u="none" strike="noStrike">
                          <a:solidFill>
                            <a:srgbClr val="000000"/>
                          </a:solidFill>
                          <a:effectLst/>
                          <a:latin typeface="Verdana" panose="020B0604030504040204" pitchFamily="34" charset="0"/>
                        </a:rPr>
                        <a:t>CSRBB</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0310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78176579"/>
                  </a:ext>
                </a:extLst>
              </a:tr>
              <a:tr h="104936">
                <a:tc>
                  <a:txBody>
                    <a:bodyPr/>
                    <a:lstStyle/>
                    <a:p>
                      <a:pPr algn="l" fontAlgn="b"/>
                      <a:endParaRPr lang="fr-FR" sz="400" b="0" i="0" u="none"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1"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tc>
                  <a:txBody>
                    <a:bodyPr/>
                    <a:lstStyle/>
                    <a:p>
                      <a:pPr algn="l" fontAlgn="b"/>
                      <a:endParaRPr lang="fr-FR" sz="400" b="0" i="0" u="sng" strike="noStrike">
                        <a:solidFill>
                          <a:srgbClr val="000000"/>
                        </a:solidFill>
                        <a:effectLst/>
                        <a:latin typeface="Verdana" panose="020B0604030504040204" pitchFamily="34" charset="0"/>
                      </a:endParaRPr>
                    </a:p>
                  </a:txBody>
                  <a:tcPr marL="3069" marR="3069" marT="3069" marB="0" anchor="b">
                    <a:lnL>
                      <a:noFill/>
                    </a:lnL>
                    <a:lnR>
                      <a:noFill/>
                    </a:lnR>
                    <a:lnT w="1270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4143973310"/>
                  </a:ext>
                </a:extLst>
              </a:tr>
              <a:tr h="104936">
                <a:tc>
                  <a:txBody>
                    <a:bodyPr/>
                    <a:lstStyle/>
                    <a:p>
                      <a:pPr algn="l" fontAlgn="b"/>
                      <a:r>
                        <a:rPr lang="en-US" sz="500" b="1" i="0" u="none" strike="noStrike">
                          <a:solidFill>
                            <a:srgbClr val="000000"/>
                          </a:solidFill>
                          <a:effectLst/>
                          <a:latin typeface="Verdana" panose="020B0604030504040204" pitchFamily="34" charset="0"/>
                        </a:rPr>
                        <a:t>10.2 Qualitative information "currency by currency"</a:t>
                      </a: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a:noFill/>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extLst>
                  <a:ext uri="{0D108BD9-81ED-4DB2-BD59-A6C34878D82A}">
                    <a16:rowId xmlns:a16="http://schemas.microsoft.com/office/drawing/2014/main" val="45165818"/>
                  </a:ext>
                </a:extLst>
              </a:tr>
              <a:tr h="104936">
                <a:tc>
                  <a:txBody>
                    <a:bodyPr/>
                    <a:lstStyle/>
                    <a:p>
                      <a:pPr algn="l" fontAlgn="b"/>
                      <a:endParaRPr lang="fr-FR" sz="5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a:noFill/>
                    </a:lnB>
                    <a:noFill/>
                  </a:tcPr>
                </a:tc>
                <a:tc>
                  <a:txBody>
                    <a:bodyPr/>
                    <a:lstStyle/>
                    <a:p>
                      <a:pPr algn="l" fontAlgn="b"/>
                      <a:endParaRPr lang="fr-FR" sz="500" b="0" i="0" u="none" strike="noStrike">
                        <a:solidFill>
                          <a:srgbClr val="000000"/>
                        </a:solidFill>
                        <a:effectLst/>
                        <a:latin typeface="Arial" panose="020B0604020202020204" pitchFamily="34" charset="0"/>
                      </a:endParaRPr>
                    </a:p>
                  </a:txBody>
                  <a:tcPr marL="3069" marR="3069" marT="3069" marB="0" anchor="b">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l" fontAlgn="b"/>
                      <a:endParaRPr lang="fr-FR" sz="400" b="1"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89273041"/>
                  </a:ext>
                </a:extLst>
              </a:tr>
              <a:tr h="108823">
                <a:tc>
                  <a:txBody>
                    <a:bodyPr/>
                    <a:lstStyle/>
                    <a:p>
                      <a:pPr algn="r" fontAlgn="ctr"/>
                      <a:r>
                        <a:rPr lang="fr-FR" sz="500" b="1" i="0" u="none" strike="noStrike">
                          <a:solidFill>
                            <a:srgbClr val="000000"/>
                          </a:solidFill>
                          <a:effectLst/>
                          <a:latin typeface="Verdana" panose="020B0604030504040204" pitchFamily="34" charset="0"/>
                        </a:rPr>
                        <a:t>Currency:</a:t>
                      </a:r>
                    </a:p>
                  </a:txBody>
                  <a:tcPr marL="3069" marR="3069" marT="3069" marB="0" anchor="ctr">
                    <a:lnL>
                      <a:noFill/>
                    </a:lnL>
                    <a:lnR w="6350" cap="flat" cmpd="sng" algn="ctr">
                      <a:solidFill>
                        <a:srgbClr val="000000"/>
                      </a:solidFill>
                      <a:prstDash val="solid"/>
                      <a:round/>
                      <a:headEnd type="none" w="med" len="med"/>
                      <a:tailEnd type="none" w="med" len="med"/>
                    </a:lnR>
                    <a:lnT>
                      <a:noFill/>
                    </a:lnT>
                    <a:lnB>
                      <a:noFill/>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fr-FR" sz="400" b="0" i="0" u="none" strike="noStrike">
                          <a:solidFill>
                            <a:srgbClr val="000000"/>
                          </a:solidFill>
                          <a:effectLst/>
                          <a:latin typeface="Verdana" panose="020B0604030504040204" pitchFamily="34" charset="0"/>
                        </a:rPr>
                        <a:t> </a:t>
                      </a:r>
                    </a:p>
                  </a:txBody>
                  <a:tcPr marL="3069" marR="3069" marT="3069"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58865190"/>
                  </a:ext>
                </a:extLst>
              </a:tr>
              <a:tr h="108823">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a:noFill/>
                    </a:lnT>
                    <a:lnB w="12700" cap="flat" cmpd="sng" algn="ctr">
                      <a:solidFill>
                        <a:srgbClr val="000000"/>
                      </a:solidFill>
                      <a:prstDash val="solid"/>
                      <a:round/>
                      <a:headEnd type="none" w="med" len="med"/>
                      <a:tailEnd type="none" w="med" len="med"/>
                    </a:lnB>
                    <a:noFill/>
                  </a:tcPr>
                </a:tc>
                <a:tc>
                  <a:txBody>
                    <a:bodyPr/>
                    <a:lstStyle/>
                    <a:p>
                      <a:pPr algn="l"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500" b="0" i="0" u="none" strike="noStrike">
                        <a:solidFill>
                          <a:srgbClr val="000000"/>
                        </a:solidFill>
                        <a:effectLst/>
                        <a:latin typeface="Verdana" panose="020B0604030504040204" pitchFamily="34" charset="0"/>
                      </a:endParaRPr>
                    </a:p>
                  </a:txBody>
                  <a:tcPr marL="3069" marR="3069" marT="3069"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23189246"/>
                  </a:ext>
                </a:extLst>
              </a:tr>
              <a:tr h="106491">
                <a:tc>
                  <a:txBody>
                    <a:bodyPr/>
                    <a:lstStyle/>
                    <a:p>
                      <a:pPr algn="l" fontAlgn="t"/>
                      <a:r>
                        <a:rPr lang="en-US" sz="500" b="0" i="0" u="none" strike="noStrike">
                          <a:solidFill>
                            <a:srgbClr val="000000"/>
                          </a:solidFill>
                          <a:effectLst/>
                          <a:latin typeface="Verdana" panose="020B0604030504040204" pitchFamily="34" charset="0"/>
                        </a:rPr>
                        <a:t>Risk-free yield curve (discounting in EVE SOT)</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0320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1207093459"/>
                  </a:ext>
                </a:extLst>
              </a:tr>
              <a:tr h="106491">
                <a:tc>
                  <a:txBody>
                    <a:bodyPr/>
                    <a:lstStyle/>
                    <a:p>
                      <a:pPr algn="l" fontAlgn="t"/>
                      <a:r>
                        <a:rPr lang="en-US" sz="500" b="0" i="0" u="none" strike="noStrike">
                          <a:solidFill>
                            <a:srgbClr val="000000"/>
                          </a:solidFill>
                          <a:effectLst/>
                          <a:latin typeface="Verdana" panose="020B0604030504040204" pitchFamily="34" charset="0"/>
                        </a:rPr>
                        <a:t>Risk-free yield curve (internal risk measures of 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0330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017703832"/>
                  </a:ext>
                </a:extLst>
              </a:tr>
              <a:tr h="106491">
                <a:tc>
                  <a:txBody>
                    <a:bodyPr/>
                    <a:lstStyle/>
                    <a:p>
                      <a:pPr algn="l" fontAlgn="b"/>
                      <a:r>
                        <a:rPr lang="en-US" sz="500" b="0" i="0" u="none" strike="noStrike">
                          <a:solidFill>
                            <a:srgbClr val="000000"/>
                          </a:solidFill>
                          <a:effectLst/>
                          <a:latin typeface="Verdana" panose="020B0604030504040204" pitchFamily="34" charset="0"/>
                        </a:rPr>
                        <a:t>Change of material assumptions (EVE)</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0340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2014982197"/>
                  </a:ext>
                </a:extLst>
              </a:tr>
              <a:tr h="106491">
                <a:tc>
                  <a:txBody>
                    <a:bodyPr/>
                    <a:lstStyle/>
                    <a:p>
                      <a:pPr algn="l" fontAlgn="b"/>
                      <a:r>
                        <a:rPr lang="en-US" sz="500" b="0" i="0" u="none" strike="noStrike">
                          <a:solidFill>
                            <a:srgbClr val="000000"/>
                          </a:solidFill>
                          <a:effectLst/>
                          <a:latin typeface="Verdana" panose="020B0604030504040204" pitchFamily="34" charset="0"/>
                        </a:rPr>
                        <a:t>Change of material assumptions (NII)</a:t>
                      </a:r>
                    </a:p>
                  </a:txBody>
                  <a:tcPr marL="3069" marR="3069" marT="3069"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0350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6350" cap="flat" cmpd="sng" algn="ctr">
                      <a:solidFill>
                        <a:srgbClr val="D9D9D9"/>
                      </a:solidFill>
                      <a:prstDash val="dash"/>
                      <a:round/>
                      <a:headEnd type="none" w="med" len="med"/>
                      <a:tailEnd type="none" w="med" len="med"/>
                    </a:lnB>
                    <a:noFill/>
                  </a:tcPr>
                </a:tc>
                <a:extLst>
                  <a:ext uri="{0D108BD9-81ED-4DB2-BD59-A6C34878D82A}">
                    <a16:rowId xmlns:a16="http://schemas.microsoft.com/office/drawing/2014/main" val="3366915883"/>
                  </a:ext>
                </a:extLst>
              </a:tr>
              <a:tr h="108823">
                <a:tc>
                  <a:txBody>
                    <a:bodyPr/>
                    <a:lstStyle/>
                    <a:p>
                      <a:pPr algn="l" fontAlgn="t"/>
                      <a:r>
                        <a:rPr lang="en-US" sz="500" b="0" i="0" u="none" strike="noStrike">
                          <a:solidFill>
                            <a:srgbClr val="000000"/>
                          </a:solidFill>
                          <a:effectLst/>
                          <a:latin typeface="Verdana" panose="020B0604030504040204" pitchFamily="34" charset="0"/>
                        </a:rPr>
                        <a:t>Post-shock interest rate floor (NII/EVE)</a:t>
                      </a:r>
                    </a:p>
                  </a:txBody>
                  <a:tcPr marL="3069" marR="3069" marT="3069"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ctr" fontAlgn="ctr"/>
                      <a:r>
                        <a:rPr lang="fr-FR" sz="500" b="0" i="0" u="none" strike="noStrike">
                          <a:solidFill>
                            <a:srgbClr val="000000"/>
                          </a:solidFill>
                          <a:effectLst/>
                          <a:latin typeface="Verdana" panose="020B0604030504040204" pitchFamily="34" charset="0"/>
                        </a:rPr>
                        <a:t>0360</a:t>
                      </a:r>
                    </a:p>
                  </a:txBody>
                  <a:tcPr marL="3069" marR="3069" marT="3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l" fontAlgn="b"/>
                      <a:r>
                        <a:rPr lang="fr-FR" sz="500" b="0" i="0" u="none" strike="noStrike" dirty="0">
                          <a:solidFill>
                            <a:srgbClr val="000000"/>
                          </a:solidFill>
                          <a:effectLst/>
                          <a:latin typeface="Verdana" panose="020B0604030504040204" pitchFamily="34" charset="0"/>
                        </a:rPr>
                        <a:t> </a:t>
                      </a:r>
                    </a:p>
                  </a:txBody>
                  <a:tcPr marL="3069" marR="3069" marT="3069"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D9D9D9"/>
                      </a:solidFill>
                      <a:prstDash val="dash"/>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67733881"/>
                  </a:ext>
                </a:extLst>
              </a:tr>
            </a:tbl>
          </a:graphicData>
        </a:graphic>
      </p:graphicFrame>
      <p:sp>
        <p:nvSpPr>
          <p:cNvPr id="8" name="TextBox 7">
            <a:extLst>
              <a:ext uri="{FF2B5EF4-FFF2-40B4-BE49-F238E27FC236}">
                <a16:creationId xmlns:a16="http://schemas.microsoft.com/office/drawing/2014/main" id="{CCE73BCF-8430-08B6-1FC9-AA0C3035796E}"/>
              </a:ext>
            </a:extLst>
          </p:cNvPr>
          <p:cNvSpPr txBox="1"/>
          <p:nvPr/>
        </p:nvSpPr>
        <p:spPr>
          <a:xfrm>
            <a:off x="6541973" y="1874728"/>
            <a:ext cx="3851034" cy="3108543"/>
          </a:xfrm>
          <a:prstGeom prst="rect">
            <a:avLst/>
          </a:prstGeom>
          <a:noFill/>
          <a:ln>
            <a:solidFill>
              <a:schemeClr val="tx1">
                <a:lumMod val="50000"/>
              </a:schemeClr>
            </a:solidFill>
          </a:ln>
        </p:spPr>
        <p:txBody>
          <a:bodyPr wrap="square">
            <a:spAutoFit/>
          </a:bodyPr>
          <a:lstStyle/>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J11 vise à fournir au régulateur des informations sur  les points méthodologiques utilisés pour la réalisation des templates </a:t>
            </a:r>
            <a:r>
              <a:rPr lang="fr-FR" dirty="0" err="1">
                <a:solidFill>
                  <a:schemeClr val="tx1">
                    <a:lumMod val="50000"/>
                  </a:schemeClr>
                </a:solidFill>
                <a:latin typeface="Calibri (body)"/>
              </a:rPr>
              <a:t>précèdents</a:t>
            </a:r>
            <a:r>
              <a:rPr lang="fr-FR" dirty="0">
                <a:solidFill>
                  <a:schemeClr val="tx1">
                    <a:lumMod val="50000"/>
                  </a:schemeClr>
                </a:solidFill>
                <a:latin typeface="Calibri (body)"/>
              </a:rPr>
              <a:t>.</a:t>
            </a:r>
          </a:p>
          <a:p>
            <a:r>
              <a:rPr lang="fr-FR" dirty="0">
                <a:solidFill>
                  <a:schemeClr val="tx1">
                    <a:lumMod val="50000"/>
                  </a:schemeClr>
                </a:solidFill>
                <a:latin typeface="Calibri (body)"/>
              </a:rPr>
              <a:t>Les réponses attendues sont prédéfinies.</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Le </a:t>
            </a:r>
            <a:r>
              <a:rPr lang="fr-FR" dirty="0" err="1">
                <a:solidFill>
                  <a:schemeClr val="tx1">
                    <a:lumMod val="50000"/>
                  </a:schemeClr>
                </a:solidFill>
                <a:latin typeface="Calibri (body)"/>
              </a:rPr>
              <a:t>template</a:t>
            </a:r>
            <a:r>
              <a:rPr lang="fr-FR" dirty="0">
                <a:solidFill>
                  <a:schemeClr val="tx1">
                    <a:lumMod val="50000"/>
                  </a:schemeClr>
                </a:solidFill>
                <a:latin typeface="Calibri (body)"/>
              </a:rPr>
              <a:t> présent en divisé en 2 parties.</a:t>
            </a:r>
          </a:p>
          <a:p>
            <a:r>
              <a:rPr lang="fr-FR" dirty="0">
                <a:solidFill>
                  <a:schemeClr val="tx1">
                    <a:lumMod val="50000"/>
                  </a:schemeClr>
                </a:solidFill>
                <a:latin typeface="Calibri (body)"/>
              </a:rPr>
              <a:t>11.1 : Reprenant les informations qualitatives sur la méthodologie de calcul des indicateurs</a:t>
            </a:r>
          </a:p>
          <a:p>
            <a:endParaRPr lang="fr-FR" dirty="0">
              <a:solidFill>
                <a:schemeClr val="tx1">
                  <a:lumMod val="50000"/>
                </a:schemeClr>
              </a:solidFill>
              <a:latin typeface="Calibri (body)"/>
            </a:endParaRPr>
          </a:p>
          <a:p>
            <a:r>
              <a:rPr lang="fr-FR" dirty="0">
                <a:solidFill>
                  <a:schemeClr val="tx1">
                    <a:lumMod val="50000"/>
                  </a:schemeClr>
                </a:solidFill>
                <a:latin typeface="Calibri (body)"/>
              </a:rPr>
              <a:t>11.2 : Reprenant les informations qualitatives par rapport à la devise significative associée, notamment sur le type de courbe sans risque utilisé.</a:t>
            </a:r>
          </a:p>
        </p:txBody>
      </p:sp>
    </p:spTree>
    <p:extLst>
      <p:ext uri="{BB962C8B-B14F-4D97-AF65-F5344CB8AC3E}">
        <p14:creationId xmlns:p14="http://schemas.microsoft.com/office/powerpoint/2010/main" val="139296548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a- Méthodologie de calcul de la sensibilité de MNI (1)</a:t>
            </a:r>
          </a:p>
        </p:txBody>
      </p:sp>
      <p:sp>
        <p:nvSpPr>
          <p:cNvPr id="2" name="ZoneTexte 1">
            <a:extLst>
              <a:ext uri="{FF2B5EF4-FFF2-40B4-BE49-F238E27FC236}">
                <a16:creationId xmlns:a16="http://schemas.microsoft.com/office/drawing/2014/main" id="{AAA24981-6903-1657-181B-CF79FB22650E}"/>
              </a:ext>
            </a:extLst>
          </p:cNvPr>
          <p:cNvSpPr txBox="1"/>
          <p:nvPr/>
        </p:nvSpPr>
        <p:spPr>
          <a:xfrm>
            <a:off x="723568" y="1195943"/>
            <a:ext cx="10761698" cy="3939540"/>
          </a:xfrm>
          <a:prstGeom prst="rect">
            <a:avLst/>
          </a:prstGeom>
          <a:noFill/>
          <a:ln>
            <a:solidFill>
              <a:schemeClr val="tx1">
                <a:lumMod val="50000"/>
              </a:schemeClr>
            </a:solidFill>
          </a:ln>
        </p:spPr>
        <p:txBody>
          <a:bodyPr wrap="square" rtlCol="0">
            <a:spAutoFit/>
          </a:bodyPr>
          <a:lstStyle/>
          <a:p>
            <a:endParaRPr lang="fr-FR" u="sng" dirty="0">
              <a:solidFill>
                <a:schemeClr val="tx1">
                  <a:lumMod val="50000"/>
                </a:schemeClr>
              </a:solidFill>
              <a:latin typeface="Calibri (body)"/>
            </a:endParaRPr>
          </a:p>
          <a:p>
            <a:r>
              <a:rPr lang="fr-FR" u="sng" dirty="0">
                <a:solidFill>
                  <a:schemeClr val="tx1">
                    <a:lumMod val="50000"/>
                  </a:schemeClr>
                </a:solidFill>
                <a:latin typeface="Calibri (body)"/>
              </a:rPr>
              <a:t>L’approche MNI :</a:t>
            </a:r>
          </a:p>
          <a:p>
            <a:r>
              <a:rPr lang="fr-FR" dirty="0">
                <a:solidFill>
                  <a:schemeClr val="tx1">
                    <a:lumMod val="50000"/>
                  </a:schemeClr>
                </a:solidFill>
                <a:latin typeface="Calibri (body)"/>
              </a:rPr>
              <a:t>1. Permet de mesurer l’impact d’une variation des taux sur les revenus de l’établissement</a:t>
            </a:r>
          </a:p>
          <a:p>
            <a:r>
              <a:rPr lang="fr-FR" dirty="0">
                <a:solidFill>
                  <a:schemeClr val="tx1">
                    <a:lumMod val="50000"/>
                  </a:schemeClr>
                </a:solidFill>
                <a:latin typeface="Calibri (body)"/>
              </a:rPr>
              <a:t>2. Identifier quelles sont les sources de revenus les plus impactées</a:t>
            </a:r>
          </a:p>
          <a:p>
            <a:r>
              <a:rPr lang="fr-FR" dirty="0">
                <a:solidFill>
                  <a:schemeClr val="tx1">
                    <a:lumMod val="50000"/>
                  </a:schemeClr>
                </a:solidFill>
                <a:latin typeface="Calibri (body)"/>
              </a:rPr>
              <a:t>3. Décomposer les effets taux et les effets volume </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Le calcul de la MNI et de sa sensibilité est réalisé sous une </a:t>
            </a:r>
            <a:r>
              <a:rPr lang="fr-FR" b="1" dirty="0">
                <a:solidFill>
                  <a:schemeClr val="tx1">
                    <a:lumMod val="50000"/>
                  </a:schemeClr>
                </a:solidFill>
                <a:latin typeface="Calibri (body)"/>
              </a:rPr>
              <a:t>vue bilan constant</a:t>
            </a:r>
            <a:r>
              <a:rPr lang="fr-FR" dirty="0">
                <a:solidFill>
                  <a:schemeClr val="tx1">
                    <a:lumMod val="50000"/>
                  </a:schemeClr>
                </a:solidFill>
                <a:latin typeface="Calibri (body)"/>
              </a:rPr>
              <a:t>. Les encours arrivant à échéance sur l’horizon de projection de la MNI sont donc remplacés par des instruments de même nature et de caractéristiques similaires, on parle de </a:t>
            </a:r>
            <a:r>
              <a:rPr lang="fr-FR" b="1" dirty="0">
                <a:solidFill>
                  <a:schemeClr val="tx1">
                    <a:lumMod val="50000"/>
                  </a:schemeClr>
                </a:solidFill>
                <a:latin typeface="Calibri (body)"/>
              </a:rPr>
              <a:t>production nouvelle</a:t>
            </a:r>
            <a:r>
              <a:rPr lang="fr-FR" dirty="0">
                <a:solidFill>
                  <a:schemeClr val="tx1">
                    <a:lumMod val="50000"/>
                  </a:schemeClr>
                </a:solidFill>
                <a:latin typeface="Calibri (body)"/>
              </a:rPr>
              <a:t>.</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Les marges commerciales et autres composantes de spread </a:t>
            </a:r>
            <a:r>
              <a:rPr lang="fr-FR" b="1" dirty="0">
                <a:solidFill>
                  <a:schemeClr val="tx1">
                    <a:lumMod val="50000"/>
                  </a:schemeClr>
                </a:solidFill>
                <a:latin typeface="Calibri (body)"/>
              </a:rPr>
              <a:t>sont incluses </a:t>
            </a:r>
            <a:r>
              <a:rPr lang="fr-FR" dirty="0">
                <a:solidFill>
                  <a:schemeClr val="tx1">
                    <a:lumMod val="50000"/>
                  </a:schemeClr>
                </a:solidFill>
                <a:latin typeface="Calibri (body)"/>
              </a:rPr>
              <a:t>dans le calcul de MNI.</a:t>
            </a:r>
          </a:p>
          <a:p>
            <a:endParaRPr lang="fr-FR" sz="1000" dirty="0">
              <a:solidFill>
                <a:schemeClr val="tx1">
                  <a:lumMod val="50000"/>
                </a:schemeClr>
              </a:solidFill>
              <a:latin typeface="Calibri (body)"/>
            </a:endParaRPr>
          </a:p>
          <a:p>
            <a:r>
              <a:rPr lang="fr-FR" u="sng" dirty="0">
                <a:solidFill>
                  <a:schemeClr val="tx1">
                    <a:lumMod val="50000"/>
                  </a:schemeClr>
                </a:solidFill>
                <a:latin typeface="Calibri (body)"/>
              </a:rPr>
              <a:t>La sensibilité des encours diffère selon leur nature de taux :</a:t>
            </a:r>
          </a:p>
          <a:p>
            <a:r>
              <a:rPr lang="fr-FR" dirty="0">
                <a:solidFill>
                  <a:schemeClr val="tx1">
                    <a:lumMod val="50000"/>
                  </a:schemeClr>
                </a:solidFill>
                <a:latin typeface="Calibri (body)"/>
              </a:rPr>
              <a:t>- Les encours à TR (taux révisable) sont sensibles chaque année, lors de chaque refixation</a:t>
            </a:r>
          </a:p>
          <a:p>
            <a:r>
              <a:rPr lang="fr-FR" dirty="0">
                <a:solidFill>
                  <a:schemeClr val="tx1">
                    <a:lumMod val="50000"/>
                  </a:schemeClr>
                </a:solidFill>
                <a:latin typeface="Calibri (body)"/>
              </a:rPr>
              <a:t>- Sur les encours à TF (taux fixe), seulement la production nouvelle est sensible</a:t>
            </a:r>
          </a:p>
          <a:p>
            <a:endParaRPr lang="fr-FR" sz="1000" dirty="0">
              <a:solidFill>
                <a:schemeClr val="tx1">
                  <a:lumMod val="50000"/>
                </a:schemeClr>
              </a:solidFill>
              <a:latin typeface="Calibri (body)"/>
            </a:endParaRPr>
          </a:p>
          <a:p>
            <a:r>
              <a:rPr lang="fr-FR" u="sng" dirty="0">
                <a:solidFill>
                  <a:schemeClr val="tx1">
                    <a:lumMod val="50000"/>
                  </a:schemeClr>
                </a:solidFill>
                <a:latin typeface="Calibri (body)"/>
              </a:rPr>
              <a:t>La sensibilité est calculée sur la base de 2 chocs réglementaires :</a:t>
            </a:r>
          </a:p>
          <a:p>
            <a:r>
              <a:rPr lang="fr-FR" dirty="0">
                <a:solidFill>
                  <a:schemeClr val="tx1">
                    <a:lumMod val="50000"/>
                  </a:schemeClr>
                </a:solidFill>
                <a:latin typeface="Calibri (body)"/>
              </a:rPr>
              <a:t>- Choc parallèle à la hausse (</a:t>
            </a:r>
            <a:r>
              <a:rPr lang="fr-FR" dirty="0" err="1">
                <a:solidFill>
                  <a:schemeClr val="tx1">
                    <a:lumMod val="50000"/>
                  </a:schemeClr>
                </a:solidFill>
                <a:latin typeface="Calibri (body)"/>
              </a:rPr>
              <a:t>parallel</a:t>
            </a:r>
            <a:r>
              <a:rPr lang="fr-FR" dirty="0">
                <a:solidFill>
                  <a:schemeClr val="tx1">
                    <a:lumMod val="50000"/>
                  </a:schemeClr>
                </a:solidFill>
                <a:latin typeface="Calibri (body)"/>
              </a:rPr>
              <a:t> up +200bps)</a:t>
            </a:r>
          </a:p>
          <a:p>
            <a:r>
              <a:rPr lang="fr-FR" dirty="0">
                <a:solidFill>
                  <a:schemeClr val="tx1">
                    <a:lumMod val="50000"/>
                  </a:schemeClr>
                </a:solidFill>
                <a:latin typeface="Calibri (body)"/>
              </a:rPr>
              <a:t>- Choc parallèle à la baisse (</a:t>
            </a:r>
            <a:r>
              <a:rPr lang="fr-FR" dirty="0" err="1">
                <a:solidFill>
                  <a:schemeClr val="tx1">
                    <a:lumMod val="50000"/>
                  </a:schemeClr>
                </a:solidFill>
                <a:latin typeface="Calibri (body)"/>
              </a:rPr>
              <a:t>parallel</a:t>
            </a:r>
            <a:r>
              <a:rPr lang="fr-FR" dirty="0">
                <a:solidFill>
                  <a:schemeClr val="tx1">
                    <a:lumMod val="50000"/>
                  </a:schemeClr>
                </a:solidFill>
                <a:latin typeface="Calibri (body)"/>
              </a:rPr>
              <a:t> down -200bps)</a:t>
            </a:r>
          </a:p>
          <a:p>
            <a:endParaRPr lang="fr-FR" dirty="0">
              <a:solidFill>
                <a:schemeClr val="tx1">
                  <a:lumMod val="50000"/>
                </a:schemeClr>
              </a:solidFill>
            </a:endParaRPr>
          </a:p>
        </p:txBody>
      </p:sp>
      <p:sp>
        <p:nvSpPr>
          <p:cNvPr id="5" name="Espace réservé du texte 16">
            <a:extLst>
              <a:ext uri="{FF2B5EF4-FFF2-40B4-BE49-F238E27FC236}">
                <a16:creationId xmlns:a16="http://schemas.microsoft.com/office/drawing/2014/main" id="{90658FA6-C7E1-5F70-35DE-FA59A248C513}"/>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Tree>
    <p:extLst>
      <p:ext uri="{BB962C8B-B14F-4D97-AF65-F5344CB8AC3E}">
        <p14:creationId xmlns:p14="http://schemas.microsoft.com/office/powerpoint/2010/main" val="189357673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a- Méthodologie de calcul de la sensibilité de MNI (2)</a:t>
            </a:r>
          </a:p>
        </p:txBody>
      </p:sp>
      <p:sp>
        <p:nvSpPr>
          <p:cNvPr id="4" name="ZoneTexte 1">
            <a:extLst>
              <a:ext uri="{FF2B5EF4-FFF2-40B4-BE49-F238E27FC236}">
                <a16:creationId xmlns:a16="http://schemas.microsoft.com/office/drawing/2014/main" id="{546B679E-23A2-0BB9-D223-E0E9E3B71AA3}"/>
              </a:ext>
            </a:extLst>
          </p:cNvPr>
          <p:cNvSpPr txBox="1"/>
          <p:nvPr/>
        </p:nvSpPr>
        <p:spPr>
          <a:xfrm>
            <a:off x="723568" y="1261072"/>
            <a:ext cx="10801891" cy="4154984"/>
          </a:xfrm>
          <a:prstGeom prst="rect">
            <a:avLst/>
          </a:prstGeom>
          <a:noFill/>
          <a:ln>
            <a:solidFill>
              <a:schemeClr val="tx1">
                <a:lumMod val="50000"/>
              </a:schemeClr>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1. Allocation des cash-flow par bucket</a:t>
            </a:r>
          </a:p>
          <a:p>
            <a:r>
              <a:rPr lang="fr-FR" dirty="0">
                <a:solidFill>
                  <a:schemeClr val="tx1">
                    <a:lumMod val="50000"/>
                  </a:schemeClr>
                </a:solidFill>
                <a:latin typeface="Calibri (body)"/>
              </a:rPr>
              <a:t>	a. Identification des positions devant être remplacées sur l’horizon de projection</a:t>
            </a:r>
          </a:p>
          <a:p>
            <a:r>
              <a:rPr lang="fr-FR" dirty="0">
                <a:solidFill>
                  <a:schemeClr val="tx1">
                    <a:lumMod val="50000"/>
                  </a:schemeClr>
                </a:solidFill>
                <a:latin typeface="Calibri (body)"/>
              </a:rPr>
              <a:t>	b. Allocation des cash-flow remplacés dans les buckets associés</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2. Identification des flux alloués au calcul de la MNI</a:t>
            </a:r>
          </a:p>
          <a:p>
            <a:r>
              <a:rPr lang="fr-FR" dirty="0">
                <a:solidFill>
                  <a:schemeClr val="tx1">
                    <a:lumMod val="50000"/>
                  </a:schemeClr>
                </a:solidFill>
                <a:latin typeface="Calibri (body)"/>
              </a:rPr>
              <a:t>	a. Prise en compte </a:t>
            </a:r>
            <a:r>
              <a:rPr lang="fr-FR" b="1" dirty="0">
                <a:solidFill>
                  <a:schemeClr val="tx1">
                    <a:lumMod val="50000"/>
                  </a:schemeClr>
                </a:solidFill>
                <a:latin typeface="Calibri (body)"/>
              </a:rPr>
              <a:t>seulement des flux d’intérêts</a:t>
            </a:r>
          </a:p>
          <a:p>
            <a:r>
              <a:rPr lang="fr-FR" dirty="0">
                <a:solidFill>
                  <a:schemeClr val="tx1">
                    <a:lumMod val="50000"/>
                  </a:schemeClr>
                </a:solidFill>
                <a:latin typeface="Calibri (body)"/>
              </a:rPr>
              <a:t>	b. Non prise en compte des flux intervenant après la fin de la projection </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3. Calcul de la métrique en scénario baseline</a:t>
            </a:r>
          </a:p>
          <a:p>
            <a:r>
              <a:rPr lang="fr-FR" dirty="0">
                <a:solidFill>
                  <a:schemeClr val="tx1">
                    <a:lumMod val="50000"/>
                  </a:schemeClr>
                </a:solidFill>
                <a:latin typeface="Calibri (body)"/>
              </a:rPr>
              <a:t>	a. La MNI est calculée par </a:t>
            </a:r>
            <a:r>
              <a:rPr lang="fr-FR" b="1" dirty="0">
                <a:solidFill>
                  <a:schemeClr val="tx1">
                    <a:lumMod val="50000"/>
                  </a:schemeClr>
                </a:solidFill>
                <a:latin typeface="Calibri (body)"/>
              </a:rPr>
              <a:t>∑ produits d’intérêts - ∑ charges d’intérêts </a:t>
            </a:r>
            <a:r>
              <a:rPr lang="fr-FR" dirty="0">
                <a:solidFill>
                  <a:schemeClr val="tx1">
                    <a:lumMod val="50000"/>
                  </a:schemeClr>
                </a:solidFill>
                <a:latin typeface="Calibri (body)"/>
              </a:rPr>
              <a:t>sur l’horizon de projection</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4. Calcul de la métrique en scénario de stress</a:t>
            </a:r>
          </a:p>
          <a:p>
            <a:r>
              <a:rPr lang="fr-FR" dirty="0">
                <a:solidFill>
                  <a:schemeClr val="tx1">
                    <a:lumMod val="50000"/>
                  </a:schemeClr>
                </a:solidFill>
                <a:latin typeface="Calibri (body)"/>
              </a:rPr>
              <a:t>	a. Les taux choqués sont appliqués exclusivement sur la production nouvelle dans le cas d’encours à Taux Fixe (différent de 0).</a:t>
            </a:r>
          </a:p>
          <a:p>
            <a:r>
              <a:rPr lang="fr-FR" dirty="0">
                <a:solidFill>
                  <a:schemeClr val="tx1">
                    <a:lumMod val="50000"/>
                  </a:schemeClr>
                </a:solidFill>
                <a:latin typeface="Calibri (body)"/>
              </a:rPr>
              <a:t>	b. Dans le cas d’encours à Taux Révisable, les taux choqués sont appliqués à chaque refixation.</a:t>
            </a:r>
          </a:p>
          <a:p>
            <a:r>
              <a:rPr lang="fr-FR" dirty="0">
                <a:solidFill>
                  <a:schemeClr val="tx1">
                    <a:lumMod val="50000"/>
                  </a:schemeClr>
                </a:solidFill>
                <a:latin typeface="Calibri (body)"/>
              </a:rPr>
              <a:t>	c. Calcul de la métrique par </a:t>
            </a:r>
            <a:r>
              <a:rPr lang="fr-FR" b="1" dirty="0">
                <a:solidFill>
                  <a:schemeClr val="tx1">
                    <a:lumMod val="50000"/>
                  </a:schemeClr>
                </a:solidFill>
                <a:latin typeface="Calibri (body)"/>
              </a:rPr>
              <a:t>∑ produits d’intérêts - ∑ charges d’intérêts </a:t>
            </a:r>
            <a:endParaRPr lang="fr-FR" dirty="0">
              <a:solidFill>
                <a:schemeClr val="tx1">
                  <a:lumMod val="50000"/>
                </a:schemeClr>
              </a:solidFill>
              <a:latin typeface="Calibri (body)"/>
            </a:endParaRP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5. Calcul de la sensibilité de MNI</a:t>
            </a:r>
          </a:p>
          <a:p>
            <a:r>
              <a:rPr lang="fr-FR" dirty="0">
                <a:solidFill>
                  <a:schemeClr val="tx1">
                    <a:lumMod val="50000"/>
                  </a:schemeClr>
                </a:solidFill>
                <a:latin typeface="Calibri (body)"/>
              </a:rPr>
              <a:t>	a. La sensibilité de MNI est obtenue par : </a:t>
            </a:r>
            <a:r>
              <a:rPr lang="fr-FR" b="1" dirty="0">
                <a:solidFill>
                  <a:schemeClr val="tx1">
                    <a:lumMod val="50000"/>
                  </a:schemeClr>
                </a:solidFill>
                <a:latin typeface="Calibri (body)"/>
              </a:rPr>
              <a:t>MNI stressée – MNI </a:t>
            </a:r>
            <a:r>
              <a:rPr lang="fr-FR" b="1" dirty="0" err="1">
                <a:solidFill>
                  <a:schemeClr val="tx1">
                    <a:lumMod val="50000"/>
                  </a:schemeClr>
                </a:solidFill>
                <a:latin typeface="Calibri (body)"/>
              </a:rPr>
              <a:t>baseline</a:t>
            </a:r>
            <a:endParaRPr lang="fr-FR" b="1" dirty="0">
              <a:solidFill>
                <a:schemeClr val="tx1">
                  <a:lumMod val="50000"/>
                </a:schemeClr>
              </a:solidFill>
              <a:latin typeface="Calibri (body)"/>
            </a:endParaRPr>
          </a:p>
          <a:p>
            <a:endParaRPr lang="fr-FR" b="1" dirty="0">
              <a:solidFill>
                <a:schemeClr val="tx1">
                  <a:lumMod val="50000"/>
                </a:schemeClr>
              </a:solidFill>
              <a:latin typeface="Calibri (body)"/>
            </a:endParaRPr>
          </a:p>
        </p:txBody>
      </p:sp>
      <p:sp>
        <p:nvSpPr>
          <p:cNvPr id="2" name="Espace réservé du texte 16">
            <a:extLst>
              <a:ext uri="{FF2B5EF4-FFF2-40B4-BE49-F238E27FC236}">
                <a16:creationId xmlns:a16="http://schemas.microsoft.com/office/drawing/2014/main" id="{6F9C02F1-8DE6-C07A-FE4E-E93E912AF299}"/>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Tree>
    <p:extLst>
      <p:ext uri="{BB962C8B-B14F-4D97-AF65-F5344CB8AC3E}">
        <p14:creationId xmlns:p14="http://schemas.microsoft.com/office/powerpoint/2010/main" val="319079920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a- Méthodologie de calcul de la sensibilité de MNI (3)</a:t>
            </a:r>
          </a:p>
        </p:txBody>
      </p:sp>
      <p:sp>
        <p:nvSpPr>
          <p:cNvPr id="2" name="Espace réservé du texte 16">
            <a:extLst>
              <a:ext uri="{FF2B5EF4-FFF2-40B4-BE49-F238E27FC236}">
                <a16:creationId xmlns:a16="http://schemas.microsoft.com/office/drawing/2014/main" id="{6F9C02F1-8DE6-C07A-FE4E-E93E912AF299}"/>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
        <p:nvSpPr>
          <p:cNvPr id="5" name="ZoneTexte 6">
            <a:extLst>
              <a:ext uri="{FF2B5EF4-FFF2-40B4-BE49-F238E27FC236}">
                <a16:creationId xmlns:a16="http://schemas.microsoft.com/office/drawing/2014/main" id="{7CC9A848-F223-AFDB-34A5-51A1553F6D90}"/>
              </a:ext>
            </a:extLst>
          </p:cNvPr>
          <p:cNvSpPr txBox="1"/>
          <p:nvPr/>
        </p:nvSpPr>
        <p:spPr>
          <a:xfrm>
            <a:off x="356610" y="1155251"/>
            <a:ext cx="11478780" cy="3046988"/>
          </a:xfrm>
          <a:prstGeom prst="rect">
            <a:avLst/>
          </a:prstGeom>
          <a:noFill/>
          <a:ln>
            <a:solidFill>
              <a:schemeClr val="tx1">
                <a:lumMod val="50000"/>
              </a:schemeClr>
            </a:solidFill>
          </a:ln>
        </p:spPr>
        <p:txBody>
          <a:bodyPr wrap="square" rtlCol="0">
            <a:spAutoFit/>
          </a:bodyPr>
          <a:lstStyle/>
          <a:p>
            <a:endParaRPr lang="fr-FR" dirty="0">
              <a:solidFill>
                <a:schemeClr val="tx1">
                  <a:lumMod val="50000"/>
                </a:schemeClr>
              </a:solidFill>
              <a:latin typeface="Calibri (body)"/>
            </a:endParaRPr>
          </a:p>
          <a:p>
            <a:r>
              <a:rPr lang="fr-FR" b="1" dirty="0">
                <a:solidFill>
                  <a:schemeClr val="tx1">
                    <a:lumMod val="50000"/>
                  </a:schemeClr>
                </a:solidFill>
                <a:latin typeface="Calibri (body)"/>
              </a:rPr>
              <a:t>MNI</a:t>
            </a:r>
            <a:endParaRPr lang="fr-FR" dirty="0">
              <a:solidFill>
                <a:schemeClr val="tx1">
                  <a:lumMod val="50000"/>
                </a:schemeClr>
              </a:solidFill>
              <a:latin typeface="Calibri (body)"/>
            </a:endParaRPr>
          </a:p>
          <a:p>
            <a:endParaRPr lang="fr-FR" sz="1000" dirty="0">
              <a:solidFill>
                <a:schemeClr val="tx1">
                  <a:lumMod val="50000"/>
                </a:schemeClr>
              </a:solidFill>
              <a:latin typeface="Calibri (body)"/>
            </a:endParaRPr>
          </a:p>
          <a:p>
            <a:pPr marL="285750" indent="-285750">
              <a:buFont typeface="Wingdings" panose="05000000000000000000" pitchFamily="2" charset="2"/>
              <a:buChar char="è"/>
            </a:pPr>
            <a:r>
              <a:rPr lang="fr-FR" dirty="0">
                <a:solidFill>
                  <a:schemeClr val="tx1">
                    <a:lumMod val="50000"/>
                  </a:schemeClr>
                </a:solidFill>
                <a:latin typeface="Calibri (body)"/>
              </a:rPr>
              <a:t>Le calcul de la MNI est à réaliser seulement pour les opérations en devise significative</a:t>
            </a:r>
          </a:p>
          <a:p>
            <a:r>
              <a:rPr lang="fr-FR" dirty="0">
                <a:solidFill>
                  <a:schemeClr val="tx1">
                    <a:lumMod val="50000"/>
                  </a:schemeClr>
                </a:solidFill>
                <a:latin typeface="Calibri (body)"/>
              </a:rPr>
              <a:t>	</a:t>
            </a:r>
          </a:p>
          <a:p>
            <a:pPr marL="285750" indent="-285750">
              <a:buFont typeface="Wingdings" panose="05000000000000000000" pitchFamily="2" charset="2"/>
              <a:buChar char="è"/>
            </a:pPr>
            <a:r>
              <a:rPr lang="fr-FR" dirty="0">
                <a:solidFill>
                  <a:schemeClr val="tx1">
                    <a:lumMod val="50000"/>
                  </a:schemeClr>
                </a:solidFill>
                <a:latin typeface="Calibri (body)"/>
              </a:rPr>
              <a:t>En scénario dynamique la prise en compte du taux choqué correspond à la formule suivante : </a:t>
            </a:r>
            <a:endParaRPr lang="fr-FR" b="1" dirty="0">
              <a:solidFill>
                <a:schemeClr val="tx1">
                  <a:lumMod val="50000"/>
                </a:schemeClr>
              </a:solidFill>
              <a:latin typeface="Calibri (body)"/>
            </a:endParaRPr>
          </a:p>
          <a:p>
            <a:pPr lvl="1"/>
            <a:r>
              <a:rPr lang="fr-FR" dirty="0">
                <a:solidFill>
                  <a:schemeClr val="tx1">
                    <a:lumMod val="50000"/>
                  </a:schemeClr>
                </a:solidFill>
                <a:latin typeface="Calibri (body)"/>
              </a:rPr>
              <a:t>	</a:t>
            </a:r>
            <a:r>
              <a:rPr lang="fr-FR" u="sng" dirty="0">
                <a:solidFill>
                  <a:schemeClr val="tx1">
                    <a:lumMod val="50000"/>
                  </a:schemeClr>
                </a:solidFill>
                <a:latin typeface="Calibri (body)"/>
              </a:rPr>
              <a:t>La méthodologie adéquate est la suivante : </a:t>
            </a:r>
            <a:r>
              <a:rPr lang="fr-FR" b="1" dirty="0">
                <a:solidFill>
                  <a:schemeClr val="tx1">
                    <a:lumMod val="50000"/>
                  </a:schemeClr>
                </a:solidFill>
                <a:latin typeface="Calibri (body)"/>
              </a:rPr>
              <a:t>((Taux emprunt * (maturité/360))*Montant) + ((Taux choqué * ((360 - maturité)/360))*Montant)</a:t>
            </a:r>
          </a:p>
          <a:p>
            <a:pPr lvl="1"/>
            <a:endParaRPr lang="fr-FR" dirty="0">
              <a:solidFill>
                <a:schemeClr val="tx1">
                  <a:lumMod val="50000"/>
                </a:schemeClr>
              </a:solidFill>
              <a:latin typeface="Calibri (body)"/>
            </a:endParaRPr>
          </a:p>
          <a:p>
            <a:pPr lvl="1"/>
            <a:endParaRPr lang="fr-FR" dirty="0">
              <a:solidFill>
                <a:schemeClr val="tx1">
                  <a:lumMod val="50000"/>
                </a:schemeClr>
              </a:solidFill>
              <a:latin typeface="Calibri (body)"/>
            </a:endParaRPr>
          </a:p>
          <a:p>
            <a:pPr lvl="1"/>
            <a:endParaRPr lang="fr-FR" dirty="0">
              <a:solidFill>
                <a:schemeClr val="tx1">
                  <a:lumMod val="50000"/>
                </a:schemeClr>
              </a:solidFill>
              <a:latin typeface="Calibri (body)"/>
            </a:endParaRPr>
          </a:p>
          <a:p>
            <a:endParaRPr lang="fr-FR" dirty="0">
              <a:solidFill>
                <a:schemeClr val="tx1">
                  <a:lumMod val="50000"/>
                </a:schemeClr>
              </a:solidFill>
              <a:latin typeface="Calibri (body)"/>
            </a:endParaRPr>
          </a:p>
          <a:p>
            <a:endParaRPr lang="fr-FR" b="1" dirty="0">
              <a:solidFill>
                <a:schemeClr val="tx1">
                  <a:lumMod val="50000"/>
                </a:schemeClr>
              </a:solidFill>
              <a:latin typeface="Calibri (body)"/>
            </a:endParaRPr>
          </a:p>
          <a:p>
            <a:pPr marL="285750" indent="-285750">
              <a:buFont typeface="Wingdings" panose="05000000000000000000" pitchFamily="2" charset="2"/>
              <a:buChar char="è"/>
            </a:pPr>
            <a:r>
              <a:rPr lang="fr-FR" dirty="0">
                <a:solidFill>
                  <a:schemeClr val="tx1">
                    <a:lumMod val="50000"/>
                  </a:schemeClr>
                </a:solidFill>
                <a:latin typeface="Calibri (body)"/>
              </a:rPr>
              <a:t>Calcul d’intérêt sur les opérations à TF0%</a:t>
            </a:r>
          </a:p>
          <a:p>
            <a:pPr lvl="1"/>
            <a:r>
              <a:rPr lang="fr-FR" dirty="0">
                <a:solidFill>
                  <a:schemeClr val="tx1">
                    <a:lumMod val="50000"/>
                  </a:schemeClr>
                </a:solidFill>
                <a:latin typeface="Calibri (body)"/>
              </a:rPr>
              <a:t>	S’il s’agit d’un taux de 0% contractuel le choc sur les taux ne s’applique pas</a:t>
            </a:r>
          </a:p>
        </p:txBody>
      </p:sp>
      <p:sp>
        <p:nvSpPr>
          <p:cNvPr id="6" name="Left Bracket 5">
            <a:extLst>
              <a:ext uri="{FF2B5EF4-FFF2-40B4-BE49-F238E27FC236}">
                <a16:creationId xmlns:a16="http://schemas.microsoft.com/office/drawing/2014/main" id="{8B71055F-54D7-0497-50D2-26383F28B3DD}"/>
              </a:ext>
            </a:extLst>
          </p:cNvPr>
          <p:cNvSpPr/>
          <p:nvPr/>
        </p:nvSpPr>
        <p:spPr>
          <a:xfrm rot="16200000">
            <a:off x="5960985" y="1137218"/>
            <a:ext cx="374855" cy="3298497"/>
          </a:xfrm>
          <a:prstGeom prst="leftBracket">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7" name="Left Bracket 6">
            <a:extLst>
              <a:ext uri="{FF2B5EF4-FFF2-40B4-BE49-F238E27FC236}">
                <a16:creationId xmlns:a16="http://schemas.microsoft.com/office/drawing/2014/main" id="{45D1ACB8-848A-E344-601C-44D654EC55FB}"/>
              </a:ext>
            </a:extLst>
          </p:cNvPr>
          <p:cNvSpPr/>
          <p:nvPr/>
        </p:nvSpPr>
        <p:spPr>
          <a:xfrm rot="16200000">
            <a:off x="9629098" y="911308"/>
            <a:ext cx="374855" cy="3750316"/>
          </a:xfrm>
          <a:prstGeom prst="leftBracket">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8" name="TextBox 7">
            <a:extLst>
              <a:ext uri="{FF2B5EF4-FFF2-40B4-BE49-F238E27FC236}">
                <a16:creationId xmlns:a16="http://schemas.microsoft.com/office/drawing/2014/main" id="{A0A15F1D-F5C6-0D31-E606-8BFB7A2BD15C}"/>
              </a:ext>
            </a:extLst>
          </p:cNvPr>
          <p:cNvSpPr txBox="1"/>
          <p:nvPr/>
        </p:nvSpPr>
        <p:spPr>
          <a:xfrm>
            <a:off x="4561860" y="2986857"/>
            <a:ext cx="3068280" cy="523220"/>
          </a:xfrm>
          <a:prstGeom prst="rect">
            <a:avLst/>
          </a:prstGeom>
          <a:noFill/>
        </p:spPr>
        <p:txBody>
          <a:bodyPr wrap="square" rtlCol="0">
            <a:spAutoFit/>
          </a:bodyPr>
          <a:lstStyle/>
          <a:p>
            <a:r>
              <a:rPr lang="fr-FR" b="1" dirty="0">
                <a:solidFill>
                  <a:srgbClr val="FF0000"/>
                </a:solidFill>
                <a:latin typeface="Calibri (body)"/>
              </a:rPr>
              <a:t>Calcul d’intérêt sur la durée initiale de l’opération</a:t>
            </a:r>
          </a:p>
        </p:txBody>
      </p:sp>
      <p:sp>
        <p:nvSpPr>
          <p:cNvPr id="9" name="TextBox 8">
            <a:extLst>
              <a:ext uri="{FF2B5EF4-FFF2-40B4-BE49-F238E27FC236}">
                <a16:creationId xmlns:a16="http://schemas.microsoft.com/office/drawing/2014/main" id="{BC333268-7833-9789-6445-6FB3C5824C53}"/>
              </a:ext>
            </a:extLst>
          </p:cNvPr>
          <p:cNvSpPr txBox="1"/>
          <p:nvPr/>
        </p:nvSpPr>
        <p:spPr>
          <a:xfrm>
            <a:off x="8905152" y="2986857"/>
            <a:ext cx="2175387" cy="523220"/>
          </a:xfrm>
          <a:prstGeom prst="rect">
            <a:avLst/>
          </a:prstGeom>
          <a:noFill/>
        </p:spPr>
        <p:txBody>
          <a:bodyPr wrap="square" rtlCol="0">
            <a:spAutoFit/>
          </a:bodyPr>
          <a:lstStyle/>
          <a:p>
            <a:r>
              <a:rPr lang="fr-FR" b="1" dirty="0">
                <a:solidFill>
                  <a:srgbClr val="FF0000"/>
                </a:solidFill>
                <a:latin typeface="Calibri (body)"/>
              </a:rPr>
              <a:t>Calcul d’intérêt sur la production nouvelle</a:t>
            </a:r>
          </a:p>
        </p:txBody>
      </p:sp>
    </p:spTree>
    <p:extLst>
      <p:ext uri="{BB962C8B-B14F-4D97-AF65-F5344CB8AC3E}">
        <p14:creationId xmlns:p14="http://schemas.microsoft.com/office/powerpoint/2010/main" val="207720643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b- Méthodologie de calcul de la sensibilité d’EVE</a:t>
            </a:r>
          </a:p>
        </p:txBody>
      </p:sp>
      <p:sp>
        <p:nvSpPr>
          <p:cNvPr id="2" name="ZoneTexte 1">
            <a:extLst>
              <a:ext uri="{FF2B5EF4-FFF2-40B4-BE49-F238E27FC236}">
                <a16:creationId xmlns:a16="http://schemas.microsoft.com/office/drawing/2014/main" id="{AAA24981-6903-1657-181B-CF79FB22650E}"/>
              </a:ext>
            </a:extLst>
          </p:cNvPr>
          <p:cNvSpPr txBox="1"/>
          <p:nvPr/>
        </p:nvSpPr>
        <p:spPr>
          <a:xfrm>
            <a:off x="723568" y="1143936"/>
            <a:ext cx="10771746" cy="4308872"/>
          </a:xfrm>
          <a:prstGeom prst="rect">
            <a:avLst/>
          </a:prstGeom>
          <a:noFill/>
          <a:ln>
            <a:solidFill>
              <a:schemeClr val="tx1">
                <a:lumMod val="50000"/>
              </a:schemeClr>
            </a:solidFill>
          </a:ln>
        </p:spPr>
        <p:txBody>
          <a:bodyPr wrap="square" rtlCol="0">
            <a:spAutoFit/>
          </a:bodyPr>
          <a:lstStyle/>
          <a:p>
            <a:endParaRPr lang="fr-FR" u="sng" dirty="0">
              <a:solidFill>
                <a:schemeClr val="tx1">
                  <a:lumMod val="50000"/>
                </a:schemeClr>
              </a:solidFill>
              <a:latin typeface="Calibri (body)"/>
            </a:endParaRPr>
          </a:p>
          <a:p>
            <a:r>
              <a:rPr lang="fr-FR" u="sng" dirty="0">
                <a:solidFill>
                  <a:schemeClr val="tx1">
                    <a:lumMod val="50000"/>
                  </a:schemeClr>
                </a:solidFill>
                <a:latin typeface="Calibri (body)"/>
              </a:rPr>
              <a:t>L’approche EVE :</a:t>
            </a:r>
          </a:p>
          <a:p>
            <a:endParaRPr lang="fr-FR" sz="1000" u="sng" dirty="0">
              <a:solidFill>
                <a:schemeClr val="tx1">
                  <a:lumMod val="50000"/>
                </a:schemeClr>
              </a:solidFill>
              <a:latin typeface="Calibri (body)"/>
            </a:endParaRPr>
          </a:p>
          <a:p>
            <a:pPr marL="342900" indent="-342900">
              <a:buAutoNum type="arabicPeriod"/>
            </a:pPr>
            <a:r>
              <a:rPr lang="fr-FR" dirty="0">
                <a:solidFill>
                  <a:schemeClr val="tx1">
                    <a:lumMod val="50000"/>
                  </a:schemeClr>
                </a:solidFill>
                <a:latin typeface="Calibri (body)"/>
              </a:rPr>
              <a:t>Permet d’approximer la valeur des capitaux propres dans un scénario central</a:t>
            </a:r>
          </a:p>
          <a:p>
            <a:pPr marL="342900" indent="-342900">
              <a:buAutoNum type="arabicPeriod"/>
            </a:pPr>
            <a:r>
              <a:rPr lang="fr-FR" dirty="0">
                <a:solidFill>
                  <a:schemeClr val="tx1">
                    <a:lumMod val="50000"/>
                  </a:schemeClr>
                </a:solidFill>
                <a:latin typeface="Calibri (body)"/>
              </a:rPr>
              <a:t>Analyser l’impact des mouvements de taux sur la valorisation des capitaux propres</a:t>
            </a:r>
          </a:p>
          <a:p>
            <a:pPr marL="342900" indent="-342900">
              <a:buAutoNum type="arabicPeriod"/>
            </a:pPr>
            <a:r>
              <a:rPr lang="fr-FR" dirty="0">
                <a:solidFill>
                  <a:schemeClr val="tx1">
                    <a:lumMod val="50000"/>
                  </a:schemeClr>
                </a:solidFill>
                <a:latin typeface="Calibri (body)"/>
              </a:rPr>
              <a:t>Identifier les produits les plus sensibles aux mouvements de taux</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Le calcul de l’EVE et de sa sensibilité est réalisé sous une vue </a:t>
            </a:r>
            <a:r>
              <a:rPr lang="fr-FR" b="1" dirty="0">
                <a:solidFill>
                  <a:schemeClr val="tx1">
                    <a:lumMod val="50000"/>
                  </a:schemeClr>
                </a:solidFill>
                <a:latin typeface="Calibri (body)"/>
              </a:rPr>
              <a:t>« mort du bilan », </a:t>
            </a:r>
            <a:r>
              <a:rPr lang="fr-FR" dirty="0">
                <a:solidFill>
                  <a:schemeClr val="tx1">
                    <a:lumMod val="50000"/>
                  </a:schemeClr>
                </a:solidFill>
                <a:latin typeface="Calibri (body)"/>
              </a:rPr>
              <a:t>les encours arrivants à échéance ne sont pas remplacés à l’instar de la méthodologie de calcul de la MNI.</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Uniquement les flux </a:t>
            </a:r>
            <a:r>
              <a:rPr lang="fr-FR" b="1" dirty="0">
                <a:solidFill>
                  <a:schemeClr val="tx1">
                    <a:lumMod val="50000"/>
                  </a:schemeClr>
                </a:solidFill>
                <a:latin typeface="Calibri (body)"/>
              </a:rPr>
              <a:t>certains</a:t>
            </a:r>
            <a:r>
              <a:rPr lang="fr-FR" dirty="0">
                <a:solidFill>
                  <a:schemeClr val="tx1">
                    <a:lumMod val="50000"/>
                  </a:schemeClr>
                </a:solidFill>
                <a:latin typeface="Calibri (body)"/>
              </a:rPr>
              <a:t> entrent dans le calcul de l’EVE, on entend par là les flux dont le montant prochain est connu.</a:t>
            </a:r>
          </a:p>
          <a:p>
            <a:endParaRPr lang="fr-FR" sz="1000" dirty="0">
              <a:solidFill>
                <a:schemeClr val="tx1">
                  <a:lumMod val="50000"/>
                </a:schemeClr>
              </a:solidFill>
              <a:latin typeface="Calibri (body)"/>
            </a:endParaRPr>
          </a:p>
          <a:p>
            <a:r>
              <a:rPr lang="fr-FR" u="sng" dirty="0">
                <a:solidFill>
                  <a:schemeClr val="tx1">
                    <a:lumMod val="50000"/>
                  </a:schemeClr>
                </a:solidFill>
                <a:latin typeface="Calibri (body)"/>
              </a:rPr>
              <a:t>La sensibilité est calculée sur la base de 6 chocs réglementaires :</a:t>
            </a:r>
          </a:p>
          <a:p>
            <a:endParaRPr lang="fr-FR" sz="1000" u="sng" dirty="0">
              <a:solidFill>
                <a:schemeClr val="tx1">
                  <a:lumMod val="50000"/>
                </a:schemeClr>
              </a:solidFill>
              <a:latin typeface="Calibri (body)"/>
            </a:endParaRPr>
          </a:p>
          <a:p>
            <a:r>
              <a:rPr lang="fr-FR" dirty="0">
                <a:solidFill>
                  <a:schemeClr val="tx1">
                    <a:lumMod val="50000"/>
                  </a:schemeClr>
                </a:solidFill>
                <a:latin typeface="Calibri (body)"/>
              </a:rPr>
              <a:t>- Choc parallèle à la hausse (</a:t>
            </a:r>
            <a:r>
              <a:rPr lang="fr-FR" dirty="0" err="1">
                <a:solidFill>
                  <a:schemeClr val="tx1">
                    <a:lumMod val="50000"/>
                  </a:schemeClr>
                </a:solidFill>
                <a:latin typeface="Calibri (body)"/>
              </a:rPr>
              <a:t>parallel</a:t>
            </a:r>
            <a:r>
              <a:rPr lang="fr-FR" dirty="0">
                <a:solidFill>
                  <a:schemeClr val="tx1">
                    <a:lumMod val="50000"/>
                  </a:schemeClr>
                </a:solidFill>
                <a:latin typeface="Calibri (body)"/>
              </a:rPr>
              <a:t> up +200bps)</a:t>
            </a:r>
          </a:p>
          <a:p>
            <a:r>
              <a:rPr lang="fr-FR" dirty="0">
                <a:solidFill>
                  <a:schemeClr val="tx1">
                    <a:lumMod val="50000"/>
                  </a:schemeClr>
                </a:solidFill>
                <a:latin typeface="Calibri (body)"/>
              </a:rPr>
              <a:t>- Choc parallèle à la baisse (</a:t>
            </a:r>
            <a:r>
              <a:rPr lang="fr-FR" dirty="0" err="1">
                <a:solidFill>
                  <a:schemeClr val="tx1">
                    <a:lumMod val="50000"/>
                  </a:schemeClr>
                </a:solidFill>
                <a:latin typeface="Calibri (body)"/>
              </a:rPr>
              <a:t>parallel</a:t>
            </a:r>
            <a:r>
              <a:rPr lang="fr-FR" dirty="0">
                <a:solidFill>
                  <a:schemeClr val="tx1">
                    <a:lumMod val="50000"/>
                  </a:schemeClr>
                </a:solidFill>
                <a:latin typeface="Calibri (body)"/>
              </a:rPr>
              <a:t> down -200bps)</a:t>
            </a:r>
          </a:p>
          <a:p>
            <a:r>
              <a:rPr lang="fr-FR" dirty="0">
                <a:solidFill>
                  <a:schemeClr val="tx1">
                    <a:lumMod val="50000"/>
                  </a:schemeClr>
                </a:solidFill>
                <a:latin typeface="Calibri (body)"/>
              </a:rPr>
              <a:t>- Pentification (</a:t>
            </a:r>
            <a:r>
              <a:rPr lang="fr-FR" dirty="0" err="1">
                <a:solidFill>
                  <a:schemeClr val="tx1">
                    <a:lumMod val="50000"/>
                  </a:schemeClr>
                </a:solidFill>
                <a:latin typeface="Calibri (body)"/>
              </a:rPr>
              <a:t>steepener</a:t>
            </a:r>
            <a:r>
              <a:rPr lang="fr-FR" dirty="0">
                <a:solidFill>
                  <a:schemeClr val="tx1">
                    <a:lumMod val="50000"/>
                  </a:schemeClr>
                </a:solidFill>
                <a:latin typeface="Calibri (body)"/>
              </a:rPr>
              <a:t>)</a:t>
            </a:r>
          </a:p>
          <a:p>
            <a:r>
              <a:rPr lang="fr-FR" dirty="0">
                <a:solidFill>
                  <a:schemeClr val="tx1">
                    <a:lumMod val="50000"/>
                  </a:schemeClr>
                </a:solidFill>
                <a:latin typeface="Calibri (body)"/>
              </a:rPr>
              <a:t>- Aplatissement (</a:t>
            </a:r>
            <a:r>
              <a:rPr lang="fr-FR" dirty="0" err="1">
                <a:solidFill>
                  <a:schemeClr val="tx1">
                    <a:lumMod val="50000"/>
                  </a:schemeClr>
                </a:solidFill>
                <a:latin typeface="Calibri (body)"/>
              </a:rPr>
              <a:t>flattener</a:t>
            </a:r>
            <a:r>
              <a:rPr lang="fr-FR" dirty="0">
                <a:solidFill>
                  <a:schemeClr val="tx1">
                    <a:lumMod val="50000"/>
                  </a:schemeClr>
                </a:solidFill>
                <a:latin typeface="Calibri (body)"/>
              </a:rPr>
              <a:t>)</a:t>
            </a:r>
          </a:p>
          <a:p>
            <a:r>
              <a:rPr lang="fr-FR" dirty="0">
                <a:solidFill>
                  <a:schemeClr val="tx1">
                    <a:lumMod val="50000"/>
                  </a:schemeClr>
                </a:solidFill>
                <a:latin typeface="Calibri (body)"/>
              </a:rPr>
              <a:t>- Choc à la hausse des taux courts (short rates up)</a:t>
            </a:r>
          </a:p>
          <a:p>
            <a:r>
              <a:rPr lang="fr-FR" dirty="0">
                <a:solidFill>
                  <a:schemeClr val="tx1">
                    <a:lumMod val="50000"/>
                  </a:schemeClr>
                </a:solidFill>
                <a:latin typeface="Calibri (body)"/>
              </a:rPr>
              <a:t>- Choc à la baisse des taux courts (short rates down)</a:t>
            </a:r>
          </a:p>
          <a:p>
            <a:endParaRPr lang="fr-FR" dirty="0">
              <a:solidFill>
                <a:schemeClr val="tx1">
                  <a:lumMod val="50000"/>
                </a:schemeClr>
              </a:solidFill>
              <a:latin typeface="Calibri (body)"/>
            </a:endParaRPr>
          </a:p>
        </p:txBody>
      </p:sp>
      <p:sp>
        <p:nvSpPr>
          <p:cNvPr id="5" name="Espace réservé du texte 16">
            <a:extLst>
              <a:ext uri="{FF2B5EF4-FFF2-40B4-BE49-F238E27FC236}">
                <a16:creationId xmlns:a16="http://schemas.microsoft.com/office/drawing/2014/main" id="{87F17587-B6CB-84B5-81D8-53FAAD160901}"/>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Tree>
    <p:extLst>
      <p:ext uri="{BB962C8B-B14F-4D97-AF65-F5344CB8AC3E}">
        <p14:creationId xmlns:p14="http://schemas.microsoft.com/office/powerpoint/2010/main" val="309133765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b- Méthodologie de calcul de la sensibilité d’EVE</a:t>
            </a:r>
          </a:p>
        </p:txBody>
      </p:sp>
      <p:sp>
        <p:nvSpPr>
          <p:cNvPr id="4" name="ZoneTexte 1">
            <a:extLst>
              <a:ext uri="{FF2B5EF4-FFF2-40B4-BE49-F238E27FC236}">
                <a16:creationId xmlns:a16="http://schemas.microsoft.com/office/drawing/2014/main" id="{546B679E-23A2-0BB9-D223-E0E9E3B71AA3}"/>
              </a:ext>
            </a:extLst>
          </p:cNvPr>
          <p:cNvSpPr txBox="1"/>
          <p:nvPr/>
        </p:nvSpPr>
        <p:spPr>
          <a:xfrm>
            <a:off x="723568" y="1295647"/>
            <a:ext cx="10761698" cy="3724096"/>
          </a:xfrm>
          <a:prstGeom prst="rect">
            <a:avLst/>
          </a:prstGeom>
          <a:noFill/>
          <a:ln>
            <a:solidFill>
              <a:schemeClr val="tx1">
                <a:lumMod val="50000"/>
              </a:schemeClr>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1. Allocation des cash-flow par bucket</a:t>
            </a:r>
          </a:p>
          <a:p>
            <a:r>
              <a:rPr lang="fr-FR" dirty="0">
                <a:solidFill>
                  <a:schemeClr val="tx1">
                    <a:lumMod val="50000"/>
                  </a:schemeClr>
                </a:solidFill>
                <a:latin typeface="Calibri (body)"/>
              </a:rPr>
              <a:t>	a. Allocation des cash-flow dans les buckets associés</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2. Identification des flux alloués au calcul de la MNI</a:t>
            </a:r>
          </a:p>
          <a:p>
            <a:r>
              <a:rPr lang="fr-FR" dirty="0">
                <a:solidFill>
                  <a:schemeClr val="tx1">
                    <a:lumMod val="50000"/>
                  </a:schemeClr>
                </a:solidFill>
                <a:latin typeface="Calibri (body)"/>
              </a:rPr>
              <a:t>	a. Prise en compte </a:t>
            </a:r>
            <a:r>
              <a:rPr lang="fr-FR" b="1" dirty="0">
                <a:solidFill>
                  <a:schemeClr val="tx1">
                    <a:lumMod val="50000"/>
                  </a:schemeClr>
                </a:solidFill>
                <a:latin typeface="Calibri (body)"/>
              </a:rPr>
              <a:t>des flux d’intérêts et de capital</a:t>
            </a:r>
          </a:p>
          <a:p>
            <a:r>
              <a:rPr lang="fr-FR" dirty="0">
                <a:solidFill>
                  <a:schemeClr val="tx1">
                    <a:lumMod val="50000"/>
                  </a:schemeClr>
                </a:solidFill>
                <a:latin typeface="Calibri (body)"/>
              </a:rPr>
              <a:t>	b. Non prise en compte des flux incertains</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3. Calcul de la métrique en scénario baseline</a:t>
            </a:r>
          </a:p>
          <a:p>
            <a:r>
              <a:rPr lang="fr-FR" dirty="0">
                <a:solidFill>
                  <a:schemeClr val="tx1">
                    <a:lumMod val="50000"/>
                  </a:schemeClr>
                </a:solidFill>
                <a:latin typeface="Calibri (body)"/>
              </a:rPr>
              <a:t>	a. L’EVE est calculée par </a:t>
            </a:r>
            <a:r>
              <a:rPr lang="fr-FR" b="1" dirty="0">
                <a:solidFill>
                  <a:schemeClr val="tx1">
                    <a:lumMod val="50000"/>
                  </a:schemeClr>
                </a:solidFill>
                <a:latin typeface="Calibri (body)"/>
              </a:rPr>
              <a:t>∑</a:t>
            </a:r>
            <a:r>
              <a:rPr lang="fr-FR" dirty="0">
                <a:solidFill>
                  <a:schemeClr val="tx1">
                    <a:lumMod val="50000"/>
                  </a:schemeClr>
                </a:solidFill>
                <a:latin typeface="Calibri (body)"/>
              </a:rPr>
              <a:t>(</a:t>
            </a:r>
            <a:r>
              <a:rPr lang="fr-FR" b="1" dirty="0">
                <a:solidFill>
                  <a:schemeClr val="tx1">
                    <a:lumMod val="50000"/>
                  </a:schemeClr>
                </a:solidFill>
                <a:latin typeface="Calibri (body)"/>
              </a:rPr>
              <a:t>X/(1+i)^n) </a:t>
            </a:r>
            <a:r>
              <a:rPr lang="fr-FR" dirty="0">
                <a:solidFill>
                  <a:schemeClr val="tx1">
                    <a:lumMod val="50000"/>
                  </a:schemeClr>
                </a:solidFill>
                <a:latin typeface="Calibri (body)"/>
              </a:rPr>
              <a:t>où n est le </a:t>
            </a:r>
            <a:r>
              <a:rPr lang="fr-FR" dirty="0" err="1">
                <a:solidFill>
                  <a:schemeClr val="tx1">
                    <a:lumMod val="50000"/>
                  </a:schemeClr>
                </a:solidFill>
                <a:latin typeface="Calibri (body)"/>
              </a:rPr>
              <a:t>mid</a:t>
            </a:r>
            <a:r>
              <a:rPr lang="fr-FR" dirty="0">
                <a:solidFill>
                  <a:schemeClr val="tx1">
                    <a:lumMod val="50000"/>
                  </a:schemeClr>
                </a:solidFill>
                <a:latin typeface="Calibri (body)"/>
              </a:rPr>
              <a:t>-point bucket, i le taux en n et X le montant.</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4. Calcul de la métrique en scénario de stress</a:t>
            </a:r>
          </a:p>
          <a:p>
            <a:r>
              <a:rPr lang="fr-FR" dirty="0">
                <a:solidFill>
                  <a:schemeClr val="tx1">
                    <a:lumMod val="50000"/>
                  </a:schemeClr>
                </a:solidFill>
                <a:latin typeface="Calibri (body)"/>
              </a:rPr>
              <a:t>	a. Les taux choqués sont appliqués au i présent dans l’équation ci-dessus</a:t>
            </a:r>
          </a:p>
          <a:p>
            <a:r>
              <a:rPr lang="fr-FR" dirty="0">
                <a:solidFill>
                  <a:schemeClr val="tx1">
                    <a:lumMod val="50000"/>
                  </a:schemeClr>
                </a:solidFill>
                <a:latin typeface="Calibri (body)"/>
              </a:rPr>
              <a:t>	b. Calcul de la métrique par </a:t>
            </a:r>
            <a:r>
              <a:rPr lang="fr-FR" b="1" dirty="0">
                <a:solidFill>
                  <a:schemeClr val="tx1">
                    <a:lumMod val="50000"/>
                  </a:schemeClr>
                </a:solidFill>
                <a:latin typeface="Calibri (body)"/>
              </a:rPr>
              <a:t>∑(X/(1+i)^n)</a:t>
            </a:r>
          </a:p>
          <a:p>
            <a:endParaRPr lang="fr-FR" sz="1000" dirty="0">
              <a:solidFill>
                <a:schemeClr val="tx1">
                  <a:lumMod val="50000"/>
                </a:schemeClr>
              </a:solidFill>
              <a:latin typeface="Calibri (body)"/>
            </a:endParaRPr>
          </a:p>
          <a:p>
            <a:r>
              <a:rPr lang="fr-FR" dirty="0">
                <a:solidFill>
                  <a:schemeClr val="tx1">
                    <a:lumMod val="50000"/>
                  </a:schemeClr>
                </a:solidFill>
                <a:latin typeface="Calibri (body)"/>
              </a:rPr>
              <a:t>5. Calcul de la sensibilité d’EVE :</a:t>
            </a:r>
          </a:p>
          <a:p>
            <a:r>
              <a:rPr lang="fr-FR" dirty="0">
                <a:solidFill>
                  <a:schemeClr val="tx1">
                    <a:lumMod val="50000"/>
                  </a:schemeClr>
                </a:solidFill>
                <a:latin typeface="Calibri (body)"/>
              </a:rPr>
              <a:t>	a. La sensibilité d’EVE est obtenue par : </a:t>
            </a:r>
            <a:r>
              <a:rPr lang="fr-FR" b="1" dirty="0">
                <a:solidFill>
                  <a:schemeClr val="tx1">
                    <a:lumMod val="50000"/>
                  </a:schemeClr>
                </a:solidFill>
                <a:latin typeface="Calibri (body)"/>
              </a:rPr>
              <a:t>EVE stressée – EVE </a:t>
            </a:r>
            <a:r>
              <a:rPr lang="fr-FR" b="1" dirty="0" err="1">
                <a:solidFill>
                  <a:schemeClr val="tx1">
                    <a:lumMod val="50000"/>
                  </a:schemeClr>
                </a:solidFill>
                <a:latin typeface="Calibri (body)"/>
              </a:rPr>
              <a:t>baseline</a:t>
            </a:r>
            <a:endParaRPr lang="fr-FR" b="1" dirty="0">
              <a:solidFill>
                <a:schemeClr val="tx1">
                  <a:lumMod val="50000"/>
                </a:schemeClr>
              </a:solidFill>
              <a:latin typeface="Calibri (body)"/>
            </a:endParaRPr>
          </a:p>
          <a:p>
            <a:endParaRPr lang="fr-FR" b="1" dirty="0">
              <a:solidFill>
                <a:schemeClr val="tx1">
                  <a:lumMod val="50000"/>
                </a:schemeClr>
              </a:solidFill>
              <a:latin typeface="Calibri (body)"/>
            </a:endParaRPr>
          </a:p>
        </p:txBody>
      </p:sp>
      <p:sp>
        <p:nvSpPr>
          <p:cNvPr id="2" name="Espace réservé du texte 16">
            <a:extLst>
              <a:ext uri="{FF2B5EF4-FFF2-40B4-BE49-F238E27FC236}">
                <a16:creationId xmlns:a16="http://schemas.microsoft.com/office/drawing/2014/main" id="{14DF055D-5ACA-89FE-6028-575FBF11DEB9}"/>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Tree>
    <p:extLst>
      <p:ext uri="{BB962C8B-B14F-4D97-AF65-F5344CB8AC3E}">
        <p14:creationId xmlns:p14="http://schemas.microsoft.com/office/powerpoint/2010/main" val="193496096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c- Les chocs réglementaires – visualisations (taille de chocs en €)</a:t>
            </a: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2" name="Espace réservé du texte 16">
            <a:extLst>
              <a:ext uri="{FF2B5EF4-FFF2-40B4-BE49-F238E27FC236}">
                <a16:creationId xmlns:a16="http://schemas.microsoft.com/office/drawing/2014/main" id="{7928DA2F-804B-7577-248C-0505638A50A2}"/>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graphicFrame>
        <p:nvGraphicFramePr>
          <p:cNvPr id="6" name="Table 4">
            <a:extLst>
              <a:ext uri="{FF2B5EF4-FFF2-40B4-BE49-F238E27FC236}">
                <a16:creationId xmlns:a16="http://schemas.microsoft.com/office/drawing/2014/main" id="{4DD1CC42-6963-948F-4E2C-8E83F0FE5E20}"/>
              </a:ext>
            </a:extLst>
          </p:cNvPr>
          <p:cNvGraphicFramePr>
            <a:graphicFrameLocks noGrp="1"/>
          </p:cNvGraphicFramePr>
          <p:nvPr/>
        </p:nvGraphicFramePr>
        <p:xfrm>
          <a:off x="75569" y="2449590"/>
          <a:ext cx="4255800" cy="2377433"/>
        </p:xfrm>
        <a:graphic>
          <a:graphicData uri="http://schemas.openxmlformats.org/drawingml/2006/table">
            <a:tbl>
              <a:tblPr>
                <a:tableStyleId>{B407F83F-F4B1-428F-90E6-6AE17F0CE779}</a:tableStyleId>
              </a:tblPr>
              <a:tblGrid>
                <a:gridCol w="954477">
                  <a:extLst>
                    <a:ext uri="{9D8B030D-6E8A-4147-A177-3AD203B41FA5}">
                      <a16:colId xmlns:a16="http://schemas.microsoft.com/office/drawing/2014/main" val="3966443389"/>
                    </a:ext>
                  </a:extLst>
                </a:gridCol>
                <a:gridCol w="3301323">
                  <a:extLst>
                    <a:ext uri="{9D8B030D-6E8A-4147-A177-3AD203B41FA5}">
                      <a16:colId xmlns:a16="http://schemas.microsoft.com/office/drawing/2014/main" val="1157131375"/>
                    </a:ext>
                  </a:extLst>
                </a:gridCol>
              </a:tblGrid>
              <a:tr h="223907">
                <a:tc>
                  <a:txBody>
                    <a:bodyPr/>
                    <a:lstStyle/>
                    <a:p>
                      <a:pPr algn="ctr" rtl="0" fontAlgn="ctr"/>
                      <a:r>
                        <a:rPr lang="fr-FR" sz="1200" b="1" u="none" strike="noStrike" dirty="0">
                          <a:solidFill>
                            <a:schemeClr val="tx1">
                              <a:lumMod val="50000"/>
                            </a:schemeClr>
                          </a:solidFill>
                          <a:effectLst/>
                        </a:rPr>
                        <a:t>Scénarios</a:t>
                      </a:r>
                      <a:endParaRPr lang="fr-FR" sz="1200" b="1" i="0" u="none" strike="noStrike" dirty="0">
                        <a:solidFill>
                          <a:schemeClr val="tx1">
                            <a:lumMod val="50000"/>
                          </a:schemeClr>
                        </a:solidFill>
                        <a:effectLst/>
                        <a:latin typeface="Calibri" panose="020F0502020204030204" pitchFamily="34" charset="0"/>
                      </a:endParaRPr>
                    </a:p>
                  </a:txBody>
                  <a:tcPr marL="4334" marR="4334" marT="4334" marB="0" anchor="ctr"/>
                </a:tc>
                <a:tc>
                  <a:txBody>
                    <a:bodyPr/>
                    <a:lstStyle/>
                    <a:p>
                      <a:pPr algn="ctr" rtl="0" fontAlgn="ctr"/>
                      <a:r>
                        <a:rPr lang="en-US" sz="1200" b="1" i="0" u="none" strike="noStrike" dirty="0">
                          <a:solidFill>
                            <a:schemeClr val="tx1">
                              <a:lumMod val="50000"/>
                            </a:schemeClr>
                          </a:solidFill>
                          <a:effectLst/>
                          <a:latin typeface="Calibri" panose="020F0502020204030204" pitchFamily="34" charset="0"/>
                        </a:rPr>
                        <a:t>Impacts sur la courbe </a:t>
                      </a:r>
                      <a:r>
                        <a:rPr lang="en-US" sz="1200" b="1" i="0" u="none" strike="noStrike" dirty="0" err="1">
                          <a:solidFill>
                            <a:schemeClr val="tx1">
                              <a:lumMod val="50000"/>
                            </a:schemeClr>
                          </a:solidFill>
                          <a:effectLst/>
                          <a:latin typeface="Calibri" panose="020F0502020204030204" pitchFamily="34" charset="0"/>
                        </a:rPr>
                        <a:t>d’EVE</a:t>
                      </a:r>
                      <a:endParaRPr lang="fr-FR" sz="1200" b="1" i="0" u="none" strike="noStrike" dirty="0">
                        <a:solidFill>
                          <a:schemeClr val="tx1">
                            <a:lumMod val="50000"/>
                          </a:schemeClr>
                        </a:solidFill>
                        <a:effectLst/>
                        <a:latin typeface="Calibri" panose="020F0502020204030204" pitchFamily="34" charset="0"/>
                      </a:endParaRPr>
                    </a:p>
                  </a:txBody>
                  <a:tcPr marL="4334" marR="4334" marT="4334" marB="0" anchor="ctr"/>
                </a:tc>
                <a:extLst>
                  <a:ext uri="{0D108BD9-81ED-4DB2-BD59-A6C34878D82A}">
                    <a16:rowId xmlns:a16="http://schemas.microsoft.com/office/drawing/2014/main" val="918750223"/>
                  </a:ext>
                </a:extLst>
              </a:tr>
              <a:tr h="341745">
                <a:tc>
                  <a:txBody>
                    <a:bodyPr/>
                    <a:lstStyle/>
                    <a:p>
                      <a:pPr algn="l" rtl="0" fontAlgn="ctr"/>
                      <a:r>
                        <a:rPr lang="fr-FR" sz="1050" b="0" u="none" strike="noStrike" dirty="0">
                          <a:solidFill>
                            <a:schemeClr val="tx1">
                              <a:lumMod val="50000"/>
                            </a:schemeClr>
                          </a:solidFill>
                          <a:effectLst/>
                        </a:rPr>
                        <a:t>Parallel </a:t>
                      </a:r>
                      <a:r>
                        <a:rPr lang="fr-FR" sz="1050" b="0" u="none" strike="noStrike" dirty="0" err="1">
                          <a:solidFill>
                            <a:schemeClr val="tx1">
                              <a:lumMod val="50000"/>
                            </a:schemeClr>
                          </a:solidFill>
                          <a:effectLst/>
                        </a:rPr>
                        <a:t>shock</a:t>
                      </a:r>
                      <a:r>
                        <a:rPr lang="fr-FR" sz="1050" b="0" u="none" strike="noStrike" dirty="0">
                          <a:solidFill>
                            <a:schemeClr val="tx1">
                              <a:lumMod val="50000"/>
                            </a:schemeClr>
                          </a:solidFill>
                          <a:effectLst/>
                        </a:rPr>
                        <a:t> up</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000" b="0" i="0" u="none" strike="noStrike" dirty="0">
                        <a:solidFill>
                          <a:schemeClr val="tx1">
                            <a:lumMod val="50000"/>
                          </a:schemeClr>
                        </a:solidFill>
                        <a:effectLst/>
                        <a:latin typeface="+mn-lt"/>
                      </a:endParaRPr>
                    </a:p>
                  </a:txBody>
                  <a:tcPr marL="130023" marR="4334" marT="4334" marB="0" anchor="ctr"/>
                </a:tc>
                <a:extLst>
                  <a:ext uri="{0D108BD9-81ED-4DB2-BD59-A6C34878D82A}">
                    <a16:rowId xmlns:a16="http://schemas.microsoft.com/office/drawing/2014/main" val="827443021"/>
                  </a:ext>
                </a:extLst>
              </a:tr>
              <a:tr h="341745">
                <a:tc>
                  <a:txBody>
                    <a:bodyPr/>
                    <a:lstStyle/>
                    <a:p>
                      <a:pPr algn="l" rtl="0" fontAlgn="ctr"/>
                      <a:r>
                        <a:rPr lang="fr-FR" sz="1050" b="0" u="none" strike="noStrike" dirty="0">
                          <a:solidFill>
                            <a:schemeClr val="tx1">
                              <a:lumMod val="50000"/>
                            </a:schemeClr>
                          </a:solidFill>
                          <a:effectLst/>
                        </a:rPr>
                        <a:t>Parallel </a:t>
                      </a:r>
                      <a:r>
                        <a:rPr lang="fr-FR" sz="1050" b="0" u="none" strike="noStrike" dirty="0" err="1">
                          <a:solidFill>
                            <a:schemeClr val="tx1">
                              <a:lumMod val="50000"/>
                            </a:schemeClr>
                          </a:solidFill>
                          <a:effectLst/>
                        </a:rPr>
                        <a:t>shock</a:t>
                      </a:r>
                      <a:r>
                        <a:rPr lang="fr-FR" sz="1050" b="0" u="none" strike="noStrike" dirty="0">
                          <a:solidFill>
                            <a:schemeClr val="tx1">
                              <a:lumMod val="50000"/>
                            </a:schemeClr>
                          </a:solidFill>
                          <a:effectLst/>
                        </a:rPr>
                        <a:t> down</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400" b="0" i="0" u="none" strike="noStrike" dirty="0">
                        <a:solidFill>
                          <a:schemeClr val="tx1">
                            <a:lumMod val="50000"/>
                          </a:schemeClr>
                        </a:solidFill>
                        <a:effectLst/>
                        <a:latin typeface="+mn-lt"/>
                        <a:ea typeface="Calibri" panose="020F0502020204030204" pitchFamily="34" charset="0"/>
                        <a:cs typeface="Calibri" panose="020F0502020204030204" pitchFamily="34" charset="0"/>
                      </a:endParaRPr>
                    </a:p>
                  </a:txBody>
                  <a:tcPr marL="130023" marR="4334" marT="4334" marB="0" anchor="ctr"/>
                </a:tc>
                <a:extLst>
                  <a:ext uri="{0D108BD9-81ED-4DB2-BD59-A6C34878D82A}">
                    <a16:rowId xmlns:a16="http://schemas.microsoft.com/office/drawing/2014/main" val="3345877113"/>
                  </a:ext>
                </a:extLst>
              </a:tr>
              <a:tr h="367509">
                <a:tc>
                  <a:txBody>
                    <a:bodyPr/>
                    <a:lstStyle/>
                    <a:p>
                      <a:pPr algn="l" rtl="0" fontAlgn="ctr"/>
                      <a:r>
                        <a:rPr lang="en-US" sz="1050" b="0" u="none" strike="noStrike" dirty="0" err="1">
                          <a:solidFill>
                            <a:schemeClr val="tx1">
                              <a:lumMod val="50000"/>
                            </a:schemeClr>
                          </a:solidFill>
                          <a:effectLst/>
                        </a:rPr>
                        <a:t>Steepener</a:t>
                      </a:r>
                      <a:r>
                        <a:rPr lang="en-US" sz="1050" b="0" u="none" strike="noStrike" dirty="0">
                          <a:solidFill>
                            <a:schemeClr val="tx1">
                              <a:lumMod val="50000"/>
                            </a:schemeClr>
                          </a:solidFill>
                          <a:effectLst/>
                        </a:rPr>
                        <a:t> shock </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400" b="0" i="0" u="none" strike="noStrike" dirty="0">
                        <a:solidFill>
                          <a:schemeClr val="tx1">
                            <a:lumMod val="50000"/>
                          </a:schemeClr>
                        </a:solidFill>
                        <a:effectLst/>
                        <a:latin typeface="Calibri" panose="020F0502020204030204" pitchFamily="34" charset="0"/>
                        <a:ea typeface="Calibri" panose="020F0502020204030204" pitchFamily="34" charset="0"/>
                        <a:cs typeface="Calibri" panose="020F0502020204030204" pitchFamily="34" charset="0"/>
                      </a:endParaRPr>
                    </a:p>
                  </a:txBody>
                  <a:tcPr marL="130023" marR="4334" marT="4334" marB="0" anchor="ctr"/>
                </a:tc>
                <a:extLst>
                  <a:ext uri="{0D108BD9-81ED-4DB2-BD59-A6C34878D82A}">
                    <a16:rowId xmlns:a16="http://schemas.microsoft.com/office/drawing/2014/main" val="756068136"/>
                  </a:ext>
                </a:extLst>
              </a:tr>
              <a:tr h="367509">
                <a:tc>
                  <a:txBody>
                    <a:bodyPr/>
                    <a:lstStyle/>
                    <a:p>
                      <a:pPr algn="l" rtl="0" fontAlgn="ctr"/>
                      <a:r>
                        <a:rPr lang="en-US" sz="1050" b="0" u="none" strike="noStrike" dirty="0">
                          <a:solidFill>
                            <a:schemeClr val="tx1">
                              <a:lumMod val="50000"/>
                            </a:schemeClr>
                          </a:solidFill>
                          <a:effectLst/>
                        </a:rPr>
                        <a:t>Flattener shock</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400" b="0" i="0" u="none" strike="noStrike" dirty="0">
                        <a:solidFill>
                          <a:schemeClr val="tx1">
                            <a:lumMod val="50000"/>
                          </a:schemeClr>
                        </a:solidFill>
                        <a:effectLst/>
                        <a:latin typeface="Calibri" panose="020F0502020204030204" pitchFamily="34" charset="0"/>
                        <a:ea typeface="Calibri" panose="020F0502020204030204" pitchFamily="34" charset="0"/>
                        <a:cs typeface="Calibri" panose="020F0502020204030204" pitchFamily="34" charset="0"/>
                      </a:endParaRPr>
                    </a:p>
                  </a:txBody>
                  <a:tcPr marL="130023" marR="4334" marT="4334" marB="0" anchor="ctr"/>
                </a:tc>
                <a:extLst>
                  <a:ext uri="{0D108BD9-81ED-4DB2-BD59-A6C34878D82A}">
                    <a16:rowId xmlns:a16="http://schemas.microsoft.com/office/drawing/2014/main" val="2031974024"/>
                  </a:ext>
                </a:extLst>
              </a:tr>
              <a:tr h="367509">
                <a:tc>
                  <a:txBody>
                    <a:bodyPr/>
                    <a:lstStyle/>
                    <a:p>
                      <a:pPr algn="l" rtl="0" fontAlgn="ctr"/>
                      <a:r>
                        <a:rPr lang="en-US" sz="1050" b="0" u="none" strike="noStrike" dirty="0">
                          <a:solidFill>
                            <a:schemeClr val="tx1">
                              <a:lumMod val="50000"/>
                            </a:schemeClr>
                          </a:solidFill>
                          <a:effectLst/>
                        </a:rPr>
                        <a:t>Short rates up</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400" b="0" i="0" u="none" strike="noStrike" dirty="0">
                        <a:solidFill>
                          <a:schemeClr val="tx1">
                            <a:lumMod val="50000"/>
                          </a:schemeClr>
                        </a:solidFill>
                        <a:effectLst/>
                        <a:latin typeface="Calibri" panose="020F0502020204030204" pitchFamily="34" charset="0"/>
                        <a:ea typeface="Calibri" panose="020F0502020204030204" pitchFamily="34" charset="0"/>
                        <a:cs typeface="Calibri" panose="020F0502020204030204" pitchFamily="34" charset="0"/>
                      </a:endParaRPr>
                    </a:p>
                  </a:txBody>
                  <a:tcPr marL="130023" marR="4334" marT="4334" marB="0" anchor="ctr"/>
                </a:tc>
                <a:extLst>
                  <a:ext uri="{0D108BD9-81ED-4DB2-BD59-A6C34878D82A}">
                    <a16:rowId xmlns:a16="http://schemas.microsoft.com/office/drawing/2014/main" val="1482657536"/>
                  </a:ext>
                </a:extLst>
              </a:tr>
              <a:tr h="367509">
                <a:tc>
                  <a:txBody>
                    <a:bodyPr/>
                    <a:lstStyle/>
                    <a:p>
                      <a:pPr algn="l" rtl="0" fontAlgn="ctr"/>
                      <a:r>
                        <a:rPr lang="fr-FR" sz="1050" b="0" u="none" strike="noStrike" dirty="0">
                          <a:solidFill>
                            <a:schemeClr val="tx1">
                              <a:lumMod val="50000"/>
                            </a:schemeClr>
                          </a:solidFill>
                          <a:effectLst/>
                        </a:rPr>
                        <a:t>Short rates down</a:t>
                      </a:r>
                      <a:endParaRPr lang="fr-FR" sz="1050" b="0" i="0" u="none" strike="noStrike" dirty="0">
                        <a:solidFill>
                          <a:schemeClr val="tx1">
                            <a:lumMod val="50000"/>
                          </a:schemeClr>
                        </a:solidFill>
                        <a:effectLst/>
                        <a:latin typeface="Calibri" panose="020F0502020204030204" pitchFamily="34" charset="0"/>
                      </a:endParaRPr>
                    </a:p>
                  </a:txBody>
                  <a:tcPr marL="130023" marR="4334" marT="4334" marB="0" anchor="ctr"/>
                </a:tc>
                <a:tc>
                  <a:txBody>
                    <a:bodyPr/>
                    <a:lstStyle/>
                    <a:p>
                      <a:pPr algn="l" rtl="0" fontAlgn="ctr"/>
                      <a:endParaRPr lang="fr-FR" sz="1400" b="0" i="0" u="none" strike="noStrike" dirty="0">
                        <a:solidFill>
                          <a:schemeClr val="tx1">
                            <a:lumMod val="50000"/>
                          </a:schemeClr>
                        </a:solidFill>
                        <a:effectLst/>
                        <a:latin typeface="Calibri" panose="020F0502020204030204" pitchFamily="34" charset="0"/>
                        <a:ea typeface="Calibri" panose="020F0502020204030204" pitchFamily="34" charset="0"/>
                        <a:cs typeface="Calibri" panose="020F0502020204030204" pitchFamily="34" charset="0"/>
                      </a:endParaRPr>
                    </a:p>
                  </a:txBody>
                  <a:tcPr marL="130023" marR="4334" marT="4334" marB="0" anchor="ctr"/>
                </a:tc>
                <a:extLst>
                  <a:ext uri="{0D108BD9-81ED-4DB2-BD59-A6C34878D82A}">
                    <a16:rowId xmlns:a16="http://schemas.microsoft.com/office/drawing/2014/main" val="2495478716"/>
                  </a:ext>
                </a:extLst>
              </a:tr>
            </a:tbl>
          </a:graphicData>
        </a:graphic>
      </p:graphicFrame>
      <p:graphicFrame>
        <p:nvGraphicFramePr>
          <p:cNvPr id="13" name="Chart 12">
            <a:extLst>
              <a:ext uri="{FF2B5EF4-FFF2-40B4-BE49-F238E27FC236}">
                <a16:creationId xmlns:a16="http://schemas.microsoft.com/office/drawing/2014/main" id="{A8FC8057-B03C-5B3D-53E7-A22911FCFCDF}"/>
              </a:ext>
            </a:extLst>
          </p:cNvPr>
          <p:cNvGraphicFramePr>
            <a:graphicFrameLocks/>
          </p:cNvGraphicFramePr>
          <p:nvPr/>
        </p:nvGraphicFramePr>
        <p:xfrm>
          <a:off x="4408372" y="1434165"/>
          <a:ext cx="7661708" cy="4302492"/>
        </p:xfrm>
        <a:graphic>
          <a:graphicData uri="http://schemas.openxmlformats.org/drawingml/2006/chart">
            <c:chart xmlns:c="http://schemas.openxmlformats.org/drawingml/2006/chart" xmlns:r="http://schemas.openxmlformats.org/officeDocument/2006/relationships" r:id="rId7"/>
          </a:graphicData>
        </a:graphic>
      </p:graphicFrame>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CF0AF00E-D0CD-3464-8BD0-AF80BAEEB5BD}"/>
                  </a:ext>
                </a:extLst>
              </p:cNvPr>
              <p:cNvSpPr txBox="1"/>
              <p:nvPr/>
            </p:nvSpPr>
            <p:spPr>
              <a:xfrm>
                <a:off x="1093542" y="3410222"/>
                <a:ext cx="3073405" cy="281295"/>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fr-FR" sz="1000" b="0" i="1" smtClean="0">
                          <a:latin typeface="Cambria Math" panose="02040503050406030204" pitchFamily="18" charset="0"/>
                        </a:rPr>
                        <m:t>−0,65∗</m:t>
                      </m:r>
                      <m:d>
                        <m:dPr>
                          <m:ctrlPr>
                            <a:rPr lang="fr-FR" sz="1000" b="0" i="1" smtClean="0">
                              <a:latin typeface="Cambria Math" panose="02040503050406030204" pitchFamily="18" charset="0"/>
                            </a:rPr>
                          </m:ctrlPr>
                        </m:dPr>
                        <m:e>
                          <m:r>
                            <a:rPr lang="fr-FR" sz="1000" b="0" i="1" smtClean="0">
                              <a:latin typeface="Cambria Math" panose="02040503050406030204" pitchFamily="18" charset="0"/>
                            </a:rPr>
                            <m:t>𝑒</m:t>
                          </m:r>
                          <m:r>
                            <a:rPr lang="fr-FR" sz="1000" b="0" i="1" smtClean="0">
                              <a:latin typeface="Cambria Math" panose="02040503050406030204" pitchFamily="18" charset="0"/>
                            </a:rPr>
                            <m:t>(−</m:t>
                          </m:r>
                          <m:f>
                            <m:fPr>
                              <m:ctrlPr>
                                <a:rPr lang="fr-FR" sz="1000" b="0" i="1" smtClean="0">
                                  <a:latin typeface="Cambria Math" panose="02040503050406030204" pitchFamily="18" charset="0"/>
                                </a:rPr>
                              </m:ctrlPr>
                            </m:fPr>
                            <m:num>
                              <m:r>
                                <a:rPr lang="fr-FR" sz="1000" b="0" i="1" smtClean="0">
                                  <a:latin typeface="Cambria Math" panose="02040503050406030204" pitchFamily="18" charset="0"/>
                                </a:rPr>
                                <m:t>𝑡</m:t>
                              </m:r>
                            </m:num>
                            <m:den>
                              <m:r>
                                <a:rPr lang="fr-FR" sz="1000" b="0" i="1" smtClean="0">
                                  <a:latin typeface="Cambria Math" panose="02040503050406030204" pitchFamily="18" charset="0"/>
                                </a:rPr>
                                <m:t>4</m:t>
                              </m:r>
                            </m:den>
                          </m:f>
                          <m:r>
                            <a:rPr lang="fr-FR" sz="1000" b="0" i="1" smtClean="0">
                              <a:latin typeface="Cambria Math" panose="02040503050406030204" pitchFamily="18" charset="0"/>
                            </a:rPr>
                            <m:t>)</m:t>
                          </m:r>
                        </m:e>
                      </m:d>
                      <m:r>
                        <a:rPr lang="fr-FR" sz="1000" b="0" i="1" smtClean="0">
                          <a:latin typeface="Cambria Math" panose="02040503050406030204" pitchFamily="18" charset="0"/>
                        </a:rPr>
                        <m:t>∗250</m:t>
                      </m:r>
                      <m:r>
                        <a:rPr lang="fr-FR" sz="1000" b="0" i="1" smtClean="0">
                          <a:latin typeface="Cambria Math" panose="02040503050406030204" pitchFamily="18" charset="0"/>
                        </a:rPr>
                        <m:t>𝑏𝑝</m:t>
                      </m:r>
                      <m:r>
                        <a:rPr lang="fr-FR" sz="1000" b="0" i="1" smtClean="0">
                          <a:latin typeface="Cambria Math" panose="02040503050406030204" pitchFamily="18" charset="0"/>
                        </a:rPr>
                        <m:t>+0,9∗</m:t>
                      </m:r>
                      <m:d>
                        <m:dPr>
                          <m:ctrlPr>
                            <a:rPr lang="fr-FR" sz="1000" b="0" i="1" smtClean="0">
                              <a:latin typeface="Cambria Math" panose="02040503050406030204" pitchFamily="18" charset="0"/>
                            </a:rPr>
                          </m:ctrlPr>
                        </m:dPr>
                        <m:e>
                          <m:r>
                            <a:rPr lang="fr-FR" sz="1000" b="0" i="1" smtClean="0">
                              <a:latin typeface="Cambria Math" panose="02040503050406030204" pitchFamily="18" charset="0"/>
                            </a:rPr>
                            <m:t>1−</m:t>
                          </m:r>
                          <m:r>
                            <a:rPr lang="fr-FR" sz="1000" b="0" i="1" smtClean="0">
                              <a:latin typeface="Cambria Math" panose="02040503050406030204" pitchFamily="18" charset="0"/>
                            </a:rPr>
                            <m:t>𝑒</m:t>
                          </m:r>
                          <m:r>
                            <a:rPr lang="fr-FR" sz="1000" b="0" i="1" smtClean="0">
                              <a:latin typeface="Cambria Math" panose="02040503050406030204" pitchFamily="18" charset="0"/>
                            </a:rPr>
                            <m:t>(−</m:t>
                          </m:r>
                          <m:f>
                            <m:fPr>
                              <m:ctrlPr>
                                <a:rPr lang="fr-FR" sz="1000" b="0" i="1" smtClean="0">
                                  <a:latin typeface="Cambria Math" panose="02040503050406030204" pitchFamily="18" charset="0"/>
                                </a:rPr>
                              </m:ctrlPr>
                            </m:fPr>
                            <m:num>
                              <m:r>
                                <a:rPr lang="fr-FR" sz="1000" b="0" i="1" smtClean="0">
                                  <a:latin typeface="Cambria Math" panose="02040503050406030204" pitchFamily="18" charset="0"/>
                                </a:rPr>
                                <m:t>𝑡</m:t>
                              </m:r>
                            </m:num>
                            <m:den>
                              <m:r>
                                <a:rPr lang="fr-FR" sz="1000" b="0" i="1" smtClean="0">
                                  <a:latin typeface="Cambria Math" panose="02040503050406030204" pitchFamily="18" charset="0"/>
                                </a:rPr>
                                <m:t>4</m:t>
                              </m:r>
                            </m:den>
                          </m:f>
                          <m:r>
                            <a:rPr lang="fr-FR" sz="1000" b="0" i="1" smtClean="0">
                              <a:latin typeface="Cambria Math" panose="02040503050406030204" pitchFamily="18" charset="0"/>
                            </a:rPr>
                            <m:t>)</m:t>
                          </m:r>
                        </m:e>
                      </m:d>
                      <m:r>
                        <a:rPr lang="fr-FR" sz="1000" b="0" i="1" smtClean="0">
                          <a:latin typeface="Cambria Math" panose="02040503050406030204" pitchFamily="18" charset="0"/>
                        </a:rPr>
                        <m:t>∗100</m:t>
                      </m:r>
                      <m:r>
                        <a:rPr lang="fr-FR" sz="1000" b="0" i="1" smtClean="0">
                          <a:latin typeface="Cambria Math" panose="02040503050406030204" pitchFamily="18" charset="0"/>
                        </a:rPr>
                        <m:t>𝑏𝑝</m:t>
                      </m:r>
                    </m:oMath>
                  </m:oMathPara>
                </a14:m>
                <a:endParaRPr lang="fr-FR" sz="1000" dirty="0">
                  <a:latin typeface="+mn-lt"/>
                </a:endParaRPr>
              </a:p>
            </p:txBody>
          </p:sp>
        </mc:Choice>
        <mc:Fallback xmlns="">
          <p:sp>
            <p:nvSpPr>
              <p:cNvPr id="5" name="TextBox 4">
                <a:extLst>
                  <a:ext uri="{FF2B5EF4-FFF2-40B4-BE49-F238E27FC236}">
                    <a16:creationId xmlns:a16="http://schemas.microsoft.com/office/drawing/2014/main" id="{CF0AF00E-D0CD-3464-8BD0-AF80BAEEB5BD}"/>
                  </a:ext>
                </a:extLst>
              </p:cNvPr>
              <p:cNvSpPr txBox="1">
                <a:spLocks noRot="1" noChangeAspect="1" noMove="1" noResize="1" noEditPoints="1" noAdjustHandles="1" noChangeArrowheads="1" noChangeShapeType="1" noTextEdit="1"/>
              </p:cNvSpPr>
              <p:nvPr/>
            </p:nvSpPr>
            <p:spPr>
              <a:xfrm>
                <a:off x="1093542" y="3410222"/>
                <a:ext cx="3073405" cy="281295"/>
              </a:xfrm>
              <a:prstGeom prst="rect">
                <a:avLst/>
              </a:prstGeom>
              <a:blipFill>
                <a:blip r:embed="rId8"/>
                <a:stretch>
                  <a:fillRect t="-2128" r="-990" b="-12766"/>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F2B0C5B9-756D-01B2-D7A1-ABB9A1F1ED4B}"/>
                  </a:ext>
                </a:extLst>
              </p:cNvPr>
              <p:cNvSpPr txBox="1"/>
              <p:nvPr/>
            </p:nvSpPr>
            <p:spPr>
              <a:xfrm>
                <a:off x="1197608" y="3724387"/>
                <a:ext cx="2969339" cy="34580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fr-FR" sz="1000" b="0" i="1" smtClean="0">
                          <a:latin typeface="Cambria Math" panose="02040503050406030204" pitchFamily="18" charset="0"/>
                        </a:rPr>
                        <m:t>0,8∗</m:t>
                      </m:r>
                      <m:d>
                        <m:dPr>
                          <m:ctrlPr>
                            <a:rPr lang="fr-FR" sz="1000" b="0" i="1" smtClean="0">
                              <a:latin typeface="Cambria Math" panose="02040503050406030204" pitchFamily="18" charset="0"/>
                            </a:rPr>
                          </m:ctrlPr>
                        </m:dPr>
                        <m:e>
                          <m:r>
                            <a:rPr lang="fr-FR" sz="1000" b="0" i="1" smtClean="0">
                              <a:latin typeface="Cambria Math" panose="02040503050406030204" pitchFamily="18" charset="0"/>
                            </a:rPr>
                            <m:t>𝑒</m:t>
                          </m:r>
                          <m:d>
                            <m:dPr>
                              <m:ctrlPr>
                                <a:rPr lang="fr-FR" sz="1000" b="0" i="1" smtClean="0">
                                  <a:latin typeface="Cambria Math" panose="02040503050406030204" pitchFamily="18" charset="0"/>
                                </a:rPr>
                              </m:ctrlPr>
                            </m:dPr>
                            <m:e>
                              <m:r>
                                <a:rPr lang="fr-FR" sz="1000" b="0" i="1" smtClean="0">
                                  <a:latin typeface="Cambria Math" panose="02040503050406030204" pitchFamily="18" charset="0"/>
                                </a:rPr>
                                <m:t>−</m:t>
                              </m:r>
                              <m:f>
                                <m:fPr>
                                  <m:ctrlPr>
                                    <a:rPr lang="fr-FR" sz="1000" b="0" i="1" smtClean="0">
                                      <a:latin typeface="Cambria Math" panose="02040503050406030204" pitchFamily="18" charset="0"/>
                                    </a:rPr>
                                  </m:ctrlPr>
                                </m:fPr>
                                <m:num>
                                  <m:r>
                                    <a:rPr lang="fr-FR" sz="1000" b="0" i="1" smtClean="0">
                                      <a:latin typeface="Cambria Math" panose="02040503050406030204" pitchFamily="18" charset="0"/>
                                    </a:rPr>
                                    <m:t>𝑡</m:t>
                                  </m:r>
                                </m:num>
                                <m:den>
                                  <m:r>
                                    <a:rPr lang="fr-FR" sz="1000" b="0" i="1" smtClean="0">
                                      <a:latin typeface="Cambria Math" panose="02040503050406030204" pitchFamily="18" charset="0"/>
                                    </a:rPr>
                                    <m:t>4</m:t>
                                  </m:r>
                                </m:den>
                              </m:f>
                            </m:e>
                          </m:d>
                        </m:e>
                      </m:d>
                      <m:r>
                        <a:rPr lang="fr-FR" sz="1000" b="0" i="1" smtClean="0">
                          <a:latin typeface="Cambria Math" panose="02040503050406030204" pitchFamily="18" charset="0"/>
                        </a:rPr>
                        <m:t>∗250</m:t>
                      </m:r>
                      <m:r>
                        <a:rPr lang="fr-FR" sz="1000" b="0" i="1" smtClean="0">
                          <a:latin typeface="Cambria Math" panose="02040503050406030204" pitchFamily="18" charset="0"/>
                        </a:rPr>
                        <m:t>𝑏𝑝</m:t>
                      </m:r>
                      <m:r>
                        <a:rPr lang="fr-FR" sz="1000" b="0" i="1" smtClean="0">
                          <a:latin typeface="Cambria Math" panose="02040503050406030204" pitchFamily="18" charset="0"/>
                        </a:rPr>
                        <m:t>−0,6∗</m:t>
                      </m:r>
                      <m:d>
                        <m:dPr>
                          <m:ctrlPr>
                            <a:rPr lang="fr-FR" sz="1000" b="0" i="1" smtClean="0">
                              <a:latin typeface="Cambria Math" panose="02040503050406030204" pitchFamily="18" charset="0"/>
                            </a:rPr>
                          </m:ctrlPr>
                        </m:dPr>
                        <m:e>
                          <m:r>
                            <a:rPr lang="fr-FR" sz="1000" b="0" i="1" smtClean="0">
                              <a:latin typeface="Cambria Math" panose="02040503050406030204" pitchFamily="18" charset="0"/>
                            </a:rPr>
                            <m:t>1−</m:t>
                          </m:r>
                          <m:r>
                            <a:rPr lang="fr-FR" sz="1000" b="0" i="1" smtClean="0">
                              <a:latin typeface="Cambria Math" panose="02040503050406030204" pitchFamily="18" charset="0"/>
                            </a:rPr>
                            <m:t>𝑒</m:t>
                          </m:r>
                          <m:r>
                            <a:rPr lang="fr-FR" sz="1000" b="0" i="1" smtClean="0">
                              <a:latin typeface="Cambria Math" panose="02040503050406030204" pitchFamily="18" charset="0"/>
                            </a:rPr>
                            <m:t>(−</m:t>
                          </m:r>
                          <m:f>
                            <m:fPr>
                              <m:ctrlPr>
                                <a:rPr lang="fr-FR" sz="1000" b="0" i="1" smtClean="0">
                                  <a:latin typeface="Cambria Math" panose="02040503050406030204" pitchFamily="18" charset="0"/>
                                </a:rPr>
                              </m:ctrlPr>
                            </m:fPr>
                            <m:num>
                              <m:r>
                                <a:rPr lang="fr-FR" sz="1000" b="0" i="1" smtClean="0">
                                  <a:latin typeface="Cambria Math" panose="02040503050406030204" pitchFamily="18" charset="0"/>
                                </a:rPr>
                                <m:t>𝑡</m:t>
                              </m:r>
                            </m:num>
                            <m:den>
                              <m:r>
                                <a:rPr lang="fr-FR" sz="1000" b="0" i="1" smtClean="0">
                                  <a:latin typeface="Cambria Math" panose="02040503050406030204" pitchFamily="18" charset="0"/>
                                </a:rPr>
                                <m:t>4</m:t>
                              </m:r>
                            </m:den>
                          </m:f>
                          <m:r>
                            <a:rPr lang="fr-FR" sz="1000" b="0" i="1" smtClean="0">
                              <a:latin typeface="Cambria Math" panose="02040503050406030204" pitchFamily="18" charset="0"/>
                            </a:rPr>
                            <m:t>)</m:t>
                          </m:r>
                        </m:e>
                      </m:d>
                      <m:r>
                        <a:rPr lang="fr-FR" sz="1000" b="0" i="1" smtClean="0">
                          <a:latin typeface="Cambria Math" panose="02040503050406030204" pitchFamily="18" charset="0"/>
                        </a:rPr>
                        <m:t>∗100</m:t>
                      </m:r>
                      <m:r>
                        <a:rPr lang="fr-FR" sz="1000" b="0" i="1" smtClean="0">
                          <a:latin typeface="Cambria Math" panose="02040503050406030204" pitchFamily="18" charset="0"/>
                        </a:rPr>
                        <m:t>𝑏𝑝</m:t>
                      </m:r>
                    </m:oMath>
                  </m:oMathPara>
                </a14:m>
                <a:endParaRPr lang="fr-FR" sz="1000" dirty="0">
                  <a:latin typeface="+mn-lt"/>
                </a:endParaRPr>
              </a:p>
            </p:txBody>
          </p:sp>
        </mc:Choice>
        <mc:Fallback xmlns="">
          <p:sp>
            <p:nvSpPr>
              <p:cNvPr id="15" name="TextBox 14">
                <a:extLst>
                  <a:ext uri="{FF2B5EF4-FFF2-40B4-BE49-F238E27FC236}">
                    <a16:creationId xmlns:a16="http://schemas.microsoft.com/office/drawing/2014/main" id="{F2B0C5B9-756D-01B2-D7A1-ABB9A1F1ED4B}"/>
                  </a:ext>
                </a:extLst>
              </p:cNvPr>
              <p:cNvSpPr txBox="1">
                <a:spLocks noRot="1" noChangeAspect="1" noMove="1" noResize="1" noEditPoints="1" noAdjustHandles="1" noChangeArrowheads="1" noChangeShapeType="1" noTextEdit="1"/>
              </p:cNvSpPr>
              <p:nvPr/>
            </p:nvSpPr>
            <p:spPr>
              <a:xfrm>
                <a:off x="1197608" y="3724387"/>
                <a:ext cx="2969339" cy="345800"/>
              </a:xfrm>
              <a:prstGeom prst="rect">
                <a:avLst/>
              </a:prstGeom>
              <a:blipFill>
                <a:blip r:embed="rId9"/>
                <a:stretch>
                  <a:fillRect l="-410" r="-1025"/>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989F6AAB-D008-7A9F-B6BF-C9BA2B7EC3BB}"/>
                  </a:ext>
                </a:extLst>
              </p:cNvPr>
              <p:cNvSpPr txBox="1"/>
              <p:nvPr/>
            </p:nvSpPr>
            <p:spPr>
              <a:xfrm>
                <a:off x="1922711" y="4083308"/>
                <a:ext cx="1116781" cy="36311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d>
                        <m:dPr>
                          <m:ctrlPr>
                            <a:rPr lang="fr-FR" sz="1050" b="0" i="1" smtClean="0">
                              <a:latin typeface="Cambria Math" panose="02040503050406030204" pitchFamily="18" charset="0"/>
                            </a:rPr>
                          </m:ctrlPr>
                        </m:dPr>
                        <m:e>
                          <m:r>
                            <a:rPr lang="fr-FR" sz="1050" b="0" i="1" smtClean="0">
                              <a:latin typeface="Cambria Math" panose="02040503050406030204" pitchFamily="18" charset="0"/>
                            </a:rPr>
                            <m:t>𝑒</m:t>
                          </m:r>
                          <m:d>
                            <m:dPr>
                              <m:ctrlPr>
                                <a:rPr lang="fr-FR" sz="1050" b="0" i="1" smtClean="0">
                                  <a:latin typeface="Cambria Math" panose="02040503050406030204" pitchFamily="18" charset="0"/>
                                </a:rPr>
                              </m:ctrlPr>
                            </m:dPr>
                            <m:e>
                              <m:r>
                                <a:rPr lang="fr-FR" sz="1050" b="0" i="1" smtClean="0">
                                  <a:latin typeface="Cambria Math" panose="02040503050406030204" pitchFamily="18" charset="0"/>
                                </a:rPr>
                                <m:t>−</m:t>
                              </m:r>
                              <m:f>
                                <m:fPr>
                                  <m:ctrlPr>
                                    <a:rPr lang="fr-FR" sz="1050" b="0" i="1" smtClean="0">
                                      <a:latin typeface="Cambria Math" panose="02040503050406030204" pitchFamily="18" charset="0"/>
                                    </a:rPr>
                                  </m:ctrlPr>
                                </m:fPr>
                                <m:num>
                                  <m:r>
                                    <a:rPr lang="fr-FR" sz="1050" b="0" i="1" smtClean="0">
                                      <a:latin typeface="Cambria Math" panose="02040503050406030204" pitchFamily="18" charset="0"/>
                                    </a:rPr>
                                    <m:t>𝑡</m:t>
                                  </m:r>
                                </m:num>
                                <m:den>
                                  <m:r>
                                    <a:rPr lang="fr-FR" sz="1050" b="0" i="1" smtClean="0">
                                      <a:latin typeface="Cambria Math" panose="02040503050406030204" pitchFamily="18" charset="0"/>
                                    </a:rPr>
                                    <m:t>4</m:t>
                                  </m:r>
                                </m:den>
                              </m:f>
                            </m:e>
                          </m:d>
                        </m:e>
                      </m:d>
                      <m:r>
                        <a:rPr lang="fr-FR" sz="1050" b="0" i="1" smtClean="0">
                          <a:latin typeface="Cambria Math" panose="02040503050406030204" pitchFamily="18" charset="0"/>
                        </a:rPr>
                        <m:t>∗250</m:t>
                      </m:r>
                      <m:r>
                        <a:rPr lang="fr-FR" sz="1050" b="0" i="1" smtClean="0">
                          <a:latin typeface="Cambria Math" panose="02040503050406030204" pitchFamily="18" charset="0"/>
                        </a:rPr>
                        <m:t>𝑏𝑝</m:t>
                      </m:r>
                    </m:oMath>
                  </m:oMathPara>
                </a14:m>
                <a:endParaRPr lang="fr-FR" sz="1050" dirty="0">
                  <a:latin typeface="+mn-lt"/>
                </a:endParaRPr>
              </a:p>
            </p:txBody>
          </p:sp>
        </mc:Choice>
        <mc:Fallback xmlns="">
          <p:sp>
            <p:nvSpPr>
              <p:cNvPr id="16" name="TextBox 15">
                <a:extLst>
                  <a:ext uri="{FF2B5EF4-FFF2-40B4-BE49-F238E27FC236}">
                    <a16:creationId xmlns:a16="http://schemas.microsoft.com/office/drawing/2014/main" id="{989F6AAB-D008-7A9F-B6BF-C9BA2B7EC3BB}"/>
                  </a:ext>
                </a:extLst>
              </p:cNvPr>
              <p:cNvSpPr txBox="1">
                <a:spLocks noRot="1" noChangeAspect="1" noMove="1" noResize="1" noEditPoints="1" noAdjustHandles="1" noChangeArrowheads="1" noChangeShapeType="1" noTextEdit="1"/>
              </p:cNvSpPr>
              <p:nvPr/>
            </p:nvSpPr>
            <p:spPr>
              <a:xfrm>
                <a:off x="1922711" y="4083308"/>
                <a:ext cx="1116781" cy="363113"/>
              </a:xfrm>
              <a:prstGeom prst="rect">
                <a:avLst/>
              </a:prstGeom>
              <a:blipFill>
                <a:blip r:embed="rId10"/>
                <a:stretch>
                  <a:fillRect r="-2717" b="-1695"/>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C9556C02-8165-D4C8-0F02-090B38BED780}"/>
                  </a:ext>
                </a:extLst>
              </p:cNvPr>
              <p:cNvSpPr txBox="1"/>
              <p:nvPr/>
            </p:nvSpPr>
            <p:spPr>
              <a:xfrm>
                <a:off x="1922711" y="4427981"/>
                <a:ext cx="1246623" cy="36311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d>
                        <m:dPr>
                          <m:ctrlPr>
                            <a:rPr lang="fr-FR" sz="1050" b="0" i="1" smtClean="0">
                              <a:latin typeface="Cambria Math" panose="02040503050406030204" pitchFamily="18" charset="0"/>
                            </a:rPr>
                          </m:ctrlPr>
                        </m:dPr>
                        <m:e>
                          <m:r>
                            <a:rPr lang="fr-FR" sz="1050" b="0" i="1" smtClean="0">
                              <a:latin typeface="Cambria Math" panose="02040503050406030204" pitchFamily="18" charset="0"/>
                            </a:rPr>
                            <m:t>− </m:t>
                          </m:r>
                          <m:r>
                            <a:rPr lang="fr-FR" sz="1050" b="0" i="1" smtClean="0">
                              <a:latin typeface="Cambria Math" panose="02040503050406030204" pitchFamily="18" charset="0"/>
                            </a:rPr>
                            <m:t>𝑒</m:t>
                          </m:r>
                          <m:d>
                            <m:dPr>
                              <m:ctrlPr>
                                <a:rPr lang="fr-FR" sz="1050" b="0" i="1" smtClean="0">
                                  <a:latin typeface="Cambria Math" panose="02040503050406030204" pitchFamily="18" charset="0"/>
                                </a:rPr>
                              </m:ctrlPr>
                            </m:dPr>
                            <m:e>
                              <m:r>
                                <a:rPr lang="fr-FR" sz="1050" b="0" i="1" smtClean="0">
                                  <a:latin typeface="Cambria Math" panose="02040503050406030204" pitchFamily="18" charset="0"/>
                                </a:rPr>
                                <m:t>−</m:t>
                              </m:r>
                              <m:f>
                                <m:fPr>
                                  <m:ctrlPr>
                                    <a:rPr lang="fr-FR" sz="1050" b="0" i="1" smtClean="0">
                                      <a:latin typeface="Cambria Math" panose="02040503050406030204" pitchFamily="18" charset="0"/>
                                    </a:rPr>
                                  </m:ctrlPr>
                                </m:fPr>
                                <m:num>
                                  <m:r>
                                    <a:rPr lang="fr-FR" sz="1050" b="0" i="1" smtClean="0">
                                      <a:latin typeface="Cambria Math" panose="02040503050406030204" pitchFamily="18" charset="0"/>
                                    </a:rPr>
                                    <m:t>𝑡</m:t>
                                  </m:r>
                                </m:num>
                                <m:den>
                                  <m:r>
                                    <a:rPr lang="fr-FR" sz="1050" b="0" i="1" smtClean="0">
                                      <a:latin typeface="Cambria Math" panose="02040503050406030204" pitchFamily="18" charset="0"/>
                                    </a:rPr>
                                    <m:t>4</m:t>
                                  </m:r>
                                </m:den>
                              </m:f>
                            </m:e>
                          </m:d>
                        </m:e>
                      </m:d>
                      <m:r>
                        <a:rPr lang="fr-FR" sz="1050" b="0" i="1" smtClean="0">
                          <a:latin typeface="Cambria Math" panose="02040503050406030204" pitchFamily="18" charset="0"/>
                        </a:rPr>
                        <m:t>∗250</m:t>
                      </m:r>
                      <m:r>
                        <a:rPr lang="fr-FR" sz="1050" b="0" i="1" smtClean="0">
                          <a:latin typeface="Cambria Math" panose="02040503050406030204" pitchFamily="18" charset="0"/>
                        </a:rPr>
                        <m:t>𝑏𝑝</m:t>
                      </m:r>
                    </m:oMath>
                  </m:oMathPara>
                </a14:m>
                <a:endParaRPr lang="fr-FR" sz="1050" dirty="0">
                  <a:latin typeface="+mn-lt"/>
                </a:endParaRPr>
              </a:p>
            </p:txBody>
          </p:sp>
        </mc:Choice>
        <mc:Fallback xmlns="">
          <p:sp>
            <p:nvSpPr>
              <p:cNvPr id="19" name="TextBox 18">
                <a:extLst>
                  <a:ext uri="{FF2B5EF4-FFF2-40B4-BE49-F238E27FC236}">
                    <a16:creationId xmlns:a16="http://schemas.microsoft.com/office/drawing/2014/main" id="{C9556C02-8165-D4C8-0F02-090B38BED780}"/>
                  </a:ext>
                </a:extLst>
              </p:cNvPr>
              <p:cNvSpPr txBox="1">
                <a:spLocks noRot="1" noChangeAspect="1" noMove="1" noResize="1" noEditPoints="1" noAdjustHandles="1" noChangeArrowheads="1" noChangeShapeType="1" noTextEdit="1"/>
              </p:cNvSpPr>
              <p:nvPr/>
            </p:nvSpPr>
            <p:spPr>
              <a:xfrm>
                <a:off x="1922711" y="4427981"/>
                <a:ext cx="1246623" cy="363113"/>
              </a:xfrm>
              <a:prstGeom prst="rect">
                <a:avLst/>
              </a:prstGeom>
              <a:blipFill>
                <a:blip r:embed="rId11"/>
                <a:stretch>
                  <a:fillRect r="-2927"/>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AEACB2AE-9C77-C65E-A8EB-42E415D60E92}"/>
                  </a:ext>
                </a:extLst>
              </p:cNvPr>
              <p:cNvSpPr txBox="1"/>
              <p:nvPr/>
            </p:nvSpPr>
            <p:spPr>
              <a:xfrm>
                <a:off x="2094776" y="2823817"/>
                <a:ext cx="535468" cy="16158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fr-FR" sz="1050" b="0" i="1" smtClean="0">
                          <a:latin typeface="Cambria Math" panose="02040503050406030204" pitchFamily="18" charset="0"/>
                        </a:rPr>
                        <m:t>+ 200</m:t>
                      </m:r>
                      <m:r>
                        <a:rPr lang="fr-FR" sz="1050" b="0" i="1" smtClean="0">
                          <a:latin typeface="Cambria Math" panose="02040503050406030204" pitchFamily="18" charset="0"/>
                        </a:rPr>
                        <m:t>𝑏𝑝</m:t>
                      </m:r>
                    </m:oMath>
                  </m:oMathPara>
                </a14:m>
                <a:endParaRPr lang="fr-FR" sz="1050" dirty="0">
                  <a:latin typeface="+mn-lt"/>
                </a:endParaRPr>
              </a:p>
            </p:txBody>
          </p:sp>
        </mc:Choice>
        <mc:Fallback xmlns="">
          <p:sp>
            <p:nvSpPr>
              <p:cNvPr id="21" name="TextBox 20">
                <a:extLst>
                  <a:ext uri="{FF2B5EF4-FFF2-40B4-BE49-F238E27FC236}">
                    <a16:creationId xmlns:a16="http://schemas.microsoft.com/office/drawing/2014/main" id="{AEACB2AE-9C77-C65E-A8EB-42E415D60E92}"/>
                  </a:ext>
                </a:extLst>
              </p:cNvPr>
              <p:cNvSpPr txBox="1">
                <a:spLocks noRot="1" noChangeAspect="1" noMove="1" noResize="1" noEditPoints="1" noAdjustHandles="1" noChangeArrowheads="1" noChangeShapeType="1" noTextEdit="1"/>
              </p:cNvSpPr>
              <p:nvPr/>
            </p:nvSpPr>
            <p:spPr>
              <a:xfrm>
                <a:off x="2094776" y="2823817"/>
                <a:ext cx="535468" cy="161583"/>
              </a:xfrm>
              <a:prstGeom prst="rect">
                <a:avLst/>
              </a:prstGeom>
              <a:blipFill>
                <a:blip r:embed="rId12"/>
                <a:stretch>
                  <a:fillRect l="-4598" t="-3704" r="-9195" b="-37037"/>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E170AE80-2E91-7844-A9FB-029D09266565}"/>
                  </a:ext>
                </a:extLst>
              </p:cNvPr>
              <p:cNvSpPr txBox="1"/>
              <p:nvPr/>
            </p:nvSpPr>
            <p:spPr>
              <a:xfrm>
                <a:off x="2109203" y="3157094"/>
                <a:ext cx="506614" cy="16158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fr-FR" sz="1050" b="0" i="1" smtClean="0">
                          <a:latin typeface="Cambria Math" panose="02040503050406030204" pitchFamily="18" charset="0"/>
                        </a:rPr>
                        <m:t>−200</m:t>
                      </m:r>
                      <m:r>
                        <a:rPr lang="fr-FR" sz="1050" b="0" i="1" smtClean="0">
                          <a:latin typeface="Cambria Math" panose="02040503050406030204" pitchFamily="18" charset="0"/>
                        </a:rPr>
                        <m:t>𝑏𝑝</m:t>
                      </m:r>
                    </m:oMath>
                  </m:oMathPara>
                </a14:m>
                <a:endParaRPr lang="fr-FR" sz="1050" dirty="0">
                  <a:latin typeface="+mn-lt"/>
                </a:endParaRPr>
              </a:p>
            </p:txBody>
          </p:sp>
        </mc:Choice>
        <mc:Fallback xmlns="">
          <p:sp>
            <p:nvSpPr>
              <p:cNvPr id="22" name="TextBox 21">
                <a:extLst>
                  <a:ext uri="{FF2B5EF4-FFF2-40B4-BE49-F238E27FC236}">
                    <a16:creationId xmlns:a16="http://schemas.microsoft.com/office/drawing/2014/main" id="{E170AE80-2E91-7844-A9FB-029D09266565}"/>
                  </a:ext>
                </a:extLst>
              </p:cNvPr>
              <p:cNvSpPr txBox="1">
                <a:spLocks noRot="1" noChangeAspect="1" noMove="1" noResize="1" noEditPoints="1" noAdjustHandles="1" noChangeArrowheads="1" noChangeShapeType="1" noTextEdit="1"/>
              </p:cNvSpPr>
              <p:nvPr/>
            </p:nvSpPr>
            <p:spPr>
              <a:xfrm>
                <a:off x="2109203" y="3157094"/>
                <a:ext cx="506614" cy="161583"/>
              </a:xfrm>
              <a:prstGeom prst="rect">
                <a:avLst/>
              </a:prstGeom>
              <a:blipFill>
                <a:blip r:embed="rId13"/>
                <a:stretch>
                  <a:fillRect l="-1205" t="-3846" r="-8434" b="-42308"/>
                </a:stretch>
              </a:blipFill>
            </p:spPr>
            <p:txBody>
              <a:bodyPr/>
              <a:lstStyle/>
              <a:p>
                <a:r>
                  <a:rPr lang="fr-FR">
                    <a:noFill/>
                  </a:rPr>
                  <a:t> </a:t>
                </a:r>
              </a:p>
            </p:txBody>
          </p:sp>
        </mc:Fallback>
      </mc:AlternateContent>
    </p:spTree>
    <p:extLst>
      <p:ext uri="{BB962C8B-B14F-4D97-AF65-F5344CB8AC3E}">
        <p14:creationId xmlns:p14="http://schemas.microsoft.com/office/powerpoint/2010/main" val="254148166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CD4F5CBA-573F-C24E-2FF8-B95C7A4F103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17" name="think-cell data - do not delete" hidden="1">
                        <a:extLst>
                          <a:ext uri="{FF2B5EF4-FFF2-40B4-BE49-F238E27FC236}">
                            <a16:creationId xmlns:a16="http://schemas.microsoft.com/office/drawing/2014/main" id="{CD4F5CBA-573F-C24E-2FF8-B95C7A4F103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6"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Méthodologie de calcul des indicateurs</a:t>
            </a:r>
          </a:p>
          <a:p>
            <a:pPr>
              <a:spcBef>
                <a:spcPts val="0"/>
              </a:spcBef>
              <a:defRPr/>
            </a:pPr>
            <a:r>
              <a:rPr lang="fr-FR" sz="1800" dirty="0">
                <a:latin typeface="Calibri"/>
                <a:cs typeface="Calibri"/>
              </a:rPr>
              <a:t>d- Taille des chocs réglementaires par devise</a:t>
            </a:r>
          </a:p>
        </p:txBody>
      </p:sp>
      <p:sp>
        <p:nvSpPr>
          <p:cNvPr id="18" name="Rectangle 17">
            <a:extLst>
              <a:ext uri="{FF2B5EF4-FFF2-40B4-BE49-F238E27FC236}">
                <a16:creationId xmlns:a16="http://schemas.microsoft.com/office/drawing/2014/main" id="{95979EDC-0659-D785-164E-B6F8BCBAD42D}"/>
              </a:ext>
            </a:extLst>
          </p:cNvPr>
          <p:cNvSpPr/>
          <p:nvPr/>
        </p:nvSpPr>
        <p:spPr>
          <a:xfrm>
            <a:off x="89887" y="6243829"/>
            <a:ext cx="597310" cy="5232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2" name="Espace réservé du texte 16">
            <a:extLst>
              <a:ext uri="{FF2B5EF4-FFF2-40B4-BE49-F238E27FC236}">
                <a16:creationId xmlns:a16="http://schemas.microsoft.com/office/drawing/2014/main" id="{7928DA2F-804B-7577-248C-0505638A50A2}"/>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
        <p:nvSpPr>
          <p:cNvPr id="4" name="ZoneTexte 1">
            <a:extLst>
              <a:ext uri="{FF2B5EF4-FFF2-40B4-BE49-F238E27FC236}">
                <a16:creationId xmlns:a16="http://schemas.microsoft.com/office/drawing/2014/main" id="{2FF0BDCD-5818-4975-399E-F89FCDB3A024}"/>
              </a:ext>
            </a:extLst>
          </p:cNvPr>
          <p:cNvSpPr txBox="1"/>
          <p:nvPr/>
        </p:nvSpPr>
        <p:spPr>
          <a:xfrm>
            <a:off x="569564" y="910780"/>
            <a:ext cx="10761698" cy="1815882"/>
          </a:xfrm>
          <a:prstGeom prst="rect">
            <a:avLst/>
          </a:prstGeom>
          <a:noFill/>
          <a:ln>
            <a:solidFill>
              <a:schemeClr val="tx1">
                <a:lumMod val="50000"/>
              </a:schemeClr>
            </a:solidFill>
          </a:ln>
        </p:spPr>
        <p:txBody>
          <a:bodyPr wrap="square" rtlCol="0">
            <a:spAutoFit/>
          </a:bodyPr>
          <a:lstStyle/>
          <a:p>
            <a:endParaRPr lang="fr-FR" dirty="0">
              <a:solidFill>
                <a:schemeClr val="tx1">
                  <a:lumMod val="50000"/>
                </a:schemeClr>
              </a:solidFill>
              <a:latin typeface="Calibri (body)"/>
            </a:endParaRPr>
          </a:p>
          <a:p>
            <a:r>
              <a:rPr lang="fr-FR" dirty="0">
                <a:solidFill>
                  <a:schemeClr val="tx1">
                    <a:lumMod val="50000"/>
                  </a:schemeClr>
                </a:solidFill>
                <a:latin typeface="Calibri (body)"/>
              </a:rPr>
              <a:t>Dans le calcul des chocs réglementaires à introduire dans le calcul des différentes métriques il est important de préciser que la </a:t>
            </a:r>
            <a:r>
              <a:rPr lang="fr-FR" b="1" dirty="0">
                <a:solidFill>
                  <a:schemeClr val="tx1">
                    <a:lumMod val="50000"/>
                  </a:schemeClr>
                </a:solidFill>
                <a:latin typeface="Calibri (body)"/>
              </a:rPr>
              <a:t>taille des chocs à appliquer est différenciée par devise.</a:t>
            </a:r>
          </a:p>
          <a:p>
            <a:r>
              <a:rPr lang="fr-FR" dirty="0">
                <a:solidFill>
                  <a:schemeClr val="tx1">
                    <a:lumMod val="50000"/>
                  </a:schemeClr>
                </a:solidFill>
                <a:latin typeface="Calibri (body)"/>
              </a:rPr>
              <a:t>La taille de choc à appliquer pour la devise XXX est à retrouver dans le tableau ci-dessous.</a:t>
            </a:r>
          </a:p>
          <a:p>
            <a:endParaRPr lang="fr-FR" dirty="0">
              <a:solidFill>
                <a:schemeClr val="tx1">
                  <a:lumMod val="50000"/>
                </a:schemeClr>
              </a:solidFill>
              <a:latin typeface="Calibri (body)"/>
            </a:endParaRPr>
          </a:p>
          <a:p>
            <a:r>
              <a:rPr lang="fr-FR" b="1" dirty="0">
                <a:solidFill>
                  <a:schemeClr val="tx1">
                    <a:lumMod val="50000"/>
                  </a:schemeClr>
                </a:solidFill>
                <a:latin typeface="Calibri (body)"/>
              </a:rPr>
              <a:t>Ex: </a:t>
            </a:r>
          </a:p>
          <a:p>
            <a:r>
              <a:rPr lang="fr-FR" dirty="0">
                <a:solidFill>
                  <a:schemeClr val="tx1">
                    <a:lumMod val="50000"/>
                  </a:schemeClr>
                </a:solidFill>
                <a:latin typeface="Calibri (body)"/>
              </a:rPr>
              <a:t>Sur les chocs parallèles </a:t>
            </a:r>
            <a:r>
              <a:rPr lang="fr-FR" b="1" dirty="0">
                <a:solidFill>
                  <a:schemeClr val="tx1">
                    <a:lumMod val="50000"/>
                  </a:schemeClr>
                </a:solidFill>
                <a:latin typeface="Calibri (body)"/>
              </a:rPr>
              <a:t>en €</a:t>
            </a:r>
            <a:r>
              <a:rPr lang="fr-FR" dirty="0">
                <a:solidFill>
                  <a:schemeClr val="tx1">
                    <a:lumMod val="50000"/>
                  </a:schemeClr>
                </a:solidFill>
                <a:latin typeface="Calibri (body)"/>
              </a:rPr>
              <a:t> on va appliquer </a:t>
            </a:r>
            <a:r>
              <a:rPr lang="fr-FR" b="1" dirty="0">
                <a:solidFill>
                  <a:schemeClr val="tx1">
                    <a:lumMod val="50000"/>
                  </a:schemeClr>
                </a:solidFill>
                <a:latin typeface="Calibri (body)"/>
              </a:rPr>
              <a:t>+200/-200bps</a:t>
            </a:r>
          </a:p>
          <a:p>
            <a:r>
              <a:rPr lang="fr-FR" dirty="0">
                <a:solidFill>
                  <a:schemeClr val="tx1">
                    <a:lumMod val="50000"/>
                  </a:schemeClr>
                </a:solidFill>
                <a:latin typeface="Calibri (body)"/>
              </a:rPr>
              <a:t>Sur les chocs parallèles </a:t>
            </a:r>
            <a:r>
              <a:rPr lang="fr-FR" b="1" dirty="0">
                <a:solidFill>
                  <a:schemeClr val="tx1">
                    <a:lumMod val="50000"/>
                  </a:schemeClr>
                </a:solidFill>
                <a:latin typeface="Calibri (body)"/>
              </a:rPr>
              <a:t>en £</a:t>
            </a:r>
            <a:r>
              <a:rPr lang="fr-FR" dirty="0">
                <a:solidFill>
                  <a:schemeClr val="tx1">
                    <a:lumMod val="50000"/>
                  </a:schemeClr>
                </a:solidFill>
                <a:latin typeface="Calibri (body)"/>
              </a:rPr>
              <a:t> on va appliquer </a:t>
            </a:r>
            <a:r>
              <a:rPr lang="fr-FR" b="1" dirty="0">
                <a:solidFill>
                  <a:schemeClr val="tx1">
                    <a:lumMod val="50000"/>
                  </a:schemeClr>
                </a:solidFill>
                <a:latin typeface="Calibri (body)"/>
              </a:rPr>
              <a:t>+250/-250bps</a:t>
            </a:r>
          </a:p>
        </p:txBody>
      </p:sp>
      <p:pic>
        <p:nvPicPr>
          <p:cNvPr id="14" name="Picture 13">
            <a:extLst>
              <a:ext uri="{FF2B5EF4-FFF2-40B4-BE49-F238E27FC236}">
                <a16:creationId xmlns:a16="http://schemas.microsoft.com/office/drawing/2014/main" id="{2D310C28-AEA9-3F08-2AC2-8AB37E36346B}"/>
              </a:ext>
            </a:extLst>
          </p:cNvPr>
          <p:cNvPicPr>
            <a:picLocks noChangeAspect="1"/>
          </p:cNvPicPr>
          <p:nvPr/>
        </p:nvPicPr>
        <p:blipFill>
          <a:blip r:embed="rId7"/>
          <a:stretch>
            <a:fillRect/>
          </a:stretch>
        </p:blipFill>
        <p:spPr>
          <a:xfrm>
            <a:off x="2767241" y="3018275"/>
            <a:ext cx="6116877" cy="3405891"/>
          </a:xfrm>
          <a:prstGeom prst="rect">
            <a:avLst/>
          </a:prstGeom>
          <a:ln>
            <a:solidFill>
              <a:schemeClr val="accent1"/>
            </a:solidFill>
          </a:ln>
        </p:spPr>
      </p:pic>
    </p:spTree>
    <p:extLst>
      <p:ext uri="{BB962C8B-B14F-4D97-AF65-F5344CB8AC3E}">
        <p14:creationId xmlns:p14="http://schemas.microsoft.com/office/powerpoint/2010/main" val="234734686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Analyse des encours par nature de taux</a:t>
            </a:r>
          </a:p>
          <a:p>
            <a:pPr>
              <a:spcBef>
                <a:spcPts val="0"/>
              </a:spcBef>
              <a:defRPr/>
            </a:pPr>
            <a:r>
              <a:rPr lang="fr-FR" sz="2000" i="1" dirty="0">
                <a:latin typeface="Calibri (body)"/>
                <a:cs typeface="Calibri"/>
              </a:rPr>
              <a:t>a- Détail des actifs</a:t>
            </a:r>
            <a:endParaRPr lang="fr-FR" dirty="0">
              <a:latin typeface="Calibri"/>
              <a:cs typeface="Calibri"/>
            </a:endParaRPr>
          </a:p>
        </p:txBody>
      </p:sp>
      <p:sp>
        <p:nvSpPr>
          <p:cNvPr id="14" name="Rectangle 13">
            <a:extLst>
              <a:ext uri="{FF2B5EF4-FFF2-40B4-BE49-F238E27FC236}">
                <a16:creationId xmlns:a16="http://schemas.microsoft.com/office/drawing/2014/main" id="{4DD4AAFE-DCD3-EA20-975C-DE6045B809C4}"/>
              </a:ext>
            </a:extLst>
          </p:cNvPr>
          <p:cNvSpPr/>
          <p:nvPr/>
        </p:nvSpPr>
        <p:spPr>
          <a:xfrm>
            <a:off x="9744075" y="6216089"/>
            <a:ext cx="2238375" cy="57838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4" name="Table 2">
            <a:extLst>
              <a:ext uri="{FF2B5EF4-FFF2-40B4-BE49-F238E27FC236}">
                <a16:creationId xmlns:a16="http://schemas.microsoft.com/office/drawing/2014/main" id="{78201841-5D26-70CB-8DB8-4134D813F868}"/>
              </a:ext>
            </a:extLst>
          </p:cNvPr>
          <p:cNvGraphicFramePr>
            <a:graphicFrameLocks noGrp="1"/>
          </p:cNvGraphicFramePr>
          <p:nvPr/>
        </p:nvGraphicFramePr>
        <p:xfrm>
          <a:off x="781321" y="1117782"/>
          <a:ext cx="9756000" cy="5021740"/>
        </p:xfrm>
        <a:graphic>
          <a:graphicData uri="http://schemas.openxmlformats.org/drawingml/2006/table">
            <a:tbl>
              <a:tblPr/>
              <a:tblGrid>
                <a:gridCol w="2700000">
                  <a:extLst>
                    <a:ext uri="{9D8B030D-6E8A-4147-A177-3AD203B41FA5}">
                      <a16:colId xmlns:a16="http://schemas.microsoft.com/office/drawing/2014/main" val="912739486"/>
                    </a:ext>
                  </a:extLst>
                </a:gridCol>
                <a:gridCol w="1296000">
                  <a:extLst>
                    <a:ext uri="{9D8B030D-6E8A-4147-A177-3AD203B41FA5}">
                      <a16:colId xmlns:a16="http://schemas.microsoft.com/office/drawing/2014/main" val="250235461"/>
                    </a:ext>
                  </a:extLst>
                </a:gridCol>
                <a:gridCol w="720000">
                  <a:extLst>
                    <a:ext uri="{9D8B030D-6E8A-4147-A177-3AD203B41FA5}">
                      <a16:colId xmlns:a16="http://schemas.microsoft.com/office/drawing/2014/main" val="525455795"/>
                    </a:ext>
                  </a:extLst>
                </a:gridCol>
                <a:gridCol w="720000">
                  <a:extLst>
                    <a:ext uri="{9D8B030D-6E8A-4147-A177-3AD203B41FA5}">
                      <a16:colId xmlns:a16="http://schemas.microsoft.com/office/drawing/2014/main" val="1659310265"/>
                    </a:ext>
                  </a:extLst>
                </a:gridCol>
                <a:gridCol w="720000">
                  <a:extLst>
                    <a:ext uri="{9D8B030D-6E8A-4147-A177-3AD203B41FA5}">
                      <a16:colId xmlns:a16="http://schemas.microsoft.com/office/drawing/2014/main" val="2327083637"/>
                    </a:ext>
                  </a:extLst>
                </a:gridCol>
                <a:gridCol w="720000">
                  <a:extLst>
                    <a:ext uri="{9D8B030D-6E8A-4147-A177-3AD203B41FA5}">
                      <a16:colId xmlns:a16="http://schemas.microsoft.com/office/drawing/2014/main" val="2885324755"/>
                    </a:ext>
                  </a:extLst>
                </a:gridCol>
                <a:gridCol w="720000">
                  <a:extLst>
                    <a:ext uri="{9D8B030D-6E8A-4147-A177-3AD203B41FA5}">
                      <a16:colId xmlns:a16="http://schemas.microsoft.com/office/drawing/2014/main" val="1532957112"/>
                    </a:ext>
                  </a:extLst>
                </a:gridCol>
                <a:gridCol w="720000">
                  <a:extLst>
                    <a:ext uri="{9D8B030D-6E8A-4147-A177-3AD203B41FA5}">
                      <a16:colId xmlns:a16="http://schemas.microsoft.com/office/drawing/2014/main" val="4126442365"/>
                    </a:ext>
                  </a:extLst>
                </a:gridCol>
                <a:gridCol w="720000">
                  <a:extLst>
                    <a:ext uri="{9D8B030D-6E8A-4147-A177-3AD203B41FA5}">
                      <a16:colId xmlns:a16="http://schemas.microsoft.com/office/drawing/2014/main" val="2316914318"/>
                    </a:ext>
                  </a:extLst>
                </a:gridCol>
                <a:gridCol w="720000">
                  <a:extLst>
                    <a:ext uri="{9D8B030D-6E8A-4147-A177-3AD203B41FA5}">
                      <a16:colId xmlns:a16="http://schemas.microsoft.com/office/drawing/2014/main" val="3036293287"/>
                    </a:ext>
                  </a:extLst>
                </a:gridCol>
              </a:tblGrid>
              <a:tr h="288000">
                <a:tc>
                  <a:txBody>
                    <a:bodyPr/>
                    <a:lstStyle/>
                    <a:p>
                      <a:pPr algn="l" fontAlgn="b"/>
                      <a:endParaRPr lang="fr-FR" sz="1200" b="0" i="0" u="none" strike="noStrike" dirty="0">
                        <a:solidFill>
                          <a:schemeClr val="tx1"/>
                        </a:solidFill>
                        <a:effectLst/>
                        <a:latin typeface="Calibri" panose="020F0502020204030204" pitchFamily="34" charset="0"/>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algn="ctr" fontAlgn="b"/>
                      <a:r>
                        <a:rPr lang="fr-FR" sz="1100" b="1" i="0" u="none" strike="noStrike" dirty="0">
                          <a:solidFill>
                            <a:schemeClr val="tx1"/>
                          </a:solidFill>
                          <a:effectLst/>
                          <a:latin typeface="Calibri" panose="020F0502020204030204" pitchFamily="34" charset="0"/>
                        </a:rPr>
                        <a:t>TF</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algn="ctr" fontAlgn="b"/>
                      <a:r>
                        <a:rPr lang="fr-FR" sz="1100" b="1" i="0" u="none" strike="noStrike" dirty="0">
                          <a:solidFill>
                            <a:schemeClr val="tx1"/>
                          </a:solidFill>
                          <a:effectLst/>
                          <a:latin typeface="Calibri" panose="020F0502020204030204" pitchFamily="34" charset="0"/>
                        </a:rPr>
                        <a:t>TR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46597539"/>
                  </a:ext>
                </a:extLst>
              </a:tr>
              <a:tr h="556260">
                <a:tc>
                  <a:txBody>
                    <a:bodyPr/>
                    <a:lstStyle/>
                    <a:p>
                      <a:pPr algn="l" fontAlgn="b"/>
                      <a:r>
                        <a:rPr lang="fr-FR" sz="1200" b="0" i="0" u="none" strike="noStrike" dirty="0">
                          <a:solidFill>
                            <a:schemeClr val="tx1"/>
                          </a:solidFill>
                          <a:effectLst/>
                          <a:latin typeface="Calibri" panose="020F0502020204030204" pitchFamily="34" charset="0"/>
                        </a:rPr>
                        <a:t> En K€</a:t>
                      </a: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200" b="0" i="0" u="none" strike="noStrike" dirty="0">
                          <a:solidFill>
                            <a:schemeClr val="tx1"/>
                          </a:solidFill>
                          <a:effectLst/>
                          <a:latin typeface="Calibri" panose="020F0502020204030204" pitchFamily="34" charset="0"/>
                        </a:rPr>
                        <a:t>Encours comptables</a:t>
                      </a:r>
                    </a:p>
                    <a:p>
                      <a:pPr algn="ctr" fontAlgn="b"/>
                      <a:r>
                        <a:rPr lang="fr-FR" sz="1200" b="0" i="0" u="none" strike="noStrike" dirty="0">
                          <a:solidFill>
                            <a:schemeClr val="tx1"/>
                          </a:solidFill>
                          <a:effectLst/>
                          <a:latin typeface="Calibri" panose="020F0502020204030204" pitchFamily="34" charset="0"/>
                        </a:rPr>
                        <a:t>31/12/2023</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0%</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&lt;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&gt;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ESTER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E3M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E6M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E12M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INFLATION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91262255"/>
                  </a:ext>
                </a:extLst>
              </a:tr>
              <a:tr h="216000">
                <a:tc>
                  <a:txBody>
                    <a:bodyPr/>
                    <a:lstStyle/>
                    <a:p>
                      <a:pPr algn="l" fontAlgn="b"/>
                      <a:r>
                        <a:rPr lang="fr-FR" sz="1200" b="1" i="0" u="none" strike="noStrike" dirty="0">
                          <a:solidFill>
                            <a:schemeClr val="tx1"/>
                          </a:solidFill>
                          <a:effectLst/>
                          <a:latin typeface="Calibri" panose="020F0502020204030204" pitchFamily="34" charset="0"/>
                        </a:rPr>
                        <a:t>Caisses et Banques Centrales</a:t>
                      </a: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037487770"/>
                  </a:ext>
                </a:extLst>
              </a:tr>
              <a:tr h="36000">
                <a:tc>
                  <a:txBody>
                    <a:bodyPr/>
                    <a:lstStyle/>
                    <a:p>
                      <a:pPr algn="l" fontAlgn="b"/>
                      <a:r>
                        <a:rPr lang="fr-FR" sz="1200" b="1" i="0" u="none" strike="noStrike" dirty="0">
                          <a:solidFill>
                            <a:schemeClr val="tx1"/>
                          </a:solidFill>
                          <a:effectLst/>
                          <a:latin typeface="Calibri" panose="020F0502020204030204" pitchFamily="34" charset="0"/>
                        </a:rPr>
                        <a:t>Créances sur les établissements de crédit</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extLst>
                  <a:ext uri="{0D108BD9-81ED-4DB2-BD59-A6C34878D82A}">
                    <a16:rowId xmlns:a16="http://schemas.microsoft.com/office/drawing/2014/main" val="3753198227"/>
                  </a:ext>
                </a:extLst>
              </a:tr>
              <a:tr h="36000">
                <a:tc>
                  <a:txBody>
                    <a:bodyPr/>
                    <a:lstStyle/>
                    <a:p>
                      <a:pPr algn="l" fontAlgn="b"/>
                      <a:r>
                        <a:rPr lang="fr-FR" sz="1200" b="0" i="0" u="none" strike="noStrike" dirty="0">
                          <a:solidFill>
                            <a:schemeClr val="tx1"/>
                          </a:solidFill>
                          <a:effectLst/>
                          <a:latin typeface="Calibri" panose="020F0502020204030204" pitchFamily="34" charset="0"/>
                        </a:rPr>
                        <a:t>- </a:t>
                      </a:r>
                      <a:r>
                        <a:rPr lang="fr-FR" sz="1200" b="0" i="0" u="none" strike="noStrike" kern="1200" dirty="0">
                          <a:solidFill>
                            <a:schemeClr val="tx1"/>
                          </a:solidFill>
                          <a:effectLst/>
                          <a:latin typeface="Calibri" panose="020F0502020204030204" pitchFamily="34" charset="0"/>
                          <a:ea typeface="+mn-ea"/>
                          <a:cs typeface="+mn-cs"/>
                        </a:rPr>
                        <a:t>A vue</a:t>
                      </a:r>
                    </a:p>
                  </a:txBody>
                  <a:tcPr marL="363024"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extLst>
                  <a:ext uri="{0D108BD9-81ED-4DB2-BD59-A6C34878D82A}">
                    <a16:rowId xmlns:a16="http://schemas.microsoft.com/office/drawing/2014/main" val="3102888909"/>
                  </a:ext>
                </a:extLst>
              </a:tr>
              <a:tr h="36000">
                <a:tc>
                  <a:txBody>
                    <a:bodyPr/>
                    <a:lstStyle/>
                    <a:p>
                      <a:pPr algn="l" fontAlgn="b"/>
                      <a:r>
                        <a:rPr lang="fr-FR" sz="1200" b="0" i="0" u="none" strike="noStrike" dirty="0">
                          <a:solidFill>
                            <a:schemeClr val="tx1"/>
                          </a:solidFill>
                          <a:effectLst/>
                          <a:latin typeface="Calibri" panose="020F0502020204030204" pitchFamily="34" charset="0"/>
                        </a:rPr>
                        <a:t>- A terme</a:t>
                      </a:r>
                    </a:p>
                  </a:txBody>
                  <a:tcPr marL="363024"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noFill/>
                      <a:prstDash val="solid"/>
                      <a:round/>
                      <a:headEnd type="none" w="med" len="med"/>
                      <a:tailEnd type="none" w="med" len="med"/>
                    </a:lnB>
                    <a:noFill/>
                  </a:tcPr>
                </a:tc>
                <a:extLst>
                  <a:ext uri="{0D108BD9-81ED-4DB2-BD59-A6C34878D82A}">
                    <a16:rowId xmlns:a16="http://schemas.microsoft.com/office/drawing/2014/main" val="3866838987"/>
                  </a:ext>
                </a:extLst>
              </a:tr>
              <a:tr h="36000">
                <a:tc>
                  <a:txBody>
                    <a:bodyPr/>
                    <a:lstStyle/>
                    <a:p>
                      <a:pPr algn="l" fontAlgn="b"/>
                      <a:r>
                        <a:rPr lang="fr-FR" sz="1200" b="1" i="0" u="none" strike="noStrike" dirty="0">
                          <a:solidFill>
                            <a:schemeClr val="tx1"/>
                          </a:solidFill>
                          <a:effectLst/>
                          <a:latin typeface="Calibri" panose="020F0502020204030204" pitchFamily="34" charset="0"/>
                        </a:rPr>
                        <a:t>Créances Clientèle</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85000"/>
                      </a:schemeClr>
                    </a:solidFill>
                  </a:tcPr>
                </a:tc>
                <a:extLst>
                  <a:ext uri="{0D108BD9-81ED-4DB2-BD59-A6C34878D82A}">
                    <a16:rowId xmlns:a16="http://schemas.microsoft.com/office/drawing/2014/main" val="3318056089"/>
                  </a:ext>
                </a:extLst>
              </a:tr>
              <a:tr h="36000">
                <a:tc>
                  <a:txBody>
                    <a:bodyPr/>
                    <a:lstStyle/>
                    <a:p>
                      <a:pPr algn="l" fontAlgn="b"/>
                      <a:r>
                        <a:rPr lang="fr-FR" sz="1200" b="0" i="0" u="none" strike="noStrike" dirty="0">
                          <a:solidFill>
                            <a:schemeClr val="tx1"/>
                          </a:solidFill>
                          <a:effectLst/>
                          <a:latin typeface="Calibri" panose="020F0502020204030204" pitchFamily="34" charset="0"/>
                        </a:rPr>
                        <a:t>- Autres concours à la clientèle</a:t>
                      </a:r>
                    </a:p>
                  </a:txBody>
                  <a:tcPr marL="363024"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extLst>
                  <a:ext uri="{0D108BD9-81ED-4DB2-BD59-A6C34878D82A}">
                    <a16:rowId xmlns:a16="http://schemas.microsoft.com/office/drawing/2014/main" val="1055215801"/>
                  </a:ext>
                </a:extLst>
              </a:tr>
              <a:tr h="36000">
                <a:tc>
                  <a:txBody>
                    <a:bodyPr/>
                    <a:lstStyle/>
                    <a:p>
                      <a:pPr algn="l" fontAlgn="b"/>
                      <a:r>
                        <a:rPr lang="fr-FR" sz="1200" b="0" i="0" u="none" strike="noStrike" dirty="0">
                          <a:solidFill>
                            <a:schemeClr val="tx1"/>
                          </a:solidFill>
                          <a:effectLst/>
                          <a:latin typeface="Calibri" panose="020F0502020204030204" pitchFamily="34" charset="0"/>
                        </a:rPr>
                        <a:t>- Créances douteuses</a:t>
                      </a:r>
                    </a:p>
                  </a:txBody>
                  <a:tcPr marL="363024"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06716452"/>
                  </a:ext>
                </a:extLst>
              </a:tr>
              <a:tr h="36000">
                <a:tc>
                  <a:txBody>
                    <a:bodyPr/>
                    <a:lstStyle/>
                    <a:p>
                      <a:pPr algn="l" fontAlgn="b"/>
                      <a:r>
                        <a:rPr lang="fr-FR" sz="1200" b="1" i="0" u="none" strike="noStrike" dirty="0">
                          <a:solidFill>
                            <a:schemeClr val="tx1"/>
                          </a:solidFill>
                          <a:effectLst/>
                          <a:latin typeface="Calibri" panose="020F0502020204030204" pitchFamily="34" charset="0"/>
                        </a:rPr>
                        <a:t>Obligations et autres titres à revenu fixe</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noFill/>
                  </a:tcPr>
                </a:tc>
                <a:extLst>
                  <a:ext uri="{0D108BD9-81ED-4DB2-BD59-A6C34878D82A}">
                    <a16:rowId xmlns:a16="http://schemas.microsoft.com/office/drawing/2014/main" val="4097053941"/>
                  </a:ext>
                </a:extLst>
              </a:tr>
              <a:tr h="36000">
                <a:tc>
                  <a:txBody>
                    <a:bodyPr/>
                    <a:lstStyle/>
                    <a:p>
                      <a:pPr algn="l" fontAlgn="b"/>
                      <a:r>
                        <a:rPr lang="fr-FR" sz="1200" b="0" i="0" u="none" strike="noStrike" dirty="0">
                          <a:solidFill>
                            <a:schemeClr val="tx1"/>
                          </a:solidFill>
                          <a:effectLst/>
                          <a:latin typeface="Calibri" panose="020F0502020204030204" pitchFamily="34" charset="0"/>
                        </a:rPr>
                        <a:t>- Titres de transaction (emprunt titres)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extLst>
                  <a:ext uri="{0D108BD9-81ED-4DB2-BD59-A6C34878D82A}">
                    <a16:rowId xmlns:a16="http://schemas.microsoft.com/office/drawing/2014/main" val="1481254788"/>
                  </a:ext>
                </a:extLst>
              </a:tr>
              <a:tr h="36000">
                <a:tc>
                  <a:txBody>
                    <a:bodyPr/>
                    <a:lstStyle/>
                    <a:p>
                      <a:pPr algn="l" fontAlgn="b"/>
                      <a:r>
                        <a:rPr lang="fr-FR" sz="1200" b="0" i="0" u="none" strike="noStrike" dirty="0">
                          <a:solidFill>
                            <a:schemeClr val="tx1"/>
                          </a:solidFill>
                          <a:effectLst/>
                          <a:latin typeface="Calibri" panose="020F0502020204030204" pitchFamily="34" charset="0"/>
                        </a:rPr>
                        <a:t>- Titres reçus en pension</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extLst>
                  <a:ext uri="{0D108BD9-81ED-4DB2-BD59-A6C34878D82A}">
                    <a16:rowId xmlns:a16="http://schemas.microsoft.com/office/drawing/2014/main" val="1663963451"/>
                  </a:ext>
                </a:extLst>
              </a:tr>
              <a:tr h="94350">
                <a:tc>
                  <a:txBody>
                    <a:bodyPr/>
                    <a:lstStyle/>
                    <a:p>
                      <a:pPr algn="l" fontAlgn="b"/>
                      <a:r>
                        <a:rPr lang="fr-FR" sz="1200" b="0" i="0" u="none" strike="noStrike" dirty="0">
                          <a:solidFill>
                            <a:schemeClr val="tx1"/>
                          </a:solidFill>
                          <a:effectLst/>
                          <a:latin typeface="Calibri" panose="020F0502020204030204" pitchFamily="34" charset="0"/>
                        </a:rPr>
                        <a:t>- Obligations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extLst>
                  <a:ext uri="{0D108BD9-81ED-4DB2-BD59-A6C34878D82A}">
                    <a16:rowId xmlns:a16="http://schemas.microsoft.com/office/drawing/2014/main" val="3754048221"/>
                  </a:ext>
                </a:extLst>
              </a:tr>
              <a:tr h="36000">
                <a:tc>
                  <a:txBody>
                    <a:bodyPr/>
                    <a:lstStyle/>
                    <a:p>
                      <a:pPr algn="l" fontAlgn="b"/>
                      <a:r>
                        <a:rPr lang="fr-FR" sz="1200" b="1" i="0" u="none" strike="noStrike" dirty="0">
                          <a:solidFill>
                            <a:schemeClr val="tx1"/>
                          </a:solidFill>
                          <a:effectLst/>
                          <a:latin typeface="Calibri" panose="020F0502020204030204" pitchFamily="34" charset="0"/>
                        </a:rPr>
                        <a:t>Actions et autres titres à revenu variable</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solidFill>
                      <a:schemeClr val="bg1">
                        <a:lumMod val="65000"/>
                      </a:schemeClr>
                    </a:solidFill>
                  </a:tcPr>
                </a:tc>
                <a:extLst>
                  <a:ext uri="{0D108BD9-81ED-4DB2-BD59-A6C34878D82A}">
                    <a16:rowId xmlns:a16="http://schemas.microsoft.com/office/drawing/2014/main" val="3939405773"/>
                  </a:ext>
                </a:extLst>
              </a:tr>
              <a:tr h="36000">
                <a:tc>
                  <a:txBody>
                    <a:bodyPr/>
                    <a:lstStyle/>
                    <a:p>
                      <a:pPr algn="l" fontAlgn="b"/>
                      <a:r>
                        <a:rPr lang="fr-FR" sz="1200" b="0" i="0" u="none" strike="noStrike" dirty="0">
                          <a:solidFill>
                            <a:schemeClr val="tx1"/>
                          </a:solidFill>
                          <a:effectLst/>
                          <a:latin typeface="Calibri" panose="020F0502020204030204" pitchFamily="34" charset="0"/>
                        </a:rPr>
                        <a:t>- Titres de transaction (emprunt titres)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75000"/>
                      </a:schemeClr>
                    </a:solidFill>
                  </a:tcPr>
                </a:tc>
                <a:extLst>
                  <a:ext uri="{0D108BD9-81ED-4DB2-BD59-A6C34878D82A}">
                    <a16:rowId xmlns:a16="http://schemas.microsoft.com/office/drawing/2014/main" val="986305385"/>
                  </a:ext>
                </a:extLst>
              </a:tr>
              <a:tr h="36000">
                <a:tc>
                  <a:txBody>
                    <a:bodyPr/>
                    <a:lstStyle/>
                    <a:p>
                      <a:pPr algn="l" fontAlgn="b"/>
                      <a:r>
                        <a:rPr lang="fr-FR" sz="1200" b="0" i="0" u="none" strike="noStrike" dirty="0">
                          <a:solidFill>
                            <a:schemeClr val="tx1"/>
                          </a:solidFill>
                          <a:effectLst/>
                          <a:latin typeface="Calibri" panose="020F0502020204030204" pitchFamily="34" charset="0"/>
                        </a:rPr>
                        <a:t>- Titres de placement (OPCVM)</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356299984"/>
                  </a:ext>
                </a:extLst>
              </a:tr>
              <a:tr h="36000">
                <a:tc>
                  <a:txBody>
                    <a:bodyPr/>
                    <a:lstStyle/>
                    <a:p>
                      <a:pPr algn="l" fontAlgn="b"/>
                      <a:r>
                        <a:rPr lang="fr-FR" sz="1200" b="1" i="0" u="none" strike="noStrike" dirty="0">
                          <a:solidFill>
                            <a:schemeClr val="tx1"/>
                          </a:solidFill>
                          <a:effectLst/>
                          <a:latin typeface="Calibri" panose="020F0502020204030204" pitchFamily="34" charset="0"/>
                        </a:rPr>
                        <a:t>Parts dans les entreprises liées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358548857"/>
                  </a:ext>
                </a:extLst>
              </a:tr>
              <a:tr h="36000">
                <a:tc>
                  <a:txBody>
                    <a:bodyPr/>
                    <a:lstStyle/>
                    <a:p>
                      <a:pPr algn="l" fontAlgn="b"/>
                      <a:r>
                        <a:rPr lang="fr-FR" sz="1200" b="1" i="0" u="none" strike="noStrike" dirty="0">
                          <a:solidFill>
                            <a:schemeClr val="tx1"/>
                          </a:solidFill>
                          <a:effectLst/>
                          <a:latin typeface="Calibri" panose="020F0502020204030204" pitchFamily="34" charset="0"/>
                        </a:rPr>
                        <a:t>Immobilisations corporelles et incorporelles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784285464"/>
                  </a:ext>
                </a:extLst>
              </a:tr>
              <a:tr h="36000">
                <a:tc>
                  <a:txBody>
                    <a:bodyPr/>
                    <a:lstStyle/>
                    <a:p>
                      <a:pPr algn="l" fontAlgn="b"/>
                      <a:r>
                        <a:rPr lang="fr-FR" sz="1200" b="1" i="0" u="none" strike="noStrike" dirty="0">
                          <a:solidFill>
                            <a:schemeClr val="tx1"/>
                          </a:solidFill>
                          <a:effectLst/>
                          <a:latin typeface="Calibri" panose="020F0502020204030204" pitchFamily="34" charset="0"/>
                        </a:rPr>
                        <a:t>Autres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199369236"/>
                  </a:ext>
                </a:extLst>
              </a:tr>
              <a:tr h="36000">
                <a:tc>
                  <a:txBody>
                    <a:bodyPr/>
                    <a:lstStyle/>
                    <a:p>
                      <a:pPr algn="l" fontAlgn="b"/>
                      <a:r>
                        <a:rPr lang="fr-FR" sz="1200" b="1" i="0" u="none" strike="noStrike" dirty="0">
                          <a:solidFill>
                            <a:schemeClr val="tx1"/>
                          </a:solidFill>
                          <a:effectLst/>
                          <a:latin typeface="Calibri" panose="020F0502020204030204" pitchFamily="34" charset="0"/>
                        </a:rPr>
                        <a:t>Comptes de régularisation</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506742286"/>
                  </a:ext>
                </a:extLst>
              </a:tr>
              <a:tr h="36000">
                <a:tc>
                  <a:txBody>
                    <a:bodyPr/>
                    <a:lstStyle/>
                    <a:p>
                      <a:pPr algn="l" fontAlgn="b"/>
                      <a:r>
                        <a:rPr lang="fr-FR" sz="1200" b="0" i="0" u="none" strike="noStrike" dirty="0">
                          <a:solidFill>
                            <a:schemeClr val="tx1"/>
                          </a:solidFill>
                          <a:effectLst/>
                          <a:latin typeface="Calibri" panose="020F0502020204030204" pitchFamily="34" charset="0"/>
                        </a:rPr>
                        <a:t>         - dont appels de marge versés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3091758520"/>
                  </a:ext>
                </a:extLst>
              </a:tr>
              <a:tr h="36000">
                <a:tc>
                  <a:txBody>
                    <a:bodyPr/>
                    <a:lstStyle/>
                    <a:p>
                      <a:pPr algn="l" fontAlgn="b"/>
                      <a:r>
                        <a:rPr lang="fr-FR" sz="1200" b="0" i="0" u="none" strike="noStrike" dirty="0">
                          <a:solidFill>
                            <a:schemeClr val="tx1"/>
                          </a:solidFill>
                          <a:effectLst/>
                          <a:latin typeface="Calibri" panose="020F0502020204030204" pitchFamily="34" charset="0"/>
                        </a:rPr>
                        <a:t>         - autres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854202063"/>
                  </a:ext>
                </a:extLst>
              </a:tr>
              <a:tr h="36000">
                <a:tc>
                  <a:txBody>
                    <a:bodyPr/>
                    <a:lstStyle/>
                    <a:p>
                      <a:pPr algn="l" fontAlgn="b"/>
                      <a:r>
                        <a:rPr lang="fr-FR" sz="1200" b="1" i="0" u="none" strike="noStrike" dirty="0">
                          <a:solidFill>
                            <a:schemeClr val="tx1"/>
                          </a:solidFill>
                          <a:effectLst/>
                          <a:latin typeface="Calibri" panose="020F0502020204030204" pitchFamily="34" charset="0"/>
                        </a:rPr>
                        <a:t>Total Actif </a:t>
                      </a: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10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71036350"/>
                  </a:ext>
                </a:extLst>
              </a:tr>
            </a:tbl>
          </a:graphicData>
        </a:graphic>
      </p:graphicFrame>
      <p:sp>
        <p:nvSpPr>
          <p:cNvPr id="2" name="Espace réservé du texte 16">
            <a:extLst>
              <a:ext uri="{FF2B5EF4-FFF2-40B4-BE49-F238E27FC236}">
                <a16:creationId xmlns:a16="http://schemas.microsoft.com/office/drawing/2014/main" id="{851533FE-BA5B-54B0-AD54-44218344DE8A}"/>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271258433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Analyse des encours par nature de taux</a:t>
            </a:r>
          </a:p>
          <a:p>
            <a:pPr>
              <a:spcBef>
                <a:spcPts val="0"/>
              </a:spcBef>
              <a:defRPr/>
            </a:pPr>
            <a:r>
              <a:rPr lang="fr-FR" sz="2000" i="1" dirty="0">
                <a:latin typeface="Calibri (body)"/>
                <a:cs typeface="Calibri"/>
              </a:rPr>
              <a:t>b- Détail des passifs</a:t>
            </a:r>
            <a:endParaRPr lang="fr-FR" sz="2000" dirty="0">
              <a:latin typeface="Calibri"/>
              <a:cs typeface="Calibri"/>
            </a:endParaRPr>
          </a:p>
        </p:txBody>
      </p:sp>
      <p:sp>
        <p:nvSpPr>
          <p:cNvPr id="14" name="Rectangle 13">
            <a:extLst>
              <a:ext uri="{FF2B5EF4-FFF2-40B4-BE49-F238E27FC236}">
                <a16:creationId xmlns:a16="http://schemas.microsoft.com/office/drawing/2014/main" id="{4DD4AAFE-DCD3-EA20-975C-DE6045B809C4}"/>
              </a:ext>
            </a:extLst>
          </p:cNvPr>
          <p:cNvSpPr/>
          <p:nvPr/>
        </p:nvSpPr>
        <p:spPr>
          <a:xfrm>
            <a:off x="9744075" y="6216089"/>
            <a:ext cx="2238375" cy="57838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4" name="Table 2">
            <a:extLst>
              <a:ext uri="{FF2B5EF4-FFF2-40B4-BE49-F238E27FC236}">
                <a16:creationId xmlns:a16="http://schemas.microsoft.com/office/drawing/2014/main" id="{78201841-5D26-70CB-8DB8-4134D813F868}"/>
              </a:ext>
            </a:extLst>
          </p:cNvPr>
          <p:cNvGraphicFramePr>
            <a:graphicFrameLocks noGrp="1"/>
          </p:cNvGraphicFramePr>
          <p:nvPr/>
        </p:nvGraphicFramePr>
        <p:xfrm>
          <a:off x="965905" y="901252"/>
          <a:ext cx="10008000" cy="5415100"/>
        </p:xfrm>
        <a:graphic>
          <a:graphicData uri="http://schemas.openxmlformats.org/drawingml/2006/table">
            <a:tbl>
              <a:tblPr/>
              <a:tblGrid>
                <a:gridCol w="3060000">
                  <a:extLst>
                    <a:ext uri="{9D8B030D-6E8A-4147-A177-3AD203B41FA5}">
                      <a16:colId xmlns:a16="http://schemas.microsoft.com/office/drawing/2014/main" val="912739486"/>
                    </a:ext>
                  </a:extLst>
                </a:gridCol>
                <a:gridCol w="1188000">
                  <a:extLst>
                    <a:ext uri="{9D8B030D-6E8A-4147-A177-3AD203B41FA5}">
                      <a16:colId xmlns:a16="http://schemas.microsoft.com/office/drawing/2014/main" val="250235461"/>
                    </a:ext>
                  </a:extLst>
                </a:gridCol>
                <a:gridCol w="720000">
                  <a:extLst>
                    <a:ext uri="{9D8B030D-6E8A-4147-A177-3AD203B41FA5}">
                      <a16:colId xmlns:a16="http://schemas.microsoft.com/office/drawing/2014/main" val="3161787365"/>
                    </a:ext>
                  </a:extLst>
                </a:gridCol>
                <a:gridCol w="720000">
                  <a:extLst>
                    <a:ext uri="{9D8B030D-6E8A-4147-A177-3AD203B41FA5}">
                      <a16:colId xmlns:a16="http://schemas.microsoft.com/office/drawing/2014/main" val="829932536"/>
                    </a:ext>
                  </a:extLst>
                </a:gridCol>
                <a:gridCol w="720000">
                  <a:extLst>
                    <a:ext uri="{9D8B030D-6E8A-4147-A177-3AD203B41FA5}">
                      <a16:colId xmlns:a16="http://schemas.microsoft.com/office/drawing/2014/main" val="1935215412"/>
                    </a:ext>
                  </a:extLst>
                </a:gridCol>
                <a:gridCol w="720000">
                  <a:extLst>
                    <a:ext uri="{9D8B030D-6E8A-4147-A177-3AD203B41FA5}">
                      <a16:colId xmlns:a16="http://schemas.microsoft.com/office/drawing/2014/main" val="2058952381"/>
                    </a:ext>
                  </a:extLst>
                </a:gridCol>
                <a:gridCol w="720000">
                  <a:extLst>
                    <a:ext uri="{9D8B030D-6E8A-4147-A177-3AD203B41FA5}">
                      <a16:colId xmlns:a16="http://schemas.microsoft.com/office/drawing/2014/main" val="468829194"/>
                    </a:ext>
                  </a:extLst>
                </a:gridCol>
                <a:gridCol w="720000">
                  <a:extLst>
                    <a:ext uri="{9D8B030D-6E8A-4147-A177-3AD203B41FA5}">
                      <a16:colId xmlns:a16="http://schemas.microsoft.com/office/drawing/2014/main" val="2327083637"/>
                    </a:ext>
                  </a:extLst>
                </a:gridCol>
                <a:gridCol w="720000">
                  <a:extLst>
                    <a:ext uri="{9D8B030D-6E8A-4147-A177-3AD203B41FA5}">
                      <a16:colId xmlns:a16="http://schemas.microsoft.com/office/drawing/2014/main" val="2885324755"/>
                    </a:ext>
                  </a:extLst>
                </a:gridCol>
                <a:gridCol w="720000">
                  <a:extLst>
                    <a:ext uri="{9D8B030D-6E8A-4147-A177-3AD203B41FA5}">
                      <a16:colId xmlns:a16="http://schemas.microsoft.com/office/drawing/2014/main" val="1490160581"/>
                    </a:ext>
                  </a:extLst>
                </a:gridCol>
              </a:tblGrid>
              <a:tr h="255552">
                <a:tc>
                  <a:txBody>
                    <a:bodyPr/>
                    <a:lstStyle/>
                    <a:p>
                      <a:pPr algn="l" fontAlgn="b"/>
                      <a:r>
                        <a:rPr lang="fr-FR" sz="1200" b="0" i="0" u="none" strike="noStrike" dirty="0">
                          <a:solidFill>
                            <a:schemeClr val="tx1"/>
                          </a:solidFill>
                          <a:effectLst/>
                          <a:latin typeface="Calibri" panose="020F0502020204030204" pitchFamily="34" charset="0"/>
                        </a:rPr>
                        <a:t> En K€</a:t>
                      </a: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r>
                        <a:rPr lang="fr-FR" sz="1200" b="0" i="0" u="none" strike="noStrike" dirty="0">
                          <a:solidFill>
                            <a:schemeClr val="tx1"/>
                          </a:solidFill>
                          <a:effectLst/>
                          <a:latin typeface="Calibri" panose="020F0502020204030204" pitchFamily="34" charset="0"/>
                        </a:rPr>
                        <a:t>Encours comptables</a:t>
                      </a:r>
                    </a:p>
                    <a:p>
                      <a:pPr algn="ctr" fontAlgn="b"/>
                      <a:r>
                        <a:rPr lang="fr-FR" sz="1200" b="0" i="0" u="none" strike="noStrike" dirty="0">
                          <a:solidFill>
                            <a:schemeClr val="tx1"/>
                          </a:solidFill>
                          <a:effectLst/>
                          <a:latin typeface="Calibri" panose="020F0502020204030204" pitchFamily="34" charset="0"/>
                        </a:rPr>
                        <a:t>31/12/2023</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algn="ctr" fontAlgn="b"/>
                      <a:r>
                        <a:rPr lang="fr-FR" sz="1100" b="1" i="0" u="none" strike="noStrike" dirty="0">
                          <a:solidFill>
                            <a:schemeClr val="tx1"/>
                          </a:solidFill>
                          <a:effectLst/>
                          <a:latin typeface="Calibri" panose="020F0502020204030204" pitchFamily="34" charset="0"/>
                        </a:rPr>
                        <a:t>TF</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algn="ctr" fontAlgn="b"/>
                      <a:r>
                        <a:rPr lang="fr-FR" sz="1100" b="1" i="0" u="none" strike="noStrike" dirty="0">
                          <a:solidFill>
                            <a:schemeClr val="tx1"/>
                          </a:solidFill>
                          <a:effectLst/>
                          <a:latin typeface="Calibri" panose="020F0502020204030204" pitchFamily="34" charset="0"/>
                        </a:rPr>
                        <a:t>TR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91262255"/>
                  </a:ext>
                </a:extLst>
              </a:tr>
              <a:tr h="121368">
                <a:tc>
                  <a:txBody>
                    <a:bodyPr/>
                    <a:lstStyle/>
                    <a:p>
                      <a:pPr algn="l" fontAlgn="b"/>
                      <a:endParaRPr lang="fr-FR" sz="1200" b="1" i="0" u="none" strike="noStrike" dirty="0">
                        <a:solidFill>
                          <a:schemeClr val="tx1"/>
                        </a:solidFill>
                        <a:effectLst/>
                        <a:latin typeface="Calibri" panose="020F0502020204030204" pitchFamily="34" charset="0"/>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0%</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&lt;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&gt;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ESTER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E3M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E6M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E12M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INFLATION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11731171"/>
                  </a:ext>
                </a:extLst>
              </a:tr>
              <a:tr h="121368">
                <a:tc>
                  <a:txBody>
                    <a:bodyPr/>
                    <a:lstStyle/>
                    <a:p>
                      <a:pPr algn="l" fontAlgn="b"/>
                      <a:r>
                        <a:rPr lang="fr-FR" sz="1200" b="1" i="0" u="none" strike="noStrike" dirty="0">
                          <a:solidFill>
                            <a:schemeClr val="tx1"/>
                          </a:solidFill>
                          <a:effectLst/>
                          <a:latin typeface="Calibri" panose="020F0502020204030204" pitchFamily="34" charset="0"/>
                        </a:rPr>
                        <a:t>Dettes envers les établissements de crédit</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53198227"/>
                  </a:ext>
                </a:extLst>
              </a:tr>
              <a:tr h="0">
                <a:tc>
                  <a:txBody>
                    <a:bodyPr/>
                    <a:lstStyle/>
                    <a:p>
                      <a:pPr algn="l" fontAlgn="b"/>
                      <a:r>
                        <a:rPr lang="fr-FR" sz="1200" b="1" i="0" u="none" strike="noStrike" dirty="0">
                          <a:solidFill>
                            <a:schemeClr val="tx1"/>
                          </a:solidFill>
                          <a:effectLst/>
                          <a:latin typeface="Calibri" panose="020F0502020204030204" pitchFamily="34" charset="0"/>
                        </a:rPr>
                        <a:t>- </a:t>
                      </a:r>
                      <a:r>
                        <a:rPr lang="fr-FR" sz="1200" b="0" i="0" u="none" strike="noStrike" dirty="0">
                          <a:solidFill>
                            <a:schemeClr val="tx1"/>
                          </a:solidFill>
                          <a:effectLst/>
                          <a:latin typeface="Calibri" panose="020F0502020204030204" pitchFamily="34" charset="0"/>
                        </a:rPr>
                        <a:t>A terme</a:t>
                      </a:r>
                    </a:p>
                  </a:txBody>
                  <a:tcPr marL="363024"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66838987"/>
                  </a:ext>
                </a:extLst>
              </a:tr>
              <a:tr h="0">
                <a:tc>
                  <a:txBody>
                    <a:bodyPr/>
                    <a:lstStyle/>
                    <a:p>
                      <a:pPr algn="l" fontAlgn="b"/>
                      <a:r>
                        <a:rPr lang="fr-FR" sz="1200" b="1" i="0" u="none" strike="noStrike" dirty="0">
                          <a:solidFill>
                            <a:schemeClr val="tx1"/>
                          </a:solidFill>
                          <a:effectLst/>
                          <a:latin typeface="Calibri" panose="020F0502020204030204" pitchFamily="34" charset="0"/>
                        </a:rPr>
                        <a:t>Opérations avec la clientèle </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18056089"/>
                  </a:ext>
                </a:extLst>
              </a:tr>
              <a:tr h="0">
                <a:tc>
                  <a:txBody>
                    <a:bodyPr/>
                    <a:lstStyle/>
                    <a:p>
                      <a:pPr algn="l" fontAlgn="b"/>
                      <a:r>
                        <a:rPr lang="fr-FR" sz="1200" b="1" i="0" u="none" strike="noStrike" dirty="0">
                          <a:solidFill>
                            <a:schemeClr val="tx1"/>
                          </a:solidFill>
                          <a:effectLst/>
                          <a:latin typeface="Calibri" panose="020F0502020204030204" pitchFamily="34" charset="0"/>
                        </a:rPr>
                        <a:t>Autres passifs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09396279"/>
                  </a:ext>
                </a:extLst>
              </a:tr>
              <a:tr h="0">
                <a:tc>
                  <a:txBody>
                    <a:bodyPr/>
                    <a:lstStyle/>
                    <a:p>
                      <a:pPr algn="l" fontAlgn="b"/>
                      <a:r>
                        <a:rPr lang="fr-FR" sz="1200" b="0" i="0" u="none" strike="noStrike" dirty="0">
                          <a:solidFill>
                            <a:schemeClr val="tx1"/>
                          </a:solidFill>
                          <a:effectLst/>
                          <a:latin typeface="Calibri" panose="020F0502020204030204" pitchFamily="34" charset="0"/>
                        </a:rPr>
                        <a:t>- Dettes sur obligations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b"/>
                      <a:endParaRPr lang="fr-FR" sz="1050" b="0" i="0" u="none" strike="noStrike" dirty="0">
                        <a:solidFill>
                          <a:srgbClr val="000000"/>
                        </a:solidFill>
                        <a:effectLst/>
                        <a:latin typeface="+mn-lt"/>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468267445"/>
                  </a:ext>
                </a:extLst>
              </a:tr>
              <a:tr h="0">
                <a:tc>
                  <a:txBody>
                    <a:bodyPr/>
                    <a:lstStyle/>
                    <a:p>
                      <a:pPr algn="l" fontAlgn="b"/>
                      <a:r>
                        <a:rPr lang="fr-FR" sz="1200" b="0" i="0" u="none" strike="noStrike" dirty="0">
                          <a:solidFill>
                            <a:schemeClr val="tx1"/>
                          </a:solidFill>
                          <a:effectLst/>
                          <a:latin typeface="Calibri" panose="020F0502020204030204" pitchFamily="34" charset="0"/>
                        </a:rPr>
                        <a:t>- Titres mis en pension</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618548317"/>
                  </a:ext>
                </a:extLst>
              </a:tr>
              <a:tr h="0">
                <a:tc>
                  <a:txBody>
                    <a:bodyPr/>
                    <a:lstStyle/>
                    <a:p>
                      <a:pPr algn="l" fontAlgn="b"/>
                      <a:r>
                        <a:rPr lang="fr-FR" sz="1200" b="0" i="0" u="none" strike="noStrike" dirty="0">
                          <a:solidFill>
                            <a:schemeClr val="tx1"/>
                          </a:solidFill>
                          <a:effectLst/>
                          <a:latin typeface="Calibri" panose="020F0502020204030204" pitchFamily="34" charset="0"/>
                        </a:rPr>
                        <a:t>- Dettes sur titres empruntés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359739853"/>
                  </a:ext>
                </a:extLst>
              </a:tr>
              <a:tr h="0">
                <a:tc>
                  <a:txBody>
                    <a:bodyPr/>
                    <a:lstStyle/>
                    <a:p>
                      <a:pPr algn="l" fontAlgn="b"/>
                      <a:r>
                        <a:rPr lang="fr-FR" sz="1200" b="0" i="0" u="none" strike="noStrike" dirty="0">
                          <a:solidFill>
                            <a:schemeClr val="tx1"/>
                          </a:solidFill>
                          <a:effectLst/>
                          <a:latin typeface="Calibri" panose="020F0502020204030204" pitchFamily="34" charset="0"/>
                        </a:rPr>
                        <a:t>- Divers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556995773"/>
                  </a:ext>
                </a:extLst>
              </a:tr>
              <a:tr h="0">
                <a:tc>
                  <a:txBody>
                    <a:bodyPr/>
                    <a:lstStyle/>
                    <a:p>
                      <a:pPr algn="l" fontAlgn="b"/>
                      <a:r>
                        <a:rPr lang="fr-FR" sz="1200" b="1" i="0" u="none" strike="noStrike" dirty="0">
                          <a:solidFill>
                            <a:schemeClr val="tx1"/>
                          </a:solidFill>
                          <a:effectLst/>
                          <a:latin typeface="Calibri" panose="020F0502020204030204" pitchFamily="34" charset="0"/>
                        </a:rPr>
                        <a:t>Comptes de régularisation</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09978373"/>
                  </a:ext>
                </a:extLst>
              </a:tr>
              <a:tr h="0">
                <a:tc>
                  <a:txBody>
                    <a:bodyPr/>
                    <a:lstStyle/>
                    <a:p>
                      <a:pPr algn="l" fontAlgn="b"/>
                      <a:r>
                        <a:rPr lang="fr-FR" sz="1200" b="0" i="0" u="none" strike="noStrike" dirty="0">
                          <a:solidFill>
                            <a:schemeClr val="tx1"/>
                          </a:solidFill>
                          <a:effectLst/>
                          <a:latin typeface="Calibri" panose="020F0502020204030204" pitchFamily="34" charset="0"/>
                        </a:rPr>
                        <a:t>- Cptes d’ajust. sur IFT </a:t>
                      </a:r>
                      <a:r>
                        <a:rPr lang="fr-FR" sz="1050" b="0" i="0" u="none" strike="noStrike" dirty="0">
                          <a:solidFill>
                            <a:schemeClr val="tx1"/>
                          </a:solidFill>
                          <a:effectLst/>
                          <a:latin typeface="Calibri" panose="020F0502020204030204" pitchFamily="34" charset="0"/>
                        </a:rPr>
                        <a:t>(appels de marge cash)</a:t>
                      </a:r>
                      <a:endParaRPr lang="fr-FR" sz="1200" b="0" i="0" u="none" strike="noStrike" dirty="0">
                        <a:solidFill>
                          <a:schemeClr val="tx1"/>
                        </a:solidFill>
                        <a:effectLst/>
                        <a:latin typeface="Calibri" panose="020F0502020204030204" pitchFamily="34" charset="0"/>
                      </a:endParaRP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08639436"/>
                  </a:ext>
                </a:extLst>
              </a:tr>
              <a:tr h="0">
                <a:tc>
                  <a:txBody>
                    <a:bodyPr/>
                    <a:lstStyle/>
                    <a:p>
                      <a:pPr algn="l" fontAlgn="b"/>
                      <a:r>
                        <a:rPr lang="fr-FR" sz="1200" b="0" i="0" u="none" strike="noStrike" dirty="0">
                          <a:solidFill>
                            <a:schemeClr val="tx1"/>
                          </a:solidFill>
                          <a:effectLst/>
                          <a:latin typeface="Calibri" panose="020F0502020204030204" pitchFamily="34" charset="0"/>
                        </a:rPr>
                        <a:t>- Divers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706830241"/>
                  </a:ext>
                </a:extLst>
              </a:tr>
              <a:tr h="0">
                <a:tc>
                  <a:txBody>
                    <a:bodyPr/>
                    <a:lstStyle/>
                    <a:p>
                      <a:pPr algn="l" fontAlgn="b"/>
                      <a:r>
                        <a:rPr lang="fr-FR" sz="1200" b="1" i="0" u="none" strike="noStrike" dirty="0">
                          <a:solidFill>
                            <a:schemeClr val="tx1"/>
                          </a:solidFill>
                          <a:effectLst/>
                          <a:latin typeface="Calibri" panose="020F0502020204030204" pitchFamily="34" charset="0"/>
                        </a:rPr>
                        <a:t>Provisions pour risques et charges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339391207"/>
                  </a:ext>
                </a:extLst>
              </a:tr>
              <a:tr h="0">
                <a:tc>
                  <a:txBody>
                    <a:bodyPr/>
                    <a:lstStyle/>
                    <a:p>
                      <a:pPr algn="l" fontAlgn="b"/>
                      <a:r>
                        <a:rPr lang="fr-FR" sz="1200" b="1" i="0" u="none" strike="noStrike" dirty="0">
                          <a:solidFill>
                            <a:schemeClr val="tx1"/>
                          </a:solidFill>
                          <a:effectLst/>
                          <a:latin typeface="Calibri" panose="020F0502020204030204" pitchFamily="34" charset="0"/>
                        </a:rPr>
                        <a:t>Dettes subordonnées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59604154"/>
                  </a:ext>
                </a:extLst>
              </a:tr>
              <a:tr h="0">
                <a:tc>
                  <a:txBody>
                    <a:bodyPr/>
                    <a:lstStyle/>
                    <a:p>
                      <a:pPr algn="l" fontAlgn="b"/>
                      <a:r>
                        <a:rPr lang="fr-FR" sz="1200" b="0" i="0" u="none" strike="noStrike" dirty="0">
                          <a:solidFill>
                            <a:schemeClr val="tx1"/>
                          </a:solidFill>
                          <a:effectLst/>
                          <a:latin typeface="Calibri" panose="020F0502020204030204" pitchFamily="34" charset="0"/>
                        </a:rPr>
                        <a:t>- Fonds Mutuel de Garantie</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35277425"/>
                  </a:ext>
                </a:extLst>
              </a:tr>
              <a:tr h="0">
                <a:tc>
                  <a:txBody>
                    <a:bodyPr/>
                    <a:lstStyle/>
                    <a:p>
                      <a:pPr algn="l" fontAlgn="b"/>
                      <a:r>
                        <a:rPr lang="fr-FR" sz="1200" b="0" i="0" u="none" strike="noStrike" dirty="0">
                          <a:solidFill>
                            <a:schemeClr val="tx1"/>
                          </a:solidFill>
                          <a:effectLst/>
                          <a:latin typeface="Calibri" panose="020F0502020204030204" pitchFamily="34" charset="0"/>
                        </a:rPr>
                        <a:t>- Emprunts subordonnés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rgbClr val="000000"/>
                        </a:solidFill>
                        <a:effectLst/>
                        <a:latin typeface="+mn-lt"/>
                        <a:ea typeface="+mn-ea"/>
                        <a:cs typeface="+mn-cs"/>
                      </a:endParaRPr>
                    </a:p>
                  </a:txBody>
                  <a:tcPr marL="6350" marR="6350" marT="63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0961708"/>
                  </a:ext>
                </a:extLst>
              </a:tr>
              <a:tr h="0">
                <a:tc>
                  <a:txBody>
                    <a:bodyPr/>
                    <a:lstStyle/>
                    <a:p>
                      <a:pPr algn="l" fontAlgn="b"/>
                      <a:r>
                        <a:rPr lang="fr-FR" sz="1200" b="0" i="0" u="none" strike="noStrike" dirty="0">
                          <a:solidFill>
                            <a:schemeClr val="tx1"/>
                          </a:solidFill>
                          <a:effectLst/>
                          <a:latin typeface="Calibri" panose="020F0502020204030204" pitchFamily="34" charset="0"/>
                        </a:rPr>
                        <a:t>- Titres subordonnés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9180972"/>
                  </a:ext>
                </a:extLst>
              </a:tr>
              <a:tr h="0">
                <a:tc>
                  <a:txBody>
                    <a:bodyPr/>
                    <a:lstStyle/>
                    <a:p>
                      <a:pPr algn="l" fontAlgn="b"/>
                      <a:r>
                        <a:rPr lang="fr-FR" sz="1200" b="1" i="0" u="none" strike="noStrike" dirty="0">
                          <a:solidFill>
                            <a:schemeClr val="tx1"/>
                          </a:solidFill>
                          <a:effectLst/>
                          <a:latin typeface="Calibri" panose="020F0502020204030204" pitchFamily="34" charset="0"/>
                        </a:rPr>
                        <a:t>Fonds pour risques bancaires généraux</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293108380"/>
                  </a:ext>
                </a:extLst>
              </a:tr>
              <a:tr h="0">
                <a:tc>
                  <a:txBody>
                    <a:bodyPr/>
                    <a:lstStyle/>
                    <a:p>
                      <a:pPr algn="l" fontAlgn="b"/>
                      <a:r>
                        <a:rPr lang="fr-FR" sz="1200" b="1" i="0" u="none" strike="noStrike" dirty="0">
                          <a:solidFill>
                            <a:schemeClr val="tx1"/>
                          </a:solidFill>
                          <a:effectLst/>
                          <a:latin typeface="Calibri" panose="020F0502020204030204" pitchFamily="34" charset="0"/>
                        </a:rPr>
                        <a:t>Capitaux Propres</a:t>
                      </a:r>
                    </a:p>
                  </a:txBody>
                  <a:tcPr marL="6050"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2819526497"/>
                  </a:ext>
                </a:extLst>
              </a:tr>
              <a:tr h="0">
                <a:tc>
                  <a:txBody>
                    <a:bodyPr/>
                    <a:lstStyle/>
                    <a:p>
                      <a:pPr algn="l" fontAlgn="b"/>
                      <a:r>
                        <a:rPr lang="fr-FR" sz="1200" b="0" i="0" u="none" strike="noStrike" dirty="0">
                          <a:solidFill>
                            <a:schemeClr val="tx1"/>
                          </a:solidFill>
                          <a:effectLst/>
                          <a:latin typeface="Calibri" panose="020F0502020204030204" pitchFamily="34" charset="0"/>
                        </a:rPr>
                        <a:t>- Capital</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1695089505"/>
                  </a:ext>
                </a:extLst>
              </a:tr>
              <a:tr h="0">
                <a:tc>
                  <a:txBody>
                    <a:bodyPr/>
                    <a:lstStyle/>
                    <a:p>
                      <a:pPr algn="l" fontAlgn="b"/>
                      <a:r>
                        <a:rPr lang="fr-FR" sz="1200" b="0" i="0" u="none" strike="noStrike" dirty="0">
                          <a:solidFill>
                            <a:schemeClr val="tx1"/>
                          </a:solidFill>
                          <a:effectLst/>
                          <a:latin typeface="Calibri" panose="020F0502020204030204" pitchFamily="34" charset="0"/>
                        </a:rPr>
                        <a:t>- Réserves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1233965342"/>
                  </a:ext>
                </a:extLst>
              </a:tr>
              <a:tr h="0">
                <a:tc>
                  <a:txBody>
                    <a:bodyPr/>
                    <a:lstStyle/>
                    <a:p>
                      <a:pPr algn="l" fontAlgn="b"/>
                      <a:r>
                        <a:rPr lang="fr-FR" sz="1200" b="0" i="0" u="none" strike="noStrike" dirty="0">
                          <a:solidFill>
                            <a:schemeClr val="tx1"/>
                          </a:solidFill>
                          <a:effectLst/>
                          <a:latin typeface="Calibri" panose="020F0502020204030204" pitchFamily="34" charset="0"/>
                        </a:rPr>
                        <a:t>- Provisions réglementées</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4280618547"/>
                  </a:ext>
                </a:extLst>
              </a:tr>
              <a:tr h="0">
                <a:tc>
                  <a:txBody>
                    <a:bodyPr/>
                    <a:lstStyle/>
                    <a:p>
                      <a:pPr algn="l" fontAlgn="b"/>
                      <a:r>
                        <a:rPr lang="fr-FR" sz="1200" b="0" i="0" u="none" strike="noStrike" dirty="0">
                          <a:solidFill>
                            <a:schemeClr val="tx1"/>
                          </a:solidFill>
                          <a:effectLst/>
                          <a:latin typeface="Calibri" panose="020F0502020204030204" pitchFamily="34" charset="0"/>
                        </a:rPr>
                        <a:t>- Report à nouveau</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468011584"/>
                  </a:ext>
                </a:extLst>
              </a:tr>
              <a:tr h="0">
                <a:tc>
                  <a:txBody>
                    <a:bodyPr/>
                    <a:lstStyle/>
                    <a:p>
                      <a:pPr algn="l" fontAlgn="b"/>
                      <a:r>
                        <a:rPr lang="fr-FR" sz="1200" b="0" i="0" u="none" strike="noStrike" dirty="0">
                          <a:solidFill>
                            <a:schemeClr val="tx1"/>
                          </a:solidFill>
                          <a:effectLst/>
                          <a:latin typeface="Calibri" panose="020F0502020204030204" pitchFamily="34" charset="0"/>
                        </a:rPr>
                        <a:t>- Résultat net de l’exercice</a:t>
                      </a:r>
                    </a:p>
                  </a:txBody>
                  <a:tcPr marL="181512" marR="6050" marT="6050" marB="0" anchor="b">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fr-FR" sz="1050" b="1" i="0" u="none" strike="noStrike" kern="1200" cap="none" spc="0" normalizeH="0" baseline="0" noProof="0" dirty="0">
                        <a:ln>
                          <a:noFill/>
                        </a:ln>
                        <a:solidFill>
                          <a:srgbClr val="115264"/>
                        </a:solidFill>
                        <a:effectLst/>
                        <a:uLnTx/>
                        <a:uFillTx/>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1"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3921339559"/>
                  </a:ext>
                </a:extLst>
              </a:tr>
              <a:tr h="0">
                <a:tc>
                  <a:txBody>
                    <a:bodyPr/>
                    <a:lstStyle/>
                    <a:p>
                      <a:pPr algn="l" fontAlgn="b"/>
                      <a:r>
                        <a:rPr lang="fr-FR" sz="1200" b="1" i="0" u="none" strike="noStrike" dirty="0">
                          <a:solidFill>
                            <a:schemeClr val="tx1"/>
                          </a:solidFill>
                          <a:effectLst/>
                          <a:latin typeface="Calibri" panose="020F0502020204030204" pitchFamily="34" charset="0"/>
                        </a:rPr>
                        <a:t>Total Passif</a:t>
                      </a: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100" b="1"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tc>
                  <a:txBody>
                    <a:bodyPr/>
                    <a:lstStyle/>
                    <a:p>
                      <a:pPr marL="0" algn="ctr" defTabSz="914400" rtl="0" eaLnBrk="1" fontAlgn="b" latinLnBrk="0" hangingPunct="1"/>
                      <a:endParaRPr lang="fr-FR" sz="800" b="0" i="0" u="none" strike="noStrike" kern="1200" dirty="0">
                        <a:solidFill>
                          <a:schemeClr val="tx1"/>
                        </a:solidFill>
                        <a:effectLst/>
                        <a:latin typeface="+mn-lt"/>
                        <a:ea typeface="+mn-ea"/>
                        <a:cs typeface="+mn-cs"/>
                      </a:endParaRPr>
                    </a:p>
                  </a:txBody>
                  <a:tcPr marL="6050" marR="6050" marT="605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3971036350"/>
                  </a:ext>
                </a:extLst>
              </a:tr>
            </a:tbl>
          </a:graphicData>
        </a:graphic>
      </p:graphicFrame>
      <p:sp>
        <p:nvSpPr>
          <p:cNvPr id="2" name="Espace réservé du texte 16">
            <a:extLst>
              <a:ext uri="{FF2B5EF4-FFF2-40B4-BE49-F238E27FC236}">
                <a16:creationId xmlns:a16="http://schemas.microsoft.com/office/drawing/2014/main" id="{F720C32C-85E9-AC41-C318-986496AAB18D}"/>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403036687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Espace réservé pour une image  19" descr="Une image contenant bâtiment, extérieur, ciel, grand&#10;&#10;Description générée automatiquement">
            <a:extLst>
              <a:ext uri="{FF2B5EF4-FFF2-40B4-BE49-F238E27FC236}">
                <a16:creationId xmlns:a16="http://schemas.microsoft.com/office/drawing/2014/main" id="{25F00E3A-8E11-164B-9ACD-585465A2C215}"/>
              </a:ext>
            </a:extLst>
          </p:cNvPr>
          <p:cNvPicPr>
            <a:picLocks noGrp="1" noChangeAspect="1"/>
          </p:cNvPicPr>
          <p:nvPr>
            <p:ph type="pic" sz="quarter" idx="4294967295"/>
          </p:nvPr>
        </p:nvPicPr>
        <p:blipFill>
          <a:blip r:embed="rId3" cstate="print">
            <a:extLst>
              <a:ext uri="{28A0092B-C50C-407E-A947-70E740481C1C}">
                <a14:useLocalDpi xmlns:a14="http://schemas.microsoft.com/office/drawing/2010/main"/>
              </a:ext>
            </a:extLst>
          </a:blip>
          <a:srcRect/>
          <a:stretch>
            <a:fillRect/>
          </a:stretch>
        </p:blipFill>
        <p:spPr>
          <a:xfrm>
            <a:off x="1" y="-20305"/>
            <a:ext cx="12192000" cy="774902"/>
          </a:xfrm>
          <a:prstGeom prst="rect">
            <a:avLst/>
          </a:prstGeom>
        </p:spPr>
      </p:pic>
      <p:sp>
        <p:nvSpPr>
          <p:cNvPr id="3" name="Espace réservé du texte 2">
            <a:extLst>
              <a:ext uri="{FF2B5EF4-FFF2-40B4-BE49-F238E27FC236}">
                <a16:creationId xmlns:a16="http://schemas.microsoft.com/office/drawing/2014/main" id="{16D1D02C-004F-154C-AE25-9CEADC893EC1}"/>
              </a:ext>
            </a:extLst>
          </p:cNvPr>
          <p:cNvSpPr>
            <a:spLocks noGrp="1"/>
          </p:cNvSpPr>
          <p:nvPr>
            <p:ph type="body" sz="quarter" idx="11"/>
          </p:nvPr>
        </p:nvSpPr>
        <p:spPr>
          <a:xfrm>
            <a:off x="1" y="-20540"/>
            <a:ext cx="12191998" cy="774000"/>
          </a:xfrm>
        </p:spPr>
        <p:txBody>
          <a:bodyPr/>
          <a:lstStyle/>
          <a:p>
            <a:pPr>
              <a:spcBef>
                <a:spcPts val="0"/>
              </a:spcBef>
              <a:defRPr/>
            </a:pPr>
            <a:r>
              <a:rPr lang="fr-FR" dirty="0">
                <a:latin typeface="Calibri"/>
                <a:cs typeface="Calibri"/>
              </a:rPr>
              <a:t>Analyse des encours par nature de taux</a:t>
            </a:r>
          </a:p>
          <a:p>
            <a:pPr>
              <a:spcBef>
                <a:spcPts val="0"/>
              </a:spcBef>
              <a:defRPr/>
            </a:pPr>
            <a:r>
              <a:rPr lang="fr-FR" sz="2000" i="1" dirty="0">
                <a:latin typeface="Calibri (body)"/>
                <a:cs typeface="Calibri"/>
              </a:rPr>
              <a:t>c- Synthèse</a:t>
            </a:r>
            <a:endParaRPr lang="fr-FR" dirty="0">
              <a:latin typeface="Calibri"/>
              <a:cs typeface="Calibri"/>
            </a:endParaRPr>
          </a:p>
        </p:txBody>
      </p:sp>
      <p:sp>
        <p:nvSpPr>
          <p:cNvPr id="14" name="Rectangle 13">
            <a:extLst>
              <a:ext uri="{FF2B5EF4-FFF2-40B4-BE49-F238E27FC236}">
                <a16:creationId xmlns:a16="http://schemas.microsoft.com/office/drawing/2014/main" id="{4DD4AAFE-DCD3-EA20-975C-DE6045B809C4}"/>
              </a:ext>
            </a:extLst>
          </p:cNvPr>
          <p:cNvSpPr/>
          <p:nvPr/>
        </p:nvSpPr>
        <p:spPr>
          <a:xfrm>
            <a:off x="9744075" y="6216089"/>
            <a:ext cx="2238375" cy="57838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4" name="Table 2">
            <a:extLst>
              <a:ext uri="{FF2B5EF4-FFF2-40B4-BE49-F238E27FC236}">
                <a16:creationId xmlns:a16="http://schemas.microsoft.com/office/drawing/2014/main" id="{78201841-5D26-70CB-8DB8-4134D813F868}"/>
              </a:ext>
            </a:extLst>
          </p:cNvPr>
          <p:cNvGraphicFramePr>
            <a:graphicFrameLocks noGrp="1"/>
          </p:cNvGraphicFramePr>
          <p:nvPr/>
        </p:nvGraphicFramePr>
        <p:xfrm>
          <a:off x="1288825" y="1131934"/>
          <a:ext cx="9473691" cy="4704544"/>
        </p:xfrm>
        <a:graphic>
          <a:graphicData uri="http://schemas.openxmlformats.org/drawingml/2006/table">
            <a:tbl>
              <a:tblPr/>
              <a:tblGrid>
                <a:gridCol w="977297">
                  <a:extLst>
                    <a:ext uri="{9D8B030D-6E8A-4147-A177-3AD203B41FA5}">
                      <a16:colId xmlns:a16="http://schemas.microsoft.com/office/drawing/2014/main" val="2282176799"/>
                    </a:ext>
                  </a:extLst>
                </a:gridCol>
                <a:gridCol w="2208057">
                  <a:extLst>
                    <a:ext uri="{9D8B030D-6E8A-4147-A177-3AD203B41FA5}">
                      <a16:colId xmlns:a16="http://schemas.microsoft.com/office/drawing/2014/main" val="2783859328"/>
                    </a:ext>
                  </a:extLst>
                </a:gridCol>
                <a:gridCol w="816337">
                  <a:extLst>
                    <a:ext uri="{9D8B030D-6E8A-4147-A177-3AD203B41FA5}">
                      <a16:colId xmlns:a16="http://schemas.microsoft.com/office/drawing/2014/main" val="250235461"/>
                    </a:ext>
                  </a:extLst>
                </a:gridCol>
                <a:gridCol w="684000">
                  <a:extLst>
                    <a:ext uri="{9D8B030D-6E8A-4147-A177-3AD203B41FA5}">
                      <a16:colId xmlns:a16="http://schemas.microsoft.com/office/drawing/2014/main" val="525455795"/>
                    </a:ext>
                  </a:extLst>
                </a:gridCol>
                <a:gridCol w="684000">
                  <a:extLst>
                    <a:ext uri="{9D8B030D-6E8A-4147-A177-3AD203B41FA5}">
                      <a16:colId xmlns:a16="http://schemas.microsoft.com/office/drawing/2014/main" val="1659310265"/>
                    </a:ext>
                  </a:extLst>
                </a:gridCol>
                <a:gridCol w="684000">
                  <a:extLst>
                    <a:ext uri="{9D8B030D-6E8A-4147-A177-3AD203B41FA5}">
                      <a16:colId xmlns:a16="http://schemas.microsoft.com/office/drawing/2014/main" val="2327083637"/>
                    </a:ext>
                  </a:extLst>
                </a:gridCol>
                <a:gridCol w="684000">
                  <a:extLst>
                    <a:ext uri="{9D8B030D-6E8A-4147-A177-3AD203B41FA5}">
                      <a16:colId xmlns:a16="http://schemas.microsoft.com/office/drawing/2014/main" val="2885324755"/>
                    </a:ext>
                  </a:extLst>
                </a:gridCol>
                <a:gridCol w="684000">
                  <a:extLst>
                    <a:ext uri="{9D8B030D-6E8A-4147-A177-3AD203B41FA5}">
                      <a16:colId xmlns:a16="http://schemas.microsoft.com/office/drawing/2014/main" val="1532957112"/>
                    </a:ext>
                  </a:extLst>
                </a:gridCol>
                <a:gridCol w="684000">
                  <a:extLst>
                    <a:ext uri="{9D8B030D-6E8A-4147-A177-3AD203B41FA5}">
                      <a16:colId xmlns:a16="http://schemas.microsoft.com/office/drawing/2014/main" val="4126442365"/>
                    </a:ext>
                  </a:extLst>
                </a:gridCol>
                <a:gridCol w="684000">
                  <a:extLst>
                    <a:ext uri="{9D8B030D-6E8A-4147-A177-3AD203B41FA5}">
                      <a16:colId xmlns:a16="http://schemas.microsoft.com/office/drawing/2014/main" val="2316914318"/>
                    </a:ext>
                  </a:extLst>
                </a:gridCol>
                <a:gridCol w="684000">
                  <a:extLst>
                    <a:ext uri="{9D8B030D-6E8A-4147-A177-3AD203B41FA5}">
                      <a16:colId xmlns:a16="http://schemas.microsoft.com/office/drawing/2014/main" val="3036293287"/>
                    </a:ext>
                  </a:extLst>
                </a:gridCol>
              </a:tblGrid>
              <a:tr h="315387">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algn="ctr" fontAlgn="b"/>
                      <a:r>
                        <a:rPr lang="fr-FR" sz="1100" b="1" i="0" u="none" strike="noStrike" dirty="0">
                          <a:solidFill>
                            <a:schemeClr val="tx1"/>
                          </a:solidFill>
                          <a:effectLst/>
                          <a:latin typeface="Calibri" panose="020F0502020204030204" pitchFamily="34" charset="0"/>
                        </a:rPr>
                        <a:t>TF</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algn="ctr" fontAlgn="b"/>
                      <a:r>
                        <a:rPr lang="fr-FR" sz="1100" b="1" i="0" u="none" strike="noStrike" dirty="0">
                          <a:solidFill>
                            <a:schemeClr val="tx1"/>
                          </a:solidFill>
                          <a:effectLst/>
                          <a:latin typeface="Calibri" panose="020F0502020204030204" pitchFamily="34" charset="0"/>
                        </a:rPr>
                        <a:t>TR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algn="ctr" fontAlgn="b"/>
                      <a:endParaRPr lang="fr-FR" sz="1100" b="1"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46597539"/>
                  </a:ext>
                </a:extLst>
              </a:tr>
              <a:tr h="609157">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20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200" b="0" i="0" u="none" strike="noStrike" dirty="0">
                          <a:solidFill>
                            <a:schemeClr val="tx1"/>
                          </a:solidFill>
                          <a:effectLst/>
                          <a:latin typeface="Calibri" panose="020F0502020204030204" pitchFamily="34" charset="0"/>
                        </a:rPr>
                        <a:t>Encours comptables</a:t>
                      </a:r>
                    </a:p>
                    <a:p>
                      <a:pPr algn="ctr" fontAlgn="b"/>
                      <a:r>
                        <a:rPr lang="fr-FR" sz="1200" b="0" i="0" u="none" strike="noStrike" dirty="0">
                          <a:solidFill>
                            <a:schemeClr val="tx1"/>
                          </a:solidFill>
                          <a:effectLst/>
                          <a:latin typeface="Calibri" panose="020F0502020204030204" pitchFamily="34" charset="0"/>
                        </a:rPr>
                        <a:t>31/12/2023</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0%</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&lt;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TF DR &gt; 1 AN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ESTER</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E3M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E6M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E12M</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fr-FR" sz="1050" b="1" i="0" u="none" strike="noStrike" dirty="0">
                          <a:solidFill>
                            <a:schemeClr val="tx1"/>
                          </a:solidFill>
                          <a:effectLst/>
                          <a:latin typeface="Calibri" panose="020F0502020204030204" pitchFamily="34" charset="0"/>
                        </a:rPr>
                        <a:t>INFLATION</a:t>
                      </a:r>
                    </a:p>
                  </a:txBody>
                  <a:tcPr marL="6050" marR="6050" marT="60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91262255"/>
                  </a:ext>
                </a:extLst>
              </a:tr>
              <a:tr h="252000">
                <a:tc rowSpan="6">
                  <a:txBody>
                    <a:bodyPr/>
                    <a:lstStyle/>
                    <a:p>
                      <a:pPr marL="0" algn="ctr"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ACTIF</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Prêts interbancaires à vue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2888909"/>
                  </a:ext>
                </a:extLst>
              </a:tr>
              <a:tr h="252000">
                <a:tc vMerge="1">
                  <a:txBody>
                    <a:bodyPr/>
                    <a:lstStyle/>
                    <a:p>
                      <a:pPr marL="0" marR="0" lvl="0" indent="0" algn="l"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050" b="0" i="0" u="none" strike="noStrike" kern="1200" dirty="0">
                          <a:solidFill>
                            <a:schemeClr val="tx1"/>
                          </a:solidFill>
                          <a:effectLst/>
                          <a:latin typeface="Calibri" panose="020F0502020204030204" pitchFamily="34" charset="0"/>
                          <a:ea typeface="+mn-ea"/>
                          <a:cs typeface="+mn-cs"/>
                        </a:rPr>
                        <a:t>Prêts interbancaires à terme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66838987"/>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Créances clientèle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55215801"/>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Créances douteuses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06716452"/>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Titres obligataires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4048221"/>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Appels de marge versés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91758520"/>
                  </a:ext>
                </a:extLst>
              </a:tr>
              <a:tr h="252000">
                <a:tc rowSpan="5">
                  <a:txBody>
                    <a:bodyPr/>
                    <a:lstStyle/>
                    <a:p>
                      <a:pPr marL="0" algn="ctr"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PASSIF</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Emprunts interbancaires à terme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8973982"/>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Appels de marge reçus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55698354"/>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Fonds Mutuel de Garantie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8184482"/>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Emprunts subordonnés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79129456"/>
                  </a:ext>
                </a:extLst>
              </a:tr>
              <a:tr h="252000">
                <a:tc vMerge="1">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r>
                        <a:rPr lang="fr-FR" sz="1050" b="0" i="0" u="none" strike="noStrike" kern="1200" dirty="0">
                          <a:solidFill>
                            <a:schemeClr val="tx1"/>
                          </a:solidFill>
                          <a:effectLst/>
                          <a:latin typeface="Calibri" panose="020F0502020204030204" pitchFamily="34" charset="0"/>
                          <a:ea typeface="+mn-ea"/>
                          <a:cs typeface="+mn-cs"/>
                        </a:rPr>
                        <a:t>Titres subordonnés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26662226"/>
                  </a:ext>
                </a:extLst>
              </a:tr>
              <a:tr h="252000">
                <a:tc rowSpan="3">
                  <a:txBody>
                    <a:bodyPr/>
                    <a:lstStyle/>
                    <a:p>
                      <a:pPr algn="ctr" fontAlgn="b"/>
                      <a:r>
                        <a:rPr lang="fr-FR" sz="1050" b="0" i="0" u="none" strike="noStrike" dirty="0">
                          <a:solidFill>
                            <a:schemeClr val="tx1"/>
                          </a:solidFill>
                          <a:effectLst/>
                          <a:latin typeface="Calibri" panose="020F0502020204030204" pitchFamily="34" charset="0"/>
                        </a:rPr>
                        <a:t>SWAPS</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fr-FR" sz="1050" b="0" i="0" u="none" strike="noStrike" dirty="0">
                          <a:solidFill>
                            <a:schemeClr val="tx1"/>
                          </a:solidFill>
                          <a:effectLst/>
                          <a:latin typeface="Calibri" panose="020F0502020204030204" pitchFamily="34" charset="0"/>
                        </a:rPr>
                        <a:t>Opérations de macro-couverture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91774571"/>
                  </a:ext>
                </a:extLst>
              </a:tr>
              <a:tr h="252000">
                <a:tc vMerge="1">
                  <a:txBody>
                    <a:bodyPr/>
                    <a:lstStyle/>
                    <a:p>
                      <a:pPr algn="l" fontAlgn="b"/>
                      <a:endParaRPr lang="fr-FR" sz="105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fr-FR" sz="1050" b="0" i="0" u="none" strike="noStrike" dirty="0">
                          <a:solidFill>
                            <a:schemeClr val="tx1"/>
                          </a:solidFill>
                          <a:effectLst/>
                          <a:latin typeface="Calibri" panose="020F0502020204030204" pitchFamily="34" charset="0"/>
                        </a:rPr>
                        <a:t>Opérations de micro-couverture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81871327"/>
                  </a:ext>
                </a:extLst>
              </a:tr>
              <a:tr h="252000">
                <a:tc vMerge="1">
                  <a:txBody>
                    <a:bodyPr/>
                    <a:lstStyle/>
                    <a:p>
                      <a:pPr algn="l" fontAlgn="b"/>
                      <a:endParaRPr lang="fr-FR" sz="1050" b="0" i="0" u="none" strike="noStrike" dirty="0">
                        <a:solidFill>
                          <a:schemeClr val="tx1"/>
                        </a:solidFill>
                        <a:effectLst/>
                        <a:latin typeface="Calibri" panose="020F0502020204030204" pitchFamily="34" charset="0"/>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fr-FR" sz="1050" b="0" i="0" u="none" strike="noStrike" dirty="0">
                          <a:solidFill>
                            <a:schemeClr val="tx1"/>
                          </a:solidFill>
                          <a:effectLst/>
                          <a:latin typeface="Calibri" panose="020F0502020204030204" pitchFamily="34" charset="0"/>
                        </a:rPr>
                        <a:t>Opérations de couverture d’indice</a:t>
                      </a: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6050" marR="6050" marT="6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12187579"/>
                  </a:ext>
                </a:extLst>
              </a:tr>
              <a:tr h="252000">
                <a:tc>
                  <a:txBody>
                    <a:bodyPr/>
                    <a:lstStyle/>
                    <a:p>
                      <a:pPr marL="0" algn="ctr" defTabSz="914400" rtl="0" eaLnBrk="1" fontAlgn="b" latinLnBrk="0" hangingPunct="1"/>
                      <a:endParaRPr lang="fr-FR" sz="1050" b="1" i="0" u="none" strike="noStrike" kern="1200" dirty="0">
                        <a:solidFill>
                          <a:srgbClr val="FF0000"/>
                        </a:solidFill>
                        <a:effectLst/>
                        <a:latin typeface="Calibri" panose="020F0502020204030204" pitchFamily="34" charset="0"/>
                        <a:ea typeface="+mn-ea"/>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b" latinLnBrk="0" hangingPunct="1"/>
                      <a:r>
                        <a:rPr lang="fr-FR" sz="1050" b="1" i="0" u="none" strike="noStrike" kern="1200" dirty="0">
                          <a:solidFill>
                            <a:srgbClr val="FF0000"/>
                          </a:solidFill>
                          <a:effectLst/>
                          <a:latin typeface="Calibri" panose="020F0502020204030204" pitchFamily="34" charset="0"/>
                          <a:ea typeface="+mn-ea"/>
                          <a:cs typeface="+mn-cs"/>
                        </a:rPr>
                        <a:t>TOTAL</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fontAlgn="b" latinLnBrk="0" hangingPunct="1"/>
                      <a:endParaRPr lang="fr-FR" sz="1050" b="0" i="0" u="none" strike="noStrike" kern="1200" dirty="0">
                        <a:solidFill>
                          <a:schemeClr val="tx1"/>
                        </a:solidFill>
                        <a:effectLst/>
                        <a:latin typeface="Calibri" panose="020F0502020204030204" pitchFamily="34" charset="0"/>
                        <a:ea typeface="+mn-ea"/>
                        <a:cs typeface="+mn-cs"/>
                      </a:endParaRP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endParaRPr lang="fr-FR" sz="1100" b="1" i="0" u="none" strike="noStrike" dirty="0">
                        <a:solidFill>
                          <a:srgbClr val="FF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33562492"/>
                  </a:ext>
                </a:extLst>
              </a:tr>
            </a:tbl>
          </a:graphicData>
        </a:graphic>
      </p:graphicFrame>
      <p:sp>
        <p:nvSpPr>
          <p:cNvPr id="2" name="Espace réservé du texte 16">
            <a:extLst>
              <a:ext uri="{FF2B5EF4-FFF2-40B4-BE49-F238E27FC236}">
                <a16:creationId xmlns:a16="http://schemas.microsoft.com/office/drawing/2014/main" id="{A9D8F0D4-3296-2F7A-6A01-68D0ADB4355D}"/>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420348323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AC99E-6978-7278-ABB1-0675CC7BE579}"/>
            </a:ext>
          </a:extLst>
        </p:cNvPr>
        <p:cNvGrpSpPr/>
        <p:nvPr/>
      </p:nvGrpSpPr>
      <p:grpSpPr>
        <a:xfrm>
          <a:off x="0" y="0"/>
          <a:ext cx="0" cy="0"/>
          <a:chOff x="0" y="0"/>
          <a:chExt cx="0" cy="0"/>
        </a:xfrm>
      </p:grpSpPr>
      <p:cxnSp>
        <p:nvCxnSpPr>
          <p:cNvPr id="208" name="Connecteur droit 76">
            <a:extLst>
              <a:ext uri="{FF2B5EF4-FFF2-40B4-BE49-F238E27FC236}">
                <a16:creationId xmlns:a16="http://schemas.microsoft.com/office/drawing/2014/main" id="{240611AE-A2E2-9513-D437-6D8E2A92812C}"/>
              </a:ext>
            </a:extLst>
          </p:cNvPr>
          <p:cNvCxnSpPr>
            <a:cxnSpLocks/>
          </p:cNvCxnSpPr>
          <p:nvPr/>
        </p:nvCxnSpPr>
        <p:spPr>
          <a:xfrm>
            <a:off x="4414537" y="1504376"/>
            <a:ext cx="0" cy="2304000"/>
          </a:xfrm>
          <a:prstGeom prst="line">
            <a:avLst/>
          </a:prstGeom>
        </p:spPr>
        <p:style>
          <a:lnRef idx="3">
            <a:schemeClr val="dk1"/>
          </a:lnRef>
          <a:fillRef idx="0">
            <a:schemeClr val="dk1"/>
          </a:fillRef>
          <a:effectRef idx="2">
            <a:schemeClr val="dk1"/>
          </a:effectRef>
          <a:fontRef idx="minor">
            <a:schemeClr val="tx1"/>
          </a:fontRef>
        </p:style>
      </p:cxnSp>
      <p:grpSp>
        <p:nvGrpSpPr>
          <p:cNvPr id="209" name="Group 208">
            <a:extLst>
              <a:ext uri="{FF2B5EF4-FFF2-40B4-BE49-F238E27FC236}">
                <a16:creationId xmlns:a16="http://schemas.microsoft.com/office/drawing/2014/main" id="{934E87D5-A9FE-01EB-6C8F-AB36901B5B07}"/>
              </a:ext>
            </a:extLst>
          </p:cNvPr>
          <p:cNvGrpSpPr/>
          <p:nvPr/>
        </p:nvGrpSpPr>
        <p:grpSpPr>
          <a:xfrm>
            <a:off x="3716517" y="1540437"/>
            <a:ext cx="651896" cy="2193193"/>
            <a:chOff x="5491495" y="1544132"/>
            <a:chExt cx="651896" cy="2193193"/>
          </a:xfrm>
        </p:grpSpPr>
        <p:grpSp>
          <p:nvGrpSpPr>
            <p:cNvPr id="210" name="Group 209">
              <a:extLst>
                <a:ext uri="{FF2B5EF4-FFF2-40B4-BE49-F238E27FC236}">
                  <a16:creationId xmlns:a16="http://schemas.microsoft.com/office/drawing/2014/main" id="{697D021A-D23D-2573-43DF-B02C12B5F953}"/>
                </a:ext>
              </a:extLst>
            </p:cNvPr>
            <p:cNvGrpSpPr/>
            <p:nvPr/>
          </p:nvGrpSpPr>
          <p:grpSpPr>
            <a:xfrm>
              <a:off x="5491495" y="1544132"/>
              <a:ext cx="651175" cy="2193193"/>
              <a:chOff x="5491495" y="1544132"/>
              <a:chExt cx="651175" cy="2193193"/>
            </a:xfrm>
          </p:grpSpPr>
          <p:grpSp>
            <p:nvGrpSpPr>
              <p:cNvPr id="212" name="Group 211">
                <a:extLst>
                  <a:ext uri="{FF2B5EF4-FFF2-40B4-BE49-F238E27FC236}">
                    <a16:creationId xmlns:a16="http://schemas.microsoft.com/office/drawing/2014/main" id="{C6C426FA-B856-4385-C29F-ED017E98F2FC}"/>
                  </a:ext>
                </a:extLst>
              </p:cNvPr>
              <p:cNvGrpSpPr/>
              <p:nvPr/>
            </p:nvGrpSpPr>
            <p:grpSpPr>
              <a:xfrm>
                <a:off x="5491495" y="1835806"/>
                <a:ext cx="651175" cy="1901519"/>
                <a:chOff x="5490370" y="1542747"/>
                <a:chExt cx="651175" cy="1901519"/>
              </a:xfrm>
            </p:grpSpPr>
            <p:sp>
              <p:nvSpPr>
                <p:cNvPr id="214" name="Rectangle 213">
                  <a:extLst>
                    <a:ext uri="{FF2B5EF4-FFF2-40B4-BE49-F238E27FC236}">
                      <a16:creationId xmlns:a16="http://schemas.microsoft.com/office/drawing/2014/main" id="{6F4EAAEB-6AE4-F138-03DF-B83E698D8D40}"/>
                    </a:ext>
                  </a:extLst>
                </p:cNvPr>
                <p:cNvSpPr/>
                <p:nvPr/>
              </p:nvSpPr>
              <p:spPr>
                <a:xfrm>
                  <a:off x="5490370" y="1542747"/>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a:t>
                  </a:r>
                </a:p>
              </p:txBody>
            </p:sp>
            <p:sp>
              <p:nvSpPr>
                <p:cNvPr id="215" name="Rectangle 214">
                  <a:extLst>
                    <a:ext uri="{FF2B5EF4-FFF2-40B4-BE49-F238E27FC236}">
                      <a16:creationId xmlns:a16="http://schemas.microsoft.com/office/drawing/2014/main" id="{90AE4D27-6713-DAEE-A556-A7822C3D9357}"/>
                    </a:ext>
                  </a:extLst>
                </p:cNvPr>
                <p:cNvSpPr/>
                <p:nvPr/>
              </p:nvSpPr>
              <p:spPr>
                <a:xfrm>
                  <a:off x="5490370" y="1704372"/>
                  <a:ext cx="648000" cy="432000"/>
                </a:xfrm>
                <a:prstGeom prst="rect">
                  <a:avLst/>
                </a:prstGeom>
                <a:solidFill>
                  <a:srgbClr val="92D7CC"/>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EUR</a:t>
                  </a:r>
                </a:p>
              </p:txBody>
            </p:sp>
            <p:sp>
              <p:nvSpPr>
                <p:cNvPr id="216" name="Rectangle 215">
                  <a:extLst>
                    <a:ext uri="{FF2B5EF4-FFF2-40B4-BE49-F238E27FC236}">
                      <a16:creationId xmlns:a16="http://schemas.microsoft.com/office/drawing/2014/main" id="{A10FF9BE-DE75-111E-8DA1-0E4E641E55AC}"/>
                    </a:ext>
                  </a:extLst>
                </p:cNvPr>
                <p:cNvSpPr/>
                <p:nvPr/>
              </p:nvSpPr>
              <p:spPr>
                <a:xfrm>
                  <a:off x="5490370" y="2141453"/>
                  <a:ext cx="648000" cy="648000"/>
                </a:xfrm>
                <a:prstGeom prst="rect">
                  <a:avLst/>
                </a:prstGeom>
                <a:solidFill>
                  <a:srgbClr val="92D7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FR</a:t>
                  </a:r>
                </a:p>
              </p:txBody>
            </p:sp>
            <p:sp>
              <p:nvSpPr>
                <p:cNvPr id="217" name="Rectangle 216">
                  <a:extLst>
                    <a:ext uri="{FF2B5EF4-FFF2-40B4-BE49-F238E27FC236}">
                      <a16:creationId xmlns:a16="http://schemas.microsoft.com/office/drawing/2014/main" id="{B23E6AA3-A175-FDFD-68C7-3A1F1E8435D1}"/>
                    </a:ext>
                  </a:extLst>
                </p:cNvPr>
                <p:cNvSpPr/>
                <p:nvPr/>
              </p:nvSpPr>
              <p:spPr>
                <a:xfrm>
                  <a:off x="5490370" y="2798554"/>
                  <a:ext cx="648000" cy="209365"/>
                </a:xfrm>
                <a:prstGeom prst="rect">
                  <a:avLst/>
                </a:prstGeom>
                <a:solidFill>
                  <a:srgbClr val="C5E0B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E6M</a:t>
                  </a:r>
                </a:p>
              </p:txBody>
            </p:sp>
            <p:sp>
              <p:nvSpPr>
                <p:cNvPr id="218" name="Rectangle 217">
                  <a:extLst>
                    <a:ext uri="{FF2B5EF4-FFF2-40B4-BE49-F238E27FC236}">
                      <a16:creationId xmlns:a16="http://schemas.microsoft.com/office/drawing/2014/main" id="{843D110F-05D2-D5CF-C3BE-57839AE5AA47}"/>
                    </a:ext>
                  </a:extLst>
                </p:cNvPr>
                <p:cNvSpPr/>
                <p:nvPr/>
              </p:nvSpPr>
              <p:spPr>
                <a:xfrm>
                  <a:off x="5493545" y="3274988"/>
                  <a:ext cx="648000" cy="169278"/>
                </a:xfrm>
                <a:prstGeom prst="rect">
                  <a:avLst/>
                </a:prstGeom>
                <a:solidFill>
                  <a:srgbClr val="54823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ESTER</a:t>
                  </a:r>
                </a:p>
              </p:txBody>
            </p:sp>
          </p:grpSp>
          <p:sp>
            <p:nvSpPr>
              <p:cNvPr id="213" name="Rectangle 212">
                <a:extLst>
                  <a:ext uri="{FF2B5EF4-FFF2-40B4-BE49-F238E27FC236}">
                    <a16:creationId xmlns:a16="http://schemas.microsoft.com/office/drawing/2014/main" id="{27389E99-DBB1-1C3D-7FCD-1B6A31941ED9}"/>
                  </a:ext>
                </a:extLst>
              </p:cNvPr>
              <p:cNvSpPr/>
              <p:nvPr/>
            </p:nvSpPr>
            <p:spPr>
              <a:xfrm>
                <a:off x="5491495" y="1544132"/>
                <a:ext cx="648000"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grpSp>
        <p:sp>
          <p:nvSpPr>
            <p:cNvPr id="211" name="Rectangle 210">
              <a:extLst>
                <a:ext uri="{FF2B5EF4-FFF2-40B4-BE49-F238E27FC236}">
                  <a16:creationId xmlns:a16="http://schemas.microsoft.com/office/drawing/2014/main" id="{22C9A613-4457-2DC1-36A7-F0EEDF316A39}"/>
                </a:ext>
              </a:extLst>
            </p:cNvPr>
            <p:cNvSpPr/>
            <p:nvPr/>
          </p:nvSpPr>
          <p:spPr>
            <a:xfrm>
              <a:off x="5495391" y="3312288"/>
              <a:ext cx="648000" cy="245478"/>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grpSp>
      <p:sp>
        <p:nvSpPr>
          <p:cNvPr id="229" name="Rectangle 228">
            <a:extLst>
              <a:ext uri="{FF2B5EF4-FFF2-40B4-BE49-F238E27FC236}">
                <a16:creationId xmlns:a16="http://schemas.microsoft.com/office/drawing/2014/main" id="{976EC300-71E0-9C0C-8C6E-4AA2E310FE50}"/>
              </a:ext>
            </a:extLst>
          </p:cNvPr>
          <p:cNvSpPr/>
          <p:nvPr/>
        </p:nvSpPr>
        <p:spPr>
          <a:xfrm>
            <a:off x="9445371" y="6042814"/>
            <a:ext cx="2532037" cy="728812"/>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2" name="Text Placeholder 1">
            <a:extLst>
              <a:ext uri="{FF2B5EF4-FFF2-40B4-BE49-F238E27FC236}">
                <a16:creationId xmlns:a16="http://schemas.microsoft.com/office/drawing/2014/main" id="{489382AB-6947-36E2-A701-B46384367C14}"/>
              </a:ext>
            </a:extLst>
          </p:cNvPr>
          <p:cNvSpPr>
            <a:spLocks noGrp="1"/>
          </p:cNvSpPr>
          <p:nvPr>
            <p:ph type="body" sz="quarter" idx="11"/>
          </p:nvPr>
        </p:nvSpPr>
        <p:spPr>
          <a:xfrm>
            <a:off x="133843" y="92918"/>
            <a:ext cx="12191999" cy="754597"/>
          </a:xfrm>
        </p:spPr>
        <p:txBody>
          <a:bodyPr/>
          <a:lstStyle/>
          <a:p>
            <a:pPr marL="355600" lvl="1">
              <a:spcBef>
                <a:spcPts val="0"/>
              </a:spcBef>
            </a:pPr>
            <a:r>
              <a:rPr lang="fr-FR" sz="2800" b="1" dirty="0">
                <a:solidFill>
                  <a:schemeClr val="bg1"/>
                </a:solidFill>
                <a:latin typeface="+mn-lt"/>
              </a:rPr>
              <a:t>Analyse des facteurs de sensibilité de la MNI</a:t>
            </a:r>
          </a:p>
          <a:p>
            <a:pPr marL="355600">
              <a:lnSpc>
                <a:spcPct val="100000"/>
              </a:lnSpc>
              <a:spcBef>
                <a:spcPts val="0"/>
              </a:spcBef>
            </a:pPr>
            <a:endParaRPr lang="fr-FR" sz="1400" b="0" dirty="0">
              <a:highlight>
                <a:srgbClr val="EB9A07"/>
              </a:highlight>
            </a:endParaRPr>
          </a:p>
        </p:txBody>
      </p:sp>
      <p:sp>
        <p:nvSpPr>
          <p:cNvPr id="10" name="Rectangle 9">
            <a:extLst>
              <a:ext uri="{FF2B5EF4-FFF2-40B4-BE49-F238E27FC236}">
                <a16:creationId xmlns:a16="http://schemas.microsoft.com/office/drawing/2014/main" id="{E6D8E088-7D3A-42DD-4B4C-925C1808DA7D}"/>
              </a:ext>
            </a:extLst>
          </p:cNvPr>
          <p:cNvSpPr/>
          <p:nvPr/>
        </p:nvSpPr>
        <p:spPr>
          <a:xfrm>
            <a:off x="934999" y="3862335"/>
            <a:ext cx="648000" cy="1800972"/>
          </a:xfrm>
          <a:prstGeom prst="rect">
            <a:avLst/>
          </a:prstGeom>
          <a:solidFill>
            <a:srgbClr val="22A4C8"/>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15" name="Rectangle 14">
            <a:extLst>
              <a:ext uri="{FF2B5EF4-FFF2-40B4-BE49-F238E27FC236}">
                <a16:creationId xmlns:a16="http://schemas.microsoft.com/office/drawing/2014/main" id="{9EFAA44E-0781-8B87-826D-4290F109D616}"/>
              </a:ext>
            </a:extLst>
          </p:cNvPr>
          <p:cNvSpPr/>
          <p:nvPr/>
        </p:nvSpPr>
        <p:spPr>
          <a:xfrm>
            <a:off x="934998" y="1308238"/>
            <a:ext cx="648000" cy="457200"/>
          </a:xfrm>
          <a:prstGeom prst="rect">
            <a:avLst/>
          </a:prstGeom>
          <a:solidFill>
            <a:srgbClr val="22A4C8"/>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17" name="Rectangle 16">
            <a:extLst>
              <a:ext uri="{FF2B5EF4-FFF2-40B4-BE49-F238E27FC236}">
                <a16:creationId xmlns:a16="http://schemas.microsoft.com/office/drawing/2014/main" id="{8DD87BC4-3EE3-18E4-E4DC-00E7D24C07DB}"/>
              </a:ext>
            </a:extLst>
          </p:cNvPr>
          <p:cNvSpPr/>
          <p:nvPr/>
        </p:nvSpPr>
        <p:spPr>
          <a:xfrm>
            <a:off x="934997" y="1981508"/>
            <a:ext cx="648000" cy="420624"/>
          </a:xfrm>
          <a:prstGeom prst="rect">
            <a:avLst/>
          </a:prstGeom>
          <a:solidFill>
            <a:srgbClr val="92D7CC"/>
          </a:solid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EUR</a:t>
            </a:r>
          </a:p>
        </p:txBody>
      </p:sp>
      <p:sp>
        <p:nvSpPr>
          <p:cNvPr id="19" name="Rectangle 18">
            <a:extLst>
              <a:ext uri="{FF2B5EF4-FFF2-40B4-BE49-F238E27FC236}">
                <a16:creationId xmlns:a16="http://schemas.microsoft.com/office/drawing/2014/main" id="{22448C18-DBD4-6647-795C-237D6114D4E9}"/>
              </a:ext>
            </a:extLst>
          </p:cNvPr>
          <p:cNvSpPr/>
          <p:nvPr/>
        </p:nvSpPr>
        <p:spPr>
          <a:xfrm>
            <a:off x="934997" y="2402131"/>
            <a:ext cx="648000" cy="333359"/>
          </a:xfrm>
          <a:prstGeom prst="rect">
            <a:avLst/>
          </a:prstGeom>
          <a:solidFill>
            <a:srgbClr val="92D7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FR</a:t>
            </a:r>
          </a:p>
        </p:txBody>
      </p:sp>
      <p:sp>
        <p:nvSpPr>
          <p:cNvPr id="22" name="Rectangle 21">
            <a:extLst>
              <a:ext uri="{FF2B5EF4-FFF2-40B4-BE49-F238E27FC236}">
                <a16:creationId xmlns:a16="http://schemas.microsoft.com/office/drawing/2014/main" id="{937C9261-96F1-51D6-19FA-915E4E8DAE7C}"/>
              </a:ext>
            </a:extLst>
          </p:cNvPr>
          <p:cNvSpPr/>
          <p:nvPr/>
        </p:nvSpPr>
        <p:spPr>
          <a:xfrm>
            <a:off x="934997" y="2735491"/>
            <a:ext cx="648000" cy="228806"/>
          </a:xfrm>
          <a:prstGeom prst="rect">
            <a:avLst/>
          </a:prstGeom>
          <a:solidFill>
            <a:srgbClr val="C5E0B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E6M</a:t>
            </a:r>
          </a:p>
        </p:txBody>
      </p:sp>
      <p:sp>
        <p:nvSpPr>
          <p:cNvPr id="23" name="Rectangle 22">
            <a:extLst>
              <a:ext uri="{FF2B5EF4-FFF2-40B4-BE49-F238E27FC236}">
                <a16:creationId xmlns:a16="http://schemas.microsoft.com/office/drawing/2014/main" id="{4F24017F-CFF6-19C1-DE6F-EC871340CE9F}"/>
              </a:ext>
            </a:extLst>
          </p:cNvPr>
          <p:cNvSpPr/>
          <p:nvPr/>
        </p:nvSpPr>
        <p:spPr>
          <a:xfrm>
            <a:off x="934997" y="3169012"/>
            <a:ext cx="648000" cy="199134"/>
          </a:xfrm>
          <a:prstGeom prst="rect">
            <a:avLst/>
          </a:prstGeom>
          <a:solidFill>
            <a:srgbClr val="54823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ESTER</a:t>
            </a:r>
          </a:p>
        </p:txBody>
      </p:sp>
      <p:sp>
        <p:nvSpPr>
          <p:cNvPr id="24" name="Rectangle 23">
            <a:extLst>
              <a:ext uri="{FF2B5EF4-FFF2-40B4-BE49-F238E27FC236}">
                <a16:creationId xmlns:a16="http://schemas.microsoft.com/office/drawing/2014/main" id="{585F7552-0808-1FE1-D62E-5DFD2F2AA631}"/>
              </a:ext>
            </a:extLst>
          </p:cNvPr>
          <p:cNvSpPr/>
          <p:nvPr/>
        </p:nvSpPr>
        <p:spPr>
          <a:xfrm>
            <a:off x="934998" y="5656004"/>
            <a:ext cx="648000" cy="288036"/>
          </a:xfrm>
          <a:prstGeom prst="rect">
            <a:avLst/>
          </a:prstGeom>
          <a:solidFill>
            <a:srgbClr val="E7E6E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rPr>
              <a:t>TLEP</a:t>
            </a:r>
          </a:p>
        </p:txBody>
      </p:sp>
      <p:sp>
        <p:nvSpPr>
          <p:cNvPr id="31" name="Rectangle 30">
            <a:extLst>
              <a:ext uri="{FF2B5EF4-FFF2-40B4-BE49-F238E27FC236}">
                <a16:creationId xmlns:a16="http://schemas.microsoft.com/office/drawing/2014/main" id="{325519D5-C841-AAFA-21F3-EDB6827861FE}"/>
              </a:ext>
            </a:extLst>
          </p:cNvPr>
          <p:cNvSpPr/>
          <p:nvPr/>
        </p:nvSpPr>
        <p:spPr>
          <a:xfrm>
            <a:off x="934997" y="3390297"/>
            <a:ext cx="648000" cy="254551"/>
          </a:xfrm>
          <a:prstGeom prst="rect">
            <a:avLst/>
          </a:prstGeom>
          <a:solidFill>
            <a:srgbClr val="92D7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1" i="0" u="none" strike="noStrike" kern="0" cap="none" spc="0" normalizeH="0" baseline="0" noProof="0">
                <a:ln>
                  <a:noFill/>
                </a:ln>
                <a:solidFill>
                  <a:prstClr val="black"/>
                </a:solidFill>
                <a:effectLst/>
                <a:uLnTx/>
                <a:uFillTx/>
                <a:latin typeface="Calibri" panose="020F0502020204030204"/>
                <a:ea typeface="+mn-ea"/>
                <a:cs typeface="+mn-cs"/>
                <a:sym typeface="Arial"/>
              </a:rPr>
              <a:t>INF FR</a:t>
            </a:r>
          </a:p>
        </p:txBody>
      </p:sp>
      <p:sp>
        <p:nvSpPr>
          <p:cNvPr id="32" name="Rectangle 31">
            <a:extLst>
              <a:ext uri="{FF2B5EF4-FFF2-40B4-BE49-F238E27FC236}">
                <a16:creationId xmlns:a16="http://schemas.microsoft.com/office/drawing/2014/main" id="{0E5B18DE-99B9-6221-7EA0-15890D57DAA4}"/>
              </a:ext>
            </a:extLst>
          </p:cNvPr>
          <p:cNvSpPr/>
          <p:nvPr/>
        </p:nvSpPr>
        <p:spPr>
          <a:xfrm>
            <a:off x="934997" y="5950107"/>
            <a:ext cx="648000" cy="377455"/>
          </a:xfrm>
          <a:prstGeom prst="rect">
            <a:avLst/>
          </a:prstGeom>
          <a:pattFill prst="pct50">
            <a:fgClr>
              <a:srgbClr val="115264"/>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1"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rPr>
              <a:t>TF</a:t>
            </a:r>
          </a:p>
        </p:txBody>
      </p:sp>
      <p:sp>
        <p:nvSpPr>
          <p:cNvPr id="33" name="Rectangle 32">
            <a:extLst>
              <a:ext uri="{FF2B5EF4-FFF2-40B4-BE49-F238E27FC236}">
                <a16:creationId xmlns:a16="http://schemas.microsoft.com/office/drawing/2014/main" id="{91D030A1-36F5-2DDD-5EA2-091BC48CA96C}"/>
              </a:ext>
            </a:extLst>
          </p:cNvPr>
          <p:cNvSpPr/>
          <p:nvPr/>
        </p:nvSpPr>
        <p:spPr>
          <a:xfrm>
            <a:off x="936344" y="1745921"/>
            <a:ext cx="648000" cy="228402"/>
          </a:xfrm>
          <a:prstGeom prst="rect">
            <a:avLst/>
          </a:prstGeom>
          <a:solidFill>
            <a:srgbClr val="11526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a:t>
            </a:r>
          </a:p>
        </p:txBody>
      </p:sp>
      <p:sp>
        <p:nvSpPr>
          <p:cNvPr id="34" name="Rectangle 33">
            <a:extLst>
              <a:ext uri="{FF2B5EF4-FFF2-40B4-BE49-F238E27FC236}">
                <a16:creationId xmlns:a16="http://schemas.microsoft.com/office/drawing/2014/main" id="{2DBD8499-D8EE-3B5D-92BC-8F3F0B27525C}"/>
              </a:ext>
            </a:extLst>
          </p:cNvPr>
          <p:cNvSpPr/>
          <p:nvPr/>
        </p:nvSpPr>
        <p:spPr>
          <a:xfrm>
            <a:off x="1868991" y="4075795"/>
            <a:ext cx="648000" cy="1587512"/>
          </a:xfrm>
          <a:prstGeom prst="rect">
            <a:avLst/>
          </a:prstGeom>
          <a:solidFill>
            <a:srgbClr val="22A4C8"/>
          </a:solidFill>
          <a:ln w="38100">
            <a:solidFill>
              <a:srgbClr val="FF0000"/>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35" name="Rectangle 34">
            <a:extLst>
              <a:ext uri="{FF2B5EF4-FFF2-40B4-BE49-F238E27FC236}">
                <a16:creationId xmlns:a16="http://schemas.microsoft.com/office/drawing/2014/main" id="{15A03FD6-B003-8EEB-D34A-A8E051F1ECD6}"/>
              </a:ext>
            </a:extLst>
          </p:cNvPr>
          <p:cNvSpPr/>
          <p:nvPr/>
        </p:nvSpPr>
        <p:spPr>
          <a:xfrm>
            <a:off x="1868198" y="1392333"/>
            <a:ext cx="648000" cy="341386"/>
          </a:xfrm>
          <a:prstGeom prst="rect">
            <a:avLst/>
          </a:prstGeom>
          <a:solidFill>
            <a:srgbClr val="22A4C8"/>
          </a:solidFill>
          <a:ln w="38100">
            <a:solidFill>
              <a:srgbClr val="FF0000"/>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36" name="Rectangle 35">
            <a:extLst>
              <a:ext uri="{FF2B5EF4-FFF2-40B4-BE49-F238E27FC236}">
                <a16:creationId xmlns:a16="http://schemas.microsoft.com/office/drawing/2014/main" id="{B24D5146-9D1B-E94D-BC2F-653B5C250255}"/>
              </a:ext>
            </a:extLst>
          </p:cNvPr>
          <p:cNvSpPr/>
          <p:nvPr/>
        </p:nvSpPr>
        <p:spPr>
          <a:xfrm>
            <a:off x="1868198" y="2029022"/>
            <a:ext cx="648000" cy="341386"/>
          </a:xfrm>
          <a:prstGeom prst="rect">
            <a:avLst/>
          </a:prstGeom>
          <a:solidFill>
            <a:srgbClr val="92D7CC"/>
          </a:solidFill>
          <a:ln w="38100">
            <a:solidFill>
              <a:srgbClr val="FF0000"/>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37" name="Rectangle 36">
            <a:extLst>
              <a:ext uri="{FF2B5EF4-FFF2-40B4-BE49-F238E27FC236}">
                <a16:creationId xmlns:a16="http://schemas.microsoft.com/office/drawing/2014/main" id="{F785EE39-3FCA-1D8F-0AC2-B671AAD67FC0}"/>
              </a:ext>
            </a:extLst>
          </p:cNvPr>
          <p:cNvSpPr/>
          <p:nvPr/>
        </p:nvSpPr>
        <p:spPr>
          <a:xfrm>
            <a:off x="1868198" y="2459014"/>
            <a:ext cx="648000" cy="254121"/>
          </a:xfrm>
          <a:prstGeom prst="rect">
            <a:avLst/>
          </a:prstGeom>
          <a:solidFill>
            <a:srgbClr val="92D7CC"/>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38" name="Rectangle 37">
            <a:extLst>
              <a:ext uri="{FF2B5EF4-FFF2-40B4-BE49-F238E27FC236}">
                <a16:creationId xmlns:a16="http://schemas.microsoft.com/office/drawing/2014/main" id="{848C596D-E2D8-C6DA-42F2-E7C843564B70}"/>
              </a:ext>
            </a:extLst>
          </p:cNvPr>
          <p:cNvSpPr/>
          <p:nvPr/>
        </p:nvSpPr>
        <p:spPr>
          <a:xfrm>
            <a:off x="1868198" y="2828192"/>
            <a:ext cx="648000" cy="133935"/>
          </a:xfrm>
          <a:prstGeom prst="rect">
            <a:avLst/>
          </a:prstGeom>
          <a:solidFill>
            <a:srgbClr val="C5E0B4"/>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39" name="Rectangle 38">
            <a:extLst>
              <a:ext uri="{FF2B5EF4-FFF2-40B4-BE49-F238E27FC236}">
                <a16:creationId xmlns:a16="http://schemas.microsoft.com/office/drawing/2014/main" id="{E8E0A139-2901-91DE-5A2A-33DC85254BB4}"/>
              </a:ext>
            </a:extLst>
          </p:cNvPr>
          <p:cNvSpPr/>
          <p:nvPr/>
        </p:nvSpPr>
        <p:spPr>
          <a:xfrm>
            <a:off x="1868198" y="3244662"/>
            <a:ext cx="648000" cy="145677"/>
          </a:xfrm>
          <a:prstGeom prst="rect">
            <a:avLst/>
          </a:prstGeom>
          <a:solidFill>
            <a:srgbClr val="548235"/>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0" name="Rectangle 39">
            <a:extLst>
              <a:ext uri="{FF2B5EF4-FFF2-40B4-BE49-F238E27FC236}">
                <a16:creationId xmlns:a16="http://schemas.microsoft.com/office/drawing/2014/main" id="{885D0F28-9A29-C027-9E79-EAE9196362AA}"/>
              </a:ext>
            </a:extLst>
          </p:cNvPr>
          <p:cNvSpPr/>
          <p:nvPr/>
        </p:nvSpPr>
        <p:spPr>
          <a:xfrm>
            <a:off x="1868990" y="5753648"/>
            <a:ext cx="648000" cy="190392"/>
          </a:xfrm>
          <a:prstGeom prst="rect">
            <a:avLst/>
          </a:prstGeom>
          <a:solidFill>
            <a:srgbClr val="E7E6E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endParaRPr>
          </a:p>
        </p:txBody>
      </p:sp>
      <p:sp>
        <p:nvSpPr>
          <p:cNvPr id="41" name="Rectangle 40">
            <a:extLst>
              <a:ext uri="{FF2B5EF4-FFF2-40B4-BE49-F238E27FC236}">
                <a16:creationId xmlns:a16="http://schemas.microsoft.com/office/drawing/2014/main" id="{9540EB49-D58D-B73F-8ADE-66EAFD376FEB}"/>
              </a:ext>
            </a:extLst>
          </p:cNvPr>
          <p:cNvSpPr/>
          <p:nvPr/>
        </p:nvSpPr>
        <p:spPr>
          <a:xfrm>
            <a:off x="1868198" y="3436652"/>
            <a:ext cx="648000" cy="190392"/>
          </a:xfrm>
          <a:prstGeom prst="rect">
            <a:avLst/>
          </a:prstGeom>
          <a:solidFill>
            <a:srgbClr val="92D7CC"/>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2" name="Rectangle 41">
            <a:extLst>
              <a:ext uri="{FF2B5EF4-FFF2-40B4-BE49-F238E27FC236}">
                <a16:creationId xmlns:a16="http://schemas.microsoft.com/office/drawing/2014/main" id="{CECFE08B-E36B-CE72-163B-78F38EE31557}"/>
              </a:ext>
            </a:extLst>
          </p:cNvPr>
          <p:cNvSpPr/>
          <p:nvPr/>
        </p:nvSpPr>
        <p:spPr>
          <a:xfrm>
            <a:off x="1867061" y="6132911"/>
            <a:ext cx="612000" cy="190393"/>
          </a:xfrm>
          <a:prstGeom prst="rect">
            <a:avLst/>
          </a:prstGeom>
          <a:pattFill prst="pct50">
            <a:fgClr>
              <a:srgbClr val="115264"/>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4" name="Rectangle 43">
            <a:extLst>
              <a:ext uri="{FF2B5EF4-FFF2-40B4-BE49-F238E27FC236}">
                <a16:creationId xmlns:a16="http://schemas.microsoft.com/office/drawing/2014/main" id="{3101E5A7-A12B-AEE6-34B9-CEC8010B2E0F}"/>
              </a:ext>
            </a:extLst>
          </p:cNvPr>
          <p:cNvSpPr/>
          <p:nvPr/>
        </p:nvSpPr>
        <p:spPr>
          <a:xfrm>
            <a:off x="2746630" y="3862335"/>
            <a:ext cx="648000" cy="213460"/>
          </a:xfrm>
          <a:prstGeom prst="rect">
            <a:avLst/>
          </a:prstGeom>
          <a:solidFill>
            <a:srgbClr val="22A4C8"/>
          </a:solidFill>
          <a:ln w="38100">
            <a:solidFill>
              <a:srgbClr val="FF0000"/>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5" name="Rectangle 44">
            <a:extLst>
              <a:ext uri="{FF2B5EF4-FFF2-40B4-BE49-F238E27FC236}">
                <a16:creationId xmlns:a16="http://schemas.microsoft.com/office/drawing/2014/main" id="{EC77C3E2-675B-2487-D275-135D4200A244}"/>
              </a:ext>
            </a:extLst>
          </p:cNvPr>
          <p:cNvSpPr/>
          <p:nvPr/>
        </p:nvSpPr>
        <p:spPr>
          <a:xfrm>
            <a:off x="2740518" y="1195903"/>
            <a:ext cx="648000" cy="196458"/>
          </a:xfrm>
          <a:prstGeom prst="rect">
            <a:avLst/>
          </a:prstGeom>
          <a:solidFill>
            <a:srgbClr val="22A4C8"/>
          </a:solidFill>
          <a:ln w="38100">
            <a:solidFill>
              <a:srgbClr val="FF0000"/>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6" name="Rectangle 45">
            <a:extLst>
              <a:ext uri="{FF2B5EF4-FFF2-40B4-BE49-F238E27FC236}">
                <a16:creationId xmlns:a16="http://schemas.microsoft.com/office/drawing/2014/main" id="{F160A93D-80D2-5532-0E72-B882EB84095E}"/>
              </a:ext>
            </a:extLst>
          </p:cNvPr>
          <p:cNvSpPr/>
          <p:nvPr/>
        </p:nvSpPr>
        <p:spPr>
          <a:xfrm>
            <a:off x="2740518" y="1906379"/>
            <a:ext cx="648000" cy="159247"/>
          </a:xfrm>
          <a:prstGeom prst="rect">
            <a:avLst/>
          </a:prstGeom>
          <a:solidFill>
            <a:srgbClr val="92D7CC"/>
          </a:solidFill>
          <a:ln w="38100">
            <a:solidFill>
              <a:srgbClr val="FF0000"/>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7" name="Rectangle 46">
            <a:extLst>
              <a:ext uri="{FF2B5EF4-FFF2-40B4-BE49-F238E27FC236}">
                <a16:creationId xmlns:a16="http://schemas.microsoft.com/office/drawing/2014/main" id="{22565AF0-94B9-0C76-B3C1-26BF91F3E000}"/>
              </a:ext>
            </a:extLst>
          </p:cNvPr>
          <p:cNvSpPr/>
          <p:nvPr/>
        </p:nvSpPr>
        <p:spPr>
          <a:xfrm>
            <a:off x="2740518" y="2308318"/>
            <a:ext cx="648000" cy="159247"/>
          </a:xfrm>
          <a:prstGeom prst="rect">
            <a:avLst/>
          </a:prstGeom>
          <a:solidFill>
            <a:srgbClr val="92D7CC"/>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8" name="Rectangle 47">
            <a:extLst>
              <a:ext uri="{FF2B5EF4-FFF2-40B4-BE49-F238E27FC236}">
                <a16:creationId xmlns:a16="http://schemas.microsoft.com/office/drawing/2014/main" id="{D82C5AF4-BD4D-0A24-5423-80C4E81ECF5B}"/>
              </a:ext>
            </a:extLst>
          </p:cNvPr>
          <p:cNvSpPr/>
          <p:nvPr/>
        </p:nvSpPr>
        <p:spPr>
          <a:xfrm>
            <a:off x="2740518" y="2650249"/>
            <a:ext cx="648000" cy="182828"/>
          </a:xfrm>
          <a:prstGeom prst="rect">
            <a:avLst/>
          </a:prstGeom>
          <a:solidFill>
            <a:srgbClr val="C5E0B4"/>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49" name="Rectangle 48">
            <a:extLst>
              <a:ext uri="{FF2B5EF4-FFF2-40B4-BE49-F238E27FC236}">
                <a16:creationId xmlns:a16="http://schemas.microsoft.com/office/drawing/2014/main" id="{70F3FF59-6C43-5BB3-1BB4-F37B0E9BB834}"/>
              </a:ext>
            </a:extLst>
          </p:cNvPr>
          <p:cNvSpPr/>
          <p:nvPr/>
        </p:nvSpPr>
        <p:spPr>
          <a:xfrm>
            <a:off x="2740518" y="3137072"/>
            <a:ext cx="648000" cy="92706"/>
          </a:xfrm>
          <a:prstGeom prst="rect">
            <a:avLst/>
          </a:prstGeom>
          <a:solidFill>
            <a:srgbClr val="548235"/>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50" name="Rectangle 49">
            <a:extLst>
              <a:ext uri="{FF2B5EF4-FFF2-40B4-BE49-F238E27FC236}">
                <a16:creationId xmlns:a16="http://schemas.microsoft.com/office/drawing/2014/main" id="{522399B2-8EED-E3F7-F722-E759EE8F63EC}"/>
              </a:ext>
            </a:extLst>
          </p:cNvPr>
          <p:cNvSpPr/>
          <p:nvPr/>
        </p:nvSpPr>
        <p:spPr>
          <a:xfrm>
            <a:off x="2746629" y="5656004"/>
            <a:ext cx="648000" cy="92706"/>
          </a:xfrm>
          <a:prstGeom prst="rect">
            <a:avLst/>
          </a:prstGeom>
          <a:solidFill>
            <a:srgbClr val="E7E6E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endParaRPr>
          </a:p>
        </p:txBody>
      </p:sp>
      <p:sp>
        <p:nvSpPr>
          <p:cNvPr id="51" name="Rectangle 50">
            <a:extLst>
              <a:ext uri="{FF2B5EF4-FFF2-40B4-BE49-F238E27FC236}">
                <a16:creationId xmlns:a16="http://schemas.microsoft.com/office/drawing/2014/main" id="{77F22F90-F274-B7B9-0FE8-08C9766AC0EE}"/>
              </a:ext>
            </a:extLst>
          </p:cNvPr>
          <p:cNvSpPr/>
          <p:nvPr/>
        </p:nvSpPr>
        <p:spPr>
          <a:xfrm>
            <a:off x="2740518" y="3329250"/>
            <a:ext cx="648000" cy="115876"/>
          </a:xfrm>
          <a:prstGeom prst="rect">
            <a:avLst/>
          </a:prstGeom>
          <a:solidFill>
            <a:srgbClr val="92D7CC"/>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52" name="Rectangle 51">
            <a:extLst>
              <a:ext uri="{FF2B5EF4-FFF2-40B4-BE49-F238E27FC236}">
                <a16:creationId xmlns:a16="http://schemas.microsoft.com/office/drawing/2014/main" id="{1058CEB0-5372-C669-4CD1-8462F3A10636}"/>
              </a:ext>
            </a:extLst>
          </p:cNvPr>
          <p:cNvSpPr/>
          <p:nvPr/>
        </p:nvSpPr>
        <p:spPr>
          <a:xfrm>
            <a:off x="2746628" y="5950108"/>
            <a:ext cx="648000" cy="92706"/>
          </a:xfrm>
          <a:prstGeom prst="rect">
            <a:avLst/>
          </a:prstGeom>
          <a:pattFill prst="pct50">
            <a:fgClr>
              <a:srgbClr val="115264"/>
            </a:fgClr>
            <a:bgClr>
              <a:schemeClr val="bg1"/>
            </a:bgClr>
          </a:patt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54" name="ZoneTexte 54">
            <a:extLst>
              <a:ext uri="{FF2B5EF4-FFF2-40B4-BE49-F238E27FC236}">
                <a16:creationId xmlns:a16="http://schemas.microsoft.com/office/drawing/2014/main" id="{257903D8-42D3-499B-0D42-71D1D1B7F833}"/>
              </a:ext>
            </a:extLst>
          </p:cNvPr>
          <p:cNvSpPr txBox="1"/>
          <p:nvPr/>
        </p:nvSpPr>
        <p:spPr>
          <a:xfrm>
            <a:off x="974795" y="786657"/>
            <a:ext cx="78899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srgbClr val="000000"/>
                </a:solidFill>
                <a:effectLst/>
                <a:uLnTx/>
                <a:uFillTx/>
                <a:latin typeface="Arial"/>
                <a:cs typeface="Arial"/>
                <a:sym typeface="Arial"/>
              </a:rPr>
              <a:t>Bilan par</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srgbClr val="000000"/>
                </a:solidFill>
                <a:effectLst/>
                <a:uLnTx/>
                <a:uFillTx/>
                <a:latin typeface="Arial"/>
                <a:cs typeface="Arial"/>
                <a:sym typeface="Arial"/>
              </a:rPr>
              <a:t>index</a:t>
            </a:r>
          </a:p>
        </p:txBody>
      </p:sp>
      <p:sp>
        <p:nvSpPr>
          <p:cNvPr id="55" name="ZoneTexte 55">
            <a:extLst>
              <a:ext uri="{FF2B5EF4-FFF2-40B4-BE49-F238E27FC236}">
                <a16:creationId xmlns:a16="http://schemas.microsoft.com/office/drawing/2014/main" id="{96E66862-A796-8A7F-1C51-F003423A5DB5}"/>
              </a:ext>
            </a:extLst>
          </p:cNvPr>
          <p:cNvSpPr txBox="1"/>
          <p:nvPr/>
        </p:nvSpPr>
        <p:spPr>
          <a:xfrm>
            <a:off x="1888712" y="786657"/>
            <a:ext cx="635110"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srgbClr val="000000"/>
                </a:solidFill>
                <a:effectLst/>
                <a:uLnTx/>
                <a:uFillTx/>
                <a:latin typeface="Arial"/>
                <a:cs typeface="Arial"/>
                <a:sym typeface="Arial"/>
              </a:rPr>
              <a:t>Stock</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srgbClr val="000000"/>
                </a:solidFill>
                <a:effectLst/>
                <a:uLnTx/>
                <a:uFillTx/>
                <a:latin typeface="Arial"/>
                <a:cs typeface="Arial"/>
                <a:sym typeface="Arial"/>
              </a:rPr>
              <a:t>écoulé</a:t>
            </a:r>
          </a:p>
        </p:txBody>
      </p:sp>
      <p:sp>
        <p:nvSpPr>
          <p:cNvPr id="56" name="ZoneTexte 56">
            <a:extLst>
              <a:ext uri="{FF2B5EF4-FFF2-40B4-BE49-F238E27FC236}">
                <a16:creationId xmlns:a16="http://schemas.microsoft.com/office/drawing/2014/main" id="{C592BFE5-FC16-A96C-116E-B0964294A94B}"/>
              </a:ext>
            </a:extLst>
          </p:cNvPr>
          <p:cNvSpPr txBox="1"/>
          <p:nvPr/>
        </p:nvSpPr>
        <p:spPr>
          <a:xfrm>
            <a:off x="2869186" y="786657"/>
            <a:ext cx="39786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srgbClr val="000000"/>
                </a:solidFill>
                <a:effectLst/>
                <a:uLnTx/>
                <a:uFillTx/>
                <a:latin typeface="Arial"/>
                <a:cs typeface="Arial"/>
                <a:sym typeface="Arial"/>
              </a:rPr>
              <a:t>PN</a:t>
            </a:r>
          </a:p>
        </p:txBody>
      </p:sp>
      <p:sp>
        <p:nvSpPr>
          <p:cNvPr id="60" name="Ellipse 12">
            <a:extLst>
              <a:ext uri="{FF2B5EF4-FFF2-40B4-BE49-F238E27FC236}">
                <a16:creationId xmlns:a16="http://schemas.microsoft.com/office/drawing/2014/main" id="{AA4AD934-EA64-F0D4-68EA-AAC64C2231B0}"/>
              </a:ext>
            </a:extLst>
          </p:cNvPr>
          <p:cNvSpPr/>
          <p:nvPr/>
        </p:nvSpPr>
        <p:spPr>
          <a:xfrm>
            <a:off x="1889063" y="4689551"/>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4</a:t>
            </a:r>
          </a:p>
        </p:txBody>
      </p:sp>
      <p:sp>
        <p:nvSpPr>
          <p:cNvPr id="61" name="Ellipse 13">
            <a:extLst>
              <a:ext uri="{FF2B5EF4-FFF2-40B4-BE49-F238E27FC236}">
                <a16:creationId xmlns:a16="http://schemas.microsoft.com/office/drawing/2014/main" id="{24D1E1E2-6190-4763-40D4-B2E0AF45A769}"/>
              </a:ext>
            </a:extLst>
          </p:cNvPr>
          <p:cNvSpPr/>
          <p:nvPr/>
        </p:nvSpPr>
        <p:spPr>
          <a:xfrm>
            <a:off x="1889063" y="148034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3</a:t>
            </a:r>
          </a:p>
        </p:txBody>
      </p:sp>
      <p:sp>
        <p:nvSpPr>
          <p:cNvPr id="62" name="Ellipse 14">
            <a:extLst>
              <a:ext uri="{FF2B5EF4-FFF2-40B4-BE49-F238E27FC236}">
                <a16:creationId xmlns:a16="http://schemas.microsoft.com/office/drawing/2014/main" id="{E5670092-223C-B536-5EBE-AE438863BC12}"/>
              </a:ext>
            </a:extLst>
          </p:cNvPr>
          <p:cNvSpPr/>
          <p:nvPr/>
        </p:nvSpPr>
        <p:spPr>
          <a:xfrm>
            <a:off x="2740518" y="3873181"/>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4</a:t>
            </a:r>
          </a:p>
        </p:txBody>
      </p:sp>
      <p:sp>
        <p:nvSpPr>
          <p:cNvPr id="63" name="Ellipse 15">
            <a:extLst>
              <a:ext uri="{FF2B5EF4-FFF2-40B4-BE49-F238E27FC236}">
                <a16:creationId xmlns:a16="http://schemas.microsoft.com/office/drawing/2014/main" id="{5D784AC9-D4E9-C80E-91F2-3C1A85F07797}"/>
              </a:ext>
            </a:extLst>
          </p:cNvPr>
          <p:cNvSpPr/>
          <p:nvPr/>
        </p:nvSpPr>
        <p:spPr>
          <a:xfrm>
            <a:off x="2740518" y="119116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3</a:t>
            </a:r>
          </a:p>
        </p:txBody>
      </p:sp>
      <p:sp>
        <p:nvSpPr>
          <p:cNvPr id="68" name="Ellipse 17">
            <a:extLst>
              <a:ext uri="{FF2B5EF4-FFF2-40B4-BE49-F238E27FC236}">
                <a16:creationId xmlns:a16="http://schemas.microsoft.com/office/drawing/2014/main" id="{5DDD77C0-BAA9-06BB-F9B3-7DDAD0660C1C}"/>
              </a:ext>
            </a:extLst>
          </p:cNvPr>
          <p:cNvSpPr/>
          <p:nvPr/>
        </p:nvSpPr>
        <p:spPr>
          <a:xfrm>
            <a:off x="2740518" y="589128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6</a:t>
            </a:r>
          </a:p>
        </p:txBody>
      </p:sp>
      <p:cxnSp>
        <p:nvCxnSpPr>
          <p:cNvPr id="70" name="Connecteur droit 20">
            <a:extLst>
              <a:ext uri="{FF2B5EF4-FFF2-40B4-BE49-F238E27FC236}">
                <a16:creationId xmlns:a16="http://schemas.microsoft.com/office/drawing/2014/main" id="{CCEFEA1D-71CD-9112-8BFB-204C390C6F45}"/>
              </a:ext>
            </a:extLst>
          </p:cNvPr>
          <p:cNvCxnSpPr>
            <a:cxnSpLocks/>
          </p:cNvCxnSpPr>
          <p:nvPr/>
        </p:nvCxnSpPr>
        <p:spPr>
          <a:xfrm>
            <a:off x="3678666" y="1501914"/>
            <a:ext cx="1476000" cy="0"/>
          </a:xfrm>
          <a:prstGeom prst="line">
            <a:avLst/>
          </a:prstGeom>
        </p:spPr>
        <p:style>
          <a:lnRef idx="3">
            <a:schemeClr val="dk1"/>
          </a:lnRef>
          <a:fillRef idx="0">
            <a:schemeClr val="dk1"/>
          </a:fillRef>
          <a:effectRef idx="2">
            <a:schemeClr val="dk1"/>
          </a:effectRef>
          <a:fontRef idx="minor">
            <a:schemeClr val="tx1"/>
          </a:fontRef>
        </p:style>
      </p:cxnSp>
      <p:cxnSp>
        <p:nvCxnSpPr>
          <p:cNvPr id="80" name="Connecteur droit 57">
            <a:extLst>
              <a:ext uri="{FF2B5EF4-FFF2-40B4-BE49-F238E27FC236}">
                <a16:creationId xmlns:a16="http://schemas.microsoft.com/office/drawing/2014/main" id="{86C523C2-7F23-8C3F-6C2A-350F3257AE6C}"/>
              </a:ext>
            </a:extLst>
          </p:cNvPr>
          <p:cNvCxnSpPr>
            <a:cxnSpLocks/>
          </p:cNvCxnSpPr>
          <p:nvPr/>
        </p:nvCxnSpPr>
        <p:spPr>
          <a:xfrm>
            <a:off x="4414537" y="1513216"/>
            <a:ext cx="0" cy="2016000"/>
          </a:xfrm>
          <a:prstGeom prst="line">
            <a:avLst/>
          </a:prstGeom>
        </p:spPr>
        <p:style>
          <a:lnRef idx="3">
            <a:schemeClr val="dk1"/>
          </a:lnRef>
          <a:fillRef idx="0">
            <a:schemeClr val="dk1"/>
          </a:fillRef>
          <a:effectRef idx="2">
            <a:schemeClr val="dk1"/>
          </a:effectRef>
          <a:fontRef idx="minor">
            <a:schemeClr val="tx1"/>
          </a:fontRef>
        </p:style>
      </p:cxnSp>
      <p:sp>
        <p:nvSpPr>
          <p:cNvPr id="84" name="ZoneTexte 62">
            <a:extLst>
              <a:ext uri="{FF2B5EF4-FFF2-40B4-BE49-F238E27FC236}">
                <a16:creationId xmlns:a16="http://schemas.microsoft.com/office/drawing/2014/main" id="{8E6305A1-0631-2999-E564-B53E6B212ADA}"/>
              </a:ext>
            </a:extLst>
          </p:cNvPr>
          <p:cNvSpPr txBox="1"/>
          <p:nvPr/>
        </p:nvSpPr>
        <p:spPr>
          <a:xfrm>
            <a:off x="4243540" y="1735164"/>
            <a:ext cx="117566"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0" cap="none" spc="0" normalizeH="0" baseline="0" noProof="0">
                <a:ln>
                  <a:noFill/>
                </a:ln>
                <a:solidFill>
                  <a:prstClr val="white"/>
                </a:solidFill>
                <a:effectLst/>
                <a:uLnTx/>
                <a:uFillTx/>
                <a:latin typeface="Arial"/>
                <a:cs typeface="Arial"/>
                <a:sym typeface="Arial"/>
              </a:rPr>
              <a:t>-</a:t>
            </a:r>
          </a:p>
        </p:txBody>
      </p:sp>
      <p:sp>
        <p:nvSpPr>
          <p:cNvPr id="91" name="Ellipse 71">
            <a:extLst>
              <a:ext uri="{FF2B5EF4-FFF2-40B4-BE49-F238E27FC236}">
                <a16:creationId xmlns:a16="http://schemas.microsoft.com/office/drawing/2014/main" id="{7DF8510A-E84F-399D-B1B1-DDC01D7E8866}"/>
              </a:ext>
            </a:extLst>
          </p:cNvPr>
          <p:cNvSpPr/>
          <p:nvPr/>
        </p:nvSpPr>
        <p:spPr>
          <a:xfrm>
            <a:off x="4112469" y="152818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3</a:t>
            </a:r>
          </a:p>
        </p:txBody>
      </p:sp>
      <p:grpSp>
        <p:nvGrpSpPr>
          <p:cNvPr id="180" name="Group 179">
            <a:extLst>
              <a:ext uri="{FF2B5EF4-FFF2-40B4-BE49-F238E27FC236}">
                <a16:creationId xmlns:a16="http://schemas.microsoft.com/office/drawing/2014/main" id="{E8C23293-2417-17D0-D7A4-DE5F006911BC}"/>
              </a:ext>
            </a:extLst>
          </p:cNvPr>
          <p:cNvGrpSpPr/>
          <p:nvPr/>
        </p:nvGrpSpPr>
        <p:grpSpPr>
          <a:xfrm>
            <a:off x="4470870" y="1537353"/>
            <a:ext cx="648000" cy="1907776"/>
            <a:chOff x="4470870" y="1537353"/>
            <a:chExt cx="648000" cy="1737290"/>
          </a:xfrm>
        </p:grpSpPr>
        <p:sp>
          <p:nvSpPr>
            <p:cNvPr id="85" name="Rectangle 84">
              <a:extLst>
                <a:ext uri="{FF2B5EF4-FFF2-40B4-BE49-F238E27FC236}">
                  <a16:creationId xmlns:a16="http://schemas.microsoft.com/office/drawing/2014/main" id="{51EA019E-9383-6C26-2512-24BC62C96360}"/>
                </a:ext>
              </a:extLst>
            </p:cNvPr>
            <p:cNvSpPr/>
            <p:nvPr/>
          </p:nvSpPr>
          <p:spPr>
            <a:xfrm>
              <a:off x="4470870" y="1537353"/>
              <a:ext cx="648000" cy="1484887"/>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86" name="Rectangle 85">
              <a:extLst>
                <a:ext uri="{FF2B5EF4-FFF2-40B4-BE49-F238E27FC236}">
                  <a16:creationId xmlns:a16="http://schemas.microsoft.com/office/drawing/2014/main" id="{9D7A6C3A-024E-DA42-2BA1-D1E92F3082E1}"/>
                </a:ext>
              </a:extLst>
            </p:cNvPr>
            <p:cNvSpPr/>
            <p:nvPr/>
          </p:nvSpPr>
          <p:spPr>
            <a:xfrm>
              <a:off x="4470870" y="3034309"/>
              <a:ext cx="648000" cy="240334"/>
            </a:xfrm>
            <a:prstGeom prst="rect">
              <a:avLst/>
            </a:prstGeom>
            <a:solidFill>
              <a:srgbClr val="E7E6E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rPr>
                <a:t>TLEP</a:t>
              </a:r>
            </a:p>
          </p:txBody>
        </p:sp>
        <p:sp>
          <p:nvSpPr>
            <p:cNvPr id="92" name="Ellipse 72">
              <a:extLst>
                <a:ext uri="{FF2B5EF4-FFF2-40B4-BE49-F238E27FC236}">
                  <a16:creationId xmlns:a16="http://schemas.microsoft.com/office/drawing/2014/main" id="{AC8B4E30-FCF2-1B6F-3E53-68908148BEA8}"/>
                </a:ext>
              </a:extLst>
            </p:cNvPr>
            <p:cNvSpPr/>
            <p:nvPr/>
          </p:nvSpPr>
          <p:spPr>
            <a:xfrm>
              <a:off x="4867097" y="157034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4</a:t>
              </a:r>
            </a:p>
          </p:txBody>
        </p:sp>
      </p:grpSp>
      <p:sp>
        <p:nvSpPr>
          <p:cNvPr id="94" name="ZoneTexte 74">
            <a:extLst>
              <a:ext uri="{FF2B5EF4-FFF2-40B4-BE49-F238E27FC236}">
                <a16:creationId xmlns:a16="http://schemas.microsoft.com/office/drawing/2014/main" id="{676C1917-4681-E491-1BA3-DF3D6AA592D5}"/>
              </a:ext>
            </a:extLst>
          </p:cNvPr>
          <p:cNvSpPr txBox="1"/>
          <p:nvPr/>
        </p:nvSpPr>
        <p:spPr>
          <a:xfrm>
            <a:off x="3766144" y="1129935"/>
            <a:ext cx="151996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srgbClr val="000000"/>
                </a:solidFill>
                <a:effectLst/>
                <a:uLnTx/>
                <a:uFillTx/>
                <a:latin typeface="Arial"/>
                <a:cs typeface="Arial"/>
                <a:sym typeface="Arial"/>
              </a:rPr>
              <a:t>Position sur stock</a:t>
            </a:r>
          </a:p>
        </p:txBody>
      </p:sp>
      <p:cxnSp>
        <p:nvCxnSpPr>
          <p:cNvPr id="95" name="Connecteur droit 75">
            <a:extLst>
              <a:ext uri="{FF2B5EF4-FFF2-40B4-BE49-F238E27FC236}">
                <a16:creationId xmlns:a16="http://schemas.microsoft.com/office/drawing/2014/main" id="{B9F7153F-5893-8946-4200-9C3102C101B4}"/>
              </a:ext>
            </a:extLst>
          </p:cNvPr>
          <p:cNvCxnSpPr/>
          <p:nvPr/>
        </p:nvCxnSpPr>
        <p:spPr>
          <a:xfrm>
            <a:off x="5462399" y="1496939"/>
            <a:ext cx="1476000" cy="0"/>
          </a:xfrm>
          <a:prstGeom prst="line">
            <a:avLst/>
          </a:prstGeom>
        </p:spPr>
        <p:style>
          <a:lnRef idx="3">
            <a:schemeClr val="dk1"/>
          </a:lnRef>
          <a:fillRef idx="0">
            <a:schemeClr val="dk1"/>
          </a:fillRef>
          <a:effectRef idx="2">
            <a:schemeClr val="dk1"/>
          </a:effectRef>
          <a:fontRef idx="minor">
            <a:schemeClr val="tx1"/>
          </a:fontRef>
        </p:style>
      </p:cxnSp>
      <p:cxnSp>
        <p:nvCxnSpPr>
          <p:cNvPr id="96" name="Connecteur droit 76">
            <a:extLst>
              <a:ext uri="{FF2B5EF4-FFF2-40B4-BE49-F238E27FC236}">
                <a16:creationId xmlns:a16="http://schemas.microsoft.com/office/drawing/2014/main" id="{9EA19FA2-2D0F-675D-0425-0D8E17576F67}"/>
              </a:ext>
            </a:extLst>
          </p:cNvPr>
          <p:cNvCxnSpPr>
            <a:cxnSpLocks/>
          </p:cNvCxnSpPr>
          <p:nvPr/>
        </p:nvCxnSpPr>
        <p:spPr>
          <a:xfrm>
            <a:off x="6198270" y="1508241"/>
            <a:ext cx="0" cy="2304000"/>
          </a:xfrm>
          <a:prstGeom prst="line">
            <a:avLst/>
          </a:prstGeom>
        </p:spPr>
        <p:style>
          <a:lnRef idx="3">
            <a:schemeClr val="dk1"/>
          </a:lnRef>
          <a:fillRef idx="0">
            <a:schemeClr val="dk1"/>
          </a:fillRef>
          <a:effectRef idx="2">
            <a:schemeClr val="dk1"/>
          </a:effectRef>
          <a:fontRef idx="minor">
            <a:schemeClr val="tx1"/>
          </a:fontRef>
        </p:style>
      </p:cxnSp>
      <p:sp>
        <p:nvSpPr>
          <p:cNvPr id="102" name="ZoneTexte 90">
            <a:extLst>
              <a:ext uri="{FF2B5EF4-FFF2-40B4-BE49-F238E27FC236}">
                <a16:creationId xmlns:a16="http://schemas.microsoft.com/office/drawing/2014/main" id="{DCD3BF4D-C286-A99A-D1C4-302F1E6C18CA}"/>
              </a:ext>
            </a:extLst>
          </p:cNvPr>
          <p:cNvSpPr txBox="1"/>
          <p:nvPr/>
        </p:nvSpPr>
        <p:spPr>
          <a:xfrm>
            <a:off x="5734485" y="1132644"/>
            <a:ext cx="275107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srgbClr val="000000"/>
                </a:solidFill>
                <a:effectLst/>
                <a:uLnTx/>
                <a:uFillTx/>
                <a:latin typeface="Arial"/>
                <a:cs typeface="Arial"/>
                <a:sym typeface="Arial"/>
              </a:rPr>
              <a:t>Position sur stock adossée à l’E3M</a:t>
            </a:r>
          </a:p>
        </p:txBody>
      </p:sp>
      <p:cxnSp>
        <p:nvCxnSpPr>
          <p:cNvPr id="103" name="Connecteur droit 91">
            <a:extLst>
              <a:ext uri="{FF2B5EF4-FFF2-40B4-BE49-F238E27FC236}">
                <a16:creationId xmlns:a16="http://schemas.microsoft.com/office/drawing/2014/main" id="{755C975E-4B25-31CE-12FF-563D76A6FF5E}"/>
              </a:ext>
            </a:extLst>
          </p:cNvPr>
          <p:cNvCxnSpPr/>
          <p:nvPr/>
        </p:nvCxnSpPr>
        <p:spPr>
          <a:xfrm>
            <a:off x="7040486" y="1504546"/>
            <a:ext cx="1476000" cy="0"/>
          </a:xfrm>
          <a:prstGeom prst="line">
            <a:avLst/>
          </a:prstGeom>
        </p:spPr>
        <p:style>
          <a:lnRef idx="3">
            <a:schemeClr val="dk1"/>
          </a:lnRef>
          <a:fillRef idx="0">
            <a:schemeClr val="dk1"/>
          </a:fillRef>
          <a:effectRef idx="2">
            <a:schemeClr val="dk1"/>
          </a:effectRef>
          <a:fontRef idx="minor">
            <a:schemeClr val="tx1"/>
          </a:fontRef>
        </p:style>
      </p:cxnSp>
      <p:cxnSp>
        <p:nvCxnSpPr>
          <p:cNvPr id="104" name="Connecteur droit 92">
            <a:extLst>
              <a:ext uri="{FF2B5EF4-FFF2-40B4-BE49-F238E27FC236}">
                <a16:creationId xmlns:a16="http://schemas.microsoft.com/office/drawing/2014/main" id="{AEB3873F-C4CE-3035-D41B-81F411342475}"/>
              </a:ext>
            </a:extLst>
          </p:cNvPr>
          <p:cNvCxnSpPr>
            <a:cxnSpLocks/>
          </p:cNvCxnSpPr>
          <p:nvPr/>
        </p:nvCxnSpPr>
        <p:spPr>
          <a:xfrm>
            <a:off x="7776357" y="1515848"/>
            <a:ext cx="0" cy="2016000"/>
          </a:xfrm>
          <a:prstGeom prst="line">
            <a:avLst/>
          </a:prstGeom>
        </p:spPr>
        <p:style>
          <a:lnRef idx="3">
            <a:schemeClr val="dk1"/>
          </a:lnRef>
          <a:fillRef idx="0">
            <a:schemeClr val="dk1"/>
          </a:fillRef>
          <a:effectRef idx="2">
            <a:schemeClr val="dk1"/>
          </a:effectRef>
          <a:fontRef idx="minor">
            <a:schemeClr val="tx1"/>
          </a:fontRef>
        </p:style>
      </p:cxnSp>
      <p:grpSp>
        <p:nvGrpSpPr>
          <p:cNvPr id="191" name="Group 190">
            <a:extLst>
              <a:ext uri="{FF2B5EF4-FFF2-40B4-BE49-F238E27FC236}">
                <a16:creationId xmlns:a16="http://schemas.microsoft.com/office/drawing/2014/main" id="{629E8DB2-6ED3-8901-9B5D-57EABBCBB8F4}"/>
              </a:ext>
            </a:extLst>
          </p:cNvPr>
          <p:cNvGrpSpPr/>
          <p:nvPr/>
        </p:nvGrpSpPr>
        <p:grpSpPr>
          <a:xfrm>
            <a:off x="7824228" y="1539985"/>
            <a:ext cx="654350" cy="1905141"/>
            <a:chOff x="7824228" y="1539986"/>
            <a:chExt cx="654350" cy="1740490"/>
          </a:xfrm>
        </p:grpSpPr>
        <p:sp>
          <p:nvSpPr>
            <p:cNvPr id="105" name="Rectangle 104">
              <a:extLst>
                <a:ext uri="{FF2B5EF4-FFF2-40B4-BE49-F238E27FC236}">
                  <a16:creationId xmlns:a16="http://schemas.microsoft.com/office/drawing/2014/main" id="{0E81A34A-DF97-6526-EDE1-D9A71E4E89A1}"/>
                </a:ext>
              </a:extLst>
            </p:cNvPr>
            <p:cNvSpPr/>
            <p:nvPr/>
          </p:nvSpPr>
          <p:spPr>
            <a:xfrm>
              <a:off x="7826340" y="1539986"/>
              <a:ext cx="648000" cy="1482254"/>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106" name="Rectangle 105">
              <a:extLst>
                <a:ext uri="{FF2B5EF4-FFF2-40B4-BE49-F238E27FC236}">
                  <a16:creationId xmlns:a16="http://schemas.microsoft.com/office/drawing/2014/main" id="{D74AC20A-5AF8-DF91-160A-52ECA59D7836}"/>
                </a:ext>
              </a:extLst>
            </p:cNvPr>
            <p:cNvSpPr/>
            <p:nvPr/>
          </p:nvSpPr>
          <p:spPr>
            <a:xfrm>
              <a:off x="7824228" y="3028476"/>
              <a:ext cx="654350" cy="252000"/>
            </a:xfrm>
            <a:prstGeom prst="rect">
              <a:avLst/>
            </a:prstGeom>
            <a:solidFill>
              <a:srgbClr val="E7E6E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rPr>
                <a:t>TLEP</a:t>
              </a:r>
            </a:p>
          </p:txBody>
        </p:sp>
      </p:grpSp>
      <p:sp>
        <p:nvSpPr>
          <p:cNvPr id="107" name="ZoneTexte 110">
            <a:extLst>
              <a:ext uri="{FF2B5EF4-FFF2-40B4-BE49-F238E27FC236}">
                <a16:creationId xmlns:a16="http://schemas.microsoft.com/office/drawing/2014/main" id="{AFE3B623-6489-0ED6-32B8-3E3743EC6C64}"/>
              </a:ext>
            </a:extLst>
          </p:cNvPr>
          <p:cNvSpPr txBox="1"/>
          <p:nvPr/>
        </p:nvSpPr>
        <p:spPr>
          <a:xfrm>
            <a:off x="10543292" y="1031188"/>
            <a:ext cx="929188"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50" b="1" i="0" u="none" strike="noStrike" kern="0" cap="none" spc="0" normalizeH="0" baseline="0" noProof="0">
                <a:ln>
                  <a:noFill/>
                </a:ln>
                <a:solidFill>
                  <a:srgbClr val="000000"/>
                </a:solidFill>
                <a:effectLst/>
                <a:uLnTx/>
                <a:uFillTx/>
                <a:latin typeface="Arial"/>
                <a:cs typeface="Arial"/>
                <a:sym typeface="Arial"/>
              </a:rPr>
              <a:t>A             P</a:t>
            </a:r>
          </a:p>
        </p:txBody>
      </p:sp>
      <p:grpSp>
        <p:nvGrpSpPr>
          <p:cNvPr id="197" name="Group 196">
            <a:extLst>
              <a:ext uri="{FF2B5EF4-FFF2-40B4-BE49-F238E27FC236}">
                <a16:creationId xmlns:a16="http://schemas.microsoft.com/office/drawing/2014/main" id="{327BA95F-4DED-7744-0E36-A24B368ADC43}"/>
              </a:ext>
            </a:extLst>
          </p:cNvPr>
          <p:cNvGrpSpPr/>
          <p:nvPr/>
        </p:nvGrpSpPr>
        <p:grpSpPr>
          <a:xfrm>
            <a:off x="8906425" y="1180415"/>
            <a:ext cx="2680663" cy="3644150"/>
            <a:chOff x="8906425" y="1238471"/>
            <a:chExt cx="2680663" cy="3644150"/>
          </a:xfrm>
        </p:grpSpPr>
        <p:sp>
          <p:nvSpPr>
            <p:cNvPr id="115" name="Rectangle 114">
              <a:extLst>
                <a:ext uri="{FF2B5EF4-FFF2-40B4-BE49-F238E27FC236}">
                  <a16:creationId xmlns:a16="http://schemas.microsoft.com/office/drawing/2014/main" id="{0488293A-D148-0D64-730C-6F3B782AFCDE}"/>
                </a:ext>
              </a:extLst>
            </p:cNvPr>
            <p:cNvSpPr/>
            <p:nvPr/>
          </p:nvSpPr>
          <p:spPr>
            <a:xfrm>
              <a:off x="10266247" y="1279353"/>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a:t>
              </a:r>
            </a:p>
          </p:txBody>
        </p:sp>
        <p:sp>
          <p:nvSpPr>
            <p:cNvPr id="116" name="Rectangle 115">
              <a:extLst>
                <a:ext uri="{FF2B5EF4-FFF2-40B4-BE49-F238E27FC236}">
                  <a16:creationId xmlns:a16="http://schemas.microsoft.com/office/drawing/2014/main" id="{32C2B759-5E42-5659-D9A8-C7FB6BFA5877}"/>
                </a:ext>
              </a:extLst>
            </p:cNvPr>
            <p:cNvSpPr/>
            <p:nvPr/>
          </p:nvSpPr>
          <p:spPr>
            <a:xfrm>
              <a:off x="10936940" y="1279353"/>
              <a:ext cx="648000" cy="145494"/>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7" name="Rectangle 116">
              <a:extLst>
                <a:ext uri="{FF2B5EF4-FFF2-40B4-BE49-F238E27FC236}">
                  <a16:creationId xmlns:a16="http://schemas.microsoft.com/office/drawing/2014/main" id="{69373EAC-28F6-D1E0-1C5C-B9927FADF216}"/>
                </a:ext>
              </a:extLst>
            </p:cNvPr>
            <p:cNvSpPr/>
            <p:nvPr/>
          </p:nvSpPr>
          <p:spPr>
            <a:xfrm>
              <a:off x="10933001" y="4581957"/>
              <a:ext cx="648000" cy="252000"/>
            </a:xfrm>
            <a:prstGeom prst="rect">
              <a:avLst/>
            </a:prstGeom>
            <a:solidFill>
              <a:srgbClr val="E7E6E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srgbClr val="115264">
                      <a:lumMod val="50000"/>
                    </a:srgbClr>
                  </a:solidFill>
                  <a:effectLst/>
                  <a:uLnTx/>
                  <a:uFillTx/>
                  <a:latin typeface="Calibri" panose="020F0502020204030204"/>
                  <a:ea typeface="+mn-ea"/>
                  <a:cs typeface="+mn-cs"/>
                  <a:sym typeface="Arial"/>
                </a:rPr>
                <a:t>TLEP</a:t>
              </a:r>
            </a:p>
          </p:txBody>
        </p:sp>
        <p:sp>
          <p:nvSpPr>
            <p:cNvPr id="118" name="Rectangle 117">
              <a:extLst>
                <a:ext uri="{FF2B5EF4-FFF2-40B4-BE49-F238E27FC236}">
                  <a16:creationId xmlns:a16="http://schemas.microsoft.com/office/drawing/2014/main" id="{E6564253-B1C7-1602-A1AB-0811C6618206}"/>
                </a:ext>
              </a:extLst>
            </p:cNvPr>
            <p:cNvSpPr/>
            <p:nvPr/>
          </p:nvSpPr>
          <p:spPr>
            <a:xfrm>
              <a:off x="10273598" y="3293779"/>
              <a:ext cx="648000" cy="1260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9" name="Rectangle 118">
              <a:extLst>
                <a:ext uri="{FF2B5EF4-FFF2-40B4-BE49-F238E27FC236}">
                  <a16:creationId xmlns:a16="http://schemas.microsoft.com/office/drawing/2014/main" id="{718B6D78-7358-8B5F-B65D-2343D45368F5}"/>
                </a:ext>
              </a:extLst>
            </p:cNvPr>
            <p:cNvSpPr/>
            <p:nvPr/>
          </p:nvSpPr>
          <p:spPr>
            <a:xfrm>
              <a:off x="10273598" y="4581957"/>
              <a:ext cx="648000" cy="252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20" name="Rectangle 119">
              <a:extLst>
                <a:ext uri="{FF2B5EF4-FFF2-40B4-BE49-F238E27FC236}">
                  <a16:creationId xmlns:a16="http://schemas.microsoft.com/office/drawing/2014/main" id="{ACE95534-ECFE-1EF7-919C-94CD35BC2474}"/>
                </a:ext>
              </a:extLst>
            </p:cNvPr>
            <p:cNvSpPr/>
            <p:nvPr/>
          </p:nvSpPr>
          <p:spPr>
            <a:xfrm>
              <a:off x="10933001" y="3293779"/>
              <a:ext cx="648000" cy="1260000"/>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121" name="Rectangle 120">
              <a:extLst>
                <a:ext uri="{FF2B5EF4-FFF2-40B4-BE49-F238E27FC236}">
                  <a16:creationId xmlns:a16="http://schemas.microsoft.com/office/drawing/2014/main" id="{D08219D8-1B7D-8211-8988-007A7DF61F8B}"/>
                </a:ext>
              </a:extLst>
            </p:cNvPr>
            <p:cNvSpPr/>
            <p:nvPr/>
          </p:nvSpPr>
          <p:spPr>
            <a:xfrm>
              <a:off x="10273598" y="1453026"/>
              <a:ext cx="648000" cy="432000"/>
            </a:xfrm>
            <a:prstGeom prst="rect">
              <a:avLst/>
            </a:prstGeom>
            <a:solidFill>
              <a:srgbClr val="92D7CC"/>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EUR</a:t>
              </a:r>
            </a:p>
          </p:txBody>
        </p:sp>
        <p:sp>
          <p:nvSpPr>
            <p:cNvPr id="122" name="Rectangle 121">
              <a:extLst>
                <a:ext uri="{FF2B5EF4-FFF2-40B4-BE49-F238E27FC236}">
                  <a16:creationId xmlns:a16="http://schemas.microsoft.com/office/drawing/2014/main" id="{7CE77950-B52C-3BAC-0AC0-44CAD540B7B7}"/>
                </a:ext>
              </a:extLst>
            </p:cNvPr>
            <p:cNvSpPr/>
            <p:nvPr/>
          </p:nvSpPr>
          <p:spPr>
            <a:xfrm>
              <a:off x="10273598" y="1913205"/>
              <a:ext cx="648000" cy="648000"/>
            </a:xfrm>
            <a:prstGeom prst="rect">
              <a:avLst/>
            </a:prstGeom>
            <a:solidFill>
              <a:srgbClr val="92D7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FR</a:t>
              </a:r>
            </a:p>
          </p:txBody>
        </p:sp>
        <p:sp>
          <p:nvSpPr>
            <p:cNvPr id="123" name="Rectangle 122">
              <a:extLst>
                <a:ext uri="{FF2B5EF4-FFF2-40B4-BE49-F238E27FC236}">
                  <a16:creationId xmlns:a16="http://schemas.microsoft.com/office/drawing/2014/main" id="{231F2A11-79E4-9E9C-EA6F-FD101CD6FC25}"/>
                </a:ext>
              </a:extLst>
            </p:cNvPr>
            <p:cNvSpPr/>
            <p:nvPr/>
          </p:nvSpPr>
          <p:spPr>
            <a:xfrm>
              <a:off x="10273598" y="2589384"/>
              <a:ext cx="648000" cy="360000"/>
            </a:xfrm>
            <a:prstGeom prst="rect">
              <a:avLst/>
            </a:prstGeom>
            <a:solidFill>
              <a:srgbClr val="C5E0B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E6M</a:t>
              </a:r>
            </a:p>
          </p:txBody>
        </p:sp>
        <p:sp>
          <p:nvSpPr>
            <p:cNvPr id="124" name="Rectangle 123">
              <a:extLst>
                <a:ext uri="{FF2B5EF4-FFF2-40B4-BE49-F238E27FC236}">
                  <a16:creationId xmlns:a16="http://schemas.microsoft.com/office/drawing/2014/main" id="{C01B4C1C-16A7-8D47-51E3-E69CDACC9B86}"/>
                </a:ext>
              </a:extLst>
            </p:cNvPr>
            <p:cNvSpPr/>
            <p:nvPr/>
          </p:nvSpPr>
          <p:spPr>
            <a:xfrm>
              <a:off x="10273598" y="2977563"/>
              <a:ext cx="648000" cy="288037"/>
            </a:xfrm>
            <a:prstGeom prst="rect">
              <a:avLst/>
            </a:prstGeom>
            <a:solidFill>
              <a:srgbClr val="54823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ESTER</a:t>
              </a:r>
            </a:p>
          </p:txBody>
        </p:sp>
        <p:sp>
          <p:nvSpPr>
            <p:cNvPr id="125" name="Rectangle 124">
              <a:extLst>
                <a:ext uri="{FF2B5EF4-FFF2-40B4-BE49-F238E27FC236}">
                  <a16:creationId xmlns:a16="http://schemas.microsoft.com/office/drawing/2014/main" id="{99EB2FCD-24A8-C73C-9221-56B97C583A63}"/>
                </a:ext>
              </a:extLst>
            </p:cNvPr>
            <p:cNvSpPr/>
            <p:nvPr/>
          </p:nvSpPr>
          <p:spPr>
            <a:xfrm>
              <a:off x="10939088" y="1453026"/>
              <a:ext cx="648000" cy="432000"/>
            </a:xfrm>
            <a:prstGeom prst="rect">
              <a:avLst/>
            </a:prstGeom>
            <a:solidFill>
              <a:srgbClr val="1D7B96"/>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26" name="Rectangle 125">
              <a:extLst>
                <a:ext uri="{FF2B5EF4-FFF2-40B4-BE49-F238E27FC236}">
                  <a16:creationId xmlns:a16="http://schemas.microsoft.com/office/drawing/2014/main" id="{E8D695EE-F5A3-102B-108F-02430A7BB330}"/>
                </a:ext>
              </a:extLst>
            </p:cNvPr>
            <p:cNvSpPr/>
            <p:nvPr/>
          </p:nvSpPr>
          <p:spPr>
            <a:xfrm>
              <a:off x="10936940" y="1913205"/>
              <a:ext cx="648000" cy="648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27" name="Rectangle 126">
              <a:extLst>
                <a:ext uri="{FF2B5EF4-FFF2-40B4-BE49-F238E27FC236}">
                  <a16:creationId xmlns:a16="http://schemas.microsoft.com/office/drawing/2014/main" id="{C4549CD0-3902-87D8-B2DB-6C680615FBF0}"/>
                </a:ext>
              </a:extLst>
            </p:cNvPr>
            <p:cNvSpPr/>
            <p:nvPr/>
          </p:nvSpPr>
          <p:spPr>
            <a:xfrm>
              <a:off x="10936940" y="2589384"/>
              <a:ext cx="648000" cy="360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28" name="Rectangle 127">
              <a:extLst>
                <a:ext uri="{FF2B5EF4-FFF2-40B4-BE49-F238E27FC236}">
                  <a16:creationId xmlns:a16="http://schemas.microsoft.com/office/drawing/2014/main" id="{01852802-1D63-A196-20A4-18B1A816696B}"/>
                </a:ext>
              </a:extLst>
            </p:cNvPr>
            <p:cNvSpPr/>
            <p:nvPr/>
          </p:nvSpPr>
          <p:spPr>
            <a:xfrm>
              <a:off x="10936940" y="2977563"/>
              <a:ext cx="648000" cy="288037"/>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29" name="Ellipse 18">
              <a:extLst>
                <a:ext uri="{FF2B5EF4-FFF2-40B4-BE49-F238E27FC236}">
                  <a16:creationId xmlns:a16="http://schemas.microsoft.com/office/drawing/2014/main" id="{2B56989F-BB6C-536A-BECC-D66F710F99C0}"/>
                </a:ext>
              </a:extLst>
            </p:cNvPr>
            <p:cNvSpPr/>
            <p:nvPr/>
          </p:nvSpPr>
          <p:spPr>
            <a:xfrm>
              <a:off x="10075115" y="1254110"/>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a</a:t>
              </a:r>
            </a:p>
          </p:txBody>
        </p:sp>
        <p:sp>
          <p:nvSpPr>
            <p:cNvPr id="130" name="Ellipse 21">
              <a:extLst>
                <a:ext uri="{FF2B5EF4-FFF2-40B4-BE49-F238E27FC236}">
                  <a16:creationId xmlns:a16="http://schemas.microsoft.com/office/drawing/2014/main" id="{5C76CACB-D830-8FE6-13C9-1E83C87AF6C0}"/>
                </a:ext>
              </a:extLst>
            </p:cNvPr>
            <p:cNvSpPr/>
            <p:nvPr/>
          </p:nvSpPr>
          <p:spPr>
            <a:xfrm>
              <a:off x="10075115" y="156387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b</a:t>
              </a:r>
            </a:p>
          </p:txBody>
        </p:sp>
        <p:sp>
          <p:nvSpPr>
            <p:cNvPr id="131" name="Ellipse 22">
              <a:extLst>
                <a:ext uri="{FF2B5EF4-FFF2-40B4-BE49-F238E27FC236}">
                  <a16:creationId xmlns:a16="http://schemas.microsoft.com/office/drawing/2014/main" id="{07E6FA18-F72A-691D-3E67-100315D071BD}"/>
                </a:ext>
              </a:extLst>
            </p:cNvPr>
            <p:cNvSpPr/>
            <p:nvPr/>
          </p:nvSpPr>
          <p:spPr>
            <a:xfrm>
              <a:off x="10075115" y="2147205"/>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c</a:t>
              </a:r>
            </a:p>
          </p:txBody>
        </p:sp>
        <p:sp>
          <p:nvSpPr>
            <p:cNvPr id="132" name="Ellipse 23">
              <a:extLst>
                <a:ext uri="{FF2B5EF4-FFF2-40B4-BE49-F238E27FC236}">
                  <a16:creationId xmlns:a16="http://schemas.microsoft.com/office/drawing/2014/main" id="{0E3DA2D2-4CF0-E4B7-0AA6-4A4A8ACAAFD3}"/>
                </a:ext>
              </a:extLst>
            </p:cNvPr>
            <p:cNvSpPr/>
            <p:nvPr/>
          </p:nvSpPr>
          <p:spPr>
            <a:xfrm>
              <a:off x="10075115" y="271712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d</a:t>
              </a:r>
            </a:p>
          </p:txBody>
        </p:sp>
        <p:sp>
          <p:nvSpPr>
            <p:cNvPr id="133" name="Ellipse 58">
              <a:extLst>
                <a:ext uri="{FF2B5EF4-FFF2-40B4-BE49-F238E27FC236}">
                  <a16:creationId xmlns:a16="http://schemas.microsoft.com/office/drawing/2014/main" id="{EF2A0884-357C-EBAE-728A-474F80608182}"/>
                </a:ext>
              </a:extLst>
            </p:cNvPr>
            <p:cNvSpPr/>
            <p:nvPr/>
          </p:nvSpPr>
          <p:spPr>
            <a:xfrm>
              <a:off x="10075115" y="3022353"/>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e</a:t>
              </a:r>
            </a:p>
          </p:txBody>
        </p:sp>
        <p:sp>
          <p:nvSpPr>
            <p:cNvPr id="134" name="Ellipse 65">
              <a:extLst>
                <a:ext uri="{FF2B5EF4-FFF2-40B4-BE49-F238E27FC236}">
                  <a16:creationId xmlns:a16="http://schemas.microsoft.com/office/drawing/2014/main" id="{CBAA9987-BD9E-27F3-F58E-E4FCE3ADE70E}"/>
                </a:ext>
              </a:extLst>
            </p:cNvPr>
            <p:cNvSpPr/>
            <p:nvPr/>
          </p:nvSpPr>
          <p:spPr>
            <a:xfrm>
              <a:off x="10075115" y="3840931"/>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f</a:t>
              </a:r>
            </a:p>
          </p:txBody>
        </p:sp>
        <p:sp>
          <p:nvSpPr>
            <p:cNvPr id="135" name="Ellipse 70">
              <a:extLst>
                <a:ext uri="{FF2B5EF4-FFF2-40B4-BE49-F238E27FC236}">
                  <a16:creationId xmlns:a16="http://schemas.microsoft.com/office/drawing/2014/main" id="{6E3528FB-01F2-4205-48B9-86DF771B4F01}"/>
                </a:ext>
              </a:extLst>
            </p:cNvPr>
            <p:cNvSpPr/>
            <p:nvPr/>
          </p:nvSpPr>
          <p:spPr>
            <a:xfrm>
              <a:off x="10075115" y="4640404"/>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g</a:t>
              </a:r>
            </a:p>
          </p:txBody>
        </p:sp>
        <p:sp>
          <p:nvSpPr>
            <p:cNvPr id="136" name="ZoneTexte 78">
              <a:extLst>
                <a:ext uri="{FF2B5EF4-FFF2-40B4-BE49-F238E27FC236}">
                  <a16:creationId xmlns:a16="http://schemas.microsoft.com/office/drawing/2014/main" id="{F5AF3B29-8B4C-E612-322B-49856325C2D4}"/>
                </a:ext>
              </a:extLst>
            </p:cNvPr>
            <p:cNvSpPr txBox="1"/>
            <p:nvPr/>
          </p:nvSpPr>
          <p:spPr>
            <a:xfrm>
              <a:off x="8906425" y="1238471"/>
              <a:ext cx="1005403" cy="25391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err="1">
                  <a:ln>
                    <a:noFill/>
                  </a:ln>
                  <a:solidFill>
                    <a:srgbClr val="000000"/>
                  </a:solidFill>
                  <a:effectLst/>
                  <a:uLnTx/>
                  <a:uFillTx/>
                  <a:latin typeface="Arial"/>
                  <a:cs typeface="Arial"/>
                  <a:sym typeface="Arial"/>
                </a:rPr>
                <a:t>Repricing</a:t>
              </a:r>
              <a:r>
                <a:rPr kumimoji="0" lang="fr-FR" sz="1000" b="1" i="0" u="none" strike="noStrike" kern="0" cap="none" spc="0" normalizeH="0" baseline="0" noProof="0">
                  <a:ln>
                    <a:noFill/>
                  </a:ln>
                  <a:solidFill>
                    <a:srgbClr val="000000"/>
                  </a:solidFill>
                  <a:effectLst/>
                  <a:uLnTx/>
                  <a:uFillTx/>
                  <a:latin typeface="Arial"/>
                  <a:cs typeface="Arial"/>
                  <a:sym typeface="Arial"/>
                </a:rPr>
                <a:t> TF</a:t>
              </a:r>
            </a:p>
          </p:txBody>
        </p:sp>
        <p:sp>
          <p:nvSpPr>
            <p:cNvPr id="137" name="ZoneTexte 79">
              <a:extLst>
                <a:ext uri="{FF2B5EF4-FFF2-40B4-BE49-F238E27FC236}">
                  <a16:creationId xmlns:a16="http://schemas.microsoft.com/office/drawing/2014/main" id="{BB1DD238-9FBF-5A14-C219-155051F5DCDA}"/>
                </a:ext>
              </a:extLst>
            </p:cNvPr>
            <p:cNvSpPr txBox="1"/>
            <p:nvPr/>
          </p:nvSpPr>
          <p:spPr>
            <a:xfrm>
              <a:off x="8906425" y="2626544"/>
              <a:ext cx="112082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base</a:t>
              </a:r>
              <a:br>
                <a:rPr kumimoji="0" lang="fr-FR" sz="1000" b="1" i="0" u="none" strike="noStrike" kern="0" cap="none" spc="0" normalizeH="0" baseline="0" noProof="0">
                  <a:ln>
                    <a:noFill/>
                  </a:ln>
                  <a:solidFill>
                    <a:srgbClr val="000000"/>
                  </a:solidFill>
                  <a:effectLst/>
                  <a:uLnTx/>
                  <a:uFillTx/>
                  <a:latin typeface="Arial"/>
                  <a:cs typeface="Arial"/>
                  <a:sym typeface="Arial"/>
                </a:rPr>
              </a:br>
              <a:r>
                <a:rPr kumimoji="0" lang="fr-FR" sz="1000" b="1" i="0" u="none" strike="noStrike" kern="0" cap="none" spc="0" normalizeH="0" baseline="0" noProof="0">
                  <a:ln>
                    <a:noFill/>
                  </a:ln>
                  <a:solidFill>
                    <a:srgbClr val="000000"/>
                  </a:solidFill>
                  <a:effectLst/>
                  <a:uLnTx/>
                  <a:uFillTx/>
                  <a:latin typeface="Arial"/>
                  <a:cs typeface="Arial"/>
                  <a:sym typeface="Arial"/>
                </a:rPr>
                <a:t>E6M</a:t>
              </a:r>
            </a:p>
          </p:txBody>
        </p:sp>
        <p:sp>
          <p:nvSpPr>
            <p:cNvPr id="138" name="ZoneTexte 80">
              <a:extLst>
                <a:ext uri="{FF2B5EF4-FFF2-40B4-BE49-F238E27FC236}">
                  <a16:creationId xmlns:a16="http://schemas.microsoft.com/office/drawing/2014/main" id="{673FF1D5-C5C3-1854-EEBB-01C594D2CD78}"/>
                </a:ext>
              </a:extLst>
            </p:cNvPr>
            <p:cNvSpPr txBox="1"/>
            <p:nvPr/>
          </p:nvSpPr>
          <p:spPr>
            <a:xfrm>
              <a:off x="8906425" y="2100886"/>
              <a:ext cx="114486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Inflation</a:t>
              </a:r>
              <a:br>
                <a:rPr kumimoji="0" lang="fr-FR" sz="1000" b="1" i="0" u="none" strike="noStrike" kern="0" cap="none" spc="0" normalizeH="0" baseline="0" noProof="0">
                  <a:ln>
                    <a:noFill/>
                  </a:ln>
                  <a:solidFill>
                    <a:srgbClr val="000000"/>
                  </a:solidFill>
                  <a:effectLst/>
                  <a:uLnTx/>
                  <a:uFillTx/>
                  <a:latin typeface="Arial"/>
                  <a:cs typeface="Arial"/>
                  <a:sym typeface="Arial"/>
                </a:rPr>
              </a:br>
              <a:r>
                <a:rPr kumimoji="0" lang="fr-FR" sz="1000" b="1" i="0" u="none" strike="noStrike" kern="0" cap="none" spc="0" normalizeH="0" baseline="0" noProof="0">
                  <a:ln>
                    <a:noFill/>
                  </a:ln>
                  <a:solidFill>
                    <a:srgbClr val="000000"/>
                  </a:solidFill>
                  <a:effectLst/>
                  <a:uLnTx/>
                  <a:uFillTx/>
                  <a:latin typeface="Arial"/>
                  <a:cs typeface="Arial"/>
                  <a:sym typeface="Arial"/>
                </a:rPr>
                <a:t>FR</a:t>
              </a:r>
            </a:p>
          </p:txBody>
        </p:sp>
        <p:sp>
          <p:nvSpPr>
            <p:cNvPr id="139" name="ZoneTexte 81">
              <a:extLst>
                <a:ext uri="{FF2B5EF4-FFF2-40B4-BE49-F238E27FC236}">
                  <a16:creationId xmlns:a16="http://schemas.microsoft.com/office/drawing/2014/main" id="{C0AF2F34-2170-3DD1-8F5D-204E5CB3E690}"/>
                </a:ext>
              </a:extLst>
            </p:cNvPr>
            <p:cNvSpPr txBox="1"/>
            <p:nvPr/>
          </p:nvSpPr>
          <p:spPr>
            <a:xfrm>
              <a:off x="8906425" y="1578325"/>
              <a:ext cx="11801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Inflation </a:t>
              </a:r>
              <a:br>
                <a:rPr kumimoji="0" lang="fr-FR" sz="1000" b="1" i="0" u="none" strike="noStrike" kern="0" cap="none" spc="0" normalizeH="0" baseline="0" noProof="0">
                  <a:ln>
                    <a:noFill/>
                  </a:ln>
                  <a:solidFill>
                    <a:srgbClr val="000000"/>
                  </a:solidFill>
                  <a:effectLst/>
                  <a:uLnTx/>
                  <a:uFillTx/>
                  <a:latin typeface="Arial"/>
                  <a:cs typeface="Arial"/>
                  <a:sym typeface="Arial"/>
                </a:rPr>
              </a:br>
              <a:r>
                <a:rPr kumimoji="0" lang="fr-FR" sz="1000" b="1" i="0" u="none" strike="noStrike" kern="0" cap="none" spc="0" normalizeH="0" baseline="0" noProof="0" err="1">
                  <a:ln>
                    <a:noFill/>
                  </a:ln>
                  <a:solidFill>
                    <a:srgbClr val="000000"/>
                  </a:solidFill>
                  <a:effectLst/>
                  <a:uLnTx/>
                  <a:uFillTx/>
                  <a:latin typeface="Arial"/>
                  <a:cs typeface="Arial"/>
                  <a:sym typeface="Arial"/>
                </a:rPr>
                <a:t>Eur</a:t>
              </a:r>
              <a:endParaRPr kumimoji="0" lang="fr-FR" sz="1000" b="1" i="0" u="none" strike="noStrike" kern="0" cap="none" spc="0" normalizeH="0" baseline="0" noProof="0">
                <a:ln>
                  <a:noFill/>
                </a:ln>
                <a:solidFill>
                  <a:srgbClr val="000000"/>
                </a:solidFill>
                <a:effectLst/>
                <a:uLnTx/>
                <a:uFillTx/>
                <a:latin typeface="Arial"/>
                <a:cs typeface="Arial"/>
                <a:sym typeface="Arial"/>
              </a:endParaRPr>
            </a:p>
          </p:txBody>
        </p:sp>
        <p:sp>
          <p:nvSpPr>
            <p:cNvPr id="140" name="ZoneTexte 82">
              <a:extLst>
                <a:ext uri="{FF2B5EF4-FFF2-40B4-BE49-F238E27FC236}">
                  <a16:creationId xmlns:a16="http://schemas.microsoft.com/office/drawing/2014/main" id="{7537ED65-70B1-A51B-8CB3-8F4E895C4701}"/>
                </a:ext>
              </a:extLst>
            </p:cNvPr>
            <p:cNvSpPr txBox="1"/>
            <p:nvPr/>
          </p:nvSpPr>
          <p:spPr>
            <a:xfrm>
              <a:off x="8906425" y="2970908"/>
              <a:ext cx="112082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base</a:t>
              </a:r>
              <a:br>
                <a:rPr kumimoji="0" lang="fr-FR" sz="1000" b="1" i="0" u="none" strike="noStrike" kern="0" cap="none" spc="0" normalizeH="0" baseline="0" noProof="0">
                  <a:ln>
                    <a:noFill/>
                  </a:ln>
                  <a:solidFill>
                    <a:srgbClr val="000000"/>
                  </a:solidFill>
                  <a:effectLst/>
                  <a:uLnTx/>
                  <a:uFillTx/>
                  <a:latin typeface="Arial"/>
                  <a:cs typeface="Arial"/>
                  <a:sym typeface="Arial"/>
                </a:rPr>
              </a:br>
              <a:r>
                <a:rPr kumimoji="0" lang="fr-FR" sz="1000" b="1" i="0" u="none" strike="noStrike" kern="0" cap="none" spc="0" normalizeH="0" baseline="0" noProof="0">
                  <a:ln>
                    <a:noFill/>
                  </a:ln>
                  <a:solidFill>
                    <a:srgbClr val="000000"/>
                  </a:solidFill>
                  <a:effectLst/>
                  <a:uLnTx/>
                  <a:uFillTx/>
                  <a:latin typeface="Arial"/>
                  <a:cs typeface="Arial"/>
                  <a:sym typeface="Arial"/>
                </a:rPr>
                <a:t>E3M</a:t>
              </a:r>
            </a:p>
          </p:txBody>
        </p:sp>
        <p:sp>
          <p:nvSpPr>
            <p:cNvPr id="141" name="ZoneTexte 87">
              <a:extLst>
                <a:ext uri="{FF2B5EF4-FFF2-40B4-BE49-F238E27FC236}">
                  <a16:creationId xmlns:a16="http://schemas.microsoft.com/office/drawing/2014/main" id="{57B3AAB8-5CBB-9DC0-8D57-2F5E0F11DCF9}"/>
                </a:ext>
              </a:extLst>
            </p:cNvPr>
            <p:cNvSpPr txBox="1"/>
            <p:nvPr/>
          </p:nvSpPr>
          <p:spPr>
            <a:xfrm>
              <a:off x="8906425" y="3818317"/>
              <a:ext cx="112082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taux réglementé</a:t>
              </a:r>
            </a:p>
          </p:txBody>
        </p:sp>
        <p:sp>
          <p:nvSpPr>
            <p:cNvPr id="142" name="ZoneTexte 88">
              <a:extLst>
                <a:ext uri="{FF2B5EF4-FFF2-40B4-BE49-F238E27FC236}">
                  <a16:creationId xmlns:a16="http://schemas.microsoft.com/office/drawing/2014/main" id="{6643C3EF-1583-64DA-EB93-2CF167FF86A4}"/>
                </a:ext>
              </a:extLst>
            </p:cNvPr>
            <p:cNvSpPr txBox="1"/>
            <p:nvPr/>
          </p:nvSpPr>
          <p:spPr>
            <a:xfrm>
              <a:off x="8906425" y="4482511"/>
              <a:ext cx="112082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taux réglementé</a:t>
              </a:r>
            </a:p>
          </p:txBody>
        </p:sp>
      </p:grpSp>
      <p:sp>
        <p:nvSpPr>
          <p:cNvPr id="143" name="ZoneTexte 89">
            <a:extLst>
              <a:ext uri="{FF2B5EF4-FFF2-40B4-BE49-F238E27FC236}">
                <a16:creationId xmlns:a16="http://schemas.microsoft.com/office/drawing/2014/main" id="{4D5FD6D4-6D47-F3CF-D352-98337858E0D3}"/>
              </a:ext>
            </a:extLst>
          </p:cNvPr>
          <p:cNvSpPr txBox="1"/>
          <p:nvPr/>
        </p:nvSpPr>
        <p:spPr>
          <a:xfrm>
            <a:off x="3624268" y="810256"/>
            <a:ext cx="8217212" cy="288000"/>
          </a:xfrm>
          <a:prstGeom prst="rect">
            <a:avLst/>
          </a:prstGeom>
          <a:solidFill>
            <a:schemeClr val="bg1">
              <a:lumMod val="50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prstClr val="white"/>
                </a:solidFill>
                <a:effectLst/>
                <a:uLnTx/>
                <a:uFillTx/>
                <a:latin typeface="Arial"/>
                <a:cs typeface="Arial"/>
                <a:sym typeface="Arial"/>
              </a:rPr>
              <a:t>Décomposition du risque de taux sur le </a:t>
            </a:r>
            <a:r>
              <a:rPr kumimoji="0" lang="fr-FR" sz="1200" b="1" i="0" u="none" strike="noStrike" kern="0" cap="none" spc="0" normalizeH="0" baseline="0" noProof="0">
                <a:ln>
                  <a:noFill/>
                </a:ln>
                <a:solidFill>
                  <a:prstClr val="black"/>
                </a:solidFill>
                <a:effectLst/>
                <a:uLnTx/>
                <a:uFillTx/>
                <a:latin typeface="Arial"/>
                <a:cs typeface="Arial"/>
                <a:sym typeface="Arial"/>
              </a:rPr>
              <a:t>Stock</a:t>
            </a:r>
            <a:r>
              <a:rPr kumimoji="0" lang="fr-FR" sz="1200" b="1" i="0" u="none" strike="noStrike" kern="0" cap="none" spc="0" normalizeH="0" baseline="0" noProof="0">
                <a:ln>
                  <a:noFill/>
                </a:ln>
                <a:solidFill>
                  <a:prstClr val="white"/>
                </a:solidFill>
                <a:effectLst/>
                <a:uLnTx/>
                <a:uFillTx/>
                <a:latin typeface="Arial"/>
                <a:cs typeface="Arial"/>
                <a:sym typeface="Arial"/>
              </a:rPr>
              <a:t> avec introduction du pivot E3M</a:t>
            </a:r>
          </a:p>
        </p:txBody>
      </p:sp>
      <p:sp>
        <p:nvSpPr>
          <p:cNvPr id="147" name="Rectangle 146">
            <a:extLst>
              <a:ext uri="{FF2B5EF4-FFF2-40B4-BE49-F238E27FC236}">
                <a16:creationId xmlns:a16="http://schemas.microsoft.com/office/drawing/2014/main" id="{A8C725DD-924D-A739-A7BF-DC25B2DCC194}"/>
              </a:ext>
            </a:extLst>
          </p:cNvPr>
          <p:cNvSpPr/>
          <p:nvPr/>
        </p:nvSpPr>
        <p:spPr>
          <a:xfrm>
            <a:off x="3620868" y="796472"/>
            <a:ext cx="8217212" cy="457936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167" name="Rectangle 166">
            <a:extLst>
              <a:ext uri="{FF2B5EF4-FFF2-40B4-BE49-F238E27FC236}">
                <a16:creationId xmlns:a16="http://schemas.microsoft.com/office/drawing/2014/main" id="{536DD182-278F-852F-BE35-A9337070B7C2}"/>
              </a:ext>
            </a:extLst>
          </p:cNvPr>
          <p:cNvSpPr/>
          <p:nvPr/>
        </p:nvSpPr>
        <p:spPr>
          <a:xfrm rot="16200000">
            <a:off x="-683833" y="2202905"/>
            <a:ext cx="2086864" cy="288002"/>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rPr>
              <a:t>ACTIF</a:t>
            </a:r>
          </a:p>
        </p:txBody>
      </p:sp>
      <p:sp>
        <p:nvSpPr>
          <p:cNvPr id="168" name="Rectangle 167">
            <a:extLst>
              <a:ext uri="{FF2B5EF4-FFF2-40B4-BE49-F238E27FC236}">
                <a16:creationId xmlns:a16="http://schemas.microsoft.com/office/drawing/2014/main" id="{028594E4-AD37-E038-D911-40761457C4CC}"/>
              </a:ext>
            </a:extLst>
          </p:cNvPr>
          <p:cNvSpPr/>
          <p:nvPr/>
        </p:nvSpPr>
        <p:spPr>
          <a:xfrm rot="16200000">
            <a:off x="-683834" y="4754990"/>
            <a:ext cx="2086864" cy="288002"/>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rPr>
              <a:t>PASSIF</a:t>
            </a:r>
          </a:p>
        </p:txBody>
      </p:sp>
      <p:sp>
        <p:nvSpPr>
          <p:cNvPr id="169" name="Rectangle 168">
            <a:extLst>
              <a:ext uri="{FF2B5EF4-FFF2-40B4-BE49-F238E27FC236}">
                <a16:creationId xmlns:a16="http://schemas.microsoft.com/office/drawing/2014/main" id="{2F41F5B7-D2D0-F7B9-00D9-79571D266B3F}"/>
              </a:ext>
            </a:extLst>
          </p:cNvPr>
          <p:cNvSpPr/>
          <p:nvPr/>
        </p:nvSpPr>
        <p:spPr>
          <a:xfrm rot="16200000">
            <a:off x="174636" y="3431298"/>
            <a:ext cx="369923" cy="288002"/>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900" b="1" i="0" u="none" strike="noStrike" kern="0" cap="none" spc="0" normalizeH="0" baseline="0" noProof="0">
                <a:ln>
                  <a:noFill/>
                </a:ln>
                <a:solidFill>
                  <a:prstClr val="white"/>
                </a:solidFill>
                <a:effectLst/>
                <a:uLnTx/>
                <a:uFillTx/>
                <a:latin typeface="Calibri" panose="020F0502020204030204"/>
                <a:ea typeface="+mn-ea"/>
                <a:cs typeface="+mn-cs"/>
                <a:sym typeface="Arial"/>
              </a:rPr>
              <a:t>HB</a:t>
            </a:r>
          </a:p>
        </p:txBody>
      </p:sp>
      <p:grpSp>
        <p:nvGrpSpPr>
          <p:cNvPr id="196" name="Group 195">
            <a:extLst>
              <a:ext uri="{FF2B5EF4-FFF2-40B4-BE49-F238E27FC236}">
                <a16:creationId xmlns:a16="http://schemas.microsoft.com/office/drawing/2014/main" id="{96131D33-B509-3D4F-3F37-E4503A5589FE}"/>
              </a:ext>
            </a:extLst>
          </p:cNvPr>
          <p:cNvGrpSpPr/>
          <p:nvPr/>
        </p:nvGrpSpPr>
        <p:grpSpPr>
          <a:xfrm>
            <a:off x="3617056" y="5462750"/>
            <a:ext cx="8227412" cy="1115793"/>
            <a:chOff x="3614068" y="4955489"/>
            <a:chExt cx="8227412" cy="1115793"/>
          </a:xfrm>
        </p:grpSpPr>
        <p:sp>
          <p:nvSpPr>
            <p:cNvPr id="144" name="ZoneTexte 93">
              <a:extLst>
                <a:ext uri="{FF2B5EF4-FFF2-40B4-BE49-F238E27FC236}">
                  <a16:creationId xmlns:a16="http://schemas.microsoft.com/office/drawing/2014/main" id="{5751429E-B34A-9032-22E8-61443F62FB62}"/>
                </a:ext>
              </a:extLst>
            </p:cNvPr>
            <p:cNvSpPr txBox="1"/>
            <p:nvPr/>
          </p:nvSpPr>
          <p:spPr>
            <a:xfrm>
              <a:off x="3624268" y="4963972"/>
              <a:ext cx="8217212" cy="288000"/>
            </a:xfrm>
            <a:prstGeom prst="rect">
              <a:avLst/>
            </a:prstGeom>
            <a:solidFill>
              <a:schemeClr val="bg1">
                <a:lumMod val="50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prstClr val="white"/>
                  </a:solidFill>
                  <a:effectLst/>
                  <a:uLnTx/>
                  <a:uFillTx/>
                  <a:latin typeface="Arial"/>
                  <a:cs typeface="Arial"/>
                  <a:sym typeface="Arial"/>
                </a:rPr>
                <a:t>Décomposition du risque de taux sur la </a:t>
              </a:r>
              <a:r>
                <a:rPr kumimoji="0" lang="fr-FR" sz="1200" b="1" i="0" u="none" strike="noStrike" kern="0" cap="none" spc="0" normalizeH="0" baseline="0" noProof="0">
                  <a:ln>
                    <a:noFill/>
                  </a:ln>
                  <a:solidFill>
                    <a:prstClr val="black"/>
                  </a:solidFill>
                  <a:effectLst/>
                  <a:uLnTx/>
                  <a:uFillTx/>
                  <a:latin typeface="Arial"/>
                  <a:cs typeface="Arial"/>
                  <a:sym typeface="Arial"/>
                </a:rPr>
                <a:t>Production Nouvelle à TF</a:t>
              </a:r>
              <a:r>
                <a:rPr kumimoji="0" lang="fr-FR" sz="1200" b="1" i="0" u="none" strike="noStrike" kern="0" cap="none" spc="0" normalizeH="0" baseline="0" noProof="0">
                  <a:ln>
                    <a:noFill/>
                  </a:ln>
                  <a:solidFill>
                    <a:prstClr val="white"/>
                  </a:solidFill>
                  <a:effectLst/>
                  <a:uLnTx/>
                  <a:uFillTx/>
                  <a:latin typeface="Arial"/>
                  <a:cs typeface="Arial"/>
                  <a:sym typeface="Arial"/>
                </a:rPr>
                <a:t> avec introduction du pivot E3M</a:t>
              </a:r>
            </a:p>
          </p:txBody>
        </p:sp>
        <p:cxnSp>
          <p:nvCxnSpPr>
            <p:cNvPr id="145" name="Connecteur droit 96">
              <a:extLst>
                <a:ext uri="{FF2B5EF4-FFF2-40B4-BE49-F238E27FC236}">
                  <a16:creationId xmlns:a16="http://schemas.microsoft.com/office/drawing/2014/main" id="{6F69E51C-A58E-8CEC-CD6F-BD91147C8198}"/>
                </a:ext>
              </a:extLst>
            </p:cNvPr>
            <p:cNvCxnSpPr>
              <a:cxnSpLocks/>
            </p:cNvCxnSpPr>
            <p:nvPr/>
          </p:nvCxnSpPr>
          <p:spPr>
            <a:xfrm>
              <a:off x="3678666" y="5501381"/>
              <a:ext cx="1476000" cy="0"/>
            </a:xfrm>
            <a:prstGeom prst="line">
              <a:avLst/>
            </a:prstGeom>
          </p:spPr>
          <p:style>
            <a:lnRef idx="3">
              <a:schemeClr val="dk1"/>
            </a:lnRef>
            <a:fillRef idx="0">
              <a:schemeClr val="dk1"/>
            </a:fillRef>
            <a:effectRef idx="2">
              <a:schemeClr val="dk1"/>
            </a:effectRef>
            <a:fontRef idx="minor">
              <a:schemeClr val="tx1"/>
            </a:fontRef>
          </p:style>
        </p:cxnSp>
        <p:cxnSp>
          <p:nvCxnSpPr>
            <p:cNvPr id="146" name="Connecteur droit 97">
              <a:extLst>
                <a:ext uri="{FF2B5EF4-FFF2-40B4-BE49-F238E27FC236}">
                  <a16:creationId xmlns:a16="http://schemas.microsoft.com/office/drawing/2014/main" id="{36AAC51D-78CF-7EC2-5D8E-A3A4BCCE0997}"/>
                </a:ext>
              </a:extLst>
            </p:cNvPr>
            <p:cNvCxnSpPr>
              <a:cxnSpLocks/>
            </p:cNvCxnSpPr>
            <p:nvPr/>
          </p:nvCxnSpPr>
          <p:spPr>
            <a:xfrm>
              <a:off x="4414537" y="5501381"/>
              <a:ext cx="0" cy="396000"/>
            </a:xfrm>
            <a:prstGeom prst="line">
              <a:avLst/>
            </a:prstGeom>
          </p:spPr>
          <p:style>
            <a:lnRef idx="3">
              <a:schemeClr val="dk1"/>
            </a:lnRef>
            <a:fillRef idx="0">
              <a:schemeClr val="dk1"/>
            </a:fillRef>
            <a:effectRef idx="2">
              <a:schemeClr val="dk1"/>
            </a:effectRef>
            <a:fontRef idx="minor">
              <a:schemeClr val="tx1"/>
            </a:fontRef>
          </p:style>
        </p:cxnSp>
        <p:sp>
          <p:nvSpPr>
            <p:cNvPr id="148" name="Rectangle 147">
              <a:extLst>
                <a:ext uri="{FF2B5EF4-FFF2-40B4-BE49-F238E27FC236}">
                  <a16:creationId xmlns:a16="http://schemas.microsoft.com/office/drawing/2014/main" id="{866A0E7C-CB82-7BBA-E5C6-FC134249C378}"/>
                </a:ext>
              </a:extLst>
            </p:cNvPr>
            <p:cNvSpPr/>
            <p:nvPr/>
          </p:nvSpPr>
          <p:spPr>
            <a:xfrm>
              <a:off x="3619840" y="4955489"/>
              <a:ext cx="8217212" cy="111579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4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149" name="Rectangle 148">
              <a:extLst>
                <a:ext uri="{FF2B5EF4-FFF2-40B4-BE49-F238E27FC236}">
                  <a16:creationId xmlns:a16="http://schemas.microsoft.com/office/drawing/2014/main" id="{7087B033-4876-0785-1066-798B6917262E}"/>
                </a:ext>
              </a:extLst>
            </p:cNvPr>
            <p:cNvSpPr/>
            <p:nvPr/>
          </p:nvSpPr>
          <p:spPr>
            <a:xfrm>
              <a:off x="4470870" y="5608252"/>
              <a:ext cx="648000" cy="119541"/>
            </a:xfrm>
            <a:prstGeom prst="rect">
              <a:avLst/>
            </a:prstGeom>
            <a:solidFill>
              <a:srgbClr val="11526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MT</a:t>
              </a:r>
            </a:p>
          </p:txBody>
        </p:sp>
        <p:sp>
          <p:nvSpPr>
            <p:cNvPr id="150" name="Rectangle 149">
              <a:extLst>
                <a:ext uri="{FF2B5EF4-FFF2-40B4-BE49-F238E27FC236}">
                  <a16:creationId xmlns:a16="http://schemas.microsoft.com/office/drawing/2014/main" id="{CE15498F-1BCD-2A37-F0DA-CBE50BB8237D}"/>
                </a:ext>
              </a:extLst>
            </p:cNvPr>
            <p:cNvSpPr/>
            <p:nvPr/>
          </p:nvSpPr>
          <p:spPr>
            <a:xfrm>
              <a:off x="3713581" y="5607767"/>
              <a:ext cx="648000" cy="128807"/>
            </a:xfrm>
            <a:prstGeom prst="rect">
              <a:avLst/>
            </a:prstGeom>
            <a:solidFill>
              <a:srgbClr val="11526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LT</a:t>
              </a:r>
            </a:p>
          </p:txBody>
        </p:sp>
        <p:sp>
          <p:nvSpPr>
            <p:cNvPr id="151" name="ZoneTexte 103">
              <a:extLst>
                <a:ext uri="{FF2B5EF4-FFF2-40B4-BE49-F238E27FC236}">
                  <a16:creationId xmlns:a16="http://schemas.microsoft.com/office/drawing/2014/main" id="{0B45D55B-5210-CCD9-A277-9C57A376B6EF}"/>
                </a:ext>
              </a:extLst>
            </p:cNvPr>
            <p:cNvSpPr txBox="1"/>
            <p:nvPr/>
          </p:nvSpPr>
          <p:spPr>
            <a:xfrm>
              <a:off x="4180635" y="5236450"/>
              <a:ext cx="397866"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srgbClr val="000000"/>
                  </a:solidFill>
                  <a:effectLst/>
                  <a:uLnTx/>
                  <a:uFillTx/>
                  <a:latin typeface="Arial"/>
                  <a:cs typeface="Arial"/>
                  <a:sym typeface="Arial"/>
                </a:rPr>
                <a:t>PN</a:t>
              </a:r>
            </a:p>
          </p:txBody>
        </p:sp>
        <p:sp>
          <p:nvSpPr>
            <p:cNvPr id="152" name="ZoneTexte 104">
              <a:extLst>
                <a:ext uri="{FF2B5EF4-FFF2-40B4-BE49-F238E27FC236}">
                  <a16:creationId xmlns:a16="http://schemas.microsoft.com/office/drawing/2014/main" id="{4B44BEF6-0603-9B98-D407-2A9E1FC7EE6B}"/>
                </a:ext>
              </a:extLst>
            </p:cNvPr>
            <p:cNvSpPr txBox="1"/>
            <p:nvPr/>
          </p:nvSpPr>
          <p:spPr>
            <a:xfrm>
              <a:off x="6226855" y="5236450"/>
              <a:ext cx="162897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1" i="0" u="none" strike="noStrike" kern="0" cap="none" spc="0" normalizeH="0" baseline="0" noProof="0">
                  <a:ln>
                    <a:noFill/>
                  </a:ln>
                  <a:solidFill>
                    <a:srgbClr val="000000"/>
                  </a:solidFill>
                  <a:effectLst/>
                  <a:uLnTx/>
                  <a:uFillTx/>
                  <a:latin typeface="Arial"/>
                  <a:cs typeface="Arial"/>
                  <a:sym typeface="Arial"/>
                </a:rPr>
                <a:t>PN adossée à l’E3M</a:t>
              </a:r>
            </a:p>
          </p:txBody>
        </p:sp>
        <p:cxnSp>
          <p:nvCxnSpPr>
            <p:cNvPr id="153" name="Connecteur droit 105">
              <a:extLst>
                <a:ext uri="{FF2B5EF4-FFF2-40B4-BE49-F238E27FC236}">
                  <a16:creationId xmlns:a16="http://schemas.microsoft.com/office/drawing/2014/main" id="{CFE41F10-0D30-2001-A2B7-0EA2B6B46EDC}"/>
                </a:ext>
              </a:extLst>
            </p:cNvPr>
            <p:cNvCxnSpPr/>
            <p:nvPr/>
          </p:nvCxnSpPr>
          <p:spPr>
            <a:xfrm>
              <a:off x="6130315" y="5509516"/>
              <a:ext cx="1476000" cy="0"/>
            </a:xfrm>
            <a:prstGeom prst="line">
              <a:avLst/>
            </a:prstGeom>
          </p:spPr>
          <p:style>
            <a:lnRef idx="3">
              <a:schemeClr val="dk1"/>
            </a:lnRef>
            <a:fillRef idx="0">
              <a:schemeClr val="dk1"/>
            </a:fillRef>
            <a:effectRef idx="2">
              <a:schemeClr val="dk1"/>
            </a:effectRef>
            <a:fontRef idx="minor">
              <a:schemeClr val="tx1"/>
            </a:fontRef>
          </p:style>
        </p:cxnSp>
        <p:cxnSp>
          <p:nvCxnSpPr>
            <p:cNvPr id="154" name="Connecteur droit 106">
              <a:extLst>
                <a:ext uri="{FF2B5EF4-FFF2-40B4-BE49-F238E27FC236}">
                  <a16:creationId xmlns:a16="http://schemas.microsoft.com/office/drawing/2014/main" id="{59FD8EA5-CF95-F235-7BF0-9D90BFD41C8B}"/>
                </a:ext>
              </a:extLst>
            </p:cNvPr>
            <p:cNvCxnSpPr>
              <a:cxnSpLocks/>
            </p:cNvCxnSpPr>
            <p:nvPr/>
          </p:nvCxnSpPr>
          <p:spPr>
            <a:xfrm>
              <a:off x="6866186" y="5520818"/>
              <a:ext cx="0" cy="396000"/>
            </a:xfrm>
            <a:prstGeom prst="line">
              <a:avLst/>
            </a:prstGeom>
          </p:spPr>
          <p:style>
            <a:lnRef idx="3">
              <a:schemeClr val="dk1"/>
            </a:lnRef>
            <a:fillRef idx="0">
              <a:schemeClr val="dk1"/>
            </a:fillRef>
            <a:effectRef idx="2">
              <a:schemeClr val="dk1"/>
            </a:effectRef>
            <a:fontRef idx="minor">
              <a:schemeClr val="tx1"/>
            </a:fontRef>
          </p:style>
        </p:cxnSp>
        <p:sp>
          <p:nvSpPr>
            <p:cNvPr id="155" name="Rectangle 154">
              <a:extLst>
                <a:ext uri="{FF2B5EF4-FFF2-40B4-BE49-F238E27FC236}">
                  <a16:creationId xmlns:a16="http://schemas.microsoft.com/office/drawing/2014/main" id="{3ADAC9D1-57F2-4047-E15D-002B5AFF3A1C}"/>
                </a:ext>
              </a:extLst>
            </p:cNvPr>
            <p:cNvSpPr/>
            <p:nvPr/>
          </p:nvSpPr>
          <p:spPr>
            <a:xfrm>
              <a:off x="6153858" y="5555324"/>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LT</a:t>
              </a:r>
            </a:p>
          </p:txBody>
        </p:sp>
        <p:sp>
          <p:nvSpPr>
            <p:cNvPr id="156" name="Rectangle 155">
              <a:extLst>
                <a:ext uri="{FF2B5EF4-FFF2-40B4-BE49-F238E27FC236}">
                  <a16:creationId xmlns:a16="http://schemas.microsoft.com/office/drawing/2014/main" id="{B91D9E22-6550-7025-6B05-823F3213E3AB}"/>
                </a:ext>
              </a:extLst>
            </p:cNvPr>
            <p:cNvSpPr/>
            <p:nvPr/>
          </p:nvSpPr>
          <p:spPr>
            <a:xfrm>
              <a:off x="6931366" y="5555324"/>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MT</a:t>
              </a:r>
            </a:p>
          </p:txBody>
        </p:sp>
        <p:sp>
          <p:nvSpPr>
            <p:cNvPr id="157" name="Rectangle 156">
              <a:extLst>
                <a:ext uri="{FF2B5EF4-FFF2-40B4-BE49-F238E27FC236}">
                  <a16:creationId xmlns:a16="http://schemas.microsoft.com/office/drawing/2014/main" id="{2AC49640-89E4-E15B-054B-C70D2AC4A245}"/>
                </a:ext>
              </a:extLst>
            </p:cNvPr>
            <p:cNvSpPr/>
            <p:nvPr/>
          </p:nvSpPr>
          <p:spPr>
            <a:xfrm>
              <a:off x="6931366" y="5728739"/>
              <a:ext cx="648000" cy="91563"/>
            </a:xfrm>
            <a:prstGeom prst="rect">
              <a:avLst/>
            </a:prstGeom>
            <a:solidFill>
              <a:srgbClr val="1D7B96"/>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58" name="Rectangle 157">
              <a:extLst>
                <a:ext uri="{FF2B5EF4-FFF2-40B4-BE49-F238E27FC236}">
                  <a16:creationId xmlns:a16="http://schemas.microsoft.com/office/drawing/2014/main" id="{C368F350-7B2D-6F7E-9105-AE479F27416E}"/>
                </a:ext>
              </a:extLst>
            </p:cNvPr>
            <p:cNvSpPr/>
            <p:nvPr/>
          </p:nvSpPr>
          <p:spPr>
            <a:xfrm>
              <a:off x="6153858" y="5698656"/>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LT</a:t>
              </a:r>
            </a:p>
          </p:txBody>
        </p:sp>
        <p:sp>
          <p:nvSpPr>
            <p:cNvPr id="159" name="Rectangle 158">
              <a:extLst>
                <a:ext uri="{FF2B5EF4-FFF2-40B4-BE49-F238E27FC236}">
                  <a16:creationId xmlns:a16="http://schemas.microsoft.com/office/drawing/2014/main" id="{D08544FC-5DE3-8CC2-FD94-780EA8A97437}"/>
                </a:ext>
              </a:extLst>
            </p:cNvPr>
            <p:cNvSpPr/>
            <p:nvPr/>
          </p:nvSpPr>
          <p:spPr>
            <a:xfrm>
              <a:off x="10273598" y="5480156"/>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LT</a:t>
              </a:r>
            </a:p>
          </p:txBody>
        </p:sp>
        <p:sp>
          <p:nvSpPr>
            <p:cNvPr id="160" name="Rectangle 159">
              <a:extLst>
                <a:ext uri="{FF2B5EF4-FFF2-40B4-BE49-F238E27FC236}">
                  <a16:creationId xmlns:a16="http://schemas.microsoft.com/office/drawing/2014/main" id="{729EF432-079B-E52F-E8CE-BA0EEABB5957}"/>
                </a:ext>
              </a:extLst>
            </p:cNvPr>
            <p:cNvSpPr/>
            <p:nvPr/>
          </p:nvSpPr>
          <p:spPr>
            <a:xfrm>
              <a:off x="10933001" y="5480156"/>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MT</a:t>
              </a:r>
            </a:p>
          </p:txBody>
        </p:sp>
        <p:sp>
          <p:nvSpPr>
            <p:cNvPr id="161" name="Ellipse 148">
              <a:extLst>
                <a:ext uri="{FF2B5EF4-FFF2-40B4-BE49-F238E27FC236}">
                  <a16:creationId xmlns:a16="http://schemas.microsoft.com/office/drawing/2014/main" id="{91D28C72-DB95-1EBF-CEE9-C28669D3A2B5}"/>
                </a:ext>
              </a:extLst>
            </p:cNvPr>
            <p:cNvSpPr/>
            <p:nvPr/>
          </p:nvSpPr>
          <p:spPr>
            <a:xfrm>
              <a:off x="10074578" y="5463090"/>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j</a:t>
              </a:r>
            </a:p>
          </p:txBody>
        </p:sp>
        <p:sp>
          <p:nvSpPr>
            <p:cNvPr id="162" name="ZoneTexte 149">
              <a:extLst>
                <a:ext uri="{FF2B5EF4-FFF2-40B4-BE49-F238E27FC236}">
                  <a16:creationId xmlns:a16="http://schemas.microsoft.com/office/drawing/2014/main" id="{01C07903-8C06-0D46-4341-D43A318E76FF}"/>
                </a:ext>
              </a:extLst>
            </p:cNvPr>
            <p:cNvSpPr txBox="1"/>
            <p:nvPr/>
          </p:nvSpPr>
          <p:spPr>
            <a:xfrm>
              <a:off x="8906425" y="5430340"/>
              <a:ext cx="120054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pente</a:t>
              </a:r>
            </a:p>
          </p:txBody>
        </p:sp>
        <p:sp>
          <p:nvSpPr>
            <p:cNvPr id="163" name="Rectangle 162">
              <a:extLst>
                <a:ext uri="{FF2B5EF4-FFF2-40B4-BE49-F238E27FC236}">
                  <a16:creationId xmlns:a16="http://schemas.microsoft.com/office/drawing/2014/main" id="{34EE3C54-3B08-3B0D-68A6-629080FD63B5}"/>
                </a:ext>
              </a:extLst>
            </p:cNvPr>
            <p:cNvSpPr/>
            <p:nvPr/>
          </p:nvSpPr>
          <p:spPr>
            <a:xfrm>
              <a:off x="10273598" y="5734337"/>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 LT</a:t>
              </a:r>
            </a:p>
          </p:txBody>
        </p:sp>
        <p:sp>
          <p:nvSpPr>
            <p:cNvPr id="164" name="Rectangle 163">
              <a:extLst>
                <a:ext uri="{FF2B5EF4-FFF2-40B4-BE49-F238E27FC236}">
                  <a16:creationId xmlns:a16="http://schemas.microsoft.com/office/drawing/2014/main" id="{E0F3F353-819B-B453-0C3B-2B5FD35CE749}"/>
                </a:ext>
              </a:extLst>
            </p:cNvPr>
            <p:cNvSpPr/>
            <p:nvPr/>
          </p:nvSpPr>
          <p:spPr>
            <a:xfrm>
              <a:off x="10933001" y="5734337"/>
              <a:ext cx="648000" cy="145494"/>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65" name="Ellipse 152">
              <a:extLst>
                <a:ext uri="{FF2B5EF4-FFF2-40B4-BE49-F238E27FC236}">
                  <a16:creationId xmlns:a16="http://schemas.microsoft.com/office/drawing/2014/main" id="{252B9908-F9BC-A864-E6D8-74C36BE9A388}"/>
                </a:ext>
              </a:extLst>
            </p:cNvPr>
            <p:cNvSpPr/>
            <p:nvPr/>
          </p:nvSpPr>
          <p:spPr>
            <a:xfrm>
              <a:off x="10069019" y="5717271"/>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k</a:t>
              </a:r>
            </a:p>
          </p:txBody>
        </p:sp>
        <p:sp>
          <p:nvSpPr>
            <p:cNvPr id="166" name="ZoneTexte 153">
              <a:extLst>
                <a:ext uri="{FF2B5EF4-FFF2-40B4-BE49-F238E27FC236}">
                  <a16:creationId xmlns:a16="http://schemas.microsoft.com/office/drawing/2014/main" id="{12419F94-D5DC-3E05-D981-5384905AD155}"/>
                </a:ext>
              </a:extLst>
            </p:cNvPr>
            <p:cNvSpPr txBox="1"/>
            <p:nvPr/>
          </p:nvSpPr>
          <p:spPr>
            <a:xfrm>
              <a:off x="8906425" y="5684521"/>
              <a:ext cx="120054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Repricing TF</a:t>
              </a:r>
            </a:p>
          </p:txBody>
        </p:sp>
        <p:sp>
          <p:nvSpPr>
            <p:cNvPr id="171" name="Ellipse 100">
              <a:extLst>
                <a:ext uri="{FF2B5EF4-FFF2-40B4-BE49-F238E27FC236}">
                  <a16:creationId xmlns:a16="http://schemas.microsoft.com/office/drawing/2014/main" id="{24341F0D-7617-4FE9-FB71-FC479D958E7E}"/>
                </a:ext>
              </a:extLst>
            </p:cNvPr>
            <p:cNvSpPr/>
            <p:nvPr/>
          </p:nvSpPr>
          <p:spPr>
            <a:xfrm>
              <a:off x="5036530" y="5582858"/>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6</a:t>
              </a:r>
            </a:p>
          </p:txBody>
        </p:sp>
        <p:sp>
          <p:nvSpPr>
            <p:cNvPr id="172" name="Ellipse 108">
              <a:extLst>
                <a:ext uri="{FF2B5EF4-FFF2-40B4-BE49-F238E27FC236}">
                  <a16:creationId xmlns:a16="http://schemas.microsoft.com/office/drawing/2014/main" id="{7344FB7D-5ABF-206A-91BD-A6DE8AD1E8E9}"/>
                </a:ext>
              </a:extLst>
            </p:cNvPr>
            <p:cNvSpPr/>
            <p:nvPr/>
          </p:nvSpPr>
          <p:spPr>
            <a:xfrm>
              <a:off x="3614068" y="557389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5</a:t>
              </a:r>
            </a:p>
          </p:txBody>
        </p:sp>
      </p:grpSp>
      <p:grpSp>
        <p:nvGrpSpPr>
          <p:cNvPr id="193" name="Group 192">
            <a:extLst>
              <a:ext uri="{FF2B5EF4-FFF2-40B4-BE49-F238E27FC236}">
                <a16:creationId xmlns:a16="http://schemas.microsoft.com/office/drawing/2014/main" id="{0DDD921B-A000-FEBE-ED66-471468984272}"/>
              </a:ext>
            </a:extLst>
          </p:cNvPr>
          <p:cNvGrpSpPr/>
          <p:nvPr/>
        </p:nvGrpSpPr>
        <p:grpSpPr>
          <a:xfrm>
            <a:off x="7061408" y="1537726"/>
            <a:ext cx="684000" cy="1909171"/>
            <a:chOff x="7061408" y="1537726"/>
            <a:chExt cx="684000" cy="1909171"/>
          </a:xfrm>
        </p:grpSpPr>
        <p:sp>
          <p:nvSpPr>
            <p:cNvPr id="113" name="Rectangle 112">
              <a:extLst>
                <a:ext uri="{FF2B5EF4-FFF2-40B4-BE49-F238E27FC236}">
                  <a16:creationId xmlns:a16="http://schemas.microsoft.com/office/drawing/2014/main" id="{6752727B-BF57-690A-AEBF-EFDC409BAFDB}"/>
                </a:ext>
              </a:extLst>
            </p:cNvPr>
            <p:cNvSpPr/>
            <p:nvPr/>
          </p:nvSpPr>
          <p:spPr>
            <a:xfrm>
              <a:off x="7061408" y="1819297"/>
              <a:ext cx="684000" cy="1371908"/>
            </a:xfrm>
            <a:prstGeom prst="rect">
              <a:avLst/>
            </a:prstGeom>
            <a:solidFill>
              <a:srgbClr val="1D7B96"/>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4" name="Rectangle 113">
              <a:extLst>
                <a:ext uri="{FF2B5EF4-FFF2-40B4-BE49-F238E27FC236}">
                  <a16:creationId xmlns:a16="http://schemas.microsoft.com/office/drawing/2014/main" id="{4FF49A40-7A5B-6E17-EAD5-7812E137CB79}"/>
                </a:ext>
              </a:extLst>
            </p:cNvPr>
            <p:cNvSpPr/>
            <p:nvPr/>
          </p:nvSpPr>
          <p:spPr>
            <a:xfrm>
              <a:off x="7061408" y="3194897"/>
              <a:ext cx="684000" cy="252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92" name="Rectangle 191">
              <a:extLst>
                <a:ext uri="{FF2B5EF4-FFF2-40B4-BE49-F238E27FC236}">
                  <a16:creationId xmlns:a16="http://schemas.microsoft.com/office/drawing/2014/main" id="{1DBA6EDE-819C-004F-CC98-BD93BAEEC1DA}"/>
                </a:ext>
              </a:extLst>
            </p:cNvPr>
            <p:cNvSpPr/>
            <p:nvPr/>
          </p:nvSpPr>
          <p:spPr>
            <a:xfrm>
              <a:off x="7061408" y="1537726"/>
              <a:ext cx="684000"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grpSp>
      <p:grpSp>
        <p:nvGrpSpPr>
          <p:cNvPr id="200" name="Group 199">
            <a:extLst>
              <a:ext uri="{FF2B5EF4-FFF2-40B4-BE49-F238E27FC236}">
                <a16:creationId xmlns:a16="http://schemas.microsoft.com/office/drawing/2014/main" id="{0A6C7850-AEA1-74C9-898C-2DE517B8992C}"/>
              </a:ext>
            </a:extLst>
          </p:cNvPr>
          <p:cNvGrpSpPr/>
          <p:nvPr/>
        </p:nvGrpSpPr>
        <p:grpSpPr>
          <a:xfrm>
            <a:off x="10273598" y="4798055"/>
            <a:ext cx="1305993" cy="276999"/>
            <a:chOff x="10285001" y="4796016"/>
            <a:chExt cx="1305993" cy="276999"/>
          </a:xfrm>
        </p:grpSpPr>
        <p:sp>
          <p:nvSpPr>
            <p:cNvPr id="198" name="Rectangle 197">
              <a:extLst>
                <a:ext uri="{FF2B5EF4-FFF2-40B4-BE49-F238E27FC236}">
                  <a16:creationId xmlns:a16="http://schemas.microsoft.com/office/drawing/2014/main" id="{BA76627B-C480-3FB7-AE56-36DD9662394C}"/>
                </a:ext>
              </a:extLst>
            </p:cNvPr>
            <p:cNvSpPr/>
            <p:nvPr/>
          </p:nvSpPr>
          <p:spPr>
            <a:xfrm>
              <a:off x="10285001" y="4796016"/>
              <a:ext cx="648000"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199" name="Rectangle 198">
              <a:extLst>
                <a:ext uri="{FF2B5EF4-FFF2-40B4-BE49-F238E27FC236}">
                  <a16:creationId xmlns:a16="http://schemas.microsoft.com/office/drawing/2014/main" id="{98468391-7857-99C5-14EB-50F601B2DED7}"/>
                </a:ext>
              </a:extLst>
            </p:cNvPr>
            <p:cNvSpPr/>
            <p:nvPr/>
          </p:nvSpPr>
          <p:spPr>
            <a:xfrm>
              <a:off x="10942994" y="4796016"/>
              <a:ext cx="648000"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grpSp>
      <p:sp>
        <p:nvSpPr>
          <p:cNvPr id="201" name="ZoneTexte 88">
            <a:extLst>
              <a:ext uri="{FF2B5EF4-FFF2-40B4-BE49-F238E27FC236}">
                <a16:creationId xmlns:a16="http://schemas.microsoft.com/office/drawing/2014/main" id="{4AC9C2DB-840D-30BD-E9A3-C9C2442E35A9}"/>
              </a:ext>
            </a:extLst>
          </p:cNvPr>
          <p:cNvSpPr txBox="1"/>
          <p:nvPr/>
        </p:nvSpPr>
        <p:spPr>
          <a:xfrm>
            <a:off x="8610600" y="4856696"/>
            <a:ext cx="145141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fixing TLA</a:t>
            </a:r>
          </a:p>
        </p:txBody>
      </p:sp>
      <p:sp>
        <p:nvSpPr>
          <p:cNvPr id="202" name="Ellipse 70">
            <a:extLst>
              <a:ext uri="{FF2B5EF4-FFF2-40B4-BE49-F238E27FC236}">
                <a16:creationId xmlns:a16="http://schemas.microsoft.com/office/drawing/2014/main" id="{147E0FFC-BE28-BE8B-E551-BE2FA9832E98}"/>
              </a:ext>
            </a:extLst>
          </p:cNvPr>
          <p:cNvSpPr/>
          <p:nvPr/>
        </p:nvSpPr>
        <p:spPr>
          <a:xfrm>
            <a:off x="10072007" y="4858906"/>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h</a:t>
            </a:r>
          </a:p>
        </p:txBody>
      </p:sp>
      <p:grpSp>
        <p:nvGrpSpPr>
          <p:cNvPr id="230" name="Group 229">
            <a:extLst>
              <a:ext uri="{FF2B5EF4-FFF2-40B4-BE49-F238E27FC236}">
                <a16:creationId xmlns:a16="http://schemas.microsoft.com/office/drawing/2014/main" id="{AC606118-4C40-93FF-F77D-C277602DAE8F}"/>
              </a:ext>
            </a:extLst>
          </p:cNvPr>
          <p:cNvGrpSpPr/>
          <p:nvPr/>
        </p:nvGrpSpPr>
        <p:grpSpPr>
          <a:xfrm>
            <a:off x="10273598" y="5092939"/>
            <a:ext cx="1305993" cy="276999"/>
            <a:chOff x="10285001" y="4796016"/>
            <a:chExt cx="1305993" cy="276999"/>
          </a:xfrm>
        </p:grpSpPr>
        <p:sp>
          <p:nvSpPr>
            <p:cNvPr id="231" name="Rectangle 230">
              <a:extLst>
                <a:ext uri="{FF2B5EF4-FFF2-40B4-BE49-F238E27FC236}">
                  <a16:creationId xmlns:a16="http://schemas.microsoft.com/office/drawing/2014/main" id="{18473EFB-6227-BDF0-30A6-B9FBB1764D4E}"/>
                </a:ext>
              </a:extLst>
            </p:cNvPr>
            <p:cNvSpPr/>
            <p:nvPr/>
          </p:nvSpPr>
          <p:spPr>
            <a:xfrm>
              <a:off x="10285001" y="4796016"/>
              <a:ext cx="648000" cy="276999"/>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232" name="Rectangle 231">
              <a:extLst>
                <a:ext uri="{FF2B5EF4-FFF2-40B4-BE49-F238E27FC236}">
                  <a16:creationId xmlns:a16="http://schemas.microsoft.com/office/drawing/2014/main" id="{84AF92FC-1713-E180-85A6-853A4F81E5D5}"/>
                </a:ext>
              </a:extLst>
            </p:cNvPr>
            <p:cNvSpPr/>
            <p:nvPr/>
          </p:nvSpPr>
          <p:spPr>
            <a:xfrm>
              <a:off x="10942994" y="4796016"/>
              <a:ext cx="648000" cy="276999"/>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grpSp>
      <p:sp>
        <p:nvSpPr>
          <p:cNvPr id="233" name="Ellipse 70">
            <a:extLst>
              <a:ext uri="{FF2B5EF4-FFF2-40B4-BE49-F238E27FC236}">
                <a16:creationId xmlns:a16="http://schemas.microsoft.com/office/drawing/2014/main" id="{CABCA8A7-D24C-1635-6800-6977BEEE0CA9}"/>
              </a:ext>
            </a:extLst>
          </p:cNvPr>
          <p:cNvSpPr/>
          <p:nvPr/>
        </p:nvSpPr>
        <p:spPr>
          <a:xfrm>
            <a:off x="10072007" y="513988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i</a:t>
            </a:r>
          </a:p>
        </p:txBody>
      </p:sp>
      <p:sp>
        <p:nvSpPr>
          <p:cNvPr id="6" name="Ellipse 61">
            <a:extLst>
              <a:ext uri="{FF2B5EF4-FFF2-40B4-BE49-F238E27FC236}">
                <a16:creationId xmlns:a16="http://schemas.microsoft.com/office/drawing/2014/main" id="{E254A31C-5FFD-23CE-32B5-684E98E8005A}"/>
              </a:ext>
            </a:extLst>
          </p:cNvPr>
          <p:cNvSpPr/>
          <p:nvPr/>
        </p:nvSpPr>
        <p:spPr>
          <a:xfrm>
            <a:off x="4381922" y="1807098"/>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2</a:t>
            </a:r>
          </a:p>
        </p:txBody>
      </p:sp>
      <p:sp>
        <p:nvSpPr>
          <p:cNvPr id="4" name="Rectangle 3">
            <a:extLst>
              <a:ext uri="{FF2B5EF4-FFF2-40B4-BE49-F238E27FC236}">
                <a16:creationId xmlns:a16="http://schemas.microsoft.com/office/drawing/2014/main" id="{903B227D-43B6-FFD4-9E47-DC33020E4912}"/>
              </a:ext>
            </a:extLst>
          </p:cNvPr>
          <p:cNvSpPr/>
          <p:nvPr/>
        </p:nvSpPr>
        <p:spPr>
          <a:xfrm>
            <a:off x="1868198" y="1805353"/>
            <a:ext cx="648000" cy="178289"/>
          </a:xfrm>
          <a:prstGeom prst="rect">
            <a:avLst/>
          </a:prstGeom>
          <a:solidFill>
            <a:srgbClr val="11526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5" name="Rectangle 4">
            <a:extLst>
              <a:ext uri="{FF2B5EF4-FFF2-40B4-BE49-F238E27FC236}">
                <a16:creationId xmlns:a16="http://schemas.microsoft.com/office/drawing/2014/main" id="{404458F4-BB41-AC1D-373A-2164682C856D}"/>
              </a:ext>
            </a:extLst>
          </p:cNvPr>
          <p:cNvSpPr/>
          <p:nvPr/>
        </p:nvSpPr>
        <p:spPr>
          <a:xfrm>
            <a:off x="2740518" y="1677038"/>
            <a:ext cx="648000" cy="128807"/>
          </a:xfrm>
          <a:prstGeom prst="rect">
            <a:avLst/>
          </a:prstGeom>
          <a:solidFill>
            <a:srgbClr val="115264"/>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11" name="Ellipse 16">
            <a:extLst>
              <a:ext uri="{FF2B5EF4-FFF2-40B4-BE49-F238E27FC236}">
                <a16:creationId xmlns:a16="http://schemas.microsoft.com/office/drawing/2014/main" id="{0612F9F1-B944-0E62-5819-6E2A97706000}"/>
              </a:ext>
            </a:extLst>
          </p:cNvPr>
          <p:cNvSpPr/>
          <p:nvPr/>
        </p:nvSpPr>
        <p:spPr>
          <a:xfrm>
            <a:off x="2740518" y="1642283"/>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5</a:t>
            </a:r>
          </a:p>
        </p:txBody>
      </p:sp>
      <p:sp>
        <p:nvSpPr>
          <p:cNvPr id="20" name="Rectangle 19">
            <a:extLst>
              <a:ext uri="{FF2B5EF4-FFF2-40B4-BE49-F238E27FC236}">
                <a16:creationId xmlns:a16="http://schemas.microsoft.com/office/drawing/2014/main" id="{9C96CCAC-E5CA-4ED9-4543-22EC26A3ECBF}"/>
              </a:ext>
            </a:extLst>
          </p:cNvPr>
          <p:cNvSpPr/>
          <p:nvPr/>
        </p:nvSpPr>
        <p:spPr>
          <a:xfrm>
            <a:off x="936344" y="2963327"/>
            <a:ext cx="648000" cy="199134"/>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25" name="Rectangle 24">
            <a:extLst>
              <a:ext uri="{FF2B5EF4-FFF2-40B4-BE49-F238E27FC236}">
                <a16:creationId xmlns:a16="http://schemas.microsoft.com/office/drawing/2014/main" id="{F3C3FFED-47AE-8627-48CC-637D6130F935}"/>
              </a:ext>
            </a:extLst>
          </p:cNvPr>
          <p:cNvSpPr/>
          <p:nvPr/>
        </p:nvSpPr>
        <p:spPr>
          <a:xfrm>
            <a:off x="1868198" y="3037774"/>
            <a:ext cx="648000" cy="133935"/>
          </a:xfrm>
          <a:prstGeom prst="rect">
            <a:avLst/>
          </a:prstGeom>
          <a:solidFill>
            <a:srgbClr val="1D7B9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26" name="Rectangle 25">
            <a:extLst>
              <a:ext uri="{FF2B5EF4-FFF2-40B4-BE49-F238E27FC236}">
                <a16:creationId xmlns:a16="http://schemas.microsoft.com/office/drawing/2014/main" id="{69BD61E3-C5B2-562E-9CC5-380A98F60FE6}"/>
              </a:ext>
            </a:extLst>
          </p:cNvPr>
          <p:cNvSpPr/>
          <p:nvPr/>
        </p:nvSpPr>
        <p:spPr>
          <a:xfrm>
            <a:off x="2740518" y="2900462"/>
            <a:ext cx="648000" cy="133935"/>
          </a:xfrm>
          <a:prstGeom prst="rect">
            <a:avLst/>
          </a:prstGeom>
          <a:solidFill>
            <a:srgbClr val="1D7B9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grpSp>
        <p:nvGrpSpPr>
          <p:cNvPr id="73" name="Group 72">
            <a:extLst>
              <a:ext uri="{FF2B5EF4-FFF2-40B4-BE49-F238E27FC236}">
                <a16:creationId xmlns:a16="http://schemas.microsoft.com/office/drawing/2014/main" id="{D93F07BD-6142-4AF5-9613-01DB04B92ED9}"/>
              </a:ext>
            </a:extLst>
          </p:cNvPr>
          <p:cNvGrpSpPr/>
          <p:nvPr/>
        </p:nvGrpSpPr>
        <p:grpSpPr>
          <a:xfrm>
            <a:off x="5491495" y="1544132"/>
            <a:ext cx="651896" cy="2193193"/>
            <a:chOff x="5491495" y="1544132"/>
            <a:chExt cx="651896" cy="2193193"/>
          </a:xfrm>
        </p:grpSpPr>
        <p:grpSp>
          <p:nvGrpSpPr>
            <p:cNvPr id="194" name="Group 193">
              <a:extLst>
                <a:ext uri="{FF2B5EF4-FFF2-40B4-BE49-F238E27FC236}">
                  <a16:creationId xmlns:a16="http://schemas.microsoft.com/office/drawing/2014/main" id="{C3F55AAD-89E1-7437-38F4-2C9BD25DE183}"/>
                </a:ext>
              </a:extLst>
            </p:cNvPr>
            <p:cNvGrpSpPr/>
            <p:nvPr/>
          </p:nvGrpSpPr>
          <p:grpSpPr>
            <a:xfrm>
              <a:off x="5491495" y="1544132"/>
              <a:ext cx="651175" cy="2193193"/>
              <a:chOff x="5491495" y="1544132"/>
              <a:chExt cx="651175" cy="2193193"/>
            </a:xfrm>
          </p:grpSpPr>
          <p:grpSp>
            <p:nvGrpSpPr>
              <p:cNvPr id="181" name="Group 180">
                <a:extLst>
                  <a:ext uri="{FF2B5EF4-FFF2-40B4-BE49-F238E27FC236}">
                    <a16:creationId xmlns:a16="http://schemas.microsoft.com/office/drawing/2014/main" id="{1D4E5CBC-59A9-610B-1373-A9F31D8E9E2C}"/>
                  </a:ext>
                </a:extLst>
              </p:cNvPr>
              <p:cNvGrpSpPr/>
              <p:nvPr/>
            </p:nvGrpSpPr>
            <p:grpSpPr>
              <a:xfrm>
                <a:off x="5491495" y="1835806"/>
                <a:ext cx="651175" cy="1901519"/>
                <a:chOff x="5490370" y="1542747"/>
                <a:chExt cx="651175" cy="1901519"/>
              </a:xfrm>
            </p:grpSpPr>
            <p:sp>
              <p:nvSpPr>
                <p:cNvPr id="97" name="Rectangle 96">
                  <a:extLst>
                    <a:ext uri="{FF2B5EF4-FFF2-40B4-BE49-F238E27FC236}">
                      <a16:creationId xmlns:a16="http://schemas.microsoft.com/office/drawing/2014/main" id="{BA8A5E74-0BB4-9825-AC6D-453E402069D8}"/>
                    </a:ext>
                  </a:extLst>
                </p:cNvPr>
                <p:cNvSpPr/>
                <p:nvPr/>
              </p:nvSpPr>
              <p:spPr>
                <a:xfrm>
                  <a:off x="5490370" y="1542747"/>
                  <a:ext cx="648000" cy="145494"/>
                </a:xfrm>
                <a:prstGeom prst="rect">
                  <a:avLst/>
                </a:prstGeom>
                <a:solidFill>
                  <a:srgbClr val="11526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TF</a:t>
                  </a:r>
                </a:p>
              </p:txBody>
            </p:sp>
            <p:sp>
              <p:nvSpPr>
                <p:cNvPr id="98" name="Rectangle 97">
                  <a:extLst>
                    <a:ext uri="{FF2B5EF4-FFF2-40B4-BE49-F238E27FC236}">
                      <a16:creationId xmlns:a16="http://schemas.microsoft.com/office/drawing/2014/main" id="{B74B47CB-C50D-619B-8A0A-76B4C7C3F1BC}"/>
                    </a:ext>
                  </a:extLst>
                </p:cNvPr>
                <p:cNvSpPr/>
                <p:nvPr/>
              </p:nvSpPr>
              <p:spPr>
                <a:xfrm>
                  <a:off x="5490370" y="1703798"/>
                  <a:ext cx="648000" cy="432000"/>
                </a:xfrm>
                <a:prstGeom prst="rect">
                  <a:avLst/>
                </a:prstGeom>
                <a:solidFill>
                  <a:srgbClr val="92D7CC"/>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EUR</a:t>
                  </a:r>
                </a:p>
              </p:txBody>
            </p:sp>
            <p:sp>
              <p:nvSpPr>
                <p:cNvPr id="99" name="Rectangle 98">
                  <a:extLst>
                    <a:ext uri="{FF2B5EF4-FFF2-40B4-BE49-F238E27FC236}">
                      <a16:creationId xmlns:a16="http://schemas.microsoft.com/office/drawing/2014/main" id="{827A8922-3D97-5F34-829A-770813A9F90D}"/>
                    </a:ext>
                  </a:extLst>
                </p:cNvPr>
                <p:cNvSpPr/>
                <p:nvPr/>
              </p:nvSpPr>
              <p:spPr>
                <a:xfrm>
                  <a:off x="5490370" y="2141453"/>
                  <a:ext cx="648000" cy="648000"/>
                </a:xfrm>
                <a:prstGeom prst="rect">
                  <a:avLst/>
                </a:prstGeom>
                <a:solidFill>
                  <a:srgbClr val="92D7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INF FR</a:t>
                  </a:r>
                </a:p>
              </p:txBody>
            </p:sp>
            <p:sp>
              <p:nvSpPr>
                <p:cNvPr id="100" name="Rectangle 99">
                  <a:extLst>
                    <a:ext uri="{FF2B5EF4-FFF2-40B4-BE49-F238E27FC236}">
                      <a16:creationId xmlns:a16="http://schemas.microsoft.com/office/drawing/2014/main" id="{90F74E69-351A-8D2D-101F-3DDBFC7DD594}"/>
                    </a:ext>
                  </a:extLst>
                </p:cNvPr>
                <p:cNvSpPr/>
                <p:nvPr/>
              </p:nvSpPr>
              <p:spPr>
                <a:xfrm>
                  <a:off x="5490370" y="2798554"/>
                  <a:ext cx="648000" cy="209365"/>
                </a:xfrm>
                <a:prstGeom prst="rect">
                  <a:avLst/>
                </a:prstGeom>
                <a:solidFill>
                  <a:srgbClr val="C5E0B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E6M</a:t>
                  </a:r>
                </a:p>
              </p:txBody>
            </p:sp>
            <p:sp>
              <p:nvSpPr>
                <p:cNvPr id="101" name="Rectangle 100">
                  <a:extLst>
                    <a:ext uri="{FF2B5EF4-FFF2-40B4-BE49-F238E27FC236}">
                      <a16:creationId xmlns:a16="http://schemas.microsoft.com/office/drawing/2014/main" id="{51FCB9B1-022D-AC68-502A-D666EDA72ADA}"/>
                    </a:ext>
                  </a:extLst>
                </p:cNvPr>
                <p:cNvSpPr/>
                <p:nvPr/>
              </p:nvSpPr>
              <p:spPr>
                <a:xfrm>
                  <a:off x="5493545" y="3274988"/>
                  <a:ext cx="648000" cy="169278"/>
                </a:xfrm>
                <a:prstGeom prst="rect">
                  <a:avLst/>
                </a:prstGeom>
                <a:solidFill>
                  <a:srgbClr val="54823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ESTER</a:t>
                  </a:r>
                </a:p>
              </p:txBody>
            </p:sp>
          </p:grpSp>
          <p:sp>
            <p:nvSpPr>
              <p:cNvPr id="188" name="Rectangle 187">
                <a:extLst>
                  <a:ext uri="{FF2B5EF4-FFF2-40B4-BE49-F238E27FC236}">
                    <a16:creationId xmlns:a16="http://schemas.microsoft.com/office/drawing/2014/main" id="{8937E99E-8747-C0BC-7B47-D9DD89F92409}"/>
                  </a:ext>
                </a:extLst>
              </p:cNvPr>
              <p:cNvSpPr/>
              <p:nvPr/>
            </p:nvSpPr>
            <p:spPr>
              <a:xfrm>
                <a:off x="5491495" y="1544132"/>
                <a:ext cx="648000"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grpSp>
        <p:sp>
          <p:nvSpPr>
            <p:cNvPr id="28" name="Rectangle 27">
              <a:extLst>
                <a:ext uri="{FF2B5EF4-FFF2-40B4-BE49-F238E27FC236}">
                  <a16:creationId xmlns:a16="http://schemas.microsoft.com/office/drawing/2014/main" id="{9C97235E-E534-751D-8AC3-5B3F4B5EBDA4}"/>
                </a:ext>
              </a:extLst>
            </p:cNvPr>
            <p:cNvSpPr/>
            <p:nvPr/>
          </p:nvSpPr>
          <p:spPr>
            <a:xfrm>
              <a:off x="5495391" y="3312288"/>
              <a:ext cx="648000" cy="245478"/>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grpSp>
      <p:grpSp>
        <p:nvGrpSpPr>
          <p:cNvPr id="220" name="Group 219">
            <a:extLst>
              <a:ext uri="{FF2B5EF4-FFF2-40B4-BE49-F238E27FC236}">
                <a16:creationId xmlns:a16="http://schemas.microsoft.com/office/drawing/2014/main" id="{BDAA79A5-F6CD-1A95-B481-F242517B67C8}"/>
              </a:ext>
            </a:extLst>
          </p:cNvPr>
          <p:cNvGrpSpPr/>
          <p:nvPr/>
        </p:nvGrpSpPr>
        <p:grpSpPr>
          <a:xfrm>
            <a:off x="6263523" y="1542298"/>
            <a:ext cx="641395" cy="2192621"/>
            <a:chOff x="6263523" y="1542298"/>
            <a:chExt cx="641395" cy="2192621"/>
          </a:xfrm>
        </p:grpSpPr>
        <p:grpSp>
          <p:nvGrpSpPr>
            <p:cNvPr id="189" name="Group 188">
              <a:extLst>
                <a:ext uri="{FF2B5EF4-FFF2-40B4-BE49-F238E27FC236}">
                  <a16:creationId xmlns:a16="http://schemas.microsoft.com/office/drawing/2014/main" id="{B7DBB063-4756-B337-7E46-740AD2BB5DFD}"/>
                </a:ext>
              </a:extLst>
            </p:cNvPr>
            <p:cNvGrpSpPr/>
            <p:nvPr/>
          </p:nvGrpSpPr>
          <p:grpSpPr>
            <a:xfrm>
              <a:off x="6263523" y="1833400"/>
              <a:ext cx="640800" cy="1901519"/>
              <a:chOff x="6263450" y="1542747"/>
              <a:chExt cx="640800" cy="1901519"/>
            </a:xfrm>
          </p:grpSpPr>
          <p:sp>
            <p:nvSpPr>
              <p:cNvPr id="108" name="Rectangle 107">
                <a:extLst>
                  <a:ext uri="{FF2B5EF4-FFF2-40B4-BE49-F238E27FC236}">
                    <a16:creationId xmlns:a16="http://schemas.microsoft.com/office/drawing/2014/main" id="{D5BF5EB1-FA32-A062-BC04-6337D3B87AA9}"/>
                  </a:ext>
                </a:extLst>
              </p:cNvPr>
              <p:cNvSpPr/>
              <p:nvPr/>
            </p:nvSpPr>
            <p:spPr>
              <a:xfrm>
                <a:off x="6263450" y="1542747"/>
                <a:ext cx="640800" cy="145494"/>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09" name="Rectangle 108">
                <a:extLst>
                  <a:ext uri="{FF2B5EF4-FFF2-40B4-BE49-F238E27FC236}">
                    <a16:creationId xmlns:a16="http://schemas.microsoft.com/office/drawing/2014/main" id="{2324F577-4B2D-8A01-CD24-E3677DA3A843}"/>
                  </a:ext>
                </a:extLst>
              </p:cNvPr>
              <p:cNvSpPr/>
              <p:nvPr/>
            </p:nvSpPr>
            <p:spPr>
              <a:xfrm>
                <a:off x="6263450" y="1704372"/>
                <a:ext cx="640800" cy="432000"/>
              </a:xfrm>
              <a:prstGeom prst="rect">
                <a:avLst/>
              </a:prstGeom>
              <a:solidFill>
                <a:srgbClr val="1D7B96"/>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0" name="Rectangle 109">
                <a:extLst>
                  <a:ext uri="{FF2B5EF4-FFF2-40B4-BE49-F238E27FC236}">
                    <a16:creationId xmlns:a16="http://schemas.microsoft.com/office/drawing/2014/main" id="{5745C0FE-5921-9E0F-F489-AB1C0CE09043}"/>
                  </a:ext>
                </a:extLst>
              </p:cNvPr>
              <p:cNvSpPr/>
              <p:nvPr/>
            </p:nvSpPr>
            <p:spPr>
              <a:xfrm>
                <a:off x="6263450" y="2141453"/>
                <a:ext cx="640800" cy="648000"/>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1" name="Rectangle 110">
                <a:extLst>
                  <a:ext uri="{FF2B5EF4-FFF2-40B4-BE49-F238E27FC236}">
                    <a16:creationId xmlns:a16="http://schemas.microsoft.com/office/drawing/2014/main" id="{5FB89C9B-11D9-FED8-9330-3D36C6B6B138}"/>
                  </a:ext>
                </a:extLst>
              </p:cNvPr>
              <p:cNvSpPr/>
              <p:nvPr/>
            </p:nvSpPr>
            <p:spPr>
              <a:xfrm>
                <a:off x="6263450" y="2794476"/>
                <a:ext cx="640800" cy="215849"/>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112" name="Rectangle 111">
                <a:extLst>
                  <a:ext uri="{FF2B5EF4-FFF2-40B4-BE49-F238E27FC236}">
                    <a16:creationId xmlns:a16="http://schemas.microsoft.com/office/drawing/2014/main" id="{53E66816-4B84-47F3-B8BE-0E00190EF7CA}"/>
                  </a:ext>
                </a:extLst>
              </p:cNvPr>
              <p:cNvSpPr/>
              <p:nvPr/>
            </p:nvSpPr>
            <p:spPr>
              <a:xfrm>
                <a:off x="6263450" y="3274988"/>
                <a:ext cx="640800" cy="169278"/>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grpSp>
        <p:sp>
          <p:nvSpPr>
            <p:cNvPr id="190" name="Rectangle 189">
              <a:extLst>
                <a:ext uri="{FF2B5EF4-FFF2-40B4-BE49-F238E27FC236}">
                  <a16:creationId xmlns:a16="http://schemas.microsoft.com/office/drawing/2014/main" id="{C44B06B6-4E83-DB95-48F9-F755BDE1A93B}"/>
                </a:ext>
              </a:extLst>
            </p:cNvPr>
            <p:cNvSpPr/>
            <p:nvPr/>
          </p:nvSpPr>
          <p:spPr>
            <a:xfrm>
              <a:off x="6263523" y="1542298"/>
              <a:ext cx="641395" cy="276999"/>
            </a:xfrm>
            <a:prstGeom prst="rect">
              <a:avLst/>
            </a:prstGeom>
            <a:solidFill>
              <a:srgbClr val="22A4C8"/>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black"/>
                  </a:solidFill>
                  <a:effectLst/>
                  <a:uLnTx/>
                  <a:uFillTx/>
                  <a:latin typeface="Calibri" panose="020F0502020204030204"/>
                  <a:ea typeface="+mn-ea"/>
                  <a:cs typeface="+mn-cs"/>
                  <a:sym typeface="Arial"/>
                </a:rPr>
                <a:t>TLA</a:t>
              </a:r>
            </a:p>
          </p:txBody>
        </p:sp>
        <p:sp>
          <p:nvSpPr>
            <p:cNvPr id="29" name="Rectangle 28">
              <a:extLst>
                <a:ext uri="{FF2B5EF4-FFF2-40B4-BE49-F238E27FC236}">
                  <a16:creationId xmlns:a16="http://schemas.microsoft.com/office/drawing/2014/main" id="{9FC898C6-633B-647C-EC5A-3E00BE427FD6}"/>
                </a:ext>
              </a:extLst>
            </p:cNvPr>
            <p:cNvSpPr/>
            <p:nvPr/>
          </p:nvSpPr>
          <p:spPr>
            <a:xfrm>
              <a:off x="6263523" y="3308096"/>
              <a:ext cx="640800" cy="251999"/>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grpSp>
      <p:sp>
        <p:nvSpPr>
          <p:cNvPr id="30" name="Ellipse 4">
            <a:extLst>
              <a:ext uri="{FF2B5EF4-FFF2-40B4-BE49-F238E27FC236}">
                <a16:creationId xmlns:a16="http://schemas.microsoft.com/office/drawing/2014/main" id="{581DF231-2C05-88ED-4B66-966443B84021}"/>
              </a:ext>
            </a:extLst>
          </p:cNvPr>
          <p:cNvSpPr/>
          <p:nvPr/>
        </p:nvSpPr>
        <p:spPr>
          <a:xfrm>
            <a:off x="1889063" y="6071282"/>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2</a:t>
            </a:r>
          </a:p>
        </p:txBody>
      </p:sp>
      <p:sp>
        <p:nvSpPr>
          <p:cNvPr id="59" name="Ellipse 5">
            <a:extLst>
              <a:ext uri="{FF2B5EF4-FFF2-40B4-BE49-F238E27FC236}">
                <a16:creationId xmlns:a16="http://schemas.microsoft.com/office/drawing/2014/main" id="{94404C16-2E5B-590C-DE27-4B81E5BA9770}"/>
              </a:ext>
            </a:extLst>
          </p:cNvPr>
          <p:cNvSpPr/>
          <p:nvPr/>
        </p:nvSpPr>
        <p:spPr>
          <a:xfrm>
            <a:off x="1889063" y="1758195"/>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1</a:t>
            </a:r>
          </a:p>
        </p:txBody>
      </p:sp>
      <p:sp>
        <p:nvSpPr>
          <p:cNvPr id="57" name="Rectangle 56">
            <a:extLst>
              <a:ext uri="{FF2B5EF4-FFF2-40B4-BE49-F238E27FC236}">
                <a16:creationId xmlns:a16="http://schemas.microsoft.com/office/drawing/2014/main" id="{76B55308-0CA4-F581-2ED7-A12AE9FB56C1}"/>
              </a:ext>
            </a:extLst>
          </p:cNvPr>
          <p:cNvSpPr/>
          <p:nvPr/>
        </p:nvSpPr>
        <p:spPr>
          <a:xfrm>
            <a:off x="934997" y="3635352"/>
            <a:ext cx="648000" cy="124909"/>
          </a:xfrm>
          <a:prstGeom prst="rect">
            <a:avLst/>
          </a:prstGeom>
          <a:solidFill>
            <a:srgbClr val="1D7B9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rPr>
              <a:t>E3M</a:t>
            </a:r>
          </a:p>
        </p:txBody>
      </p:sp>
      <p:sp>
        <p:nvSpPr>
          <p:cNvPr id="64" name="Rectangle 63">
            <a:extLst>
              <a:ext uri="{FF2B5EF4-FFF2-40B4-BE49-F238E27FC236}">
                <a16:creationId xmlns:a16="http://schemas.microsoft.com/office/drawing/2014/main" id="{B88D6175-356D-9162-8602-8FCCAB19FF8C}"/>
              </a:ext>
            </a:extLst>
          </p:cNvPr>
          <p:cNvSpPr/>
          <p:nvPr/>
        </p:nvSpPr>
        <p:spPr>
          <a:xfrm rot="16200000">
            <a:off x="174635" y="6005072"/>
            <a:ext cx="369923" cy="288002"/>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900" b="1" i="0" u="none" strike="noStrike" kern="0" cap="none" spc="0" normalizeH="0" baseline="0" noProof="0">
                <a:ln>
                  <a:noFill/>
                </a:ln>
                <a:solidFill>
                  <a:prstClr val="white"/>
                </a:solidFill>
                <a:effectLst/>
                <a:uLnTx/>
                <a:uFillTx/>
                <a:latin typeface="Calibri" panose="020F0502020204030204"/>
                <a:ea typeface="+mn-ea"/>
                <a:cs typeface="+mn-cs"/>
                <a:sym typeface="Arial"/>
              </a:rPr>
              <a:t>HB</a:t>
            </a:r>
          </a:p>
        </p:txBody>
      </p:sp>
      <p:sp>
        <p:nvSpPr>
          <p:cNvPr id="67" name="Rectangle 66">
            <a:extLst>
              <a:ext uri="{FF2B5EF4-FFF2-40B4-BE49-F238E27FC236}">
                <a16:creationId xmlns:a16="http://schemas.microsoft.com/office/drawing/2014/main" id="{29A1CAF6-03FE-77ED-9E7B-82E3AB346FBB}"/>
              </a:ext>
            </a:extLst>
          </p:cNvPr>
          <p:cNvSpPr/>
          <p:nvPr/>
        </p:nvSpPr>
        <p:spPr>
          <a:xfrm>
            <a:off x="1868198" y="3686203"/>
            <a:ext cx="648000" cy="70553"/>
          </a:xfrm>
          <a:prstGeom prst="rect">
            <a:avLst/>
          </a:prstGeom>
          <a:solidFill>
            <a:srgbClr val="1D7B9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69" name="Rectangle 68">
            <a:extLst>
              <a:ext uri="{FF2B5EF4-FFF2-40B4-BE49-F238E27FC236}">
                <a16:creationId xmlns:a16="http://schemas.microsoft.com/office/drawing/2014/main" id="{85AFAA25-11E3-1D1B-BE21-EA09BC8B1CB6}"/>
              </a:ext>
            </a:extLst>
          </p:cNvPr>
          <p:cNvSpPr/>
          <p:nvPr/>
        </p:nvSpPr>
        <p:spPr>
          <a:xfrm>
            <a:off x="2751217" y="3587698"/>
            <a:ext cx="648000" cy="84085"/>
          </a:xfrm>
          <a:prstGeom prst="rect">
            <a:avLst/>
          </a:prstGeom>
          <a:solidFill>
            <a:srgbClr val="1D7B96"/>
          </a:solid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fr-FR" sz="1100" b="0" i="0" u="none" strike="noStrike" kern="0" cap="none" spc="0" normalizeH="0" baseline="0" noProof="0">
              <a:ln>
                <a:noFill/>
              </a:ln>
              <a:solidFill>
                <a:prstClr val="white"/>
              </a:solidFill>
              <a:effectLst/>
              <a:uLnTx/>
              <a:uFillTx/>
              <a:latin typeface="Calibri" panose="020F0502020204030204"/>
              <a:ea typeface="+mn-ea"/>
              <a:cs typeface="+mn-cs"/>
              <a:sym typeface="Arial"/>
            </a:endParaRPr>
          </a:p>
        </p:txBody>
      </p:sp>
      <p:sp>
        <p:nvSpPr>
          <p:cNvPr id="219" name="Ellipse 61">
            <a:extLst>
              <a:ext uri="{FF2B5EF4-FFF2-40B4-BE49-F238E27FC236}">
                <a16:creationId xmlns:a16="http://schemas.microsoft.com/office/drawing/2014/main" id="{89EF52BC-0676-266E-81C1-D6B9FFBF5195}"/>
              </a:ext>
            </a:extLst>
          </p:cNvPr>
          <p:cNvSpPr/>
          <p:nvPr/>
        </p:nvSpPr>
        <p:spPr>
          <a:xfrm>
            <a:off x="4112469" y="1807098"/>
            <a:ext cx="180000" cy="180000"/>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200" b="0" i="0" u="none" strike="noStrike" kern="0" cap="none" spc="0" normalizeH="0" baseline="0" noProof="0">
                <a:ln>
                  <a:noFill/>
                </a:ln>
                <a:solidFill>
                  <a:prstClr val="white"/>
                </a:solidFill>
                <a:effectLst/>
                <a:uLnTx/>
                <a:uFillTx/>
                <a:latin typeface="Calibri" panose="020F0502020204030204"/>
                <a:ea typeface="+mn-ea"/>
                <a:cs typeface="+mn-cs"/>
                <a:sym typeface="Arial"/>
              </a:rPr>
              <a:t>1</a:t>
            </a:r>
          </a:p>
        </p:txBody>
      </p:sp>
      <p:sp>
        <p:nvSpPr>
          <p:cNvPr id="221" name="ZoneTexte 88">
            <a:extLst>
              <a:ext uri="{FF2B5EF4-FFF2-40B4-BE49-F238E27FC236}">
                <a16:creationId xmlns:a16="http://schemas.microsoft.com/office/drawing/2014/main" id="{7057F3C6-9CBB-225A-3590-353C18ACB4FA}"/>
              </a:ext>
            </a:extLst>
          </p:cNvPr>
          <p:cNvSpPr txBox="1"/>
          <p:nvPr/>
        </p:nvSpPr>
        <p:spPr>
          <a:xfrm>
            <a:off x="8616479" y="5096736"/>
            <a:ext cx="154552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000" b="1" i="0" u="none" strike="noStrike" kern="0" cap="none" spc="0" normalizeH="0" baseline="0" noProof="0">
                <a:ln>
                  <a:noFill/>
                </a:ln>
                <a:solidFill>
                  <a:srgbClr val="000000"/>
                </a:solidFill>
                <a:effectLst/>
                <a:uLnTx/>
                <a:uFillTx/>
                <a:latin typeface="Arial"/>
                <a:cs typeface="Arial"/>
                <a:sym typeface="Arial"/>
              </a:rPr>
              <a:t>Risque de fixing E3M</a:t>
            </a:r>
          </a:p>
        </p:txBody>
      </p:sp>
      <p:cxnSp>
        <p:nvCxnSpPr>
          <p:cNvPr id="3" name="Connecteur droit 76">
            <a:extLst>
              <a:ext uri="{FF2B5EF4-FFF2-40B4-BE49-F238E27FC236}">
                <a16:creationId xmlns:a16="http://schemas.microsoft.com/office/drawing/2014/main" id="{A72696C8-D069-5E7E-5EA0-F385DD535478}"/>
              </a:ext>
            </a:extLst>
          </p:cNvPr>
          <p:cNvCxnSpPr>
            <a:cxnSpLocks/>
          </p:cNvCxnSpPr>
          <p:nvPr/>
        </p:nvCxnSpPr>
        <p:spPr>
          <a:xfrm>
            <a:off x="6198270" y="1497262"/>
            <a:ext cx="0" cy="2304000"/>
          </a:xfrm>
          <a:prstGeom prst="line">
            <a:avLst/>
          </a:prstGeom>
        </p:spPr>
        <p:style>
          <a:lnRef idx="3">
            <a:schemeClr val="dk1"/>
          </a:lnRef>
          <a:fillRef idx="0">
            <a:schemeClr val="dk1"/>
          </a:fillRef>
          <a:effectRef idx="2">
            <a:schemeClr val="dk1"/>
          </a:effectRef>
          <a:fontRef idx="minor">
            <a:schemeClr val="tx1"/>
          </a:fontRef>
        </p:style>
      </p:cxnSp>
      <p:cxnSp>
        <p:nvCxnSpPr>
          <p:cNvPr id="7" name="Connecteur droit 76">
            <a:extLst>
              <a:ext uri="{FF2B5EF4-FFF2-40B4-BE49-F238E27FC236}">
                <a16:creationId xmlns:a16="http://schemas.microsoft.com/office/drawing/2014/main" id="{48F7EA6F-847C-48C3-7C5D-57E543269B1A}"/>
              </a:ext>
            </a:extLst>
          </p:cNvPr>
          <p:cNvCxnSpPr>
            <a:cxnSpLocks/>
          </p:cNvCxnSpPr>
          <p:nvPr/>
        </p:nvCxnSpPr>
        <p:spPr>
          <a:xfrm>
            <a:off x="7773983" y="1506815"/>
            <a:ext cx="0" cy="2304000"/>
          </a:xfrm>
          <a:prstGeom prst="line">
            <a:avLst/>
          </a:prstGeom>
        </p:spPr>
        <p:style>
          <a:lnRef idx="3">
            <a:schemeClr val="dk1"/>
          </a:lnRef>
          <a:fillRef idx="0">
            <a:schemeClr val="dk1"/>
          </a:fillRef>
          <a:effectRef idx="2">
            <a:schemeClr val="dk1"/>
          </a:effectRef>
          <a:fontRef idx="minor">
            <a:schemeClr val="tx1"/>
          </a:fontRef>
        </p:style>
      </p:cxnSp>
      <p:sp>
        <p:nvSpPr>
          <p:cNvPr id="8" name="Espace réservé du texte 16">
            <a:extLst>
              <a:ext uri="{FF2B5EF4-FFF2-40B4-BE49-F238E27FC236}">
                <a16:creationId xmlns:a16="http://schemas.microsoft.com/office/drawing/2014/main" id="{5163C9DE-61B7-1F14-C21C-719531D2AD8B}"/>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1925190196"/>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AC99E-6978-7278-ABB1-0675CC7BE579}"/>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489382AB-6947-36E2-A701-B46384367C14}"/>
              </a:ext>
            </a:extLst>
          </p:cNvPr>
          <p:cNvSpPr>
            <a:spLocks noGrp="1"/>
          </p:cNvSpPr>
          <p:nvPr>
            <p:ph type="body" sz="quarter" idx="11"/>
          </p:nvPr>
        </p:nvSpPr>
        <p:spPr>
          <a:xfrm>
            <a:off x="560671" y="1991"/>
            <a:ext cx="12191999" cy="754597"/>
          </a:xfrm>
        </p:spPr>
        <p:txBody>
          <a:bodyPr/>
          <a:lstStyle/>
          <a:p>
            <a:pPr marR="0" lvl="0" algn="l" defTabSz="914400" rtl="0" eaLnBrk="1" fontAlgn="auto" latinLnBrk="0" hangingPunct="1">
              <a:lnSpc>
                <a:spcPct val="100000"/>
              </a:lnSpc>
              <a:spcBef>
                <a:spcPts val="0"/>
              </a:spcBef>
              <a:spcAft>
                <a:spcPts val="0"/>
              </a:spcAft>
              <a:buClr>
                <a:srgbClr val="000000"/>
              </a:buClr>
              <a:buSzTx/>
              <a:tabLst/>
              <a:defRPr/>
            </a:pPr>
            <a:r>
              <a:rPr lang="fr-FR" dirty="0">
                <a:latin typeface="+mn-lt"/>
              </a:rPr>
              <a:t>Montants d’encours sensibles pour chacun des risques identifiés</a:t>
            </a:r>
          </a:p>
        </p:txBody>
      </p:sp>
      <p:graphicFrame>
        <p:nvGraphicFramePr>
          <p:cNvPr id="3" name="Tableau 3">
            <a:extLst>
              <a:ext uri="{FF2B5EF4-FFF2-40B4-BE49-F238E27FC236}">
                <a16:creationId xmlns:a16="http://schemas.microsoft.com/office/drawing/2014/main" id="{276BA2A9-1C3A-7A01-1FED-4566F3068465}"/>
              </a:ext>
            </a:extLst>
          </p:cNvPr>
          <p:cNvGraphicFramePr>
            <a:graphicFrameLocks noGrp="1"/>
          </p:cNvGraphicFramePr>
          <p:nvPr/>
        </p:nvGraphicFramePr>
        <p:xfrm>
          <a:off x="685800" y="766213"/>
          <a:ext cx="9772261" cy="5494287"/>
        </p:xfrm>
        <a:graphic>
          <a:graphicData uri="http://schemas.openxmlformats.org/drawingml/2006/table">
            <a:tbl>
              <a:tblPr firstRow="1" bandRow="1">
                <a:tableStyleId>{B1798C55-09AD-4454-950D-8970D776B629}</a:tableStyleId>
              </a:tblPr>
              <a:tblGrid>
                <a:gridCol w="530957">
                  <a:extLst>
                    <a:ext uri="{9D8B030D-6E8A-4147-A177-3AD203B41FA5}">
                      <a16:colId xmlns:a16="http://schemas.microsoft.com/office/drawing/2014/main" val="1584768307"/>
                    </a:ext>
                  </a:extLst>
                </a:gridCol>
                <a:gridCol w="2186452">
                  <a:extLst>
                    <a:ext uri="{9D8B030D-6E8A-4147-A177-3AD203B41FA5}">
                      <a16:colId xmlns:a16="http://schemas.microsoft.com/office/drawing/2014/main" val="2352799436"/>
                    </a:ext>
                  </a:extLst>
                </a:gridCol>
                <a:gridCol w="741368">
                  <a:extLst>
                    <a:ext uri="{9D8B030D-6E8A-4147-A177-3AD203B41FA5}">
                      <a16:colId xmlns:a16="http://schemas.microsoft.com/office/drawing/2014/main" val="3793584488"/>
                    </a:ext>
                  </a:extLst>
                </a:gridCol>
                <a:gridCol w="741368">
                  <a:extLst>
                    <a:ext uri="{9D8B030D-6E8A-4147-A177-3AD203B41FA5}">
                      <a16:colId xmlns:a16="http://schemas.microsoft.com/office/drawing/2014/main" val="2820802483"/>
                    </a:ext>
                  </a:extLst>
                </a:gridCol>
                <a:gridCol w="3098916">
                  <a:extLst>
                    <a:ext uri="{9D8B030D-6E8A-4147-A177-3AD203B41FA5}">
                      <a16:colId xmlns:a16="http://schemas.microsoft.com/office/drawing/2014/main" val="4223894160"/>
                    </a:ext>
                  </a:extLst>
                </a:gridCol>
                <a:gridCol w="824400">
                  <a:extLst>
                    <a:ext uri="{9D8B030D-6E8A-4147-A177-3AD203B41FA5}">
                      <a16:colId xmlns:a16="http://schemas.microsoft.com/office/drawing/2014/main" val="433272200"/>
                    </a:ext>
                  </a:extLst>
                </a:gridCol>
                <a:gridCol w="824400">
                  <a:extLst>
                    <a:ext uri="{9D8B030D-6E8A-4147-A177-3AD203B41FA5}">
                      <a16:colId xmlns:a16="http://schemas.microsoft.com/office/drawing/2014/main" val="2271538738"/>
                    </a:ext>
                  </a:extLst>
                </a:gridCol>
                <a:gridCol w="824400">
                  <a:extLst>
                    <a:ext uri="{9D8B030D-6E8A-4147-A177-3AD203B41FA5}">
                      <a16:colId xmlns:a16="http://schemas.microsoft.com/office/drawing/2014/main" val="3034640912"/>
                    </a:ext>
                  </a:extLst>
                </a:gridCol>
              </a:tblGrid>
              <a:tr h="253057">
                <a:tc>
                  <a:txBody>
                    <a:bodyPr/>
                    <a:lstStyle/>
                    <a:p>
                      <a:endParaRPr lang="fr-FR"/>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noFill/>
                  </a:tcPr>
                </a:tc>
                <a:tc>
                  <a:txBody>
                    <a:bodyPr/>
                    <a:lstStyle/>
                    <a:p>
                      <a:endParaRPr lang="fr-FR" sz="1200"/>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noFill/>
                  </a:tcPr>
                </a:tc>
                <a:tc>
                  <a:txBody>
                    <a:bodyPr/>
                    <a:lstStyle/>
                    <a:p>
                      <a:pPr algn="ctr"/>
                      <a:endParaRPr lang="fr-FR" sz="1200"/>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fr-FR" sz="1200"/>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fr-FR" sz="1200"/>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lang="fr-FR" sz="1200" dirty="0"/>
                        <a:t>Assiette (Mds €)</a:t>
                      </a:r>
                    </a:p>
                  </a:txBody>
                  <a:tcPr>
                    <a:lnL w="9525" cap="flat" cmpd="sng">
                      <a:noFill/>
                      <a:prstDash val="solid"/>
                      <a:round/>
                      <a:headEnd type="none" w="sm" len="sm"/>
                      <a:tailEnd type="none" w="sm" len="sm"/>
                    </a:lnL>
                    <a:lnB w="12700" cap="flat" cmpd="sng" algn="ctr">
                      <a:solidFill>
                        <a:schemeClr val="tx1"/>
                      </a:solidFill>
                      <a:prstDash val="solid"/>
                      <a:round/>
                      <a:headEnd type="none" w="med" len="med"/>
                      <a:tailEnd type="none" w="med" len="med"/>
                    </a:lnB>
                    <a:solidFill>
                      <a:schemeClr val="tx1"/>
                    </a:solidFill>
                  </a:tcPr>
                </a:tc>
                <a:tc hMerge="1">
                  <a:txBody>
                    <a:bodyPr/>
                    <a:lstStyle/>
                    <a:p>
                      <a:endParaRPr lang="fr-FR" sz="1200"/>
                    </a:p>
                  </a:txBody>
                  <a:tcPr>
                    <a:solidFill>
                      <a:srgbClr val="4472C4"/>
                    </a:solidFill>
                  </a:tcPr>
                </a:tc>
                <a:tc hMerge="1">
                  <a:txBody>
                    <a:bodyPr/>
                    <a:lstStyle/>
                    <a:p>
                      <a:endParaRPr lang="fr-FR" sz="1200"/>
                    </a:p>
                  </a:txBody>
                  <a:tcPr>
                    <a:solidFill>
                      <a:srgbClr val="4472C4"/>
                    </a:solidFill>
                  </a:tcPr>
                </a:tc>
                <a:extLst>
                  <a:ext uri="{0D108BD9-81ED-4DB2-BD59-A6C34878D82A}">
                    <a16:rowId xmlns:a16="http://schemas.microsoft.com/office/drawing/2014/main" val="1104100987"/>
                  </a:ext>
                </a:extLst>
              </a:tr>
              <a:tr h="317902">
                <a:tc>
                  <a:txBody>
                    <a:bodyPr/>
                    <a:lstStyle/>
                    <a:p>
                      <a:endParaRPr lang="fr-FR"/>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fr-FR" sz="1200">
                        <a:solidFill>
                          <a:schemeClr val="bg1"/>
                        </a:solidFill>
                      </a:endParaRPr>
                    </a:p>
                  </a:txBody>
                  <a:tcPr>
                    <a:lnL w="9525" cap="flat" cmpd="sng">
                      <a:noFill/>
                      <a:prstDash val="solid"/>
                      <a:round/>
                      <a:headEnd type="none" w="sm" len="sm"/>
                      <a:tailEnd type="none" w="sm" len="sm"/>
                    </a:lnL>
                    <a:lnR w="12700" cap="flat" cmpd="sng" algn="ctr">
                      <a:solidFill>
                        <a:schemeClr val="tx1"/>
                      </a:solidFill>
                      <a:prstDash val="solid"/>
                      <a:round/>
                      <a:headEnd type="none" w="med" len="med"/>
                      <a:tailEnd type="none" w="med" len="med"/>
                    </a:lnR>
                    <a:lnT w="9525"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fr-FR" sz="1200">
                          <a:solidFill>
                            <a:schemeClr val="bg1"/>
                          </a:solidFill>
                        </a:rPr>
                        <a:t>Actif</a:t>
                      </a:r>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pPr algn="ctr"/>
                      <a:r>
                        <a:rPr lang="fr-FR" sz="1200">
                          <a:solidFill>
                            <a:schemeClr val="bg1"/>
                          </a:solidFill>
                        </a:rPr>
                        <a:t>Passif</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r>
                        <a:rPr lang="fr-FR" sz="1200">
                          <a:solidFill>
                            <a:schemeClr val="bg1"/>
                          </a:solidFill>
                        </a:rPr>
                        <a:t>Description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r>
                        <a:rPr lang="fr-FR" sz="1200">
                          <a:solidFill>
                            <a:schemeClr val="bg1"/>
                          </a:solidFill>
                        </a:rPr>
                        <a:t>Année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r>
                        <a:rPr lang="fr-FR" sz="1200">
                          <a:solidFill>
                            <a:schemeClr val="bg1"/>
                          </a:solidFill>
                        </a:rPr>
                        <a:t>Année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tx1"/>
                    </a:solidFill>
                  </a:tcPr>
                </a:tc>
                <a:tc>
                  <a:txBody>
                    <a:bodyPr/>
                    <a:lstStyle/>
                    <a:p>
                      <a:r>
                        <a:rPr lang="fr-FR" sz="1200">
                          <a:solidFill>
                            <a:schemeClr val="bg1"/>
                          </a:solidFill>
                        </a:rPr>
                        <a:t>Année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tx1"/>
                    </a:solidFill>
                  </a:tcPr>
                </a:tc>
                <a:extLst>
                  <a:ext uri="{0D108BD9-81ED-4DB2-BD59-A6C34878D82A}">
                    <a16:rowId xmlns:a16="http://schemas.microsoft.com/office/drawing/2014/main" val="2061376242"/>
                  </a:ext>
                </a:extLst>
              </a:tr>
              <a:tr h="516590">
                <a:tc rowSpan="11">
                  <a:txBody>
                    <a:bodyPr/>
                    <a:lstStyle/>
                    <a:p>
                      <a:pPr algn="ctr"/>
                      <a:r>
                        <a:rPr lang="fr-FR" sz="1200" b="1">
                          <a:solidFill>
                            <a:schemeClr val="bg1"/>
                          </a:solidFill>
                        </a:rPr>
                        <a:t>Risques sur stock</a:t>
                      </a:r>
                    </a:p>
                  </a:txBody>
                  <a:tcPr vert="vert27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pPr algn="ctr"/>
                      <a:r>
                        <a:rPr lang="fr-FR" sz="1200">
                          <a:solidFill>
                            <a:schemeClr val="tx1">
                              <a:lumMod val="50000"/>
                            </a:schemeClr>
                          </a:solidFill>
                        </a:rPr>
                        <a:t>Risque de repricing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fr-FR" sz="1200" b="1">
                          <a:solidFill>
                            <a:schemeClr val="bg1"/>
                          </a:solidFill>
                        </a:rPr>
                        <a:t>TF</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15264"/>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a:txBody>
                    <a:bodyPr/>
                    <a:lstStyle/>
                    <a:p>
                      <a:r>
                        <a:rPr lang="fr-FR" sz="1100">
                          <a:solidFill>
                            <a:schemeClr val="tx1">
                              <a:lumMod val="50000"/>
                            </a:schemeClr>
                          </a:solidFill>
                        </a:rPr>
                        <a:t>Risque correspondant à l’adossement d’actifs à taux fixe certain à des passifs à taux révisable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97676999"/>
                  </a:ext>
                </a:extLst>
              </a:tr>
              <a:tr h="268516">
                <a:tc vMerge="1">
                  <a:txBody>
                    <a:bodyPr/>
                    <a:lstStyle/>
                    <a:p>
                      <a:endParaRPr lang="fr-FR" sz="1400"/>
                    </a:p>
                  </a:txBody>
                  <a:tcPr/>
                </a:tc>
                <a:tc>
                  <a:txBody>
                    <a:bodyPr/>
                    <a:lstStyle/>
                    <a:p>
                      <a:pPr algn="ctr"/>
                      <a:r>
                        <a:rPr lang="fr-FR" sz="1200">
                          <a:solidFill>
                            <a:schemeClr val="tx1">
                              <a:lumMod val="50000"/>
                            </a:schemeClr>
                          </a:solidFill>
                        </a:rPr>
                        <a:t>Risque inflation EUR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tcPr>
                </a:tc>
                <a:tc>
                  <a:txBody>
                    <a:bodyPr/>
                    <a:lstStyle/>
                    <a:p>
                      <a:pPr algn="ctr"/>
                      <a:r>
                        <a:rPr lang="fr-FR" sz="1200" b="1">
                          <a:solidFill>
                            <a:schemeClr val="tx1">
                              <a:lumMod val="50000"/>
                            </a:schemeClr>
                          </a:solidFill>
                        </a:rPr>
                        <a:t>INF EUR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7CC"/>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rowSpan="2">
                  <a:txBody>
                    <a:bodyPr/>
                    <a:lstStyle/>
                    <a:p>
                      <a:r>
                        <a:rPr lang="fr-FR" sz="1100">
                          <a:solidFill>
                            <a:schemeClr val="tx1">
                              <a:lumMod val="50000"/>
                            </a:schemeClr>
                          </a:solidFill>
                        </a:rPr>
                        <a:t>Risque lié aux facteurs exogènes que sont l’inflation européenne et l’inflation française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92938214"/>
                  </a:ext>
                </a:extLst>
              </a:tr>
              <a:tr h="268516">
                <a:tc vMerge="1">
                  <a:txBody>
                    <a:bodyPr/>
                    <a:lstStyle/>
                    <a:p>
                      <a:endParaRPr lang="fr-FR" sz="1400"/>
                    </a:p>
                  </a:txBody>
                  <a:tcPr/>
                </a:tc>
                <a:tc>
                  <a:txBody>
                    <a:bodyPr/>
                    <a:lstStyle/>
                    <a:p>
                      <a:pPr algn="ctr"/>
                      <a:r>
                        <a:rPr lang="fr-FR" sz="1200">
                          <a:solidFill>
                            <a:schemeClr val="tx1">
                              <a:lumMod val="50000"/>
                            </a:schemeClr>
                          </a:solidFill>
                        </a:rPr>
                        <a:t>Risque inflation FR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tx1">
                              <a:lumMod val="50000"/>
                            </a:schemeClr>
                          </a:solidFill>
                        </a:rPr>
                        <a:t>INF FR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7CC"/>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a:p>
                  </a:txBody>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1519788"/>
                  </a:ext>
                </a:extLst>
              </a:tr>
              <a:tr h="268516">
                <a:tc vMerge="1">
                  <a:txBody>
                    <a:bodyPr/>
                    <a:lstStyle/>
                    <a:p>
                      <a:endParaRPr lang="fr-FR" sz="1400"/>
                    </a:p>
                  </a:txBody>
                  <a:tcPr/>
                </a:tc>
                <a:tc>
                  <a:txBody>
                    <a:bodyPr/>
                    <a:lstStyle/>
                    <a:p>
                      <a:pPr algn="ctr"/>
                      <a:r>
                        <a:rPr lang="fr-FR" sz="1200">
                          <a:solidFill>
                            <a:schemeClr val="tx1">
                              <a:lumMod val="50000"/>
                            </a:schemeClr>
                          </a:solidFill>
                        </a:rPr>
                        <a:t>Risque de base E6M-E3M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tx1">
                              <a:lumMod val="50000"/>
                            </a:schemeClr>
                          </a:solidFill>
                        </a:rPr>
                        <a:t>E6M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E0B4"/>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rowSpan="2">
                  <a:txBody>
                    <a:bodyPr/>
                    <a:lstStyle/>
                    <a:p>
                      <a:r>
                        <a:rPr lang="fr-FR" sz="1100">
                          <a:solidFill>
                            <a:schemeClr val="tx1">
                              <a:lumMod val="50000"/>
                            </a:schemeClr>
                          </a:solidFill>
                        </a:rPr>
                        <a:t>Risque lié à des natures de taux révisables différentes entre l’actif et le passif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87973546"/>
                  </a:ext>
                </a:extLst>
              </a:tr>
              <a:tr h="268516">
                <a:tc vMerge="1">
                  <a:txBody>
                    <a:bodyPr/>
                    <a:lstStyle/>
                    <a:p>
                      <a:endParaRPr lang="fr-FR" sz="1400"/>
                    </a:p>
                  </a:txBody>
                  <a:tcPr/>
                </a:tc>
                <a:tc>
                  <a:txBody>
                    <a:bodyPr/>
                    <a:lstStyle/>
                    <a:p>
                      <a:pPr algn="ctr"/>
                      <a:r>
                        <a:rPr lang="fr-FR" sz="1200">
                          <a:solidFill>
                            <a:schemeClr val="tx1">
                              <a:lumMod val="50000"/>
                            </a:schemeClr>
                          </a:solidFill>
                        </a:rPr>
                        <a:t>Risque de base Ester-E3M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tx1">
                              <a:lumMod val="50000"/>
                            </a:schemeClr>
                          </a:solidFill>
                        </a:rPr>
                        <a:t>ESTER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644"/>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vMerge="1">
                  <a:txBody>
                    <a:bodyPr/>
                    <a:lstStyle/>
                    <a:p>
                      <a:endParaRPr lang="fr-FR" sz="1200"/>
                    </a:p>
                  </a:txBody>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74330541"/>
                  </a:ext>
                </a:extLst>
              </a:tr>
              <a:tr h="322869">
                <a:tc vMerge="1">
                  <a:txBody>
                    <a:bodyPr/>
                    <a:lstStyle/>
                    <a:p>
                      <a:endParaRPr lang="fr-FR" sz="1400"/>
                    </a:p>
                  </a:txBody>
                  <a:tcPr/>
                </a:tc>
                <a:tc rowSpan="2">
                  <a:txBody>
                    <a:bodyPr/>
                    <a:lstStyle/>
                    <a:p>
                      <a:pPr algn="ctr"/>
                      <a:r>
                        <a:rPr lang="fr-FR" sz="1200" dirty="0">
                          <a:solidFill>
                            <a:schemeClr val="tx1">
                              <a:lumMod val="50000"/>
                            </a:schemeClr>
                          </a:solidFill>
                        </a:rPr>
                        <a:t>Risque de taux réglementé </a:t>
                      </a:r>
                      <a:r>
                        <a:rPr lang="fr-FR" sz="1200" dirty="0">
                          <a:solidFill>
                            <a:schemeClr val="tx1">
                              <a:lumMod val="50000"/>
                            </a:schemeClr>
                          </a:solidFill>
                          <a:highlight>
                            <a:srgbClr val="FF0000"/>
                          </a:highlight>
                        </a:rPr>
                        <a:t>TLA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rowSpan="2">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rowSpan="2">
                  <a:txBody>
                    <a:bodyPr/>
                    <a:lstStyle/>
                    <a:p>
                      <a:pPr algn="ctr"/>
                      <a:r>
                        <a:rPr lang="fr-FR" sz="1200" b="1" dirty="0">
                          <a:solidFill>
                            <a:schemeClr val="bg1"/>
                          </a:solidFill>
                          <a:highlight>
                            <a:srgbClr val="FF0000"/>
                          </a:highlight>
                        </a:rPr>
                        <a:t>TLA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2A4C8"/>
                    </a:solidFill>
                  </a:tcPr>
                </a:tc>
                <a:tc rowSpan="3">
                  <a:txBody>
                    <a:bodyPr/>
                    <a:lstStyle/>
                    <a:p>
                      <a:r>
                        <a:rPr lang="fr-FR" sz="1100">
                          <a:solidFill>
                            <a:schemeClr val="tx1">
                              <a:lumMod val="50000"/>
                            </a:schemeClr>
                          </a:solidFill>
                        </a:rPr>
                        <a:t>Risque correspondant à l’adossement de passifs à taux réglementés à des actifs à taux révisable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51030902"/>
                  </a:ext>
                </a:extLst>
              </a:tr>
              <a:tr h="0">
                <a:tc vMerge="1">
                  <a:txBody>
                    <a:bodyPr/>
                    <a:lstStyle/>
                    <a:p>
                      <a:endParaRPr lang="fr-FR"/>
                    </a:p>
                  </a:txBody>
                  <a:tcPr/>
                </a:tc>
                <a:tc vMerge="1">
                  <a:txBody>
                    <a:bodyPr/>
                    <a:lstStyle/>
                    <a:p>
                      <a:pPr algn="ctr"/>
                      <a:endParaRPr lang="fr-FR" sz="1200">
                        <a:solidFill>
                          <a:schemeClr val="tx1">
                            <a:lumMod val="50000"/>
                          </a:schemeClr>
                        </a:solidFill>
                      </a:endParaRPr>
                    </a:p>
                  </a:txBody>
                  <a:tcPr anchor="ctr">
                    <a:lnR w="12700" cap="flat" cmpd="sng" algn="ctr">
                      <a:solidFill>
                        <a:schemeClr val="tx1"/>
                      </a:solidFill>
                      <a:prstDash val="solid"/>
                      <a:round/>
                      <a:headEnd type="none" w="med" len="med"/>
                      <a:tailEnd type="none" w="med" len="med"/>
                    </a:lnR>
                  </a:tcPr>
                </a:tc>
                <a:tc vMerge="1">
                  <a:txBody>
                    <a:bodyPr/>
                    <a:lstStyle/>
                    <a:p>
                      <a:pPr algn="ctr"/>
                      <a:endParaRPr lang="fr-FR" sz="1200" b="1">
                        <a:solidFill>
                          <a:schemeClr val="bg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vMerge="1">
                  <a:txBody>
                    <a:bodyPr/>
                    <a:lstStyle/>
                    <a:p>
                      <a:pPr algn="ctr"/>
                      <a:endParaRPr lang="fr-FR" sz="1200" b="1">
                        <a:solidFill>
                          <a:schemeClr val="bg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2A4C8"/>
                    </a:solidFill>
                  </a:tcPr>
                </a:tc>
                <a:tc vMerge="1">
                  <a:txBody>
                    <a:bodyPr/>
                    <a:lstStyle/>
                    <a:p>
                      <a:endParaRPr lang="fr-FR"/>
                    </a:p>
                  </a:txBody>
                  <a:tcPr>
                    <a:lnL w="12700" cap="flat" cmpd="sng" algn="ctr">
                      <a:solidFill>
                        <a:schemeClr val="tx1"/>
                      </a:solidFill>
                      <a:prstDash val="solid"/>
                      <a:round/>
                      <a:headEnd type="none" w="med" len="med"/>
                      <a:tailEnd type="none" w="med" len="med"/>
                    </a:lnL>
                  </a:tcPr>
                </a:tc>
                <a:tc rowSpan="2">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73073008"/>
                  </a:ext>
                </a:extLst>
              </a:tr>
              <a:tr h="268516">
                <a:tc vMerge="1">
                  <a:txBody>
                    <a:bodyPr/>
                    <a:lstStyle/>
                    <a:p>
                      <a:endParaRPr lang="fr-FR" sz="1400"/>
                    </a:p>
                  </a:txBody>
                  <a:tcPr/>
                </a:tc>
                <a:tc>
                  <a:txBody>
                    <a:bodyPr/>
                    <a:lstStyle/>
                    <a:p>
                      <a:pPr algn="ctr"/>
                      <a:r>
                        <a:rPr lang="fr-FR" sz="1200" dirty="0">
                          <a:solidFill>
                            <a:schemeClr val="tx1">
                              <a:lumMod val="50000"/>
                            </a:schemeClr>
                          </a:solidFill>
                        </a:rPr>
                        <a:t>Risque de taux réglementé </a:t>
                      </a:r>
                      <a:r>
                        <a:rPr lang="fr-FR" sz="1200" dirty="0">
                          <a:solidFill>
                            <a:schemeClr val="tx1">
                              <a:lumMod val="50000"/>
                            </a:schemeClr>
                          </a:solidFill>
                          <a:highlight>
                            <a:srgbClr val="FF0000"/>
                          </a:highlight>
                        </a:rPr>
                        <a:t>LEP</a:t>
                      </a:r>
                    </a:p>
                  </a:txBody>
                  <a:tcPr anchor="ctr">
                    <a:lnR w="12700" cap="flat" cmpd="sng" algn="ctr">
                      <a:solidFill>
                        <a:schemeClr val="tx1"/>
                      </a:solidFill>
                      <a:prstDash val="solid"/>
                      <a:round/>
                      <a:headEnd type="none" w="med" len="med"/>
                      <a:tailEnd type="none" w="med" len="med"/>
                    </a:lnR>
                  </a:tcPr>
                </a:tc>
                <a:tc>
                  <a:txBody>
                    <a:bodyPr/>
                    <a:lstStyle/>
                    <a:p>
                      <a:pPr algn="ctr"/>
                      <a:r>
                        <a:rPr lang="fr-FR" sz="1200" b="1" dirty="0">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a:txBody>
                    <a:bodyPr/>
                    <a:lstStyle/>
                    <a:p>
                      <a:pPr algn="ctr"/>
                      <a:r>
                        <a:rPr lang="fr-FR" sz="1200" b="1" dirty="0">
                          <a:solidFill>
                            <a:schemeClr val="tx1">
                              <a:lumMod val="50000"/>
                            </a:schemeClr>
                          </a:solidFill>
                          <a:highlight>
                            <a:srgbClr val="FF0000"/>
                          </a:highlight>
                        </a:rPr>
                        <a:t>LEP</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E6E6"/>
                    </a:solidFill>
                  </a:tcPr>
                </a:tc>
                <a:tc vMerge="1">
                  <a:txBody>
                    <a:bodyPr/>
                    <a:lstStyle/>
                    <a:p>
                      <a:endParaRPr lang="fr-FR" sz="120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tcPr>
                </a:tc>
                <a:tc vMerge="1">
                  <a:txBody>
                    <a:bodyPr/>
                    <a:lstStyle/>
                    <a:p>
                      <a:pPr algn="ctr"/>
                      <a:r>
                        <a:rPr lang="fr-FR" sz="1200" b="1">
                          <a:solidFill>
                            <a:schemeClr val="tx1">
                              <a:lumMod val="50000"/>
                            </a:schemeClr>
                          </a:solidFill>
                        </a:rPr>
                        <a:t>40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a:r>
                        <a:rPr lang="fr-FR" sz="1200" b="1">
                          <a:solidFill>
                            <a:schemeClr val="tx1">
                              <a:lumMod val="50000"/>
                            </a:schemeClr>
                          </a:solidFill>
                        </a:rPr>
                        <a:t>39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a:r>
                        <a:rPr lang="fr-FR" sz="1200" b="1">
                          <a:solidFill>
                            <a:schemeClr val="tx1">
                              <a:lumMod val="50000"/>
                            </a:schemeClr>
                          </a:solidFill>
                        </a:rPr>
                        <a:t>41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897285"/>
                  </a:ext>
                </a:extLst>
              </a:tr>
              <a:tr h="370885">
                <a:tc vMerge="1">
                  <a:txBody>
                    <a:bodyPr/>
                    <a:lstStyle/>
                    <a:p>
                      <a:endParaRPr lang="fr-FR"/>
                    </a:p>
                  </a:txBody>
                  <a:tcPr/>
                </a:tc>
                <a:tc>
                  <a:txBody>
                    <a:bodyPr/>
                    <a:lstStyle/>
                    <a:p>
                      <a:pPr algn="ctr"/>
                      <a:r>
                        <a:rPr lang="fr-FR" sz="1200" dirty="0">
                          <a:solidFill>
                            <a:schemeClr val="tx1">
                              <a:lumMod val="50000"/>
                            </a:schemeClr>
                          </a:solidFill>
                        </a:rPr>
                        <a:t>Risque de fixing </a:t>
                      </a:r>
                      <a:r>
                        <a:rPr lang="fr-FR" sz="1200" dirty="0">
                          <a:solidFill>
                            <a:schemeClr val="tx1">
                              <a:lumMod val="50000"/>
                            </a:schemeClr>
                          </a:solidFill>
                          <a:highlight>
                            <a:srgbClr val="FF0000"/>
                          </a:highlight>
                        </a:rPr>
                        <a:t>TLA-TLA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bg1"/>
                          </a:solidFill>
                        </a:rPr>
                        <a:t>TLA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2A4C8"/>
                    </a:solidFill>
                  </a:tcPr>
                </a:tc>
                <a:tc>
                  <a:txBody>
                    <a:bodyPr/>
                    <a:lstStyle/>
                    <a:p>
                      <a:pPr algn="ctr"/>
                      <a:r>
                        <a:rPr lang="fr-FR" sz="1200" b="1">
                          <a:solidFill>
                            <a:schemeClr val="bg1"/>
                          </a:solidFill>
                        </a:rPr>
                        <a:t>TLA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2A4C8"/>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lumMod val="50000"/>
                            </a:schemeClr>
                          </a:solidFill>
                        </a:rPr>
                        <a:t>Risque correspondant au délai de </a:t>
                      </a:r>
                      <a:r>
                        <a:rPr lang="fr-FR" sz="1100" dirty="0" err="1">
                          <a:solidFill>
                            <a:schemeClr val="tx1">
                              <a:lumMod val="50000"/>
                            </a:schemeClr>
                          </a:solidFill>
                        </a:rPr>
                        <a:t>repricing</a:t>
                      </a:r>
                      <a:r>
                        <a:rPr lang="fr-FR" sz="1100" dirty="0">
                          <a:solidFill>
                            <a:schemeClr val="tx1">
                              <a:lumMod val="50000"/>
                            </a:schemeClr>
                          </a:solidFill>
                        </a:rPr>
                        <a:t> des actifs et des passifs adossées au TLA</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6397040"/>
                  </a:ext>
                </a:extLst>
              </a:tr>
              <a:tr h="590828">
                <a:tc vMerge="1">
                  <a:txBody>
                    <a:bodyPr/>
                    <a:lstStyle/>
                    <a:p>
                      <a:endParaRPr lang="fr-FR"/>
                    </a:p>
                  </a:txBody>
                  <a:tcPr/>
                </a:tc>
                <a:tc>
                  <a:txBody>
                    <a:bodyPr/>
                    <a:lstStyle/>
                    <a:p>
                      <a:pPr algn="ctr"/>
                      <a:r>
                        <a:rPr lang="fr-FR" sz="1200" dirty="0">
                          <a:solidFill>
                            <a:schemeClr val="tx1">
                              <a:lumMod val="50000"/>
                            </a:schemeClr>
                          </a:solidFill>
                        </a:rPr>
                        <a:t>Risque de fixing E3M-E3M (pivot)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a:txBody>
                    <a:bodyPr/>
                    <a:lstStyle/>
                    <a:p>
                      <a:pPr algn="ctr"/>
                      <a:r>
                        <a:rPr lang="fr-FR" sz="1200" b="1">
                          <a:solidFill>
                            <a:schemeClr val="bg1"/>
                          </a:solidFill>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100">
                          <a:solidFill>
                            <a:schemeClr val="tx1">
                              <a:lumMod val="50000"/>
                            </a:schemeClr>
                          </a:solidFill>
                        </a:rPr>
                        <a:t>Risque correspondant au délai de repricing des actifs et des passifs adossées à l’E3M</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89989893"/>
                  </a:ext>
                </a:extLst>
              </a:tr>
              <a:tr h="268516">
                <a:tc vMerge="1">
                  <a:txBody>
                    <a:bodyPr/>
                    <a:lstStyle/>
                    <a:p>
                      <a:endParaRPr lang="fr-FR" sz="1400"/>
                    </a:p>
                  </a:txBody>
                  <a:tcPr/>
                </a:tc>
                <a:tc>
                  <a:txBody>
                    <a:bodyPr/>
                    <a:lstStyle/>
                    <a:p>
                      <a:pPr algn="ctr"/>
                      <a:r>
                        <a:rPr lang="fr-FR" sz="1200">
                          <a:solidFill>
                            <a:schemeClr val="tx1">
                              <a:lumMod val="50000"/>
                            </a:schemeClr>
                          </a:solidFill>
                        </a:rPr>
                        <a:t>Risque optionnel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endParaRPr lang="fr-FR" sz="1200" b="1">
                        <a:solidFill>
                          <a:schemeClr val="bg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endParaRPr lang="fr-FR" sz="1200" b="1">
                        <a:solidFill>
                          <a:schemeClr val="bg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100">
                        <a:solidFill>
                          <a:schemeClr val="tx1">
                            <a:lumMod val="50000"/>
                          </a:schemeClr>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3E7880">
                        <a:alpha val="0"/>
                      </a:srgbClr>
                    </a:solid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54944584"/>
                  </a:ext>
                </a:extLst>
              </a:tr>
              <a:tr h="516590">
                <a:tc rowSpan="2">
                  <a:txBody>
                    <a:bodyPr/>
                    <a:lstStyle/>
                    <a:p>
                      <a:pPr algn="ctr"/>
                      <a:r>
                        <a:rPr lang="fr-FR" sz="1200" b="1">
                          <a:solidFill>
                            <a:schemeClr val="bg1"/>
                          </a:solidFill>
                        </a:rPr>
                        <a:t>Risques sur PN</a:t>
                      </a:r>
                    </a:p>
                  </a:txBody>
                  <a:tcPr vert="vert27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pPr algn="ctr"/>
                      <a:r>
                        <a:rPr lang="fr-FR" sz="1200">
                          <a:solidFill>
                            <a:schemeClr val="tx1">
                              <a:lumMod val="50000"/>
                            </a:schemeClr>
                          </a:solidFill>
                        </a:rPr>
                        <a:t>Risque de pente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fr-FR" sz="1200" b="1">
                          <a:solidFill>
                            <a:schemeClr val="bg1"/>
                          </a:solidFill>
                        </a:rPr>
                        <a:t>TF LT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15264"/>
                    </a:solidFill>
                  </a:tcPr>
                </a:tc>
                <a:tc>
                  <a:txBody>
                    <a:bodyPr/>
                    <a:lstStyle/>
                    <a:p>
                      <a:pPr algn="ctr"/>
                      <a:r>
                        <a:rPr lang="fr-FR" sz="1200" b="1">
                          <a:solidFill>
                            <a:schemeClr val="bg1"/>
                          </a:solidFill>
                        </a:rPr>
                        <a:t>TF MT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15264"/>
                    </a:solidFill>
                  </a:tcPr>
                </a:tc>
                <a:tc>
                  <a:txBody>
                    <a:bodyPr/>
                    <a:lstStyle/>
                    <a:p>
                      <a:r>
                        <a:rPr lang="fr-FR" sz="1100">
                          <a:solidFill>
                            <a:schemeClr val="tx1">
                              <a:lumMod val="50000"/>
                            </a:schemeClr>
                          </a:solidFill>
                        </a:rPr>
                        <a:t>Risque lié à la différence de maturité entre les nouveaux actifs à taux fixe et les nouveaux passifs à taux fixe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3E7880">
                        <a:alpha val="0"/>
                      </a:srgbClr>
                    </a:solid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4392709"/>
                  </a:ext>
                </a:extLst>
              </a:tr>
              <a:tr h="516590">
                <a:tc vMerge="1">
                  <a:txBody>
                    <a:bodyPr/>
                    <a:lstStyle/>
                    <a:p>
                      <a:endParaRPr lang="fr-FR" sz="1400"/>
                    </a:p>
                  </a:txBody>
                  <a:tcPr/>
                </a:tc>
                <a:tc>
                  <a:txBody>
                    <a:bodyPr/>
                    <a:lstStyle/>
                    <a:p>
                      <a:pPr algn="ctr"/>
                      <a:r>
                        <a:rPr lang="fr-FR" sz="1200">
                          <a:solidFill>
                            <a:schemeClr val="tx1">
                              <a:lumMod val="50000"/>
                            </a:schemeClr>
                          </a:solidFill>
                        </a:rPr>
                        <a:t>Risque de repricing TF</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marL="0" algn="ctr" defTabSz="914400" rtl="0" eaLnBrk="1" latinLnBrk="0" hangingPunct="1"/>
                      <a:r>
                        <a:rPr lang="fr-FR" sz="1200" b="1" i="0" kern="1200">
                          <a:solidFill>
                            <a:schemeClr val="bg1"/>
                          </a:solidFill>
                          <a:latin typeface="Calibri"/>
                          <a:cs typeface="Calibri"/>
                        </a:rPr>
                        <a:t>TF LT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15264"/>
                    </a:solidFill>
                  </a:tcPr>
                </a:tc>
                <a:tc>
                  <a:txBody>
                    <a:bodyPr/>
                    <a:lstStyle/>
                    <a:p>
                      <a:pPr marL="0" algn="ctr" defTabSz="914400" rtl="0" eaLnBrk="1" latinLnBrk="0" hangingPunct="1"/>
                      <a:r>
                        <a:rPr lang="fr-FR" sz="1200" b="1" i="0" kern="1200">
                          <a:solidFill>
                            <a:schemeClr val="bg1"/>
                          </a:solidFill>
                          <a:latin typeface="Calibri"/>
                          <a:cs typeface="Calibri"/>
                        </a:rPr>
                        <a:t>E3M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D7B96"/>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100">
                          <a:solidFill>
                            <a:schemeClr val="tx1">
                              <a:lumMod val="50000"/>
                            </a:schemeClr>
                          </a:solidFill>
                        </a:rPr>
                        <a:t>Risque correspondant à l’adossement des nouveaux actifs à taux fixe incertains à des passifs à taux révisable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3E7880">
                        <a:alpha val="0"/>
                      </a:srgbClr>
                    </a:solid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fr-FR" sz="1200" b="1" dirty="0">
                        <a:solidFill>
                          <a:schemeClr val="tx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88034098"/>
                  </a:ext>
                </a:extLst>
              </a:tr>
            </a:tbl>
          </a:graphicData>
        </a:graphic>
      </p:graphicFrame>
      <p:sp>
        <p:nvSpPr>
          <p:cNvPr id="4" name="Espace réservé du texte 16">
            <a:extLst>
              <a:ext uri="{FF2B5EF4-FFF2-40B4-BE49-F238E27FC236}">
                <a16:creationId xmlns:a16="http://schemas.microsoft.com/office/drawing/2014/main" id="{99197C34-4D17-2B3F-EC1E-A8ED6E813EFE}"/>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88983474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E101C97-A8F0-9BDC-F82D-A4BD8B767A30}"/>
              </a:ext>
            </a:extLst>
          </p:cNvPr>
          <p:cNvSpPr>
            <a:spLocks noGrp="1"/>
          </p:cNvSpPr>
          <p:nvPr>
            <p:ph type="body" sz="quarter" idx="11"/>
          </p:nvPr>
        </p:nvSpPr>
        <p:spPr/>
        <p:txBody>
          <a:bodyPr/>
          <a:lstStyle/>
          <a:p>
            <a:r>
              <a:rPr lang="fr-FR" dirty="0"/>
              <a:t>Annexes</a:t>
            </a:r>
          </a:p>
        </p:txBody>
      </p:sp>
      <p:graphicFrame>
        <p:nvGraphicFramePr>
          <p:cNvPr id="8" name="Table 7">
            <a:extLst>
              <a:ext uri="{FF2B5EF4-FFF2-40B4-BE49-F238E27FC236}">
                <a16:creationId xmlns:a16="http://schemas.microsoft.com/office/drawing/2014/main" id="{9F1A1478-0717-7A4E-96A7-23FC4CE9BC07}"/>
              </a:ext>
            </a:extLst>
          </p:cNvPr>
          <p:cNvGraphicFramePr>
            <a:graphicFrameLocks noGrp="1"/>
          </p:cNvGraphicFramePr>
          <p:nvPr/>
        </p:nvGraphicFramePr>
        <p:xfrm>
          <a:off x="768130" y="978427"/>
          <a:ext cx="5890578" cy="3583524"/>
        </p:xfrm>
        <a:graphic>
          <a:graphicData uri="http://schemas.openxmlformats.org/drawingml/2006/table">
            <a:tbl>
              <a:tblPr firstRow="1" bandRow="1">
                <a:tableStyleId>{B407F83F-F4B1-428F-90E6-6AE17F0CE779}</a:tableStyleId>
              </a:tblPr>
              <a:tblGrid>
                <a:gridCol w="2945289">
                  <a:extLst>
                    <a:ext uri="{9D8B030D-6E8A-4147-A177-3AD203B41FA5}">
                      <a16:colId xmlns:a16="http://schemas.microsoft.com/office/drawing/2014/main" val="365084050"/>
                    </a:ext>
                  </a:extLst>
                </a:gridCol>
                <a:gridCol w="2945289">
                  <a:extLst>
                    <a:ext uri="{9D8B030D-6E8A-4147-A177-3AD203B41FA5}">
                      <a16:colId xmlns:a16="http://schemas.microsoft.com/office/drawing/2014/main" val="3308542114"/>
                    </a:ext>
                  </a:extLst>
                </a:gridCol>
              </a:tblGrid>
              <a:tr h="527422">
                <a:tc>
                  <a:txBody>
                    <a:bodyPr/>
                    <a:lstStyle/>
                    <a:p>
                      <a:r>
                        <a:rPr lang="fr-FR" b="1" dirty="0"/>
                        <a:t>Documents réglementaires</a:t>
                      </a:r>
                    </a:p>
                  </a:txBody>
                  <a:tcPr>
                    <a:solidFill>
                      <a:schemeClr val="bg1">
                        <a:lumMod val="75000"/>
                      </a:schemeClr>
                    </a:solidFill>
                  </a:tcPr>
                </a:tc>
                <a:tc>
                  <a:txBody>
                    <a:bodyPr/>
                    <a:lstStyle/>
                    <a:p>
                      <a:r>
                        <a:rPr lang="fr-FR" b="1" dirty="0"/>
                        <a:t>Liens</a:t>
                      </a:r>
                    </a:p>
                  </a:txBody>
                  <a:tcPr>
                    <a:solidFill>
                      <a:schemeClr val="bg1">
                        <a:lumMod val="75000"/>
                      </a:schemeClr>
                    </a:solidFill>
                  </a:tcPr>
                </a:tc>
                <a:extLst>
                  <a:ext uri="{0D108BD9-81ED-4DB2-BD59-A6C34878D82A}">
                    <a16:rowId xmlns:a16="http://schemas.microsoft.com/office/drawing/2014/main" val="3062179187"/>
                  </a:ext>
                </a:extLst>
              </a:tr>
              <a:tr h="527422">
                <a:tc>
                  <a:txBody>
                    <a:bodyPr/>
                    <a:lstStyle/>
                    <a:p>
                      <a:r>
                        <a:rPr lang="fr-FR" dirty="0"/>
                        <a:t>EBA RTS on SA</a:t>
                      </a:r>
                    </a:p>
                  </a:txBody>
                  <a:tcPr/>
                </a:tc>
                <a:tc>
                  <a:txBody>
                    <a:bodyPr/>
                    <a:lstStyle/>
                    <a:p>
                      <a:r>
                        <a:rPr lang="fr-FR" dirty="0">
                          <a:hlinkClick r:id="rId2"/>
                        </a:rPr>
                        <a:t>EBA RTS on SA</a:t>
                      </a:r>
                      <a:endParaRPr lang="fr-FR" dirty="0"/>
                    </a:p>
                  </a:txBody>
                  <a:tcPr/>
                </a:tc>
                <a:extLst>
                  <a:ext uri="{0D108BD9-81ED-4DB2-BD59-A6C34878D82A}">
                    <a16:rowId xmlns:a16="http://schemas.microsoft.com/office/drawing/2014/main" val="2162853318"/>
                  </a:ext>
                </a:extLst>
              </a:tr>
              <a:tr h="561513">
                <a:tc>
                  <a:txBody>
                    <a:bodyPr/>
                    <a:lstStyle/>
                    <a:p>
                      <a:r>
                        <a:rPr lang="fr-FR" dirty="0"/>
                        <a:t>EBA RTS on SOT</a:t>
                      </a:r>
                    </a:p>
                  </a:txBody>
                  <a:tcPr/>
                </a:tc>
                <a:tc>
                  <a:txBody>
                    <a:bodyPr/>
                    <a:lstStyle/>
                    <a:p>
                      <a:r>
                        <a:rPr lang="fr-FR" dirty="0">
                          <a:hlinkClick r:id="rId3"/>
                        </a:rPr>
                        <a:t>EBA RTS on SOT</a:t>
                      </a:r>
                      <a:endParaRPr lang="fr-FR" dirty="0"/>
                    </a:p>
                  </a:txBody>
                  <a:tcPr/>
                </a:tc>
                <a:extLst>
                  <a:ext uri="{0D108BD9-81ED-4DB2-BD59-A6C34878D82A}">
                    <a16:rowId xmlns:a16="http://schemas.microsoft.com/office/drawing/2014/main" val="1660030121"/>
                  </a:ext>
                </a:extLst>
              </a:tr>
              <a:tr h="487805">
                <a:tc>
                  <a:txBody>
                    <a:bodyPr/>
                    <a:lstStyle/>
                    <a:p>
                      <a:r>
                        <a:rPr lang="fr-FR" dirty="0"/>
                        <a:t>RD 855</a:t>
                      </a:r>
                    </a:p>
                  </a:txBody>
                  <a:tcPr/>
                </a:tc>
                <a:tc>
                  <a:txBody>
                    <a:bodyPr/>
                    <a:lstStyle/>
                    <a:p>
                      <a:r>
                        <a:rPr lang="fr-FR" dirty="0">
                          <a:hlinkClick r:id="rId4"/>
                        </a:rPr>
                        <a:t>RD 855</a:t>
                      </a:r>
                      <a:endParaRPr lang="fr-FR" dirty="0"/>
                    </a:p>
                  </a:txBody>
                  <a:tcPr/>
                </a:tc>
                <a:extLst>
                  <a:ext uri="{0D108BD9-81ED-4DB2-BD59-A6C34878D82A}">
                    <a16:rowId xmlns:a16="http://schemas.microsoft.com/office/drawing/2014/main" val="137107242"/>
                  </a:ext>
                </a:extLst>
              </a:tr>
              <a:tr h="487805">
                <a:tc>
                  <a:txBody>
                    <a:bodyPr/>
                    <a:lstStyle/>
                    <a:p>
                      <a:r>
                        <a:rPr lang="fr-FR" dirty="0"/>
                        <a:t>RD 856</a:t>
                      </a:r>
                    </a:p>
                  </a:txBody>
                  <a:tcPr/>
                </a:tc>
                <a:tc>
                  <a:txBody>
                    <a:bodyPr/>
                    <a:lstStyle/>
                    <a:p>
                      <a:r>
                        <a:rPr lang="fr-FR" dirty="0">
                          <a:hlinkClick r:id="rId5"/>
                        </a:rPr>
                        <a:t>RD 856</a:t>
                      </a:r>
                      <a:endParaRPr lang="fr-FR" dirty="0"/>
                    </a:p>
                  </a:txBody>
                  <a:tcPr/>
                </a:tc>
                <a:extLst>
                  <a:ext uri="{0D108BD9-81ED-4DB2-BD59-A6C34878D82A}">
                    <a16:rowId xmlns:a16="http://schemas.microsoft.com/office/drawing/2014/main" val="2569665290"/>
                  </a:ext>
                </a:extLst>
              </a:tr>
              <a:tr h="487805">
                <a:tc>
                  <a:txBody>
                    <a:bodyPr/>
                    <a:lstStyle/>
                    <a:p>
                      <a:r>
                        <a:rPr lang="fr-FR" dirty="0"/>
                        <a:t>RD 857</a:t>
                      </a:r>
                    </a:p>
                  </a:txBody>
                  <a:tcPr/>
                </a:tc>
                <a:tc>
                  <a:txBody>
                    <a:bodyPr/>
                    <a:lstStyle/>
                    <a:p>
                      <a:r>
                        <a:rPr lang="fr-FR" dirty="0">
                          <a:hlinkClick r:id="rId6"/>
                        </a:rPr>
                        <a:t>RD 857</a:t>
                      </a:r>
                      <a:endParaRPr lang="fr-FR" dirty="0"/>
                    </a:p>
                  </a:txBody>
                  <a:tcPr/>
                </a:tc>
                <a:extLst>
                  <a:ext uri="{0D108BD9-81ED-4DB2-BD59-A6C34878D82A}">
                    <a16:rowId xmlns:a16="http://schemas.microsoft.com/office/drawing/2014/main" val="1712358744"/>
                  </a:ext>
                </a:extLst>
              </a:tr>
              <a:tr h="503752">
                <a:tc>
                  <a:txBody>
                    <a:bodyPr/>
                    <a:lstStyle/>
                    <a:p>
                      <a:r>
                        <a:rPr lang="fr-FR" dirty="0"/>
                        <a:t>Article BdF</a:t>
                      </a:r>
                    </a:p>
                  </a:txBody>
                  <a:tcPr/>
                </a:tc>
                <a:tc>
                  <a:txBody>
                    <a:bodyPr/>
                    <a:lstStyle/>
                    <a:p>
                      <a:r>
                        <a:rPr lang="fr-FR" dirty="0">
                          <a:hlinkClick r:id="rId7"/>
                        </a:rPr>
                        <a:t>Rémunération des RO </a:t>
                      </a:r>
                      <a:endParaRPr lang="fr-FR" dirty="0"/>
                    </a:p>
                  </a:txBody>
                  <a:tcPr/>
                </a:tc>
                <a:extLst>
                  <a:ext uri="{0D108BD9-81ED-4DB2-BD59-A6C34878D82A}">
                    <a16:rowId xmlns:a16="http://schemas.microsoft.com/office/drawing/2014/main" val="2795377040"/>
                  </a:ext>
                </a:extLst>
              </a:tr>
            </a:tbl>
          </a:graphicData>
        </a:graphic>
      </p:graphicFrame>
      <p:graphicFrame>
        <p:nvGraphicFramePr>
          <p:cNvPr id="3" name="Table 2">
            <a:extLst>
              <a:ext uri="{FF2B5EF4-FFF2-40B4-BE49-F238E27FC236}">
                <a16:creationId xmlns:a16="http://schemas.microsoft.com/office/drawing/2014/main" id="{CB51DF4A-2E5A-BB28-FE56-7E3A7E1F84D5}"/>
              </a:ext>
            </a:extLst>
          </p:cNvPr>
          <p:cNvGraphicFramePr>
            <a:graphicFrameLocks noGrp="1"/>
          </p:cNvGraphicFramePr>
          <p:nvPr/>
        </p:nvGraphicFramePr>
        <p:xfrm>
          <a:off x="768130" y="4721808"/>
          <a:ext cx="5890578" cy="1431315"/>
        </p:xfrm>
        <a:graphic>
          <a:graphicData uri="http://schemas.openxmlformats.org/drawingml/2006/table">
            <a:tbl>
              <a:tblPr firstRow="1" bandRow="1">
                <a:tableStyleId>{B407F83F-F4B1-428F-90E6-6AE17F0CE779}</a:tableStyleId>
              </a:tblPr>
              <a:tblGrid>
                <a:gridCol w="2945289">
                  <a:extLst>
                    <a:ext uri="{9D8B030D-6E8A-4147-A177-3AD203B41FA5}">
                      <a16:colId xmlns:a16="http://schemas.microsoft.com/office/drawing/2014/main" val="1831179284"/>
                    </a:ext>
                  </a:extLst>
                </a:gridCol>
                <a:gridCol w="2945289">
                  <a:extLst>
                    <a:ext uri="{9D8B030D-6E8A-4147-A177-3AD203B41FA5}">
                      <a16:colId xmlns:a16="http://schemas.microsoft.com/office/drawing/2014/main" val="1673161405"/>
                    </a:ext>
                  </a:extLst>
                </a:gridCol>
              </a:tblGrid>
              <a:tr h="516915">
                <a:tc>
                  <a:txBody>
                    <a:bodyPr/>
                    <a:lstStyle/>
                    <a:p>
                      <a:r>
                        <a:rPr lang="fr-FR" b="1" dirty="0"/>
                        <a:t>Document annexe</a:t>
                      </a:r>
                    </a:p>
                  </a:txBody>
                  <a:tcPr>
                    <a:solidFill>
                      <a:schemeClr val="bg1">
                        <a:lumMod val="75000"/>
                      </a:schemeClr>
                    </a:solidFill>
                  </a:tcPr>
                </a:tc>
                <a:tc>
                  <a:txBody>
                    <a:bodyPr/>
                    <a:lstStyle/>
                    <a:p>
                      <a:r>
                        <a:rPr lang="fr-FR" b="1" dirty="0"/>
                        <a:t>Lien</a:t>
                      </a:r>
                    </a:p>
                  </a:txBody>
                  <a:tcPr>
                    <a:solidFill>
                      <a:schemeClr val="bg1">
                        <a:lumMod val="75000"/>
                      </a:schemeClr>
                    </a:solidFill>
                  </a:tcPr>
                </a:tc>
                <a:extLst>
                  <a:ext uri="{0D108BD9-81ED-4DB2-BD59-A6C34878D82A}">
                    <a16:rowId xmlns:a16="http://schemas.microsoft.com/office/drawing/2014/main" val="847519560"/>
                  </a:ext>
                </a:extLst>
              </a:tr>
              <a:tr h="527422">
                <a:tc>
                  <a:txBody>
                    <a:bodyPr/>
                    <a:lstStyle/>
                    <a:p>
                      <a:r>
                        <a:rPr lang="fr-FR" dirty="0"/>
                        <a:t>Mémoire « </a:t>
                      </a:r>
                      <a:r>
                        <a:rPr lang="en-US" dirty="0"/>
                        <a:t>MODELING INTEREST RATE RISK IN THE BANKING BOOK”</a:t>
                      </a:r>
                      <a:endParaRPr lang="fr-FR"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hlinkClick r:id="rId8"/>
                        </a:rPr>
                        <a:t>FULLTEXT01</a:t>
                      </a:r>
                      <a:endParaRPr lang="fr-FR" dirty="0"/>
                    </a:p>
                  </a:txBody>
                  <a:tcPr/>
                </a:tc>
                <a:extLst>
                  <a:ext uri="{0D108BD9-81ED-4DB2-BD59-A6C34878D82A}">
                    <a16:rowId xmlns:a16="http://schemas.microsoft.com/office/drawing/2014/main" val="3744175647"/>
                  </a:ext>
                </a:extLst>
              </a:tr>
            </a:tbl>
          </a:graphicData>
        </a:graphic>
      </p:graphicFrame>
    </p:spTree>
    <p:extLst>
      <p:ext uri="{BB962C8B-B14F-4D97-AF65-F5344CB8AC3E}">
        <p14:creationId xmlns:p14="http://schemas.microsoft.com/office/powerpoint/2010/main" val="324677231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67927C4-0A75-7E10-5D36-DF5E4ED6E8FC}"/>
              </a:ext>
            </a:extLst>
          </p:cNvPr>
          <p:cNvSpPr>
            <a:spLocks noGrp="1"/>
          </p:cNvSpPr>
          <p:nvPr>
            <p:ph type="body" sz="quarter" idx="11"/>
          </p:nvPr>
        </p:nvSpPr>
        <p:spPr/>
        <p:txBody>
          <a:bodyPr/>
          <a:lstStyle/>
          <a:p>
            <a:r>
              <a:rPr lang="fr-FR" dirty="0"/>
              <a:t>Trame PPT pour la thématique STEBA NII</a:t>
            </a:r>
          </a:p>
        </p:txBody>
      </p:sp>
      <p:sp>
        <p:nvSpPr>
          <p:cNvPr id="3" name="Text Placeholder 2">
            <a:extLst>
              <a:ext uri="{FF2B5EF4-FFF2-40B4-BE49-F238E27FC236}">
                <a16:creationId xmlns:a16="http://schemas.microsoft.com/office/drawing/2014/main" id="{31BE37CE-CB90-573D-9149-9A908A123025}"/>
              </a:ext>
            </a:extLst>
          </p:cNvPr>
          <p:cNvSpPr>
            <a:spLocks noGrp="1"/>
          </p:cNvSpPr>
          <p:nvPr>
            <p:ph type="body" sz="quarter" idx="22"/>
          </p:nvPr>
        </p:nvSpPr>
        <p:spPr/>
        <p:txBody>
          <a:bodyPr/>
          <a:lstStyle/>
          <a:p>
            <a:endParaRPr lang="fr-FR"/>
          </a:p>
        </p:txBody>
      </p:sp>
      <p:sp>
        <p:nvSpPr>
          <p:cNvPr id="5" name="TextBox 4">
            <a:extLst>
              <a:ext uri="{FF2B5EF4-FFF2-40B4-BE49-F238E27FC236}">
                <a16:creationId xmlns:a16="http://schemas.microsoft.com/office/drawing/2014/main" id="{30AD4D54-1A3E-584F-27EB-126AA173B806}"/>
              </a:ext>
            </a:extLst>
          </p:cNvPr>
          <p:cNvSpPr txBox="1"/>
          <p:nvPr/>
        </p:nvSpPr>
        <p:spPr>
          <a:xfrm>
            <a:off x="1212783" y="1568918"/>
            <a:ext cx="6843562" cy="2677656"/>
          </a:xfrm>
          <a:prstGeom prst="rect">
            <a:avLst/>
          </a:prstGeom>
          <a:noFill/>
        </p:spPr>
        <p:txBody>
          <a:bodyPr wrap="square" rtlCol="0">
            <a:spAutoFit/>
          </a:bodyPr>
          <a:lstStyle/>
          <a:p>
            <a:pPr marL="342900" indent="-342900">
              <a:buAutoNum type="arabicPeriod"/>
            </a:pPr>
            <a:r>
              <a:rPr lang="fr-FR" dirty="0">
                <a:latin typeface="Calibri (body)"/>
              </a:rPr>
              <a:t>Gap </a:t>
            </a:r>
            <a:r>
              <a:rPr lang="fr-FR" dirty="0" err="1">
                <a:latin typeface="Calibri (body)"/>
              </a:rPr>
              <a:t>analysis</a:t>
            </a:r>
            <a:r>
              <a:rPr lang="fr-FR" dirty="0">
                <a:latin typeface="Calibri (body)"/>
              </a:rPr>
              <a:t> IRRBB/STEBA NII</a:t>
            </a:r>
          </a:p>
          <a:p>
            <a:pPr marL="342900" indent="-342900">
              <a:buAutoNum type="arabicPeriod"/>
            </a:pPr>
            <a:endParaRPr lang="fr-FR" dirty="0">
              <a:latin typeface="Calibri (body)"/>
            </a:endParaRPr>
          </a:p>
          <a:p>
            <a:pPr marL="342900" indent="-342900">
              <a:buAutoNum type="arabicPeriod"/>
            </a:pPr>
            <a:r>
              <a:rPr lang="fr-FR" dirty="0">
                <a:latin typeface="Calibri (body)"/>
              </a:rPr>
              <a:t>Périmètre de réalisation STEBA NII</a:t>
            </a:r>
          </a:p>
          <a:p>
            <a:pPr marL="342900" indent="-342900">
              <a:buAutoNum type="arabicPeriod"/>
            </a:pPr>
            <a:endParaRPr lang="fr-FR" dirty="0">
              <a:latin typeface="Calibri (body)"/>
            </a:endParaRPr>
          </a:p>
          <a:p>
            <a:pPr marL="342900" indent="-342900">
              <a:buAutoNum type="arabicPeriod"/>
            </a:pPr>
            <a:r>
              <a:rPr lang="fr-FR" dirty="0">
                <a:latin typeface="Calibri (body)"/>
              </a:rPr>
              <a:t>Présentation des templates</a:t>
            </a:r>
          </a:p>
          <a:p>
            <a:pPr marL="342900" indent="-342900">
              <a:buAutoNum type="arabicPeriod"/>
            </a:pPr>
            <a:endParaRPr lang="fr-FR" dirty="0">
              <a:latin typeface="Calibri (body)"/>
            </a:endParaRPr>
          </a:p>
          <a:p>
            <a:pPr marL="342900" indent="-342900">
              <a:buAutoNum type="arabicPeriod"/>
            </a:pPr>
            <a:r>
              <a:rPr lang="fr-FR" dirty="0">
                <a:latin typeface="Calibri (body)"/>
              </a:rPr>
              <a:t>Méthodologie de calcul des taux et marges futures</a:t>
            </a:r>
          </a:p>
          <a:p>
            <a:r>
              <a:rPr lang="fr-FR" dirty="0">
                <a:latin typeface="Calibri (body)"/>
              </a:rPr>
              <a:t>	Méthodologie générale</a:t>
            </a:r>
          </a:p>
          <a:p>
            <a:r>
              <a:rPr lang="fr-FR" dirty="0">
                <a:latin typeface="Calibri (body)"/>
              </a:rPr>
              <a:t>	Exemples calculatoires</a:t>
            </a:r>
          </a:p>
          <a:p>
            <a:r>
              <a:rPr lang="fr-FR" dirty="0">
                <a:latin typeface="Calibri (body)"/>
              </a:rPr>
              <a:t>		Cas d’un prêt à taux fixe</a:t>
            </a:r>
          </a:p>
          <a:p>
            <a:r>
              <a:rPr lang="fr-FR" dirty="0">
                <a:latin typeface="Calibri (body)"/>
              </a:rPr>
              <a:t>		Cas d’un emprunt à taux variable</a:t>
            </a:r>
          </a:p>
          <a:p>
            <a:endParaRPr lang="fr-FR" dirty="0">
              <a:latin typeface="Calibri (body)"/>
            </a:endParaRPr>
          </a:p>
        </p:txBody>
      </p:sp>
    </p:spTree>
    <p:extLst>
      <p:ext uri="{BB962C8B-B14F-4D97-AF65-F5344CB8AC3E}">
        <p14:creationId xmlns:p14="http://schemas.microsoft.com/office/powerpoint/2010/main" val="265385022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5">
            <a:extLst>
              <a:ext uri="{FF2B5EF4-FFF2-40B4-BE49-F238E27FC236}">
                <a16:creationId xmlns:a16="http://schemas.microsoft.com/office/drawing/2014/main" id="{43BB123A-A93A-921F-882A-249436991657}"/>
              </a:ext>
            </a:extLst>
          </p:cNvPr>
          <p:cNvSpPr/>
          <p:nvPr/>
        </p:nvSpPr>
        <p:spPr>
          <a:xfrm>
            <a:off x="240583" y="6085918"/>
            <a:ext cx="11867998" cy="615313"/>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ext Placeholder 1">
            <a:extLst>
              <a:ext uri="{FF2B5EF4-FFF2-40B4-BE49-F238E27FC236}">
                <a16:creationId xmlns:a16="http://schemas.microsoft.com/office/drawing/2014/main" id="{3977C4A7-F809-0D65-85E9-F64F7615E460}"/>
              </a:ext>
            </a:extLst>
          </p:cNvPr>
          <p:cNvSpPr>
            <a:spLocks noGrp="1"/>
          </p:cNvSpPr>
          <p:nvPr>
            <p:ph type="body" sz="quarter" idx="11"/>
          </p:nvPr>
        </p:nvSpPr>
        <p:spPr/>
        <p:txBody>
          <a:bodyPr/>
          <a:lstStyle/>
          <a:p>
            <a:r>
              <a:rPr lang="fr-FR" dirty="0"/>
              <a:t>Gap </a:t>
            </a:r>
            <a:r>
              <a:rPr lang="fr-FR" dirty="0" err="1"/>
              <a:t>analysis</a:t>
            </a:r>
            <a:r>
              <a:rPr lang="fr-FR" dirty="0"/>
              <a:t> STEBA NII vs IRRBB</a:t>
            </a:r>
          </a:p>
        </p:txBody>
      </p:sp>
      <p:sp>
        <p:nvSpPr>
          <p:cNvPr id="3" name="Text Placeholder 2">
            <a:extLst>
              <a:ext uri="{FF2B5EF4-FFF2-40B4-BE49-F238E27FC236}">
                <a16:creationId xmlns:a16="http://schemas.microsoft.com/office/drawing/2014/main" id="{0627C06C-8761-5CB4-FB14-6A7BF5EB6BBC}"/>
              </a:ext>
            </a:extLst>
          </p:cNvPr>
          <p:cNvSpPr>
            <a:spLocks noGrp="1"/>
          </p:cNvSpPr>
          <p:nvPr>
            <p:ph type="body" sz="quarter" idx="22"/>
          </p:nvPr>
        </p:nvSpPr>
        <p:spPr/>
        <p:txBody>
          <a:bodyPr/>
          <a:lstStyle/>
          <a:p>
            <a:r>
              <a:rPr lang="fr-FR" dirty="0"/>
              <a:t>1</a:t>
            </a:r>
          </a:p>
        </p:txBody>
      </p:sp>
      <p:sp>
        <p:nvSpPr>
          <p:cNvPr id="6" name="Rectangle 5">
            <a:extLst>
              <a:ext uri="{FF2B5EF4-FFF2-40B4-BE49-F238E27FC236}">
                <a16:creationId xmlns:a16="http://schemas.microsoft.com/office/drawing/2014/main" id="{D29EE756-AA82-BCC2-6095-E8862E9751F8}"/>
              </a:ext>
            </a:extLst>
          </p:cNvPr>
          <p:cNvSpPr/>
          <p:nvPr/>
        </p:nvSpPr>
        <p:spPr>
          <a:xfrm>
            <a:off x="9572853" y="794453"/>
            <a:ext cx="576000" cy="144000"/>
          </a:xfrm>
          <a:prstGeom prst="rect">
            <a:avLst/>
          </a:prstGeom>
          <a:solidFill>
            <a:schemeClr val="tx2">
              <a:lumMod val="40000"/>
              <a:lumOff val="60000"/>
              <a:alpha val="4980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28600" marR="0" lvl="0" indent="-228600" algn="ctr" defTabSz="914400" rtl="0" eaLnBrk="1" fontAlgn="auto" latinLnBrk="0" hangingPunct="1">
              <a:lnSpc>
                <a:spcPct val="100000"/>
              </a:lnSpc>
              <a:spcBef>
                <a:spcPts val="0"/>
              </a:spcBef>
              <a:spcAft>
                <a:spcPts val="0"/>
              </a:spcAft>
              <a:buClrTx/>
              <a:buSzTx/>
              <a:buFont typeface="+mj-lt"/>
              <a:buAutoNum type="arabicPeriod"/>
              <a:tabLst/>
              <a:defRPr/>
            </a:pPr>
            <a:endParaRPr kumimoji="0" lang="fr-FR" sz="1000" b="1"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p:txBody>
      </p:sp>
      <p:sp>
        <p:nvSpPr>
          <p:cNvPr id="7" name="Rectangle 6">
            <a:extLst>
              <a:ext uri="{FF2B5EF4-FFF2-40B4-BE49-F238E27FC236}">
                <a16:creationId xmlns:a16="http://schemas.microsoft.com/office/drawing/2014/main" id="{3EF6315C-1A18-8402-A783-C59D2D5DFF38}"/>
              </a:ext>
            </a:extLst>
          </p:cNvPr>
          <p:cNvSpPr/>
          <p:nvPr/>
        </p:nvSpPr>
        <p:spPr>
          <a:xfrm>
            <a:off x="9572853" y="963536"/>
            <a:ext cx="576000" cy="14400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p:txBody>
      </p:sp>
      <p:sp>
        <p:nvSpPr>
          <p:cNvPr id="8" name="Rectangle 7">
            <a:extLst>
              <a:ext uri="{FF2B5EF4-FFF2-40B4-BE49-F238E27FC236}">
                <a16:creationId xmlns:a16="http://schemas.microsoft.com/office/drawing/2014/main" id="{37C4142F-1525-E086-516F-BB02E94A591F}"/>
              </a:ext>
            </a:extLst>
          </p:cNvPr>
          <p:cNvSpPr/>
          <p:nvPr/>
        </p:nvSpPr>
        <p:spPr>
          <a:xfrm>
            <a:off x="10185857" y="794453"/>
            <a:ext cx="576000" cy="14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Point commun</a:t>
            </a:r>
          </a:p>
        </p:txBody>
      </p:sp>
      <p:sp>
        <p:nvSpPr>
          <p:cNvPr id="9" name="Rectangle 8">
            <a:extLst>
              <a:ext uri="{FF2B5EF4-FFF2-40B4-BE49-F238E27FC236}">
                <a16:creationId xmlns:a16="http://schemas.microsoft.com/office/drawing/2014/main" id="{9E1A45B9-C01E-6E8B-7E41-AE1CED2B64D1}"/>
              </a:ext>
            </a:extLst>
          </p:cNvPr>
          <p:cNvSpPr/>
          <p:nvPr/>
        </p:nvSpPr>
        <p:spPr>
          <a:xfrm>
            <a:off x="10185857" y="963536"/>
            <a:ext cx="576000" cy="14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Ecarts de méthodologie et/ou hypothèses</a:t>
            </a:r>
          </a:p>
        </p:txBody>
      </p:sp>
      <p:sp>
        <p:nvSpPr>
          <p:cNvPr id="10" name="Rectangle 9">
            <a:extLst>
              <a:ext uri="{FF2B5EF4-FFF2-40B4-BE49-F238E27FC236}">
                <a16:creationId xmlns:a16="http://schemas.microsoft.com/office/drawing/2014/main" id="{73DF2B73-8F83-ADC4-B66B-6EFD607686A8}"/>
              </a:ext>
            </a:extLst>
          </p:cNvPr>
          <p:cNvSpPr/>
          <p:nvPr/>
        </p:nvSpPr>
        <p:spPr>
          <a:xfrm>
            <a:off x="195310" y="1200093"/>
            <a:ext cx="11690885" cy="5410988"/>
          </a:xfrm>
          <a:prstGeom prst="rect">
            <a:avLst/>
          </a:prstGeom>
          <a:noFill/>
          <a:ln w="38100">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12" name="Rectangle 11">
            <a:extLst>
              <a:ext uri="{FF2B5EF4-FFF2-40B4-BE49-F238E27FC236}">
                <a16:creationId xmlns:a16="http://schemas.microsoft.com/office/drawing/2014/main" id="{CF094A40-7F8D-9879-E26B-035A4D004B83}"/>
              </a:ext>
            </a:extLst>
          </p:cNvPr>
          <p:cNvSpPr/>
          <p:nvPr/>
        </p:nvSpPr>
        <p:spPr>
          <a:xfrm>
            <a:off x="305805" y="4830601"/>
            <a:ext cx="324000" cy="1619486"/>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Calibri (body)"/>
                <a:ea typeface="Times New Roman" panose="02020603050405020304" pitchFamily="18" charset="0"/>
              </a:rPr>
              <a:t>Données nécessaires</a:t>
            </a:r>
          </a:p>
        </p:txBody>
      </p:sp>
      <p:sp>
        <p:nvSpPr>
          <p:cNvPr id="13" name="Rectangle 12">
            <a:extLst>
              <a:ext uri="{FF2B5EF4-FFF2-40B4-BE49-F238E27FC236}">
                <a16:creationId xmlns:a16="http://schemas.microsoft.com/office/drawing/2014/main" id="{8BAF6289-BFB8-1CD6-6AA0-535ECBC97B1F}"/>
              </a:ext>
            </a:extLst>
          </p:cNvPr>
          <p:cNvSpPr/>
          <p:nvPr/>
        </p:nvSpPr>
        <p:spPr>
          <a:xfrm>
            <a:off x="305805" y="1590602"/>
            <a:ext cx="324000" cy="3186000"/>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Calibri (body)"/>
                <a:ea typeface="Times New Roman" panose="02020603050405020304" pitchFamily="18" charset="0"/>
              </a:rPr>
              <a:t>Hypothèses</a:t>
            </a:r>
          </a:p>
        </p:txBody>
      </p:sp>
      <p:sp>
        <p:nvSpPr>
          <p:cNvPr id="14" name="Rectangle 13">
            <a:extLst>
              <a:ext uri="{FF2B5EF4-FFF2-40B4-BE49-F238E27FC236}">
                <a16:creationId xmlns:a16="http://schemas.microsoft.com/office/drawing/2014/main" id="{B5698DC2-6B0B-82B1-FE4F-E24B0107C8FD}"/>
              </a:ext>
            </a:extLst>
          </p:cNvPr>
          <p:cNvSpPr/>
          <p:nvPr/>
        </p:nvSpPr>
        <p:spPr>
          <a:xfrm>
            <a:off x="6352098" y="1310325"/>
            <a:ext cx="5400000" cy="27942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b="1"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IRRBB</a:t>
            </a:r>
          </a:p>
        </p:txBody>
      </p:sp>
      <p:sp>
        <p:nvSpPr>
          <p:cNvPr id="15" name="Rectangle 14">
            <a:extLst>
              <a:ext uri="{FF2B5EF4-FFF2-40B4-BE49-F238E27FC236}">
                <a16:creationId xmlns:a16="http://schemas.microsoft.com/office/drawing/2014/main" id="{26DC5ED3-C74A-2534-8665-8E4B18E3B62E}"/>
              </a:ext>
            </a:extLst>
          </p:cNvPr>
          <p:cNvSpPr/>
          <p:nvPr/>
        </p:nvSpPr>
        <p:spPr>
          <a:xfrm>
            <a:off x="743518" y="1285603"/>
            <a:ext cx="5400000" cy="27942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b="1"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ONGLET STEBA NII_ALM </a:t>
            </a:r>
          </a:p>
        </p:txBody>
      </p:sp>
      <p:sp>
        <p:nvSpPr>
          <p:cNvPr id="16" name="Rectangle 15">
            <a:extLst>
              <a:ext uri="{FF2B5EF4-FFF2-40B4-BE49-F238E27FC236}">
                <a16:creationId xmlns:a16="http://schemas.microsoft.com/office/drawing/2014/main" id="{98AEA024-2AA7-88F1-35F6-35CC79476CBC}"/>
              </a:ext>
            </a:extLst>
          </p:cNvPr>
          <p:cNvSpPr/>
          <p:nvPr/>
        </p:nvSpPr>
        <p:spPr>
          <a:xfrm>
            <a:off x="751924" y="5455457"/>
            <a:ext cx="11029475" cy="994630"/>
          </a:xfrm>
          <a:prstGeom prst="rect">
            <a:avLst/>
          </a:prstGeom>
          <a:solidFill>
            <a:schemeClr val="tx2">
              <a:lumMod val="40000"/>
              <a:lumOff val="60000"/>
              <a:alpha val="4980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0" numCol="3" rtlCol="0" anchor="ctr"/>
          <a:lstStyle/>
          <a:p>
            <a:pPr marL="171450" marR="0" lvl="2" indent="-17145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Maturité à l’origine</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Nature de produit</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Type de contrepartie</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Classes d’actifs de rattachement</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Devise</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Type de taux</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Index et taux de référence</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Date et fréquence de </a:t>
            </a:r>
            <a:r>
              <a:rPr kumimoji="0" lang="fr-FR" sz="1000" b="0" i="0" u="none" strike="noStrike" kern="1200" cap="none" spc="0" normalizeH="0" baseline="0" noProof="0" dirty="0" err="1">
                <a:ln>
                  <a:noFill/>
                </a:ln>
                <a:solidFill>
                  <a:srgbClr val="000000"/>
                </a:solidFill>
                <a:effectLst/>
                <a:uLnTx/>
                <a:uFillTx/>
                <a:latin typeface="Calibri (body)"/>
              </a:rPr>
              <a:t>refixing</a:t>
            </a:r>
            <a:endParaRPr kumimoji="0" lang="fr-FR" sz="1000" b="0" i="0" u="none" strike="noStrike" kern="1200" cap="none" spc="0" normalizeH="0" baseline="0" noProof="0" dirty="0">
              <a:ln>
                <a:noFill/>
              </a:ln>
              <a:solidFill>
                <a:srgbClr val="000000"/>
              </a:solidFill>
              <a:effectLst/>
              <a:uLnTx/>
              <a:uFillTx/>
              <a:latin typeface="Calibri (body)"/>
            </a:endParaRP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Caractéristiques d’optionnalité</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endParaRPr kumimoji="0" lang="fr-FR" sz="1000" b="0" i="0" u="none" strike="noStrike" kern="1200" cap="none" spc="0" normalizeH="0" baseline="0" noProof="0" dirty="0">
              <a:ln>
                <a:noFill/>
              </a:ln>
              <a:solidFill>
                <a:srgbClr val="000000"/>
              </a:solidFill>
              <a:effectLst/>
              <a:uLnTx/>
              <a:uFillTx/>
              <a:latin typeface="Calibri (body)"/>
            </a:endParaRPr>
          </a:p>
          <a:p>
            <a:pPr marL="0" marR="0" lvl="2" indent="0" algn="just" defTabSz="914400" rtl="0" eaLnBrk="1" fontAlgn="auto" latinLnBrk="0" hangingPunct="1">
              <a:lnSpc>
                <a:spcPct val="100000"/>
              </a:lnSpc>
              <a:spcBef>
                <a:spcPts val="0"/>
              </a:spcBef>
              <a:spcAft>
                <a:spcPts val="0"/>
              </a:spcAft>
              <a:buClrTx/>
              <a:buSzPts val="1000"/>
              <a:buFontTx/>
              <a:buNone/>
              <a:tabLst>
                <a:tab pos="1371600" algn="l"/>
              </a:tabLst>
              <a:defRPr/>
            </a:pPr>
            <a:endParaRPr kumimoji="0" lang="fr-FR" sz="1000" b="0" i="0" u="none" strike="noStrike" kern="1200" cap="none" spc="0" normalizeH="0" baseline="0" noProof="0" dirty="0">
              <a:ln>
                <a:noFill/>
              </a:ln>
              <a:solidFill>
                <a:srgbClr val="000000"/>
              </a:solidFill>
              <a:effectLst/>
              <a:uLnTx/>
              <a:uFillTx/>
              <a:latin typeface="Calibri (body)"/>
            </a:endParaRP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Capital </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Intérêts</a:t>
            </a:r>
          </a:p>
        </p:txBody>
      </p:sp>
      <p:sp>
        <p:nvSpPr>
          <p:cNvPr id="17" name="Rectangle 16">
            <a:extLst>
              <a:ext uri="{FF2B5EF4-FFF2-40B4-BE49-F238E27FC236}">
                <a16:creationId xmlns:a16="http://schemas.microsoft.com/office/drawing/2014/main" id="{DA9D23F8-A153-9A2C-FD10-DD52ACA26A9E}"/>
              </a:ext>
            </a:extLst>
          </p:cNvPr>
          <p:cNvSpPr/>
          <p:nvPr/>
        </p:nvSpPr>
        <p:spPr>
          <a:xfrm>
            <a:off x="743518" y="1590601"/>
            <a:ext cx="10937767" cy="279424"/>
          </a:xfrm>
          <a:prstGeom prst="rect">
            <a:avLst/>
          </a:prstGeom>
          <a:solidFill>
            <a:schemeClr val="tx2">
              <a:lumMod val="40000"/>
              <a:lumOff val="60000"/>
              <a:alpha val="4980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Bilan constant (avec renouvellement des expositions à maturité) &amp; assiette similaire sur le point de départ</a:t>
            </a:r>
          </a:p>
        </p:txBody>
      </p:sp>
      <p:sp>
        <p:nvSpPr>
          <p:cNvPr id="18" name="Rectangle 17">
            <a:extLst>
              <a:ext uri="{FF2B5EF4-FFF2-40B4-BE49-F238E27FC236}">
                <a16:creationId xmlns:a16="http://schemas.microsoft.com/office/drawing/2014/main" id="{85BB36E9-26D8-F6AC-3DDD-F59BEED573BA}"/>
              </a:ext>
            </a:extLst>
          </p:cNvPr>
          <p:cNvSpPr/>
          <p:nvPr/>
        </p:nvSpPr>
        <p:spPr>
          <a:xfrm>
            <a:off x="6281806" y="2568541"/>
            <a:ext cx="5400000" cy="1112671"/>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182563" marR="0" lvl="0" indent="-92075"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rPr>
              <a:t>Méthodologie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Un scénario central et deux scénarios de choc</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Courbes de taux déterminées en interne (</a:t>
            </a:r>
            <a:r>
              <a:rPr kumimoji="0" lang="fr-FR" sz="1000" b="0" i="0" u="none" strike="noStrike" kern="1200" cap="none" spc="0" normalizeH="0" baseline="0" noProof="0" dirty="0" err="1">
                <a:ln>
                  <a:noFill/>
                </a:ln>
                <a:solidFill>
                  <a:srgbClr val="000000"/>
                </a:solidFill>
                <a:effectLst/>
                <a:uLnTx/>
                <a:uFillTx/>
                <a:latin typeface="Calibri (body)"/>
                <a:ea typeface="Times New Roman" panose="02020603050405020304" pitchFamily="18" charset="0"/>
              </a:rPr>
              <a:t>Secured</a:t>
            </a: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 </a:t>
            </a:r>
            <a:r>
              <a:rPr kumimoji="0" lang="fr-FR" sz="1000" b="0" i="0" u="none" strike="noStrike" kern="1200" cap="none" spc="0" normalizeH="0" baseline="0" noProof="0" dirty="0" err="1">
                <a:ln>
                  <a:noFill/>
                </a:ln>
                <a:solidFill>
                  <a:srgbClr val="000000"/>
                </a:solidFill>
                <a:effectLst/>
                <a:uLnTx/>
                <a:uFillTx/>
                <a:latin typeface="Calibri (body)"/>
                <a:ea typeface="Times New Roman" panose="02020603050405020304" pitchFamily="18" charset="0"/>
              </a:rPr>
              <a:t>unsecured</a:t>
            </a: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 other…)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Vision encours par encours (non prescriptive sur la granularité)</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Horizon un an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Gains </a:t>
            </a:r>
            <a:r>
              <a:rPr kumimoji="0" lang="fr-FR" sz="1000" b="0" i="0" u="none" strike="noStrike" kern="1200" cap="none" spc="0" normalizeH="0" baseline="0" noProof="0" dirty="0" err="1">
                <a:ln>
                  <a:noFill/>
                </a:ln>
                <a:solidFill>
                  <a:srgbClr val="000000"/>
                </a:solidFill>
                <a:effectLst/>
                <a:uLnTx/>
                <a:uFillTx/>
                <a:latin typeface="Calibri (body)"/>
                <a:ea typeface="Times New Roman" panose="02020603050405020304" pitchFamily="18" charset="0"/>
              </a:rPr>
              <a:t>cappés</a:t>
            </a: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 par devise</a:t>
            </a:r>
          </a:p>
        </p:txBody>
      </p:sp>
      <p:sp>
        <p:nvSpPr>
          <p:cNvPr id="19" name="Rectangle 18">
            <a:extLst>
              <a:ext uri="{FF2B5EF4-FFF2-40B4-BE49-F238E27FC236}">
                <a16:creationId xmlns:a16="http://schemas.microsoft.com/office/drawing/2014/main" id="{E99574F3-A5E2-C979-415B-356A9B6AD1C9}"/>
              </a:ext>
            </a:extLst>
          </p:cNvPr>
          <p:cNvSpPr/>
          <p:nvPr/>
        </p:nvSpPr>
        <p:spPr>
          <a:xfrm>
            <a:off x="751924" y="2571145"/>
            <a:ext cx="5400000" cy="1112671"/>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92075" marR="0" lvl="2" indent="0" algn="l" defTabSz="914400" rtl="0" eaLnBrk="1" fontAlgn="auto" latinLnBrk="0" hangingPunct="1">
              <a:lnSpc>
                <a:spcPct val="100000"/>
              </a:lnSpc>
              <a:spcBef>
                <a:spcPts val="0"/>
              </a:spcBef>
              <a:spcAft>
                <a:spcPts val="0"/>
              </a:spcAft>
              <a:buClrTx/>
              <a:buSzPts val="1000"/>
              <a:buFontTx/>
              <a:buNone/>
              <a:tabLst>
                <a:tab pos="1371600" algn="l"/>
              </a:tabLst>
              <a:defRPr/>
            </a:pPr>
            <a:r>
              <a:rPr kumimoji="0" lang="fr-FR" sz="1000" b="1" i="0" u="none" strike="noStrike" kern="1200" cap="none" spc="0" normalizeH="0" baseline="0" noProof="0" dirty="0">
                <a:ln>
                  <a:noFill/>
                </a:ln>
                <a:solidFill>
                  <a:srgbClr val="000000"/>
                </a:solidFill>
                <a:effectLst/>
                <a:uLnTx/>
                <a:uFillTx/>
                <a:latin typeface="Calibri (body)"/>
              </a:rPr>
              <a:t>Méthodologie</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Un scénario central et un scénario adverse</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Courbes de taux définies par le régulateur (courbes de swap)</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Vision granulaire prescrite</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Horizon 3 ans avec chocs (discrets) différenciés par année</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Somme directe des expositions en devise</a:t>
            </a:r>
          </a:p>
        </p:txBody>
      </p:sp>
      <p:sp>
        <p:nvSpPr>
          <p:cNvPr id="20" name="Rectangle 19">
            <a:extLst>
              <a:ext uri="{FF2B5EF4-FFF2-40B4-BE49-F238E27FC236}">
                <a16:creationId xmlns:a16="http://schemas.microsoft.com/office/drawing/2014/main" id="{17438906-1266-0D77-C500-AB8091AB260D}"/>
              </a:ext>
            </a:extLst>
          </p:cNvPr>
          <p:cNvSpPr/>
          <p:nvPr/>
        </p:nvSpPr>
        <p:spPr>
          <a:xfrm>
            <a:off x="743518" y="3743936"/>
            <a:ext cx="5400000" cy="1010401"/>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182563" marR="0" lvl="0" indent="-92075"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rPr>
              <a:t>Application des hypothèses</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Pas de modélisation comportementale</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Décomposition du taux explicite</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Projection du taux et de la marge différenciées et prescrites</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Seuil de 90% (ou top 50) sur les couples Pays/Devises</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Neutralisation des encours centralisés à a CDC actif-passif</a:t>
            </a:r>
          </a:p>
          <a:p>
            <a:pPr marL="182563" marR="0" lvl="0" indent="-92075"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a:p>
            <a:pPr marL="182563" marR="0" lvl="0" indent="-92075"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p:txBody>
      </p:sp>
      <p:sp>
        <p:nvSpPr>
          <p:cNvPr id="21" name="Rectangle 20">
            <a:extLst>
              <a:ext uri="{FF2B5EF4-FFF2-40B4-BE49-F238E27FC236}">
                <a16:creationId xmlns:a16="http://schemas.microsoft.com/office/drawing/2014/main" id="{DB7B5B22-0A96-33AC-4B48-3350311A8565}"/>
              </a:ext>
            </a:extLst>
          </p:cNvPr>
          <p:cNvSpPr/>
          <p:nvPr/>
        </p:nvSpPr>
        <p:spPr>
          <a:xfrm>
            <a:off x="6281285" y="3743936"/>
            <a:ext cx="5400000" cy="1010401"/>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182563" marR="0" lvl="0" indent="-92075"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rPr>
              <a:t>Application des hypothèses</a:t>
            </a:r>
            <a:endParaRPr kumimoji="0" lang="fr-FR" sz="1000" b="0" i="0" u="none" strike="noStrike" kern="1200" cap="none" spc="0" normalizeH="0" baseline="0" noProof="0" dirty="0">
              <a:ln>
                <a:noFill/>
              </a:ln>
              <a:solidFill>
                <a:srgbClr val="000000"/>
              </a:solidFill>
              <a:effectLst/>
              <a:uLnTx/>
              <a:uFillTx/>
              <a:latin typeface="Calibri (body)"/>
            </a:endParaRP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5 types d’hypothèses comportementales (remboursement anticipé sur les prêts et les emprunts à taux fixe, modélisation des NP, ligne de crédit à taux fixe, dépôts à vue)</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Décomposition du taux implicite</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Seuil de 90% sur les devises uniquement</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Calibri" panose="020F0502020204030204" pitchFamily="34" charset="0"/>
              </a:rPr>
              <a:t>Cap à 5 ans non appliqué sur les livrets réglementés</a:t>
            </a:r>
          </a:p>
        </p:txBody>
      </p:sp>
      <p:sp>
        <p:nvSpPr>
          <p:cNvPr id="22" name="Rectangle 21">
            <a:extLst>
              <a:ext uri="{FF2B5EF4-FFF2-40B4-BE49-F238E27FC236}">
                <a16:creationId xmlns:a16="http://schemas.microsoft.com/office/drawing/2014/main" id="{E13D6163-BDF6-0587-343A-52974D63F15D}"/>
              </a:ext>
            </a:extLst>
          </p:cNvPr>
          <p:cNvSpPr/>
          <p:nvPr/>
        </p:nvSpPr>
        <p:spPr>
          <a:xfrm>
            <a:off x="6281285" y="1886589"/>
            <a:ext cx="5400000" cy="62942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182563" marR="0" lvl="0" indent="-92075"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rPr>
              <a:t>Périmètre et granularité</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Tous les encours sensibles en taux</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Seuls les tradings books considérés comme « petits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p:txBody>
      </p:sp>
      <p:sp>
        <p:nvSpPr>
          <p:cNvPr id="23" name="Rectangle 22">
            <a:extLst>
              <a:ext uri="{FF2B5EF4-FFF2-40B4-BE49-F238E27FC236}">
                <a16:creationId xmlns:a16="http://schemas.microsoft.com/office/drawing/2014/main" id="{1048CFB9-B272-A086-44BE-840F6E316114}"/>
              </a:ext>
            </a:extLst>
          </p:cNvPr>
          <p:cNvSpPr/>
          <p:nvPr/>
        </p:nvSpPr>
        <p:spPr>
          <a:xfrm>
            <a:off x="751924" y="1886242"/>
            <a:ext cx="5400000" cy="62976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182563" marR="0" lvl="0" indent="-92075"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rPr>
              <a:t>Périmètre et granularité</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Positions held for trading (avec une méthodologie distincte fondée sur l’historique) incluses</a:t>
            </a:r>
          </a:p>
          <a:p>
            <a:pPr marL="0" marR="0" lvl="2" indent="0" algn="l" defTabSz="914400" rtl="0" eaLnBrk="1" fontAlgn="auto" latinLnBrk="0" hangingPunct="1">
              <a:lnSpc>
                <a:spcPct val="100000"/>
              </a:lnSpc>
              <a:spcBef>
                <a:spcPts val="0"/>
              </a:spcBef>
              <a:spcAft>
                <a:spcPts val="0"/>
              </a:spcAft>
              <a:buClrTx/>
              <a:buSzPts val="1000"/>
              <a:buFontTx/>
              <a:buNone/>
              <a:tabLst>
                <a:tab pos="1371600" algn="l"/>
              </a:tabLst>
              <a:defRPr/>
            </a:pPr>
            <a:endParaRPr kumimoji="0" lang="fr-FR" sz="1000" b="0" i="0" u="none" strike="noStrike" kern="1200" cap="none" spc="0" normalizeH="0" baseline="0" noProof="0" dirty="0">
              <a:ln>
                <a:noFill/>
              </a:ln>
              <a:solidFill>
                <a:srgbClr val="000000"/>
              </a:solidFill>
              <a:effectLst/>
              <a:uLnTx/>
              <a:uFillTx/>
              <a:latin typeface="Calibri (body)"/>
            </a:endParaRPr>
          </a:p>
        </p:txBody>
      </p:sp>
      <p:sp>
        <p:nvSpPr>
          <p:cNvPr id="24" name="Rectangle 23">
            <a:extLst>
              <a:ext uri="{FF2B5EF4-FFF2-40B4-BE49-F238E27FC236}">
                <a16:creationId xmlns:a16="http://schemas.microsoft.com/office/drawing/2014/main" id="{6E3EC930-50E0-A877-72AA-9530FB87C069}"/>
              </a:ext>
            </a:extLst>
          </p:cNvPr>
          <p:cNvSpPr/>
          <p:nvPr/>
        </p:nvSpPr>
        <p:spPr>
          <a:xfrm>
            <a:off x="728577" y="4844487"/>
            <a:ext cx="5400000" cy="52082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Volume moyen 2024 et taux moyens (référence et marge)</a:t>
            </a:r>
          </a:p>
          <a:p>
            <a:pPr marL="273050" marR="0" lvl="2" indent="-185738"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Décomposition de l’élément couvert par les swaps entre actifs et passifs</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Granularité un peu plus fine sur les contreparties</a:t>
            </a: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a:p>
            <a:pPr marL="182563" marR="0" lvl="0" indent="-92075"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p:txBody>
      </p:sp>
      <p:sp>
        <p:nvSpPr>
          <p:cNvPr id="25" name="Rectangle 24">
            <a:extLst>
              <a:ext uri="{FF2B5EF4-FFF2-40B4-BE49-F238E27FC236}">
                <a16:creationId xmlns:a16="http://schemas.microsoft.com/office/drawing/2014/main" id="{2CDFABFA-C849-A096-3328-7D05CFA56746}"/>
              </a:ext>
            </a:extLst>
          </p:cNvPr>
          <p:cNvSpPr/>
          <p:nvPr/>
        </p:nvSpPr>
        <p:spPr>
          <a:xfrm>
            <a:off x="6281285" y="4829897"/>
            <a:ext cx="5400000" cy="52082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Vision prospective uniquement</a:t>
            </a:r>
          </a:p>
          <a:p>
            <a:pPr marL="273050" marR="0" lvl="2" indent="-185738"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Décomposition des swaps selon le type d’élément couvert mais pas le sens</a:t>
            </a:r>
          </a:p>
          <a:p>
            <a:pPr marL="182563" marR="0" lvl="0" indent="-92075"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p:txBody>
      </p:sp>
    </p:spTree>
    <p:extLst>
      <p:ext uri="{BB962C8B-B14F-4D97-AF65-F5344CB8AC3E}">
        <p14:creationId xmlns:p14="http://schemas.microsoft.com/office/powerpoint/2010/main" val="391287761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9625" y="5970245"/>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Périmètre de réalisation STEBA NII</a:t>
            </a:r>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61</a:t>
            </a:fld>
            <a:endParaRPr lang="fr-FR" sz="1050" kern="1200" dirty="0">
              <a:solidFill>
                <a:srgbClr val="003565"/>
              </a:solidFill>
              <a:latin typeface="Calibri (body)"/>
              <a:ea typeface="+mn-ea"/>
              <a:cs typeface="+mn-cs"/>
            </a:endParaRPr>
          </a:p>
        </p:txBody>
      </p:sp>
      <p:sp>
        <p:nvSpPr>
          <p:cNvPr id="137" name="Rectangle 136">
            <a:extLst>
              <a:ext uri="{FF2B5EF4-FFF2-40B4-BE49-F238E27FC236}">
                <a16:creationId xmlns:a16="http://schemas.microsoft.com/office/drawing/2014/main" id="{479EE359-F166-1A7C-709C-39117822A442}"/>
              </a:ext>
            </a:extLst>
          </p:cNvPr>
          <p:cNvSpPr/>
          <p:nvPr/>
        </p:nvSpPr>
        <p:spPr>
          <a:xfrm>
            <a:off x="257440" y="2539320"/>
            <a:ext cx="11563110" cy="1108591"/>
          </a:xfrm>
          <a:prstGeom prst="rect">
            <a:avLst/>
          </a:prstGeom>
          <a:solidFill>
            <a:srgbClr val="FFFFFF">
              <a:lumMod val="95000"/>
            </a:srgbClr>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fr-FR" sz="2800" b="0" i="0" u="none" strike="noStrike" kern="1200" cap="none" spc="0" normalizeH="0" baseline="0" noProof="0" dirty="0">
              <a:ln>
                <a:noFill/>
              </a:ln>
              <a:solidFill>
                <a:srgbClr val="FFFFFF"/>
              </a:solidFill>
              <a:effectLst/>
              <a:uLnTx/>
              <a:uFillTx/>
              <a:latin typeface="Calibri (body)"/>
              <a:ea typeface="+mn-ea"/>
              <a:cs typeface="+mn-cs"/>
            </a:endParaRPr>
          </a:p>
        </p:txBody>
      </p:sp>
      <p:sp>
        <p:nvSpPr>
          <p:cNvPr id="138" name="TextBox 137">
            <a:extLst>
              <a:ext uri="{FF2B5EF4-FFF2-40B4-BE49-F238E27FC236}">
                <a16:creationId xmlns:a16="http://schemas.microsoft.com/office/drawing/2014/main" id="{CF007A3D-AFE6-589F-6923-51B8E5372B86}"/>
              </a:ext>
            </a:extLst>
          </p:cNvPr>
          <p:cNvSpPr txBox="1"/>
          <p:nvPr/>
        </p:nvSpPr>
        <p:spPr>
          <a:xfrm>
            <a:off x="360769" y="1269112"/>
            <a:ext cx="10810875" cy="4893647"/>
          </a:xfrm>
          <a:prstGeom prst="rect">
            <a:avLst/>
          </a:prstGeom>
          <a:noFill/>
        </p:spPr>
        <p:txBody>
          <a:bodyPr wrap="square">
            <a:spAutoFit/>
          </a:bodyPr>
          <a:lstStyle/>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prstClr val="black"/>
                </a:solidFill>
                <a:effectLst/>
                <a:uLnTx/>
                <a:uFillTx/>
                <a:latin typeface="Calibri (body)"/>
                <a:ea typeface="+mn-ea"/>
              </a:rPr>
              <a:t>Périmètre:</a:t>
            </a: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positions rémunérées ou productrices d'intérêts dans toutes les catégories comptables, en incluant :</a:t>
            </a:r>
          </a:p>
          <a:p>
            <a:pPr marL="781035" marR="0" lvl="1"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instruments soumis à l'évaluation au coût amorti</a:t>
            </a:r>
          </a:p>
          <a:p>
            <a:pPr marL="781035" marR="0" lvl="1"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instruments soumis à l'évaluation à la juste valeur (FVOCI, </a:t>
            </a:r>
            <a:r>
              <a:rPr kumimoji="0" lang="fr-FR" sz="1200" b="0" i="0" u="none" strike="noStrike" kern="1200" cap="none" spc="0" normalizeH="0" baseline="0" noProof="0" dirty="0" err="1">
                <a:ln>
                  <a:noFill/>
                </a:ln>
                <a:solidFill>
                  <a:prstClr val="black"/>
                </a:solidFill>
                <a:effectLst/>
                <a:uLnTx/>
                <a:uFillTx/>
                <a:latin typeface="Calibri (body)"/>
                <a:ea typeface="+mn-ea"/>
              </a:rPr>
              <a:t>FVPnL</a:t>
            </a:r>
            <a:r>
              <a:rPr kumimoji="0" lang="fr-FR" sz="1200" b="0" i="0" u="none" strike="noStrike" kern="1200" cap="none" spc="0" normalizeH="0" baseline="0" noProof="0" dirty="0">
                <a:ln>
                  <a:noFill/>
                </a:ln>
                <a:solidFill>
                  <a:prstClr val="black"/>
                </a:solidFill>
                <a:effectLst/>
                <a:uLnTx/>
                <a:uFillTx/>
                <a:latin typeface="Calibri (body)"/>
                <a:ea typeface="+mn-ea"/>
              </a:rPr>
              <a:t>)</a:t>
            </a:r>
          </a:p>
          <a:p>
            <a:pPr marL="781035" marR="0" lvl="1"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frais et commissions reconnus comme de la marge nette d’intérêt</a:t>
            </a:r>
          </a:p>
          <a:p>
            <a:pPr marL="781035" marR="0" lvl="1" indent="-171450" algn="just" defTabSz="121917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200" b="0" i="0" u="none" strike="noStrike" kern="1200" cap="none" spc="0" normalizeH="0" baseline="0" noProof="0" dirty="0">
                <a:ln>
                  <a:noFill/>
                </a:ln>
                <a:solidFill>
                  <a:prstClr val="black"/>
                </a:solidFill>
                <a:effectLst/>
                <a:uLnTx/>
                <a:uFillTx/>
                <a:latin typeface="Calibri (body)"/>
                <a:ea typeface="+mn-ea"/>
              </a:rPr>
              <a:t>Dans le bilan de juin, il est mentionné que les commissions d’octroi de crédit sont intégrées au taux d’intérêt. Elles sont donc dans le périmètre de calcul de la MNI au sens du STEBA</a:t>
            </a:r>
            <a:endParaRPr kumimoji="0" lang="fr-FR" sz="12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a:p>
            <a:pPr marL="0" marR="0" lvl="0" indent="0" algn="just" defTabSz="1219170" eaLnBrk="1" fontAlgn="auto" latinLnBrk="0" hangingPunct="1">
              <a:lnSpc>
                <a:spcPct val="100000"/>
              </a:lnSpc>
              <a:spcBef>
                <a:spcPts val="0"/>
              </a:spcBef>
              <a:spcAft>
                <a:spcPts val="0"/>
              </a:spcAft>
              <a:buClrTx/>
              <a:buSzTx/>
              <a:buFontTx/>
              <a:buNone/>
              <a:tabLst/>
              <a:defRPr/>
            </a:pPr>
            <a:endParaRPr kumimoji="0" lang="fr-FR" sz="1200" b="1" i="0" u="sng"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Traitement des expositions non performantes</a:t>
            </a:r>
            <a:endParaRPr kumimoji="0" lang="fr-FR" sz="1200" b="1"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 ratio d’expositions doit être homogène avec les templates crédit. Des formules Excel assurent la cohérence entre les deux, par pays et types d’actifs. Une table de transcodification (présentée en annexe) est disponible dans la méthodo pour faire le lien granulaire entre les deux.</a:t>
            </a:r>
          </a:p>
          <a:p>
            <a:pPr marL="781035" marR="0" lvl="1"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Il est imposé de considérer une même proportion d’encours douteux sur la partie taux fixe et sur la partie taux révisable. </a:t>
            </a:r>
          </a:p>
          <a:p>
            <a:pPr marL="781035" marR="0" lvl="1"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données du point de départ doivent être cohérentes avec le </a:t>
            </a:r>
            <a:r>
              <a:rPr kumimoji="0" lang="fr-FR" sz="1200" b="0" i="0" u="none" strike="noStrike" kern="1200" cap="none" spc="0" normalizeH="0" baseline="0" noProof="0" dirty="0" err="1">
                <a:ln>
                  <a:noFill/>
                </a:ln>
                <a:solidFill>
                  <a:prstClr val="black"/>
                </a:solidFill>
                <a:effectLst/>
                <a:uLnTx/>
                <a:uFillTx/>
                <a:latin typeface="Calibri (body)"/>
                <a:ea typeface="+mn-ea"/>
              </a:rPr>
              <a:t>Finrep</a:t>
            </a:r>
            <a:r>
              <a:rPr kumimoji="0" lang="fr-FR" sz="1200" b="0" i="0" u="none" strike="noStrike" kern="1200" cap="none" spc="0" normalizeH="0" baseline="0" noProof="0" dirty="0">
                <a:ln>
                  <a:noFill/>
                </a:ln>
                <a:solidFill>
                  <a:prstClr val="black"/>
                </a:solidFill>
                <a:effectLst/>
                <a:uLnTx/>
                <a:uFillTx/>
                <a:latin typeface="Calibri (body)"/>
                <a:ea typeface="+mn-ea"/>
              </a:rPr>
              <a:t> (F02).</a:t>
            </a:r>
          </a:p>
          <a:p>
            <a:pPr marL="609585" marR="0" lvl="1" indent="0" algn="just" defTabSz="121917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solidFill>
              <a:effectLst/>
              <a:uLnTx/>
              <a:uFillTx/>
              <a:latin typeface="Calibri (body)"/>
              <a:ea typeface="+mn-ea"/>
            </a:endParaRPr>
          </a:p>
          <a:p>
            <a:pPr marL="0" marR="0" lvl="0" indent="0" algn="just" defTabSz="121917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prstClr val="black"/>
              </a:solidFill>
              <a:effectLst/>
              <a:uLnTx/>
              <a:uFillTx/>
              <a:latin typeface="Calibri (body)"/>
              <a:ea typeface="+mn-ea"/>
            </a:endParaRPr>
          </a:p>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prstClr val="black"/>
                </a:solidFill>
                <a:effectLst/>
                <a:uLnTx/>
                <a:uFillTx/>
                <a:latin typeface="Calibri (body)"/>
                <a:ea typeface="+mn-ea"/>
              </a:rPr>
              <a:t>Point de départ</a:t>
            </a:r>
            <a:endParaRPr kumimoji="0" lang="fr-FR" sz="1200" b="1" i="0" u="none" strike="noStrike" kern="1200" cap="none" spc="0" normalizeH="0" baseline="0" noProof="0" dirty="0">
              <a:ln>
                <a:noFill/>
              </a:ln>
              <a:solidFill>
                <a:prstClr val="black"/>
              </a:solidFill>
              <a:effectLst/>
              <a:uLnTx/>
              <a:uFillTx/>
              <a:latin typeface="Calibri (body)"/>
              <a:ea typeface="+mn-ea"/>
            </a:endParaRPr>
          </a:p>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données du point de départ regroupent deux parties :</a:t>
            </a: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 stock à fin 2024</a:t>
            </a: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La moyenne des encours sur l’année 2024</a:t>
            </a: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fr-FR" sz="1200" b="0" i="0" u="none" strike="noStrike" kern="1200" cap="none" spc="0" normalizeH="0" baseline="0" noProof="0" dirty="0">
              <a:ln>
                <a:noFill/>
              </a:ln>
              <a:solidFill>
                <a:prstClr val="black"/>
              </a:solidFill>
              <a:effectLst/>
              <a:uLnTx/>
              <a:uFillTx/>
              <a:latin typeface="Calibri (body)"/>
              <a:ea typeface="+mn-ea"/>
            </a:endParaRPr>
          </a:p>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Calibri (body)"/>
                <a:ea typeface="+mn-ea"/>
              </a:rPr>
              <a:t>Ces deux catégories incluent une décomposition du taux en sa composante marge et sa composante taux</a:t>
            </a:r>
          </a:p>
          <a:p>
            <a:pPr marL="0" marR="0" lvl="0" indent="0" algn="just" defTabSz="121917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solidFill>
              <a:effectLst/>
              <a:uLnTx/>
              <a:uFillTx/>
              <a:latin typeface="Calibri (body)"/>
              <a:ea typeface="+mn-ea"/>
            </a:endParaRPr>
          </a:p>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prstClr val="black"/>
                </a:solidFill>
                <a:effectLst/>
                <a:uLnTx/>
                <a:uFillTx/>
                <a:latin typeface="Calibri (body)"/>
                <a:ea typeface="+mn-ea"/>
              </a:rPr>
              <a:t>Bilan constant</a:t>
            </a:r>
            <a:endParaRPr kumimoji="0" lang="fr-FR" sz="1200" b="0" i="0" u="none" strike="noStrike" kern="1200" cap="none" spc="0" normalizeH="0" baseline="0" noProof="0" dirty="0">
              <a:ln>
                <a:noFill/>
              </a:ln>
              <a:solidFill>
                <a:prstClr val="black"/>
              </a:solidFill>
              <a:effectLst/>
              <a:uLnTx/>
              <a:uFillTx/>
              <a:latin typeface="Calibri (body)"/>
              <a:ea typeface="+mn-ea"/>
            </a:endParaRP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De la même manière que pour tous les templates, les calculs doivent être effectuées avec l’hypothèse d’un bilan constant.</a:t>
            </a: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Cela signifie que tout encours qui mature pendant l’horizon de projection sera remplacé par des encours de même nature (Maturité originelle, contrepartie, nominal, devise, …) aux paramètres de choc près.</a:t>
            </a:r>
            <a:endParaRPr kumimoji="0" lang="fr-FR" sz="12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p:txBody>
      </p:sp>
      <p:sp>
        <p:nvSpPr>
          <p:cNvPr id="140" name="Rectangle 139">
            <a:extLst>
              <a:ext uri="{FF2B5EF4-FFF2-40B4-BE49-F238E27FC236}">
                <a16:creationId xmlns:a16="http://schemas.microsoft.com/office/drawing/2014/main" id="{500C57BC-8DAE-38D7-55B5-CC0BA47855E8}"/>
              </a:ext>
            </a:extLst>
          </p:cNvPr>
          <p:cNvSpPr/>
          <p:nvPr/>
        </p:nvSpPr>
        <p:spPr>
          <a:xfrm>
            <a:off x="257441" y="1269112"/>
            <a:ext cx="11563109" cy="4893647"/>
          </a:xfrm>
          <a:prstGeom prst="rect">
            <a:avLst/>
          </a:prstGeom>
          <a:no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800" b="0" i="0" u="none" strike="noStrike" kern="1200" cap="none" spc="0" normalizeH="0" baseline="0" noProof="0">
              <a:ln>
                <a:noFill/>
              </a:ln>
              <a:solidFill>
                <a:srgbClr val="FFFFFF"/>
              </a:solidFill>
              <a:effectLst/>
              <a:uLnTx/>
              <a:uFillTx/>
              <a:latin typeface="Calibri (body)"/>
              <a:ea typeface="+mn-ea"/>
              <a:cs typeface="+mn-cs"/>
            </a:endParaRPr>
          </a:p>
        </p:txBody>
      </p:sp>
      <p:sp>
        <p:nvSpPr>
          <p:cNvPr id="141" name="Espace réservé du texte 16">
            <a:extLst>
              <a:ext uri="{FF2B5EF4-FFF2-40B4-BE49-F238E27FC236}">
                <a16:creationId xmlns:a16="http://schemas.microsoft.com/office/drawing/2014/main" id="{E05A3605-2D0E-0117-E9A8-B88BB6B80FBE}"/>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Tree>
    <p:extLst>
      <p:ext uri="{BB962C8B-B14F-4D97-AF65-F5344CB8AC3E}">
        <p14:creationId xmlns:p14="http://schemas.microsoft.com/office/powerpoint/2010/main" val="372939399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9625" y="5970245"/>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Présentation des templates</a:t>
            </a:r>
          </a:p>
          <a:p>
            <a:r>
              <a:rPr lang="fr-FR" sz="2000" dirty="0"/>
              <a:t>a- Templates réglementaires  STEBA</a:t>
            </a:r>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62</a:t>
            </a:fld>
            <a:endParaRPr lang="fr-FR" sz="1050" kern="1200" dirty="0">
              <a:solidFill>
                <a:srgbClr val="003565"/>
              </a:solidFill>
              <a:latin typeface="Calibri (body)"/>
              <a:ea typeface="+mn-ea"/>
              <a:cs typeface="+mn-cs"/>
            </a:endParaRPr>
          </a:p>
        </p:txBody>
      </p:sp>
      <p:sp>
        <p:nvSpPr>
          <p:cNvPr id="116" name="Text Placeholder 1">
            <a:extLst>
              <a:ext uri="{FF2B5EF4-FFF2-40B4-BE49-F238E27FC236}">
                <a16:creationId xmlns:a16="http://schemas.microsoft.com/office/drawing/2014/main" id="{846B73BB-768D-3AB9-5FDE-7100E0679529}"/>
              </a:ext>
            </a:extLst>
          </p:cNvPr>
          <p:cNvSpPr txBox="1">
            <a:spLocks/>
          </p:cNvSpPr>
          <p:nvPr/>
        </p:nvSpPr>
        <p:spPr bwMode="gray">
          <a:xfrm>
            <a:off x="301131" y="1573633"/>
            <a:ext cx="3600000" cy="4536503"/>
          </a:xfrm>
          <a:prstGeom prst="rect">
            <a:avLst/>
          </a:prstGeom>
          <a:solidFill>
            <a:schemeClr val="tx2">
              <a:lumMod val="20000"/>
              <a:lumOff val="80000"/>
            </a:schemeClr>
          </a:solidFill>
          <a:ln>
            <a:solidFill>
              <a:srgbClr val="003565"/>
            </a:solidFill>
          </a:ln>
        </p:spPr>
        <p:txBody>
          <a:bodyPr vert="horz" lIns="252000" tIns="720000" rIns="14400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1800" kern="1200">
                <a:solidFill>
                  <a:schemeClr val="bg1"/>
                </a:solidFill>
                <a:latin typeface="+mn-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85750" marR="0" lvl="0" indent="-285750" algn="l" defTabSz="1219170" rtl="0" eaLnBrk="1" fontAlgn="auto" latinLnBrk="0" hangingPunct="1">
              <a:lnSpc>
                <a:spcPct val="100000"/>
              </a:lnSpc>
              <a:spcBef>
                <a:spcPts val="0"/>
              </a:spcBef>
              <a:spcAft>
                <a:spcPts val="0"/>
              </a:spcAft>
              <a:buClrTx/>
              <a:buSzTx/>
              <a:buFontTx/>
              <a:buChar char="-"/>
              <a:tabLst/>
              <a:defRPr/>
            </a:pPr>
            <a:r>
              <a:rPr kumimoji="0" lang="fr-FR" sz="1400" b="0" i="0" u="none" strike="noStrike" kern="1200" cap="none" spc="0" normalizeH="0" baseline="0" noProof="0" dirty="0">
                <a:ln>
                  <a:noFill/>
                </a:ln>
                <a:solidFill>
                  <a:sysClr val="windowText" lastClr="000000"/>
                </a:solidFill>
                <a:effectLst/>
                <a:uLnTx/>
                <a:uFillTx/>
                <a:latin typeface="Calibri (body)"/>
              </a:rPr>
              <a:t>Reprend de façon synthétique les résultats du stress test sur la MNI.</a:t>
            </a:r>
          </a:p>
          <a:p>
            <a:pPr marL="285750" marR="0" lvl="0" indent="-285750" algn="l" defTabSz="1219170" rtl="0" eaLnBrk="1" fontAlgn="auto" latinLnBrk="0" hangingPunct="1">
              <a:lnSpc>
                <a:spcPct val="100000"/>
              </a:lnSpc>
              <a:spcBef>
                <a:spcPts val="0"/>
              </a:spcBef>
              <a:spcAft>
                <a:spcPts val="0"/>
              </a:spcAft>
              <a:buClrTx/>
              <a:buSzTx/>
              <a:buFontTx/>
              <a:buChar char="-"/>
              <a:tabLst/>
              <a:defRPr/>
            </a:pPr>
            <a:endParaRPr kumimoji="0" lang="fr-FR" sz="1400" b="0" i="0" u="none" strike="noStrike" kern="1200" cap="none" spc="0" normalizeH="0" baseline="0" noProof="0" dirty="0">
              <a:ln>
                <a:noFill/>
              </a:ln>
              <a:solidFill>
                <a:sysClr val="windowText" lastClr="000000"/>
              </a:solidFill>
              <a:effectLst/>
              <a:uLnTx/>
              <a:uFillTx/>
              <a:latin typeface="Calibri (body)"/>
            </a:endParaRPr>
          </a:p>
          <a:p>
            <a:pPr marL="285750" marR="0" lvl="0" indent="-285750" algn="l" defTabSz="1219170" rtl="0" eaLnBrk="1" fontAlgn="auto" latinLnBrk="0" hangingPunct="1">
              <a:lnSpc>
                <a:spcPct val="100000"/>
              </a:lnSpc>
              <a:spcBef>
                <a:spcPts val="0"/>
              </a:spcBef>
              <a:spcAft>
                <a:spcPts val="0"/>
              </a:spcAft>
              <a:buClrTx/>
              <a:buSzTx/>
              <a:buFontTx/>
              <a:buChar char="-"/>
              <a:tabLst/>
              <a:defRPr/>
            </a:pPr>
            <a:r>
              <a:rPr kumimoji="0" lang="fr-FR" sz="1400" b="0" i="0" u="none" strike="noStrike" kern="1200" cap="none" spc="0" normalizeH="0" baseline="0" noProof="0" dirty="0">
                <a:ln>
                  <a:noFill/>
                </a:ln>
                <a:solidFill>
                  <a:sysClr val="windowText" lastClr="000000"/>
                </a:solidFill>
                <a:effectLst/>
                <a:uLnTx/>
                <a:uFillTx/>
                <a:latin typeface="Calibri (body)"/>
              </a:rPr>
              <a:t>Les données à remplir concernent :</a:t>
            </a:r>
          </a:p>
          <a:p>
            <a:pPr marL="0" marR="0" lvl="0" indent="0" algn="l"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endParaRPr kumimoji="0" lang="fr-FR" sz="1400" b="0" i="0" u="none" strike="noStrike" kern="1200" cap="none" spc="0" normalizeH="0" baseline="0" noProof="0" dirty="0">
              <a:ln>
                <a:noFill/>
              </a:ln>
              <a:solidFill>
                <a:sysClr val="windowText" lastClr="000000"/>
              </a:solidFill>
              <a:effectLst/>
              <a:uLnTx/>
              <a:uFillTx/>
              <a:latin typeface="Calibri (body)"/>
            </a:endParaRPr>
          </a:p>
          <a:p>
            <a:pPr marL="587375" marR="0" lvl="1" indent="-228600" algn="l" defTabSz="1219170" rtl="0" eaLnBrk="1" fontAlgn="auto" latinLnBrk="0" hangingPunct="1">
              <a:lnSpc>
                <a:spcPct val="100000"/>
              </a:lnSpc>
              <a:spcBef>
                <a:spcPts val="0"/>
              </a:spcBef>
              <a:spcAft>
                <a:spcPts val="1200"/>
              </a:spcAft>
              <a:buClrTx/>
              <a:buSzTx/>
              <a:buFont typeface="Quicksand" panose="00000500000000000000" pitchFamily="2" charset="0"/>
              <a:buAutoNum type="arabicPeriod"/>
              <a:tabLst/>
              <a:defRPr/>
            </a:pPr>
            <a:r>
              <a:rPr kumimoji="0" lang="fr-FR" sz="1200" b="0" i="0" u="none" strike="noStrike" kern="1200" cap="none" spc="0" normalizeH="0" baseline="0" noProof="0" dirty="0">
                <a:ln>
                  <a:noFill/>
                </a:ln>
                <a:solidFill>
                  <a:sysClr val="windowText" lastClr="000000"/>
                </a:solidFill>
                <a:effectLst/>
                <a:uLnTx/>
                <a:uFillTx/>
                <a:latin typeface="Calibri (body)"/>
              </a:rPr>
              <a:t>Le point de départ à fin 2024 sur le compte de résultat</a:t>
            </a:r>
          </a:p>
          <a:p>
            <a:pPr marL="587375" marR="0" lvl="1" indent="-228600" algn="l" defTabSz="1219170" rtl="0" eaLnBrk="1" fontAlgn="auto" latinLnBrk="0" hangingPunct="1">
              <a:lnSpc>
                <a:spcPct val="100000"/>
              </a:lnSpc>
              <a:spcBef>
                <a:spcPts val="0"/>
              </a:spcBef>
              <a:spcAft>
                <a:spcPts val="1200"/>
              </a:spcAft>
              <a:buClrTx/>
              <a:buSzTx/>
              <a:buFont typeface="Quicksand" panose="00000500000000000000" pitchFamily="2" charset="0"/>
              <a:buAutoNum type="arabicPeriod"/>
              <a:tabLst/>
              <a:defRPr/>
            </a:pPr>
            <a:r>
              <a:rPr kumimoji="0" lang="fr-FR" sz="1200" b="0" i="0" u="none" strike="noStrike" kern="1200" cap="none" spc="0" normalizeH="0" baseline="0" noProof="0" dirty="0">
                <a:ln>
                  <a:noFill/>
                </a:ln>
                <a:solidFill>
                  <a:sysClr val="windowText" lastClr="000000"/>
                </a:solidFill>
                <a:effectLst/>
                <a:uLnTx/>
                <a:uFillTx/>
                <a:latin typeface="Calibri (body)"/>
              </a:rPr>
              <a:t>Le niveau de stress idiosyncratique, la notation et le caractère domestique de la banque</a:t>
            </a:r>
          </a:p>
          <a:p>
            <a:pPr marL="587375" marR="0" lvl="1" indent="-228600" algn="l" defTabSz="1219170" rtl="0" eaLnBrk="1" fontAlgn="auto" latinLnBrk="0" hangingPunct="1">
              <a:lnSpc>
                <a:spcPct val="100000"/>
              </a:lnSpc>
              <a:spcBef>
                <a:spcPts val="0"/>
              </a:spcBef>
              <a:spcAft>
                <a:spcPts val="1200"/>
              </a:spcAft>
              <a:buClrTx/>
              <a:buSzTx/>
              <a:buFont typeface="Quicksand" panose="00000500000000000000" pitchFamily="2" charset="0"/>
              <a:buAutoNum type="arabicPeriod"/>
              <a:tabLst/>
              <a:defRPr/>
            </a:pPr>
            <a:r>
              <a:rPr kumimoji="0" lang="fr-FR" sz="1200" b="0" i="0" u="none" strike="noStrike" kern="1200" cap="none" spc="0" normalizeH="0" baseline="0" noProof="0" dirty="0">
                <a:ln>
                  <a:noFill/>
                </a:ln>
                <a:solidFill>
                  <a:sysClr val="windowText" lastClr="000000"/>
                </a:solidFill>
                <a:effectLst/>
                <a:uLnTx/>
                <a:uFillTx/>
                <a:latin typeface="Calibri (body)"/>
              </a:rPr>
              <a:t>Un récapitulatif de l’encours de dépôts réglementés</a:t>
            </a:r>
          </a:p>
          <a:p>
            <a:pPr marL="587375" marR="0" lvl="1" indent="-228600" algn="l" defTabSz="1219170" rtl="0" eaLnBrk="1" fontAlgn="auto" latinLnBrk="0" hangingPunct="1">
              <a:lnSpc>
                <a:spcPct val="100000"/>
              </a:lnSpc>
              <a:spcBef>
                <a:spcPts val="0"/>
              </a:spcBef>
              <a:spcAft>
                <a:spcPts val="1200"/>
              </a:spcAft>
              <a:buClrTx/>
              <a:buSzTx/>
              <a:buFont typeface="Quicksand" panose="00000500000000000000" pitchFamily="2" charset="0"/>
              <a:buAutoNum type="arabicPeriod"/>
              <a:tabLst/>
              <a:defRPr/>
            </a:pPr>
            <a:r>
              <a:rPr kumimoji="0" lang="fr-FR" sz="1200" b="0" i="0" u="none" strike="noStrike" kern="1200" cap="none" spc="0" normalizeH="0" baseline="0" noProof="0" dirty="0">
                <a:ln>
                  <a:noFill/>
                </a:ln>
                <a:solidFill>
                  <a:sysClr val="windowText" lastClr="000000"/>
                </a:solidFill>
                <a:effectLst/>
                <a:uLnTx/>
                <a:uFillTx/>
                <a:latin typeface="Calibri (body)"/>
              </a:rPr>
              <a:t>Le détail (taux, marge des encours centralisés à la CDC sur les livrets réglementés</a:t>
            </a:r>
            <a:endParaRPr kumimoji="0" lang="fr-FR" sz="1800" b="0" i="0" u="none" strike="noStrike" kern="1200" cap="none" spc="0" normalizeH="0" baseline="0" noProof="0" dirty="0">
              <a:ln>
                <a:noFill/>
              </a:ln>
              <a:solidFill>
                <a:sysClr val="windowText" lastClr="000000"/>
              </a:solidFill>
              <a:effectLst/>
              <a:uLnTx/>
              <a:uFillTx/>
              <a:latin typeface="Calibri (body)"/>
            </a:endParaRPr>
          </a:p>
        </p:txBody>
      </p:sp>
      <p:sp>
        <p:nvSpPr>
          <p:cNvPr id="117" name="Text Placeholder 2">
            <a:extLst>
              <a:ext uri="{FF2B5EF4-FFF2-40B4-BE49-F238E27FC236}">
                <a16:creationId xmlns:a16="http://schemas.microsoft.com/office/drawing/2014/main" id="{626DFD56-4ED1-D89A-E91B-CC09F3DEADC8}"/>
              </a:ext>
            </a:extLst>
          </p:cNvPr>
          <p:cNvSpPr txBox="1">
            <a:spLocks/>
          </p:cNvSpPr>
          <p:nvPr/>
        </p:nvSpPr>
        <p:spPr bwMode="gray">
          <a:xfrm>
            <a:off x="1418011" y="1725661"/>
            <a:ext cx="1434044" cy="432048"/>
          </a:xfrm>
          <a:prstGeom prst="rect">
            <a:avLst/>
          </a:prstGeom>
        </p:spPr>
        <p:txBody>
          <a:bodyPr vert="horz" lIns="0" tIns="0" rIns="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2000" kern="1200">
                <a:solidFill>
                  <a:schemeClr val="bg1"/>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r>
              <a:rPr kumimoji="0" lang="en-GB" sz="1800" b="1" i="0" u="none" strike="noStrike" kern="1200" cap="none" spc="0" normalizeH="0" baseline="0" noProof="0" dirty="0">
                <a:ln>
                  <a:noFill/>
                </a:ln>
                <a:solidFill>
                  <a:sysClr val="windowText" lastClr="000000"/>
                </a:solidFill>
                <a:effectLst/>
                <a:uLnTx/>
                <a:uFillTx/>
                <a:latin typeface="Calibri (body)"/>
              </a:rPr>
              <a:t>NII_SUM</a:t>
            </a:r>
          </a:p>
        </p:txBody>
      </p:sp>
      <p:sp>
        <p:nvSpPr>
          <p:cNvPr id="118" name="Text Placeholder 3">
            <a:extLst>
              <a:ext uri="{FF2B5EF4-FFF2-40B4-BE49-F238E27FC236}">
                <a16:creationId xmlns:a16="http://schemas.microsoft.com/office/drawing/2014/main" id="{3C7099C3-DEC4-6346-A9E4-F9E4F89081AC}"/>
              </a:ext>
            </a:extLst>
          </p:cNvPr>
          <p:cNvSpPr txBox="1">
            <a:spLocks/>
          </p:cNvSpPr>
          <p:nvPr/>
        </p:nvSpPr>
        <p:spPr bwMode="gray">
          <a:xfrm>
            <a:off x="4291732" y="1573631"/>
            <a:ext cx="3600000" cy="4536503"/>
          </a:xfrm>
          <a:prstGeom prst="rect">
            <a:avLst/>
          </a:prstGeom>
          <a:solidFill>
            <a:schemeClr val="tx2">
              <a:lumMod val="20000"/>
              <a:lumOff val="80000"/>
            </a:schemeClr>
          </a:solidFill>
          <a:ln>
            <a:solidFill>
              <a:srgbClr val="003565"/>
            </a:solidFill>
          </a:ln>
        </p:spPr>
        <p:txBody>
          <a:bodyPr vert="horz" lIns="252000" tIns="720000" rIns="14400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1800" kern="1200">
                <a:solidFill>
                  <a:schemeClr val="bg1"/>
                </a:solidFill>
                <a:latin typeface="+mn-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85750" marR="0" lvl="0" indent="-285750" algn="l" defTabSz="1219170" rtl="0" eaLnBrk="1" fontAlgn="auto" latinLnBrk="0" hangingPunct="1">
              <a:lnSpc>
                <a:spcPct val="100000"/>
              </a:lnSpc>
              <a:spcBef>
                <a:spcPts val="0"/>
              </a:spcBef>
              <a:spcAft>
                <a:spcPts val="0"/>
              </a:spcAft>
              <a:buClrTx/>
              <a:buSzTx/>
              <a:buFontTx/>
              <a:buChar char="-"/>
              <a:tabLst/>
              <a:defRPr/>
            </a:pPr>
            <a:r>
              <a:rPr kumimoji="0" lang="fr-FR" sz="1400" b="0" i="0" u="none" strike="noStrike" kern="1200" cap="none" spc="0" normalizeH="0" baseline="0" noProof="0">
                <a:ln>
                  <a:noFill/>
                </a:ln>
                <a:solidFill>
                  <a:sysClr val="windowText" lastClr="000000"/>
                </a:solidFill>
                <a:effectLst/>
                <a:uLnTx/>
                <a:uFillTx/>
                <a:latin typeface="Calibri (body)"/>
              </a:rPr>
              <a:t>Détail de la MNI par :</a:t>
            </a:r>
          </a:p>
          <a:p>
            <a:pPr marL="0" marR="0" lvl="0" indent="0" algn="l"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endParaRPr kumimoji="0" lang="fr-FR" sz="1400" b="0" i="0" u="none" strike="noStrike" kern="1200" cap="none" spc="0" normalizeH="0" baseline="0" noProof="0">
              <a:ln>
                <a:noFill/>
              </a:ln>
              <a:solidFill>
                <a:sysClr val="windowText" lastClr="000000"/>
              </a:solidFill>
              <a:effectLst/>
              <a:uLnTx/>
              <a:uFillTx/>
              <a:latin typeface="Calibri (body)"/>
            </a:endParaRP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Poste du bilan</a:t>
            </a: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Fixe/Révisable</a:t>
            </a: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Performant/douteux</a:t>
            </a: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Stock/projection (baseline et adverse)</a:t>
            </a: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Maturité résiduelle</a:t>
            </a: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Maturité d’origine</a:t>
            </a:r>
          </a:p>
          <a:p>
            <a:pPr marL="0" marR="0" lvl="1" indent="0" algn="l" defTabSz="1219170" rtl="0" eaLnBrk="1" fontAlgn="auto" latinLnBrk="0" hangingPunct="1">
              <a:lnSpc>
                <a:spcPct val="100000"/>
              </a:lnSpc>
              <a:spcBef>
                <a:spcPts val="0"/>
              </a:spcBef>
              <a:spcAft>
                <a:spcPts val="1200"/>
              </a:spcAft>
              <a:buClrTx/>
              <a:buSzTx/>
              <a:buFont typeface="Quicksand" panose="00000500000000000000" pitchFamily="2" charset="0"/>
              <a:buNone/>
              <a:tabLst/>
              <a:defRPr/>
            </a:pPr>
            <a:endParaRPr kumimoji="0" lang="fr-FR" sz="1400" b="0" i="0" u="none" strike="noStrike" kern="1200" cap="none" spc="0" normalizeH="0" baseline="0" noProof="0" dirty="0">
              <a:ln>
                <a:noFill/>
              </a:ln>
              <a:solidFill>
                <a:sysClr val="windowText" lastClr="000000"/>
              </a:solidFill>
              <a:effectLst/>
              <a:uLnTx/>
              <a:uFillTx/>
              <a:latin typeface="Calibri (body)"/>
            </a:endParaRPr>
          </a:p>
        </p:txBody>
      </p:sp>
      <p:sp>
        <p:nvSpPr>
          <p:cNvPr id="119" name="Text Placeholder 4">
            <a:extLst>
              <a:ext uri="{FF2B5EF4-FFF2-40B4-BE49-F238E27FC236}">
                <a16:creationId xmlns:a16="http://schemas.microsoft.com/office/drawing/2014/main" id="{4A30C411-1F92-2594-6A5E-374E03653067}"/>
              </a:ext>
            </a:extLst>
          </p:cNvPr>
          <p:cNvSpPr txBox="1">
            <a:spLocks/>
          </p:cNvSpPr>
          <p:nvPr/>
        </p:nvSpPr>
        <p:spPr bwMode="gray">
          <a:xfrm>
            <a:off x="5372036" y="1710863"/>
            <a:ext cx="1470618" cy="432048"/>
          </a:xfrm>
          <a:prstGeom prst="rect">
            <a:avLst/>
          </a:prstGeom>
        </p:spPr>
        <p:txBody>
          <a:bodyPr vert="horz" lIns="0" tIns="0" rIns="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2000" kern="1200">
                <a:solidFill>
                  <a:schemeClr val="bg1"/>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r>
              <a:rPr kumimoji="0" lang="en-GB" sz="1800" b="1" i="0" u="none" strike="noStrike" kern="1200" cap="none" spc="0" normalizeH="0" baseline="0" noProof="0">
                <a:ln>
                  <a:noFill/>
                </a:ln>
                <a:solidFill>
                  <a:sysClr val="windowText" lastClr="000000"/>
                </a:solidFill>
                <a:effectLst/>
                <a:uLnTx/>
                <a:uFillTx/>
                <a:latin typeface="Calibri (body)"/>
              </a:rPr>
              <a:t>NII_CALC</a:t>
            </a:r>
            <a:endParaRPr kumimoji="0" lang="en-GB" sz="1800" b="1" i="0" u="none" strike="noStrike" kern="1200" cap="none" spc="0" normalizeH="0" baseline="0" noProof="0" dirty="0">
              <a:ln>
                <a:noFill/>
              </a:ln>
              <a:solidFill>
                <a:sysClr val="windowText" lastClr="000000"/>
              </a:solidFill>
              <a:effectLst/>
              <a:uLnTx/>
              <a:uFillTx/>
              <a:latin typeface="Calibri (body)"/>
            </a:endParaRPr>
          </a:p>
        </p:txBody>
      </p:sp>
      <p:sp>
        <p:nvSpPr>
          <p:cNvPr id="120" name="Text Placeholder 5">
            <a:extLst>
              <a:ext uri="{FF2B5EF4-FFF2-40B4-BE49-F238E27FC236}">
                <a16:creationId xmlns:a16="http://schemas.microsoft.com/office/drawing/2014/main" id="{FC39216B-ABEB-FCD5-FCD7-19BBE61B8ADC}"/>
              </a:ext>
            </a:extLst>
          </p:cNvPr>
          <p:cNvSpPr txBox="1">
            <a:spLocks/>
          </p:cNvSpPr>
          <p:nvPr/>
        </p:nvSpPr>
        <p:spPr bwMode="gray">
          <a:xfrm>
            <a:off x="8282333" y="1575909"/>
            <a:ext cx="3600000" cy="4536503"/>
          </a:xfrm>
          <a:prstGeom prst="rect">
            <a:avLst/>
          </a:prstGeom>
          <a:solidFill>
            <a:schemeClr val="tx2">
              <a:lumMod val="20000"/>
              <a:lumOff val="80000"/>
            </a:schemeClr>
          </a:solidFill>
          <a:ln>
            <a:solidFill>
              <a:srgbClr val="003565"/>
            </a:solidFill>
          </a:ln>
        </p:spPr>
        <p:txBody>
          <a:bodyPr vert="horz" lIns="252000" tIns="720000" rIns="14400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1800" kern="1200">
                <a:solidFill>
                  <a:schemeClr val="bg1"/>
                </a:solidFill>
                <a:latin typeface="+mn-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85750" marR="0" lvl="0" indent="-285750" algn="l" defTabSz="1219170" rtl="0" eaLnBrk="1" fontAlgn="auto" latinLnBrk="0" hangingPunct="1">
              <a:lnSpc>
                <a:spcPct val="100000"/>
              </a:lnSpc>
              <a:spcBef>
                <a:spcPts val="0"/>
              </a:spcBef>
              <a:spcAft>
                <a:spcPts val="0"/>
              </a:spcAft>
              <a:buClrTx/>
              <a:buSzTx/>
              <a:buFontTx/>
              <a:buChar char="-"/>
              <a:tabLst/>
              <a:defRPr/>
            </a:pPr>
            <a:r>
              <a:rPr kumimoji="0" lang="fr-FR" sz="1400" b="0" i="0" u="none" strike="noStrike" kern="1200" cap="none" spc="0" normalizeH="0" baseline="0" noProof="0">
                <a:ln>
                  <a:noFill/>
                </a:ln>
                <a:solidFill>
                  <a:sysClr val="windowText" lastClr="000000"/>
                </a:solidFill>
                <a:effectLst/>
                <a:uLnTx/>
                <a:uFillTx/>
                <a:latin typeface="Calibri (body)"/>
              </a:rPr>
              <a:t>Pass-through rate des dépôts centralisés à la CDC, avec la même granularité que l’onglet NII_CALC</a:t>
            </a:r>
            <a:endParaRPr kumimoji="0" lang="fr-FR" sz="1400" b="0" i="0" u="none" strike="noStrike" kern="1200" cap="none" spc="0" normalizeH="0" baseline="0" noProof="0" dirty="0">
              <a:ln>
                <a:noFill/>
              </a:ln>
              <a:solidFill>
                <a:sysClr val="windowText" lastClr="000000"/>
              </a:solidFill>
              <a:effectLst/>
              <a:uLnTx/>
              <a:uFillTx/>
              <a:latin typeface="Calibri (body)"/>
            </a:endParaRPr>
          </a:p>
        </p:txBody>
      </p:sp>
      <p:sp>
        <p:nvSpPr>
          <p:cNvPr id="121" name="Text Placeholder 6">
            <a:extLst>
              <a:ext uri="{FF2B5EF4-FFF2-40B4-BE49-F238E27FC236}">
                <a16:creationId xmlns:a16="http://schemas.microsoft.com/office/drawing/2014/main" id="{316E48B6-FB9F-4368-950F-6387896F9F50}"/>
              </a:ext>
            </a:extLst>
          </p:cNvPr>
          <p:cNvSpPr txBox="1">
            <a:spLocks/>
          </p:cNvSpPr>
          <p:nvPr/>
        </p:nvSpPr>
        <p:spPr bwMode="gray">
          <a:xfrm>
            <a:off x="8461030" y="1710863"/>
            <a:ext cx="3242605" cy="432048"/>
          </a:xfrm>
          <a:prstGeom prst="rect">
            <a:avLst/>
          </a:prstGeom>
        </p:spPr>
        <p:txBody>
          <a:bodyPr vert="horz" lIns="0" tIns="0" rIns="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2000" kern="1200">
                <a:solidFill>
                  <a:schemeClr val="bg1"/>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r>
              <a:rPr kumimoji="0" lang="fr-FR" sz="1800" b="1" i="0" u="none" strike="noStrike" kern="1200" cap="none" spc="0" normalizeH="0" baseline="0" noProof="0">
                <a:ln>
                  <a:noFill/>
                </a:ln>
                <a:solidFill>
                  <a:sysClr val="windowText" lastClr="000000"/>
                </a:solidFill>
                <a:effectLst/>
                <a:uLnTx/>
                <a:uFillTx/>
                <a:latin typeface="Calibri (body)"/>
              </a:rPr>
              <a:t>NII_CALC_FUNDING_MATCH</a:t>
            </a:r>
            <a:endParaRPr kumimoji="0" lang="fr-FR" sz="1800" b="1" i="0" u="none" strike="noStrike" kern="1200" cap="none" spc="0" normalizeH="0" baseline="0" noProof="0" dirty="0">
              <a:ln>
                <a:noFill/>
              </a:ln>
              <a:solidFill>
                <a:sysClr val="windowText" lastClr="000000"/>
              </a:solidFill>
              <a:effectLst/>
              <a:uLnTx/>
              <a:uFillTx/>
              <a:latin typeface="Calibri (body)"/>
            </a:endParaRPr>
          </a:p>
        </p:txBody>
      </p:sp>
      <p:sp>
        <p:nvSpPr>
          <p:cNvPr id="122" name="Text Placeholder 11">
            <a:extLst>
              <a:ext uri="{FF2B5EF4-FFF2-40B4-BE49-F238E27FC236}">
                <a16:creationId xmlns:a16="http://schemas.microsoft.com/office/drawing/2014/main" id="{EF98969B-DEC0-092C-E9D6-44775A219FE0}"/>
              </a:ext>
            </a:extLst>
          </p:cNvPr>
          <p:cNvSpPr txBox="1">
            <a:spLocks/>
          </p:cNvSpPr>
          <p:nvPr/>
        </p:nvSpPr>
        <p:spPr bwMode="gray">
          <a:xfrm>
            <a:off x="845518" y="2179034"/>
            <a:ext cx="2268000" cy="0"/>
          </a:xfrm>
          <a:prstGeom prst="rect">
            <a:avLst/>
          </a:prstGeom>
          <a:solidFill>
            <a:srgbClr val="003565"/>
          </a:solidFill>
          <a:ln w="12700">
            <a:solidFill>
              <a:srgbClr val="003565"/>
            </a:solidFill>
          </a:ln>
        </p:spPr>
        <p:txBody>
          <a:bodyPr vert="horz" lIns="0" tIns="0" rIns="0" bIns="0" rtlCol="0" anchor="t" anchorCtr="0">
            <a:normAutofit fontScale="25000" lnSpcReduction="20000"/>
          </a:bodyPr>
          <a:lstStyle>
            <a:lvl1pPr marL="0" indent="0" algn="ctr" defTabSz="1219170" rtl="0" eaLnBrk="1" latinLnBrk="0" hangingPunct="1">
              <a:lnSpc>
                <a:spcPct val="100000"/>
              </a:lnSpc>
              <a:spcBef>
                <a:spcPts val="0"/>
              </a:spcBef>
              <a:spcAft>
                <a:spcPts val="0"/>
              </a:spcAft>
              <a:buFont typeface="Quicksand" panose="00000500000000000000" pitchFamily="2" charset="0"/>
              <a:buNone/>
              <a:defRPr sz="100" kern="1200">
                <a:solidFill>
                  <a:schemeClr val="bg1">
                    <a:alpha val="0"/>
                  </a:schemeClr>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ctr"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endParaRPr kumimoji="0" lang="en-GB" sz="100" b="0" i="0" u="none" strike="noStrike" kern="1200" cap="none" spc="0" normalizeH="0" baseline="0" noProof="0">
              <a:ln>
                <a:noFill/>
              </a:ln>
              <a:solidFill>
                <a:srgbClr val="FFFFFF">
                  <a:alpha val="0"/>
                </a:srgbClr>
              </a:solidFill>
              <a:effectLst/>
              <a:uLnTx/>
              <a:uFillTx/>
              <a:latin typeface="Calibri (body)"/>
            </a:endParaRPr>
          </a:p>
        </p:txBody>
      </p:sp>
      <p:sp>
        <p:nvSpPr>
          <p:cNvPr id="123" name="Rectangle 122">
            <a:extLst>
              <a:ext uri="{FF2B5EF4-FFF2-40B4-BE49-F238E27FC236}">
                <a16:creationId xmlns:a16="http://schemas.microsoft.com/office/drawing/2014/main" id="{50E668B1-829C-C9E3-892F-2BDEC02E7BF8}"/>
              </a:ext>
            </a:extLst>
          </p:cNvPr>
          <p:cNvSpPr/>
          <p:nvPr/>
        </p:nvSpPr>
        <p:spPr>
          <a:xfrm>
            <a:off x="216470" y="1002290"/>
            <a:ext cx="11759059" cy="5590573"/>
          </a:xfrm>
          <a:prstGeom prst="rect">
            <a:avLst/>
          </a:prstGeom>
          <a:no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Calibri (body)"/>
              <a:ea typeface="+mn-ea"/>
              <a:cs typeface="+mn-cs"/>
            </a:endParaRPr>
          </a:p>
        </p:txBody>
      </p:sp>
      <p:sp>
        <p:nvSpPr>
          <p:cNvPr id="124" name="TextBox 123">
            <a:extLst>
              <a:ext uri="{FF2B5EF4-FFF2-40B4-BE49-F238E27FC236}">
                <a16:creationId xmlns:a16="http://schemas.microsoft.com/office/drawing/2014/main" id="{1513F7C0-F38D-C6C7-B357-867FCE8F8CFA}"/>
              </a:ext>
            </a:extLst>
          </p:cNvPr>
          <p:cNvSpPr txBox="1"/>
          <p:nvPr/>
        </p:nvSpPr>
        <p:spPr>
          <a:xfrm>
            <a:off x="355733" y="1151055"/>
            <a:ext cx="11347904" cy="215444"/>
          </a:xfrm>
          <a:prstGeom prst="rect">
            <a:avLst/>
          </a:prstGeom>
          <a:noFill/>
        </p:spPr>
        <p:txBody>
          <a:bodyPr wrap="square" lIns="0" tIns="0" rIns="0" bIns="0" rtlCol="0">
            <a:spAutoFit/>
          </a:bodyPr>
          <a:lstStyle/>
          <a:p>
            <a:pPr marL="0" marR="0" lvl="0" indent="0" defTabSz="1219170" eaLnBrk="1" fontAlgn="auto" latinLnBrk="0" hangingPunct="1">
              <a:lnSpc>
                <a:spcPct val="100000"/>
              </a:lnSpc>
              <a:spcBef>
                <a:spcPts val="0"/>
              </a:spcBef>
              <a:spcAft>
                <a:spcPts val="0"/>
              </a:spcAft>
              <a:buClrTx/>
              <a:buSzTx/>
              <a:buFontTx/>
              <a:buNone/>
              <a:tabLst/>
              <a:defRPr/>
            </a:pPr>
            <a:r>
              <a:rPr kumimoji="0" lang="fr-FR" b="1" i="0" u="none" strike="noStrike" kern="1200" cap="none" spc="0" normalizeH="0" baseline="0" noProof="0" dirty="0">
                <a:ln>
                  <a:noFill/>
                </a:ln>
                <a:solidFill>
                  <a:prstClr val="black"/>
                </a:solidFill>
                <a:effectLst/>
                <a:uLnTx/>
                <a:uFillTx/>
                <a:latin typeface="Calibri (body)"/>
                <a:ea typeface="+mn-ea"/>
              </a:rPr>
              <a:t>Les onglets liés à la marge nette d’intérêt dans les stress tests EBA sont les trois suivants :</a:t>
            </a:r>
          </a:p>
        </p:txBody>
      </p:sp>
      <p:sp>
        <p:nvSpPr>
          <p:cNvPr id="125" name="Text Placeholder 11">
            <a:extLst>
              <a:ext uri="{FF2B5EF4-FFF2-40B4-BE49-F238E27FC236}">
                <a16:creationId xmlns:a16="http://schemas.microsoft.com/office/drawing/2014/main" id="{376C318D-CDD4-EF91-4567-8DEE1EABFC4E}"/>
              </a:ext>
            </a:extLst>
          </p:cNvPr>
          <p:cNvSpPr txBox="1">
            <a:spLocks/>
          </p:cNvSpPr>
          <p:nvPr/>
        </p:nvSpPr>
        <p:spPr bwMode="gray">
          <a:xfrm>
            <a:off x="4857648" y="2179034"/>
            <a:ext cx="2268000" cy="0"/>
          </a:xfrm>
          <a:prstGeom prst="rect">
            <a:avLst/>
          </a:prstGeom>
          <a:solidFill>
            <a:srgbClr val="003565"/>
          </a:solidFill>
          <a:ln w="12700">
            <a:solidFill>
              <a:srgbClr val="003565"/>
            </a:solidFill>
          </a:ln>
        </p:spPr>
        <p:txBody>
          <a:bodyPr vert="horz" lIns="0" tIns="0" rIns="0" bIns="0" rtlCol="0" anchor="t" anchorCtr="0">
            <a:normAutofit fontScale="25000" lnSpcReduction="20000"/>
          </a:bodyPr>
          <a:lstStyle>
            <a:lvl1pPr marL="0" indent="0" algn="ctr" defTabSz="1219170" rtl="0" eaLnBrk="1" latinLnBrk="0" hangingPunct="1">
              <a:lnSpc>
                <a:spcPct val="100000"/>
              </a:lnSpc>
              <a:spcBef>
                <a:spcPts val="0"/>
              </a:spcBef>
              <a:spcAft>
                <a:spcPts val="0"/>
              </a:spcAft>
              <a:buFont typeface="Quicksand" panose="00000500000000000000" pitchFamily="2" charset="0"/>
              <a:buNone/>
              <a:defRPr sz="100" kern="1200">
                <a:solidFill>
                  <a:schemeClr val="bg1">
                    <a:alpha val="0"/>
                  </a:schemeClr>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ctr"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endParaRPr kumimoji="0" lang="en-GB" sz="100" b="0" i="0" u="none" strike="noStrike" kern="1200" cap="none" spc="0" normalizeH="0" baseline="0" noProof="0">
              <a:ln>
                <a:noFill/>
              </a:ln>
              <a:solidFill>
                <a:srgbClr val="FFFFFF">
                  <a:alpha val="0"/>
                </a:srgbClr>
              </a:solidFill>
              <a:effectLst/>
              <a:uLnTx/>
              <a:uFillTx/>
              <a:latin typeface="Calibri (body)"/>
            </a:endParaRPr>
          </a:p>
        </p:txBody>
      </p:sp>
      <p:sp>
        <p:nvSpPr>
          <p:cNvPr id="126" name="Text Placeholder 11">
            <a:extLst>
              <a:ext uri="{FF2B5EF4-FFF2-40B4-BE49-F238E27FC236}">
                <a16:creationId xmlns:a16="http://schemas.microsoft.com/office/drawing/2014/main" id="{BBF1941F-EC5E-52FE-5A31-7F7A27E0C649}"/>
              </a:ext>
            </a:extLst>
          </p:cNvPr>
          <p:cNvSpPr txBox="1">
            <a:spLocks/>
          </p:cNvSpPr>
          <p:nvPr/>
        </p:nvSpPr>
        <p:spPr bwMode="gray">
          <a:xfrm>
            <a:off x="8773526" y="2179034"/>
            <a:ext cx="2268000" cy="0"/>
          </a:xfrm>
          <a:prstGeom prst="rect">
            <a:avLst/>
          </a:prstGeom>
          <a:solidFill>
            <a:srgbClr val="003565"/>
          </a:solidFill>
          <a:ln w="12700">
            <a:solidFill>
              <a:srgbClr val="003565"/>
            </a:solidFill>
          </a:ln>
        </p:spPr>
        <p:txBody>
          <a:bodyPr vert="horz" lIns="0" tIns="0" rIns="0" bIns="0" rtlCol="0" anchor="t" anchorCtr="0">
            <a:normAutofit fontScale="25000" lnSpcReduction="20000"/>
          </a:bodyPr>
          <a:lstStyle>
            <a:lvl1pPr marL="0" indent="0" algn="ctr" defTabSz="1219170" rtl="0" eaLnBrk="1" latinLnBrk="0" hangingPunct="1">
              <a:lnSpc>
                <a:spcPct val="100000"/>
              </a:lnSpc>
              <a:spcBef>
                <a:spcPts val="0"/>
              </a:spcBef>
              <a:spcAft>
                <a:spcPts val="0"/>
              </a:spcAft>
              <a:buFont typeface="Quicksand" panose="00000500000000000000" pitchFamily="2" charset="0"/>
              <a:buNone/>
              <a:defRPr sz="100" kern="1200">
                <a:solidFill>
                  <a:schemeClr val="bg1">
                    <a:alpha val="0"/>
                  </a:schemeClr>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ctr"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endParaRPr kumimoji="0" lang="en-GB" sz="100" b="0" i="0" u="none" strike="noStrike" kern="1200" cap="none" spc="0" normalizeH="0" baseline="0" noProof="0">
              <a:ln>
                <a:noFill/>
              </a:ln>
              <a:solidFill>
                <a:srgbClr val="FFFFFF">
                  <a:alpha val="0"/>
                </a:srgbClr>
              </a:solidFill>
              <a:effectLst/>
              <a:uLnTx/>
              <a:uFillTx/>
              <a:latin typeface="Calibri (body)"/>
            </a:endParaRPr>
          </a:p>
        </p:txBody>
      </p:sp>
      <p:sp>
        <p:nvSpPr>
          <p:cNvPr id="3" name="Espace réservé du texte 16">
            <a:extLst>
              <a:ext uri="{FF2B5EF4-FFF2-40B4-BE49-F238E27FC236}">
                <a16:creationId xmlns:a16="http://schemas.microsoft.com/office/drawing/2014/main" id="{92791585-B3F3-17B4-618D-496A9C9064F1}"/>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263851078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48005" y="6006164"/>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Présentation des templates</a:t>
            </a:r>
          </a:p>
          <a:p>
            <a:r>
              <a:rPr lang="fr-FR" sz="2000" dirty="0"/>
              <a:t>b- Templates réglementaires – </a:t>
            </a:r>
            <a:r>
              <a:rPr lang="en-GB" sz="2000" dirty="0"/>
              <a:t>NII_SUM (1)</a:t>
            </a:r>
            <a:endParaRPr lang="fr-FR" sz="2000" dirty="0"/>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63</a:t>
            </a:fld>
            <a:endParaRPr lang="fr-FR" sz="1050" kern="1200" dirty="0">
              <a:solidFill>
                <a:srgbClr val="003565"/>
              </a:solidFill>
              <a:latin typeface="Calibri (body)"/>
              <a:ea typeface="+mn-ea"/>
              <a:cs typeface="+mn-cs"/>
            </a:endParaRPr>
          </a:p>
        </p:txBody>
      </p:sp>
      <p:sp>
        <p:nvSpPr>
          <p:cNvPr id="86" name="TextBox 85">
            <a:extLst>
              <a:ext uri="{FF2B5EF4-FFF2-40B4-BE49-F238E27FC236}">
                <a16:creationId xmlns:a16="http://schemas.microsoft.com/office/drawing/2014/main" id="{1A3F7557-AB30-A7DA-A19B-808CCDBE1FE3}"/>
              </a:ext>
            </a:extLst>
          </p:cNvPr>
          <p:cNvSpPr txBox="1"/>
          <p:nvPr/>
        </p:nvSpPr>
        <p:spPr>
          <a:xfrm>
            <a:off x="204283" y="1158052"/>
            <a:ext cx="5325978" cy="2677656"/>
          </a:xfrm>
          <a:prstGeom prst="rect">
            <a:avLst/>
          </a:prstGeom>
          <a:noFill/>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Quatre aspects clés dans ce template :</a:t>
            </a:r>
          </a:p>
          <a:p>
            <a:pPr marL="0" marR="0" lvl="0" indent="0" algn="just" defTabSz="121917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endParaRPr>
          </a:p>
          <a:p>
            <a:pPr marL="228600" marR="0" lvl="0" indent="-228600" algn="just" defTabSz="1219170" rtl="0" eaLnBrk="1" fontAlgn="auto" latinLnBrk="0" hangingPunct="1">
              <a:lnSpc>
                <a:spcPct val="100000"/>
              </a:lnSpc>
              <a:spcBef>
                <a:spcPts val="0"/>
              </a:spcBef>
              <a:spcAft>
                <a:spcPts val="0"/>
              </a:spcAft>
              <a:buClrTx/>
              <a:buSzTx/>
              <a:buFontTx/>
              <a:buAutoNum type="arabicPeriod"/>
              <a:tabLst/>
              <a:defRPr/>
            </a:pPr>
            <a:r>
              <a:rPr kumimoji="0" lang="fr-FR" sz="1200" b="1" i="0" u="sng"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Table de résumé</a:t>
            </a:r>
          </a:p>
          <a:p>
            <a:pPr marL="228600" marR="0" lvl="0" indent="-228600" algn="just" defTabSz="1219170" rtl="0" eaLnBrk="1" fontAlgn="auto" latinLnBrk="0" hangingPunct="1">
              <a:lnSpc>
                <a:spcPct val="100000"/>
              </a:lnSpc>
              <a:spcBef>
                <a:spcPts val="0"/>
              </a:spcBef>
              <a:spcAft>
                <a:spcPts val="0"/>
              </a:spcAft>
              <a:buClrTx/>
              <a:buSzTx/>
              <a:buFontTx/>
              <a:buAutoNum type="arabicPeriod"/>
              <a:tabLst/>
              <a:defRPr/>
            </a:pPr>
            <a:endPar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Les données historiques (ligne 1 et 11) devront être cohérentes avec les données du  FINREP (F02.00).</a:t>
            </a:r>
          </a:p>
          <a:p>
            <a:pPr marL="171450" marR="0" lvl="0"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Les données ajustées correspondent à l’alignement en termes de périmètre :</a:t>
            </a:r>
          </a:p>
          <a:p>
            <a:pPr marL="781035" marR="0" lvl="1"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Trading book</a:t>
            </a:r>
          </a:p>
          <a:p>
            <a:pPr marL="781035" marR="0" lvl="1"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Eléments qui empêchent l’approche de bilan constant (ligne de tirages, garanties)</a:t>
            </a:r>
          </a:p>
          <a:p>
            <a:pPr marL="781035" marR="0" lvl="1"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Frais et commissions qui ne sont pas liés à des prêts </a:t>
            </a:r>
          </a:p>
          <a:p>
            <a:pPr marL="0" marR="0" lvl="0" indent="0" algn="just" defTabSz="121917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endParaRPr>
          </a:p>
          <a:p>
            <a:pPr marL="0" marR="0" lvl="0" indent="0" algn="just" defTabSz="121917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endParaRPr>
          </a:p>
        </p:txBody>
      </p:sp>
      <p:pic>
        <p:nvPicPr>
          <p:cNvPr id="87" name="Picture 86">
            <a:extLst>
              <a:ext uri="{FF2B5EF4-FFF2-40B4-BE49-F238E27FC236}">
                <a16:creationId xmlns:a16="http://schemas.microsoft.com/office/drawing/2014/main" id="{116EDBB7-4439-2E17-F1DA-F537FFA0DDCA}"/>
              </a:ext>
            </a:extLst>
          </p:cNvPr>
          <p:cNvPicPr>
            <a:picLocks noChangeAspect="1"/>
          </p:cNvPicPr>
          <p:nvPr/>
        </p:nvPicPr>
        <p:blipFill>
          <a:blip r:embed="rId2"/>
          <a:stretch>
            <a:fillRect/>
          </a:stretch>
        </p:blipFill>
        <p:spPr>
          <a:xfrm>
            <a:off x="5705676" y="1474514"/>
            <a:ext cx="5826761" cy="4178103"/>
          </a:xfrm>
          <a:prstGeom prst="rect">
            <a:avLst/>
          </a:prstGeom>
          <a:ln>
            <a:solidFill>
              <a:srgbClr val="003565"/>
            </a:solidFill>
          </a:ln>
        </p:spPr>
      </p:pic>
      <p:sp>
        <p:nvSpPr>
          <p:cNvPr id="88" name="Rectangle 87">
            <a:extLst>
              <a:ext uri="{FF2B5EF4-FFF2-40B4-BE49-F238E27FC236}">
                <a16:creationId xmlns:a16="http://schemas.microsoft.com/office/drawing/2014/main" id="{C4536B88-07AA-0943-421C-06D2881EE58A}"/>
              </a:ext>
            </a:extLst>
          </p:cNvPr>
          <p:cNvSpPr/>
          <p:nvPr/>
        </p:nvSpPr>
        <p:spPr>
          <a:xfrm>
            <a:off x="144744" y="890076"/>
            <a:ext cx="11563109" cy="5552033"/>
          </a:xfrm>
          <a:prstGeom prst="rect">
            <a:avLst/>
          </a:prstGeom>
          <a:noFill/>
          <a:ln>
            <a:solidFill>
              <a:srgbClr val="00356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Espace réservé du texte 16">
            <a:extLst>
              <a:ext uri="{FF2B5EF4-FFF2-40B4-BE49-F238E27FC236}">
                <a16:creationId xmlns:a16="http://schemas.microsoft.com/office/drawing/2014/main" id="{0246C514-0FDB-B50B-3CD2-6B3489E33689}"/>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64976847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48005" y="6006164"/>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Présentation des templates</a:t>
            </a:r>
          </a:p>
          <a:p>
            <a:r>
              <a:rPr lang="fr-FR" sz="2000" dirty="0"/>
              <a:t>b- Templates réglementaires – </a:t>
            </a:r>
            <a:r>
              <a:rPr lang="en-GB" sz="2000" dirty="0"/>
              <a:t>NII_SUM (2)</a:t>
            </a:r>
            <a:endParaRPr lang="fr-FR" sz="2000" dirty="0"/>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64</a:t>
            </a:fld>
            <a:endParaRPr lang="fr-FR" sz="1050" kern="1200" dirty="0">
              <a:solidFill>
                <a:srgbClr val="003565"/>
              </a:solidFill>
              <a:latin typeface="Calibri (body)"/>
              <a:ea typeface="+mn-ea"/>
              <a:cs typeface="+mn-cs"/>
            </a:endParaRPr>
          </a:p>
        </p:txBody>
      </p:sp>
      <p:sp>
        <p:nvSpPr>
          <p:cNvPr id="78" name="TextBox 77">
            <a:extLst>
              <a:ext uri="{FF2B5EF4-FFF2-40B4-BE49-F238E27FC236}">
                <a16:creationId xmlns:a16="http://schemas.microsoft.com/office/drawing/2014/main" id="{3C588CD7-F6AD-532A-AFCB-E8C7EA4DCB50}"/>
              </a:ext>
            </a:extLst>
          </p:cNvPr>
          <p:cNvSpPr txBox="1"/>
          <p:nvPr/>
        </p:nvSpPr>
        <p:spPr>
          <a:xfrm>
            <a:off x="382843" y="1024169"/>
            <a:ext cx="5983611" cy="5001369"/>
          </a:xfrm>
          <a:prstGeom prst="rect">
            <a:avLst/>
          </a:prstGeom>
          <a:noFill/>
        </p:spPr>
        <p:txBody>
          <a:bodyPr wrap="square">
            <a:spAutoFit/>
          </a:bodyPr>
          <a:lstStyle/>
          <a:p>
            <a:pPr algn="just" defTabSz="1219170">
              <a:buClrTx/>
              <a:buFontTx/>
              <a:buNone/>
              <a:defRPr/>
            </a:pPr>
            <a:r>
              <a:rPr lang="fr-FR" sz="1100" b="1" kern="1200" dirty="0">
                <a:solidFill>
                  <a:prstClr val="black">
                    <a:lumMod val="75000"/>
                  </a:prstClr>
                </a:solidFill>
                <a:latin typeface="Calibri (body)"/>
                <a:ea typeface="+mn-ea"/>
                <a:cs typeface="Calibri" panose="020F0502020204030204" pitchFamily="34" charset="0"/>
              </a:rPr>
              <a:t>2</a:t>
            </a:r>
            <a:r>
              <a:rPr lang="fr-FR" sz="1100" b="1" u="sng" kern="1200" dirty="0">
                <a:solidFill>
                  <a:prstClr val="black">
                    <a:lumMod val="75000"/>
                  </a:prstClr>
                </a:solidFill>
                <a:latin typeface="Calibri (body)"/>
                <a:ea typeface="+mn-ea"/>
                <a:cs typeface="Calibri" panose="020F0502020204030204" pitchFamily="34" charset="0"/>
              </a:rPr>
              <a:t>. Paramètres de projection du taux</a:t>
            </a:r>
          </a:p>
          <a:p>
            <a:pPr algn="just" defTabSz="1219170">
              <a:buClrTx/>
              <a:buFontTx/>
              <a:buNone/>
              <a:defRPr/>
            </a:pPr>
            <a:endParaRPr lang="fr-FR" sz="1100" b="1" u="sng"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r>
              <a:rPr lang="fr-FR" sz="1100" u="sng" kern="1200" dirty="0">
                <a:solidFill>
                  <a:prstClr val="black">
                    <a:lumMod val="75000"/>
                  </a:prstClr>
                </a:solidFill>
                <a:latin typeface="Calibri (body)"/>
                <a:ea typeface="+mn-ea"/>
                <a:cs typeface="Calibri" panose="020F0502020204030204" pitchFamily="34" charset="0"/>
              </a:rPr>
              <a:t>Delta idiosyncratic component</a:t>
            </a:r>
          </a:p>
          <a:p>
            <a:pPr algn="just" defTabSz="1219170">
              <a:buClrTx/>
              <a:buFontTx/>
              <a:buNone/>
              <a:defRPr/>
            </a:pPr>
            <a:r>
              <a:rPr lang="fr-FR" sz="1100" kern="1200" dirty="0">
                <a:solidFill>
                  <a:prstClr val="black">
                    <a:lumMod val="75000"/>
                  </a:prstClr>
                </a:solidFill>
                <a:latin typeface="Calibri (body)"/>
                <a:ea typeface="+mn-ea"/>
                <a:cs typeface="Calibri" panose="020F0502020204030204" pitchFamily="34" charset="0"/>
              </a:rPr>
              <a:t>Voir slides ci-dessus sur la méthodologie de projection de la marge et du taux sans risques</a:t>
            </a:r>
          </a:p>
          <a:p>
            <a:pPr algn="just" defTabSz="1219170">
              <a:buClrTx/>
              <a:buFontTx/>
              <a:buNone/>
              <a:defRPr/>
            </a:pPr>
            <a:r>
              <a:rPr lang="fr-FR" sz="1100" u="sng" kern="1200" dirty="0">
                <a:solidFill>
                  <a:prstClr val="black">
                    <a:lumMod val="75000"/>
                  </a:prstClr>
                </a:solidFill>
                <a:latin typeface="Calibri (body)"/>
                <a:ea typeface="+mn-ea"/>
                <a:cs typeface="Calibri" panose="020F0502020204030204" pitchFamily="34" charset="0"/>
              </a:rPr>
              <a:t>Rating</a:t>
            </a:r>
            <a:endParaRPr lang="fr-FR" sz="1100" kern="1200" dirty="0">
              <a:solidFill>
                <a:prstClr val="black">
                  <a:lumMod val="75000"/>
                </a:prstClr>
              </a:solidFill>
              <a:latin typeface="Calibri (body)"/>
              <a:ea typeface="+mn-ea"/>
              <a:cs typeface="Calibri" panose="020F0502020204030204" pitchFamily="34" charset="0"/>
            </a:endParaRPr>
          </a:p>
          <a:p>
            <a:pPr lvl="1" algn="just" defTabSz="1219170">
              <a:buClrTx/>
              <a:buFontTx/>
              <a:buNone/>
              <a:defRPr/>
            </a:pPr>
            <a:r>
              <a:rPr lang="fr-FR" sz="1100" u="sng" kern="1200" dirty="0">
                <a:solidFill>
                  <a:prstClr val="black">
                    <a:lumMod val="75000"/>
                  </a:prstClr>
                </a:solidFill>
                <a:latin typeface="Calibri (body)"/>
                <a:ea typeface="+mn-ea"/>
                <a:cs typeface="Calibri" panose="020F0502020204030204" pitchFamily="34" charset="0"/>
              </a:rPr>
              <a:t>Caractère Domestique de la Banque</a:t>
            </a:r>
            <a:endParaRPr lang="fr-FR" sz="1100" kern="1200" dirty="0">
              <a:solidFill>
                <a:prstClr val="black">
                  <a:lumMod val="75000"/>
                </a:prstClr>
              </a:solidFill>
              <a:latin typeface="Calibri (body)"/>
              <a:ea typeface="+mn-ea"/>
              <a:cs typeface="Calibri" panose="020F0502020204030204" pitchFamily="34" charset="0"/>
            </a:endParaRPr>
          </a:p>
          <a:p>
            <a:pPr lvl="1" algn="just" defTabSz="1219170">
              <a:buClrTx/>
              <a:buFontTx/>
              <a:buNone/>
              <a:defRPr/>
            </a:pPr>
            <a:endParaRPr lang="fr-FR" sz="1100"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r>
              <a:rPr lang="fr-FR" sz="1100" b="1" u="sng" kern="1200" dirty="0">
                <a:solidFill>
                  <a:prstClr val="black">
                    <a:lumMod val="75000"/>
                  </a:prstClr>
                </a:solidFill>
                <a:latin typeface="Calibri (body)"/>
                <a:ea typeface="+mn-ea"/>
                <a:cs typeface="Calibri" panose="020F0502020204030204" pitchFamily="34" charset="0"/>
              </a:rPr>
              <a:t>3. Dépôts réglementés</a:t>
            </a:r>
          </a:p>
          <a:p>
            <a:pPr algn="just" defTabSz="1219170">
              <a:buClrTx/>
              <a:buFontTx/>
              <a:buNone/>
              <a:defRPr/>
            </a:pPr>
            <a:endParaRPr lang="fr-FR" sz="1100" b="1" u="sng"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r>
              <a:rPr lang="fr-FR" sz="1100" kern="1200" dirty="0">
                <a:solidFill>
                  <a:prstClr val="black">
                    <a:lumMod val="75000"/>
                  </a:prstClr>
                </a:solidFill>
                <a:latin typeface="Calibri (body)"/>
                <a:ea typeface="+mn-ea"/>
                <a:cs typeface="Calibri" panose="020F0502020204030204" pitchFamily="34" charset="0"/>
              </a:rPr>
              <a:t>Volumes et le résultat de la formule réglementée au 31 décembre 2024 pour les dépôts réglementés </a:t>
            </a:r>
          </a:p>
          <a:p>
            <a:pPr algn="just" defTabSz="1219170">
              <a:buClrTx/>
              <a:buFontTx/>
              <a:buNone/>
              <a:defRPr/>
            </a:pPr>
            <a:r>
              <a:rPr lang="fr-FR" sz="1100" kern="1200" dirty="0">
                <a:solidFill>
                  <a:prstClr val="black">
                    <a:lumMod val="75000"/>
                  </a:prstClr>
                </a:solidFill>
                <a:latin typeface="Calibri (body)"/>
                <a:ea typeface="+mn-ea"/>
                <a:cs typeface="Calibri" panose="020F0502020204030204" pitchFamily="34" charset="0"/>
              </a:rPr>
              <a:t>Pour les projections, les banques doivent indiquer le résultat de la formule réglementée pour 2025, 2026 et 2027, à la fois pour le scénario de base et pour le scénario défavorable. </a:t>
            </a:r>
          </a:p>
          <a:p>
            <a:pPr algn="just" defTabSz="1219170">
              <a:buClrTx/>
              <a:buFontTx/>
              <a:buNone/>
              <a:defRPr/>
            </a:pPr>
            <a:r>
              <a:rPr lang="fr-FR" sz="1100" kern="1200" dirty="0">
                <a:solidFill>
                  <a:prstClr val="black">
                    <a:lumMod val="75000"/>
                  </a:prstClr>
                </a:solidFill>
                <a:latin typeface="Calibri (body)"/>
                <a:ea typeface="+mn-ea"/>
                <a:cs typeface="Calibri" panose="020F0502020204030204" pitchFamily="34" charset="0"/>
              </a:rPr>
              <a:t>Pour rappel :</a:t>
            </a:r>
          </a:p>
          <a:p>
            <a:pPr marL="781035" lvl="1" indent="-171450" algn="just" defTabSz="1219170">
              <a:buClrTx/>
              <a:buFont typeface="Arial" panose="020B0604020202020204" pitchFamily="34" charset="0"/>
              <a:buChar char="•"/>
              <a:defRPr/>
            </a:pPr>
            <a:r>
              <a:rPr lang="fr-FR" sz="1100" kern="1200" dirty="0">
                <a:solidFill>
                  <a:prstClr val="black">
                    <a:lumMod val="75000"/>
                  </a:prstClr>
                </a:solidFill>
                <a:latin typeface="Calibri (body)"/>
                <a:ea typeface="+mn-ea"/>
                <a:cs typeface="Calibri" panose="020F0502020204030204" pitchFamily="34" charset="0"/>
              </a:rPr>
              <a:t>Livret A et LDDS  : Min((Ester + Inflation hors tabac) /2, 0.5%), arrondi à 0.1%</a:t>
            </a:r>
          </a:p>
          <a:p>
            <a:pPr marL="781035" lvl="1" indent="-171450" algn="just" defTabSz="1219170">
              <a:buClrTx/>
              <a:buFont typeface="Arial" panose="020B0604020202020204" pitchFamily="34" charset="0"/>
              <a:buChar char="•"/>
              <a:defRPr/>
            </a:pPr>
            <a:r>
              <a:rPr lang="fr-FR" sz="1100" kern="1200" dirty="0">
                <a:solidFill>
                  <a:prstClr val="black">
                    <a:lumMod val="75000"/>
                  </a:prstClr>
                </a:solidFill>
                <a:latin typeface="Calibri (body)"/>
                <a:ea typeface="+mn-ea"/>
                <a:cs typeface="Calibri" panose="020F0502020204030204" pitchFamily="34" charset="0"/>
              </a:rPr>
              <a:t>LEP = Max (Livret A + 0, 5, inflation hors tabac), arrondi à 0.1%</a:t>
            </a:r>
          </a:p>
          <a:p>
            <a:pPr marL="781035" lvl="1" indent="-171450" algn="just" defTabSz="1219170">
              <a:buClrTx/>
              <a:buFont typeface="Arial" panose="020B0604020202020204" pitchFamily="34" charset="0"/>
              <a:buChar char="•"/>
              <a:defRPr/>
            </a:pPr>
            <a:r>
              <a:rPr lang="fr-FR" sz="1100" kern="1200" dirty="0">
                <a:solidFill>
                  <a:prstClr val="black">
                    <a:lumMod val="75000"/>
                  </a:prstClr>
                </a:solidFill>
                <a:latin typeface="Calibri (body)"/>
                <a:ea typeface="+mn-ea"/>
                <a:cs typeface="Calibri" panose="020F0502020204030204" pitchFamily="34" charset="0"/>
              </a:rPr>
              <a:t>CEL = 2/3 * livret A , arrondi à 0.5%</a:t>
            </a:r>
          </a:p>
          <a:p>
            <a:pPr marL="781035" lvl="1" indent="-171450" algn="just" defTabSz="1219170">
              <a:buClrTx/>
              <a:buFont typeface="Arial" panose="020B0604020202020204" pitchFamily="34" charset="0"/>
              <a:buChar char="•"/>
              <a:defRPr/>
            </a:pPr>
            <a:r>
              <a:rPr lang="fr-FR" sz="1100" kern="1200" dirty="0">
                <a:solidFill>
                  <a:prstClr val="black">
                    <a:lumMod val="75000"/>
                  </a:prstClr>
                </a:solidFill>
                <a:latin typeface="Calibri (body)"/>
                <a:ea typeface="+mn-ea"/>
                <a:cs typeface="Calibri" panose="020F0502020204030204" pitchFamily="34" charset="0"/>
              </a:rPr>
              <a:t>Les données utilisées sont une moyenne sur les 6 derniers mois</a:t>
            </a:r>
          </a:p>
          <a:p>
            <a:pPr marL="609585" lvl="1" algn="just" defTabSz="1219170">
              <a:buClrTx/>
              <a:buFontTx/>
              <a:buNone/>
              <a:defRPr/>
            </a:pPr>
            <a:endParaRPr lang="fr-FR" sz="1100" kern="1200" dirty="0">
              <a:solidFill>
                <a:prstClr val="black">
                  <a:lumMod val="75000"/>
                </a:prstClr>
              </a:solidFill>
              <a:latin typeface="Calibri (body)"/>
              <a:ea typeface="+mn-ea"/>
              <a:cs typeface="Calibri" panose="020F0502020204030204" pitchFamily="34" charset="0"/>
            </a:endParaRPr>
          </a:p>
          <a:p>
            <a:pPr marL="171450" lvl="1" indent="-171450" algn="just" defTabSz="1219170">
              <a:buClrTx/>
              <a:buFont typeface="Symbol" panose="05050102010706020507" pitchFamily="18" charset="2"/>
              <a:buChar char="Þ"/>
              <a:defRPr/>
            </a:pPr>
            <a:r>
              <a:rPr lang="fr-FR" sz="1100" b="1" kern="1200" dirty="0">
                <a:solidFill>
                  <a:prstClr val="black">
                    <a:lumMod val="75000"/>
                  </a:prstClr>
                </a:solidFill>
                <a:latin typeface="Calibri (body)"/>
                <a:ea typeface="+mn-ea"/>
                <a:cs typeface="Calibri" panose="020F0502020204030204" pitchFamily="34" charset="0"/>
              </a:rPr>
              <a:t>Il est possible de remplir les informations de taux uniquement à partir des données du cadrage macroéconomique</a:t>
            </a:r>
          </a:p>
          <a:p>
            <a:pPr marL="171450" lvl="1" indent="-171450" algn="just" defTabSz="1219170">
              <a:buClrTx/>
              <a:buFont typeface="Symbol" panose="05050102010706020507" pitchFamily="18" charset="2"/>
              <a:buChar char="Þ"/>
              <a:defRPr/>
            </a:pPr>
            <a:endParaRPr lang="fr-FR" sz="1100" b="1"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r>
              <a:rPr lang="fr-FR" sz="1100" b="1" u="sng" kern="1200" dirty="0">
                <a:solidFill>
                  <a:prstClr val="black">
                    <a:lumMod val="75000"/>
                  </a:prstClr>
                </a:solidFill>
                <a:latin typeface="Calibri (body)"/>
                <a:ea typeface="+mn-ea"/>
                <a:cs typeface="Calibri" panose="020F0502020204030204" pitchFamily="34" charset="0"/>
              </a:rPr>
              <a:t>4. Exemptions légales sur la production nouvelle</a:t>
            </a:r>
          </a:p>
          <a:p>
            <a:pPr marL="228600" indent="-228600" algn="just" defTabSz="1219170">
              <a:buClrTx/>
              <a:buFont typeface="+mj-lt"/>
              <a:buAutoNum type="arabicPeriod" startAt="3"/>
              <a:defRPr/>
            </a:pPr>
            <a:endParaRPr lang="fr-FR" sz="1100"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r>
              <a:rPr lang="fr-FR" sz="1100" kern="1200" dirty="0">
                <a:solidFill>
                  <a:prstClr val="black">
                    <a:lumMod val="75000"/>
                  </a:prstClr>
                </a:solidFill>
                <a:latin typeface="Calibri (body)"/>
                <a:ea typeface="+mn-ea"/>
                <a:cs typeface="Calibri" panose="020F0502020204030204" pitchFamily="34" charset="0"/>
              </a:rPr>
              <a:t>Reporter ici les actifs centralisés à la CDC – 59.5% de l’encours de livret A et 50% de l’encours de LEP </a:t>
            </a:r>
          </a:p>
          <a:p>
            <a:pPr lvl="1" algn="just" defTabSz="1219170">
              <a:buClrTx/>
              <a:buFontTx/>
              <a:buNone/>
              <a:defRPr/>
            </a:pPr>
            <a:endParaRPr lang="fr-FR" sz="1100" b="1"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endParaRPr lang="fr-FR" sz="1100" b="1" u="sng"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endParaRPr lang="fr-FR" sz="1100" u="sng"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endParaRPr lang="fr-FR" sz="1100" u="sng" kern="1200" dirty="0">
              <a:solidFill>
                <a:prstClr val="black">
                  <a:lumMod val="75000"/>
                </a:prstClr>
              </a:solidFill>
              <a:latin typeface="Calibri (body)"/>
              <a:ea typeface="+mn-ea"/>
              <a:cs typeface="Calibri" panose="020F0502020204030204" pitchFamily="34" charset="0"/>
            </a:endParaRPr>
          </a:p>
          <a:p>
            <a:pPr lvl="1" algn="just" defTabSz="1219170">
              <a:buClrTx/>
              <a:buFontTx/>
              <a:buNone/>
              <a:defRPr/>
            </a:pPr>
            <a:endParaRPr lang="fr-FR" sz="1100" kern="1200" dirty="0">
              <a:solidFill>
                <a:prstClr val="black">
                  <a:lumMod val="75000"/>
                </a:prstClr>
              </a:solidFill>
              <a:latin typeface="Calibri (body)"/>
              <a:ea typeface="+mn-ea"/>
              <a:cs typeface="Calibri" panose="020F0502020204030204" pitchFamily="34" charset="0"/>
            </a:endParaRPr>
          </a:p>
        </p:txBody>
      </p:sp>
      <p:pic>
        <p:nvPicPr>
          <p:cNvPr id="79" name="Picture 78">
            <a:extLst>
              <a:ext uri="{FF2B5EF4-FFF2-40B4-BE49-F238E27FC236}">
                <a16:creationId xmlns:a16="http://schemas.microsoft.com/office/drawing/2014/main" id="{7DB1BE82-5D88-0645-45F7-B96CC264E04D}"/>
              </a:ext>
            </a:extLst>
          </p:cNvPr>
          <p:cNvPicPr>
            <a:picLocks noChangeAspect="1"/>
          </p:cNvPicPr>
          <p:nvPr/>
        </p:nvPicPr>
        <p:blipFill>
          <a:blip r:embed="rId2"/>
          <a:stretch>
            <a:fillRect/>
          </a:stretch>
        </p:blipFill>
        <p:spPr>
          <a:xfrm>
            <a:off x="6645778" y="1758405"/>
            <a:ext cx="5044075" cy="821686"/>
          </a:xfrm>
          <a:prstGeom prst="rect">
            <a:avLst/>
          </a:prstGeom>
          <a:ln>
            <a:solidFill>
              <a:srgbClr val="003565"/>
            </a:solidFill>
          </a:ln>
        </p:spPr>
      </p:pic>
      <p:pic>
        <p:nvPicPr>
          <p:cNvPr id="80" name="Picture 79">
            <a:extLst>
              <a:ext uri="{FF2B5EF4-FFF2-40B4-BE49-F238E27FC236}">
                <a16:creationId xmlns:a16="http://schemas.microsoft.com/office/drawing/2014/main" id="{9303744D-D9DC-1C7E-6FCF-74A07B1ECCE0}"/>
              </a:ext>
            </a:extLst>
          </p:cNvPr>
          <p:cNvPicPr>
            <a:picLocks noChangeAspect="1"/>
          </p:cNvPicPr>
          <p:nvPr/>
        </p:nvPicPr>
        <p:blipFill>
          <a:blip r:embed="rId3"/>
          <a:stretch>
            <a:fillRect/>
          </a:stretch>
        </p:blipFill>
        <p:spPr>
          <a:xfrm>
            <a:off x="6760714" y="3376003"/>
            <a:ext cx="4814201" cy="1308389"/>
          </a:xfrm>
          <a:prstGeom prst="rect">
            <a:avLst/>
          </a:prstGeom>
          <a:ln>
            <a:solidFill>
              <a:srgbClr val="003565"/>
            </a:solidFill>
          </a:ln>
        </p:spPr>
      </p:pic>
      <p:pic>
        <p:nvPicPr>
          <p:cNvPr id="81" name="Picture 80">
            <a:extLst>
              <a:ext uri="{FF2B5EF4-FFF2-40B4-BE49-F238E27FC236}">
                <a16:creationId xmlns:a16="http://schemas.microsoft.com/office/drawing/2014/main" id="{9DA81365-DE67-112B-B9FC-FF4ACA3B7B48}"/>
              </a:ext>
            </a:extLst>
          </p:cNvPr>
          <p:cNvPicPr>
            <a:picLocks noChangeAspect="1"/>
          </p:cNvPicPr>
          <p:nvPr/>
        </p:nvPicPr>
        <p:blipFill>
          <a:blip r:embed="rId4"/>
          <a:stretch>
            <a:fillRect/>
          </a:stretch>
        </p:blipFill>
        <p:spPr>
          <a:xfrm>
            <a:off x="4540073" y="5313898"/>
            <a:ext cx="7034841" cy="1111754"/>
          </a:xfrm>
          <a:prstGeom prst="rect">
            <a:avLst/>
          </a:prstGeom>
          <a:ln>
            <a:solidFill>
              <a:srgbClr val="003565"/>
            </a:solidFill>
          </a:ln>
        </p:spPr>
      </p:pic>
      <p:sp>
        <p:nvSpPr>
          <p:cNvPr id="82" name="Rectangle 81">
            <a:extLst>
              <a:ext uri="{FF2B5EF4-FFF2-40B4-BE49-F238E27FC236}">
                <a16:creationId xmlns:a16="http://schemas.microsoft.com/office/drawing/2014/main" id="{FDC2F9B9-42A7-50E6-6515-E4EB3F0F78FD}"/>
              </a:ext>
            </a:extLst>
          </p:cNvPr>
          <p:cNvSpPr/>
          <p:nvPr/>
        </p:nvSpPr>
        <p:spPr>
          <a:xfrm>
            <a:off x="257441" y="938202"/>
            <a:ext cx="11563109" cy="5607899"/>
          </a:xfrm>
          <a:prstGeom prst="rect">
            <a:avLst/>
          </a:prstGeom>
          <a:no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Espace réservé du texte 16">
            <a:extLst>
              <a:ext uri="{FF2B5EF4-FFF2-40B4-BE49-F238E27FC236}">
                <a16:creationId xmlns:a16="http://schemas.microsoft.com/office/drawing/2014/main" id="{05A32BDE-82CE-49FC-E4F6-1164FE2C062B}"/>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311291282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48005" y="6006164"/>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Présentation des templates</a:t>
            </a:r>
          </a:p>
          <a:p>
            <a:r>
              <a:rPr lang="fr-FR" sz="2000" dirty="0"/>
              <a:t>c- Templates réglementaires – </a:t>
            </a:r>
            <a:r>
              <a:rPr lang="en-GB" sz="2000" dirty="0"/>
              <a:t>NII_CALC (1)</a:t>
            </a:r>
            <a:endParaRPr lang="fr-FR" sz="2000" dirty="0"/>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65</a:t>
            </a:fld>
            <a:endParaRPr lang="fr-FR" sz="1050" kern="1200" dirty="0">
              <a:solidFill>
                <a:srgbClr val="003565"/>
              </a:solidFill>
              <a:latin typeface="Calibri (body)"/>
              <a:ea typeface="+mn-ea"/>
              <a:cs typeface="+mn-cs"/>
            </a:endParaRPr>
          </a:p>
        </p:txBody>
      </p:sp>
      <p:sp>
        <p:nvSpPr>
          <p:cNvPr id="43" name="Rectangle 42">
            <a:extLst>
              <a:ext uri="{FF2B5EF4-FFF2-40B4-BE49-F238E27FC236}">
                <a16:creationId xmlns:a16="http://schemas.microsoft.com/office/drawing/2014/main" id="{A6983419-08FA-8D46-3DA1-28CF36774BE6}"/>
              </a:ext>
            </a:extLst>
          </p:cNvPr>
          <p:cNvSpPr/>
          <p:nvPr/>
        </p:nvSpPr>
        <p:spPr>
          <a:xfrm>
            <a:off x="124256" y="1915925"/>
            <a:ext cx="11696294" cy="4712857"/>
          </a:xfrm>
          <a:prstGeom prst="rect">
            <a:avLst/>
          </a:prstGeom>
          <a:solidFill>
            <a:srgbClr val="FFFFFF">
              <a:lumMod val="95000"/>
            </a:srgbClr>
          </a:solid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Calibri (body)"/>
              <a:ea typeface="+mn-ea"/>
              <a:cs typeface="+mn-cs"/>
            </a:endParaRPr>
          </a:p>
        </p:txBody>
      </p:sp>
      <p:sp>
        <p:nvSpPr>
          <p:cNvPr id="44" name="TextBox 43">
            <a:extLst>
              <a:ext uri="{FF2B5EF4-FFF2-40B4-BE49-F238E27FC236}">
                <a16:creationId xmlns:a16="http://schemas.microsoft.com/office/drawing/2014/main" id="{C57BB7E9-794B-B81C-8CC5-F5121B9FDA3F}"/>
              </a:ext>
            </a:extLst>
          </p:cNvPr>
          <p:cNvSpPr txBox="1"/>
          <p:nvPr/>
        </p:nvSpPr>
        <p:spPr>
          <a:xfrm>
            <a:off x="124256" y="964578"/>
            <a:ext cx="11282361" cy="1338828"/>
          </a:xfrm>
          <a:prstGeom prst="rect">
            <a:avLst/>
          </a:prstGeom>
          <a:noFill/>
        </p:spPr>
        <p:txBody>
          <a:bodyPr wrap="square">
            <a:spAutoFit/>
          </a:bodyPr>
          <a:lstStyle/>
          <a:p>
            <a:pPr marL="176213" marR="0" lvl="1" indent="0" algn="just" defTabSz="1219170" eaLnBrk="1" fontAlgn="auto" latinLnBrk="0" hangingPunct="1">
              <a:lnSpc>
                <a:spcPct val="100000"/>
              </a:lnSpc>
              <a:spcBef>
                <a:spcPts val="0"/>
              </a:spcBef>
              <a:spcAft>
                <a:spcPts val="0"/>
              </a:spcAft>
              <a:buClrTx/>
              <a:buSzTx/>
              <a:buFontTx/>
              <a:buNone/>
              <a:tabLst/>
              <a:defRPr/>
            </a:pPr>
            <a:r>
              <a:rPr kumimoji="0" lang="fr-FR" sz="1050" b="1" i="0" u="none" strike="noStrike" kern="1200" cap="none" spc="0" normalizeH="0" baseline="0" noProof="0" dirty="0">
                <a:ln>
                  <a:noFill/>
                </a:ln>
                <a:solidFill>
                  <a:prstClr val="black"/>
                </a:solidFill>
                <a:effectLst/>
                <a:uLnTx/>
                <a:uFillTx/>
                <a:latin typeface="Calibri (body)"/>
                <a:ea typeface="+mn-ea"/>
              </a:rPr>
              <a:t>Trois sections principales sur cette table :</a:t>
            </a:r>
          </a:p>
          <a:p>
            <a:pPr marL="176213" marR="0" lvl="1" indent="0" algn="just" defTabSz="1219170" eaLnBrk="1" fontAlgn="auto" latinLnBrk="0" hangingPunct="1">
              <a:lnSpc>
                <a:spcPct val="100000"/>
              </a:lnSpc>
              <a:spcBef>
                <a:spcPts val="0"/>
              </a:spcBef>
              <a:spcAft>
                <a:spcPts val="0"/>
              </a:spcAft>
              <a:buClrTx/>
              <a:buSzTx/>
              <a:buFontTx/>
              <a:buNone/>
              <a:tabLst/>
              <a:defRPr/>
            </a:pPr>
            <a:endParaRPr kumimoji="0" lang="fr-FR" sz="1050" b="0" i="0" u="none" strike="noStrike" kern="1200" cap="none" spc="0" normalizeH="0" baseline="0" noProof="0" dirty="0">
              <a:ln>
                <a:noFill/>
              </a:ln>
              <a:solidFill>
                <a:prstClr val="black"/>
              </a:solidFill>
              <a:effectLst/>
              <a:uLnTx/>
              <a:uFillTx/>
              <a:latin typeface="Calibri (body)"/>
              <a:ea typeface="+mn-ea"/>
            </a:endParaRPr>
          </a:p>
          <a:p>
            <a:pPr marL="176213" marR="0" lvl="1" indent="0" algn="just"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prstClr val="black"/>
                </a:solidFill>
                <a:effectLst/>
                <a:uLnTx/>
                <a:uFillTx/>
                <a:latin typeface="Calibri (body)"/>
                <a:ea typeface="+mn-ea"/>
              </a:rPr>
              <a:t>• Portefeuille Taux fixe; </a:t>
            </a:r>
          </a:p>
          <a:p>
            <a:pPr marL="176213" marR="0" lvl="1" indent="0" algn="just"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prstClr val="black"/>
                </a:solidFill>
                <a:effectLst/>
                <a:uLnTx/>
                <a:uFillTx/>
                <a:latin typeface="Calibri (body)"/>
                <a:ea typeface="+mn-ea"/>
              </a:rPr>
              <a:t>• Portefeuille taux variable; </a:t>
            </a:r>
          </a:p>
          <a:p>
            <a:pPr marL="176213" marR="0" lvl="1" indent="0" algn="just"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prstClr val="black"/>
                </a:solidFill>
                <a:effectLst/>
                <a:uLnTx/>
                <a:uFillTx/>
                <a:latin typeface="Calibri (body)"/>
                <a:ea typeface="+mn-ea"/>
              </a:rPr>
              <a:t>• Calcul de MNI totale pour les deux portefeuilles </a:t>
            </a:r>
            <a:r>
              <a:rPr kumimoji="0" lang="fr-FR" sz="1050" b="1" i="0" u="none" strike="noStrike" kern="1200" cap="none" spc="0" normalizeH="0" baseline="0" noProof="0" dirty="0">
                <a:ln>
                  <a:noFill/>
                </a:ln>
                <a:solidFill>
                  <a:prstClr val="black"/>
                </a:solidFill>
                <a:effectLst/>
                <a:uLnTx/>
                <a:uFillTx/>
                <a:latin typeface="Calibri (body)"/>
                <a:ea typeface="+mn-ea"/>
              </a:rPr>
              <a:t>(calculé en automatique- voir slide suivante)</a:t>
            </a:r>
          </a:p>
          <a:p>
            <a:pPr marL="176213" marR="0" lvl="1" indent="0" algn="just" defTabSz="1219170" eaLnBrk="1" fontAlgn="auto" latinLnBrk="0" hangingPunct="1">
              <a:lnSpc>
                <a:spcPct val="100000"/>
              </a:lnSpc>
              <a:spcBef>
                <a:spcPts val="0"/>
              </a:spcBef>
              <a:spcAft>
                <a:spcPts val="0"/>
              </a:spcAft>
              <a:buClrTx/>
              <a:buSzTx/>
              <a:buFontTx/>
              <a:buNone/>
              <a:tabLst/>
              <a:defRPr/>
            </a:pPr>
            <a:endParaRPr kumimoji="0" lang="fr-FR" sz="1050" b="0" i="0" u="none" strike="noStrike" kern="1200" cap="none" spc="0" normalizeH="0" baseline="0" noProof="0" dirty="0">
              <a:ln>
                <a:noFill/>
              </a:ln>
              <a:solidFill>
                <a:prstClr val="black">
                  <a:lumMod val="75000"/>
                </a:prstClr>
              </a:solidFill>
              <a:effectLst/>
              <a:uLnTx/>
              <a:uFillTx/>
              <a:latin typeface="Calibri (body)"/>
              <a:ea typeface="+mn-ea"/>
              <a:cs typeface="Calibri" panose="020F0502020204030204" pitchFamily="34" charset="0"/>
            </a:endParaRPr>
          </a:p>
          <a:p>
            <a:pPr marL="176213" marR="0" lvl="1" indent="0" algn="just" defTabSz="1219170" eaLnBrk="1" fontAlgn="auto" latinLnBrk="0" hangingPunct="1">
              <a:lnSpc>
                <a:spcPct val="100000"/>
              </a:lnSpc>
              <a:spcBef>
                <a:spcPts val="0"/>
              </a:spcBef>
              <a:spcAft>
                <a:spcPts val="0"/>
              </a:spcAft>
              <a:buClrTx/>
              <a:buSzTx/>
              <a:buFontTx/>
              <a:buNone/>
              <a:tabLst/>
              <a:defRPr/>
            </a:pPr>
            <a:r>
              <a:rPr kumimoji="0" lang="fr-FR" sz="1800" b="1" i="1" u="sng" strike="noStrike" kern="1200" cap="none" spc="0" normalizeH="0" baseline="0" noProof="0" dirty="0">
                <a:ln>
                  <a:noFill/>
                </a:ln>
                <a:solidFill>
                  <a:prstClr val="black"/>
                </a:solidFill>
                <a:effectLst/>
                <a:uLnTx/>
                <a:uFillTx/>
                <a:latin typeface="Calibri (body)"/>
                <a:ea typeface="+mn-ea"/>
              </a:rPr>
              <a:t>Pour chacune des sections fixe et variable </a:t>
            </a:r>
            <a:r>
              <a:rPr kumimoji="0" lang="fr-FR" sz="1050" b="1" i="1" u="sng" strike="noStrike" kern="1200" cap="none" spc="0" normalizeH="0" baseline="0" noProof="0" dirty="0">
                <a:ln>
                  <a:noFill/>
                </a:ln>
                <a:solidFill>
                  <a:prstClr val="black"/>
                </a:solidFill>
                <a:effectLst/>
                <a:uLnTx/>
                <a:uFillTx/>
                <a:latin typeface="Calibri (body)"/>
                <a:ea typeface="+mn-ea"/>
              </a:rPr>
              <a:t>:</a:t>
            </a:r>
          </a:p>
        </p:txBody>
      </p:sp>
      <p:sp>
        <p:nvSpPr>
          <p:cNvPr id="45" name="Rectangle 44">
            <a:extLst>
              <a:ext uri="{FF2B5EF4-FFF2-40B4-BE49-F238E27FC236}">
                <a16:creationId xmlns:a16="http://schemas.microsoft.com/office/drawing/2014/main" id="{FCD0AC4C-1BA0-4F31-9C06-E7B29523176B}"/>
              </a:ext>
            </a:extLst>
          </p:cNvPr>
          <p:cNvSpPr/>
          <p:nvPr/>
        </p:nvSpPr>
        <p:spPr>
          <a:xfrm>
            <a:off x="407509" y="2544572"/>
            <a:ext cx="4947412" cy="488373"/>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FFFFFF"/>
                </a:solidFill>
                <a:effectLst/>
                <a:uLnTx/>
                <a:uFillTx/>
                <a:latin typeface="Calibri (body)"/>
                <a:ea typeface="+mn-ea"/>
                <a:cs typeface="+mn-cs"/>
              </a:rPr>
              <a:t>Starting point</a:t>
            </a:r>
          </a:p>
        </p:txBody>
      </p:sp>
      <p:sp>
        <p:nvSpPr>
          <p:cNvPr id="46" name="Rectangle 45">
            <a:extLst>
              <a:ext uri="{FF2B5EF4-FFF2-40B4-BE49-F238E27FC236}">
                <a16:creationId xmlns:a16="http://schemas.microsoft.com/office/drawing/2014/main" id="{887781C1-EA3D-8B19-5A31-3346A1C841A3}"/>
              </a:ext>
            </a:extLst>
          </p:cNvPr>
          <p:cNvSpPr/>
          <p:nvPr/>
        </p:nvSpPr>
        <p:spPr>
          <a:xfrm>
            <a:off x="6842351" y="2530022"/>
            <a:ext cx="1932709" cy="488373"/>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FFFFFF"/>
                </a:solidFill>
                <a:effectLst/>
                <a:uLnTx/>
                <a:uFillTx/>
                <a:latin typeface="Calibri (body)"/>
                <a:ea typeface="+mn-ea"/>
                <a:cs typeface="+mn-cs"/>
              </a:rPr>
              <a:t>Projections - baseline</a:t>
            </a:r>
          </a:p>
        </p:txBody>
      </p:sp>
      <p:sp>
        <p:nvSpPr>
          <p:cNvPr id="47" name="Rectangle 46">
            <a:extLst>
              <a:ext uri="{FF2B5EF4-FFF2-40B4-BE49-F238E27FC236}">
                <a16:creationId xmlns:a16="http://schemas.microsoft.com/office/drawing/2014/main" id="{EFF9C253-13EF-A814-EA62-4777E875BEAB}"/>
              </a:ext>
            </a:extLst>
          </p:cNvPr>
          <p:cNvSpPr/>
          <p:nvPr/>
        </p:nvSpPr>
        <p:spPr>
          <a:xfrm>
            <a:off x="407509" y="3154174"/>
            <a:ext cx="1565922"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Performing</a:t>
            </a:r>
          </a:p>
        </p:txBody>
      </p:sp>
      <p:sp>
        <p:nvSpPr>
          <p:cNvPr id="48" name="Rectangle 47">
            <a:extLst>
              <a:ext uri="{FF2B5EF4-FFF2-40B4-BE49-F238E27FC236}">
                <a16:creationId xmlns:a16="http://schemas.microsoft.com/office/drawing/2014/main" id="{44BBF966-857B-0833-3027-266EB96393B4}"/>
              </a:ext>
            </a:extLst>
          </p:cNvPr>
          <p:cNvSpPr/>
          <p:nvPr/>
        </p:nvSpPr>
        <p:spPr>
          <a:xfrm>
            <a:off x="2073695" y="3154174"/>
            <a:ext cx="1565922"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Non-performing</a:t>
            </a:r>
          </a:p>
        </p:txBody>
      </p:sp>
      <p:sp>
        <p:nvSpPr>
          <p:cNvPr id="49" name="Rectangle 48">
            <a:extLst>
              <a:ext uri="{FF2B5EF4-FFF2-40B4-BE49-F238E27FC236}">
                <a16:creationId xmlns:a16="http://schemas.microsoft.com/office/drawing/2014/main" id="{C27B0C36-B37F-B595-BB8D-95A39FCCB62A}"/>
              </a:ext>
            </a:extLst>
          </p:cNvPr>
          <p:cNvSpPr/>
          <p:nvPr/>
        </p:nvSpPr>
        <p:spPr>
          <a:xfrm>
            <a:off x="8966868" y="2530023"/>
            <a:ext cx="1932709" cy="488373"/>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FFFFFF"/>
                </a:solidFill>
                <a:effectLst/>
                <a:uLnTx/>
                <a:uFillTx/>
                <a:latin typeface="Calibri (body)"/>
                <a:ea typeface="+mn-ea"/>
                <a:cs typeface="+mn-cs"/>
              </a:rPr>
              <a:t>Projections - adverse</a:t>
            </a:r>
          </a:p>
        </p:txBody>
      </p:sp>
      <p:sp>
        <p:nvSpPr>
          <p:cNvPr id="50" name="Rectangle 49">
            <a:extLst>
              <a:ext uri="{FF2B5EF4-FFF2-40B4-BE49-F238E27FC236}">
                <a16:creationId xmlns:a16="http://schemas.microsoft.com/office/drawing/2014/main" id="{CDB3DD04-F293-B589-CFD9-DB4445E804C2}"/>
              </a:ext>
            </a:extLst>
          </p:cNvPr>
          <p:cNvSpPr/>
          <p:nvPr/>
        </p:nvSpPr>
        <p:spPr>
          <a:xfrm>
            <a:off x="3739880" y="3154174"/>
            <a:ext cx="1620000"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a:ln>
                  <a:noFill/>
                </a:ln>
                <a:solidFill>
                  <a:srgbClr val="FFFFFF"/>
                </a:solidFill>
                <a:effectLst/>
                <a:uLnTx/>
                <a:uFillTx/>
                <a:latin typeface="Calibri (body)"/>
                <a:ea typeface="+mn-ea"/>
                <a:cs typeface="+mn-cs"/>
              </a:rPr>
              <a:t>Échéancier pour les expositions performantes </a:t>
            </a:r>
          </a:p>
        </p:txBody>
      </p:sp>
      <p:sp>
        <p:nvSpPr>
          <p:cNvPr id="51" name="Rectangle 50">
            <a:extLst>
              <a:ext uri="{FF2B5EF4-FFF2-40B4-BE49-F238E27FC236}">
                <a16:creationId xmlns:a16="http://schemas.microsoft.com/office/drawing/2014/main" id="{C093BB0B-5C16-6201-A63F-6207F64E6777}"/>
              </a:ext>
            </a:extLst>
          </p:cNvPr>
          <p:cNvSpPr/>
          <p:nvPr/>
        </p:nvSpPr>
        <p:spPr>
          <a:xfrm>
            <a:off x="407509" y="4032209"/>
            <a:ext cx="756000" cy="408707"/>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Moyenne 2024</a:t>
            </a:r>
          </a:p>
        </p:txBody>
      </p:sp>
      <p:sp>
        <p:nvSpPr>
          <p:cNvPr id="52" name="Rectangle 51">
            <a:extLst>
              <a:ext uri="{FF2B5EF4-FFF2-40B4-BE49-F238E27FC236}">
                <a16:creationId xmlns:a16="http://schemas.microsoft.com/office/drawing/2014/main" id="{C7DAC216-2B58-EF95-8235-916E47DD987A}"/>
              </a:ext>
            </a:extLst>
          </p:cNvPr>
          <p:cNvSpPr/>
          <p:nvPr/>
        </p:nvSpPr>
        <p:spPr>
          <a:xfrm>
            <a:off x="1219911" y="4042600"/>
            <a:ext cx="75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Dec. 2024</a:t>
            </a:r>
          </a:p>
        </p:txBody>
      </p:sp>
      <p:sp>
        <p:nvSpPr>
          <p:cNvPr id="53" name="Rectangle 52">
            <a:extLst>
              <a:ext uri="{FF2B5EF4-FFF2-40B4-BE49-F238E27FC236}">
                <a16:creationId xmlns:a16="http://schemas.microsoft.com/office/drawing/2014/main" id="{85FACB24-9E54-A21C-D45F-9A56F1815C5F}"/>
              </a:ext>
            </a:extLst>
          </p:cNvPr>
          <p:cNvSpPr/>
          <p:nvPr/>
        </p:nvSpPr>
        <p:spPr>
          <a:xfrm>
            <a:off x="407509" y="4562145"/>
            <a:ext cx="756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Marge </a:t>
            </a:r>
          </a:p>
        </p:txBody>
      </p:sp>
      <p:sp>
        <p:nvSpPr>
          <p:cNvPr id="54" name="Rectangle 53">
            <a:extLst>
              <a:ext uri="{FF2B5EF4-FFF2-40B4-BE49-F238E27FC236}">
                <a16:creationId xmlns:a16="http://schemas.microsoft.com/office/drawing/2014/main" id="{9936A282-175C-5287-2DF5-BF9C5E7B45D8}"/>
              </a:ext>
            </a:extLst>
          </p:cNvPr>
          <p:cNvSpPr/>
          <p:nvPr/>
        </p:nvSpPr>
        <p:spPr>
          <a:xfrm>
            <a:off x="1219911" y="4562145"/>
            <a:ext cx="756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1" i="0" u="sng" strike="noStrike" kern="1200" cap="none" spc="0" normalizeH="0" baseline="0" noProof="0" dirty="0">
                <a:ln>
                  <a:noFill/>
                </a:ln>
                <a:solidFill>
                  <a:prstClr val="black"/>
                </a:solidFill>
                <a:effectLst/>
                <a:uLnTx/>
                <a:uFillTx/>
                <a:latin typeface="Calibri (body)"/>
                <a:ea typeface="+mn-ea"/>
                <a:cs typeface="+mn-cs"/>
              </a:rPr>
              <a:t>Total</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Marge</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Maturité d’origine</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0" i="0" u="sng" strike="noStrike" kern="1200" cap="none" spc="0" normalizeH="0" baseline="0" noProof="0" dirty="0">
              <a:ln>
                <a:noFill/>
              </a:ln>
              <a:solidFill>
                <a:prstClr val="black"/>
              </a:solidFill>
              <a:effectLst/>
              <a:uLnTx/>
              <a:uFillTx/>
              <a:latin typeface="Calibri (body)"/>
              <a:ea typeface="+mn-ea"/>
              <a:cs typeface="+mn-cs"/>
            </a:endParaRP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1" i="0" u="sng" strike="noStrike" kern="1200" cap="none" spc="0" normalizeH="0" baseline="0" noProof="0" dirty="0">
                <a:ln>
                  <a:noFill/>
                </a:ln>
                <a:solidFill>
                  <a:prstClr val="black"/>
                </a:solidFill>
                <a:effectLst/>
                <a:uLnTx/>
                <a:uFillTx/>
                <a:latin typeface="Calibri (body)"/>
                <a:ea typeface="+mn-ea"/>
                <a:cs typeface="+mn-cs"/>
              </a:rPr>
              <a:t>Nouvelle prod 24</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Marge</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Maturité d’origine</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p:txBody>
      </p:sp>
      <p:sp>
        <p:nvSpPr>
          <p:cNvPr id="55" name="Rectangle 54">
            <a:extLst>
              <a:ext uri="{FF2B5EF4-FFF2-40B4-BE49-F238E27FC236}">
                <a16:creationId xmlns:a16="http://schemas.microsoft.com/office/drawing/2014/main" id="{0F208FB6-DE08-185F-057C-A6463175191D}"/>
              </a:ext>
            </a:extLst>
          </p:cNvPr>
          <p:cNvSpPr/>
          <p:nvPr/>
        </p:nvSpPr>
        <p:spPr>
          <a:xfrm>
            <a:off x="2073695" y="4042600"/>
            <a:ext cx="756000" cy="408707"/>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Moyenne 2024</a:t>
            </a:r>
          </a:p>
        </p:txBody>
      </p:sp>
      <p:sp>
        <p:nvSpPr>
          <p:cNvPr id="56" name="Rectangle 55">
            <a:extLst>
              <a:ext uri="{FF2B5EF4-FFF2-40B4-BE49-F238E27FC236}">
                <a16:creationId xmlns:a16="http://schemas.microsoft.com/office/drawing/2014/main" id="{FEEF872F-8A27-2554-5776-AAA81FFF4ED3}"/>
              </a:ext>
            </a:extLst>
          </p:cNvPr>
          <p:cNvSpPr/>
          <p:nvPr/>
        </p:nvSpPr>
        <p:spPr>
          <a:xfrm>
            <a:off x="2886097" y="4052991"/>
            <a:ext cx="75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Dec. 2024</a:t>
            </a:r>
          </a:p>
        </p:txBody>
      </p:sp>
      <p:sp>
        <p:nvSpPr>
          <p:cNvPr id="57" name="Rectangle 56">
            <a:extLst>
              <a:ext uri="{FF2B5EF4-FFF2-40B4-BE49-F238E27FC236}">
                <a16:creationId xmlns:a16="http://schemas.microsoft.com/office/drawing/2014/main" id="{9AFE7A85-3A89-1FA4-66FC-A956639B2284}"/>
              </a:ext>
            </a:extLst>
          </p:cNvPr>
          <p:cNvSpPr/>
          <p:nvPr/>
        </p:nvSpPr>
        <p:spPr>
          <a:xfrm>
            <a:off x="2071215" y="4562145"/>
            <a:ext cx="756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 couvert par  provision</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prstClr val="black"/>
              </a:solidFill>
              <a:effectLst/>
              <a:uLnTx/>
              <a:uFillTx/>
              <a:latin typeface="Calibri (body)"/>
              <a:ea typeface="+mn-ea"/>
              <a:cs typeface="+mn-cs"/>
            </a:endParaRPr>
          </a:p>
        </p:txBody>
      </p:sp>
      <p:sp>
        <p:nvSpPr>
          <p:cNvPr id="58" name="Rectangle 57">
            <a:extLst>
              <a:ext uri="{FF2B5EF4-FFF2-40B4-BE49-F238E27FC236}">
                <a16:creationId xmlns:a16="http://schemas.microsoft.com/office/drawing/2014/main" id="{A0F662F1-3B87-CD51-3B7B-252980EB8D4A}"/>
              </a:ext>
            </a:extLst>
          </p:cNvPr>
          <p:cNvSpPr/>
          <p:nvPr/>
        </p:nvSpPr>
        <p:spPr>
          <a:xfrm>
            <a:off x="2883617" y="4562145"/>
            <a:ext cx="756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 couvert par  provision</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p:txBody>
      </p:sp>
      <p:sp>
        <p:nvSpPr>
          <p:cNvPr id="59" name="Rectangle 58">
            <a:extLst>
              <a:ext uri="{FF2B5EF4-FFF2-40B4-BE49-F238E27FC236}">
                <a16:creationId xmlns:a16="http://schemas.microsoft.com/office/drawing/2014/main" id="{B4DEA09C-5522-2FD7-C238-CDE10B5D29C0}"/>
              </a:ext>
            </a:extLst>
          </p:cNvPr>
          <p:cNvSpPr/>
          <p:nvPr/>
        </p:nvSpPr>
        <p:spPr>
          <a:xfrm>
            <a:off x="3739880" y="4052991"/>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2025</a:t>
            </a:r>
          </a:p>
        </p:txBody>
      </p:sp>
      <p:sp>
        <p:nvSpPr>
          <p:cNvPr id="60" name="Rectangle 59">
            <a:extLst>
              <a:ext uri="{FF2B5EF4-FFF2-40B4-BE49-F238E27FC236}">
                <a16:creationId xmlns:a16="http://schemas.microsoft.com/office/drawing/2014/main" id="{16A5077D-FF0F-9948-B719-1220676E37D6}"/>
              </a:ext>
            </a:extLst>
          </p:cNvPr>
          <p:cNvSpPr/>
          <p:nvPr/>
        </p:nvSpPr>
        <p:spPr>
          <a:xfrm>
            <a:off x="4306880" y="4052991"/>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2026</a:t>
            </a:r>
          </a:p>
        </p:txBody>
      </p:sp>
      <p:sp>
        <p:nvSpPr>
          <p:cNvPr id="61" name="Rectangle 60">
            <a:extLst>
              <a:ext uri="{FF2B5EF4-FFF2-40B4-BE49-F238E27FC236}">
                <a16:creationId xmlns:a16="http://schemas.microsoft.com/office/drawing/2014/main" id="{FFF8D4DF-1E15-7C3E-7E4A-0ED95E183F72}"/>
              </a:ext>
            </a:extLst>
          </p:cNvPr>
          <p:cNvSpPr/>
          <p:nvPr/>
        </p:nvSpPr>
        <p:spPr>
          <a:xfrm>
            <a:off x="4873880" y="4052991"/>
            <a:ext cx="48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2027</a:t>
            </a:r>
          </a:p>
        </p:txBody>
      </p:sp>
      <p:sp>
        <p:nvSpPr>
          <p:cNvPr id="62" name="Rectangle 61">
            <a:extLst>
              <a:ext uri="{FF2B5EF4-FFF2-40B4-BE49-F238E27FC236}">
                <a16:creationId xmlns:a16="http://schemas.microsoft.com/office/drawing/2014/main" id="{C00C5B17-F27C-7C46-6FCF-B6FB63937CCF}"/>
              </a:ext>
            </a:extLst>
          </p:cNvPr>
          <p:cNvSpPr/>
          <p:nvPr/>
        </p:nvSpPr>
        <p:spPr>
          <a:xfrm>
            <a:off x="3734921" y="4562145"/>
            <a:ext cx="1620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fr-FR" sz="900" b="1" i="0" u="sng" strike="noStrike" kern="1200" cap="none" spc="0" normalizeH="0" baseline="0" noProof="0" dirty="0">
                <a:ln>
                  <a:noFill/>
                </a:ln>
                <a:solidFill>
                  <a:prstClr val="black"/>
                </a:solidFill>
                <a:effectLst/>
                <a:uLnTx/>
                <a:uFillTx/>
                <a:latin typeface="Calibri (body)"/>
                <a:ea typeface="+mn-ea"/>
                <a:cs typeface="+mn-cs"/>
              </a:rPr>
              <a:t>Pour chaque année :</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Volume arrivant à maturité dans l’année correspondante:</a:t>
            </a:r>
          </a:p>
          <a:p>
            <a:pPr marL="171450" marR="0" lvl="0" indent="-79375"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Marge</a:t>
            </a:r>
          </a:p>
          <a:p>
            <a:pPr marL="171450" marR="0" lvl="0" indent="-79375"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Taux</a:t>
            </a:r>
          </a:p>
          <a:p>
            <a:pPr marL="171450" marR="0" lvl="0" indent="-79375"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Maturité originelle</a:t>
            </a:r>
          </a:p>
          <a:p>
            <a:pPr marL="171450" marR="0" lvl="0" indent="-79375"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Split par maturité originelle des mêmes informations pour 2025</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p:txBody>
      </p:sp>
      <p:sp>
        <p:nvSpPr>
          <p:cNvPr id="63" name="Rectangle 62">
            <a:extLst>
              <a:ext uri="{FF2B5EF4-FFF2-40B4-BE49-F238E27FC236}">
                <a16:creationId xmlns:a16="http://schemas.microsoft.com/office/drawing/2014/main" id="{F02223FB-4CBC-383D-CC62-DC6A23A2A2B9}"/>
              </a:ext>
            </a:extLst>
          </p:cNvPr>
          <p:cNvSpPr/>
          <p:nvPr/>
        </p:nvSpPr>
        <p:spPr>
          <a:xfrm>
            <a:off x="6245121" y="3154174"/>
            <a:ext cx="1620000"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FFFFFF"/>
                </a:solidFill>
                <a:effectLst/>
                <a:uLnTx/>
                <a:uFillTx/>
                <a:latin typeface="Calibri (body)"/>
                <a:ea typeface="+mn-ea"/>
                <a:cs typeface="+mn-cs"/>
              </a:rPr>
              <a:t>Marge sur les expositions performantes</a:t>
            </a:r>
          </a:p>
        </p:txBody>
      </p:sp>
      <p:sp>
        <p:nvSpPr>
          <p:cNvPr id="64" name="Rectangle 63">
            <a:extLst>
              <a:ext uri="{FF2B5EF4-FFF2-40B4-BE49-F238E27FC236}">
                <a16:creationId xmlns:a16="http://schemas.microsoft.com/office/drawing/2014/main" id="{62951C59-8E7B-3448-78C7-CEB8DC9B0E6C}"/>
              </a:ext>
            </a:extLst>
          </p:cNvPr>
          <p:cNvSpPr/>
          <p:nvPr/>
        </p:nvSpPr>
        <p:spPr>
          <a:xfrm>
            <a:off x="7992097" y="3154174"/>
            <a:ext cx="1620000"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FFFFFF"/>
                </a:solidFill>
                <a:effectLst/>
                <a:uLnTx/>
                <a:uFillTx/>
                <a:latin typeface="Calibri (body)"/>
                <a:ea typeface="+mn-ea"/>
                <a:cs typeface="+mn-cs"/>
              </a:rPr>
              <a:t>Taux de référence sur les expositions performantes</a:t>
            </a:r>
          </a:p>
        </p:txBody>
      </p:sp>
      <p:sp>
        <p:nvSpPr>
          <p:cNvPr id="65" name="Rectangle 64">
            <a:extLst>
              <a:ext uri="{FF2B5EF4-FFF2-40B4-BE49-F238E27FC236}">
                <a16:creationId xmlns:a16="http://schemas.microsoft.com/office/drawing/2014/main" id="{5F6655A6-BBD1-DD08-D895-CC5215771EC5}"/>
              </a:ext>
            </a:extLst>
          </p:cNvPr>
          <p:cNvSpPr/>
          <p:nvPr/>
        </p:nvSpPr>
        <p:spPr>
          <a:xfrm>
            <a:off x="9741412" y="3154174"/>
            <a:ext cx="1620000"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FFFFFF"/>
                </a:solidFill>
                <a:effectLst/>
                <a:uLnTx/>
                <a:uFillTx/>
                <a:latin typeface="Calibri (body)"/>
                <a:ea typeface="+mn-ea"/>
                <a:cs typeface="+mn-cs"/>
              </a:rPr>
              <a:t>Exposition non-performantes</a:t>
            </a:r>
          </a:p>
        </p:txBody>
      </p:sp>
      <p:sp>
        <p:nvSpPr>
          <p:cNvPr id="66" name="Rectangle 65">
            <a:extLst>
              <a:ext uri="{FF2B5EF4-FFF2-40B4-BE49-F238E27FC236}">
                <a16:creationId xmlns:a16="http://schemas.microsoft.com/office/drawing/2014/main" id="{8233D2B6-37FC-5439-4DA1-2FAC508D98BC}"/>
              </a:ext>
            </a:extLst>
          </p:cNvPr>
          <p:cNvSpPr/>
          <p:nvPr/>
        </p:nvSpPr>
        <p:spPr>
          <a:xfrm>
            <a:off x="6245121" y="4046758"/>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2025</a:t>
            </a:r>
          </a:p>
        </p:txBody>
      </p:sp>
      <p:sp>
        <p:nvSpPr>
          <p:cNvPr id="67" name="Rectangle 66">
            <a:extLst>
              <a:ext uri="{FF2B5EF4-FFF2-40B4-BE49-F238E27FC236}">
                <a16:creationId xmlns:a16="http://schemas.microsoft.com/office/drawing/2014/main" id="{24A482F0-F636-3951-1996-B9DA7AF7B471}"/>
              </a:ext>
            </a:extLst>
          </p:cNvPr>
          <p:cNvSpPr/>
          <p:nvPr/>
        </p:nvSpPr>
        <p:spPr>
          <a:xfrm>
            <a:off x="6812121" y="4046758"/>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2026</a:t>
            </a:r>
          </a:p>
        </p:txBody>
      </p:sp>
      <p:sp>
        <p:nvSpPr>
          <p:cNvPr id="68" name="Rectangle 67">
            <a:extLst>
              <a:ext uri="{FF2B5EF4-FFF2-40B4-BE49-F238E27FC236}">
                <a16:creationId xmlns:a16="http://schemas.microsoft.com/office/drawing/2014/main" id="{1CEEF637-2629-2ACA-0524-D29ED46AD763}"/>
              </a:ext>
            </a:extLst>
          </p:cNvPr>
          <p:cNvSpPr/>
          <p:nvPr/>
        </p:nvSpPr>
        <p:spPr>
          <a:xfrm>
            <a:off x="7379121" y="4046758"/>
            <a:ext cx="48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2027</a:t>
            </a:r>
          </a:p>
        </p:txBody>
      </p:sp>
      <p:sp>
        <p:nvSpPr>
          <p:cNvPr id="69" name="Rectangle 68">
            <a:extLst>
              <a:ext uri="{FF2B5EF4-FFF2-40B4-BE49-F238E27FC236}">
                <a16:creationId xmlns:a16="http://schemas.microsoft.com/office/drawing/2014/main" id="{AF9B8C50-A83A-513D-61D2-BA9647D6F7BA}"/>
              </a:ext>
            </a:extLst>
          </p:cNvPr>
          <p:cNvSpPr/>
          <p:nvPr/>
        </p:nvSpPr>
        <p:spPr>
          <a:xfrm>
            <a:off x="7992097" y="4046758"/>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2025</a:t>
            </a:r>
          </a:p>
        </p:txBody>
      </p:sp>
      <p:sp>
        <p:nvSpPr>
          <p:cNvPr id="70" name="Rectangle 69">
            <a:extLst>
              <a:ext uri="{FF2B5EF4-FFF2-40B4-BE49-F238E27FC236}">
                <a16:creationId xmlns:a16="http://schemas.microsoft.com/office/drawing/2014/main" id="{D0AAE749-105F-026B-53D5-6C94BA6AA691}"/>
              </a:ext>
            </a:extLst>
          </p:cNvPr>
          <p:cNvSpPr/>
          <p:nvPr/>
        </p:nvSpPr>
        <p:spPr>
          <a:xfrm>
            <a:off x="8559097" y="4046758"/>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2026</a:t>
            </a:r>
          </a:p>
        </p:txBody>
      </p:sp>
      <p:sp>
        <p:nvSpPr>
          <p:cNvPr id="71" name="Rectangle 70">
            <a:extLst>
              <a:ext uri="{FF2B5EF4-FFF2-40B4-BE49-F238E27FC236}">
                <a16:creationId xmlns:a16="http://schemas.microsoft.com/office/drawing/2014/main" id="{263C7A87-6096-39D6-FF71-6C3DE050E832}"/>
              </a:ext>
            </a:extLst>
          </p:cNvPr>
          <p:cNvSpPr/>
          <p:nvPr/>
        </p:nvSpPr>
        <p:spPr>
          <a:xfrm>
            <a:off x="9126097" y="4046758"/>
            <a:ext cx="48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2027</a:t>
            </a:r>
          </a:p>
        </p:txBody>
      </p:sp>
      <p:sp>
        <p:nvSpPr>
          <p:cNvPr id="72" name="Rectangle 71">
            <a:extLst>
              <a:ext uri="{FF2B5EF4-FFF2-40B4-BE49-F238E27FC236}">
                <a16:creationId xmlns:a16="http://schemas.microsoft.com/office/drawing/2014/main" id="{5904D1CA-F17C-3680-B752-6B51A98E41AF}"/>
              </a:ext>
            </a:extLst>
          </p:cNvPr>
          <p:cNvSpPr/>
          <p:nvPr/>
        </p:nvSpPr>
        <p:spPr>
          <a:xfrm>
            <a:off x="9741412" y="4035584"/>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2025</a:t>
            </a:r>
          </a:p>
        </p:txBody>
      </p:sp>
      <p:sp>
        <p:nvSpPr>
          <p:cNvPr id="73" name="Rectangle 72">
            <a:extLst>
              <a:ext uri="{FF2B5EF4-FFF2-40B4-BE49-F238E27FC236}">
                <a16:creationId xmlns:a16="http://schemas.microsoft.com/office/drawing/2014/main" id="{C7ED45ED-9FD0-AD29-218F-0F918B46B9C0}"/>
              </a:ext>
            </a:extLst>
          </p:cNvPr>
          <p:cNvSpPr/>
          <p:nvPr/>
        </p:nvSpPr>
        <p:spPr>
          <a:xfrm>
            <a:off x="10308412" y="4035584"/>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2026</a:t>
            </a:r>
          </a:p>
        </p:txBody>
      </p:sp>
      <p:sp>
        <p:nvSpPr>
          <p:cNvPr id="74" name="Rectangle 73">
            <a:extLst>
              <a:ext uri="{FF2B5EF4-FFF2-40B4-BE49-F238E27FC236}">
                <a16:creationId xmlns:a16="http://schemas.microsoft.com/office/drawing/2014/main" id="{08085169-2219-FBB3-94D1-086234002EFF}"/>
              </a:ext>
            </a:extLst>
          </p:cNvPr>
          <p:cNvSpPr/>
          <p:nvPr/>
        </p:nvSpPr>
        <p:spPr>
          <a:xfrm>
            <a:off x="10875412" y="4035584"/>
            <a:ext cx="48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2027</a:t>
            </a:r>
          </a:p>
        </p:txBody>
      </p:sp>
      <p:sp>
        <p:nvSpPr>
          <p:cNvPr id="75" name="Rectangle 74">
            <a:extLst>
              <a:ext uri="{FF2B5EF4-FFF2-40B4-BE49-F238E27FC236}">
                <a16:creationId xmlns:a16="http://schemas.microsoft.com/office/drawing/2014/main" id="{226B27B2-A0A9-0BD3-66E7-91583B879460}"/>
              </a:ext>
            </a:extLst>
          </p:cNvPr>
          <p:cNvSpPr/>
          <p:nvPr/>
        </p:nvSpPr>
        <p:spPr>
          <a:xfrm>
            <a:off x="6244315" y="4562145"/>
            <a:ext cx="3367782"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fr-FR" sz="900" b="1" i="0" u="sng" strike="noStrike" kern="1200" cap="none" spc="0" normalizeH="0" baseline="0" noProof="0" dirty="0">
                <a:ln>
                  <a:noFill/>
                </a:ln>
                <a:solidFill>
                  <a:prstClr val="black"/>
                </a:solidFill>
                <a:effectLst/>
                <a:uLnTx/>
                <a:uFillTx/>
                <a:latin typeface="Calibri (body)"/>
                <a:ea typeface="+mn-ea"/>
                <a:cs typeface="+mn-cs"/>
              </a:rPr>
              <a:t>Pour chaque année :</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Marge ou taux sur le stock</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Marge ou taux sur les encours qui maturent</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Marge ou taux sur les nouveaux encours (pour les besoins de bilan constant)</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p:txBody>
      </p:sp>
      <p:sp>
        <p:nvSpPr>
          <p:cNvPr id="76" name="Rectangle 75">
            <a:extLst>
              <a:ext uri="{FF2B5EF4-FFF2-40B4-BE49-F238E27FC236}">
                <a16:creationId xmlns:a16="http://schemas.microsoft.com/office/drawing/2014/main" id="{F18DC081-F9FB-17C6-B2F0-AA7DE046BEA7}"/>
              </a:ext>
            </a:extLst>
          </p:cNvPr>
          <p:cNvSpPr/>
          <p:nvPr/>
        </p:nvSpPr>
        <p:spPr>
          <a:xfrm>
            <a:off x="9741412" y="4562145"/>
            <a:ext cx="1620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 couvert par  provision</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p:txBody>
      </p:sp>
      <p:sp>
        <p:nvSpPr>
          <p:cNvPr id="77" name="Rectangle 76">
            <a:extLst>
              <a:ext uri="{FF2B5EF4-FFF2-40B4-BE49-F238E27FC236}">
                <a16:creationId xmlns:a16="http://schemas.microsoft.com/office/drawing/2014/main" id="{41EE0852-65FD-8740-86FA-C3D9240EACD5}"/>
              </a:ext>
            </a:extLst>
          </p:cNvPr>
          <p:cNvSpPr/>
          <p:nvPr/>
        </p:nvSpPr>
        <p:spPr>
          <a:xfrm>
            <a:off x="124255" y="949747"/>
            <a:ext cx="11696294" cy="5679035"/>
          </a:xfrm>
          <a:prstGeom prst="rect">
            <a:avLst/>
          </a:prstGeom>
          <a:no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Calibri (body)"/>
              <a:ea typeface="+mn-ea"/>
              <a:cs typeface="+mn-cs"/>
            </a:endParaRPr>
          </a:p>
        </p:txBody>
      </p:sp>
      <p:sp>
        <p:nvSpPr>
          <p:cNvPr id="3" name="Espace réservé du texte 16">
            <a:extLst>
              <a:ext uri="{FF2B5EF4-FFF2-40B4-BE49-F238E27FC236}">
                <a16:creationId xmlns:a16="http://schemas.microsoft.com/office/drawing/2014/main" id="{686688ED-05D7-81F1-2ACC-FBB245613733}"/>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199357083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48005" y="6006164"/>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Présentation des templates</a:t>
            </a:r>
          </a:p>
          <a:p>
            <a:r>
              <a:rPr lang="fr-FR" sz="2000" dirty="0"/>
              <a:t>c- Templates réglementaires – </a:t>
            </a:r>
            <a:r>
              <a:rPr lang="en-GB" sz="2000" dirty="0"/>
              <a:t>NII_CALC (2)</a:t>
            </a:r>
            <a:endParaRPr lang="fr-FR" sz="2000" dirty="0"/>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00" kern="1200" smtClean="0">
                <a:solidFill>
                  <a:srgbClr val="003565"/>
                </a:solidFill>
                <a:latin typeface="Calibri (body)"/>
                <a:ea typeface="+mn-ea"/>
                <a:cs typeface="+mn-cs"/>
              </a:rPr>
              <a:pPr algn="r" defTabSz="1219170">
                <a:buClrTx/>
                <a:buFontTx/>
                <a:buNone/>
                <a:defRPr/>
              </a:pPr>
              <a:t>66</a:t>
            </a:fld>
            <a:endParaRPr lang="fr-FR" sz="1000" kern="1200" dirty="0">
              <a:solidFill>
                <a:srgbClr val="003565"/>
              </a:solidFill>
              <a:latin typeface="Calibri (body)"/>
              <a:ea typeface="+mn-ea"/>
              <a:cs typeface="+mn-cs"/>
            </a:endParaRPr>
          </a:p>
        </p:txBody>
      </p:sp>
      <p:sp>
        <p:nvSpPr>
          <p:cNvPr id="24" name="TextBox 23">
            <a:extLst>
              <a:ext uri="{FF2B5EF4-FFF2-40B4-BE49-F238E27FC236}">
                <a16:creationId xmlns:a16="http://schemas.microsoft.com/office/drawing/2014/main" id="{180184F3-AB9F-6336-EEFE-35609415CA28}"/>
              </a:ext>
            </a:extLst>
          </p:cNvPr>
          <p:cNvSpPr txBox="1"/>
          <p:nvPr/>
        </p:nvSpPr>
        <p:spPr>
          <a:xfrm>
            <a:off x="124256" y="714680"/>
            <a:ext cx="11696294" cy="6255559"/>
          </a:xfrm>
          <a:prstGeom prst="rect">
            <a:avLst/>
          </a:prstGeom>
          <a:noFill/>
        </p:spPr>
        <p:txBody>
          <a:bodyPr wrap="square">
            <a:spAutoFit/>
          </a:bodyPr>
          <a:lstStyle/>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000" b="1"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prstClr val="black"/>
                </a:solidFill>
                <a:effectLst/>
                <a:uLnTx/>
                <a:uFillTx/>
                <a:latin typeface="Calibri (body)"/>
                <a:ea typeface="+mn-ea"/>
                <a:cs typeface="+mn-cs"/>
              </a:rPr>
              <a:t>Enjeux clés et méthodologie de projection</a:t>
            </a:r>
          </a:p>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Calibri (body)"/>
                <a:ea typeface="+mn-ea"/>
                <a:cs typeface="+mn-cs"/>
              </a:rPr>
              <a:t>• Le template STEBA utilise une méthodologie de calcul </a:t>
            </a:r>
            <a:r>
              <a:rPr kumimoji="0" lang="fr-FR" sz="1200" b="1" i="0" u="none" strike="noStrike" kern="1200" cap="none" spc="0" normalizeH="0" baseline="0" noProof="0" dirty="0">
                <a:ln>
                  <a:noFill/>
                </a:ln>
                <a:solidFill>
                  <a:prstClr val="black"/>
                </a:solidFill>
                <a:effectLst/>
                <a:uLnTx/>
                <a:uFillTx/>
                <a:latin typeface="Calibri (body)"/>
                <a:ea typeface="+mn-ea"/>
                <a:cs typeface="+mn-cs"/>
              </a:rPr>
              <a:t>agrégée</a:t>
            </a:r>
            <a:r>
              <a:rPr kumimoji="0" lang="fr-FR" sz="1200" b="0" i="0" u="none" strike="noStrike" kern="1200" cap="none" spc="0" normalizeH="0" baseline="0" noProof="0" dirty="0">
                <a:ln>
                  <a:noFill/>
                </a:ln>
                <a:solidFill>
                  <a:prstClr val="black"/>
                </a:solidFill>
                <a:effectLst/>
                <a:uLnTx/>
                <a:uFillTx/>
                <a:latin typeface="Calibri (body)"/>
                <a:ea typeface="+mn-ea"/>
                <a:cs typeface="+mn-cs"/>
              </a:rPr>
              <a:t> :</a:t>
            </a:r>
          </a:p>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200" b="0" i="0" u="none" strike="noStrike" kern="1200" cap="none" spc="0" normalizeH="0" baseline="0" noProof="0" dirty="0">
                <a:ln>
                  <a:noFill/>
                </a:ln>
                <a:solidFill>
                  <a:prstClr val="black"/>
                </a:solidFill>
                <a:effectLst/>
                <a:uLnTx/>
                <a:uFillTx/>
                <a:latin typeface="Calibri (body)"/>
                <a:ea typeface="+mn-ea"/>
                <a:cs typeface="+mn-cs"/>
              </a:rPr>
              <a:t>Cela signifie que toutes les transactions sont dans un premier temps agrégé selon leurs caractéristiques :</a:t>
            </a:r>
          </a:p>
          <a:p>
            <a:pPr marL="176213" marR="0" lvl="1" algn="just" defTabSz="1219170" rtl="0" eaLnBrk="1" fontAlgn="auto" latinLnBrk="0" hangingPunct="1">
              <a:lnSpc>
                <a:spcPct val="100000"/>
              </a:lnSpc>
              <a:spcBef>
                <a:spcPts val="0"/>
              </a:spcBef>
              <a:spcAft>
                <a:spcPts val="0"/>
              </a:spcAft>
              <a:buClrTx/>
              <a:buSzTx/>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algn="just" defTabSz="1219170" rtl="0" eaLnBrk="1" fontAlgn="auto" latinLnBrk="0" hangingPunct="1">
              <a:lnSpc>
                <a:spcPct val="100000"/>
              </a:lnSpc>
              <a:spcBef>
                <a:spcPts val="0"/>
              </a:spcBef>
              <a:spcAft>
                <a:spcPts val="0"/>
              </a:spcAft>
              <a:buClrTx/>
              <a:buSzTx/>
              <a:tabLst/>
              <a:defRPr/>
            </a:pPr>
            <a:endParaRPr lang="fr-FR" sz="1000" kern="1200" dirty="0">
              <a:solidFill>
                <a:prstClr val="black"/>
              </a:solidFill>
              <a:latin typeface="Calibri (body)"/>
              <a:ea typeface="+mn-ea"/>
              <a:cs typeface="+mn-cs"/>
            </a:endParaRPr>
          </a:p>
          <a:p>
            <a:pPr marL="176213" marR="0" lvl="1" algn="just" defTabSz="1219170" rtl="0" eaLnBrk="1" fontAlgn="auto" latinLnBrk="0" hangingPunct="1">
              <a:lnSpc>
                <a:spcPct val="100000"/>
              </a:lnSpc>
              <a:spcBef>
                <a:spcPts val="0"/>
              </a:spcBef>
              <a:spcAft>
                <a:spcPts val="0"/>
              </a:spcAft>
              <a:buClrTx/>
              <a:buSzTx/>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Le calcul de MNI est en ensuite effectué avec plusieurs hypothèses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implicites ou explicites :</a:t>
            </a:r>
          </a:p>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050" b="0" i="0" u="none" strike="noStrike" kern="1200" cap="none" spc="0" normalizeH="0" baseline="0" noProof="0" dirty="0">
              <a:ln>
                <a:noFill/>
              </a:ln>
              <a:solidFill>
                <a:prstClr val="black"/>
              </a:solidFill>
              <a:effectLst/>
              <a:uLnTx/>
              <a:uFillTx/>
              <a:latin typeface="Calibri (body)"/>
              <a:ea typeface="+mn-ea"/>
              <a:cs typeface="+mn-cs"/>
            </a:endParaRP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Le taux (et la marge) moyen d’un portefeuille homogène selon les critères ci-dessus correspond au taux associé à la maturité moyenne du portefeuille</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La marge sur les nouveaux produits est calculée à partir des marges de l’année 2024.  </a:t>
            </a:r>
          </a:p>
          <a:p>
            <a:pPr marL="633413" marR="0" lvl="2" indent="0" algn="just" defTabSz="1219170" rtl="0" eaLnBrk="1" fontAlgn="auto" latinLnBrk="0" hangingPunct="1">
              <a:lnSpc>
                <a:spcPct val="100000"/>
              </a:lnSpc>
              <a:spcBef>
                <a:spcPts val="0"/>
              </a:spcBef>
              <a:spcAft>
                <a:spcPts val="0"/>
              </a:spcAft>
              <a:buClrTx/>
              <a:buSzTx/>
              <a:buFontTx/>
              <a:buNone/>
              <a:tabLst/>
              <a:defRPr/>
            </a:pPr>
            <a:endParaRPr kumimoji="0" lang="fr-FR" sz="1050" b="0" i="0" u="none" strike="noStrike" kern="1200" cap="none" spc="0" normalizeH="0" baseline="0" noProof="0" dirty="0">
              <a:ln>
                <a:noFill/>
              </a:ln>
              <a:solidFill>
                <a:prstClr val="black"/>
              </a:solidFill>
              <a:effectLst/>
              <a:uLnTx/>
              <a:uFillTx/>
              <a:latin typeface="Calibri (body)"/>
              <a:ea typeface="+mn-ea"/>
              <a:cs typeface="+mn-cs"/>
            </a:endParaRP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Pour les transactions à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taux révisable</a:t>
            </a:r>
            <a:r>
              <a:rPr kumimoji="0" lang="fr-FR" sz="1050" b="0" i="0" u="none" strike="noStrike" kern="1200" cap="none" spc="0" normalizeH="0" baseline="0" noProof="0" dirty="0">
                <a:ln>
                  <a:noFill/>
                </a:ln>
                <a:solidFill>
                  <a:prstClr val="black"/>
                </a:solidFill>
                <a:effectLst/>
                <a:uLnTx/>
                <a:uFillTx/>
                <a:latin typeface="Calibri (body)"/>
                <a:ea typeface="+mn-ea"/>
                <a:cs typeface="+mn-cs"/>
              </a:rPr>
              <a:t>, la projection </a:t>
            </a:r>
            <a:r>
              <a:rPr kumimoji="0" lang="fr-FR" sz="1050" b="0" i="0" u="sng" strike="noStrike" kern="1200" cap="none" spc="0" normalizeH="0" baseline="0" noProof="0" dirty="0">
                <a:ln>
                  <a:noFill/>
                </a:ln>
                <a:solidFill>
                  <a:prstClr val="black"/>
                </a:solidFill>
                <a:effectLst/>
                <a:uLnTx/>
                <a:uFillTx/>
                <a:latin typeface="Calibri (body)"/>
                <a:ea typeface="+mn-ea"/>
                <a:cs typeface="+mn-cs"/>
              </a:rPr>
              <a:t>du taux de référence </a:t>
            </a:r>
            <a:r>
              <a:rPr kumimoji="0" lang="fr-FR" sz="1050" b="0" i="0" u="none" strike="noStrike" kern="1200" cap="none" spc="0" normalizeH="0" baseline="0" noProof="0" dirty="0">
                <a:ln>
                  <a:noFill/>
                </a:ln>
                <a:solidFill>
                  <a:prstClr val="black"/>
                </a:solidFill>
                <a:effectLst/>
                <a:uLnTx/>
                <a:uFillTx/>
                <a:latin typeface="Calibri (body)"/>
                <a:ea typeface="+mn-ea"/>
                <a:cs typeface="+mn-cs"/>
              </a:rPr>
              <a:t>est faite en partant du principe que les encours repricent en moyenne à une proportion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fixée</a:t>
            </a:r>
            <a:r>
              <a:rPr kumimoji="0" lang="fr-FR" sz="1050" b="0" i="0" u="none" strike="noStrike" kern="1200" cap="none" spc="0" normalizeH="0" baseline="0" noProof="0" dirty="0">
                <a:ln>
                  <a:noFill/>
                </a:ln>
                <a:solidFill>
                  <a:prstClr val="black"/>
                </a:solidFill>
                <a:effectLst/>
                <a:uLnTx/>
                <a:uFillTx/>
                <a:latin typeface="Calibri (body)"/>
                <a:ea typeface="+mn-ea"/>
                <a:cs typeface="+mn-cs"/>
              </a:rPr>
              <a:t> de l’année :</a:t>
            </a:r>
          </a:p>
          <a:p>
            <a:pPr marL="1262063" marR="0" lvl="3"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20% de l’année sur les encours à terme</a:t>
            </a:r>
          </a:p>
          <a:p>
            <a:pPr marL="1262063" marR="0" lvl="3"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Immédiatement sur les encours à vue</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Pour les transactions à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taux fixe</a:t>
            </a:r>
            <a:r>
              <a:rPr kumimoji="0" lang="fr-FR" sz="1050" b="0" i="0" u="none" strike="noStrike" kern="1200" cap="none" spc="0" normalizeH="0" baseline="0" noProof="0" dirty="0">
                <a:ln>
                  <a:noFill/>
                </a:ln>
                <a:solidFill>
                  <a:prstClr val="black"/>
                </a:solidFill>
                <a:effectLst/>
                <a:uLnTx/>
                <a:uFillTx/>
                <a:latin typeface="Calibri (body)"/>
                <a:ea typeface="+mn-ea"/>
                <a:cs typeface="+mn-cs"/>
              </a:rPr>
              <a:t>, la projection </a:t>
            </a:r>
            <a:r>
              <a:rPr kumimoji="0" lang="fr-FR" sz="1050" b="0" i="0" u="sng" strike="noStrike" kern="1200" cap="none" spc="0" normalizeH="0" baseline="0" noProof="0" dirty="0">
                <a:ln>
                  <a:noFill/>
                </a:ln>
                <a:solidFill>
                  <a:prstClr val="black"/>
                </a:solidFill>
                <a:effectLst/>
                <a:uLnTx/>
                <a:uFillTx/>
                <a:latin typeface="Calibri (body)"/>
                <a:ea typeface="+mn-ea"/>
                <a:cs typeface="+mn-cs"/>
              </a:rPr>
              <a:t>du taux de référence et de la marge </a:t>
            </a:r>
            <a:r>
              <a:rPr kumimoji="0" lang="fr-FR" sz="1050" b="0" i="0" u="none" strike="noStrike" kern="1200" cap="none" spc="0" normalizeH="0" baseline="0" noProof="0" dirty="0">
                <a:ln>
                  <a:noFill/>
                </a:ln>
                <a:solidFill>
                  <a:prstClr val="black"/>
                </a:solidFill>
                <a:effectLst/>
                <a:uLnTx/>
                <a:uFillTx/>
                <a:latin typeface="Calibri (body)"/>
                <a:ea typeface="+mn-ea"/>
                <a:cs typeface="+mn-cs"/>
              </a:rPr>
              <a:t>est faite en partant du principe que les encours repricent en moyenne à une proportion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fixée</a:t>
            </a:r>
            <a:r>
              <a:rPr kumimoji="0" lang="fr-FR" sz="1050" b="0" i="0" u="none" strike="noStrike" kern="1200" cap="none" spc="0" normalizeH="0" baseline="0" noProof="0" dirty="0">
                <a:ln>
                  <a:noFill/>
                </a:ln>
                <a:solidFill>
                  <a:prstClr val="black"/>
                </a:solidFill>
                <a:effectLst/>
                <a:uLnTx/>
                <a:uFillTx/>
                <a:latin typeface="Calibri (body)"/>
                <a:ea typeface="+mn-ea"/>
                <a:cs typeface="+mn-cs"/>
              </a:rPr>
              <a:t> de l’année :</a:t>
            </a:r>
          </a:p>
          <a:p>
            <a:pPr marL="1262063" marR="0" lvl="3"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50% de l’année sur les encours à l’actif et les émissions de dette</a:t>
            </a:r>
          </a:p>
          <a:p>
            <a:pPr marL="1262063" marR="0" lvl="3"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Immédiatement sur les encours à vue au passif</a:t>
            </a:r>
          </a:p>
          <a:p>
            <a:pPr marL="1262063" marR="0" lvl="3"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30% de l’année sur les emprunts à terme</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La part de marge des transactions à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taux révisable </a:t>
            </a:r>
            <a:r>
              <a:rPr kumimoji="0" lang="fr-FR" sz="1050" b="0" i="0" u="none" strike="noStrike" kern="1200" cap="none" spc="0" normalizeH="0" baseline="0" noProof="0" dirty="0">
                <a:ln>
                  <a:noFill/>
                </a:ln>
                <a:solidFill>
                  <a:prstClr val="black"/>
                </a:solidFill>
                <a:effectLst/>
                <a:uLnTx/>
                <a:uFillTx/>
                <a:latin typeface="Calibri (body)"/>
                <a:ea typeface="+mn-ea"/>
                <a:cs typeface="+mn-cs"/>
              </a:rPr>
              <a:t>est projetée de la même manière que les encours à taux fixe</a:t>
            </a:r>
          </a:p>
          <a:p>
            <a:pPr marL="347663" marR="0" lvl="1"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fr-FR" sz="1050" b="0" i="0" u="none" strike="noStrike" kern="1200" cap="none" spc="0" normalizeH="0" baseline="0" noProof="0" dirty="0">
              <a:ln>
                <a:noFill/>
              </a:ln>
              <a:solidFill>
                <a:prstClr val="black"/>
              </a:solidFill>
              <a:effectLst/>
              <a:uLnTx/>
              <a:uFillTx/>
              <a:latin typeface="Calibri (body)"/>
              <a:ea typeface="+mn-ea"/>
              <a:cs typeface="+mn-cs"/>
            </a:endParaRPr>
          </a:p>
          <a:p>
            <a:pPr marL="633413" marR="0" lvl="2" indent="0" algn="just" defTabSz="121917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La MNI est ainsi découpée en trois composantes par année :</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La partie qui ne mature pas ni ne refixe dans l’année pour laquelle le taux utilisé est le taux original</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La partie qui mature ou reprice dans l’année (définie précédemment) pour laquelle on utilise le taux original également</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Le remplacement de ces encours pour satisfaire l’hypothèse de bilan constant pour lequel on utilise les projections de taux</a:t>
            </a:r>
            <a:endParaRPr kumimoji="0" lang="fr-FR" sz="11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Le traitement de ces lignes est par la suite </a:t>
            </a:r>
            <a:r>
              <a:rPr kumimoji="0" lang="fr-FR" sz="1100" b="1" i="0" u="none" strike="noStrike" kern="1200" cap="none" spc="0" normalizeH="0" baseline="0" noProof="0" dirty="0">
                <a:ln>
                  <a:noFill/>
                </a:ln>
                <a:solidFill>
                  <a:prstClr val="black"/>
                </a:solidFill>
                <a:effectLst/>
                <a:uLnTx/>
                <a:uFillTx/>
                <a:latin typeface="Calibri (body)"/>
                <a:ea typeface="+mn-ea"/>
                <a:cs typeface="+mn-cs"/>
              </a:rPr>
              <a:t>uniforme. </a:t>
            </a:r>
            <a:endParaRPr kumimoji="0" lang="fr-FR" sz="1100" b="0" i="0" u="none" strike="noStrike" kern="1200" cap="none" spc="0" normalizeH="0" baseline="0" noProof="0" dirty="0">
              <a:ln>
                <a:noFill/>
              </a:ln>
              <a:solidFill>
                <a:prstClr val="black"/>
              </a:solidFill>
              <a:effectLst/>
              <a:uLnTx/>
              <a:uFillTx/>
              <a:latin typeface="Calibri (body)"/>
              <a:ea typeface="+mn-ea"/>
              <a:cs typeface="+mn-cs"/>
            </a:endParaRPr>
          </a:p>
        </p:txBody>
      </p:sp>
      <p:sp>
        <p:nvSpPr>
          <p:cNvPr id="25" name="Rectangle 24">
            <a:extLst>
              <a:ext uri="{FF2B5EF4-FFF2-40B4-BE49-F238E27FC236}">
                <a16:creationId xmlns:a16="http://schemas.microsoft.com/office/drawing/2014/main" id="{2F0D9FB2-766F-F591-F646-9B70A07908CC}"/>
              </a:ext>
            </a:extLst>
          </p:cNvPr>
          <p:cNvSpPr/>
          <p:nvPr/>
        </p:nvSpPr>
        <p:spPr>
          <a:xfrm>
            <a:off x="48005" y="847383"/>
            <a:ext cx="11696294" cy="2470921"/>
          </a:xfrm>
          <a:prstGeom prst="rect">
            <a:avLst/>
          </a:prstGeom>
          <a:noFill/>
          <a:ln>
            <a:solidFill>
              <a:srgbClr val="00356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Calibri (body)"/>
            </a:endParaRPr>
          </a:p>
        </p:txBody>
      </p:sp>
      <p:sp>
        <p:nvSpPr>
          <p:cNvPr id="26" name="Rectangle 25">
            <a:extLst>
              <a:ext uri="{FF2B5EF4-FFF2-40B4-BE49-F238E27FC236}">
                <a16:creationId xmlns:a16="http://schemas.microsoft.com/office/drawing/2014/main" id="{5E717EDB-115E-5CEF-8350-C8DE5E13D586}"/>
              </a:ext>
            </a:extLst>
          </p:cNvPr>
          <p:cNvSpPr/>
          <p:nvPr/>
        </p:nvSpPr>
        <p:spPr>
          <a:xfrm>
            <a:off x="31560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rPr>
              <a:t>Taux</a:t>
            </a:r>
          </a:p>
        </p:txBody>
      </p:sp>
      <p:sp>
        <p:nvSpPr>
          <p:cNvPr id="27" name="Rectangle 26">
            <a:extLst>
              <a:ext uri="{FF2B5EF4-FFF2-40B4-BE49-F238E27FC236}">
                <a16:creationId xmlns:a16="http://schemas.microsoft.com/office/drawing/2014/main" id="{833AA2DB-CC91-4D78-20E7-F6659AD7B537}"/>
              </a:ext>
            </a:extLst>
          </p:cNvPr>
          <p:cNvSpPr/>
          <p:nvPr/>
        </p:nvSpPr>
        <p:spPr>
          <a:xfrm>
            <a:off x="168206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rPr>
              <a:t>Bilan</a:t>
            </a:r>
          </a:p>
        </p:txBody>
      </p:sp>
      <p:sp>
        <p:nvSpPr>
          <p:cNvPr id="28" name="Rectangle 27">
            <a:extLst>
              <a:ext uri="{FF2B5EF4-FFF2-40B4-BE49-F238E27FC236}">
                <a16:creationId xmlns:a16="http://schemas.microsoft.com/office/drawing/2014/main" id="{428D115B-C668-1CE5-6ECE-81F0EB3AE192}"/>
              </a:ext>
            </a:extLst>
          </p:cNvPr>
          <p:cNvSpPr/>
          <p:nvPr/>
        </p:nvSpPr>
        <p:spPr>
          <a:xfrm>
            <a:off x="304852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rPr>
              <a:t>P</a:t>
            </a:r>
            <a:r>
              <a:rPr kumimoji="0" lang="en-GB" sz="1050" b="0" i="0" u="none" strike="noStrike" kern="1200" cap="none" spc="0" normalizeH="0" baseline="0" noProof="0" dirty="0" err="1">
                <a:ln>
                  <a:noFill/>
                </a:ln>
                <a:solidFill>
                  <a:srgbClr val="FFFFFF"/>
                </a:solidFill>
                <a:effectLst/>
                <a:uLnTx/>
                <a:uFillTx/>
                <a:latin typeface="Calibri (body)"/>
              </a:rPr>
              <a:t>roduit</a:t>
            </a:r>
            <a:endParaRPr kumimoji="0" lang="en-GB" sz="1050" b="0" i="0" u="none" strike="noStrike" kern="1200" cap="none" spc="0" normalizeH="0" baseline="0" noProof="0" dirty="0">
              <a:ln>
                <a:noFill/>
              </a:ln>
              <a:solidFill>
                <a:srgbClr val="FFFFFF"/>
              </a:solidFill>
              <a:effectLst/>
              <a:uLnTx/>
              <a:uFillTx/>
              <a:latin typeface="Calibri (body)"/>
            </a:endParaRPr>
          </a:p>
        </p:txBody>
      </p:sp>
      <p:sp>
        <p:nvSpPr>
          <p:cNvPr id="29" name="Rectangle 28">
            <a:extLst>
              <a:ext uri="{FF2B5EF4-FFF2-40B4-BE49-F238E27FC236}">
                <a16:creationId xmlns:a16="http://schemas.microsoft.com/office/drawing/2014/main" id="{DFE4C86F-E150-7B45-AA84-2A0CBC034FE5}"/>
              </a:ext>
            </a:extLst>
          </p:cNvPr>
          <p:cNvSpPr/>
          <p:nvPr/>
        </p:nvSpPr>
        <p:spPr>
          <a:xfrm>
            <a:off x="441498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srgbClr val="FFFFFF"/>
                </a:solidFill>
                <a:effectLst/>
                <a:uLnTx/>
                <a:uFillTx/>
                <a:latin typeface="Calibri (body)"/>
              </a:rPr>
              <a:t>Contrepartie</a:t>
            </a:r>
            <a:endParaRPr kumimoji="0" lang="en-GB" sz="1050" b="0" i="0" u="none" strike="noStrike" kern="1200" cap="none" spc="0" normalizeH="0" baseline="0" noProof="0" dirty="0">
              <a:ln>
                <a:noFill/>
              </a:ln>
              <a:solidFill>
                <a:srgbClr val="FFFFFF"/>
              </a:solidFill>
              <a:effectLst/>
              <a:uLnTx/>
              <a:uFillTx/>
              <a:latin typeface="Calibri (body)"/>
            </a:endParaRPr>
          </a:p>
        </p:txBody>
      </p:sp>
      <p:sp>
        <p:nvSpPr>
          <p:cNvPr id="30" name="Rectangle 29">
            <a:extLst>
              <a:ext uri="{FF2B5EF4-FFF2-40B4-BE49-F238E27FC236}">
                <a16:creationId xmlns:a16="http://schemas.microsoft.com/office/drawing/2014/main" id="{C904E63E-63D3-10F1-C3E2-6B1AA2CBD5E1}"/>
              </a:ext>
            </a:extLst>
          </p:cNvPr>
          <p:cNvSpPr/>
          <p:nvPr/>
        </p:nvSpPr>
        <p:spPr>
          <a:xfrm>
            <a:off x="578144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srgbClr val="FFFFFF"/>
                </a:solidFill>
                <a:effectLst/>
                <a:uLnTx/>
                <a:uFillTx/>
                <a:latin typeface="Calibri (body)"/>
              </a:rPr>
              <a:t>Optionnalité</a:t>
            </a:r>
            <a:endParaRPr kumimoji="0" lang="en-GB" sz="1050" b="0" i="0" u="none" strike="noStrike" kern="1200" cap="none" spc="0" normalizeH="0" baseline="0" noProof="0" dirty="0">
              <a:ln>
                <a:noFill/>
              </a:ln>
              <a:solidFill>
                <a:srgbClr val="FFFFFF"/>
              </a:solidFill>
              <a:effectLst/>
              <a:uLnTx/>
              <a:uFillTx/>
              <a:latin typeface="Calibri (body)"/>
            </a:endParaRPr>
          </a:p>
        </p:txBody>
      </p:sp>
      <p:sp>
        <p:nvSpPr>
          <p:cNvPr id="31" name="Rectangle 30">
            <a:extLst>
              <a:ext uri="{FF2B5EF4-FFF2-40B4-BE49-F238E27FC236}">
                <a16:creationId xmlns:a16="http://schemas.microsoft.com/office/drawing/2014/main" id="{DDA84793-D61E-8E7E-5BC7-EA1968A401B4}"/>
              </a:ext>
            </a:extLst>
          </p:cNvPr>
          <p:cNvSpPr/>
          <p:nvPr/>
        </p:nvSpPr>
        <p:spPr>
          <a:xfrm>
            <a:off x="714790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srgbClr val="FFFFFF"/>
                </a:solidFill>
                <a:effectLst/>
                <a:uLnTx/>
                <a:uFillTx/>
                <a:latin typeface="Calibri (body)"/>
              </a:rPr>
              <a:t>Maturité</a:t>
            </a:r>
            <a:r>
              <a:rPr kumimoji="0" lang="en-GB" sz="1050" b="0" i="0" u="none" strike="noStrike" kern="1200" cap="none" spc="0" normalizeH="0" baseline="0" noProof="0" dirty="0">
                <a:ln>
                  <a:noFill/>
                </a:ln>
                <a:solidFill>
                  <a:srgbClr val="FFFFFF"/>
                </a:solidFill>
                <a:effectLst/>
                <a:uLnTx/>
                <a:uFillTx/>
                <a:latin typeface="Calibri (body)"/>
              </a:rPr>
              <a:t> </a:t>
            </a:r>
            <a:r>
              <a:rPr kumimoji="0" lang="en-GB" sz="1050" b="0" i="0" u="none" strike="noStrike" kern="1200" cap="none" spc="0" normalizeH="0" baseline="0" noProof="0" dirty="0" err="1">
                <a:ln>
                  <a:noFill/>
                </a:ln>
                <a:solidFill>
                  <a:srgbClr val="FFFFFF"/>
                </a:solidFill>
                <a:effectLst/>
                <a:uLnTx/>
                <a:uFillTx/>
                <a:latin typeface="Calibri (body)"/>
              </a:rPr>
              <a:t>résiduelle</a:t>
            </a:r>
            <a:endParaRPr kumimoji="0" lang="en-GB" sz="1050" b="0" i="0" u="none" strike="noStrike" kern="1200" cap="none" spc="0" normalizeH="0" baseline="0" noProof="0" dirty="0">
              <a:ln>
                <a:noFill/>
              </a:ln>
              <a:solidFill>
                <a:srgbClr val="FFFFFF"/>
              </a:solidFill>
              <a:effectLst/>
              <a:uLnTx/>
              <a:uFillTx/>
              <a:latin typeface="Calibri (body)"/>
            </a:endParaRPr>
          </a:p>
        </p:txBody>
      </p:sp>
      <p:sp>
        <p:nvSpPr>
          <p:cNvPr id="32" name="Rectangle 31">
            <a:extLst>
              <a:ext uri="{FF2B5EF4-FFF2-40B4-BE49-F238E27FC236}">
                <a16:creationId xmlns:a16="http://schemas.microsoft.com/office/drawing/2014/main" id="{9C04A07C-6E33-1186-E209-E65396A8069A}"/>
              </a:ext>
            </a:extLst>
          </p:cNvPr>
          <p:cNvSpPr/>
          <p:nvPr/>
        </p:nvSpPr>
        <p:spPr>
          <a:xfrm>
            <a:off x="9880824"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rPr>
              <a:t>Pays</a:t>
            </a:r>
          </a:p>
        </p:txBody>
      </p:sp>
      <p:sp>
        <p:nvSpPr>
          <p:cNvPr id="33" name="Rectangle 32">
            <a:extLst>
              <a:ext uri="{FF2B5EF4-FFF2-40B4-BE49-F238E27FC236}">
                <a16:creationId xmlns:a16="http://schemas.microsoft.com/office/drawing/2014/main" id="{3437857E-C606-B624-DAA5-4F01265C8CF8}"/>
              </a:ext>
            </a:extLst>
          </p:cNvPr>
          <p:cNvSpPr/>
          <p:nvPr/>
        </p:nvSpPr>
        <p:spPr>
          <a:xfrm>
            <a:off x="851436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rPr>
              <a:t>Devise</a:t>
            </a:r>
          </a:p>
        </p:txBody>
      </p:sp>
      <p:sp>
        <p:nvSpPr>
          <p:cNvPr id="34" name="Rectangle 33">
            <a:extLst>
              <a:ext uri="{FF2B5EF4-FFF2-40B4-BE49-F238E27FC236}">
                <a16:creationId xmlns:a16="http://schemas.microsoft.com/office/drawing/2014/main" id="{4482A2E9-B152-436D-98CC-55E8DE06B396}"/>
              </a:ext>
            </a:extLst>
          </p:cNvPr>
          <p:cNvSpPr/>
          <p:nvPr/>
        </p:nvSpPr>
        <p:spPr>
          <a:xfrm>
            <a:off x="315601" y="2334840"/>
            <a:ext cx="1224000" cy="737194"/>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Fixe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prstClr val="black"/>
                </a:solidFill>
                <a:effectLst/>
                <a:uLnTx/>
                <a:uFillTx/>
                <a:latin typeface="Calibri (body)"/>
              </a:rPr>
              <a:t>Révisable</a:t>
            </a:r>
            <a:endParaRPr kumimoji="0" lang="en-GB" sz="1050" b="0" i="0" u="none" strike="noStrike" kern="1200" cap="none" spc="0" normalizeH="0" baseline="0" noProof="0" dirty="0">
              <a:ln>
                <a:noFill/>
              </a:ln>
              <a:solidFill>
                <a:prstClr val="black"/>
              </a:solidFill>
              <a:effectLst/>
              <a:uLnTx/>
              <a:uFillTx/>
              <a:latin typeface="Calibri (body)"/>
            </a:endParaRPr>
          </a:p>
        </p:txBody>
      </p:sp>
      <p:sp>
        <p:nvSpPr>
          <p:cNvPr id="35" name="Rectangle 34">
            <a:extLst>
              <a:ext uri="{FF2B5EF4-FFF2-40B4-BE49-F238E27FC236}">
                <a16:creationId xmlns:a16="http://schemas.microsoft.com/office/drawing/2014/main" id="{C45F0ADA-E995-719E-F120-CBF597A8C526}"/>
              </a:ext>
            </a:extLst>
          </p:cNvPr>
          <p:cNvSpPr/>
          <p:nvPr/>
        </p:nvSpPr>
        <p:spPr>
          <a:xfrm>
            <a:off x="1682642" y="2334840"/>
            <a:ext cx="1224000" cy="737194"/>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prstClr val="black"/>
                </a:solidFill>
                <a:effectLst/>
                <a:uLnTx/>
                <a:uFillTx/>
                <a:latin typeface="Calibri (body)"/>
              </a:rPr>
              <a:t>Actif</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prstClr val="black"/>
                </a:solidFill>
                <a:effectLst/>
                <a:uLnTx/>
                <a:uFillTx/>
                <a:latin typeface="Calibri (body)"/>
              </a:rPr>
              <a:t>Passif</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Swap</a:t>
            </a:r>
          </a:p>
        </p:txBody>
      </p:sp>
      <p:sp>
        <p:nvSpPr>
          <p:cNvPr id="36" name="Rectangle 35">
            <a:extLst>
              <a:ext uri="{FF2B5EF4-FFF2-40B4-BE49-F238E27FC236}">
                <a16:creationId xmlns:a16="http://schemas.microsoft.com/office/drawing/2014/main" id="{93DB8C46-7948-C75A-0A0B-D39EEAF21EA6}"/>
              </a:ext>
            </a:extLst>
          </p:cNvPr>
          <p:cNvSpPr/>
          <p:nvPr/>
        </p:nvSpPr>
        <p:spPr>
          <a:xfrm>
            <a:off x="3049683" y="2334840"/>
            <a:ext cx="1224000" cy="737194"/>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Prêt </a:t>
            </a:r>
            <a:r>
              <a:rPr kumimoji="0" lang="en-GB" sz="1050" b="0" i="0" u="none" strike="noStrike" kern="1200" cap="none" spc="0" normalizeH="0" baseline="0" noProof="0" dirty="0" err="1">
                <a:ln>
                  <a:noFill/>
                </a:ln>
                <a:solidFill>
                  <a:prstClr val="black"/>
                </a:solidFill>
                <a:effectLst/>
                <a:uLnTx/>
                <a:uFillTx/>
                <a:latin typeface="Calibri (body)"/>
              </a:rPr>
              <a:t>Conso</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Prêt </a:t>
            </a:r>
            <a:r>
              <a:rPr kumimoji="0" lang="en-GB" sz="1050" b="0" i="0" u="none" strike="noStrike" kern="1200" cap="none" spc="0" normalizeH="0" baseline="0" noProof="0" dirty="0" err="1">
                <a:ln>
                  <a:noFill/>
                </a:ln>
                <a:solidFill>
                  <a:prstClr val="black"/>
                </a:solidFill>
                <a:effectLst/>
                <a:uLnTx/>
                <a:uFillTx/>
                <a:latin typeface="Calibri (body)"/>
              </a:rPr>
              <a:t>immo</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Titre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t>
            </a:r>
          </a:p>
        </p:txBody>
      </p:sp>
      <p:sp>
        <p:nvSpPr>
          <p:cNvPr id="37" name="Rectangle 36">
            <a:extLst>
              <a:ext uri="{FF2B5EF4-FFF2-40B4-BE49-F238E27FC236}">
                <a16:creationId xmlns:a16="http://schemas.microsoft.com/office/drawing/2014/main" id="{3EC786BE-A19C-AE6B-C0F9-9648D79A4571}"/>
              </a:ext>
            </a:extLst>
          </p:cNvPr>
          <p:cNvSpPr/>
          <p:nvPr/>
        </p:nvSpPr>
        <p:spPr>
          <a:xfrm>
            <a:off x="4416724" y="2334840"/>
            <a:ext cx="1224000" cy="737194"/>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Banque centrale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Retail</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t>
            </a:r>
          </a:p>
        </p:txBody>
      </p:sp>
      <p:sp>
        <p:nvSpPr>
          <p:cNvPr id="38" name="Rectangle 37">
            <a:extLst>
              <a:ext uri="{FF2B5EF4-FFF2-40B4-BE49-F238E27FC236}">
                <a16:creationId xmlns:a16="http://schemas.microsoft.com/office/drawing/2014/main" id="{6284C6EC-B79F-2EFE-DF9E-5ED0555BBA0D}"/>
              </a:ext>
            </a:extLst>
          </p:cNvPr>
          <p:cNvSpPr/>
          <p:nvPr/>
        </p:nvSpPr>
        <p:spPr>
          <a:xfrm>
            <a:off x="5783765" y="2315228"/>
            <a:ext cx="1224000" cy="756806"/>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 </a:t>
            </a:r>
            <a:r>
              <a:rPr kumimoji="0" lang="en-GB" sz="1050" b="0" i="0" u="none" strike="noStrike" kern="1200" cap="none" spc="0" normalizeH="0" baseline="0" noProof="0" dirty="0" err="1">
                <a:ln>
                  <a:noFill/>
                </a:ln>
                <a:solidFill>
                  <a:prstClr val="black"/>
                </a:solidFill>
                <a:effectLst/>
                <a:uLnTx/>
                <a:uFillTx/>
                <a:latin typeface="Calibri (body)"/>
              </a:rPr>
              <a:t>vue</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 </a:t>
            </a:r>
            <a:r>
              <a:rPr kumimoji="0" lang="en-GB" sz="1050" b="0" i="0" u="none" strike="noStrike" kern="1200" cap="none" spc="0" normalizeH="0" baseline="0" noProof="0" dirty="0" err="1">
                <a:ln>
                  <a:noFill/>
                </a:ln>
                <a:solidFill>
                  <a:prstClr val="black"/>
                </a:solidFill>
                <a:effectLst/>
                <a:uLnTx/>
                <a:uFillTx/>
                <a:latin typeface="Calibri (body)"/>
              </a:rPr>
              <a:t>terme</a:t>
            </a:r>
            <a:endParaRPr kumimoji="0" lang="en-GB" sz="1050" b="0" i="0" u="none" strike="noStrike" kern="1200" cap="none" spc="0" normalizeH="0" baseline="0" noProof="0" dirty="0">
              <a:ln>
                <a:noFill/>
              </a:ln>
              <a:solidFill>
                <a:prstClr val="black"/>
              </a:solidFill>
              <a:effectLst/>
              <a:uLnTx/>
              <a:uFillTx/>
              <a:latin typeface="Calibri (body)"/>
            </a:endParaRPr>
          </a:p>
        </p:txBody>
      </p:sp>
      <p:sp>
        <p:nvSpPr>
          <p:cNvPr id="39" name="Rectangle 38">
            <a:extLst>
              <a:ext uri="{FF2B5EF4-FFF2-40B4-BE49-F238E27FC236}">
                <a16:creationId xmlns:a16="http://schemas.microsoft.com/office/drawing/2014/main" id="{8B58E13E-DE7A-EBBD-A475-2759749D1B16}"/>
              </a:ext>
            </a:extLst>
          </p:cNvPr>
          <p:cNvSpPr/>
          <p:nvPr/>
        </p:nvSpPr>
        <p:spPr>
          <a:xfrm>
            <a:off x="7150806" y="2315228"/>
            <a:ext cx="1224000" cy="756806"/>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&lt; 1 an</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&gt; 1 an et &lt; 2 </a:t>
            </a:r>
            <a:r>
              <a:rPr kumimoji="0" lang="en-GB" sz="1050" b="0" i="0" u="none" strike="noStrike" kern="1200" cap="none" spc="0" normalizeH="0" baseline="0" noProof="0" dirty="0" err="1">
                <a:ln>
                  <a:noFill/>
                </a:ln>
                <a:solidFill>
                  <a:prstClr val="black"/>
                </a:solidFill>
                <a:effectLst/>
                <a:uLnTx/>
                <a:uFillTx/>
                <a:latin typeface="Calibri (body)"/>
              </a:rPr>
              <a:t>ans</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t>
            </a:r>
          </a:p>
        </p:txBody>
      </p:sp>
      <p:sp>
        <p:nvSpPr>
          <p:cNvPr id="40" name="Rectangle 39">
            <a:extLst>
              <a:ext uri="{FF2B5EF4-FFF2-40B4-BE49-F238E27FC236}">
                <a16:creationId xmlns:a16="http://schemas.microsoft.com/office/drawing/2014/main" id="{8F629EDD-DE3D-6415-6940-B4724CD89B8B}"/>
              </a:ext>
            </a:extLst>
          </p:cNvPr>
          <p:cNvSpPr/>
          <p:nvPr/>
        </p:nvSpPr>
        <p:spPr>
          <a:xfrm>
            <a:off x="8517847" y="2334840"/>
            <a:ext cx="1224000" cy="737194"/>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prstClr val="black"/>
                </a:solidFill>
                <a:effectLst/>
                <a:uLnTx/>
                <a:uFillTx/>
                <a:latin typeface="Calibri (body)"/>
              </a:rPr>
              <a:t>Eur</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t>
            </a:r>
          </a:p>
        </p:txBody>
      </p:sp>
      <p:sp>
        <p:nvSpPr>
          <p:cNvPr id="41" name="Rectangle 40">
            <a:extLst>
              <a:ext uri="{FF2B5EF4-FFF2-40B4-BE49-F238E27FC236}">
                <a16:creationId xmlns:a16="http://schemas.microsoft.com/office/drawing/2014/main" id="{37E11F91-755A-C240-7F40-B226D6A881FF}"/>
              </a:ext>
            </a:extLst>
          </p:cNvPr>
          <p:cNvSpPr/>
          <p:nvPr/>
        </p:nvSpPr>
        <p:spPr>
          <a:xfrm>
            <a:off x="9884891" y="2315228"/>
            <a:ext cx="1224000" cy="756806"/>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France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t>
            </a:r>
          </a:p>
        </p:txBody>
      </p:sp>
      <p:sp>
        <p:nvSpPr>
          <p:cNvPr id="3" name="Espace réservé du texte 16">
            <a:extLst>
              <a:ext uri="{FF2B5EF4-FFF2-40B4-BE49-F238E27FC236}">
                <a16:creationId xmlns:a16="http://schemas.microsoft.com/office/drawing/2014/main" id="{35BF2879-A6BD-4CC1-FB4F-4E9D202A5235}"/>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68935858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9625" y="5970245"/>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Méthodologie de calculs des taux et marges futures</a:t>
            </a:r>
          </a:p>
          <a:p>
            <a:r>
              <a:rPr lang="fr-FR" sz="2000" dirty="0"/>
              <a:t>a- Méthodologie de calcul</a:t>
            </a:r>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67</a:t>
            </a:fld>
            <a:endParaRPr lang="fr-FR" sz="1050" kern="1200" dirty="0">
              <a:solidFill>
                <a:srgbClr val="003565"/>
              </a:solidFill>
              <a:latin typeface="Calibri (body)"/>
              <a:ea typeface="+mn-ea"/>
              <a:cs typeface="+mn-cs"/>
            </a:endParaRPr>
          </a:p>
        </p:txBody>
      </p:sp>
      <p:sp>
        <p:nvSpPr>
          <p:cNvPr id="130" name="Rectangle 129">
            <a:extLst>
              <a:ext uri="{FF2B5EF4-FFF2-40B4-BE49-F238E27FC236}">
                <a16:creationId xmlns:a16="http://schemas.microsoft.com/office/drawing/2014/main" id="{7091C8CF-E848-2B4E-38F5-7F652F4EBAB0}"/>
              </a:ext>
            </a:extLst>
          </p:cNvPr>
          <p:cNvSpPr/>
          <p:nvPr/>
        </p:nvSpPr>
        <p:spPr>
          <a:xfrm>
            <a:off x="266768" y="2990651"/>
            <a:ext cx="11540866" cy="3115016"/>
          </a:xfrm>
          <a:prstGeom prst="rect">
            <a:avLst/>
          </a:prstGeom>
          <a:solidFill>
            <a:srgbClr val="FFFFFF">
              <a:lumMod val="95000"/>
            </a:srgbClr>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32" name="TextBox 131">
            <a:extLst>
              <a:ext uri="{FF2B5EF4-FFF2-40B4-BE49-F238E27FC236}">
                <a16:creationId xmlns:a16="http://schemas.microsoft.com/office/drawing/2014/main" id="{4DBC93D6-CCD4-308F-83C5-9B00FD04A051}"/>
              </a:ext>
            </a:extLst>
          </p:cNvPr>
          <p:cNvSpPr txBox="1"/>
          <p:nvPr/>
        </p:nvSpPr>
        <p:spPr>
          <a:xfrm>
            <a:off x="279684" y="868219"/>
            <a:ext cx="11547324" cy="5501506"/>
          </a:xfrm>
          <a:prstGeom prst="rect">
            <a:avLst/>
          </a:prstGeom>
          <a:noFill/>
        </p:spPr>
        <p:txBody>
          <a:bodyPr wrap="square">
            <a:spAutoFit/>
          </a:bodyPr>
          <a:lstStyle/>
          <a:p>
            <a:pPr algn="just" defTabSz="1219170">
              <a:buClrTx/>
              <a:buFontTx/>
              <a:buNone/>
              <a:defRPr/>
            </a:pPr>
            <a:r>
              <a:rPr lang="fr-FR" sz="1100" b="1" u="sng" kern="1200" dirty="0">
                <a:solidFill>
                  <a:prstClr val="black"/>
                </a:solidFill>
                <a:latin typeface="Calibri (body)"/>
                <a:ea typeface="+mn-ea"/>
                <a:cs typeface="Calibri" panose="020F0502020204030204" pitchFamily="34" charset="0"/>
              </a:rPr>
              <a:t>Cap sur le scenario adverse</a:t>
            </a:r>
            <a:endParaRPr lang="fr-FR" sz="1100" b="1" kern="1200" dirty="0">
              <a:solidFill>
                <a:prstClr val="black"/>
              </a:solidFill>
              <a:latin typeface="Calibri (body)"/>
              <a:ea typeface="+mn-ea"/>
              <a:cs typeface="Calibri" panose="020F0502020204030204" pitchFamily="34" charset="0"/>
            </a:endParaRPr>
          </a:p>
          <a:p>
            <a:pPr marL="171450"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Les hypothèses ne peuvent pas conduire à une augmentation de la NII de la banque, par rapport à la valeur de 2024, dans le cadre du scénario adverse :</a:t>
            </a: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Avant de considérer l’impact des provisions (ce qui revient à spécifier que le taux sur les expositions performantes en scénario adverse est cappé aux taux de celles-ci en 2024)</a:t>
            </a: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Les revenus sur les expositions non performantes est calculé net des provisions, et cappé au niveau global au taux de rendement des expositions performantes.</a:t>
            </a:r>
          </a:p>
          <a:p>
            <a:pPr algn="just" defTabSz="1219170">
              <a:buClrTx/>
              <a:buFontTx/>
              <a:buNone/>
              <a:defRPr/>
            </a:pPr>
            <a:r>
              <a:rPr lang="fr-FR" sz="1100" kern="1200" dirty="0">
                <a:solidFill>
                  <a:prstClr val="black"/>
                </a:solidFill>
                <a:latin typeface="Calibri (body)"/>
                <a:ea typeface="+mn-ea"/>
                <a:cs typeface="Calibri" panose="020F0502020204030204" pitchFamily="34" charset="0"/>
              </a:rPr>
              <a:t> </a:t>
            </a:r>
          </a:p>
          <a:p>
            <a:pPr algn="just" defTabSz="1219170">
              <a:buClrTx/>
              <a:buFontTx/>
              <a:buNone/>
              <a:defRPr/>
            </a:pPr>
            <a:r>
              <a:rPr lang="fr-FR" sz="1100" b="1" u="sng" kern="1200" dirty="0">
                <a:solidFill>
                  <a:prstClr val="black"/>
                </a:solidFill>
                <a:latin typeface="Calibri (body)"/>
                <a:ea typeface="+mn-ea"/>
                <a:cs typeface="Calibri" panose="020F0502020204030204" pitchFamily="34" charset="0"/>
              </a:rPr>
              <a:t>Décomposition du taux</a:t>
            </a:r>
            <a:endParaRPr lang="fr-FR" sz="1100" u="sng" kern="1200" dirty="0">
              <a:solidFill>
                <a:prstClr val="black"/>
              </a:solidFill>
              <a:latin typeface="Calibri (body)"/>
              <a:ea typeface="+mn-ea"/>
              <a:cs typeface="Calibri" panose="020F0502020204030204" pitchFamily="34" charset="0"/>
            </a:endParaRPr>
          </a:p>
          <a:p>
            <a:pPr algn="just" defTabSz="1219170">
              <a:buClrTx/>
              <a:buFontTx/>
              <a:buNone/>
              <a:defRPr/>
            </a:pPr>
            <a:r>
              <a:rPr lang="fr-FR" sz="1100" kern="1200" dirty="0">
                <a:solidFill>
                  <a:prstClr val="black"/>
                </a:solidFill>
                <a:latin typeface="Calibri (body)"/>
                <a:ea typeface="+mn-ea"/>
                <a:cs typeface="Calibri" panose="020F0502020204030204" pitchFamily="34" charset="0"/>
              </a:rPr>
              <a:t>Le taux des instruments doit être décomposé en deux parties :</a:t>
            </a:r>
          </a:p>
          <a:p>
            <a:pPr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171450"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Une composante “taux sans risque”</a:t>
            </a:r>
          </a:p>
          <a:p>
            <a:pPr marL="171450"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Une composante marge, qui inclut les potentielles primes de liquidité, de credit et la marge commerciale (voir annexe 2)</a:t>
            </a:r>
          </a:p>
          <a:p>
            <a:pPr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algn="just" defTabSz="1219170">
              <a:buClrTx/>
              <a:buFontTx/>
              <a:buNone/>
              <a:defRPr/>
            </a:pPr>
            <a:r>
              <a:rPr lang="fr-FR" sz="1100" kern="1200" dirty="0">
                <a:solidFill>
                  <a:prstClr val="black"/>
                </a:solidFill>
                <a:latin typeface="Calibri (body)"/>
                <a:ea typeface="+mn-ea"/>
                <a:cs typeface="Calibri" panose="020F0502020204030204" pitchFamily="34" charset="0"/>
              </a:rPr>
              <a:t>Les courbes de taux sans risques sont fournies par le cadrage macro-économique. Pour le point de départ, tout ce qui n’est pas du taux sans risque sera par défaut inclus dans la partie marge.</a:t>
            </a:r>
          </a:p>
          <a:p>
            <a:pPr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algn="just" defTabSz="1219170">
              <a:buClrTx/>
              <a:buFontTx/>
              <a:buNone/>
              <a:defRPr/>
            </a:pPr>
            <a:r>
              <a:rPr lang="fr-FR" sz="1100" b="1" u="sng" kern="1200" dirty="0">
                <a:solidFill>
                  <a:prstClr val="black"/>
                </a:solidFill>
                <a:latin typeface="Calibri (body)"/>
                <a:ea typeface="+mn-ea"/>
                <a:cs typeface="Calibri" panose="020F0502020204030204" pitchFamily="34" charset="0"/>
              </a:rPr>
              <a:t>Projection du taux</a:t>
            </a:r>
            <a:endParaRPr lang="fr-FR" sz="1100" b="1" kern="1200" dirty="0">
              <a:solidFill>
                <a:prstClr val="black"/>
              </a:solidFill>
              <a:latin typeface="Calibri (body)"/>
              <a:ea typeface="+mn-ea"/>
              <a:cs typeface="Calibri" panose="020F0502020204030204" pitchFamily="34" charset="0"/>
            </a:endParaRPr>
          </a:p>
          <a:p>
            <a:pPr marL="171450"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la composante taux sans risques, les courbes seront issues du cadrage macro-économique :</a:t>
            </a: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les expositions à taux fixe, la courbe de swap sera utilisée (par interpolation linéaire entre les points fournis)</a:t>
            </a: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les expositions à taux révisable, les valeurs des indices seront fournies également (pour l’Ester et l’Euribor uniquement chez CCF selon notre compréhension) </a:t>
            </a:r>
          </a:p>
          <a:p>
            <a:pPr marL="781035" lvl="1" indent="-171450" algn="just" defTabSz="1219170">
              <a:buClrTx/>
              <a:buFont typeface="Arial" panose="020B0604020202020204" pitchFamily="34" charset="0"/>
              <a:buChar char="•"/>
              <a:defRPr/>
            </a:pPr>
            <a:endParaRPr lang="fr-FR" sz="1100" kern="1200" dirty="0">
              <a:solidFill>
                <a:prstClr val="black"/>
              </a:solidFill>
              <a:latin typeface="Calibri (body)"/>
              <a:ea typeface="+mn-ea"/>
              <a:cs typeface="Calibri" panose="020F0502020204030204" pitchFamily="34" charset="0"/>
            </a:endParaRPr>
          </a:p>
          <a:p>
            <a:pPr marL="171450"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la composante marge:</a:t>
            </a: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les actifs, la projection de la marge devra inclure une partie liée au spread de credit souverain. La marge totale est cappée à </a:t>
            </a:r>
          </a:p>
          <a:p>
            <a:pPr marL="781035" lvl="1" indent="-171450" algn="just" defTabSz="1219170">
              <a:buClrTx/>
              <a:buFont typeface="Arial" panose="020B0604020202020204" pitchFamily="34" charset="0"/>
              <a:buChar char="•"/>
              <a:defRPr/>
            </a:pPr>
            <a:endParaRPr lang="fr-FR" sz="1100" kern="1200" dirty="0">
              <a:solidFill>
                <a:prstClr val="black"/>
              </a:solidFill>
              <a:latin typeface="Calibri (body)"/>
              <a:ea typeface="+mn-ea"/>
              <a:cs typeface="Calibri" panose="020F0502020204030204" pitchFamily="34" charset="0"/>
            </a:endParaRPr>
          </a:p>
          <a:p>
            <a:pPr marL="609585" lvl="1"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609585" lvl="1"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177800" lvl="1" algn="just" defTabSz="1219170">
              <a:buClrTx/>
              <a:buFontTx/>
              <a:buNone/>
              <a:defRPr/>
            </a:pPr>
            <a:r>
              <a:rPr lang="fr-FR" sz="1100" kern="1200" dirty="0">
                <a:solidFill>
                  <a:prstClr val="black"/>
                </a:solidFill>
                <a:latin typeface="Calibri (body)"/>
                <a:ea typeface="+mn-ea"/>
                <a:cs typeface="Calibri" panose="020F0502020204030204" pitchFamily="34" charset="0"/>
              </a:rPr>
              <a:t>Où </a:t>
            </a:r>
            <a:r>
              <a:rPr lang="fr-FR" sz="1100" i="1" kern="1200" dirty="0">
                <a:solidFill>
                  <a:prstClr val="black"/>
                </a:solidFill>
                <a:latin typeface="Calibri (body)"/>
                <a:ea typeface="+mn-ea"/>
                <a:cs typeface="Calibri" panose="020F0502020204030204" pitchFamily="34" charset="0"/>
              </a:rPr>
              <a:t>λ</a:t>
            </a:r>
            <a:r>
              <a:rPr lang="fr-FR" sz="1100" kern="1200" dirty="0">
                <a:solidFill>
                  <a:prstClr val="black"/>
                </a:solidFill>
                <a:latin typeface="Calibri (body)"/>
                <a:ea typeface="+mn-ea"/>
                <a:cs typeface="Calibri" panose="020F0502020204030204" pitchFamily="34" charset="0"/>
              </a:rPr>
              <a:t> représente un facteur qui dépend de la classe d’actifs, compris entre 0 et 1 et </a:t>
            </a:r>
            <a:r>
              <a:rPr lang="fr-FR" sz="1100" i="1" kern="1200" dirty="0">
                <a:solidFill>
                  <a:prstClr val="black"/>
                </a:solidFill>
                <a:latin typeface="Calibri (body)"/>
                <a:ea typeface="+mn-ea"/>
                <a:cs typeface="Calibri" panose="020F0502020204030204" pitchFamily="34" charset="0"/>
              </a:rPr>
              <a:t>∆sov spread </a:t>
            </a:r>
            <a:r>
              <a:rPr lang="fr-FR" sz="1100" kern="1200" dirty="0">
                <a:solidFill>
                  <a:prstClr val="black"/>
                </a:solidFill>
                <a:latin typeface="Calibri (body)"/>
                <a:ea typeface="+mn-ea"/>
                <a:cs typeface="Calibri" panose="020F0502020204030204" pitchFamily="34" charset="0"/>
              </a:rPr>
              <a:t>est la variation du spread entre les courbes souveraines et le taux sans risques, selon le scénario.</a:t>
            </a:r>
          </a:p>
          <a:p>
            <a:pPr marL="177800" lvl="1"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les passifs, la projection de la marge devra également inclure une partie liée au spread de idiosyncratique. La marge totale est cappée à </a:t>
            </a:r>
          </a:p>
          <a:p>
            <a:pPr marL="781035" lvl="1" indent="-171450" algn="just" defTabSz="1219170">
              <a:buClrTx/>
              <a:buFont typeface="Arial" panose="020B0604020202020204" pitchFamily="34" charset="0"/>
              <a:buChar char="•"/>
              <a:defRPr/>
            </a:pPr>
            <a:endParaRPr lang="fr-FR" sz="1100" kern="1200" dirty="0">
              <a:solidFill>
                <a:prstClr val="black"/>
              </a:solidFill>
              <a:latin typeface="Calibri (body)"/>
              <a:ea typeface="+mn-ea"/>
              <a:cs typeface="Calibri" panose="020F0502020204030204" pitchFamily="34" charset="0"/>
            </a:endParaRPr>
          </a:p>
          <a:p>
            <a:pPr marL="609585" lvl="1"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609585" lvl="1"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177800" lvl="1" algn="just" defTabSz="1219170">
              <a:buClrTx/>
              <a:buFontTx/>
              <a:buNone/>
              <a:defRPr/>
            </a:pPr>
            <a:r>
              <a:rPr lang="fr-FR" sz="1100" kern="1200" dirty="0">
                <a:solidFill>
                  <a:prstClr val="black"/>
                </a:solidFill>
                <a:latin typeface="Calibri (body)"/>
                <a:ea typeface="+mn-ea"/>
                <a:cs typeface="Calibri" panose="020F0502020204030204" pitchFamily="34" charset="0"/>
              </a:rPr>
              <a:t>Où </a:t>
            </a:r>
            <a:r>
              <a:rPr lang="el-GR" sz="1100" i="1" kern="1200" dirty="0">
                <a:solidFill>
                  <a:prstClr val="black"/>
                </a:solidFill>
                <a:latin typeface="Calibri (body)"/>
                <a:ea typeface="+mn-ea"/>
                <a:cs typeface="Calibri" panose="020F0502020204030204" pitchFamily="34" charset="0"/>
              </a:rPr>
              <a:t>γ</a:t>
            </a:r>
            <a:r>
              <a:rPr lang="fr-FR" sz="1100" kern="1200" dirty="0">
                <a:solidFill>
                  <a:prstClr val="black"/>
                </a:solidFill>
                <a:latin typeface="Calibri (body)"/>
                <a:ea typeface="+mn-ea"/>
                <a:cs typeface="Calibri" panose="020F0502020204030204" pitchFamily="34" charset="0"/>
              </a:rPr>
              <a:t> représente un facteur qui dépend de la classe de passifs, compris entre 0 et 1 , </a:t>
            </a:r>
            <a:r>
              <a:rPr lang="fr-FR" sz="1100" i="1" kern="1200" dirty="0">
                <a:solidFill>
                  <a:prstClr val="black"/>
                </a:solidFill>
                <a:latin typeface="Calibri (body)"/>
                <a:ea typeface="+mn-ea"/>
                <a:cs typeface="Calibri" panose="020F0502020204030204" pitchFamily="34" charset="0"/>
              </a:rPr>
              <a:t>∆sov spread </a:t>
            </a:r>
            <a:r>
              <a:rPr lang="fr-FR" sz="1100" kern="1200" dirty="0">
                <a:solidFill>
                  <a:prstClr val="black"/>
                </a:solidFill>
                <a:latin typeface="Calibri (body)"/>
                <a:ea typeface="+mn-ea"/>
                <a:cs typeface="Calibri" panose="020F0502020204030204" pitchFamily="34" charset="0"/>
              </a:rPr>
              <a:t>le même que ci-dessus et </a:t>
            </a:r>
            <a:r>
              <a:rPr lang="fr-FR" sz="1100" i="1" kern="1200" dirty="0">
                <a:solidFill>
                  <a:prstClr val="black"/>
                </a:solidFill>
                <a:latin typeface="Calibri (body)"/>
                <a:ea typeface="+mn-ea"/>
                <a:cs typeface="Calibri" panose="020F0502020204030204" pitchFamily="34" charset="0"/>
              </a:rPr>
              <a:t>∆idiosyncratic component</a:t>
            </a:r>
            <a:r>
              <a:rPr lang="fr-FR" sz="1100" kern="1200" dirty="0">
                <a:solidFill>
                  <a:prstClr val="black"/>
                </a:solidFill>
                <a:latin typeface="Calibri (body)"/>
                <a:ea typeface="+mn-ea"/>
                <a:cs typeface="Calibri" panose="020F0502020204030204" pitchFamily="34" charset="0"/>
              </a:rPr>
              <a:t> égal à 0 en scénario baseline et égal à l’impact d’un downgrade sur le coût de la dette unsecured à 5 ans en scénario adverse. Cette composante est </a:t>
            </a:r>
            <a:r>
              <a:rPr lang="fr-FR" sz="1100" kern="1200" dirty="0" err="1">
                <a:solidFill>
                  <a:prstClr val="black"/>
                </a:solidFill>
                <a:latin typeface="Calibri (body)"/>
                <a:ea typeface="+mn-ea"/>
                <a:cs typeface="Calibri" panose="020F0502020204030204" pitchFamily="34" charset="0"/>
              </a:rPr>
              <a:t>floorée</a:t>
            </a:r>
            <a:r>
              <a:rPr lang="fr-FR" sz="1100" kern="1200" dirty="0">
                <a:solidFill>
                  <a:prstClr val="black"/>
                </a:solidFill>
                <a:latin typeface="Calibri (body)"/>
                <a:ea typeface="+mn-ea"/>
                <a:cs typeface="Calibri" panose="020F0502020204030204" pitchFamily="34" charset="0"/>
              </a:rPr>
              <a:t> à 25 </a:t>
            </a:r>
            <a:r>
              <a:rPr lang="fr-FR" sz="1100" kern="1200" dirty="0" err="1">
                <a:solidFill>
                  <a:prstClr val="black"/>
                </a:solidFill>
                <a:latin typeface="Calibri (body)"/>
                <a:ea typeface="+mn-ea"/>
                <a:cs typeface="Calibri" panose="020F0502020204030204" pitchFamily="34" charset="0"/>
              </a:rPr>
              <a:t>bp</a:t>
            </a:r>
            <a:r>
              <a:rPr lang="fr-FR" sz="1100" kern="1200" dirty="0">
                <a:solidFill>
                  <a:prstClr val="black"/>
                </a:solidFill>
                <a:latin typeface="Calibri (body)"/>
                <a:ea typeface="+mn-ea"/>
                <a:cs typeface="Calibri" panose="020F0502020204030204" pitchFamily="34" charset="0"/>
              </a:rPr>
              <a:t> pour une banque AAA.</a:t>
            </a:r>
          </a:p>
          <a:p>
            <a:pPr marL="177800" lvl="1" algn="just" defTabSz="1219170">
              <a:buClrTx/>
              <a:buFontTx/>
              <a:buNone/>
              <a:defRPr/>
            </a:pPr>
            <a:r>
              <a:rPr lang="fr-FR" sz="1050" kern="1200" dirty="0">
                <a:solidFill>
                  <a:prstClr val="black"/>
                </a:solidFill>
                <a:latin typeface="Calibri (body)"/>
                <a:ea typeface="+mn-ea"/>
                <a:cs typeface="Calibri" panose="020F0502020204030204" pitchFamily="34" charset="0"/>
              </a:rPr>
              <a:t>	</a:t>
            </a:r>
          </a:p>
        </p:txBody>
      </p:sp>
      <p:pic>
        <p:nvPicPr>
          <p:cNvPr id="133" name="Picture 132">
            <a:extLst>
              <a:ext uri="{FF2B5EF4-FFF2-40B4-BE49-F238E27FC236}">
                <a16:creationId xmlns:a16="http://schemas.microsoft.com/office/drawing/2014/main" id="{2B5E2213-661F-243E-D12B-A21CE084C465}"/>
              </a:ext>
            </a:extLst>
          </p:cNvPr>
          <p:cNvPicPr>
            <a:picLocks noChangeAspect="1"/>
          </p:cNvPicPr>
          <p:nvPr/>
        </p:nvPicPr>
        <p:blipFill>
          <a:blip r:embed="rId2"/>
          <a:stretch>
            <a:fillRect/>
          </a:stretch>
        </p:blipFill>
        <p:spPr>
          <a:xfrm>
            <a:off x="3650987" y="4308005"/>
            <a:ext cx="4333875" cy="323850"/>
          </a:xfrm>
          <a:prstGeom prst="rect">
            <a:avLst/>
          </a:prstGeom>
        </p:spPr>
      </p:pic>
      <p:pic>
        <p:nvPicPr>
          <p:cNvPr id="134" name="Picture 133">
            <a:extLst>
              <a:ext uri="{FF2B5EF4-FFF2-40B4-BE49-F238E27FC236}">
                <a16:creationId xmlns:a16="http://schemas.microsoft.com/office/drawing/2014/main" id="{0F924973-3CB1-CD3B-CFAD-4B907180FACA}"/>
              </a:ext>
            </a:extLst>
          </p:cNvPr>
          <p:cNvPicPr>
            <a:picLocks noChangeAspect="1"/>
          </p:cNvPicPr>
          <p:nvPr/>
        </p:nvPicPr>
        <p:blipFill>
          <a:blip r:embed="rId3"/>
          <a:stretch>
            <a:fillRect/>
          </a:stretch>
        </p:blipFill>
        <p:spPr>
          <a:xfrm>
            <a:off x="3650987" y="5341620"/>
            <a:ext cx="5206945" cy="382851"/>
          </a:xfrm>
          <a:prstGeom prst="rect">
            <a:avLst/>
          </a:prstGeom>
        </p:spPr>
      </p:pic>
      <p:sp>
        <p:nvSpPr>
          <p:cNvPr id="136" name="Rectangle 135">
            <a:extLst>
              <a:ext uri="{FF2B5EF4-FFF2-40B4-BE49-F238E27FC236}">
                <a16:creationId xmlns:a16="http://schemas.microsoft.com/office/drawing/2014/main" id="{E4CE3554-B14D-80AA-D51A-6D23867255FA}"/>
              </a:ext>
            </a:extLst>
          </p:cNvPr>
          <p:cNvSpPr/>
          <p:nvPr/>
        </p:nvSpPr>
        <p:spPr>
          <a:xfrm>
            <a:off x="273226" y="892548"/>
            <a:ext cx="11547324" cy="5509201"/>
          </a:xfrm>
          <a:prstGeom prst="rect">
            <a:avLst/>
          </a:prstGeom>
          <a:no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Espace réservé du texte 16">
            <a:extLst>
              <a:ext uri="{FF2B5EF4-FFF2-40B4-BE49-F238E27FC236}">
                <a16:creationId xmlns:a16="http://schemas.microsoft.com/office/drawing/2014/main" id="{6AF5EAE6-9843-4BA0-F5D1-D0034695BD73}"/>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126337149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1 – Prêt à taux fixe</a:t>
            </a:r>
          </a:p>
        </p:txBody>
      </p:sp>
      <p:graphicFrame>
        <p:nvGraphicFramePr>
          <p:cNvPr id="53" name="Table 52">
            <a:extLst>
              <a:ext uri="{FF2B5EF4-FFF2-40B4-BE49-F238E27FC236}">
                <a16:creationId xmlns:a16="http://schemas.microsoft.com/office/drawing/2014/main" id="{033948EC-43F5-79C8-0118-ADFA094201E2}"/>
              </a:ext>
            </a:extLst>
          </p:cNvPr>
          <p:cNvGraphicFramePr>
            <a:graphicFrameLocks noGrp="1"/>
          </p:cNvGraphicFramePr>
          <p:nvPr>
            <p:extLst>
              <p:ext uri="{D42A27DB-BD31-4B8C-83A1-F6EECF244321}">
                <p14:modId xmlns:p14="http://schemas.microsoft.com/office/powerpoint/2010/main" val="1044833499"/>
              </p:ext>
            </p:extLst>
          </p:nvPr>
        </p:nvGraphicFramePr>
        <p:xfrm>
          <a:off x="1200913" y="1509997"/>
          <a:ext cx="2628900" cy="2572287"/>
        </p:xfrm>
        <a:graphic>
          <a:graphicData uri="http://schemas.openxmlformats.org/drawingml/2006/table">
            <a:tbl>
              <a:tblPr>
                <a:tableStyleId>{5C22544A-7EE6-4342-B048-85BDC9FD1C3A}</a:tableStyleId>
              </a:tblPr>
              <a:tblGrid>
                <a:gridCol w="1092200">
                  <a:extLst>
                    <a:ext uri="{9D8B030D-6E8A-4147-A177-3AD203B41FA5}">
                      <a16:colId xmlns:a16="http://schemas.microsoft.com/office/drawing/2014/main" val="3042862825"/>
                    </a:ext>
                  </a:extLst>
                </a:gridCol>
                <a:gridCol w="1536700">
                  <a:extLst>
                    <a:ext uri="{9D8B030D-6E8A-4147-A177-3AD203B41FA5}">
                      <a16:colId xmlns:a16="http://schemas.microsoft.com/office/drawing/2014/main" val="3241058480"/>
                    </a:ext>
                  </a:extLst>
                </a:gridCol>
              </a:tblGrid>
              <a:tr h="114185">
                <a:tc>
                  <a:txBody>
                    <a:bodyPr/>
                    <a:lstStyle/>
                    <a:p>
                      <a:pPr algn="l" fontAlgn="b"/>
                      <a:r>
                        <a:rPr lang="fr-FR" sz="1100" u="none" strike="noStrike" dirty="0">
                          <a:solidFill>
                            <a:srgbClr val="FFFFFF"/>
                          </a:solidFill>
                          <a:effectLst/>
                        </a:rPr>
                        <a:t>Caractéristique</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tc>
                  <a:txBody>
                    <a:bodyPr/>
                    <a:lstStyle/>
                    <a:p>
                      <a:pPr algn="ctr" fontAlgn="b"/>
                      <a:r>
                        <a:rPr lang="fr-FR" sz="1100" u="none" strike="noStrike" dirty="0">
                          <a:solidFill>
                            <a:srgbClr val="FFFFFF"/>
                          </a:solidFill>
                          <a:effectLst/>
                        </a:rPr>
                        <a:t>Valeur</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extLst>
                  <a:ext uri="{0D108BD9-81ED-4DB2-BD59-A6C34878D82A}">
                    <a16:rowId xmlns:a16="http://schemas.microsoft.com/office/drawing/2014/main" val="317880372"/>
                  </a:ext>
                </a:extLst>
              </a:tr>
              <a:tr h="182880">
                <a:tc>
                  <a:txBody>
                    <a:bodyPr/>
                    <a:lstStyle/>
                    <a:p>
                      <a:pPr algn="l" fontAlgn="b"/>
                      <a:r>
                        <a:rPr lang="fr-FR" sz="1100" u="none" strike="noStrike" dirty="0">
                          <a:effectLst/>
                        </a:rPr>
                        <a:t>Produit</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Prêt</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270652949"/>
                  </a:ext>
                </a:extLst>
              </a:tr>
              <a:tr h="182880">
                <a:tc>
                  <a:txBody>
                    <a:bodyPr/>
                    <a:lstStyle/>
                    <a:p>
                      <a:pPr algn="l" fontAlgn="b"/>
                      <a:r>
                        <a:rPr lang="fr-FR" sz="1100" u="none" strike="noStrike">
                          <a:effectLst/>
                        </a:rPr>
                        <a:t>Ss-produit</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In fine</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924623812"/>
                  </a:ext>
                </a:extLst>
              </a:tr>
              <a:tr h="202467">
                <a:tc>
                  <a:txBody>
                    <a:bodyPr/>
                    <a:lstStyle/>
                    <a:p>
                      <a:pPr algn="l" fontAlgn="b"/>
                      <a:r>
                        <a:rPr lang="fr-FR" sz="1100" b="1" u="none" strike="noStrike" dirty="0">
                          <a:effectLst/>
                        </a:rPr>
                        <a:t>Value date</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u="none" strike="noStrike">
                          <a:effectLst/>
                        </a:rPr>
                        <a:t>31/12/2023</a:t>
                      </a:r>
                      <a:endParaRPr lang="fr-FR" sz="1100" b="1"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13043668"/>
                  </a:ext>
                </a:extLst>
              </a:tr>
              <a:tr h="182880">
                <a:tc>
                  <a:txBody>
                    <a:bodyPr/>
                    <a:lstStyle/>
                    <a:p>
                      <a:pPr algn="l" fontAlgn="b"/>
                      <a:r>
                        <a:rPr lang="fr-FR" sz="1100" b="1" u="none" strike="noStrike" dirty="0">
                          <a:effectLst/>
                        </a:rPr>
                        <a:t>Maturity date</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u="none" strike="noStrike" dirty="0">
                          <a:effectLst/>
                        </a:rPr>
                        <a:t>31/03/2025</a:t>
                      </a:r>
                      <a:endParaRPr lang="fr-FR" sz="1100" b="1"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314595148"/>
                  </a:ext>
                </a:extLst>
              </a:tr>
              <a:tr h="182880">
                <a:tc>
                  <a:txBody>
                    <a:bodyPr/>
                    <a:lstStyle/>
                    <a:p>
                      <a:pPr algn="l" fontAlgn="b"/>
                      <a:r>
                        <a:rPr lang="fr-FR" sz="1100" u="none" strike="noStrike">
                          <a:effectLst/>
                        </a:rPr>
                        <a:t>Contrpartie</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Non-financial corporation</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853942388"/>
                  </a:ext>
                </a:extLst>
              </a:tr>
              <a:tr h="182880">
                <a:tc>
                  <a:txBody>
                    <a:bodyPr/>
                    <a:lstStyle/>
                    <a:p>
                      <a:pPr algn="l" fontAlgn="b"/>
                      <a:r>
                        <a:rPr lang="fr-FR" sz="1100" u="none" strike="noStrike">
                          <a:effectLst/>
                        </a:rPr>
                        <a:t>Devise</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EUR</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77300222"/>
                  </a:ext>
                </a:extLst>
              </a:tr>
              <a:tr h="182880">
                <a:tc>
                  <a:txBody>
                    <a:bodyPr/>
                    <a:lstStyle/>
                    <a:p>
                      <a:pPr algn="l" fontAlgn="b"/>
                      <a:r>
                        <a:rPr lang="fr-FR" sz="1100" u="none" strike="noStrike">
                          <a:effectLst/>
                        </a:rPr>
                        <a:t>Pays</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France</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384422577"/>
                  </a:ext>
                </a:extLst>
              </a:tr>
              <a:tr h="182880">
                <a:tc>
                  <a:txBody>
                    <a:bodyPr/>
                    <a:lstStyle/>
                    <a:p>
                      <a:pPr algn="l" fontAlgn="b"/>
                      <a:r>
                        <a:rPr lang="fr-FR" sz="1100" u="none" strike="noStrike" dirty="0">
                          <a:effectLst/>
                        </a:rPr>
                        <a:t>Type de taux</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Fixe</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668657570"/>
                  </a:ext>
                </a:extLst>
              </a:tr>
              <a:tr h="182880">
                <a:tc>
                  <a:txBody>
                    <a:bodyPr/>
                    <a:lstStyle/>
                    <a:p>
                      <a:pPr algn="l" fontAlgn="b"/>
                      <a:r>
                        <a:rPr lang="fr-FR" sz="1100" u="none" strike="noStrike" dirty="0">
                          <a:effectLst/>
                        </a:rPr>
                        <a:t>Index de taux</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3%</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163763400"/>
                  </a:ext>
                </a:extLst>
              </a:tr>
              <a:tr h="182880">
                <a:tc>
                  <a:txBody>
                    <a:bodyPr/>
                    <a:lstStyle/>
                    <a:p>
                      <a:pPr algn="l" fontAlgn="b"/>
                      <a:r>
                        <a:rPr lang="fr-FR" sz="1100" u="none" strike="noStrike">
                          <a:effectLst/>
                        </a:rPr>
                        <a:t>Marge</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0,40%</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129066204"/>
                  </a:ext>
                </a:extLst>
              </a:tr>
              <a:tr h="182880">
                <a:tc>
                  <a:txBody>
                    <a:bodyPr/>
                    <a:lstStyle/>
                    <a:p>
                      <a:pPr algn="l" fontAlgn="b"/>
                      <a:r>
                        <a:rPr lang="fr-FR" sz="1100" u="none" strike="noStrike">
                          <a:effectLst/>
                        </a:rPr>
                        <a:t>date de fixing</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N/A</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4173249553"/>
                  </a:ext>
                </a:extLst>
              </a:tr>
              <a:tr h="182880">
                <a:tc>
                  <a:txBody>
                    <a:bodyPr/>
                    <a:lstStyle/>
                    <a:p>
                      <a:pPr algn="l" fontAlgn="b"/>
                      <a:r>
                        <a:rPr lang="fr-FR" sz="1100" u="none" strike="noStrike">
                          <a:effectLst/>
                        </a:rPr>
                        <a:t>Capital</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100</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4093349665"/>
                  </a:ext>
                </a:extLst>
              </a:tr>
              <a:tr h="182880">
                <a:tc>
                  <a:txBody>
                    <a:bodyPr/>
                    <a:lstStyle/>
                    <a:p>
                      <a:pPr algn="l" fontAlgn="b"/>
                      <a:r>
                        <a:rPr lang="fr-FR" sz="1100" u="none" strike="noStrike">
                          <a:effectLst/>
                        </a:rPr>
                        <a:t>Performing</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Yes</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914817019"/>
                  </a:ext>
                </a:extLst>
              </a:tr>
            </a:tbl>
          </a:graphicData>
        </a:graphic>
      </p:graphicFrame>
      <p:cxnSp>
        <p:nvCxnSpPr>
          <p:cNvPr id="54" name="Straight Arrow Connector 53">
            <a:extLst>
              <a:ext uri="{FF2B5EF4-FFF2-40B4-BE49-F238E27FC236}">
                <a16:creationId xmlns:a16="http://schemas.microsoft.com/office/drawing/2014/main" id="{6D3A3200-19CC-1480-2C16-AC5B38EAEEA5}"/>
              </a:ext>
            </a:extLst>
          </p:cNvPr>
          <p:cNvCxnSpPr/>
          <p:nvPr/>
        </p:nvCxnSpPr>
        <p:spPr>
          <a:xfrm>
            <a:off x="905263" y="5418513"/>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5" name="Rectangle 54">
            <a:extLst>
              <a:ext uri="{FF2B5EF4-FFF2-40B4-BE49-F238E27FC236}">
                <a16:creationId xmlns:a16="http://schemas.microsoft.com/office/drawing/2014/main" id="{6C5DC016-F5DD-EFBE-AE71-5E6ABDC50FE3}"/>
              </a:ext>
            </a:extLst>
          </p:cNvPr>
          <p:cNvSpPr/>
          <p:nvPr/>
        </p:nvSpPr>
        <p:spPr>
          <a:xfrm>
            <a:off x="905263" y="5109302"/>
            <a:ext cx="2781463"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1</a:t>
            </a:r>
          </a:p>
        </p:txBody>
      </p:sp>
      <p:sp>
        <p:nvSpPr>
          <p:cNvPr id="56" name="TextBox 55">
            <a:extLst>
              <a:ext uri="{FF2B5EF4-FFF2-40B4-BE49-F238E27FC236}">
                <a16:creationId xmlns:a16="http://schemas.microsoft.com/office/drawing/2014/main" id="{3E038A43-57F6-EB1F-DE4C-8D21DDF7BE18}"/>
              </a:ext>
            </a:extLst>
          </p:cNvPr>
          <p:cNvSpPr txBox="1"/>
          <p:nvPr/>
        </p:nvSpPr>
        <p:spPr>
          <a:xfrm>
            <a:off x="750000" y="5453731"/>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31.12.23</a:t>
            </a:r>
          </a:p>
        </p:txBody>
      </p:sp>
      <p:sp>
        <p:nvSpPr>
          <p:cNvPr id="57" name="TextBox 56">
            <a:extLst>
              <a:ext uri="{FF2B5EF4-FFF2-40B4-BE49-F238E27FC236}">
                <a16:creationId xmlns:a16="http://schemas.microsoft.com/office/drawing/2014/main" id="{E3B072E5-042C-569E-7798-3307D73CDD19}"/>
              </a:ext>
            </a:extLst>
          </p:cNvPr>
          <p:cNvSpPr txBox="1"/>
          <p:nvPr/>
        </p:nvSpPr>
        <p:spPr>
          <a:xfrm>
            <a:off x="3274052" y="5453731"/>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31.03.25</a:t>
            </a:r>
          </a:p>
        </p:txBody>
      </p:sp>
      <p:sp>
        <p:nvSpPr>
          <p:cNvPr id="58" name="TextBox 57">
            <a:extLst>
              <a:ext uri="{FF2B5EF4-FFF2-40B4-BE49-F238E27FC236}">
                <a16:creationId xmlns:a16="http://schemas.microsoft.com/office/drawing/2014/main" id="{F6538D63-405C-DB40-5C98-391D53BF87B2}"/>
              </a:ext>
            </a:extLst>
          </p:cNvPr>
          <p:cNvSpPr txBox="1"/>
          <p:nvPr/>
        </p:nvSpPr>
        <p:spPr>
          <a:xfrm>
            <a:off x="6087320" y="5465673"/>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30.06.26</a:t>
            </a:r>
          </a:p>
        </p:txBody>
      </p:sp>
      <p:sp>
        <p:nvSpPr>
          <p:cNvPr id="59" name="TextBox 58">
            <a:extLst>
              <a:ext uri="{FF2B5EF4-FFF2-40B4-BE49-F238E27FC236}">
                <a16:creationId xmlns:a16="http://schemas.microsoft.com/office/drawing/2014/main" id="{C93C116E-D153-D539-4064-C8218C3DFFB5}"/>
              </a:ext>
            </a:extLst>
          </p:cNvPr>
          <p:cNvSpPr txBox="1"/>
          <p:nvPr/>
        </p:nvSpPr>
        <p:spPr>
          <a:xfrm>
            <a:off x="8865914" y="545259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30.09.27</a:t>
            </a:r>
          </a:p>
        </p:txBody>
      </p:sp>
      <p:sp>
        <p:nvSpPr>
          <p:cNvPr id="60" name="TextBox 59">
            <a:extLst>
              <a:ext uri="{FF2B5EF4-FFF2-40B4-BE49-F238E27FC236}">
                <a16:creationId xmlns:a16="http://schemas.microsoft.com/office/drawing/2014/main" id="{B5EF9B5F-40F8-AE50-B8EC-F995C12573DF}"/>
              </a:ext>
            </a:extLst>
          </p:cNvPr>
          <p:cNvSpPr txBox="1"/>
          <p:nvPr/>
        </p:nvSpPr>
        <p:spPr>
          <a:xfrm>
            <a:off x="9720814" y="545259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31.12.27</a:t>
            </a:r>
          </a:p>
        </p:txBody>
      </p:sp>
      <p:sp>
        <p:nvSpPr>
          <p:cNvPr id="61" name="TextBox 60">
            <a:extLst>
              <a:ext uri="{FF2B5EF4-FFF2-40B4-BE49-F238E27FC236}">
                <a16:creationId xmlns:a16="http://schemas.microsoft.com/office/drawing/2014/main" id="{AA9E87BA-6F05-102C-ED0C-06891C62731E}"/>
              </a:ext>
            </a:extLst>
          </p:cNvPr>
          <p:cNvSpPr txBox="1"/>
          <p:nvPr/>
        </p:nvSpPr>
        <p:spPr>
          <a:xfrm>
            <a:off x="2640000" y="5458817"/>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31.12.24</a:t>
            </a:r>
          </a:p>
        </p:txBody>
      </p:sp>
      <p:sp>
        <p:nvSpPr>
          <p:cNvPr id="62" name="Rectangle 61">
            <a:extLst>
              <a:ext uri="{FF2B5EF4-FFF2-40B4-BE49-F238E27FC236}">
                <a16:creationId xmlns:a16="http://schemas.microsoft.com/office/drawing/2014/main" id="{9598B398-B9B5-9B14-041A-8EFFC4231651}"/>
              </a:ext>
            </a:extLst>
          </p:cNvPr>
          <p:cNvSpPr/>
          <p:nvPr/>
        </p:nvSpPr>
        <p:spPr>
          <a:xfrm>
            <a:off x="3836420" y="5109301"/>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2</a:t>
            </a:r>
          </a:p>
        </p:txBody>
      </p:sp>
      <p:sp>
        <p:nvSpPr>
          <p:cNvPr id="63" name="Rectangle 62">
            <a:extLst>
              <a:ext uri="{FF2B5EF4-FFF2-40B4-BE49-F238E27FC236}">
                <a16:creationId xmlns:a16="http://schemas.microsoft.com/office/drawing/2014/main" id="{EECF38BB-52FC-A18E-CF99-F2BAF09782C4}"/>
              </a:ext>
            </a:extLst>
          </p:cNvPr>
          <p:cNvSpPr/>
          <p:nvPr/>
        </p:nvSpPr>
        <p:spPr>
          <a:xfrm>
            <a:off x="6615014" y="5109300"/>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3</a:t>
            </a:r>
          </a:p>
        </p:txBody>
      </p:sp>
      <p:sp>
        <p:nvSpPr>
          <p:cNvPr id="64" name="Rectangle 63">
            <a:extLst>
              <a:ext uri="{FF2B5EF4-FFF2-40B4-BE49-F238E27FC236}">
                <a16:creationId xmlns:a16="http://schemas.microsoft.com/office/drawing/2014/main" id="{0A06D2BB-EB02-B3EC-6260-98A6E00D6FBF}"/>
              </a:ext>
            </a:extLst>
          </p:cNvPr>
          <p:cNvSpPr/>
          <p:nvPr/>
        </p:nvSpPr>
        <p:spPr>
          <a:xfrm>
            <a:off x="9393481" y="5102750"/>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4</a:t>
            </a:r>
          </a:p>
        </p:txBody>
      </p:sp>
      <p:sp>
        <p:nvSpPr>
          <p:cNvPr id="65" name="Rectangle 64">
            <a:extLst>
              <a:ext uri="{FF2B5EF4-FFF2-40B4-BE49-F238E27FC236}">
                <a16:creationId xmlns:a16="http://schemas.microsoft.com/office/drawing/2014/main" id="{CE1B5EEA-C3AE-2336-4607-579C3CDD05DA}"/>
              </a:ext>
            </a:extLst>
          </p:cNvPr>
          <p:cNvSpPr/>
          <p:nvPr/>
        </p:nvSpPr>
        <p:spPr>
          <a:xfrm>
            <a:off x="10023173" y="5101263"/>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66" name="Rectangle 65">
            <a:extLst>
              <a:ext uri="{FF2B5EF4-FFF2-40B4-BE49-F238E27FC236}">
                <a16:creationId xmlns:a16="http://schemas.microsoft.com/office/drawing/2014/main" id="{EE93A560-6635-0FF6-9C05-64C593C48333}"/>
              </a:ext>
            </a:extLst>
          </p:cNvPr>
          <p:cNvSpPr/>
          <p:nvPr/>
        </p:nvSpPr>
        <p:spPr>
          <a:xfrm>
            <a:off x="906478" y="5109300"/>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67" name="Rectangle 66">
            <a:extLst>
              <a:ext uri="{FF2B5EF4-FFF2-40B4-BE49-F238E27FC236}">
                <a16:creationId xmlns:a16="http://schemas.microsoft.com/office/drawing/2014/main" id="{C034291A-2951-1E5A-62BD-A42AAA34D199}"/>
              </a:ext>
            </a:extLst>
          </p:cNvPr>
          <p:cNvSpPr/>
          <p:nvPr/>
        </p:nvSpPr>
        <p:spPr>
          <a:xfrm>
            <a:off x="1344000" y="4828875"/>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1</a:t>
            </a:r>
          </a:p>
        </p:txBody>
      </p:sp>
      <p:sp>
        <p:nvSpPr>
          <p:cNvPr id="68" name="Rectangle 67">
            <a:extLst>
              <a:ext uri="{FF2B5EF4-FFF2-40B4-BE49-F238E27FC236}">
                <a16:creationId xmlns:a16="http://schemas.microsoft.com/office/drawing/2014/main" id="{835B7921-9EDE-0128-C3A6-62A9C3D56EDB}"/>
              </a:ext>
            </a:extLst>
          </p:cNvPr>
          <p:cNvSpPr/>
          <p:nvPr/>
        </p:nvSpPr>
        <p:spPr>
          <a:xfrm>
            <a:off x="3836420" y="4817682"/>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2</a:t>
            </a:r>
          </a:p>
        </p:txBody>
      </p:sp>
      <p:sp>
        <p:nvSpPr>
          <p:cNvPr id="69" name="Rectangle 68">
            <a:extLst>
              <a:ext uri="{FF2B5EF4-FFF2-40B4-BE49-F238E27FC236}">
                <a16:creationId xmlns:a16="http://schemas.microsoft.com/office/drawing/2014/main" id="{E7F54D1A-4511-76E6-574A-EF67CFA42DD1}"/>
              </a:ext>
            </a:extLst>
          </p:cNvPr>
          <p:cNvSpPr/>
          <p:nvPr/>
        </p:nvSpPr>
        <p:spPr>
          <a:xfrm>
            <a:off x="6615014" y="4817682"/>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3</a:t>
            </a:r>
          </a:p>
        </p:txBody>
      </p:sp>
      <p:sp>
        <p:nvSpPr>
          <p:cNvPr id="70" name="Rectangle 69">
            <a:extLst>
              <a:ext uri="{FF2B5EF4-FFF2-40B4-BE49-F238E27FC236}">
                <a16:creationId xmlns:a16="http://schemas.microsoft.com/office/drawing/2014/main" id="{4B841CA2-20DD-60E8-A79A-660C8527435D}"/>
              </a:ext>
            </a:extLst>
          </p:cNvPr>
          <p:cNvSpPr/>
          <p:nvPr/>
        </p:nvSpPr>
        <p:spPr>
          <a:xfrm>
            <a:off x="9393481" y="4811131"/>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4</a:t>
            </a:r>
          </a:p>
        </p:txBody>
      </p:sp>
      <p:sp>
        <p:nvSpPr>
          <p:cNvPr id="71" name="Rectangle 70">
            <a:extLst>
              <a:ext uri="{FF2B5EF4-FFF2-40B4-BE49-F238E27FC236}">
                <a16:creationId xmlns:a16="http://schemas.microsoft.com/office/drawing/2014/main" id="{739699A6-679D-DC96-74F2-3C3AB00E8C13}"/>
              </a:ext>
            </a:extLst>
          </p:cNvPr>
          <p:cNvSpPr/>
          <p:nvPr/>
        </p:nvSpPr>
        <p:spPr>
          <a:xfrm>
            <a:off x="10023173" y="4809644"/>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72" name="Rectangle 71">
            <a:extLst>
              <a:ext uri="{FF2B5EF4-FFF2-40B4-BE49-F238E27FC236}">
                <a16:creationId xmlns:a16="http://schemas.microsoft.com/office/drawing/2014/main" id="{CA0A4FA5-FE40-CB8A-8D88-D5E853B2C56B}"/>
              </a:ext>
            </a:extLst>
          </p:cNvPr>
          <p:cNvSpPr/>
          <p:nvPr/>
        </p:nvSpPr>
        <p:spPr>
          <a:xfrm>
            <a:off x="906478" y="4817681"/>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73" name="TextBox 72">
            <a:extLst>
              <a:ext uri="{FF2B5EF4-FFF2-40B4-BE49-F238E27FC236}">
                <a16:creationId xmlns:a16="http://schemas.microsoft.com/office/drawing/2014/main" id="{801F42E1-1F64-AD4E-CA17-F4DAA98927BC}"/>
              </a:ext>
            </a:extLst>
          </p:cNvPr>
          <p:cNvSpPr txBox="1"/>
          <p:nvPr/>
        </p:nvSpPr>
        <p:spPr>
          <a:xfrm>
            <a:off x="107139" y="4731931"/>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Taux</a:t>
            </a:r>
          </a:p>
        </p:txBody>
      </p:sp>
      <p:sp>
        <p:nvSpPr>
          <p:cNvPr id="74" name="TextBox 73">
            <a:extLst>
              <a:ext uri="{FF2B5EF4-FFF2-40B4-BE49-F238E27FC236}">
                <a16:creationId xmlns:a16="http://schemas.microsoft.com/office/drawing/2014/main" id="{FCF053ED-1262-7AFC-7B44-2759A55E29CD}"/>
              </a:ext>
            </a:extLst>
          </p:cNvPr>
          <p:cNvSpPr txBox="1"/>
          <p:nvPr/>
        </p:nvSpPr>
        <p:spPr>
          <a:xfrm>
            <a:off x="101289" y="5063902"/>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Marge</a:t>
            </a:r>
          </a:p>
        </p:txBody>
      </p:sp>
      <p:graphicFrame>
        <p:nvGraphicFramePr>
          <p:cNvPr id="75" name="Table 74">
            <a:extLst>
              <a:ext uri="{FF2B5EF4-FFF2-40B4-BE49-F238E27FC236}">
                <a16:creationId xmlns:a16="http://schemas.microsoft.com/office/drawing/2014/main" id="{49363DCA-17BC-3E4B-5E74-608944F3978C}"/>
              </a:ext>
            </a:extLst>
          </p:cNvPr>
          <p:cNvGraphicFramePr>
            <a:graphicFrameLocks noGrp="1"/>
          </p:cNvGraphicFramePr>
          <p:nvPr>
            <p:extLst>
              <p:ext uri="{D42A27DB-BD31-4B8C-83A1-F6EECF244321}">
                <p14:modId xmlns:p14="http://schemas.microsoft.com/office/powerpoint/2010/main" val="3632826265"/>
              </p:ext>
            </p:extLst>
          </p:nvPr>
        </p:nvGraphicFramePr>
        <p:xfrm>
          <a:off x="4422000" y="1509997"/>
          <a:ext cx="2628900" cy="1698263"/>
        </p:xfrm>
        <a:graphic>
          <a:graphicData uri="http://schemas.openxmlformats.org/drawingml/2006/table">
            <a:tbl>
              <a:tblPr>
                <a:tableStyleId>{5C22544A-7EE6-4342-B048-85BDC9FD1C3A}</a:tableStyleId>
              </a:tblPr>
              <a:tblGrid>
                <a:gridCol w="1092200">
                  <a:extLst>
                    <a:ext uri="{9D8B030D-6E8A-4147-A177-3AD203B41FA5}">
                      <a16:colId xmlns:a16="http://schemas.microsoft.com/office/drawing/2014/main" val="3042862825"/>
                    </a:ext>
                  </a:extLst>
                </a:gridCol>
                <a:gridCol w="1536700">
                  <a:extLst>
                    <a:ext uri="{9D8B030D-6E8A-4147-A177-3AD203B41FA5}">
                      <a16:colId xmlns:a16="http://schemas.microsoft.com/office/drawing/2014/main" val="3241058480"/>
                    </a:ext>
                  </a:extLst>
                </a:gridCol>
              </a:tblGrid>
              <a:tr h="114185">
                <a:tc>
                  <a:txBody>
                    <a:bodyPr/>
                    <a:lstStyle/>
                    <a:p>
                      <a:pPr algn="l" fontAlgn="b"/>
                      <a:r>
                        <a:rPr lang="fr-FR" sz="1100" b="0" i="0" u="none" strike="noStrike" dirty="0">
                          <a:solidFill>
                            <a:srgbClr val="FFFFFF"/>
                          </a:solidFill>
                          <a:effectLst/>
                          <a:latin typeface="Calibri" panose="020F0502020204030204" pitchFamily="34" charset="0"/>
                        </a:rPr>
                        <a:t>Taux</a:t>
                      </a:r>
                    </a:p>
                  </a:txBody>
                  <a:tcPr marL="7620" marR="7620" marT="7620" marB="0" anchor="b">
                    <a:solidFill>
                      <a:schemeClr val="tx1"/>
                    </a:solidFill>
                  </a:tcPr>
                </a:tc>
                <a:tc>
                  <a:txBody>
                    <a:bodyPr/>
                    <a:lstStyle/>
                    <a:p>
                      <a:pPr algn="ctr" fontAlgn="b"/>
                      <a:r>
                        <a:rPr lang="fr-FR" sz="1100" u="none" strike="noStrike" dirty="0">
                          <a:solidFill>
                            <a:srgbClr val="FFFFFF"/>
                          </a:solidFill>
                          <a:effectLst/>
                        </a:rPr>
                        <a:t>Valeur</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extLst>
                  <a:ext uri="{0D108BD9-81ED-4DB2-BD59-A6C34878D82A}">
                    <a16:rowId xmlns:a16="http://schemas.microsoft.com/office/drawing/2014/main" val="317880372"/>
                  </a:ext>
                </a:extLst>
              </a:tr>
              <a:tr h="223256">
                <a:tc>
                  <a:txBody>
                    <a:bodyPr/>
                    <a:lstStyle/>
                    <a:p>
                      <a:pPr algn="l" fontAlgn="b"/>
                      <a:r>
                        <a:rPr lang="fr-FR" sz="1100" u="none" strike="noStrike" dirty="0">
                          <a:effectLst/>
                        </a:rPr>
                        <a:t>Taux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3%</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270652949"/>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u="none" strike="noStrike" dirty="0">
                          <a:effectLst/>
                        </a:rPr>
                        <a:t>Taux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924623812"/>
                  </a:ext>
                </a:extLst>
              </a:tr>
              <a:tr h="202467">
                <a:tc>
                  <a:txBody>
                    <a:bodyPr/>
                    <a:lstStyle/>
                    <a:p>
                      <a:pPr algn="l" fontAlgn="b"/>
                      <a:r>
                        <a:rPr lang="fr-FR" sz="1100" b="1" u="none" strike="noStrike" dirty="0">
                          <a:effectLst/>
                        </a:rPr>
                        <a:t>Taux 3</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u="none" strike="noStrike" dirty="0">
                          <a:effectLst/>
                        </a:rPr>
                        <a:t>?</a:t>
                      </a:r>
                      <a:endParaRPr lang="fr-FR" sz="1100" b="1"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13043668"/>
                  </a:ext>
                </a:extLst>
              </a:tr>
              <a:tr h="182880">
                <a:tc>
                  <a:txBody>
                    <a:bodyPr/>
                    <a:lstStyle/>
                    <a:p>
                      <a:pPr algn="l" fontAlgn="b"/>
                      <a:r>
                        <a:rPr lang="fr-FR" sz="1100" b="1" u="none" strike="noStrike" dirty="0">
                          <a:effectLst/>
                        </a:rPr>
                        <a:t>Taux 4</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u="none" strike="noStrike" dirty="0">
                          <a:effectLst/>
                        </a:rPr>
                        <a:t>?</a:t>
                      </a:r>
                      <a:endParaRPr lang="fr-FR" sz="1100" b="1"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314595148"/>
                  </a:ext>
                </a:extLst>
              </a:tr>
              <a:tr h="182880">
                <a:tc>
                  <a:txBody>
                    <a:bodyPr/>
                    <a:lstStyle/>
                    <a:p>
                      <a:pPr algn="l" fontAlgn="b"/>
                      <a:r>
                        <a:rPr lang="fr-FR" sz="1100" u="none" strike="noStrike" dirty="0">
                          <a:effectLst/>
                        </a:rPr>
                        <a:t>Marge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0.40%</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853942388"/>
                  </a:ext>
                </a:extLst>
              </a:tr>
              <a:tr h="182880">
                <a:tc>
                  <a:txBody>
                    <a:bodyPr/>
                    <a:lstStyle/>
                    <a:p>
                      <a:pPr algn="l" fontAlgn="b"/>
                      <a:r>
                        <a:rPr lang="fr-FR" sz="1100" u="none" strike="noStrike" dirty="0">
                          <a:effectLst/>
                        </a:rPr>
                        <a:t>Marge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77300222"/>
                  </a:ext>
                </a:extLst>
              </a:tr>
              <a:tr h="182880">
                <a:tc>
                  <a:txBody>
                    <a:bodyPr/>
                    <a:lstStyle/>
                    <a:p>
                      <a:pPr algn="l" fontAlgn="b"/>
                      <a:r>
                        <a:rPr lang="fr-FR" sz="1100" u="none" strike="noStrike" dirty="0">
                          <a:effectLst/>
                        </a:rPr>
                        <a:t>Marge 3</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384422577"/>
                  </a:ext>
                </a:extLst>
              </a:tr>
              <a:tr h="182880">
                <a:tc>
                  <a:txBody>
                    <a:bodyPr/>
                    <a:lstStyle/>
                    <a:p>
                      <a:pPr algn="l" fontAlgn="b"/>
                      <a:r>
                        <a:rPr lang="fr-FR" sz="1100" u="none" strike="noStrike" dirty="0">
                          <a:effectLst/>
                        </a:rPr>
                        <a:t>Marge 4</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668657570"/>
                  </a:ext>
                </a:extLst>
              </a:tr>
            </a:tbl>
          </a:graphicData>
        </a:graphic>
      </p:graphicFrame>
      <p:graphicFrame>
        <p:nvGraphicFramePr>
          <p:cNvPr id="76" name="Table 75">
            <a:extLst>
              <a:ext uri="{FF2B5EF4-FFF2-40B4-BE49-F238E27FC236}">
                <a16:creationId xmlns:a16="http://schemas.microsoft.com/office/drawing/2014/main" id="{02A4FE5B-C5D4-23CA-F7B1-A669526DC111}"/>
              </a:ext>
            </a:extLst>
          </p:cNvPr>
          <p:cNvGraphicFramePr>
            <a:graphicFrameLocks noGrp="1"/>
          </p:cNvGraphicFramePr>
          <p:nvPr>
            <p:extLst>
              <p:ext uri="{D42A27DB-BD31-4B8C-83A1-F6EECF244321}">
                <p14:modId xmlns:p14="http://schemas.microsoft.com/office/powerpoint/2010/main" val="4078106228"/>
              </p:ext>
            </p:extLst>
          </p:nvPr>
        </p:nvGraphicFramePr>
        <p:xfrm>
          <a:off x="8155743" y="1465577"/>
          <a:ext cx="3402000" cy="1698263"/>
        </p:xfrm>
        <a:graphic>
          <a:graphicData uri="http://schemas.openxmlformats.org/drawingml/2006/table">
            <a:tbl>
              <a:tblPr>
                <a:tableStyleId>{5C22544A-7EE6-4342-B048-85BDC9FD1C3A}</a:tableStyleId>
              </a:tblPr>
              <a:tblGrid>
                <a:gridCol w="891988">
                  <a:extLst>
                    <a:ext uri="{9D8B030D-6E8A-4147-A177-3AD203B41FA5}">
                      <a16:colId xmlns:a16="http://schemas.microsoft.com/office/drawing/2014/main" val="3042862825"/>
                    </a:ext>
                  </a:extLst>
                </a:gridCol>
                <a:gridCol w="1333519">
                  <a:extLst>
                    <a:ext uri="{9D8B030D-6E8A-4147-A177-3AD203B41FA5}">
                      <a16:colId xmlns:a16="http://schemas.microsoft.com/office/drawing/2014/main" val="3241058480"/>
                    </a:ext>
                  </a:extLst>
                </a:gridCol>
                <a:gridCol w="1176493">
                  <a:extLst>
                    <a:ext uri="{9D8B030D-6E8A-4147-A177-3AD203B41FA5}">
                      <a16:colId xmlns:a16="http://schemas.microsoft.com/office/drawing/2014/main" val="2916917821"/>
                    </a:ext>
                  </a:extLst>
                </a:gridCol>
              </a:tblGrid>
              <a:tr h="114185">
                <a:tc>
                  <a:txBody>
                    <a:bodyPr/>
                    <a:lstStyle/>
                    <a:p>
                      <a:pPr algn="l" fontAlgn="b"/>
                      <a:r>
                        <a:rPr lang="fr-FR" sz="1100" b="0" i="0" u="none" strike="noStrike" dirty="0">
                          <a:solidFill>
                            <a:srgbClr val="FFFFFF"/>
                          </a:solidFill>
                          <a:effectLst/>
                          <a:latin typeface="Calibri" panose="020F0502020204030204" pitchFamily="34" charset="0"/>
                        </a:rPr>
                        <a:t>Taux</a:t>
                      </a:r>
                    </a:p>
                  </a:txBody>
                  <a:tcPr marL="7620" marR="7620" marT="7620" marB="0" anchor="b">
                    <a:solidFill>
                      <a:schemeClr val="tx1"/>
                    </a:solidFill>
                  </a:tcPr>
                </a:tc>
                <a:tc>
                  <a:txBody>
                    <a:bodyPr/>
                    <a:lstStyle/>
                    <a:p>
                      <a:pPr algn="ctr" fontAlgn="b"/>
                      <a:r>
                        <a:rPr lang="fr-FR" sz="1100" u="none" strike="noStrike" dirty="0">
                          <a:solidFill>
                            <a:srgbClr val="FFFFFF"/>
                          </a:solidFill>
                          <a:effectLst/>
                        </a:rPr>
                        <a:t>Valeur baseline</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fr-FR" sz="1100" u="none" strike="noStrike" dirty="0">
                          <a:solidFill>
                            <a:srgbClr val="FFFFFF"/>
                          </a:solidFill>
                          <a:effectLst/>
                        </a:rPr>
                        <a:t>Valeur adverse</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extLst>
                  <a:ext uri="{0D108BD9-81ED-4DB2-BD59-A6C34878D82A}">
                    <a16:rowId xmlns:a16="http://schemas.microsoft.com/office/drawing/2014/main" val="317880372"/>
                  </a:ext>
                </a:extLst>
              </a:tr>
              <a:tr h="223256">
                <a:tc>
                  <a:txBody>
                    <a:bodyPr/>
                    <a:lstStyle/>
                    <a:p>
                      <a:pPr algn="l" fontAlgn="b"/>
                      <a:r>
                        <a:rPr lang="fr-FR" sz="1100" u="none" strike="noStrike" dirty="0">
                          <a:effectLst/>
                        </a:rPr>
                        <a:t>Taux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3%</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3%</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270652949"/>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u="none" strike="noStrike" dirty="0">
                          <a:effectLst/>
                        </a:rPr>
                        <a:t>Taux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3,65%</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5,19%</a:t>
                      </a:r>
                    </a:p>
                  </a:txBody>
                  <a:tcPr marL="7620" marR="7620" marT="7620" marB="0" anchor="b"/>
                </a:tc>
                <a:extLst>
                  <a:ext uri="{0D108BD9-81ED-4DB2-BD59-A6C34878D82A}">
                    <a16:rowId xmlns:a16="http://schemas.microsoft.com/office/drawing/2014/main" val="924623812"/>
                  </a:ext>
                </a:extLst>
              </a:tr>
              <a:tr h="202467">
                <a:tc>
                  <a:txBody>
                    <a:bodyPr/>
                    <a:lstStyle/>
                    <a:p>
                      <a:pPr algn="l" fontAlgn="b"/>
                      <a:r>
                        <a:rPr lang="fr-FR" sz="1100" b="1" u="none" strike="noStrike" dirty="0">
                          <a:effectLst/>
                        </a:rPr>
                        <a:t>Taux 3</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3,45%</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4,67%</a:t>
                      </a:r>
                    </a:p>
                  </a:txBody>
                  <a:tcPr marL="7620" marR="7620" marT="7620" marB="0" anchor="b"/>
                </a:tc>
                <a:extLst>
                  <a:ext uri="{0D108BD9-81ED-4DB2-BD59-A6C34878D82A}">
                    <a16:rowId xmlns:a16="http://schemas.microsoft.com/office/drawing/2014/main" val="1413043668"/>
                  </a:ext>
                </a:extLst>
              </a:tr>
              <a:tr h="182880">
                <a:tc>
                  <a:txBody>
                    <a:bodyPr/>
                    <a:lstStyle/>
                    <a:p>
                      <a:pPr algn="l" fontAlgn="b"/>
                      <a:r>
                        <a:rPr lang="fr-FR" sz="1100" b="1" u="none" strike="noStrike" dirty="0">
                          <a:effectLst/>
                        </a:rPr>
                        <a:t>Taux 4</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3,21%</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4,25%</a:t>
                      </a:r>
                    </a:p>
                  </a:txBody>
                  <a:tcPr marL="7620" marR="7620" marT="7620" marB="0" anchor="b"/>
                </a:tc>
                <a:extLst>
                  <a:ext uri="{0D108BD9-81ED-4DB2-BD59-A6C34878D82A}">
                    <a16:rowId xmlns:a16="http://schemas.microsoft.com/office/drawing/2014/main" val="2314595148"/>
                  </a:ext>
                </a:extLst>
              </a:tr>
              <a:tr h="182880">
                <a:tc>
                  <a:txBody>
                    <a:bodyPr/>
                    <a:lstStyle/>
                    <a:p>
                      <a:pPr algn="l" fontAlgn="b"/>
                      <a:r>
                        <a:rPr lang="fr-FR" sz="1100" u="none" strike="noStrike" dirty="0">
                          <a:effectLst/>
                        </a:rPr>
                        <a:t>Marge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0.40%</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fr-FR" sz="1100" u="none" strike="noStrike" dirty="0">
                          <a:effectLst/>
                        </a:rPr>
                        <a:t>0.40%</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853942388"/>
                  </a:ext>
                </a:extLst>
              </a:tr>
              <a:tr h="182880">
                <a:tc>
                  <a:txBody>
                    <a:bodyPr/>
                    <a:lstStyle/>
                    <a:p>
                      <a:pPr algn="l" fontAlgn="b"/>
                      <a:r>
                        <a:rPr lang="fr-FR" sz="1100" u="none" strike="noStrike" dirty="0">
                          <a:effectLst/>
                        </a:rPr>
                        <a:t>Marge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0.41%</a:t>
                      </a:r>
                    </a:p>
                  </a:txBody>
                  <a:tcPr marL="7620" marR="7620" marT="7620" marB="0" anchor="b"/>
                </a:tc>
                <a:extLst>
                  <a:ext uri="{0D108BD9-81ED-4DB2-BD59-A6C34878D82A}">
                    <a16:rowId xmlns:a16="http://schemas.microsoft.com/office/drawing/2014/main" val="1477300222"/>
                  </a:ext>
                </a:extLst>
              </a:tr>
              <a:tr h="182880">
                <a:tc>
                  <a:txBody>
                    <a:bodyPr/>
                    <a:lstStyle/>
                    <a:p>
                      <a:pPr algn="l" fontAlgn="b"/>
                      <a:r>
                        <a:rPr lang="fr-FR" sz="1100" u="none" strike="noStrike" dirty="0">
                          <a:effectLst/>
                        </a:rPr>
                        <a:t>Marge 3</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0.44%</a:t>
                      </a:r>
                    </a:p>
                  </a:txBody>
                  <a:tcPr marL="7620" marR="7620" marT="7620" marB="0" anchor="b"/>
                </a:tc>
                <a:extLst>
                  <a:ext uri="{0D108BD9-81ED-4DB2-BD59-A6C34878D82A}">
                    <a16:rowId xmlns:a16="http://schemas.microsoft.com/office/drawing/2014/main" val="2384422577"/>
                  </a:ext>
                </a:extLst>
              </a:tr>
              <a:tr h="182880">
                <a:tc>
                  <a:txBody>
                    <a:bodyPr/>
                    <a:lstStyle/>
                    <a:p>
                      <a:pPr algn="l" fontAlgn="b"/>
                      <a:r>
                        <a:rPr lang="fr-FR" sz="1100" u="none" strike="noStrike" dirty="0">
                          <a:effectLst/>
                        </a:rPr>
                        <a:t>Marge 4</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0.42%</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0.49%</a:t>
                      </a:r>
                    </a:p>
                  </a:txBody>
                  <a:tcPr marL="7620" marR="7620" marT="7620" marB="0" anchor="b"/>
                </a:tc>
                <a:extLst>
                  <a:ext uri="{0D108BD9-81ED-4DB2-BD59-A6C34878D82A}">
                    <a16:rowId xmlns:a16="http://schemas.microsoft.com/office/drawing/2014/main" val="2668657570"/>
                  </a:ext>
                </a:extLst>
              </a:tr>
            </a:tbl>
          </a:graphicData>
        </a:graphic>
      </p:graphicFrame>
      <p:sp>
        <p:nvSpPr>
          <p:cNvPr id="77" name="Arrow: Right 76">
            <a:extLst>
              <a:ext uri="{FF2B5EF4-FFF2-40B4-BE49-F238E27FC236}">
                <a16:creationId xmlns:a16="http://schemas.microsoft.com/office/drawing/2014/main" id="{89B3CB4F-DFE4-9AF7-0E0A-3ADA0751844E}"/>
              </a:ext>
            </a:extLst>
          </p:cNvPr>
          <p:cNvSpPr/>
          <p:nvPr/>
        </p:nvSpPr>
        <p:spPr>
          <a:xfrm>
            <a:off x="7296350" y="2208970"/>
            <a:ext cx="654900" cy="433213"/>
          </a:xfrm>
          <a:prstGeom prst="rightArrow">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MBLZ Bold"/>
              <a:ea typeface="+mn-ea"/>
              <a:cs typeface="+mn-cs"/>
            </a:endParaRPr>
          </a:p>
        </p:txBody>
      </p:sp>
      <p:sp>
        <p:nvSpPr>
          <p:cNvPr id="78" name="Espace réservé du texte 16">
            <a:extLst>
              <a:ext uri="{FF2B5EF4-FFF2-40B4-BE49-F238E27FC236}">
                <a16:creationId xmlns:a16="http://schemas.microsoft.com/office/drawing/2014/main" id="{EA921468-1C8D-18AB-7ED5-CB0B53E9C8FD}"/>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187118780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Rectangle 81">
            <a:extLst>
              <a:ext uri="{FF2B5EF4-FFF2-40B4-BE49-F238E27FC236}">
                <a16:creationId xmlns:a16="http://schemas.microsoft.com/office/drawing/2014/main" id="{319313BC-1EA5-A2E2-5EBF-27D6A43790BD}"/>
              </a:ext>
            </a:extLst>
          </p:cNvPr>
          <p:cNvSpPr/>
          <p:nvPr/>
        </p:nvSpPr>
        <p:spPr>
          <a:xfrm>
            <a:off x="13400" y="5503790"/>
            <a:ext cx="12191998" cy="1298174"/>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1 – Prêt à taux fixe : Détermination des taux sans risques futurs</a:t>
            </a:r>
          </a:p>
        </p:txBody>
      </p:sp>
      <p:cxnSp>
        <p:nvCxnSpPr>
          <p:cNvPr id="32" name="Straight Arrow Connector 31">
            <a:extLst>
              <a:ext uri="{FF2B5EF4-FFF2-40B4-BE49-F238E27FC236}">
                <a16:creationId xmlns:a16="http://schemas.microsoft.com/office/drawing/2014/main" id="{DAE0439D-B98C-3181-D7B1-FBB292D867F6}"/>
              </a:ext>
            </a:extLst>
          </p:cNvPr>
          <p:cNvCxnSpPr/>
          <p:nvPr/>
        </p:nvCxnSpPr>
        <p:spPr>
          <a:xfrm>
            <a:off x="817374" y="1718079"/>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19CF3A06-3268-826F-B99E-7D5A61297895}"/>
              </a:ext>
            </a:extLst>
          </p:cNvPr>
          <p:cNvSpPr/>
          <p:nvPr/>
        </p:nvSpPr>
        <p:spPr>
          <a:xfrm>
            <a:off x="817374" y="1408868"/>
            <a:ext cx="2781463"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Marge 1</a:t>
            </a:r>
          </a:p>
        </p:txBody>
      </p:sp>
      <p:sp>
        <p:nvSpPr>
          <p:cNvPr id="34" name="TextBox 33">
            <a:extLst>
              <a:ext uri="{FF2B5EF4-FFF2-40B4-BE49-F238E27FC236}">
                <a16:creationId xmlns:a16="http://schemas.microsoft.com/office/drawing/2014/main" id="{EE09C071-4AD9-D75D-43E9-841703F62A7C}"/>
              </a:ext>
            </a:extLst>
          </p:cNvPr>
          <p:cNvSpPr txBox="1"/>
          <p:nvPr/>
        </p:nvSpPr>
        <p:spPr>
          <a:xfrm>
            <a:off x="602123" y="1743289"/>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31.12.23</a:t>
            </a:r>
          </a:p>
        </p:txBody>
      </p:sp>
      <p:sp>
        <p:nvSpPr>
          <p:cNvPr id="35" name="TextBox 34">
            <a:extLst>
              <a:ext uri="{FF2B5EF4-FFF2-40B4-BE49-F238E27FC236}">
                <a16:creationId xmlns:a16="http://schemas.microsoft.com/office/drawing/2014/main" id="{5BD2712C-62AC-D045-8C3A-99D37BCAA932}"/>
              </a:ext>
            </a:extLst>
          </p:cNvPr>
          <p:cNvSpPr txBox="1"/>
          <p:nvPr/>
        </p:nvSpPr>
        <p:spPr>
          <a:xfrm>
            <a:off x="3340639" y="1753637"/>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31.03.25</a:t>
            </a:r>
          </a:p>
        </p:txBody>
      </p:sp>
      <p:sp>
        <p:nvSpPr>
          <p:cNvPr id="36" name="TextBox 35">
            <a:extLst>
              <a:ext uri="{FF2B5EF4-FFF2-40B4-BE49-F238E27FC236}">
                <a16:creationId xmlns:a16="http://schemas.microsoft.com/office/drawing/2014/main" id="{A06244E9-110D-0F7A-9DA0-6E72447365BB}"/>
              </a:ext>
            </a:extLst>
          </p:cNvPr>
          <p:cNvSpPr txBox="1"/>
          <p:nvPr/>
        </p:nvSpPr>
        <p:spPr>
          <a:xfrm>
            <a:off x="5999431" y="1765239"/>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30.06.26</a:t>
            </a:r>
          </a:p>
        </p:txBody>
      </p:sp>
      <p:sp>
        <p:nvSpPr>
          <p:cNvPr id="37" name="TextBox 36">
            <a:extLst>
              <a:ext uri="{FF2B5EF4-FFF2-40B4-BE49-F238E27FC236}">
                <a16:creationId xmlns:a16="http://schemas.microsoft.com/office/drawing/2014/main" id="{DC652014-90C6-2A12-0013-AE75ED44196D}"/>
              </a:ext>
            </a:extLst>
          </p:cNvPr>
          <p:cNvSpPr txBox="1"/>
          <p:nvPr/>
        </p:nvSpPr>
        <p:spPr>
          <a:xfrm>
            <a:off x="8778025" y="1752156"/>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30.09.27</a:t>
            </a:r>
          </a:p>
        </p:txBody>
      </p:sp>
      <p:sp>
        <p:nvSpPr>
          <p:cNvPr id="38" name="TextBox 37">
            <a:extLst>
              <a:ext uri="{FF2B5EF4-FFF2-40B4-BE49-F238E27FC236}">
                <a16:creationId xmlns:a16="http://schemas.microsoft.com/office/drawing/2014/main" id="{D1E158D1-A659-CCA2-99CC-8DD2E1BC781C}"/>
              </a:ext>
            </a:extLst>
          </p:cNvPr>
          <p:cNvSpPr txBox="1"/>
          <p:nvPr/>
        </p:nvSpPr>
        <p:spPr>
          <a:xfrm>
            <a:off x="9632925" y="1752156"/>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31.12.27</a:t>
            </a:r>
          </a:p>
        </p:txBody>
      </p:sp>
      <p:sp>
        <p:nvSpPr>
          <p:cNvPr id="39" name="TextBox 38">
            <a:extLst>
              <a:ext uri="{FF2B5EF4-FFF2-40B4-BE49-F238E27FC236}">
                <a16:creationId xmlns:a16="http://schemas.microsoft.com/office/drawing/2014/main" id="{470EC341-785B-7561-39DB-30E1B3377CA1}"/>
              </a:ext>
            </a:extLst>
          </p:cNvPr>
          <p:cNvSpPr txBox="1"/>
          <p:nvPr/>
        </p:nvSpPr>
        <p:spPr>
          <a:xfrm>
            <a:off x="2552111" y="1758383"/>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31.12.24</a:t>
            </a:r>
          </a:p>
        </p:txBody>
      </p:sp>
      <p:sp>
        <p:nvSpPr>
          <p:cNvPr id="40" name="Rectangle 39">
            <a:extLst>
              <a:ext uri="{FF2B5EF4-FFF2-40B4-BE49-F238E27FC236}">
                <a16:creationId xmlns:a16="http://schemas.microsoft.com/office/drawing/2014/main" id="{28A17F4A-A390-50A3-C68B-27DFCCBE5DC8}"/>
              </a:ext>
            </a:extLst>
          </p:cNvPr>
          <p:cNvSpPr/>
          <p:nvPr/>
        </p:nvSpPr>
        <p:spPr>
          <a:xfrm>
            <a:off x="3748531" y="1408867"/>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Marge 2</a:t>
            </a:r>
          </a:p>
        </p:txBody>
      </p:sp>
      <p:sp>
        <p:nvSpPr>
          <p:cNvPr id="41" name="Rectangle 40">
            <a:extLst>
              <a:ext uri="{FF2B5EF4-FFF2-40B4-BE49-F238E27FC236}">
                <a16:creationId xmlns:a16="http://schemas.microsoft.com/office/drawing/2014/main" id="{BB298EE5-C2CB-1BE1-10AE-6318C0C19678}"/>
              </a:ext>
            </a:extLst>
          </p:cNvPr>
          <p:cNvSpPr/>
          <p:nvPr/>
        </p:nvSpPr>
        <p:spPr>
          <a:xfrm>
            <a:off x="6527125" y="1408866"/>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Marge 3</a:t>
            </a:r>
          </a:p>
        </p:txBody>
      </p:sp>
      <p:sp>
        <p:nvSpPr>
          <p:cNvPr id="42" name="Rectangle 41">
            <a:extLst>
              <a:ext uri="{FF2B5EF4-FFF2-40B4-BE49-F238E27FC236}">
                <a16:creationId xmlns:a16="http://schemas.microsoft.com/office/drawing/2014/main" id="{0CDFDFFB-2AC3-4388-E656-A25CA31BEF76}"/>
              </a:ext>
            </a:extLst>
          </p:cNvPr>
          <p:cNvSpPr/>
          <p:nvPr/>
        </p:nvSpPr>
        <p:spPr>
          <a:xfrm>
            <a:off x="9305592" y="1402316"/>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Marge 4</a:t>
            </a:r>
          </a:p>
        </p:txBody>
      </p:sp>
      <p:sp>
        <p:nvSpPr>
          <p:cNvPr id="43" name="Rectangle 42">
            <a:extLst>
              <a:ext uri="{FF2B5EF4-FFF2-40B4-BE49-F238E27FC236}">
                <a16:creationId xmlns:a16="http://schemas.microsoft.com/office/drawing/2014/main" id="{A6C9D027-5A45-7CAB-6A1C-CBD5E3057DC5}"/>
              </a:ext>
            </a:extLst>
          </p:cNvPr>
          <p:cNvSpPr/>
          <p:nvPr/>
        </p:nvSpPr>
        <p:spPr>
          <a:xfrm>
            <a:off x="9935284" y="1400829"/>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a typeface="Calibri" panose="020F0502020204030204" pitchFamily="34" charset="0"/>
              <a:cs typeface="Calibri" panose="020F0502020204030204" pitchFamily="34" charset="0"/>
            </a:endParaRPr>
          </a:p>
        </p:txBody>
      </p:sp>
      <p:sp>
        <p:nvSpPr>
          <p:cNvPr id="44" name="Rectangle 43">
            <a:extLst>
              <a:ext uri="{FF2B5EF4-FFF2-40B4-BE49-F238E27FC236}">
                <a16:creationId xmlns:a16="http://schemas.microsoft.com/office/drawing/2014/main" id="{03A00AE6-912D-C977-50E3-6D43AAC48495}"/>
              </a:ext>
            </a:extLst>
          </p:cNvPr>
          <p:cNvSpPr/>
          <p:nvPr/>
        </p:nvSpPr>
        <p:spPr>
          <a:xfrm>
            <a:off x="818589" y="1408866"/>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a typeface="Calibri" panose="020F0502020204030204" pitchFamily="34" charset="0"/>
              <a:cs typeface="Calibri" panose="020F0502020204030204" pitchFamily="34" charset="0"/>
            </a:endParaRPr>
          </a:p>
        </p:txBody>
      </p:sp>
      <p:sp>
        <p:nvSpPr>
          <p:cNvPr id="45" name="Rectangle 44">
            <a:extLst>
              <a:ext uri="{FF2B5EF4-FFF2-40B4-BE49-F238E27FC236}">
                <a16:creationId xmlns:a16="http://schemas.microsoft.com/office/drawing/2014/main" id="{CD2C3472-C64D-25F3-83FA-583D936BE2D6}"/>
              </a:ext>
            </a:extLst>
          </p:cNvPr>
          <p:cNvSpPr/>
          <p:nvPr/>
        </p:nvSpPr>
        <p:spPr>
          <a:xfrm>
            <a:off x="1256111" y="1128441"/>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1</a:t>
            </a:r>
          </a:p>
        </p:txBody>
      </p:sp>
      <p:sp>
        <p:nvSpPr>
          <p:cNvPr id="46" name="Rectangle 45">
            <a:extLst>
              <a:ext uri="{FF2B5EF4-FFF2-40B4-BE49-F238E27FC236}">
                <a16:creationId xmlns:a16="http://schemas.microsoft.com/office/drawing/2014/main" id="{99EDBB23-2BE5-8EF2-42FB-2930CA132F97}"/>
              </a:ext>
            </a:extLst>
          </p:cNvPr>
          <p:cNvSpPr/>
          <p:nvPr/>
        </p:nvSpPr>
        <p:spPr>
          <a:xfrm>
            <a:off x="3748531" y="1117248"/>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2</a:t>
            </a:r>
          </a:p>
        </p:txBody>
      </p:sp>
      <p:sp>
        <p:nvSpPr>
          <p:cNvPr id="47" name="Rectangle 46">
            <a:extLst>
              <a:ext uri="{FF2B5EF4-FFF2-40B4-BE49-F238E27FC236}">
                <a16:creationId xmlns:a16="http://schemas.microsoft.com/office/drawing/2014/main" id="{0BD1ECD2-A57F-569A-675C-92EADF942302}"/>
              </a:ext>
            </a:extLst>
          </p:cNvPr>
          <p:cNvSpPr/>
          <p:nvPr/>
        </p:nvSpPr>
        <p:spPr>
          <a:xfrm>
            <a:off x="6527125" y="1117248"/>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3</a:t>
            </a:r>
          </a:p>
        </p:txBody>
      </p:sp>
      <p:sp>
        <p:nvSpPr>
          <p:cNvPr id="48" name="Rectangle 47">
            <a:extLst>
              <a:ext uri="{FF2B5EF4-FFF2-40B4-BE49-F238E27FC236}">
                <a16:creationId xmlns:a16="http://schemas.microsoft.com/office/drawing/2014/main" id="{FD8C78F6-A9BA-4F6D-5DA4-8EFA36F5147C}"/>
              </a:ext>
            </a:extLst>
          </p:cNvPr>
          <p:cNvSpPr/>
          <p:nvPr/>
        </p:nvSpPr>
        <p:spPr>
          <a:xfrm>
            <a:off x="9305592" y="1110697"/>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4</a:t>
            </a:r>
          </a:p>
        </p:txBody>
      </p:sp>
      <p:sp>
        <p:nvSpPr>
          <p:cNvPr id="49" name="Rectangle 48">
            <a:extLst>
              <a:ext uri="{FF2B5EF4-FFF2-40B4-BE49-F238E27FC236}">
                <a16:creationId xmlns:a16="http://schemas.microsoft.com/office/drawing/2014/main" id="{48D5A055-13CD-B31C-0E6F-00CBEA6F5231}"/>
              </a:ext>
            </a:extLst>
          </p:cNvPr>
          <p:cNvSpPr/>
          <p:nvPr/>
        </p:nvSpPr>
        <p:spPr>
          <a:xfrm>
            <a:off x="9935284" y="1109210"/>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50" name="Rectangle 49">
            <a:extLst>
              <a:ext uri="{FF2B5EF4-FFF2-40B4-BE49-F238E27FC236}">
                <a16:creationId xmlns:a16="http://schemas.microsoft.com/office/drawing/2014/main" id="{A595B0D6-A41E-4515-26FC-FEEA0528C12E}"/>
              </a:ext>
            </a:extLst>
          </p:cNvPr>
          <p:cNvSpPr/>
          <p:nvPr/>
        </p:nvSpPr>
        <p:spPr>
          <a:xfrm>
            <a:off x="818589" y="1117247"/>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51" name="TextBox 50">
            <a:extLst>
              <a:ext uri="{FF2B5EF4-FFF2-40B4-BE49-F238E27FC236}">
                <a16:creationId xmlns:a16="http://schemas.microsoft.com/office/drawing/2014/main" id="{9CCD9A73-A4BA-8ACF-616A-55DDDAA15073}"/>
              </a:ext>
            </a:extLst>
          </p:cNvPr>
          <p:cNvSpPr txBox="1"/>
          <p:nvPr/>
        </p:nvSpPr>
        <p:spPr>
          <a:xfrm>
            <a:off x="0" y="1031497"/>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Taux</a:t>
            </a:r>
          </a:p>
        </p:txBody>
      </p:sp>
      <p:sp>
        <p:nvSpPr>
          <p:cNvPr id="76" name="TextBox 75">
            <a:extLst>
              <a:ext uri="{FF2B5EF4-FFF2-40B4-BE49-F238E27FC236}">
                <a16:creationId xmlns:a16="http://schemas.microsoft.com/office/drawing/2014/main" id="{3067B4E9-217E-A6DB-40E5-FEB880724FA6}"/>
              </a:ext>
            </a:extLst>
          </p:cNvPr>
          <p:cNvSpPr txBox="1"/>
          <p:nvPr/>
        </p:nvSpPr>
        <p:spPr>
          <a:xfrm>
            <a:off x="13400" y="1363468"/>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Marge</a:t>
            </a:r>
          </a:p>
        </p:txBody>
      </p:sp>
      <p:sp>
        <p:nvSpPr>
          <p:cNvPr id="77" name="ZoneTexte 16">
            <a:extLst>
              <a:ext uri="{FF2B5EF4-FFF2-40B4-BE49-F238E27FC236}">
                <a16:creationId xmlns:a16="http://schemas.microsoft.com/office/drawing/2014/main" id="{CF10F63D-A864-4F75-D313-72405366865C}"/>
              </a:ext>
            </a:extLst>
          </p:cNvPr>
          <p:cNvSpPr txBox="1"/>
          <p:nvPr/>
        </p:nvSpPr>
        <p:spPr>
          <a:xfrm>
            <a:off x="580103" y="2026849"/>
            <a:ext cx="10838656" cy="4104407"/>
          </a:xfrm>
          <a:prstGeom prst="rect">
            <a:avLst/>
          </a:prstGeom>
          <a:solidFill>
            <a:schemeClr val="tx2">
              <a:lumMod val="40000"/>
              <a:lumOff val="60000"/>
              <a:alpha val="16000"/>
            </a:schemeClr>
          </a:solidFill>
          <a:ln>
            <a:solidFill>
              <a:schemeClr val="accent2"/>
            </a:solidFill>
          </a:ln>
        </p:spPr>
        <p:txBody>
          <a:bodyPr wrap="square">
            <a:noAutofit/>
          </a:bodyPr>
          <a:lstStyle/>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100" b="1" i="0" u="none" strike="noStrike" kern="1200" cap="none" spc="0" normalizeH="0" baseline="0" noProof="0" dirty="0">
                <a:ln>
                  <a:noFill/>
                </a:ln>
                <a:solidFill>
                  <a:srgbClr val="00B050"/>
                </a:solidFill>
                <a:effectLst/>
                <a:uLnTx/>
                <a:uFillTx/>
                <a:latin typeface="Calibri (body)"/>
                <a:ea typeface="Calibri" panose="020F0502020204030204" pitchFamily="34" charset="0"/>
                <a:cs typeface="Calibri" panose="020F0502020204030204" pitchFamily="34" charset="0"/>
              </a:rPr>
              <a:t>Pour taux 2 </a:t>
            </a:r>
            <a:r>
              <a:rPr kumimoji="0" lang="fr-FR" sz="1100" b="1"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 </a:t>
            </a: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Les données issues du cadrage macro-économique de taux sans risques sont utilisées : </a:t>
            </a: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Les données de 2023, appliquées à 2025 indiquent :</a:t>
            </a: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Il s’agit de déterminer le taux 1,25 ans au 31.03.2025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Et de la même manière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p:txBody>
      </p:sp>
      <p:graphicFrame>
        <p:nvGraphicFramePr>
          <p:cNvPr id="78" name="Table 77">
            <a:extLst>
              <a:ext uri="{FF2B5EF4-FFF2-40B4-BE49-F238E27FC236}">
                <a16:creationId xmlns:a16="http://schemas.microsoft.com/office/drawing/2014/main" id="{BF0A7831-9F7F-D2DA-FAF0-784D56F0D9E2}"/>
              </a:ext>
            </a:extLst>
          </p:cNvPr>
          <p:cNvGraphicFramePr>
            <a:graphicFrameLocks noGrp="1"/>
          </p:cNvGraphicFramePr>
          <p:nvPr>
            <p:extLst>
              <p:ext uri="{D42A27DB-BD31-4B8C-83A1-F6EECF244321}">
                <p14:modId xmlns:p14="http://schemas.microsoft.com/office/powerpoint/2010/main" val="1921279112"/>
              </p:ext>
            </p:extLst>
          </p:nvPr>
        </p:nvGraphicFramePr>
        <p:xfrm>
          <a:off x="638856" y="4150985"/>
          <a:ext cx="8023205" cy="748997"/>
        </p:xfrm>
        <a:graphic>
          <a:graphicData uri="http://schemas.openxmlformats.org/drawingml/2006/table">
            <a:tbl>
              <a:tblPr>
                <a:tableStyleId>{5C22544A-7EE6-4342-B048-85BDC9FD1C3A}</a:tableStyleId>
              </a:tblPr>
              <a:tblGrid>
                <a:gridCol w="1446357">
                  <a:extLst>
                    <a:ext uri="{9D8B030D-6E8A-4147-A177-3AD203B41FA5}">
                      <a16:colId xmlns:a16="http://schemas.microsoft.com/office/drawing/2014/main" val="2414715135"/>
                    </a:ext>
                  </a:extLst>
                </a:gridCol>
                <a:gridCol w="528849">
                  <a:extLst>
                    <a:ext uri="{9D8B030D-6E8A-4147-A177-3AD203B41FA5}">
                      <a16:colId xmlns:a16="http://schemas.microsoft.com/office/drawing/2014/main" val="460327212"/>
                    </a:ext>
                  </a:extLst>
                </a:gridCol>
                <a:gridCol w="756000">
                  <a:extLst>
                    <a:ext uri="{9D8B030D-6E8A-4147-A177-3AD203B41FA5}">
                      <a16:colId xmlns:a16="http://schemas.microsoft.com/office/drawing/2014/main" val="887882823"/>
                    </a:ext>
                  </a:extLst>
                </a:gridCol>
                <a:gridCol w="2754000">
                  <a:extLst>
                    <a:ext uri="{9D8B030D-6E8A-4147-A177-3AD203B41FA5}">
                      <a16:colId xmlns:a16="http://schemas.microsoft.com/office/drawing/2014/main" val="2346094627"/>
                    </a:ext>
                  </a:extLst>
                </a:gridCol>
                <a:gridCol w="1296000">
                  <a:extLst>
                    <a:ext uri="{9D8B030D-6E8A-4147-A177-3AD203B41FA5}">
                      <a16:colId xmlns:a16="http://schemas.microsoft.com/office/drawing/2014/main" val="4108423645"/>
                    </a:ext>
                  </a:extLst>
                </a:gridCol>
                <a:gridCol w="1241999">
                  <a:extLst>
                    <a:ext uri="{9D8B030D-6E8A-4147-A177-3AD203B41FA5}">
                      <a16:colId xmlns:a16="http://schemas.microsoft.com/office/drawing/2014/main" val="3177001386"/>
                    </a:ext>
                  </a:extLst>
                </a:gridCol>
              </a:tblGrid>
              <a:tr h="206057">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Durée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a:t>
                      </a:r>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Year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Formula</a:t>
                      </a: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2226423331"/>
                  </a:ext>
                </a:extLst>
              </a:tr>
              <a:tr h="122220">
                <a:tc>
                  <a:txBody>
                    <a:bodyPr/>
                    <a:lstStyle/>
                    <a:p>
                      <a:pPr algn="l" fontAlgn="b"/>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 an</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1Y</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2025</a:t>
                      </a:r>
                    </a:p>
                  </a:txBody>
                  <a:tcPr marL="7620" marR="7620" marT="7620" marB="0" anchor="b"/>
                </a:tc>
                <a:tc>
                  <a:txBody>
                    <a:bodyPr/>
                    <a:lstStyle/>
                    <a:p>
                      <a:pPr algn="ctr"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3,67% </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5,19%</a:t>
                      </a:r>
                    </a:p>
                  </a:txBody>
                  <a:tcPr marL="7620" marR="7620" marT="7620" marB="0" anchor="b"/>
                </a:tc>
                <a:extLst>
                  <a:ext uri="{0D108BD9-81ED-4DB2-BD59-A6C34878D82A}">
                    <a16:rowId xmlns:a16="http://schemas.microsoft.com/office/drawing/2014/main" val="3387536283"/>
                  </a:ext>
                </a:extLst>
              </a:tr>
              <a:tr h="19242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 ans</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2Y</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2025</a:t>
                      </a:r>
                    </a:p>
                  </a:txBody>
                  <a:tcPr marL="7620" marR="7620" marT="7620" marB="0" anchor="b"/>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3,58%</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5,18%</a:t>
                      </a:r>
                    </a:p>
                  </a:txBody>
                  <a:tcPr marL="7620" marR="7620" marT="7620" marB="0" anchor="b"/>
                </a:tc>
                <a:extLst>
                  <a:ext uri="{0D108BD9-81ED-4DB2-BD59-A6C34878D82A}">
                    <a16:rowId xmlns:a16="http://schemas.microsoft.com/office/drawing/2014/main" val="3339605865"/>
                  </a:ext>
                </a:extLst>
              </a:tr>
              <a:tr h="140697">
                <a:tc>
                  <a:txBody>
                    <a:bodyPr/>
                    <a:lstStyle/>
                    <a:p>
                      <a:pPr algn="l" fontAlgn="b"/>
                      <a:r>
                        <a:rPr lang="fr-FR" sz="1100" b="1" u="none" strike="noStrike" dirty="0">
                          <a:effectLst/>
                          <a:latin typeface="Calibri" panose="020F0502020204030204" pitchFamily="34" charset="0"/>
                          <a:ea typeface="Calibri" panose="020F0502020204030204" pitchFamily="34" charset="0"/>
                          <a:cs typeface="Calibri" panose="020F0502020204030204" pitchFamily="34" charset="0"/>
                        </a:rPr>
                        <a:t>Taux 2 </a:t>
                      </a:r>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1,25Y</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0,25Y</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1an+ 1/4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2ans</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3,65%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5,19%</a:t>
                      </a:r>
                    </a:p>
                  </a:txBody>
                  <a:tcPr marL="7620" marR="7620" marT="7620" marB="0" anchor="b"/>
                </a:tc>
                <a:extLst>
                  <a:ext uri="{0D108BD9-81ED-4DB2-BD59-A6C34878D82A}">
                    <a16:rowId xmlns:a16="http://schemas.microsoft.com/office/drawing/2014/main" val="522921818"/>
                  </a:ext>
                </a:extLst>
              </a:tr>
            </a:tbl>
          </a:graphicData>
        </a:graphic>
      </p:graphicFrame>
      <p:graphicFrame>
        <p:nvGraphicFramePr>
          <p:cNvPr id="79" name="Table 78">
            <a:extLst>
              <a:ext uri="{FF2B5EF4-FFF2-40B4-BE49-F238E27FC236}">
                <a16:creationId xmlns:a16="http://schemas.microsoft.com/office/drawing/2014/main" id="{B0F8D223-3D0F-8B8E-D9E1-A899F83DB673}"/>
              </a:ext>
            </a:extLst>
          </p:cNvPr>
          <p:cNvGraphicFramePr>
            <a:graphicFrameLocks noGrp="1"/>
          </p:cNvGraphicFramePr>
          <p:nvPr>
            <p:extLst>
              <p:ext uri="{D42A27DB-BD31-4B8C-83A1-F6EECF244321}">
                <p14:modId xmlns:p14="http://schemas.microsoft.com/office/powerpoint/2010/main" val="3315375357"/>
              </p:ext>
            </p:extLst>
          </p:nvPr>
        </p:nvGraphicFramePr>
        <p:xfrm>
          <a:off x="638856" y="3116672"/>
          <a:ext cx="6489700" cy="731520"/>
        </p:xfrm>
        <a:graphic>
          <a:graphicData uri="http://schemas.openxmlformats.org/drawingml/2006/table">
            <a:tbl>
              <a:tblPr>
                <a:tableStyleId>{5C22544A-7EE6-4342-B048-85BDC9FD1C3A}</a:tableStyleId>
              </a:tblPr>
              <a:tblGrid>
                <a:gridCol w="1374087">
                  <a:extLst>
                    <a:ext uri="{9D8B030D-6E8A-4147-A177-3AD203B41FA5}">
                      <a16:colId xmlns:a16="http://schemas.microsoft.com/office/drawing/2014/main" val="1617607656"/>
                    </a:ext>
                  </a:extLst>
                </a:gridCol>
                <a:gridCol w="901745">
                  <a:extLst>
                    <a:ext uri="{9D8B030D-6E8A-4147-A177-3AD203B41FA5}">
                      <a16:colId xmlns:a16="http://schemas.microsoft.com/office/drawing/2014/main" val="3110234048"/>
                    </a:ext>
                  </a:extLst>
                </a:gridCol>
                <a:gridCol w="916058">
                  <a:extLst>
                    <a:ext uri="{9D8B030D-6E8A-4147-A177-3AD203B41FA5}">
                      <a16:colId xmlns:a16="http://schemas.microsoft.com/office/drawing/2014/main" val="2211644078"/>
                    </a:ext>
                  </a:extLst>
                </a:gridCol>
                <a:gridCol w="549635">
                  <a:extLst>
                    <a:ext uri="{9D8B030D-6E8A-4147-A177-3AD203B41FA5}">
                      <a16:colId xmlns:a16="http://schemas.microsoft.com/office/drawing/2014/main" val="769823231"/>
                    </a:ext>
                  </a:extLst>
                </a:gridCol>
                <a:gridCol w="549635">
                  <a:extLst>
                    <a:ext uri="{9D8B030D-6E8A-4147-A177-3AD203B41FA5}">
                      <a16:colId xmlns:a16="http://schemas.microsoft.com/office/drawing/2014/main" val="2983393761"/>
                    </a:ext>
                  </a:extLst>
                </a:gridCol>
                <a:gridCol w="549635">
                  <a:extLst>
                    <a:ext uri="{9D8B030D-6E8A-4147-A177-3AD203B41FA5}">
                      <a16:colId xmlns:a16="http://schemas.microsoft.com/office/drawing/2014/main" val="3915905733"/>
                    </a:ext>
                  </a:extLst>
                </a:gridCol>
                <a:gridCol w="549635">
                  <a:extLst>
                    <a:ext uri="{9D8B030D-6E8A-4147-A177-3AD203B41FA5}">
                      <a16:colId xmlns:a16="http://schemas.microsoft.com/office/drawing/2014/main" val="4190293990"/>
                    </a:ext>
                  </a:extLst>
                </a:gridCol>
                <a:gridCol w="549635">
                  <a:extLst>
                    <a:ext uri="{9D8B030D-6E8A-4147-A177-3AD203B41FA5}">
                      <a16:colId xmlns:a16="http://schemas.microsoft.com/office/drawing/2014/main" val="3126825574"/>
                    </a:ext>
                  </a:extLst>
                </a:gridCol>
                <a:gridCol w="549635">
                  <a:extLst>
                    <a:ext uri="{9D8B030D-6E8A-4147-A177-3AD203B41FA5}">
                      <a16:colId xmlns:a16="http://schemas.microsoft.com/office/drawing/2014/main" val="164507706"/>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Tenor</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point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gridSpan="3">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tc gridSpan="3">
                  <a:txBody>
                    <a:bodyPr/>
                    <a:lstStyle/>
                    <a:p>
                      <a:pPr algn="ct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449581099"/>
                  </a:ext>
                </a:extLst>
              </a:tr>
              <a:tr h="182880">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Data cadrage macro</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2024 – Latest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411976108"/>
                  </a:ext>
                </a:extLst>
              </a:tr>
              <a:tr h="182880">
                <a:tc>
                  <a:txBody>
                    <a:bodyPr/>
                    <a:lstStyle/>
                    <a:p>
                      <a:pPr algn="l"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Swap rates - EUR</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1Y</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3,03%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3,67%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3,47%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3,23%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5,19%</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4,68%</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714933764"/>
                  </a:ext>
                </a:extLst>
              </a:tr>
              <a:tr h="182880">
                <a:tc>
                  <a:txBody>
                    <a:bodyPr/>
                    <a:lstStyle/>
                    <a:p>
                      <a:pPr algn="l" fontAlgn="b"/>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2Y</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3,09%</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3,58%</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3,38%</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3,14%</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5,18%</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4,65%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4,23%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4014010499"/>
                  </a:ext>
                </a:extLst>
              </a:tr>
            </a:tbl>
          </a:graphicData>
        </a:graphic>
      </p:graphicFrame>
      <p:graphicFrame>
        <p:nvGraphicFramePr>
          <p:cNvPr id="80" name="Table 79">
            <a:extLst>
              <a:ext uri="{FF2B5EF4-FFF2-40B4-BE49-F238E27FC236}">
                <a16:creationId xmlns:a16="http://schemas.microsoft.com/office/drawing/2014/main" id="{6F8772EE-B2C8-A70B-C3F8-E10821EFB9BF}"/>
              </a:ext>
            </a:extLst>
          </p:cNvPr>
          <p:cNvGraphicFramePr>
            <a:graphicFrameLocks noGrp="1"/>
          </p:cNvGraphicFramePr>
          <p:nvPr>
            <p:extLst>
              <p:ext uri="{D42A27DB-BD31-4B8C-83A1-F6EECF244321}">
                <p14:modId xmlns:p14="http://schemas.microsoft.com/office/powerpoint/2010/main" val="3682647511"/>
              </p:ext>
            </p:extLst>
          </p:nvPr>
        </p:nvGraphicFramePr>
        <p:xfrm>
          <a:off x="638856" y="5314384"/>
          <a:ext cx="8139169" cy="525780"/>
        </p:xfrm>
        <a:graphic>
          <a:graphicData uri="http://schemas.openxmlformats.org/drawingml/2006/table">
            <a:tbl>
              <a:tblPr>
                <a:tableStyleId>{5C22544A-7EE6-4342-B048-85BDC9FD1C3A}</a:tableStyleId>
              </a:tblPr>
              <a:tblGrid>
                <a:gridCol w="1467262">
                  <a:extLst>
                    <a:ext uri="{9D8B030D-6E8A-4147-A177-3AD203B41FA5}">
                      <a16:colId xmlns:a16="http://schemas.microsoft.com/office/drawing/2014/main" val="1979307956"/>
                    </a:ext>
                  </a:extLst>
                </a:gridCol>
                <a:gridCol w="507944">
                  <a:extLst>
                    <a:ext uri="{9D8B030D-6E8A-4147-A177-3AD203B41FA5}">
                      <a16:colId xmlns:a16="http://schemas.microsoft.com/office/drawing/2014/main" val="2876099685"/>
                    </a:ext>
                  </a:extLst>
                </a:gridCol>
                <a:gridCol w="756000">
                  <a:extLst>
                    <a:ext uri="{9D8B030D-6E8A-4147-A177-3AD203B41FA5}">
                      <a16:colId xmlns:a16="http://schemas.microsoft.com/office/drawing/2014/main" val="2625515557"/>
                    </a:ext>
                  </a:extLst>
                </a:gridCol>
                <a:gridCol w="2754000">
                  <a:extLst>
                    <a:ext uri="{9D8B030D-6E8A-4147-A177-3AD203B41FA5}">
                      <a16:colId xmlns:a16="http://schemas.microsoft.com/office/drawing/2014/main" val="1651410649"/>
                    </a:ext>
                  </a:extLst>
                </a:gridCol>
                <a:gridCol w="1296000">
                  <a:extLst>
                    <a:ext uri="{9D8B030D-6E8A-4147-A177-3AD203B41FA5}">
                      <a16:colId xmlns:a16="http://schemas.microsoft.com/office/drawing/2014/main" val="4234388702"/>
                    </a:ext>
                  </a:extLst>
                </a:gridCol>
                <a:gridCol w="1357963">
                  <a:extLst>
                    <a:ext uri="{9D8B030D-6E8A-4147-A177-3AD203B41FA5}">
                      <a16:colId xmlns:a16="http://schemas.microsoft.com/office/drawing/2014/main" val="1614877694"/>
                    </a:ext>
                  </a:extLst>
                </a:gridCol>
              </a:tblGrid>
              <a:tr h="156658">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Durée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a:t>
                      </a:r>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Year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Formula</a:t>
                      </a: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3002583700"/>
                  </a:ext>
                </a:extLst>
              </a:tr>
              <a:tr h="133244">
                <a:tc>
                  <a:txBody>
                    <a:bodyPr/>
                    <a:lstStyle/>
                    <a:p>
                      <a:pPr algn="l"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Taux 3</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1,25Y</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2026</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1an+ 1/4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2ans</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3,45% </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4,67%</a:t>
                      </a:r>
                    </a:p>
                  </a:txBody>
                  <a:tcPr marL="7620" marR="7620" marT="7620" marB="0" anchor="b"/>
                </a:tc>
                <a:extLst>
                  <a:ext uri="{0D108BD9-81ED-4DB2-BD59-A6C34878D82A}">
                    <a16:rowId xmlns:a16="http://schemas.microsoft.com/office/drawing/2014/main" val="1557661515"/>
                  </a:ext>
                </a:extLst>
              </a:tr>
              <a:tr h="146290">
                <a:tc>
                  <a:txBody>
                    <a:bodyPr/>
                    <a:lstStyle/>
                    <a:p>
                      <a:pPr algn="l"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Taux 4</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1,25Y</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2027</a:t>
                      </a:r>
                    </a:p>
                  </a:txBody>
                  <a:tcPr marL="7620" marR="7620" marT="7620" marB="0" anchor="b"/>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1an+ 1/4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2ans</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3,21%</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4,25%</a:t>
                      </a:r>
                    </a:p>
                  </a:txBody>
                  <a:tcPr marL="7620" marR="7620" marT="7620" marB="0" anchor="b"/>
                </a:tc>
                <a:extLst>
                  <a:ext uri="{0D108BD9-81ED-4DB2-BD59-A6C34878D82A}">
                    <a16:rowId xmlns:a16="http://schemas.microsoft.com/office/drawing/2014/main" val="1126858285"/>
                  </a:ext>
                </a:extLst>
              </a:tr>
            </a:tbl>
          </a:graphicData>
        </a:graphic>
      </p:graphicFrame>
      <p:sp>
        <p:nvSpPr>
          <p:cNvPr id="81" name="TextBox 80">
            <a:extLst>
              <a:ext uri="{FF2B5EF4-FFF2-40B4-BE49-F238E27FC236}">
                <a16:creationId xmlns:a16="http://schemas.microsoft.com/office/drawing/2014/main" id="{D5F377C4-68D9-028A-17F2-3CF6E6E09581}"/>
              </a:ext>
            </a:extLst>
          </p:cNvPr>
          <p:cNvSpPr txBox="1"/>
          <p:nvPr/>
        </p:nvSpPr>
        <p:spPr>
          <a:xfrm>
            <a:off x="817374" y="2346236"/>
            <a:ext cx="10484654" cy="430887"/>
          </a:xfrm>
          <a:prstGeom prst="rect">
            <a:avLst/>
          </a:prstGeom>
          <a:no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The new reference rate is given by the value provided in the macroeconomic scenario for the swap rate in the baseline/adverse scenario for the year in which the instrument replaces. In case no swap rate for a given average original maturity is provided in the macroeconomic scenario, linear interpolation of the swap rate is used.</a:t>
            </a:r>
            <a:endParaRPr kumimoji="0" lang="fr-FR"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p:txBody>
      </p:sp>
      <p:sp>
        <p:nvSpPr>
          <p:cNvPr id="83" name="Espace réservé du texte 16">
            <a:extLst>
              <a:ext uri="{FF2B5EF4-FFF2-40B4-BE49-F238E27FC236}">
                <a16:creationId xmlns:a16="http://schemas.microsoft.com/office/drawing/2014/main" id="{E9E82E27-B27C-8CCE-63FF-735092CF0897}"/>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419057778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Rectangle 81">
            <a:extLst>
              <a:ext uri="{FF2B5EF4-FFF2-40B4-BE49-F238E27FC236}">
                <a16:creationId xmlns:a16="http://schemas.microsoft.com/office/drawing/2014/main" id="{319313BC-1EA5-A2E2-5EBF-27D6A43790BD}"/>
              </a:ext>
            </a:extLst>
          </p:cNvPr>
          <p:cNvSpPr/>
          <p:nvPr/>
        </p:nvSpPr>
        <p:spPr>
          <a:xfrm>
            <a:off x="13400" y="5503790"/>
            <a:ext cx="12191998" cy="1298174"/>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Calibri (body)"/>
            </a:endParaRPr>
          </a:p>
        </p:txBody>
      </p:sp>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1 – Prêt à taux fixe : Détermination des marges futures </a:t>
            </a:r>
          </a:p>
        </p:txBody>
      </p:sp>
      <p:cxnSp>
        <p:nvCxnSpPr>
          <p:cNvPr id="4" name="Straight Arrow Connector 3">
            <a:extLst>
              <a:ext uri="{FF2B5EF4-FFF2-40B4-BE49-F238E27FC236}">
                <a16:creationId xmlns:a16="http://schemas.microsoft.com/office/drawing/2014/main" id="{2ED104B1-BB2C-FC38-891F-B42AD6658464}"/>
              </a:ext>
            </a:extLst>
          </p:cNvPr>
          <p:cNvCxnSpPr/>
          <p:nvPr/>
        </p:nvCxnSpPr>
        <p:spPr>
          <a:xfrm>
            <a:off x="897312" y="1785453"/>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7C8C868E-5BFA-BBBA-90BA-DF017F7F9738}"/>
              </a:ext>
            </a:extLst>
          </p:cNvPr>
          <p:cNvSpPr/>
          <p:nvPr/>
        </p:nvSpPr>
        <p:spPr>
          <a:xfrm>
            <a:off x="897312" y="1476242"/>
            <a:ext cx="2781463"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1</a:t>
            </a:r>
          </a:p>
        </p:txBody>
      </p:sp>
      <p:sp>
        <p:nvSpPr>
          <p:cNvPr id="6" name="TextBox 5">
            <a:extLst>
              <a:ext uri="{FF2B5EF4-FFF2-40B4-BE49-F238E27FC236}">
                <a16:creationId xmlns:a16="http://schemas.microsoft.com/office/drawing/2014/main" id="{5856CFCE-5E3A-D125-406F-BAC8FF76B740}"/>
              </a:ext>
            </a:extLst>
          </p:cNvPr>
          <p:cNvSpPr txBox="1"/>
          <p:nvPr/>
        </p:nvSpPr>
        <p:spPr>
          <a:xfrm>
            <a:off x="742049" y="1820671"/>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31.12.23</a:t>
            </a:r>
          </a:p>
        </p:txBody>
      </p:sp>
      <p:sp>
        <p:nvSpPr>
          <p:cNvPr id="7" name="TextBox 6">
            <a:extLst>
              <a:ext uri="{FF2B5EF4-FFF2-40B4-BE49-F238E27FC236}">
                <a16:creationId xmlns:a16="http://schemas.microsoft.com/office/drawing/2014/main" id="{4D62C75A-B35C-F93E-CBC1-D38DB8B7886B}"/>
              </a:ext>
            </a:extLst>
          </p:cNvPr>
          <p:cNvSpPr txBox="1"/>
          <p:nvPr/>
        </p:nvSpPr>
        <p:spPr>
          <a:xfrm>
            <a:off x="3420577" y="1821011"/>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31.03.25</a:t>
            </a:r>
          </a:p>
        </p:txBody>
      </p:sp>
      <p:sp>
        <p:nvSpPr>
          <p:cNvPr id="8" name="TextBox 7">
            <a:extLst>
              <a:ext uri="{FF2B5EF4-FFF2-40B4-BE49-F238E27FC236}">
                <a16:creationId xmlns:a16="http://schemas.microsoft.com/office/drawing/2014/main" id="{030A667F-1636-9D87-E02B-C5457E0D3E52}"/>
              </a:ext>
            </a:extLst>
          </p:cNvPr>
          <p:cNvSpPr txBox="1"/>
          <p:nvPr/>
        </p:nvSpPr>
        <p:spPr>
          <a:xfrm>
            <a:off x="6079369" y="1832613"/>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30.06.26</a:t>
            </a:r>
          </a:p>
        </p:txBody>
      </p:sp>
      <p:sp>
        <p:nvSpPr>
          <p:cNvPr id="9" name="TextBox 8">
            <a:extLst>
              <a:ext uri="{FF2B5EF4-FFF2-40B4-BE49-F238E27FC236}">
                <a16:creationId xmlns:a16="http://schemas.microsoft.com/office/drawing/2014/main" id="{4CED33AA-4A57-72F9-D38F-68C19B2F7CB8}"/>
              </a:ext>
            </a:extLst>
          </p:cNvPr>
          <p:cNvSpPr txBox="1"/>
          <p:nvPr/>
        </p:nvSpPr>
        <p:spPr>
          <a:xfrm>
            <a:off x="8857963" y="181953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30.09.27</a:t>
            </a:r>
          </a:p>
        </p:txBody>
      </p:sp>
      <p:sp>
        <p:nvSpPr>
          <p:cNvPr id="10" name="TextBox 9">
            <a:extLst>
              <a:ext uri="{FF2B5EF4-FFF2-40B4-BE49-F238E27FC236}">
                <a16:creationId xmlns:a16="http://schemas.microsoft.com/office/drawing/2014/main" id="{41AAB761-33AD-D22A-8C14-38B082B5475D}"/>
              </a:ext>
            </a:extLst>
          </p:cNvPr>
          <p:cNvSpPr txBox="1"/>
          <p:nvPr/>
        </p:nvSpPr>
        <p:spPr>
          <a:xfrm>
            <a:off x="9712863" y="181953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31.12.27</a:t>
            </a:r>
          </a:p>
        </p:txBody>
      </p:sp>
      <p:sp>
        <p:nvSpPr>
          <p:cNvPr id="11" name="TextBox 10">
            <a:extLst>
              <a:ext uri="{FF2B5EF4-FFF2-40B4-BE49-F238E27FC236}">
                <a16:creationId xmlns:a16="http://schemas.microsoft.com/office/drawing/2014/main" id="{1E359CFA-F393-7A4F-4CE4-70940A9DBAF5}"/>
              </a:ext>
            </a:extLst>
          </p:cNvPr>
          <p:cNvSpPr txBox="1"/>
          <p:nvPr/>
        </p:nvSpPr>
        <p:spPr>
          <a:xfrm>
            <a:off x="2632049" y="1825757"/>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31.12.24</a:t>
            </a:r>
          </a:p>
        </p:txBody>
      </p:sp>
      <p:sp>
        <p:nvSpPr>
          <p:cNvPr id="12" name="Rectangle 11">
            <a:extLst>
              <a:ext uri="{FF2B5EF4-FFF2-40B4-BE49-F238E27FC236}">
                <a16:creationId xmlns:a16="http://schemas.microsoft.com/office/drawing/2014/main" id="{D8058415-9759-10AE-3366-3682EA555633}"/>
              </a:ext>
            </a:extLst>
          </p:cNvPr>
          <p:cNvSpPr/>
          <p:nvPr/>
        </p:nvSpPr>
        <p:spPr>
          <a:xfrm>
            <a:off x="3828469" y="1476241"/>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2</a:t>
            </a:r>
          </a:p>
        </p:txBody>
      </p:sp>
      <p:sp>
        <p:nvSpPr>
          <p:cNvPr id="13" name="Rectangle 12">
            <a:extLst>
              <a:ext uri="{FF2B5EF4-FFF2-40B4-BE49-F238E27FC236}">
                <a16:creationId xmlns:a16="http://schemas.microsoft.com/office/drawing/2014/main" id="{D1D5B1AF-D45F-8245-EEAC-F91192AAAB1F}"/>
              </a:ext>
            </a:extLst>
          </p:cNvPr>
          <p:cNvSpPr/>
          <p:nvPr/>
        </p:nvSpPr>
        <p:spPr>
          <a:xfrm>
            <a:off x="6607063" y="1476240"/>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3</a:t>
            </a:r>
          </a:p>
        </p:txBody>
      </p:sp>
      <p:sp>
        <p:nvSpPr>
          <p:cNvPr id="14" name="Rectangle 13">
            <a:extLst>
              <a:ext uri="{FF2B5EF4-FFF2-40B4-BE49-F238E27FC236}">
                <a16:creationId xmlns:a16="http://schemas.microsoft.com/office/drawing/2014/main" id="{B0F87A1A-7549-21CC-ADAB-22E27E3C5163}"/>
              </a:ext>
            </a:extLst>
          </p:cNvPr>
          <p:cNvSpPr/>
          <p:nvPr/>
        </p:nvSpPr>
        <p:spPr>
          <a:xfrm>
            <a:off x="9385530" y="1469690"/>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4</a:t>
            </a:r>
          </a:p>
        </p:txBody>
      </p:sp>
      <p:sp>
        <p:nvSpPr>
          <p:cNvPr id="15" name="Rectangle 14">
            <a:extLst>
              <a:ext uri="{FF2B5EF4-FFF2-40B4-BE49-F238E27FC236}">
                <a16:creationId xmlns:a16="http://schemas.microsoft.com/office/drawing/2014/main" id="{7F905BB2-8EBB-F74B-13D4-EDAC2C2C18F2}"/>
              </a:ext>
            </a:extLst>
          </p:cNvPr>
          <p:cNvSpPr/>
          <p:nvPr/>
        </p:nvSpPr>
        <p:spPr>
          <a:xfrm>
            <a:off x="10015222" y="1468203"/>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16" name="Rectangle 15">
            <a:extLst>
              <a:ext uri="{FF2B5EF4-FFF2-40B4-BE49-F238E27FC236}">
                <a16:creationId xmlns:a16="http://schemas.microsoft.com/office/drawing/2014/main" id="{6F924E57-45FD-8983-5E7B-46663AAEED82}"/>
              </a:ext>
            </a:extLst>
          </p:cNvPr>
          <p:cNvSpPr/>
          <p:nvPr/>
        </p:nvSpPr>
        <p:spPr>
          <a:xfrm>
            <a:off x="898527" y="1476240"/>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17" name="Rectangle 16">
            <a:extLst>
              <a:ext uri="{FF2B5EF4-FFF2-40B4-BE49-F238E27FC236}">
                <a16:creationId xmlns:a16="http://schemas.microsoft.com/office/drawing/2014/main" id="{A8B3AE4B-0484-2022-3DF6-916771E4189E}"/>
              </a:ext>
            </a:extLst>
          </p:cNvPr>
          <p:cNvSpPr/>
          <p:nvPr/>
        </p:nvSpPr>
        <p:spPr>
          <a:xfrm>
            <a:off x="1336049" y="1195815"/>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1</a:t>
            </a:r>
          </a:p>
        </p:txBody>
      </p:sp>
      <p:sp>
        <p:nvSpPr>
          <p:cNvPr id="18" name="Rectangle 17">
            <a:extLst>
              <a:ext uri="{FF2B5EF4-FFF2-40B4-BE49-F238E27FC236}">
                <a16:creationId xmlns:a16="http://schemas.microsoft.com/office/drawing/2014/main" id="{90B9C984-94BF-9535-FDD8-CB9739E3A0E2}"/>
              </a:ext>
            </a:extLst>
          </p:cNvPr>
          <p:cNvSpPr/>
          <p:nvPr/>
        </p:nvSpPr>
        <p:spPr>
          <a:xfrm>
            <a:off x="3828469" y="1184622"/>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2</a:t>
            </a:r>
          </a:p>
        </p:txBody>
      </p:sp>
      <p:sp>
        <p:nvSpPr>
          <p:cNvPr id="19" name="Rectangle 18">
            <a:extLst>
              <a:ext uri="{FF2B5EF4-FFF2-40B4-BE49-F238E27FC236}">
                <a16:creationId xmlns:a16="http://schemas.microsoft.com/office/drawing/2014/main" id="{217B3709-CA34-AE7B-2528-FF9F32AD2696}"/>
              </a:ext>
            </a:extLst>
          </p:cNvPr>
          <p:cNvSpPr/>
          <p:nvPr/>
        </p:nvSpPr>
        <p:spPr>
          <a:xfrm>
            <a:off x="6607063" y="1184622"/>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3</a:t>
            </a:r>
          </a:p>
        </p:txBody>
      </p:sp>
      <p:sp>
        <p:nvSpPr>
          <p:cNvPr id="20" name="Rectangle 19">
            <a:extLst>
              <a:ext uri="{FF2B5EF4-FFF2-40B4-BE49-F238E27FC236}">
                <a16:creationId xmlns:a16="http://schemas.microsoft.com/office/drawing/2014/main" id="{893E59A3-2444-FCF3-1A76-B9F6E8FA561D}"/>
              </a:ext>
            </a:extLst>
          </p:cNvPr>
          <p:cNvSpPr/>
          <p:nvPr/>
        </p:nvSpPr>
        <p:spPr>
          <a:xfrm>
            <a:off x="9385530" y="1178071"/>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4</a:t>
            </a:r>
          </a:p>
        </p:txBody>
      </p:sp>
      <p:sp>
        <p:nvSpPr>
          <p:cNvPr id="21" name="Rectangle 20">
            <a:extLst>
              <a:ext uri="{FF2B5EF4-FFF2-40B4-BE49-F238E27FC236}">
                <a16:creationId xmlns:a16="http://schemas.microsoft.com/office/drawing/2014/main" id="{D80A4CCC-A96F-82EF-CCA8-331A1100272E}"/>
              </a:ext>
            </a:extLst>
          </p:cNvPr>
          <p:cNvSpPr/>
          <p:nvPr/>
        </p:nvSpPr>
        <p:spPr>
          <a:xfrm>
            <a:off x="10015222" y="1176584"/>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22" name="Rectangle 21">
            <a:extLst>
              <a:ext uri="{FF2B5EF4-FFF2-40B4-BE49-F238E27FC236}">
                <a16:creationId xmlns:a16="http://schemas.microsoft.com/office/drawing/2014/main" id="{F2F78C01-E69C-C57D-413C-4D677F5B5472}"/>
              </a:ext>
            </a:extLst>
          </p:cNvPr>
          <p:cNvSpPr/>
          <p:nvPr/>
        </p:nvSpPr>
        <p:spPr>
          <a:xfrm>
            <a:off x="898527" y="1184621"/>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23" name="TextBox 22">
            <a:extLst>
              <a:ext uri="{FF2B5EF4-FFF2-40B4-BE49-F238E27FC236}">
                <a16:creationId xmlns:a16="http://schemas.microsoft.com/office/drawing/2014/main" id="{8361FFA0-5095-9E22-6D58-1DB35726B534}"/>
              </a:ext>
            </a:extLst>
          </p:cNvPr>
          <p:cNvSpPr txBox="1"/>
          <p:nvPr/>
        </p:nvSpPr>
        <p:spPr>
          <a:xfrm>
            <a:off x="79938" y="1098871"/>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Taux</a:t>
            </a:r>
          </a:p>
        </p:txBody>
      </p:sp>
      <p:sp>
        <p:nvSpPr>
          <p:cNvPr id="24" name="TextBox 23">
            <a:extLst>
              <a:ext uri="{FF2B5EF4-FFF2-40B4-BE49-F238E27FC236}">
                <a16:creationId xmlns:a16="http://schemas.microsoft.com/office/drawing/2014/main" id="{10266E3B-B7BC-8D6B-EDC3-0155A9E5ABB9}"/>
              </a:ext>
            </a:extLst>
          </p:cNvPr>
          <p:cNvSpPr txBox="1"/>
          <p:nvPr/>
        </p:nvSpPr>
        <p:spPr>
          <a:xfrm>
            <a:off x="74088" y="1430842"/>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Marge</a:t>
            </a:r>
          </a:p>
        </p:txBody>
      </p:sp>
      <p:sp>
        <p:nvSpPr>
          <p:cNvPr id="25" name="ZoneTexte 16">
            <a:extLst>
              <a:ext uri="{FF2B5EF4-FFF2-40B4-BE49-F238E27FC236}">
                <a16:creationId xmlns:a16="http://schemas.microsoft.com/office/drawing/2014/main" id="{9C6AF4D2-C780-8B36-7026-314EE80B947E}"/>
              </a:ext>
            </a:extLst>
          </p:cNvPr>
          <p:cNvSpPr txBox="1"/>
          <p:nvPr/>
        </p:nvSpPr>
        <p:spPr>
          <a:xfrm>
            <a:off x="660041" y="2180033"/>
            <a:ext cx="10838656" cy="4136687"/>
          </a:xfrm>
          <a:prstGeom prst="rect">
            <a:avLst/>
          </a:prstGeom>
          <a:solidFill>
            <a:schemeClr val="accent2">
              <a:lumMod val="20000"/>
              <a:lumOff val="80000"/>
            </a:schemeClr>
          </a:solidFill>
          <a:ln>
            <a:solidFill>
              <a:schemeClr val="accent2"/>
            </a:solidFill>
          </a:ln>
        </p:spPr>
        <p:txBody>
          <a:bodyPr wrap="square">
            <a:noAutofit/>
          </a:bodyPr>
          <a:lstStyle/>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100" b="1" i="0" u="none" strike="noStrike" kern="1200" cap="none" spc="0" normalizeH="0" baseline="0" noProof="0" dirty="0">
                <a:ln>
                  <a:noFill/>
                </a:ln>
                <a:solidFill>
                  <a:srgbClr val="6437FF"/>
                </a:solidFill>
                <a:effectLst/>
                <a:uLnTx/>
                <a:uFillTx/>
                <a:latin typeface="Calibri (body)"/>
                <a:ea typeface="Times New Roman" panose="02020603050405020304" pitchFamily="18" charset="0"/>
                <a:cs typeface="+mn-cs"/>
              </a:rPr>
              <a:t>Pour marge 2 </a:t>
            </a:r>
            <a:r>
              <a:rPr kumimoji="0" lang="fr-FR" sz="1100" b="1"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 </a:t>
            </a: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Le texte mentionne pour les actifs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Soit  dans cet exemple, pour Marge 2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Pour une contrepartie « Non </a:t>
            </a:r>
            <a:r>
              <a:rPr kumimoji="0" lang="fr-FR" sz="1100" b="0" i="0" u="none" strike="noStrike" kern="1200" cap="none" spc="0" normalizeH="0" baseline="0" noProof="0" dirty="0" err="1">
                <a:ln>
                  <a:noFill/>
                </a:ln>
                <a:solidFill>
                  <a:srgbClr val="000000"/>
                </a:solidFill>
                <a:effectLst/>
                <a:uLnTx/>
                <a:uFillTx/>
                <a:latin typeface="Calibri (body)"/>
                <a:ea typeface="Times New Roman" panose="02020603050405020304" pitchFamily="18" charset="0"/>
                <a:cs typeface="+mn-cs"/>
              </a:rPr>
              <a:t>financial</a:t>
            </a: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 Corporate », le paramètre λ est égal à 0.15. </a:t>
            </a:r>
            <a:r>
              <a:rPr kumimoji="0" lang="fr-FR" sz="1100" b="1"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On supposera que la marge des nouveaux encours sur 2024 est égale à</a:t>
            </a:r>
            <a:r>
              <a:rPr kumimoji="0" lang="fr-FR" sz="1100" b="1" i="1"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 Marge 1</a:t>
            </a:r>
            <a:r>
              <a:rPr kumimoji="0" lang="fr-FR" sz="1100" b="0" i="1"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 </a:t>
            </a: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soit 40bp.</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Ainsi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p:txBody>
      </p:sp>
      <p:sp>
        <p:nvSpPr>
          <p:cNvPr id="26" name="TextBox 25">
            <a:extLst>
              <a:ext uri="{FF2B5EF4-FFF2-40B4-BE49-F238E27FC236}">
                <a16:creationId xmlns:a16="http://schemas.microsoft.com/office/drawing/2014/main" id="{522F63A3-405D-4459-B70E-8553FFA3D6BA}"/>
              </a:ext>
            </a:extLst>
          </p:cNvPr>
          <p:cNvSpPr txBox="1"/>
          <p:nvPr/>
        </p:nvSpPr>
        <p:spPr>
          <a:xfrm>
            <a:off x="1147672" y="2500882"/>
            <a:ext cx="9754328" cy="928118"/>
          </a:xfrm>
          <a:prstGeom prst="rect">
            <a:avLst/>
          </a:prstGeom>
          <a:noFill/>
          <a:ln>
            <a:solidFill>
              <a:schemeClr val="tx1"/>
            </a:solidFill>
          </a:ln>
        </p:spPr>
        <p:txBody>
          <a:bodyPr wrap="square" rtlCol="0">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The margin component shall be based on the margin new business (margin of the instruments that were originated in 2024 and which were on the balance sheet at the end of the year) and will be projected with the following constraints :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Where λ differs for the type of counterparty, and </a:t>
            </a:r>
            <a:r>
              <a:rPr kumimoji="0" lang="el-GR"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Δ</a:t>
            </a:r>
            <a:r>
              <a:rPr kumimoji="0" lang="fr-FR"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 sov spread is the différence between the sovereign rate and the risk free rate</a:t>
            </a:r>
            <a:endPar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p:txBody>
      </p:sp>
      <p:pic>
        <p:nvPicPr>
          <p:cNvPr id="27" name="Picture 26">
            <a:extLst>
              <a:ext uri="{FF2B5EF4-FFF2-40B4-BE49-F238E27FC236}">
                <a16:creationId xmlns:a16="http://schemas.microsoft.com/office/drawing/2014/main" id="{86BA0AFA-AE9D-8492-45E3-21D7D50A6756}"/>
              </a:ext>
            </a:extLst>
          </p:cNvPr>
          <p:cNvPicPr>
            <a:picLocks noChangeAspect="1"/>
          </p:cNvPicPr>
          <p:nvPr/>
        </p:nvPicPr>
        <p:blipFill rotWithShape="1">
          <a:blip r:embed="rId2"/>
          <a:srcRect t="34168" b="760"/>
          <a:stretch/>
        </p:blipFill>
        <p:spPr>
          <a:xfrm>
            <a:off x="3997740" y="2920974"/>
            <a:ext cx="4054191" cy="238026"/>
          </a:xfrm>
          <a:prstGeom prst="rect">
            <a:avLst/>
          </a:prstGeom>
        </p:spPr>
      </p:pic>
      <p:graphicFrame>
        <p:nvGraphicFramePr>
          <p:cNvPr id="28" name="Table 27">
            <a:extLst>
              <a:ext uri="{FF2B5EF4-FFF2-40B4-BE49-F238E27FC236}">
                <a16:creationId xmlns:a16="http://schemas.microsoft.com/office/drawing/2014/main" id="{A734ABF9-CB01-9D46-7302-5BCB76C755A1}"/>
              </a:ext>
            </a:extLst>
          </p:cNvPr>
          <p:cNvGraphicFramePr>
            <a:graphicFrameLocks noGrp="1"/>
          </p:cNvGraphicFramePr>
          <p:nvPr/>
        </p:nvGraphicFramePr>
        <p:xfrm>
          <a:off x="759168" y="3823579"/>
          <a:ext cx="6489700" cy="1097280"/>
        </p:xfrm>
        <a:graphic>
          <a:graphicData uri="http://schemas.openxmlformats.org/drawingml/2006/table">
            <a:tbl>
              <a:tblPr>
                <a:tableStyleId>{5C22544A-7EE6-4342-B048-85BDC9FD1C3A}</a:tableStyleId>
              </a:tblPr>
              <a:tblGrid>
                <a:gridCol w="1502832">
                  <a:extLst>
                    <a:ext uri="{9D8B030D-6E8A-4147-A177-3AD203B41FA5}">
                      <a16:colId xmlns:a16="http://schemas.microsoft.com/office/drawing/2014/main" val="1617607656"/>
                    </a:ext>
                  </a:extLst>
                </a:gridCol>
                <a:gridCol w="773000">
                  <a:extLst>
                    <a:ext uri="{9D8B030D-6E8A-4147-A177-3AD203B41FA5}">
                      <a16:colId xmlns:a16="http://schemas.microsoft.com/office/drawing/2014/main" val="3110234048"/>
                    </a:ext>
                  </a:extLst>
                </a:gridCol>
                <a:gridCol w="916058">
                  <a:extLst>
                    <a:ext uri="{9D8B030D-6E8A-4147-A177-3AD203B41FA5}">
                      <a16:colId xmlns:a16="http://schemas.microsoft.com/office/drawing/2014/main" val="2211644078"/>
                    </a:ext>
                  </a:extLst>
                </a:gridCol>
                <a:gridCol w="549635">
                  <a:extLst>
                    <a:ext uri="{9D8B030D-6E8A-4147-A177-3AD203B41FA5}">
                      <a16:colId xmlns:a16="http://schemas.microsoft.com/office/drawing/2014/main" val="769823231"/>
                    </a:ext>
                  </a:extLst>
                </a:gridCol>
                <a:gridCol w="549635">
                  <a:extLst>
                    <a:ext uri="{9D8B030D-6E8A-4147-A177-3AD203B41FA5}">
                      <a16:colId xmlns:a16="http://schemas.microsoft.com/office/drawing/2014/main" val="2983393761"/>
                    </a:ext>
                  </a:extLst>
                </a:gridCol>
                <a:gridCol w="549635">
                  <a:extLst>
                    <a:ext uri="{9D8B030D-6E8A-4147-A177-3AD203B41FA5}">
                      <a16:colId xmlns:a16="http://schemas.microsoft.com/office/drawing/2014/main" val="3915905733"/>
                    </a:ext>
                  </a:extLst>
                </a:gridCol>
                <a:gridCol w="549635">
                  <a:extLst>
                    <a:ext uri="{9D8B030D-6E8A-4147-A177-3AD203B41FA5}">
                      <a16:colId xmlns:a16="http://schemas.microsoft.com/office/drawing/2014/main" val="4190293990"/>
                    </a:ext>
                  </a:extLst>
                </a:gridCol>
                <a:gridCol w="549635">
                  <a:extLst>
                    <a:ext uri="{9D8B030D-6E8A-4147-A177-3AD203B41FA5}">
                      <a16:colId xmlns:a16="http://schemas.microsoft.com/office/drawing/2014/main" val="3126825574"/>
                    </a:ext>
                  </a:extLst>
                </a:gridCol>
                <a:gridCol w="549635">
                  <a:extLst>
                    <a:ext uri="{9D8B030D-6E8A-4147-A177-3AD203B41FA5}">
                      <a16:colId xmlns:a16="http://schemas.microsoft.com/office/drawing/2014/main" val="164507706"/>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Tenor</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point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gridSpan="3">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tc gridSpan="3">
                  <a:txBody>
                    <a:bodyPr/>
                    <a:lstStyle/>
                    <a:p>
                      <a:pPr algn="ct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449581099"/>
                  </a:ext>
                </a:extLst>
              </a:tr>
              <a:tr h="182880">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Data cadrage macro</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2024 – Latest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411976108"/>
                  </a:ext>
                </a:extLst>
              </a:tr>
              <a:tr h="182880">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Swap rates – EUR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10Y</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2,81%</a:t>
                      </a: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2,85%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2,66%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2,43%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4,57%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4,03%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3,60%</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714933764"/>
                  </a:ext>
                </a:extLst>
              </a:tr>
              <a:tr h="182880">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Long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term</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rates – France</a:t>
                      </a: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10Y</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2,63%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2,46%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2,50%</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2,58%</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4,69%</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4,30%</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4,17%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4014010499"/>
                  </a:ext>
                </a:extLst>
              </a:tr>
              <a:tr h="182880">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Sov spread</a:t>
                      </a:r>
                    </a:p>
                  </a:txBody>
                  <a:tcPr marL="7620" marR="7620" marT="7620" marB="0" anchor="b"/>
                </a:tc>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-0,18%</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-0,39%</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-0,16%</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0,17%</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0,08%</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0,27%</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0,57%</a:t>
                      </a:r>
                    </a:p>
                  </a:txBody>
                  <a:tcPr marL="7620" marR="7620" marT="7620" marB="0" anchor="b"/>
                </a:tc>
                <a:extLst>
                  <a:ext uri="{0D108BD9-81ED-4DB2-BD59-A6C34878D82A}">
                    <a16:rowId xmlns:a16="http://schemas.microsoft.com/office/drawing/2014/main" val="2033724575"/>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l-G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Δ</a:t>
                      </a:r>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Sov spread</a:t>
                      </a:r>
                    </a:p>
                  </a:txBody>
                  <a:tcPr marL="7620" marR="7620" marT="7620" marB="0" anchor="b"/>
                </a:tc>
                <a:tc>
                  <a:txBody>
                    <a:bodyPr/>
                    <a:lstStyle/>
                    <a:p>
                      <a:pPr algn="l" fontAlgn="b"/>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-0,21%</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0,02%</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0,35%</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0,26%</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0,45%</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0,65%</a:t>
                      </a:r>
                    </a:p>
                  </a:txBody>
                  <a:tcPr marL="7620" marR="7620" marT="7620" marB="0" anchor="b"/>
                </a:tc>
                <a:extLst>
                  <a:ext uri="{0D108BD9-81ED-4DB2-BD59-A6C34878D82A}">
                    <a16:rowId xmlns:a16="http://schemas.microsoft.com/office/drawing/2014/main" val="1890273008"/>
                  </a:ext>
                </a:extLst>
              </a:tr>
            </a:tbl>
          </a:graphicData>
        </a:graphic>
      </p:graphicFrame>
      <p:graphicFrame>
        <p:nvGraphicFramePr>
          <p:cNvPr id="29" name="Table 28">
            <a:extLst>
              <a:ext uri="{FF2B5EF4-FFF2-40B4-BE49-F238E27FC236}">
                <a16:creationId xmlns:a16="http://schemas.microsoft.com/office/drawing/2014/main" id="{6BF682E8-91AC-B782-5EB2-E6BF9ACE162B}"/>
              </a:ext>
            </a:extLst>
          </p:cNvPr>
          <p:cNvGraphicFramePr>
            <a:graphicFrameLocks noGrp="1"/>
          </p:cNvGraphicFramePr>
          <p:nvPr/>
        </p:nvGraphicFramePr>
        <p:xfrm>
          <a:off x="791756" y="5448734"/>
          <a:ext cx="6438244" cy="731520"/>
        </p:xfrm>
        <a:graphic>
          <a:graphicData uri="http://schemas.openxmlformats.org/drawingml/2006/table">
            <a:tbl>
              <a:tblPr>
                <a:tableStyleId>{5C22544A-7EE6-4342-B048-85BDC9FD1C3A}</a:tableStyleId>
              </a:tblPr>
              <a:tblGrid>
                <a:gridCol w="1910603">
                  <a:extLst>
                    <a:ext uri="{9D8B030D-6E8A-4147-A177-3AD203B41FA5}">
                      <a16:colId xmlns:a16="http://schemas.microsoft.com/office/drawing/2014/main" val="1617607656"/>
                    </a:ext>
                  </a:extLst>
                </a:gridCol>
                <a:gridCol w="982742">
                  <a:extLst>
                    <a:ext uri="{9D8B030D-6E8A-4147-A177-3AD203B41FA5}">
                      <a16:colId xmlns:a16="http://schemas.microsoft.com/office/drawing/2014/main" val="266489559"/>
                    </a:ext>
                  </a:extLst>
                </a:gridCol>
                <a:gridCol w="982742">
                  <a:extLst>
                    <a:ext uri="{9D8B030D-6E8A-4147-A177-3AD203B41FA5}">
                      <a16:colId xmlns:a16="http://schemas.microsoft.com/office/drawing/2014/main" val="3110234048"/>
                    </a:ext>
                  </a:extLst>
                </a:gridCol>
                <a:gridCol w="1164617">
                  <a:extLst>
                    <a:ext uri="{9D8B030D-6E8A-4147-A177-3AD203B41FA5}">
                      <a16:colId xmlns:a16="http://schemas.microsoft.com/office/drawing/2014/main" val="2211644078"/>
                    </a:ext>
                  </a:extLst>
                </a:gridCol>
                <a:gridCol w="698770">
                  <a:extLst>
                    <a:ext uri="{9D8B030D-6E8A-4147-A177-3AD203B41FA5}">
                      <a16:colId xmlns:a16="http://schemas.microsoft.com/office/drawing/2014/main" val="769823231"/>
                    </a:ext>
                  </a:extLst>
                </a:gridCol>
                <a:gridCol w="698770">
                  <a:extLst>
                    <a:ext uri="{9D8B030D-6E8A-4147-A177-3AD203B41FA5}">
                      <a16:colId xmlns:a16="http://schemas.microsoft.com/office/drawing/2014/main" val="4190293990"/>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Year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Margin T0</a:t>
                      </a:r>
                    </a:p>
                  </a:txBody>
                  <a:tcPr marL="7620" marR="7620" marT="7620" marB="0" anchor="b"/>
                </a:tc>
                <a:tc>
                  <a:txBody>
                    <a:bodyPr/>
                    <a:lstStyle/>
                    <a:p>
                      <a:pPr algn="ctr" fontAlgn="b"/>
                      <a:r>
                        <a:rPr kumimoji="0" lang="fr-FR" sz="110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λ</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Baseline</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Adverse</a:t>
                      </a:r>
                    </a:p>
                  </a:txBody>
                  <a:tcPr marL="7620" marR="7620" marT="7620" marB="0" anchor="b"/>
                </a:tc>
                <a:extLst>
                  <a:ext uri="{0D108BD9-81ED-4DB2-BD59-A6C34878D82A}">
                    <a16:rowId xmlns:a16="http://schemas.microsoft.com/office/drawing/2014/main" val="2449581099"/>
                  </a:ext>
                </a:extLst>
              </a:tr>
              <a:tr h="182880">
                <a:tc>
                  <a:txBody>
                    <a:bodyPr/>
                    <a:lstStyle/>
                    <a:p>
                      <a:pPr algn="l" fontAlgn="b"/>
                      <a:r>
                        <a:rPr lang="fr-FR" sz="1100" b="1" u="none" strike="noStrike" dirty="0">
                          <a:effectLst/>
                          <a:latin typeface="Calibri" panose="020F0502020204030204" pitchFamily="34" charset="0"/>
                          <a:ea typeface="Calibri" panose="020F0502020204030204" pitchFamily="34" charset="0"/>
                          <a:cs typeface="Calibri" panose="020F0502020204030204" pitchFamily="34" charset="0"/>
                        </a:rPr>
                        <a:t>Marge 2</a:t>
                      </a:r>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2025</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0.40%</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0.44%</a:t>
                      </a:r>
                    </a:p>
                  </a:txBody>
                  <a:tcPr marL="7620" marR="7620" marT="7620" marB="0" anchor="b"/>
                </a:tc>
                <a:extLst>
                  <a:ext uri="{0D108BD9-81ED-4DB2-BD59-A6C34878D82A}">
                    <a16:rowId xmlns:a16="http://schemas.microsoft.com/office/drawing/2014/main" val="1411976108"/>
                  </a:ext>
                </a:extLst>
              </a:tr>
              <a:tr h="182880">
                <a:tc>
                  <a:txBody>
                    <a:bodyPr/>
                    <a:lstStyle/>
                    <a:p>
                      <a:pPr algn="l" fontAlgn="b"/>
                      <a:r>
                        <a:rPr lang="fr-FR" sz="1100" b="1" u="none" strike="noStrike" dirty="0">
                          <a:effectLst/>
                          <a:latin typeface="Calibri" panose="020F0502020204030204" pitchFamily="34" charset="0"/>
                          <a:ea typeface="Calibri" panose="020F0502020204030204" pitchFamily="34" charset="0"/>
                          <a:cs typeface="Calibri" panose="020F0502020204030204" pitchFamily="34" charset="0"/>
                        </a:rPr>
                        <a:t>Marge 3</a:t>
                      </a:r>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2026</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0.40%</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0.47%</a:t>
                      </a:r>
                    </a:p>
                  </a:txBody>
                  <a:tcPr marL="7620" marR="7620" marT="7620" marB="0" anchor="b"/>
                </a:tc>
                <a:extLst>
                  <a:ext uri="{0D108BD9-81ED-4DB2-BD59-A6C34878D82A}">
                    <a16:rowId xmlns:a16="http://schemas.microsoft.com/office/drawing/2014/main" val="1714933764"/>
                  </a:ext>
                </a:extLst>
              </a:tr>
              <a:tr h="182880">
                <a:tc>
                  <a:txBody>
                    <a:bodyPr/>
                    <a:lstStyle/>
                    <a:p>
                      <a:pPr algn="l"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Marge 4</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2027</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0.45%</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0.50%</a:t>
                      </a:r>
                    </a:p>
                  </a:txBody>
                  <a:tcPr marL="7620" marR="7620" marT="7620" marB="0" anchor="b"/>
                </a:tc>
                <a:extLst>
                  <a:ext uri="{0D108BD9-81ED-4DB2-BD59-A6C34878D82A}">
                    <a16:rowId xmlns:a16="http://schemas.microsoft.com/office/drawing/2014/main" val="4014010499"/>
                  </a:ext>
                </a:extLst>
              </a:tr>
            </a:tbl>
          </a:graphicData>
        </a:graphic>
      </p:graphicFrame>
      <p:sp>
        <p:nvSpPr>
          <p:cNvPr id="30" name="Espace réservé du texte 16">
            <a:extLst>
              <a:ext uri="{FF2B5EF4-FFF2-40B4-BE49-F238E27FC236}">
                <a16:creationId xmlns:a16="http://schemas.microsoft.com/office/drawing/2014/main" id="{7D5366C7-336D-F7C8-B5CB-40BFDC3CFFCE}"/>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254635559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2 – Emprunt à taux révisable</a:t>
            </a:r>
          </a:p>
        </p:txBody>
      </p:sp>
      <p:graphicFrame>
        <p:nvGraphicFramePr>
          <p:cNvPr id="5" name="Table 4">
            <a:extLst>
              <a:ext uri="{FF2B5EF4-FFF2-40B4-BE49-F238E27FC236}">
                <a16:creationId xmlns:a16="http://schemas.microsoft.com/office/drawing/2014/main" id="{9E0DC7CA-8DDB-76E6-550A-CB32E51252FD}"/>
              </a:ext>
            </a:extLst>
          </p:cNvPr>
          <p:cNvGraphicFramePr>
            <a:graphicFrameLocks noGrp="1"/>
          </p:cNvGraphicFramePr>
          <p:nvPr>
            <p:extLst>
              <p:ext uri="{D42A27DB-BD31-4B8C-83A1-F6EECF244321}">
                <p14:modId xmlns:p14="http://schemas.microsoft.com/office/powerpoint/2010/main" val="277668349"/>
              </p:ext>
            </p:extLst>
          </p:nvPr>
        </p:nvGraphicFramePr>
        <p:xfrm>
          <a:off x="1113024" y="1586998"/>
          <a:ext cx="2628900" cy="2572287"/>
        </p:xfrm>
        <a:graphic>
          <a:graphicData uri="http://schemas.openxmlformats.org/drawingml/2006/table">
            <a:tbl>
              <a:tblPr>
                <a:tableStyleId>{5C22544A-7EE6-4342-B048-85BDC9FD1C3A}</a:tableStyleId>
              </a:tblPr>
              <a:tblGrid>
                <a:gridCol w="1092200">
                  <a:extLst>
                    <a:ext uri="{9D8B030D-6E8A-4147-A177-3AD203B41FA5}">
                      <a16:colId xmlns:a16="http://schemas.microsoft.com/office/drawing/2014/main" val="3042862825"/>
                    </a:ext>
                  </a:extLst>
                </a:gridCol>
                <a:gridCol w="1536700">
                  <a:extLst>
                    <a:ext uri="{9D8B030D-6E8A-4147-A177-3AD203B41FA5}">
                      <a16:colId xmlns:a16="http://schemas.microsoft.com/office/drawing/2014/main" val="3241058480"/>
                    </a:ext>
                  </a:extLst>
                </a:gridCol>
              </a:tblGrid>
              <a:tr h="114185">
                <a:tc>
                  <a:txBody>
                    <a:bodyPr/>
                    <a:lstStyle/>
                    <a:p>
                      <a:pPr algn="l" fontAlgn="b"/>
                      <a:r>
                        <a:rPr lang="fr-FR" sz="1100" u="none" strike="noStrike" dirty="0">
                          <a:solidFill>
                            <a:srgbClr val="FFFFFF"/>
                          </a:solidFill>
                          <a:effectLst/>
                          <a:latin typeface="+mn-lt"/>
                        </a:rPr>
                        <a:t>Caractéristique</a:t>
                      </a:r>
                      <a:endParaRPr lang="fr-FR" sz="1100" b="0" i="0" u="none" strike="noStrike" dirty="0">
                        <a:solidFill>
                          <a:srgbClr val="FFFFFF"/>
                        </a:solidFill>
                        <a:effectLst/>
                        <a:latin typeface="+mn-lt"/>
                      </a:endParaRPr>
                    </a:p>
                  </a:txBody>
                  <a:tcPr marL="7620" marR="7620" marT="7620" marB="0" anchor="b">
                    <a:solidFill>
                      <a:schemeClr val="tx1"/>
                    </a:solidFill>
                  </a:tcPr>
                </a:tc>
                <a:tc>
                  <a:txBody>
                    <a:bodyPr/>
                    <a:lstStyle/>
                    <a:p>
                      <a:pPr algn="ctr" fontAlgn="b"/>
                      <a:r>
                        <a:rPr lang="fr-FR" sz="1100" u="none" strike="noStrike" dirty="0">
                          <a:solidFill>
                            <a:srgbClr val="FFFFFF"/>
                          </a:solidFill>
                          <a:effectLst/>
                          <a:latin typeface="+mn-lt"/>
                        </a:rPr>
                        <a:t>Valeur</a:t>
                      </a:r>
                      <a:endParaRPr lang="fr-FR" sz="1100" b="0" i="0" u="none" strike="noStrike" dirty="0">
                        <a:solidFill>
                          <a:srgbClr val="FFFFFF"/>
                        </a:solidFill>
                        <a:effectLst/>
                        <a:latin typeface="+mn-lt"/>
                      </a:endParaRPr>
                    </a:p>
                  </a:txBody>
                  <a:tcPr marL="7620" marR="7620" marT="7620" marB="0" anchor="b">
                    <a:solidFill>
                      <a:schemeClr val="tx1"/>
                    </a:solidFill>
                  </a:tcPr>
                </a:tc>
                <a:extLst>
                  <a:ext uri="{0D108BD9-81ED-4DB2-BD59-A6C34878D82A}">
                    <a16:rowId xmlns:a16="http://schemas.microsoft.com/office/drawing/2014/main" val="317880372"/>
                  </a:ext>
                </a:extLst>
              </a:tr>
              <a:tr h="182880">
                <a:tc>
                  <a:txBody>
                    <a:bodyPr/>
                    <a:lstStyle/>
                    <a:p>
                      <a:pPr algn="l" fontAlgn="b"/>
                      <a:r>
                        <a:rPr lang="fr-FR" sz="1100" u="none" strike="noStrike" dirty="0">
                          <a:effectLst/>
                          <a:latin typeface="+mn-lt"/>
                        </a:rPr>
                        <a:t>Produit</a:t>
                      </a:r>
                      <a:endParaRPr lang="fr-FR" sz="1100" b="0" i="0" u="none" strike="noStrike" dirty="0">
                        <a:solidFill>
                          <a:srgbClr val="000000"/>
                        </a:solidFill>
                        <a:effectLst/>
                        <a:latin typeface="+mn-lt"/>
                      </a:endParaRPr>
                    </a:p>
                  </a:txBody>
                  <a:tcPr marL="7620" marR="7620" marT="7620" marB="0" anchor="b"/>
                </a:tc>
                <a:tc>
                  <a:txBody>
                    <a:bodyPr/>
                    <a:lstStyle/>
                    <a:p>
                      <a:pPr algn="ctr" fontAlgn="b"/>
                      <a:r>
                        <a:rPr lang="fr-FR" sz="1100" u="none" strike="noStrike" dirty="0">
                          <a:effectLst/>
                          <a:latin typeface="+mn-lt"/>
                        </a:rPr>
                        <a:t>Emprunt</a:t>
                      </a:r>
                      <a:endParaRPr lang="fr-FR" sz="1100" b="0" i="0" u="none" strike="noStrike" dirty="0">
                        <a:solidFill>
                          <a:srgbClr val="000000"/>
                        </a:solidFill>
                        <a:effectLst/>
                        <a:latin typeface="+mn-lt"/>
                      </a:endParaRPr>
                    </a:p>
                  </a:txBody>
                  <a:tcPr marL="7620" marR="7620" marT="7620" marB="0" anchor="b"/>
                </a:tc>
                <a:extLst>
                  <a:ext uri="{0D108BD9-81ED-4DB2-BD59-A6C34878D82A}">
                    <a16:rowId xmlns:a16="http://schemas.microsoft.com/office/drawing/2014/main" val="2270652949"/>
                  </a:ext>
                </a:extLst>
              </a:tr>
              <a:tr h="182880">
                <a:tc>
                  <a:txBody>
                    <a:bodyPr/>
                    <a:lstStyle/>
                    <a:p>
                      <a:pPr algn="l" fontAlgn="b"/>
                      <a:r>
                        <a:rPr lang="fr-FR" sz="1100" u="none" strike="noStrike">
                          <a:effectLst/>
                          <a:latin typeface="+mn-lt"/>
                        </a:rPr>
                        <a:t>Ss-produit</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a:effectLst/>
                          <a:latin typeface="+mn-lt"/>
                        </a:rPr>
                        <a:t>In fine</a:t>
                      </a:r>
                      <a:endParaRPr lang="fr-FR" sz="1100" b="0"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924623812"/>
                  </a:ext>
                </a:extLst>
              </a:tr>
              <a:tr h="202467">
                <a:tc>
                  <a:txBody>
                    <a:bodyPr/>
                    <a:lstStyle/>
                    <a:p>
                      <a:pPr algn="l" fontAlgn="b"/>
                      <a:r>
                        <a:rPr lang="fr-FR" sz="1100" b="1" u="none" strike="noStrike" dirty="0">
                          <a:effectLst/>
                          <a:latin typeface="+mn-lt"/>
                        </a:rPr>
                        <a:t>Value date</a:t>
                      </a:r>
                      <a:endParaRPr lang="fr-FR" sz="1100" b="1" i="0" u="none" strike="noStrike" dirty="0">
                        <a:solidFill>
                          <a:srgbClr val="000000"/>
                        </a:solidFill>
                        <a:effectLst/>
                        <a:latin typeface="+mn-lt"/>
                      </a:endParaRPr>
                    </a:p>
                  </a:txBody>
                  <a:tcPr marL="7620" marR="7620" marT="7620" marB="0" anchor="b"/>
                </a:tc>
                <a:tc>
                  <a:txBody>
                    <a:bodyPr/>
                    <a:lstStyle/>
                    <a:p>
                      <a:pPr algn="ctr" fontAlgn="b"/>
                      <a:r>
                        <a:rPr lang="fr-FR" sz="1100" b="1" u="none" strike="noStrike">
                          <a:effectLst/>
                          <a:latin typeface="+mn-lt"/>
                        </a:rPr>
                        <a:t>31/12/2023</a:t>
                      </a:r>
                      <a:endParaRPr lang="fr-FR" sz="1100" b="1"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1413043668"/>
                  </a:ext>
                </a:extLst>
              </a:tr>
              <a:tr h="182880">
                <a:tc>
                  <a:txBody>
                    <a:bodyPr/>
                    <a:lstStyle/>
                    <a:p>
                      <a:pPr algn="l" fontAlgn="b"/>
                      <a:r>
                        <a:rPr lang="fr-FR" sz="1100" b="1" u="none" strike="noStrike" dirty="0">
                          <a:effectLst/>
                          <a:latin typeface="+mn-lt"/>
                        </a:rPr>
                        <a:t>Maturity date</a:t>
                      </a:r>
                      <a:endParaRPr lang="fr-FR" sz="1100" b="1" i="0" u="none" strike="noStrike" dirty="0">
                        <a:solidFill>
                          <a:srgbClr val="000000"/>
                        </a:solidFill>
                        <a:effectLst/>
                        <a:latin typeface="+mn-lt"/>
                      </a:endParaRPr>
                    </a:p>
                  </a:txBody>
                  <a:tcPr marL="7620" marR="7620" marT="7620" marB="0" anchor="b"/>
                </a:tc>
                <a:tc>
                  <a:txBody>
                    <a:bodyPr/>
                    <a:lstStyle/>
                    <a:p>
                      <a:pPr algn="ctr" fontAlgn="b"/>
                      <a:r>
                        <a:rPr lang="fr-FR" sz="1100" b="1" u="none" strike="noStrike" dirty="0">
                          <a:effectLst/>
                          <a:latin typeface="+mn-lt"/>
                        </a:rPr>
                        <a:t>31/03/2026</a:t>
                      </a:r>
                      <a:endParaRPr lang="fr-FR" sz="1100" b="1" i="0" u="none" strike="noStrike" dirty="0">
                        <a:solidFill>
                          <a:srgbClr val="000000"/>
                        </a:solidFill>
                        <a:effectLst/>
                        <a:latin typeface="+mn-lt"/>
                      </a:endParaRPr>
                    </a:p>
                  </a:txBody>
                  <a:tcPr marL="7620" marR="7620" marT="7620" marB="0" anchor="b"/>
                </a:tc>
                <a:extLst>
                  <a:ext uri="{0D108BD9-81ED-4DB2-BD59-A6C34878D82A}">
                    <a16:rowId xmlns:a16="http://schemas.microsoft.com/office/drawing/2014/main" val="2314595148"/>
                  </a:ext>
                </a:extLst>
              </a:tr>
              <a:tr h="182880">
                <a:tc>
                  <a:txBody>
                    <a:bodyPr/>
                    <a:lstStyle/>
                    <a:p>
                      <a:pPr algn="l" fontAlgn="b"/>
                      <a:r>
                        <a:rPr lang="fr-FR" sz="1100" u="none" strike="noStrike">
                          <a:effectLst/>
                          <a:latin typeface="+mn-lt"/>
                        </a:rPr>
                        <a:t>Contrpartie</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a:effectLst/>
                          <a:latin typeface="+mn-lt"/>
                        </a:rPr>
                        <a:t>Non-financial corporation</a:t>
                      </a:r>
                      <a:endParaRPr lang="fr-FR" sz="1100" b="0"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853942388"/>
                  </a:ext>
                </a:extLst>
              </a:tr>
              <a:tr h="182880">
                <a:tc>
                  <a:txBody>
                    <a:bodyPr/>
                    <a:lstStyle/>
                    <a:p>
                      <a:pPr algn="l" fontAlgn="b"/>
                      <a:r>
                        <a:rPr lang="fr-FR" sz="1100" u="none" strike="noStrike">
                          <a:effectLst/>
                          <a:latin typeface="+mn-lt"/>
                        </a:rPr>
                        <a:t>Devise</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a:effectLst/>
                          <a:latin typeface="+mn-lt"/>
                        </a:rPr>
                        <a:t>EUR</a:t>
                      </a:r>
                      <a:endParaRPr lang="fr-FR" sz="1100" b="0"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1477300222"/>
                  </a:ext>
                </a:extLst>
              </a:tr>
              <a:tr h="182880">
                <a:tc>
                  <a:txBody>
                    <a:bodyPr/>
                    <a:lstStyle/>
                    <a:p>
                      <a:pPr algn="l" fontAlgn="b"/>
                      <a:r>
                        <a:rPr lang="fr-FR" sz="1100" u="none" strike="noStrike">
                          <a:effectLst/>
                          <a:latin typeface="+mn-lt"/>
                        </a:rPr>
                        <a:t>Pays</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a:effectLst/>
                          <a:latin typeface="+mn-lt"/>
                        </a:rPr>
                        <a:t>France</a:t>
                      </a:r>
                      <a:endParaRPr lang="fr-FR" sz="1100" b="0"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2384422577"/>
                  </a:ext>
                </a:extLst>
              </a:tr>
              <a:tr h="182880">
                <a:tc>
                  <a:txBody>
                    <a:bodyPr/>
                    <a:lstStyle/>
                    <a:p>
                      <a:pPr algn="l" fontAlgn="b"/>
                      <a:r>
                        <a:rPr lang="fr-FR" sz="1100" u="none" strike="noStrike" dirty="0">
                          <a:effectLst/>
                          <a:latin typeface="+mn-lt"/>
                        </a:rPr>
                        <a:t>Type de taux</a:t>
                      </a:r>
                      <a:endParaRPr lang="fr-FR" sz="1100" b="0" i="0" u="none" strike="noStrike" dirty="0">
                        <a:solidFill>
                          <a:srgbClr val="000000"/>
                        </a:solidFill>
                        <a:effectLst/>
                        <a:latin typeface="+mn-lt"/>
                      </a:endParaRPr>
                    </a:p>
                  </a:txBody>
                  <a:tcPr marL="7620" marR="7620" marT="7620" marB="0" anchor="b"/>
                </a:tc>
                <a:tc>
                  <a:txBody>
                    <a:bodyPr/>
                    <a:lstStyle/>
                    <a:p>
                      <a:pPr algn="ctr" fontAlgn="b"/>
                      <a:r>
                        <a:rPr lang="fr-FR" sz="1100" u="none" strike="noStrike" dirty="0">
                          <a:effectLst/>
                          <a:latin typeface="+mn-lt"/>
                        </a:rPr>
                        <a:t>Révisable</a:t>
                      </a:r>
                      <a:endParaRPr lang="fr-FR" sz="1100" b="0" i="0" u="none" strike="noStrike" dirty="0">
                        <a:solidFill>
                          <a:srgbClr val="000000"/>
                        </a:solidFill>
                        <a:effectLst/>
                        <a:latin typeface="+mn-lt"/>
                      </a:endParaRPr>
                    </a:p>
                  </a:txBody>
                  <a:tcPr marL="7620" marR="7620" marT="7620" marB="0" anchor="b"/>
                </a:tc>
                <a:extLst>
                  <a:ext uri="{0D108BD9-81ED-4DB2-BD59-A6C34878D82A}">
                    <a16:rowId xmlns:a16="http://schemas.microsoft.com/office/drawing/2014/main" val="2668657570"/>
                  </a:ext>
                </a:extLst>
              </a:tr>
              <a:tr h="182880">
                <a:tc>
                  <a:txBody>
                    <a:bodyPr/>
                    <a:lstStyle/>
                    <a:p>
                      <a:pPr algn="l" fontAlgn="b"/>
                      <a:r>
                        <a:rPr lang="fr-FR" sz="1100" u="none" strike="noStrike" dirty="0">
                          <a:effectLst/>
                          <a:latin typeface="+mn-lt"/>
                        </a:rPr>
                        <a:t>Index de taux</a:t>
                      </a:r>
                      <a:endParaRPr lang="fr-FR" sz="1100" b="0" i="0" u="none" strike="noStrike" dirty="0">
                        <a:solidFill>
                          <a:srgbClr val="000000"/>
                        </a:solidFill>
                        <a:effectLst/>
                        <a:latin typeface="+mn-lt"/>
                      </a:endParaRPr>
                    </a:p>
                  </a:txBody>
                  <a:tcPr marL="7620" marR="7620" marT="7620" marB="0" anchor="b"/>
                </a:tc>
                <a:tc>
                  <a:txBody>
                    <a:bodyPr/>
                    <a:lstStyle/>
                    <a:p>
                      <a:pPr algn="ctr" fontAlgn="b"/>
                      <a:r>
                        <a:rPr lang="fr-FR" sz="1100" b="1" i="0" u="none" strike="noStrike" dirty="0">
                          <a:solidFill>
                            <a:srgbClr val="000000"/>
                          </a:solidFill>
                          <a:effectLst/>
                          <a:latin typeface="+mn-lt"/>
                        </a:rPr>
                        <a:t>EURIBOR</a:t>
                      </a:r>
                    </a:p>
                  </a:txBody>
                  <a:tcPr marL="7620" marR="7620" marT="7620" marB="0" anchor="b"/>
                </a:tc>
                <a:extLst>
                  <a:ext uri="{0D108BD9-81ED-4DB2-BD59-A6C34878D82A}">
                    <a16:rowId xmlns:a16="http://schemas.microsoft.com/office/drawing/2014/main" val="2163763400"/>
                  </a:ext>
                </a:extLst>
              </a:tr>
              <a:tr h="182880">
                <a:tc>
                  <a:txBody>
                    <a:bodyPr/>
                    <a:lstStyle/>
                    <a:p>
                      <a:pPr algn="l" fontAlgn="b"/>
                      <a:r>
                        <a:rPr lang="fr-FR" sz="1100" u="none" strike="noStrike">
                          <a:effectLst/>
                          <a:latin typeface="+mn-lt"/>
                        </a:rPr>
                        <a:t>Marge</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dirty="0">
                          <a:effectLst/>
                          <a:latin typeface="+mn-lt"/>
                        </a:rPr>
                        <a:t>0,20%</a:t>
                      </a:r>
                      <a:endParaRPr lang="fr-FR" sz="1100" b="0" i="0" u="none" strike="noStrike" dirty="0">
                        <a:solidFill>
                          <a:srgbClr val="000000"/>
                        </a:solidFill>
                        <a:effectLst/>
                        <a:latin typeface="+mn-lt"/>
                      </a:endParaRPr>
                    </a:p>
                  </a:txBody>
                  <a:tcPr marL="7620" marR="7620" marT="7620" marB="0" anchor="b"/>
                </a:tc>
                <a:extLst>
                  <a:ext uri="{0D108BD9-81ED-4DB2-BD59-A6C34878D82A}">
                    <a16:rowId xmlns:a16="http://schemas.microsoft.com/office/drawing/2014/main" val="2129066204"/>
                  </a:ext>
                </a:extLst>
              </a:tr>
              <a:tr h="182880">
                <a:tc>
                  <a:txBody>
                    <a:bodyPr/>
                    <a:lstStyle/>
                    <a:p>
                      <a:pPr algn="l" fontAlgn="b"/>
                      <a:r>
                        <a:rPr lang="fr-FR" sz="1100" u="none" strike="noStrike">
                          <a:effectLst/>
                          <a:latin typeface="+mn-lt"/>
                        </a:rPr>
                        <a:t>date de fixing</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b="1" i="0" u="none" strike="noStrike" dirty="0" err="1">
                          <a:solidFill>
                            <a:srgbClr val="000000"/>
                          </a:solidFill>
                          <a:effectLst/>
                          <a:latin typeface="+mn-lt"/>
                        </a:rPr>
                        <a:t>Every</a:t>
                      </a:r>
                      <a:r>
                        <a:rPr lang="fr-FR" sz="1100" b="1" i="0" u="none" strike="noStrike" dirty="0">
                          <a:solidFill>
                            <a:srgbClr val="000000"/>
                          </a:solidFill>
                          <a:effectLst/>
                          <a:latin typeface="+mn-lt"/>
                        </a:rPr>
                        <a:t> 3 month</a:t>
                      </a:r>
                    </a:p>
                  </a:txBody>
                  <a:tcPr marL="7620" marR="7620" marT="7620" marB="0" anchor="b"/>
                </a:tc>
                <a:extLst>
                  <a:ext uri="{0D108BD9-81ED-4DB2-BD59-A6C34878D82A}">
                    <a16:rowId xmlns:a16="http://schemas.microsoft.com/office/drawing/2014/main" val="4173249553"/>
                  </a:ext>
                </a:extLst>
              </a:tr>
              <a:tr h="182880">
                <a:tc>
                  <a:txBody>
                    <a:bodyPr/>
                    <a:lstStyle/>
                    <a:p>
                      <a:pPr algn="l" fontAlgn="b"/>
                      <a:r>
                        <a:rPr lang="fr-FR" sz="1100" u="none" strike="noStrike">
                          <a:effectLst/>
                          <a:latin typeface="+mn-lt"/>
                        </a:rPr>
                        <a:t>Capital</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a:effectLst/>
                          <a:latin typeface="+mn-lt"/>
                        </a:rPr>
                        <a:t>100</a:t>
                      </a:r>
                      <a:endParaRPr lang="fr-FR" sz="1100" b="0"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4093349665"/>
                  </a:ext>
                </a:extLst>
              </a:tr>
              <a:tr h="182880">
                <a:tc>
                  <a:txBody>
                    <a:bodyPr/>
                    <a:lstStyle/>
                    <a:p>
                      <a:pPr algn="l" fontAlgn="b"/>
                      <a:r>
                        <a:rPr lang="fr-FR" sz="1100" u="none" strike="noStrike">
                          <a:effectLst/>
                          <a:latin typeface="+mn-lt"/>
                        </a:rPr>
                        <a:t>Performing</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dirty="0">
                          <a:effectLst/>
                          <a:latin typeface="+mn-lt"/>
                        </a:rPr>
                        <a:t>Yes</a:t>
                      </a:r>
                      <a:endParaRPr lang="fr-FR" sz="1100" b="0" i="0" u="none" strike="noStrike" dirty="0">
                        <a:solidFill>
                          <a:srgbClr val="000000"/>
                        </a:solidFill>
                        <a:effectLst/>
                        <a:latin typeface="+mn-lt"/>
                      </a:endParaRPr>
                    </a:p>
                  </a:txBody>
                  <a:tcPr marL="7620" marR="7620" marT="7620" marB="0" anchor="b"/>
                </a:tc>
                <a:extLst>
                  <a:ext uri="{0D108BD9-81ED-4DB2-BD59-A6C34878D82A}">
                    <a16:rowId xmlns:a16="http://schemas.microsoft.com/office/drawing/2014/main" val="2914817019"/>
                  </a:ext>
                </a:extLst>
              </a:tr>
            </a:tbl>
          </a:graphicData>
        </a:graphic>
      </p:graphicFrame>
      <p:cxnSp>
        <p:nvCxnSpPr>
          <p:cNvPr id="6" name="Straight Arrow Connector 5">
            <a:extLst>
              <a:ext uri="{FF2B5EF4-FFF2-40B4-BE49-F238E27FC236}">
                <a16:creationId xmlns:a16="http://schemas.microsoft.com/office/drawing/2014/main" id="{0F59B0B6-1700-6EA9-DB44-92C78BB243CB}"/>
              </a:ext>
            </a:extLst>
          </p:cNvPr>
          <p:cNvCxnSpPr/>
          <p:nvPr/>
        </p:nvCxnSpPr>
        <p:spPr>
          <a:xfrm>
            <a:off x="817374" y="5495514"/>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7FDCF7D0-65B2-1E23-9844-CB8750D96565}"/>
              </a:ext>
            </a:extLst>
          </p:cNvPr>
          <p:cNvSpPr/>
          <p:nvPr/>
        </p:nvSpPr>
        <p:spPr>
          <a:xfrm>
            <a:off x="817374" y="5186304"/>
            <a:ext cx="5560057" cy="238182"/>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                                                                                            Marge 1 </a:t>
            </a:r>
          </a:p>
        </p:txBody>
      </p:sp>
      <p:sp>
        <p:nvSpPr>
          <p:cNvPr id="8" name="TextBox 7">
            <a:extLst>
              <a:ext uri="{FF2B5EF4-FFF2-40B4-BE49-F238E27FC236}">
                <a16:creationId xmlns:a16="http://schemas.microsoft.com/office/drawing/2014/main" id="{3F78EAFA-43BF-D348-23E0-6F1803EBF736}"/>
              </a:ext>
            </a:extLst>
          </p:cNvPr>
          <p:cNvSpPr txBox="1"/>
          <p:nvPr/>
        </p:nvSpPr>
        <p:spPr>
          <a:xfrm>
            <a:off x="662111" y="5530732"/>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31.12.23</a:t>
            </a:r>
          </a:p>
        </p:txBody>
      </p:sp>
      <p:sp>
        <p:nvSpPr>
          <p:cNvPr id="9" name="TextBox 8">
            <a:extLst>
              <a:ext uri="{FF2B5EF4-FFF2-40B4-BE49-F238E27FC236}">
                <a16:creationId xmlns:a16="http://schemas.microsoft.com/office/drawing/2014/main" id="{6DD58B58-AD09-4B0D-1AE7-634E9D2E0189}"/>
              </a:ext>
            </a:extLst>
          </p:cNvPr>
          <p:cNvSpPr txBox="1"/>
          <p:nvPr/>
        </p:nvSpPr>
        <p:spPr>
          <a:xfrm>
            <a:off x="5999431" y="5542674"/>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30.06.26</a:t>
            </a:r>
          </a:p>
        </p:txBody>
      </p:sp>
      <p:sp>
        <p:nvSpPr>
          <p:cNvPr id="10" name="TextBox 9">
            <a:extLst>
              <a:ext uri="{FF2B5EF4-FFF2-40B4-BE49-F238E27FC236}">
                <a16:creationId xmlns:a16="http://schemas.microsoft.com/office/drawing/2014/main" id="{3D810DB7-2F0E-D07C-DC1A-3B661C0E5E76}"/>
              </a:ext>
            </a:extLst>
          </p:cNvPr>
          <p:cNvSpPr txBox="1"/>
          <p:nvPr/>
        </p:nvSpPr>
        <p:spPr>
          <a:xfrm>
            <a:off x="9632925" y="5529591"/>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31.12.27</a:t>
            </a:r>
          </a:p>
        </p:txBody>
      </p:sp>
      <p:sp>
        <p:nvSpPr>
          <p:cNvPr id="11" name="TextBox 10">
            <a:extLst>
              <a:ext uri="{FF2B5EF4-FFF2-40B4-BE49-F238E27FC236}">
                <a16:creationId xmlns:a16="http://schemas.microsoft.com/office/drawing/2014/main" id="{73A60163-2F18-DE74-4D2F-E955BB9A2582}"/>
              </a:ext>
            </a:extLst>
          </p:cNvPr>
          <p:cNvSpPr txBox="1"/>
          <p:nvPr/>
        </p:nvSpPr>
        <p:spPr>
          <a:xfrm>
            <a:off x="2552111" y="5535818"/>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31.12.24</a:t>
            </a:r>
          </a:p>
        </p:txBody>
      </p:sp>
      <p:sp>
        <p:nvSpPr>
          <p:cNvPr id="12" name="Rectangle 11">
            <a:extLst>
              <a:ext uri="{FF2B5EF4-FFF2-40B4-BE49-F238E27FC236}">
                <a16:creationId xmlns:a16="http://schemas.microsoft.com/office/drawing/2014/main" id="{6B131255-0373-7D65-559E-1DA14FC5308D}"/>
              </a:ext>
            </a:extLst>
          </p:cNvPr>
          <p:cNvSpPr/>
          <p:nvPr/>
        </p:nvSpPr>
        <p:spPr>
          <a:xfrm>
            <a:off x="6527124" y="5186301"/>
            <a:ext cx="5407367"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                                                                     Marge 2                 </a:t>
            </a:r>
          </a:p>
        </p:txBody>
      </p:sp>
      <p:sp>
        <p:nvSpPr>
          <p:cNvPr id="13" name="Rectangle 12">
            <a:extLst>
              <a:ext uri="{FF2B5EF4-FFF2-40B4-BE49-F238E27FC236}">
                <a16:creationId xmlns:a16="http://schemas.microsoft.com/office/drawing/2014/main" id="{C5222BC3-8B4B-A2D7-7395-99DE1DA91246}"/>
              </a:ext>
            </a:extLst>
          </p:cNvPr>
          <p:cNvSpPr/>
          <p:nvPr/>
        </p:nvSpPr>
        <p:spPr>
          <a:xfrm>
            <a:off x="9935284" y="5178264"/>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14" name="Rectangle 13">
            <a:extLst>
              <a:ext uri="{FF2B5EF4-FFF2-40B4-BE49-F238E27FC236}">
                <a16:creationId xmlns:a16="http://schemas.microsoft.com/office/drawing/2014/main" id="{63A215A9-FF00-C231-0969-366D6D72F076}"/>
              </a:ext>
            </a:extLst>
          </p:cNvPr>
          <p:cNvSpPr/>
          <p:nvPr/>
        </p:nvSpPr>
        <p:spPr>
          <a:xfrm>
            <a:off x="818589" y="5186301"/>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15" name="Rectangle 14">
            <a:extLst>
              <a:ext uri="{FF2B5EF4-FFF2-40B4-BE49-F238E27FC236}">
                <a16:creationId xmlns:a16="http://schemas.microsoft.com/office/drawing/2014/main" id="{C38A3393-857C-C5F1-AE9F-E6099B0963D3}"/>
              </a:ext>
            </a:extLst>
          </p:cNvPr>
          <p:cNvSpPr/>
          <p:nvPr/>
        </p:nvSpPr>
        <p:spPr>
          <a:xfrm>
            <a:off x="1256111" y="4905876"/>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1</a:t>
            </a:r>
          </a:p>
        </p:txBody>
      </p:sp>
      <p:sp>
        <p:nvSpPr>
          <p:cNvPr id="16" name="Rectangle 15">
            <a:extLst>
              <a:ext uri="{FF2B5EF4-FFF2-40B4-BE49-F238E27FC236}">
                <a16:creationId xmlns:a16="http://schemas.microsoft.com/office/drawing/2014/main" id="{0847D1D0-EE3F-D623-8F49-283C5973A780}"/>
              </a:ext>
            </a:extLst>
          </p:cNvPr>
          <p:cNvSpPr/>
          <p:nvPr/>
        </p:nvSpPr>
        <p:spPr>
          <a:xfrm>
            <a:off x="3657311"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2</a:t>
            </a:r>
          </a:p>
        </p:txBody>
      </p:sp>
      <p:sp>
        <p:nvSpPr>
          <p:cNvPr id="17" name="Rectangle 16">
            <a:extLst>
              <a:ext uri="{FF2B5EF4-FFF2-40B4-BE49-F238E27FC236}">
                <a16:creationId xmlns:a16="http://schemas.microsoft.com/office/drawing/2014/main" id="{690228FB-5453-993D-AE55-2BF61A24BDE3}"/>
              </a:ext>
            </a:extLst>
          </p:cNvPr>
          <p:cNvSpPr/>
          <p:nvPr/>
        </p:nvSpPr>
        <p:spPr>
          <a:xfrm>
            <a:off x="9305592" y="4892923"/>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000000"/>
                </a:solidFill>
                <a:effectLst/>
                <a:uLnTx/>
                <a:uFillTx/>
                <a:latin typeface="Calibri (body)"/>
              </a:rPr>
              <a:t>Taux 12</a:t>
            </a:r>
          </a:p>
        </p:txBody>
      </p:sp>
      <p:sp>
        <p:nvSpPr>
          <p:cNvPr id="18" name="Rectangle 17">
            <a:extLst>
              <a:ext uri="{FF2B5EF4-FFF2-40B4-BE49-F238E27FC236}">
                <a16:creationId xmlns:a16="http://schemas.microsoft.com/office/drawing/2014/main" id="{3B548A37-C76A-6C36-E40B-E5996656D75D}"/>
              </a:ext>
            </a:extLst>
          </p:cNvPr>
          <p:cNvSpPr/>
          <p:nvPr/>
        </p:nvSpPr>
        <p:spPr>
          <a:xfrm>
            <a:off x="9935284" y="4892923"/>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000000"/>
              </a:solidFill>
              <a:effectLst/>
              <a:uLnTx/>
              <a:uFillTx/>
              <a:latin typeface="Calibri (body)"/>
            </a:endParaRPr>
          </a:p>
        </p:txBody>
      </p:sp>
      <p:sp>
        <p:nvSpPr>
          <p:cNvPr id="19" name="Rectangle 18">
            <a:extLst>
              <a:ext uri="{FF2B5EF4-FFF2-40B4-BE49-F238E27FC236}">
                <a16:creationId xmlns:a16="http://schemas.microsoft.com/office/drawing/2014/main" id="{CFE708F2-9ACE-150A-D660-ED9C4BC9FC97}"/>
              </a:ext>
            </a:extLst>
          </p:cNvPr>
          <p:cNvSpPr/>
          <p:nvPr/>
        </p:nvSpPr>
        <p:spPr>
          <a:xfrm>
            <a:off x="818589" y="4894682"/>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20" name="TextBox 19">
            <a:extLst>
              <a:ext uri="{FF2B5EF4-FFF2-40B4-BE49-F238E27FC236}">
                <a16:creationId xmlns:a16="http://schemas.microsoft.com/office/drawing/2014/main" id="{5EC0D0CF-D477-4A4B-BAFC-3A4A28BD35F4}"/>
              </a:ext>
            </a:extLst>
          </p:cNvPr>
          <p:cNvSpPr txBox="1"/>
          <p:nvPr/>
        </p:nvSpPr>
        <p:spPr>
          <a:xfrm>
            <a:off x="19250" y="4808932"/>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Taux</a:t>
            </a:r>
          </a:p>
        </p:txBody>
      </p:sp>
      <p:sp>
        <p:nvSpPr>
          <p:cNvPr id="21" name="TextBox 20">
            <a:extLst>
              <a:ext uri="{FF2B5EF4-FFF2-40B4-BE49-F238E27FC236}">
                <a16:creationId xmlns:a16="http://schemas.microsoft.com/office/drawing/2014/main" id="{65D3AA2E-4055-DD09-66ED-448B25308604}"/>
              </a:ext>
            </a:extLst>
          </p:cNvPr>
          <p:cNvSpPr txBox="1"/>
          <p:nvPr/>
        </p:nvSpPr>
        <p:spPr>
          <a:xfrm>
            <a:off x="13400" y="5140903"/>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Marge</a:t>
            </a:r>
          </a:p>
        </p:txBody>
      </p:sp>
      <p:graphicFrame>
        <p:nvGraphicFramePr>
          <p:cNvPr id="22" name="Table 21">
            <a:extLst>
              <a:ext uri="{FF2B5EF4-FFF2-40B4-BE49-F238E27FC236}">
                <a16:creationId xmlns:a16="http://schemas.microsoft.com/office/drawing/2014/main" id="{B0B7B97A-8759-00DF-CB7E-BBF77F788A8F}"/>
              </a:ext>
            </a:extLst>
          </p:cNvPr>
          <p:cNvGraphicFramePr>
            <a:graphicFrameLocks noGrp="1"/>
          </p:cNvGraphicFramePr>
          <p:nvPr>
            <p:extLst>
              <p:ext uri="{D42A27DB-BD31-4B8C-83A1-F6EECF244321}">
                <p14:modId xmlns:p14="http://schemas.microsoft.com/office/powerpoint/2010/main" val="3189181749"/>
              </p:ext>
            </p:extLst>
          </p:nvPr>
        </p:nvGraphicFramePr>
        <p:xfrm>
          <a:off x="4334111" y="1586998"/>
          <a:ext cx="2628900" cy="1698263"/>
        </p:xfrm>
        <a:graphic>
          <a:graphicData uri="http://schemas.openxmlformats.org/drawingml/2006/table">
            <a:tbl>
              <a:tblPr>
                <a:tableStyleId>{5C22544A-7EE6-4342-B048-85BDC9FD1C3A}</a:tableStyleId>
              </a:tblPr>
              <a:tblGrid>
                <a:gridCol w="1092200">
                  <a:extLst>
                    <a:ext uri="{9D8B030D-6E8A-4147-A177-3AD203B41FA5}">
                      <a16:colId xmlns:a16="http://schemas.microsoft.com/office/drawing/2014/main" val="3042862825"/>
                    </a:ext>
                  </a:extLst>
                </a:gridCol>
                <a:gridCol w="1536700">
                  <a:extLst>
                    <a:ext uri="{9D8B030D-6E8A-4147-A177-3AD203B41FA5}">
                      <a16:colId xmlns:a16="http://schemas.microsoft.com/office/drawing/2014/main" val="3241058480"/>
                    </a:ext>
                  </a:extLst>
                </a:gridCol>
              </a:tblGrid>
              <a:tr h="114185">
                <a:tc>
                  <a:txBody>
                    <a:bodyPr/>
                    <a:lstStyle/>
                    <a:p>
                      <a:pPr algn="l" fontAlgn="b"/>
                      <a:r>
                        <a:rPr lang="fr-FR" sz="1100" b="0" i="0" u="none" strike="noStrike" dirty="0">
                          <a:solidFill>
                            <a:srgbClr val="FFFFFF"/>
                          </a:solidFill>
                          <a:effectLst/>
                          <a:latin typeface="Calibri" panose="020F0502020204030204" pitchFamily="34" charset="0"/>
                        </a:rPr>
                        <a:t>Taux</a:t>
                      </a:r>
                    </a:p>
                  </a:txBody>
                  <a:tcPr marL="7620" marR="7620" marT="7620" marB="0" anchor="b">
                    <a:solidFill>
                      <a:schemeClr val="tx1"/>
                    </a:solidFill>
                  </a:tcPr>
                </a:tc>
                <a:tc>
                  <a:txBody>
                    <a:bodyPr/>
                    <a:lstStyle/>
                    <a:p>
                      <a:pPr algn="ctr" fontAlgn="b"/>
                      <a:r>
                        <a:rPr lang="fr-FR" sz="1100" u="none" strike="noStrike" dirty="0">
                          <a:solidFill>
                            <a:srgbClr val="FFFFFF"/>
                          </a:solidFill>
                          <a:effectLst/>
                        </a:rPr>
                        <a:t>Valeur</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extLst>
                  <a:ext uri="{0D108BD9-81ED-4DB2-BD59-A6C34878D82A}">
                    <a16:rowId xmlns:a16="http://schemas.microsoft.com/office/drawing/2014/main" val="317880372"/>
                  </a:ext>
                </a:extLst>
              </a:tr>
              <a:tr h="223256">
                <a:tc>
                  <a:txBody>
                    <a:bodyPr/>
                    <a:lstStyle/>
                    <a:p>
                      <a:pPr algn="l" fontAlgn="b"/>
                      <a:r>
                        <a:rPr lang="fr-FR" sz="1100" u="none" strike="noStrike" dirty="0">
                          <a:effectLst/>
                        </a:rPr>
                        <a:t>Taux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i="0" u="none" strike="noStrike" dirty="0">
                          <a:solidFill>
                            <a:srgbClr val="000000"/>
                          </a:solidFill>
                          <a:effectLst/>
                          <a:latin typeface="+mn-lt"/>
                        </a:rPr>
                        <a:t>Euribor </a:t>
                      </a:r>
                      <a:r>
                        <a:rPr lang="fr-FR" sz="1100" b="1" i="0" u="none" strike="noStrike" dirty="0" err="1">
                          <a:solidFill>
                            <a:srgbClr val="000000"/>
                          </a:solidFill>
                          <a:effectLst/>
                          <a:latin typeface="+mn-lt"/>
                        </a:rPr>
                        <a:t>histo</a:t>
                      </a:r>
                      <a:r>
                        <a:rPr lang="fr-FR" sz="1100" b="1" i="0" u="none" strike="noStrike" dirty="0">
                          <a:solidFill>
                            <a:srgbClr val="000000"/>
                          </a:solidFill>
                          <a:effectLst/>
                          <a:latin typeface="+mn-lt"/>
                        </a:rPr>
                        <a:t> – 3,65</a:t>
                      </a:r>
                    </a:p>
                  </a:txBody>
                  <a:tcPr marL="7620" marR="7620" marT="7620" marB="0" anchor="b"/>
                </a:tc>
                <a:extLst>
                  <a:ext uri="{0D108BD9-81ED-4DB2-BD59-A6C34878D82A}">
                    <a16:rowId xmlns:a16="http://schemas.microsoft.com/office/drawing/2014/main" val="2270652949"/>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u="none" strike="noStrike" dirty="0">
                          <a:effectLst/>
                        </a:rPr>
                        <a:t>Taux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924623812"/>
                  </a:ext>
                </a:extLst>
              </a:tr>
              <a:tr h="202467">
                <a:tc>
                  <a:txBody>
                    <a:bodyPr/>
                    <a:lstStyle/>
                    <a:p>
                      <a:pPr algn="l" fontAlgn="b"/>
                      <a:r>
                        <a:rPr lang="fr-FR" sz="1100" b="1"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rPr>
                        <a:t>…</a:t>
                      </a:r>
                    </a:p>
                  </a:txBody>
                  <a:tcPr marL="7620" marR="7620" marT="7620" marB="0" anchor="b"/>
                </a:tc>
                <a:extLst>
                  <a:ext uri="{0D108BD9-81ED-4DB2-BD59-A6C34878D82A}">
                    <a16:rowId xmlns:a16="http://schemas.microsoft.com/office/drawing/2014/main" val="1413043668"/>
                  </a:ext>
                </a:extLst>
              </a:tr>
              <a:tr h="182880">
                <a:tc>
                  <a:txBody>
                    <a:bodyPr/>
                    <a:lstStyle/>
                    <a:p>
                      <a:pPr algn="l" fontAlgn="b"/>
                      <a:r>
                        <a:rPr lang="fr-FR" sz="1100" b="1"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rPr>
                        <a:t>…</a:t>
                      </a:r>
                    </a:p>
                  </a:txBody>
                  <a:tcPr marL="7620" marR="7620" marT="7620" marB="0" anchor="b"/>
                </a:tc>
                <a:extLst>
                  <a:ext uri="{0D108BD9-81ED-4DB2-BD59-A6C34878D82A}">
                    <a16:rowId xmlns:a16="http://schemas.microsoft.com/office/drawing/2014/main" val="2314595148"/>
                  </a:ext>
                </a:extLst>
              </a:tr>
              <a:tr h="182880">
                <a:tc>
                  <a:txBody>
                    <a:bodyPr/>
                    <a:lstStyle/>
                    <a:p>
                      <a:pPr algn="l" fontAlgn="b"/>
                      <a:r>
                        <a:rPr lang="fr-FR" sz="1100" b="1" i="0" u="none" strike="noStrike" dirty="0">
                          <a:solidFill>
                            <a:srgbClr val="000000"/>
                          </a:solidFill>
                          <a:effectLst/>
                          <a:latin typeface="Calibri" panose="020F0502020204030204" pitchFamily="34" charset="0"/>
                        </a:rPr>
                        <a:t>Taux 11</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rPr>
                        <a:t>?</a:t>
                      </a:r>
                    </a:p>
                  </a:txBody>
                  <a:tcPr marL="7620" marR="7620" marT="7620" marB="0" anchor="b"/>
                </a:tc>
                <a:extLst>
                  <a:ext uri="{0D108BD9-81ED-4DB2-BD59-A6C34878D82A}">
                    <a16:rowId xmlns:a16="http://schemas.microsoft.com/office/drawing/2014/main" val="3711581075"/>
                  </a:ext>
                </a:extLst>
              </a:tr>
              <a:tr h="182880">
                <a:tc>
                  <a:txBody>
                    <a:bodyPr/>
                    <a:lstStyle/>
                    <a:p>
                      <a:pPr algn="l" fontAlgn="b"/>
                      <a:r>
                        <a:rPr lang="fr-FR" sz="1100" b="1" i="0" u="none" strike="noStrike" dirty="0">
                          <a:solidFill>
                            <a:srgbClr val="000000"/>
                          </a:solidFill>
                          <a:effectLst/>
                          <a:latin typeface="Calibri" panose="020F0502020204030204" pitchFamily="34" charset="0"/>
                        </a:rPr>
                        <a:t>Taux 12</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rPr>
                        <a:t>?</a:t>
                      </a:r>
                    </a:p>
                  </a:txBody>
                  <a:tcPr marL="7620" marR="7620" marT="7620" marB="0" anchor="b"/>
                </a:tc>
                <a:extLst>
                  <a:ext uri="{0D108BD9-81ED-4DB2-BD59-A6C34878D82A}">
                    <a16:rowId xmlns:a16="http://schemas.microsoft.com/office/drawing/2014/main" val="3310413453"/>
                  </a:ext>
                </a:extLst>
              </a:tr>
              <a:tr h="182880">
                <a:tc>
                  <a:txBody>
                    <a:bodyPr/>
                    <a:lstStyle/>
                    <a:p>
                      <a:pPr algn="l" fontAlgn="b"/>
                      <a:r>
                        <a:rPr lang="fr-FR" sz="1100" u="none" strike="noStrike" dirty="0">
                          <a:effectLst/>
                        </a:rPr>
                        <a:t>Marge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0.20%</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853942388"/>
                  </a:ext>
                </a:extLst>
              </a:tr>
              <a:tr h="182880">
                <a:tc>
                  <a:txBody>
                    <a:bodyPr/>
                    <a:lstStyle/>
                    <a:p>
                      <a:pPr algn="l" fontAlgn="b"/>
                      <a:r>
                        <a:rPr lang="fr-FR" sz="1100" u="none" strike="noStrike" dirty="0">
                          <a:effectLst/>
                        </a:rPr>
                        <a:t>Marge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77300222"/>
                  </a:ext>
                </a:extLst>
              </a:tr>
            </a:tbl>
          </a:graphicData>
        </a:graphic>
      </p:graphicFrame>
      <p:sp>
        <p:nvSpPr>
          <p:cNvPr id="23" name="Rectangle 22">
            <a:extLst>
              <a:ext uri="{FF2B5EF4-FFF2-40B4-BE49-F238E27FC236}">
                <a16:creationId xmlns:a16="http://schemas.microsoft.com/office/drawing/2014/main" id="{B6219088-993D-D031-3CB8-6E81FF4830C8}"/>
              </a:ext>
            </a:extLst>
          </p:cNvPr>
          <p:cNvSpPr/>
          <p:nvPr/>
        </p:nvSpPr>
        <p:spPr>
          <a:xfrm>
            <a:off x="4208641"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3</a:t>
            </a:r>
          </a:p>
        </p:txBody>
      </p:sp>
      <p:sp>
        <p:nvSpPr>
          <p:cNvPr id="24" name="Rectangle 23">
            <a:extLst>
              <a:ext uri="{FF2B5EF4-FFF2-40B4-BE49-F238E27FC236}">
                <a16:creationId xmlns:a16="http://schemas.microsoft.com/office/drawing/2014/main" id="{5EBD5FE1-ABDB-8DE8-3F56-9B43AF3717C8}"/>
              </a:ext>
            </a:extLst>
          </p:cNvPr>
          <p:cNvSpPr/>
          <p:nvPr/>
        </p:nvSpPr>
        <p:spPr>
          <a:xfrm>
            <a:off x="4759971"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4</a:t>
            </a:r>
          </a:p>
        </p:txBody>
      </p:sp>
      <p:sp>
        <p:nvSpPr>
          <p:cNvPr id="25" name="Rectangle 24">
            <a:extLst>
              <a:ext uri="{FF2B5EF4-FFF2-40B4-BE49-F238E27FC236}">
                <a16:creationId xmlns:a16="http://schemas.microsoft.com/office/drawing/2014/main" id="{6AC19E09-4D64-1F68-972E-2139B0740A93}"/>
              </a:ext>
            </a:extLst>
          </p:cNvPr>
          <p:cNvSpPr/>
          <p:nvPr/>
        </p:nvSpPr>
        <p:spPr>
          <a:xfrm>
            <a:off x="5311301"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5</a:t>
            </a:r>
          </a:p>
        </p:txBody>
      </p:sp>
      <p:sp>
        <p:nvSpPr>
          <p:cNvPr id="26" name="Rectangle 25">
            <a:extLst>
              <a:ext uri="{FF2B5EF4-FFF2-40B4-BE49-F238E27FC236}">
                <a16:creationId xmlns:a16="http://schemas.microsoft.com/office/drawing/2014/main" id="{63E8B88C-9075-2C33-0B02-CE3B0A57F267}"/>
              </a:ext>
            </a:extLst>
          </p:cNvPr>
          <p:cNvSpPr/>
          <p:nvPr/>
        </p:nvSpPr>
        <p:spPr>
          <a:xfrm>
            <a:off x="5862631"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6</a:t>
            </a:r>
          </a:p>
        </p:txBody>
      </p:sp>
      <p:sp>
        <p:nvSpPr>
          <p:cNvPr id="27" name="Rectangle 26">
            <a:extLst>
              <a:ext uri="{FF2B5EF4-FFF2-40B4-BE49-F238E27FC236}">
                <a16:creationId xmlns:a16="http://schemas.microsoft.com/office/drawing/2014/main" id="{F28456F1-6A82-E6B5-765A-03E4A52C3999}"/>
              </a:ext>
            </a:extLst>
          </p:cNvPr>
          <p:cNvSpPr/>
          <p:nvPr/>
        </p:nvSpPr>
        <p:spPr>
          <a:xfrm>
            <a:off x="6540723"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7</a:t>
            </a:r>
          </a:p>
        </p:txBody>
      </p:sp>
      <p:sp>
        <p:nvSpPr>
          <p:cNvPr id="28" name="Rectangle 27">
            <a:extLst>
              <a:ext uri="{FF2B5EF4-FFF2-40B4-BE49-F238E27FC236}">
                <a16:creationId xmlns:a16="http://schemas.microsoft.com/office/drawing/2014/main" id="{F50B4383-77C8-FB81-3623-B768A6AB161C}"/>
              </a:ext>
            </a:extLst>
          </p:cNvPr>
          <p:cNvSpPr/>
          <p:nvPr/>
        </p:nvSpPr>
        <p:spPr>
          <a:xfrm>
            <a:off x="7092894"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8</a:t>
            </a:r>
          </a:p>
        </p:txBody>
      </p:sp>
      <p:sp>
        <p:nvSpPr>
          <p:cNvPr id="29" name="Rectangle 28">
            <a:extLst>
              <a:ext uri="{FF2B5EF4-FFF2-40B4-BE49-F238E27FC236}">
                <a16:creationId xmlns:a16="http://schemas.microsoft.com/office/drawing/2014/main" id="{B35EE44F-0C62-3DE7-9148-21FECA817618}"/>
              </a:ext>
            </a:extLst>
          </p:cNvPr>
          <p:cNvSpPr/>
          <p:nvPr/>
        </p:nvSpPr>
        <p:spPr>
          <a:xfrm>
            <a:off x="7645065"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9</a:t>
            </a:r>
          </a:p>
        </p:txBody>
      </p:sp>
      <p:sp>
        <p:nvSpPr>
          <p:cNvPr id="30" name="Rectangle 29">
            <a:extLst>
              <a:ext uri="{FF2B5EF4-FFF2-40B4-BE49-F238E27FC236}">
                <a16:creationId xmlns:a16="http://schemas.microsoft.com/office/drawing/2014/main" id="{406CAD4C-30AD-B33E-3F55-5F6FD46359CC}"/>
              </a:ext>
            </a:extLst>
          </p:cNvPr>
          <p:cNvSpPr/>
          <p:nvPr/>
        </p:nvSpPr>
        <p:spPr>
          <a:xfrm>
            <a:off x="8197236"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10</a:t>
            </a:r>
          </a:p>
        </p:txBody>
      </p:sp>
      <p:sp>
        <p:nvSpPr>
          <p:cNvPr id="31" name="Rectangle 30">
            <a:extLst>
              <a:ext uri="{FF2B5EF4-FFF2-40B4-BE49-F238E27FC236}">
                <a16:creationId xmlns:a16="http://schemas.microsoft.com/office/drawing/2014/main" id="{FE7E9754-3E91-C4F2-C737-F4E99CD2832F}"/>
              </a:ext>
            </a:extLst>
          </p:cNvPr>
          <p:cNvSpPr/>
          <p:nvPr/>
        </p:nvSpPr>
        <p:spPr>
          <a:xfrm>
            <a:off x="8749405"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11</a:t>
            </a:r>
          </a:p>
        </p:txBody>
      </p:sp>
      <p:sp>
        <p:nvSpPr>
          <p:cNvPr id="32" name="Arrow: Right 31">
            <a:extLst>
              <a:ext uri="{FF2B5EF4-FFF2-40B4-BE49-F238E27FC236}">
                <a16:creationId xmlns:a16="http://schemas.microsoft.com/office/drawing/2014/main" id="{B435F394-955E-7FC7-28D9-03D14CF753ED}"/>
              </a:ext>
            </a:extLst>
          </p:cNvPr>
          <p:cNvSpPr/>
          <p:nvPr/>
        </p:nvSpPr>
        <p:spPr>
          <a:xfrm>
            <a:off x="7189211" y="2320945"/>
            <a:ext cx="654900" cy="433213"/>
          </a:xfrm>
          <a:prstGeom prst="rightArrow">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graphicFrame>
        <p:nvGraphicFramePr>
          <p:cNvPr id="33" name="Table 32">
            <a:extLst>
              <a:ext uri="{FF2B5EF4-FFF2-40B4-BE49-F238E27FC236}">
                <a16:creationId xmlns:a16="http://schemas.microsoft.com/office/drawing/2014/main" id="{B71F29E6-69FF-559D-C9A5-7064DD3491E3}"/>
              </a:ext>
            </a:extLst>
          </p:cNvPr>
          <p:cNvGraphicFramePr>
            <a:graphicFrameLocks noGrp="1"/>
          </p:cNvGraphicFramePr>
          <p:nvPr>
            <p:extLst>
              <p:ext uri="{D42A27DB-BD31-4B8C-83A1-F6EECF244321}">
                <p14:modId xmlns:p14="http://schemas.microsoft.com/office/powerpoint/2010/main" val="3084141584"/>
              </p:ext>
            </p:extLst>
          </p:nvPr>
        </p:nvGraphicFramePr>
        <p:xfrm>
          <a:off x="8197236" y="1586998"/>
          <a:ext cx="3372875" cy="1698260"/>
        </p:xfrm>
        <a:graphic>
          <a:graphicData uri="http://schemas.openxmlformats.org/drawingml/2006/table">
            <a:tbl>
              <a:tblPr>
                <a:tableStyleId>{5C22544A-7EE6-4342-B048-85BDC9FD1C3A}</a:tableStyleId>
              </a:tblPr>
              <a:tblGrid>
                <a:gridCol w="884351">
                  <a:extLst>
                    <a:ext uri="{9D8B030D-6E8A-4147-A177-3AD203B41FA5}">
                      <a16:colId xmlns:a16="http://schemas.microsoft.com/office/drawing/2014/main" val="3042862825"/>
                    </a:ext>
                  </a:extLst>
                </a:gridCol>
                <a:gridCol w="1244262">
                  <a:extLst>
                    <a:ext uri="{9D8B030D-6E8A-4147-A177-3AD203B41FA5}">
                      <a16:colId xmlns:a16="http://schemas.microsoft.com/office/drawing/2014/main" val="3241058480"/>
                    </a:ext>
                  </a:extLst>
                </a:gridCol>
                <a:gridCol w="1244262">
                  <a:extLst>
                    <a:ext uri="{9D8B030D-6E8A-4147-A177-3AD203B41FA5}">
                      <a16:colId xmlns:a16="http://schemas.microsoft.com/office/drawing/2014/main" val="476355002"/>
                    </a:ext>
                  </a:extLst>
                </a:gridCol>
              </a:tblGrid>
              <a:tr h="114185">
                <a:tc>
                  <a:txBody>
                    <a:bodyPr/>
                    <a:lstStyle/>
                    <a:p>
                      <a:pPr algn="l" fontAlgn="b"/>
                      <a:r>
                        <a:rPr lang="fr-FR" sz="1100" b="0" i="0" u="none" strike="noStrike" dirty="0">
                          <a:solidFill>
                            <a:srgbClr val="FFFFFF"/>
                          </a:solidFill>
                          <a:effectLst/>
                          <a:latin typeface="Calibri" panose="020F0502020204030204" pitchFamily="34" charset="0"/>
                        </a:rPr>
                        <a:t>Taux</a:t>
                      </a:r>
                    </a:p>
                  </a:txBody>
                  <a:tcPr marL="7620" marR="7620" marT="7620" marB="0" anchor="b">
                    <a:solidFill>
                      <a:schemeClr val="tx1"/>
                    </a:solidFill>
                  </a:tcPr>
                </a:tc>
                <a:tc>
                  <a:txBody>
                    <a:bodyPr/>
                    <a:lstStyle/>
                    <a:p>
                      <a:pPr algn="ctr" fontAlgn="b"/>
                      <a:r>
                        <a:rPr lang="fr-FR" sz="1100" u="none" strike="noStrike" dirty="0">
                          <a:solidFill>
                            <a:srgbClr val="FFFFFF"/>
                          </a:solidFill>
                          <a:effectLst/>
                        </a:rPr>
                        <a:t>Valeur baseline</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tc>
                  <a:txBody>
                    <a:bodyPr/>
                    <a:lstStyle/>
                    <a:p>
                      <a:pPr algn="ctr" fontAlgn="b"/>
                      <a:r>
                        <a:rPr lang="fr-FR" sz="1100" b="1" i="0" u="none" strike="noStrike" dirty="0">
                          <a:solidFill>
                            <a:srgbClr val="FFFFFF"/>
                          </a:solidFill>
                          <a:effectLst/>
                          <a:latin typeface="Calibri" panose="020F0502020204030204" pitchFamily="34" charset="0"/>
                        </a:rPr>
                        <a:t>Valeur adverse</a:t>
                      </a:r>
                    </a:p>
                  </a:txBody>
                  <a:tcPr marL="7620" marR="7620" marT="7620" marB="0" anchor="b">
                    <a:solidFill>
                      <a:schemeClr val="tx1"/>
                    </a:solidFill>
                  </a:tcPr>
                </a:tc>
                <a:extLst>
                  <a:ext uri="{0D108BD9-81ED-4DB2-BD59-A6C34878D82A}">
                    <a16:rowId xmlns:a16="http://schemas.microsoft.com/office/drawing/2014/main" val="317880372"/>
                  </a:ext>
                </a:extLst>
              </a:tr>
              <a:tr h="190375">
                <a:tc>
                  <a:txBody>
                    <a:bodyPr/>
                    <a:lstStyle/>
                    <a:p>
                      <a:pPr algn="l" fontAlgn="b"/>
                      <a:r>
                        <a:rPr lang="fr-FR" sz="1100" u="none" strike="noStrike" dirty="0">
                          <a:effectLst/>
                        </a:rPr>
                        <a:t>Taux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i="0" u="none" strike="noStrike" dirty="0">
                          <a:solidFill>
                            <a:srgbClr val="000000"/>
                          </a:solidFill>
                          <a:effectLst/>
                          <a:latin typeface="+mn-lt"/>
                        </a:rPr>
                        <a:t>3,65%</a:t>
                      </a:r>
                    </a:p>
                  </a:txBody>
                  <a:tcPr marL="7620" marR="7620" marT="7620" marB="0" anchor="b"/>
                </a:tc>
                <a:tc>
                  <a:txBody>
                    <a:bodyPr/>
                    <a:lstStyle/>
                    <a:p>
                      <a:pPr algn="ctr" fontAlgn="b"/>
                      <a:r>
                        <a:rPr lang="fr-FR" sz="1100" b="1" i="0" u="none" strike="noStrike" dirty="0">
                          <a:solidFill>
                            <a:srgbClr val="000000"/>
                          </a:solidFill>
                          <a:effectLst/>
                          <a:latin typeface="+mn-lt"/>
                        </a:rPr>
                        <a:t>3,65%</a:t>
                      </a:r>
                    </a:p>
                  </a:txBody>
                  <a:tcPr marL="7620" marR="7620" marT="7620" marB="0" anchor="b"/>
                </a:tc>
                <a:extLst>
                  <a:ext uri="{0D108BD9-81ED-4DB2-BD59-A6C34878D82A}">
                    <a16:rowId xmlns:a16="http://schemas.microsoft.com/office/drawing/2014/main" val="2270652949"/>
                  </a:ext>
                </a:extLst>
              </a:tr>
              <a:tr h="190375">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b="0" u="none" strike="noStrike" dirty="0">
                          <a:effectLst/>
                        </a:rPr>
                        <a:t>Taux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2,91%</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4,43%</a:t>
                      </a:r>
                    </a:p>
                  </a:txBody>
                  <a:tcPr marL="7620" marR="7620" marT="7620" marB="0" anchor="b"/>
                </a:tc>
                <a:extLst>
                  <a:ext uri="{0D108BD9-81ED-4DB2-BD59-A6C34878D82A}">
                    <a16:rowId xmlns:a16="http://schemas.microsoft.com/office/drawing/2014/main" val="924623812"/>
                  </a:ext>
                </a:extLst>
              </a:tr>
              <a:tr h="190375">
                <a:tc>
                  <a:txBody>
                    <a:bodyPr/>
                    <a:lstStyle/>
                    <a:p>
                      <a:pPr algn="l" fontAlgn="b"/>
                      <a:r>
                        <a:rPr lang="fr-FR" sz="1100" b="0"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13043668"/>
                  </a:ext>
                </a:extLst>
              </a:tr>
              <a:tr h="190375">
                <a:tc>
                  <a:txBody>
                    <a:bodyPr/>
                    <a:lstStyle/>
                    <a:p>
                      <a:pPr algn="l" fontAlgn="b"/>
                      <a:r>
                        <a:rPr lang="fr-FR" sz="1100" b="0"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314595148"/>
                  </a:ext>
                </a:extLst>
              </a:tr>
              <a:tr h="190375">
                <a:tc>
                  <a:txBody>
                    <a:bodyPr/>
                    <a:lstStyle/>
                    <a:p>
                      <a:pPr algn="l" fontAlgn="b"/>
                      <a:r>
                        <a:rPr lang="fr-FR" sz="1100" b="0" i="0" u="none" strike="noStrike" dirty="0">
                          <a:solidFill>
                            <a:srgbClr val="000000"/>
                          </a:solidFill>
                          <a:effectLst/>
                          <a:latin typeface="Calibri" panose="020F0502020204030204" pitchFamily="34" charset="0"/>
                        </a:rPr>
                        <a:t>Taux 11</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2,47%</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3,51%</a:t>
                      </a:r>
                    </a:p>
                  </a:txBody>
                  <a:tcPr marL="7620" marR="7620" marT="7620" marB="0" anchor="b"/>
                </a:tc>
                <a:extLst>
                  <a:ext uri="{0D108BD9-81ED-4DB2-BD59-A6C34878D82A}">
                    <a16:rowId xmlns:a16="http://schemas.microsoft.com/office/drawing/2014/main" val="3711581075"/>
                  </a:ext>
                </a:extLst>
              </a:tr>
              <a:tr h="190375">
                <a:tc>
                  <a:txBody>
                    <a:bodyPr/>
                    <a:lstStyle/>
                    <a:p>
                      <a:pPr algn="l" fontAlgn="b"/>
                      <a:r>
                        <a:rPr lang="fr-FR" sz="1100" b="0" i="0" u="none" strike="noStrike" dirty="0">
                          <a:solidFill>
                            <a:srgbClr val="000000"/>
                          </a:solidFill>
                          <a:effectLst/>
                          <a:latin typeface="Calibri" panose="020F0502020204030204" pitchFamily="34" charset="0"/>
                        </a:rPr>
                        <a:t>Taux 12</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2,47%</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3,51%</a:t>
                      </a:r>
                    </a:p>
                  </a:txBody>
                  <a:tcPr marL="7620" marR="7620" marT="7620" marB="0" anchor="b"/>
                </a:tc>
                <a:extLst>
                  <a:ext uri="{0D108BD9-81ED-4DB2-BD59-A6C34878D82A}">
                    <a16:rowId xmlns:a16="http://schemas.microsoft.com/office/drawing/2014/main" val="3310413453"/>
                  </a:ext>
                </a:extLst>
              </a:tr>
              <a:tr h="190375">
                <a:tc>
                  <a:txBody>
                    <a:bodyPr/>
                    <a:lstStyle/>
                    <a:p>
                      <a:pPr algn="l" fontAlgn="b"/>
                      <a:r>
                        <a:rPr lang="fr-FR" sz="1100" u="none" strike="noStrike" dirty="0">
                          <a:effectLst/>
                        </a:rPr>
                        <a:t>Marge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0.20%</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rPr>
                        <a:t>0,20%</a:t>
                      </a:r>
                    </a:p>
                  </a:txBody>
                  <a:tcPr marL="7620" marR="7620" marT="7620" marB="0" anchor="b"/>
                </a:tc>
                <a:extLst>
                  <a:ext uri="{0D108BD9-81ED-4DB2-BD59-A6C34878D82A}">
                    <a16:rowId xmlns:a16="http://schemas.microsoft.com/office/drawing/2014/main" val="853942388"/>
                  </a:ext>
                </a:extLst>
              </a:tr>
              <a:tr h="190375">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Marge 2</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0,33%</a:t>
                      </a:r>
                    </a:p>
                  </a:txBody>
                  <a:tcPr marL="7620" marR="7620" marT="7620" marB="0" anchor="b"/>
                </a:tc>
                <a:extLst>
                  <a:ext uri="{0D108BD9-81ED-4DB2-BD59-A6C34878D82A}">
                    <a16:rowId xmlns:a16="http://schemas.microsoft.com/office/drawing/2014/main" val="1477300222"/>
                  </a:ext>
                </a:extLst>
              </a:tr>
            </a:tbl>
          </a:graphicData>
        </a:graphic>
      </p:graphicFrame>
      <p:sp>
        <p:nvSpPr>
          <p:cNvPr id="34" name="Espace réservé du texte 16">
            <a:extLst>
              <a:ext uri="{FF2B5EF4-FFF2-40B4-BE49-F238E27FC236}">
                <a16:creationId xmlns:a16="http://schemas.microsoft.com/office/drawing/2014/main" id="{5319D28D-6A0A-A424-05D3-A79637CAC850}"/>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306648751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2 – Emprunt à taux révisable : Détermination des taux sans risques futurs</a:t>
            </a:r>
          </a:p>
        </p:txBody>
      </p:sp>
      <p:sp>
        <p:nvSpPr>
          <p:cNvPr id="34" name="ZoneTexte 16">
            <a:extLst>
              <a:ext uri="{FF2B5EF4-FFF2-40B4-BE49-F238E27FC236}">
                <a16:creationId xmlns:a16="http://schemas.microsoft.com/office/drawing/2014/main" id="{9DE2B094-13A7-9F98-5D81-A54B00D6A050}"/>
              </a:ext>
            </a:extLst>
          </p:cNvPr>
          <p:cNvSpPr txBox="1"/>
          <p:nvPr/>
        </p:nvSpPr>
        <p:spPr>
          <a:xfrm>
            <a:off x="739727" y="2459069"/>
            <a:ext cx="10838656" cy="4104407"/>
          </a:xfrm>
          <a:prstGeom prst="rect">
            <a:avLst/>
          </a:prstGeom>
          <a:solidFill>
            <a:schemeClr val="tx2">
              <a:lumMod val="40000"/>
              <a:lumOff val="60000"/>
              <a:alpha val="16000"/>
            </a:schemeClr>
          </a:solidFill>
          <a:ln>
            <a:solidFill>
              <a:schemeClr val="accent2"/>
            </a:solidFill>
          </a:ln>
        </p:spPr>
        <p:txBody>
          <a:bodyPr wrap="square">
            <a:noAutofit/>
          </a:bodyPr>
          <a:lstStyle/>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100" b="1" i="0" u="none" strike="noStrike" kern="1200" cap="none" spc="0" normalizeH="0" baseline="0" noProof="0" dirty="0">
                <a:ln>
                  <a:noFill/>
                </a:ln>
                <a:solidFill>
                  <a:srgbClr val="00B050"/>
                </a:solidFill>
                <a:effectLst/>
                <a:uLnTx/>
                <a:uFillTx/>
                <a:latin typeface="Calibri (body)"/>
                <a:ea typeface="Calibri" panose="020F0502020204030204" pitchFamily="34" charset="0"/>
                <a:cs typeface="Calibri" panose="020F0502020204030204" pitchFamily="34" charset="0"/>
              </a:rPr>
              <a:t>Pour les taux de référence </a:t>
            </a:r>
            <a:r>
              <a:rPr kumimoji="0" lang="fr-FR" sz="1100" b="1"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 </a:t>
            </a: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Les données issues du cadrage macro-économique de taux sans risques sont utilisées, de la même manière que pour le deal précédent :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Les données de 2023, appliquées à 2025 indiquent  sur la courbe Euribor 3 M:</a:t>
            </a: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Soit:</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p:txBody>
      </p:sp>
      <p:graphicFrame>
        <p:nvGraphicFramePr>
          <p:cNvPr id="35" name="Table 34">
            <a:extLst>
              <a:ext uri="{FF2B5EF4-FFF2-40B4-BE49-F238E27FC236}">
                <a16:creationId xmlns:a16="http://schemas.microsoft.com/office/drawing/2014/main" id="{01052E7A-73A5-1FF4-8303-CBFC5880489F}"/>
              </a:ext>
            </a:extLst>
          </p:cNvPr>
          <p:cNvGraphicFramePr>
            <a:graphicFrameLocks noGrp="1"/>
          </p:cNvGraphicFramePr>
          <p:nvPr>
            <p:extLst>
              <p:ext uri="{D42A27DB-BD31-4B8C-83A1-F6EECF244321}">
                <p14:modId xmlns:p14="http://schemas.microsoft.com/office/powerpoint/2010/main" val="2948634976"/>
              </p:ext>
            </p:extLst>
          </p:nvPr>
        </p:nvGraphicFramePr>
        <p:xfrm>
          <a:off x="809403" y="4356865"/>
          <a:ext cx="5269205" cy="748997"/>
        </p:xfrm>
        <a:graphic>
          <a:graphicData uri="http://schemas.openxmlformats.org/drawingml/2006/table">
            <a:tbl>
              <a:tblPr>
                <a:tableStyleId>{5C22544A-7EE6-4342-B048-85BDC9FD1C3A}</a:tableStyleId>
              </a:tblPr>
              <a:tblGrid>
                <a:gridCol w="1446357">
                  <a:extLst>
                    <a:ext uri="{9D8B030D-6E8A-4147-A177-3AD203B41FA5}">
                      <a16:colId xmlns:a16="http://schemas.microsoft.com/office/drawing/2014/main" val="2414715135"/>
                    </a:ext>
                  </a:extLst>
                </a:gridCol>
                <a:gridCol w="528849">
                  <a:extLst>
                    <a:ext uri="{9D8B030D-6E8A-4147-A177-3AD203B41FA5}">
                      <a16:colId xmlns:a16="http://schemas.microsoft.com/office/drawing/2014/main" val="460327212"/>
                    </a:ext>
                  </a:extLst>
                </a:gridCol>
                <a:gridCol w="756000">
                  <a:extLst>
                    <a:ext uri="{9D8B030D-6E8A-4147-A177-3AD203B41FA5}">
                      <a16:colId xmlns:a16="http://schemas.microsoft.com/office/drawing/2014/main" val="887882823"/>
                    </a:ext>
                  </a:extLst>
                </a:gridCol>
                <a:gridCol w="1296000">
                  <a:extLst>
                    <a:ext uri="{9D8B030D-6E8A-4147-A177-3AD203B41FA5}">
                      <a16:colId xmlns:a16="http://schemas.microsoft.com/office/drawing/2014/main" val="4108423645"/>
                    </a:ext>
                  </a:extLst>
                </a:gridCol>
                <a:gridCol w="1241999">
                  <a:extLst>
                    <a:ext uri="{9D8B030D-6E8A-4147-A177-3AD203B41FA5}">
                      <a16:colId xmlns:a16="http://schemas.microsoft.com/office/drawing/2014/main" val="3177001386"/>
                    </a:ext>
                  </a:extLst>
                </a:gridCol>
              </a:tblGrid>
              <a:tr h="206057">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Durée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a:t>
                      </a:r>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Year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2226423331"/>
                  </a:ext>
                </a:extLst>
              </a:tr>
              <a:tr h="122220">
                <a:tc>
                  <a:txBody>
                    <a:bodyPr/>
                    <a:lstStyle/>
                    <a:p>
                      <a:pPr algn="l" fontAlgn="b"/>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2-4</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3M</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2,91% </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4,43%</a:t>
                      </a:r>
                    </a:p>
                  </a:txBody>
                  <a:tcPr marL="7620" marR="7620" marT="7620" marB="0" anchor="b"/>
                </a:tc>
                <a:extLst>
                  <a:ext uri="{0D108BD9-81ED-4DB2-BD59-A6C34878D82A}">
                    <a16:rowId xmlns:a16="http://schemas.microsoft.com/office/drawing/2014/main" val="3387536283"/>
                  </a:ext>
                </a:extLst>
              </a:tr>
              <a:tr h="19242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5-8</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3M</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2026</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2,71%</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3,92%</a:t>
                      </a:r>
                    </a:p>
                  </a:txBody>
                  <a:tcPr marL="7620" marR="7620" marT="7620" marB="0" anchor="b"/>
                </a:tc>
                <a:extLst>
                  <a:ext uri="{0D108BD9-81ED-4DB2-BD59-A6C34878D82A}">
                    <a16:rowId xmlns:a16="http://schemas.microsoft.com/office/drawing/2014/main" val="3339605865"/>
                  </a:ext>
                </a:extLst>
              </a:tr>
              <a:tr h="140697">
                <a:tc>
                  <a:txBody>
                    <a:bodyPr/>
                    <a:lstStyle/>
                    <a:p>
                      <a:pPr algn="l" fontAlgn="b"/>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9-12</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3M</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2027</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2,47%</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3,51%</a:t>
                      </a:r>
                    </a:p>
                  </a:txBody>
                  <a:tcPr marL="7620" marR="7620" marT="7620" marB="0" anchor="b"/>
                </a:tc>
                <a:extLst>
                  <a:ext uri="{0D108BD9-81ED-4DB2-BD59-A6C34878D82A}">
                    <a16:rowId xmlns:a16="http://schemas.microsoft.com/office/drawing/2014/main" val="522921818"/>
                  </a:ext>
                </a:extLst>
              </a:tr>
            </a:tbl>
          </a:graphicData>
        </a:graphic>
      </p:graphicFrame>
      <p:graphicFrame>
        <p:nvGraphicFramePr>
          <p:cNvPr id="36" name="Table 35">
            <a:extLst>
              <a:ext uri="{FF2B5EF4-FFF2-40B4-BE49-F238E27FC236}">
                <a16:creationId xmlns:a16="http://schemas.microsoft.com/office/drawing/2014/main" id="{E6C9DF47-4ACB-3267-8823-279B5A941136}"/>
              </a:ext>
            </a:extLst>
          </p:cNvPr>
          <p:cNvGraphicFramePr>
            <a:graphicFrameLocks noGrp="1"/>
          </p:cNvGraphicFramePr>
          <p:nvPr>
            <p:extLst>
              <p:ext uri="{D42A27DB-BD31-4B8C-83A1-F6EECF244321}">
                <p14:modId xmlns:p14="http://schemas.microsoft.com/office/powerpoint/2010/main" val="3211120052"/>
              </p:ext>
            </p:extLst>
          </p:nvPr>
        </p:nvGraphicFramePr>
        <p:xfrm>
          <a:off x="779082" y="3099610"/>
          <a:ext cx="6489700" cy="548640"/>
        </p:xfrm>
        <a:graphic>
          <a:graphicData uri="http://schemas.openxmlformats.org/drawingml/2006/table">
            <a:tbl>
              <a:tblPr>
                <a:tableStyleId>{5C22544A-7EE6-4342-B048-85BDC9FD1C3A}</a:tableStyleId>
              </a:tblPr>
              <a:tblGrid>
                <a:gridCol w="1374087">
                  <a:extLst>
                    <a:ext uri="{9D8B030D-6E8A-4147-A177-3AD203B41FA5}">
                      <a16:colId xmlns:a16="http://schemas.microsoft.com/office/drawing/2014/main" val="1617607656"/>
                    </a:ext>
                  </a:extLst>
                </a:gridCol>
                <a:gridCol w="901745">
                  <a:extLst>
                    <a:ext uri="{9D8B030D-6E8A-4147-A177-3AD203B41FA5}">
                      <a16:colId xmlns:a16="http://schemas.microsoft.com/office/drawing/2014/main" val="3110234048"/>
                    </a:ext>
                  </a:extLst>
                </a:gridCol>
                <a:gridCol w="916058">
                  <a:extLst>
                    <a:ext uri="{9D8B030D-6E8A-4147-A177-3AD203B41FA5}">
                      <a16:colId xmlns:a16="http://schemas.microsoft.com/office/drawing/2014/main" val="2211644078"/>
                    </a:ext>
                  </a:extLst>
                </a:gridCol>
                <a:gridCol w="549635">
                  <a:extLst>
                    <a:ext uri="{9D8B030D-6E8A-4147-A177-3AD203B41FA5}">
                      <a16:colId xmlns:a16="http://schemas.microsoft.com/office/drawing/2014/main" val="769823231"/>
                    </a:ext>
                  </a:extLst>
                </a:gridCol>
                <a:gridCol w="549635">
                  <a:extLst>
                    <a:ext uri="{9D8B030D-6E8A-4147-A177-3AD203B41FA5}">
                      <a16:colId xmlns:a16="http://schemas.microsoft.com/office/drawing/2014/main" val="2983393761"/>
                    </a:ext>
                  </a:extLst>
                </a:gridCol>
                <a:gridCol w="549635">
                  <a:extLst>
                    <a:ext uri="{9D8B030D-6E8A-4147-A177-3AD203B41FA5}">
                      <a16:colId xmlns:a16="http://schemas.microsoft.com/office/drawing/2014/main" val="3915905733"/>
                    </a:ext>
                  </a:extLst>
                </a:gridCol>
                <a:gridCol w="549635">
                  <a:extLst>
                    <a:ext uri="{9D8B030D-6E8A-4147-A177-3AD203B41FA5}">
                      <a16:colId xmlns:a16="http://schemas.microsoft.com/office/drawing/2014/main" val="4190293990"/>
                    </a:ext>
                  </a:extLst>
                </a:gridCol>
                <a:gridCol w="549635">
                  <a:extLst>
                    <a:ext uri="{9D8B030D-6E8A-4147-A177-3AD203B41FA5}">
                      <a16:colId xmlns:a16="http://schemas.microsoft.com/office/drawing/2014/main" val="3126825574"/>
                    </a:ext>
                  </a:extLst>
                </a:gridCol>
                <a:gridCol w="549635">
                  <a:extLst>
                    <a:ext uri="{9D8B030D-6E8A-4147-A177-3AD203B41FA5}">
                      <a16:colId xmlns:a16="http://schemas.microsoft.com/office/drawing/2014/main" val="164507706"/>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Tenor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point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gridSpan="3">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tc gridSpan="3">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449581099"/>
                  </a:ext>
                </a:extLst>
              </a:tr>
              <a:tr h="182880">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Data cadrage macro</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2024 – Latest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411976108"/>
                  </a:ext>
                </a:extLst>
              </a:tr>
              <a:tr h="182880">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Swap rates - EUR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3M</a:t>
                      </a: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2,91%</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2,71%</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2,47%</a:t>
                      </a: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4,43%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3,92%</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3,51%</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714933764"/>
                  </a:ext>
                </a:extLst>
              </a:tr>
            </a:tbl>
          </a:graphicData>
        </a:graphic>
      </p:graphicFrame>
      <p:cxnSp>
        <p:nvCxnSpPr>
          <p:cNvPr id="37" name="Straight Arrow Connector 36">
            <a:extLst>
              <a:ext uri="{FF2B5EF4-FFF2-40B4-BE49-F238E27FC236}">
                <a16:creationId xmlns:a16="http://schemas.microsoft.com/office/drawing/2014/main" id="{C719C5DB-7A1E-8699-E644-A9A58B86F2FD}"/>
              </a:ext>
            </a:extLst>
          </p:cNvPr>
          <p:cNvCxnSpPr/>
          <p:nvPr/>
        </p:nvCxnSpPr>
        <p:spPr>
          <a:xfrm>
            <a:off x="934345" y="1997342"/>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2FBEF58C-AECD-E9DB-F606-4C8B49EE90D0}"/>
              </a:ext>
            </a:extLst>
          </p:cNvPr>
          <p:cNvSpPr/>
          <p:nvPr/>
        </p:nvSpPr>
        <p:spPr>
          <a:xfrm>
            <a:off x="934345" y="1688132"/>
            <a:ext cx="5560057" cy="238182"/>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                                                                                            Marge 1 </a:t>
            </a:r>
          </a:p>
        </p:txBody>
      </p:sp>
      <p:sp>
        <p:nvSpPr>
          <p:cNvPr id="39" name="TextBox 38">
            <a:extLst>
              <a:ext uri="{FF2B5EF4-FFF2-40B4-BE49-F238E27FC236}">
                <a16:creationId xmlns:a16="http://schemas.microsoft.com/office/drawing/2014/main" id="{5B49A062-320C-35CC-97A3-3BA17B160ABC}"/>
              </a:ext>
            </a:extLst>
          </p:cNvPr>
          <p:cNvSpPr txBox="1"/>
          <p:nvPr/>
        </p:nvSpPr>
        <p:spPr>
          <a:xfrm>
            <a:off x="779082" y="203256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31.12.23</a:t>
            </a:r>
          </a:p>
        </p:txBody>
      </p:sp>
      <p:sp>
        <p:nvSpPr>
          <p:cNvPr id="40" name="TextBox 39">
            <a:extLst>
              <a:ext uri="{FF2B5EF4-FFF2-40B4-BE49-F238E27FC236}">
                <a16:creationId xmlns:a16="http://schemas.microsoft.com/office/drawing/2014/main" id="{9DB5BDD9-4B86-D913-CF90-8C630E29CF66}"/>
              </a:ext>
            </a:extLst>
          </p:cNvPr>
          <p:cNvSpPr txBox="1"/>
          <p:nvPr/>
        </p:nvSpPr>
        <p:spPr>
          <a:xfrm>
            <a:off x="6116402" y="2044502"/>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30.06.26</a:t>
            </a:r>
          </a:p>
        </p:txBody>
      </p:sp>
      <p:sp>
        <p:nvSpPr>
          <p:cNvPr id="41" name="TextBox 40">
            <a:extLst>
              <a:ext uri="{FF2B5EF4-FFF2-40B4-BE49-F238E27FC236}">
                <a16:creationId xmlns:a16="http://schemas.microsoft.com/office/drawing/2014/main" id="{0EBA4DE2-E1B9-F37F-68FF-B351349A8B2D}"/>
              </a:ext>
            </a:extLst>
          </p:cNvPr>
          <p:cNvSpPr txBox="1"/>
          <p:nvPr/>
        </p:nvSpPr>
        <p:spPr>
          <a:xfrm>
            <a:off x="9749896" y="2031419"/>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31.12.27</a:t>
            </a:r>
          </a:p>
        </p:txBody>
      </p:sp>
      <p:sp>
        <p:nvSpPr>
          <p:cNvPr id="42" name="TextBox 41">
            <a:extLst>
              <a:ext uri="{FF2B5EF4-FFF2-40B4-BE49-F238E27FC236}">
                <a16:creationId xmlns:a16="http://schemas.microsoft.com/office/drawing/2014/main" id="{CAE377E9-D105-C909-340F-7F55C13EB5F0}"/>
              </a:ext>
            </a:extLst>
          </p:cNvPr>
          <p:cNvSpPr txBox="1"/>
          <p:nvPr/>
        </p:nvSpPr>
        <p:spPr>
          <a:xfrm>
            <a:off x="2669082" y="2037646"/>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31.12.24</a:t>
            </a:r>
          </a:p>
        </p:txBody>
      </p:sp>
      <p:sp>
        <p:nvSpPr>
          <p:cNvPr id="43" name="Rectangle 42">
            <a:extLst>
              <a:ext uri="{FF2B5EF4-FFF2-40B4-BE49-F238E27FC236}">
                <a16:creationId xmlns:a16="http://schemas.microsoft.com/office/drawing/2014/main" id="{9C654DB7-868D-8E04-DD26-6598905202EB}"/>
              </a:ext>
            </a:extLst>
          </p:cNvPr>
          <p:cNvSpPr/>
          <p:nvPr/>
        </p:nvSpPr>
        <p:spPr>
          <a:xfrm>
            <a:off x="6644095" y="1688129"/>
            <a:ext cx="5407367"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                                                                     Marge 2                 </a:t>
            </a:r>
          </a:p>
        </p:txBody>
      </p:sp>
      <p:sp>
        <p:nvSpPr>
          <p:cNvPr id="44" name="Rectangle 43">
            <a:extLst>
              <a:ext uri="{FF2B5EF4-FFF2-40B4-BE49-F238E27FC236}">
                <a16:creationId xmlns:a16="http://schemas.microsoft.com/office/drawing/2014/main" id="{2F902356-E78D-BF26-6609-5384A2CFB622}"/>
              </a:ext>
            </a:extLst>
          </p:cNvPr>
          <p:cNvSpPr/>
          <p:nvPr/>
        </p:nvSpPr>
        <p:spPr>
          <a:xfrm>
            <a:off x="10052255" y="1680092"/>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45" name="Rectangle 44">
            <a:extLst>
              <a:ext uri="{FF2B5EF4-FFF2-40B4-BE49-F238E27FC236}">
                <a16:creationId xmlns:a16="http://schemas.microsoft.com/office/drawing/2014/main" id="{D5D1694F-0688-98F1-3B96-07AC21226D40}"/>
              </a:ext>
            </a:extLst>
          </p:cNvPr>
          <p:cNvSpPr/>
          <p:nvPr/>
        </p:nvSpPr>
        <p:spPr>
          <a:xfrm>
            <a:off x="935560" y="1688129"/>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46" name="Rectangle 45">
            <a:extLst>
              <a:ext uri="{FF2B5EF4-FFF2-40B4-BE49-F238E27FC236}">
                <a16:creationId xmlns:a16="http://schemas.microsoft.com/office/drawing/2014/main" id="{63A466B0-1552-C925-18BF-C1F7DB01D7A1}"/>
              </a:ext>
            </a:extLst>
          </p:cNvPr>
          <p:cNvSpPr/>
          <p:nvPr/>
        </p:nvSpPr>
        <p:spPr>
          <a:xfrm>
            <a:off x="1373082" y="1407704"/>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1</a:t>
            </a:r>
          </a:p>
        </p:txBody>
      </p:sp>
      <p:sp>
        <p:nvSpPr>
          <p:cNvPr id="47" name="Rectangle 46">
            <a:extLst>
              <a:ext uri="{FF2B5EF4-FFF2-40B4-BE49-F238E27FC236}">
                <a16:creationId xmlns:a16="http://schemas.microsoft.com/office/drawing/2014/main" id="{7B26E7D2-BE15-B606-A03A-06CD347D225E}"/>
              </a:ext>
            </a:extLst>
          </p:cNvPr>
          <p:cNvSpPr/>
          <p:nvPr/>
        </p:nvSpPr>
        <p:spPr>
          <a:xfrm>
            <a:off x="3774282"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2</a:t>
            </a:r>
          </a:p>
        </p:txBody>
      </p:sp>
      <p:sp>
        <p:nvSpPr>
          <p:cNvPr id="48" name="Rectangle 47">
            <a:extLst>
              <a:ext uri="{FF2B5EF4-FFF2-40B4-BE49-F238E27FC236}">
                <a16:creationId xmlns:a16="http://schemas.microsoft.com/office/drawing/2014/main" id="{FD5D93E5-1956-F9B8-EEC7-22359CC9827D}"/>
              </a:ext>
            </a:extLst>
          </p:cNvPr>
          <p:cNvSpPr/>
          <p:nvPr/>
        </p:nvSpPr>
        <p:spPr>
          <a:xfrm>
            <a:off x="9422563" y="1394751"/>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000000"/>
                </a:solidFill>
                <a:effectLst/>
                <a:uLnTx/>
                <a:uFillTx/>
                <a:latin typeface="Calibri (body)"/>
              </a:rPr>
              <a:t>Taux 12</a:t>
            </a:r>
          </a:p>
        </p:txBody>
      </p:sp>
      <p:sp>
        <p:nvSpPr>
          <p:cNvPr id="49" name="Rectangle 48">
            <a:extLst>
              <a:ext uri="{FF2B5EF4-FFF2-40B4-BE49-F238E27FC236}">
                <a16:creationId xmlns:a16="http://schemas.microsoft.com/office/drawing/2014/main" id="{5133943B-FFB5-5831-3913-F54424CE29F4}"/>
              </a:ext>
            </a:extLst>
          </p:cNvPr>
          <p:cNvSpPr/>
          <p:nvPr/>
        </p:nvSpPr>
        <p:spPr>
          <a:xfrm>
            <a:off x="10052255" y="1394751"/>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000000"/>
              </a:solidFill>
              <a:effectLst/>
              <a:uLnTx/>
              <a:uFillTx/>
              <a:latin typeface="Calibri (body)"/>
            </a:endParaRPr>
          </a:p>
        </p:txBody>
      </p:sp>
      <p:sp>
        <p:nvSpPr>
          <p:cNvPr id="50" name="Rectangle 49">
            <a:extLst>
              <a:ext uri="{FF2B5EF4-FFF2-40B4-BE49-F238E27FC236}">
                <a16:creationId xmlns:a16="http://schemas.microsoft.com/office/drawing/2014/main" id="{F73161C6-00C7-796A-C90A-AB9A9C98DBB3}"/>
              </a:ext>
            </a:extLst>
          </p:cNvPr>
          <p:cNvSpPr/>
          <p:nvPr/>
        </p:nvSpPr>
        <p:spPr>
          <a:xfrm>
            <a:off x="935560" y="1396510"/>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51" name="TextBox 50">
            <a:extLst>
              <a:ext uri="{FF2B5EF4-FFF2-40B4-BE49-F238E27FC236}">
                <a16:creationId xmlns:a16="http://schemas.microsoft.com/office/drawing/2014/main" id="{921CAFD9-EC72-29D9-274F-BA48A303813B}"/>
              </a:ext>
            </a:extLst>
          </p:cNvPr>
          <p:cNvSpPr txBox="1"/>
          <p:nvPr/>
        </p:nvSpPr>
        <p:spPr>
          <a:xfrm>
            <a:off x="116971" y="1310760"/>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Taux</a:t>
            </a:r>
          </a:p>
        </p:txBody>
      </p:sp>
      <p:sp>
        <p:nvSpPr>
          <p:cNvPr id="52" name="TextBox 51">
            <a:extLst>
              <a:ext uri="{FF2B5EF4-FFF2-40B4-BE49-F238E27FC236}">
                <a16:creationId xmlns:a16="http://schemas.microsoft.com/office/drawing/2014/main" id="{9C1EEABD-AE9A-F03B-708F-5D929CA67BE3}"/>
              </a:ext>
            </a:extLst>
          </p:cNvPr>
          <p:cNvSpPr txBox="1"/>
          <p:nvPr/>
        </p:nvSpPr>
        <p:spPr>
          <a:xfrm>
            <a:off x="130371" y="1642731"/>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Marge</a:t>
            </a:r>
          </a:p>
        </p:txBody>
      </p:sp>
      <p:sp>
        <p:nvSpPr>
          <p:cNvPr id="53" name="Rectangle 52">
            <a:extLst>
              <a:ext uri="{FF2B5EF4-FFF2-40B4-BE49-F238E27FC236}">
                <a16:creationId xmlns:a16="http://schemas.microsoft.com/office/drawing/2014/main" id="{5C4A47D8-9106-B8EC-B0BF-5AC621938DD5}"/>
              </a:ext>
            </a:extLst>
          </p:cNvPr>
          <p:cNvSpPr/>
          <p:nvPr/>
        </p:nvSpPr>
        <p:spPr>
          <a:xfrm>
            <a:off x="4325612"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3</a:t>
            </a:r>
          </a:p>
        </p:txBody>
      </p:sp>
      <p:sp>
        <p:nvSpPr>
          <p:cNvPr id="54" name="Rectangle 53">
            <a:extLst>
              <a:ext uri="{FF2B5EF4-FFF2-40B4-BE49-F238E27FC236}">
                <a16:creationId xmlns:a16="http://schemas.microsoft.com/office/drawing/2014/main" id="{37D9865E-ABE0-F5C5-AE2C-33623BDAC77F}"/>
              </a:ext>
            </a:extLst>
          </p:cNvPr>
          <p:cNvSpPr/>
          <p:nvPr/>
        </p:nvSpPr>
        <p:spPr>
          <a:xfrm>
            <a:off x="4876942"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4</a:t>
            </a:r>
          </a:p>
        </p:txBody>
      </p:sp>
      <p:sp>
        <p:nvSpPr>
          <p:cNvPr id="55" name="Rectangle 54">
            <a:extLst>
              <a:ext uri="{FF2B5EF4-FFF2-40B4-BE49-F238E27FC236}">
                <a16:creationId xmlns:a16="http://schemas.microsoft.com/office/drawing/2014/main" id="{85C78672-4BCE-5098-83F1-C1134EE5FBE3}"/>
              </a:ext>
            </a:extLst>
          </p:cNvPr>
          <p:cNvSpPr/>
          <p:nvPr/>
        </p:nvSpPr>
        <p:spPr>
          <a:xfrm>
            <a:off x="5428272"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5</a:t>
            </a:r>
          </a:p>
        </p:txBody>
      </p:sp>
      <p:sp>
        <p:nvSpPr>
          <p:cNvPr id="56" name="Rectangle 55">
            <a:extLst>
              <a:ext uri="{FF2B5EF4-FFF2-40B4-BE49-F238E27FC236}">
                <a16:creationId xmlns:a16="http://schemas.microsoft.com/office/drawing/2014/main" id="{1F5017C3-EED5-90E5-D046-4D4BBC2880BA}"/>
              </a:ext>
            </a:extLst>
          </p:cNvPr>
          <p:cNvSpPr/>
          <p:nvPr/>
        </p:nvSpPr>
        <p:spPr>
          <a:xfrm>
            <a:off x="5979602"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6</a:t>
            </a:r>
          </a:p>
        </p:txBody>
      </p:sp>
      <p:sp>
        <p:nvSpPr>
          <p:cNvPr id="57" name="Rectangle 56">
            <a:extLst>
              <a:ext uri="{FF2B5EF4-FFF2-40B4-BE49-F238E27FC236}">
                <a16:creationId xmlns:a16="http://schemas.microsoft.com/office/drawing/2014/main" id="{A95CEF93-8B92-58A6-0BEF-E136AD819C0F}"/>
              </a:ext>
            </a:extLst>
          </p:cNvPr>
          <p:cNvSpPr/>
          <p:nvPr/>
        </p:nvSpPr>
        <p:spPr>
          <a:xfrm>
            <a:off x="6657694"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7</a:t>
            </a:r>
          </a:p>
        </p:txBody>
      </p:sp>
      <p:sp>
        <p:nvSpPr>
          <p:cNvPr id="58" name="Rectangle 57">
            <a:extLst>
              <a:ext uri="{FF2B5EF4-FFF2-40B4-BE49-F238E27FC236}">
                <a16:creationId xmlns:a16="http://schemas.microsoft.com/office/drawing/2014/main" id="{56BC17C9-B61E-8C60-665E-FD4487DE5BBD}"/>
              </a:ext>
            </a:extLst>
          </p:cNvPr>
          <p:cNvSpPr/>
          <p:nvPr/>
        </p:nvSpPr>
        <p:spPr>
          <a:xfrm>
            <a:off x="7209865"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8</a:t>
            </a:r>
          </a:p>
        </p:txBody>
      </p:sp>
      <p:sp>
        <p:nvSpPr>
          <p:cNvPr id="59" name="Rectangle 58">
            <a:extLst>
              <a:ext uri="{FF2B5EF4-FFF2-40B4-BE49-F238E27FC236}">
                <a16:creationId xmlns:a16="http://schemas.microsoft.com/office/drawing/2014/main" id="{B399DA74-C7B5-656E-3021-59F40093F9FF}"/>
              </a:ext>
            </a:extLst>
          </p:cNvPr>
          <p:cNvSpPr/>
          <p:nvPr/>
        </p:nvSpPr>
        <p:spPr>
          <a:xfrm>
            <a:off x="7762036"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9</a:t>
            </a:r>
          </a:p>
        </p:txBody>
      </p:sp>
      <p:sp>
        <p:nvSpPr>
          <p:cNvPr id="60" name="Rectangle 59">
            <a:extLst>
              <a:ext uri="{FF2B5EF4-FFF2-40B4-BE49-F238E27FC236}">
                <a16:creationId xmlns:a16="http://schemas.microsoft.com/office/drawing/2014/main" id="{535B3649-73AC-3984-345D-F2324C917818}"/>
              </a:ext>
            </a:extLst>
          </p:cNvPr>
          <p:cNvSpPr/>
          <p:nvPr/>
        </p:nvSpPr>
        <p:spPr>
          <a:xfrm>
            <a:off x="8314207"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10</a:t>
            </a:r>
          </a:p>
        </p:txBody>
      </p:sp>
      <p:sp>
        <p:nvSpPr>
          <p:cNvPr id="61" name="Rectangle 60">
            <a:extLst>
              <a:ext uri="{FF2B5EF4-FFF2-40B4-BE49-F238E27FC236}">
                <a16:creationId xmlns:a16="http://schemas.microsoft.com/office/drawing/2014/main" id="{AE0BCAE9-254F-AFBF-7423-1CCD7CC3F8D2}"/>
              </a:ext>
            </a:extLst>
          </p:cNvPr>
          <p:cNvSpPr/>
          <p:nvPr/>
        </p:nvSpPr>
        <p:spPr>
          <a:xfrm>
            <a:off x="8866376"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11</a:t>
            </a:r>
          </a:p>
        </p:txBody>
      </p:sp>
      <p:sp>
        <p:nvSpPr>
          <p:cNvPr id="62" name="Espace réservé du texte 16">
            <a:extLst>
              <a:ext uri="{FF2B5EF4-FFF2-40B4-BE49-F238E27FC236}">
                <a16:creationId xmlns:a16="http://schemas.microsoft.com/office/drawing/2014/main" id="{22DE4F3B-B70F-6E13-D137-3E6F16ACBBB4}"/>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106533509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2 – Emprunt à taux révisable : Détermination des marges futures</a:t>
            </a:r>
          </a:p>
        </p:txBody>
      </p:sp>
      <p:sp>
        <p:nvSpPr>
          <p:cNvPr id="4" name="ZoneTexte 16">
            <a:extLst>
              <a:ext uri="{FF2B5EF4-FFF2-40B4-BE49-F238E27FC236}">
                <a16:creationId xmlns:a16="http://schemas.microsoft.com/office/drawing/2014/main" id="{01268207-C707-71C3-9765-BF8A016E52B4}"/>
              </a:ext>
            </a:extLst>
          </p:cNvPr>
          <p:cNvSpPr txBox="1"/>
          <p:nvPr/>
        </p:nvSpPr>
        <p:spPr>
          <a:xfrm>
            <a:off x="660041" y="2180034"/>
            <a:ext cx="10838656" cy="4141466"/>
          </a:xfrm>
          <a:prstGeom prst="rect">
            <a:avLst/>
          </a:prstGeom>
          <a:solidFill>
            <a:schemeClr val="accent2">
              <a:lumMod val="20000"/>
              <a:lumOff val="80000"/>
            </a:schemeClr>
          </a:solidFill>
          <a:ln>
            <a:solidFill>
              <a:schemeClr val="accent2"/>
            </a:solidFill>
          </a:ln>
        </p:spPr>
        <p:txBody>
          <a:bodyPr wrap="square">
            <a:noAutofit/>
          </a:bodyPr>
          <a:lstStyle/>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100" b="1" i="0" u="none" strike="noStrike" kern="1200" cap="none" spc="0" normalizeH="0" baseline="0" noProof="0" dirty="0">
                <a:ln>
                  <a:noFill/>
                </a:ln>
                <a:solidFill>
                  <a:srgbClr val="6437FF"/>
                </a:solidFill>
                <a:effectLst/>
                <a:uLnTx/>
                <a:uFillTx/>
                <a:latin typeface="MBLZ text" pitchFamily="2" charset="0"/>
                <a:ea typeface="Times New Roman" panose="02020603050405020304" pitchFamily="18" charset="0"/>
                <a:cs typeface="+mn-cs"/>
              </a:rPr>
              <a:t>Pour marge 2 </a:t>
            </a:r>
            <a:r>
              <a:rPr kumimoji="0" lang="fr-FR" sz="1100" b="1"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 </a:t>
            </a: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Le texte mentionne pour les passifs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Soit  dans cet exemple, pour Marge 2 (on suppose que le changement sur la marge en cas de downgrade sur les émissions </a:t>
            </a:r>
            <a:r>
              <a:rPr kumimoji="0" lang="fr-FR" sz="1100" b="0" i="0" u="none" strike="noStrike" kern="1200" cap="none" spc="0" normalizeH="0" baseline="0" noProof="0" dirty="0" err="1">
                <a:ln>
                  <a:noFill/>
                </a:ln>
                <a:solidFill>
                  <a:srgbClr val="000000"/>
                </a:solidFill>
                <a:effectLst/>
                <a:uLnTx/>
                <a:uFillTx/>
                <a:latin typeface="MBLZ text" pitchFamily="2" charset="0"/>
                <a:ea typeface="Times New Roman" panose="02020603050405020304" pitchFamily="18" charset="0"/>
                <a:cs typeface="+mn-cs"/>
              </a:rPr>
              <a:t>unsecured</a:t>
            </a: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 à 5 ans est de 15bp)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Pour une contrepartie « Non </a:t>
            </a:r>
            <a:r>
              <a:rPr kumimoji="0" lang="fr-FR" sz="1100" b="0" i="0" u="none" strike="noStrike" kern="1200" cap="none" spc="0" normalizeH="0" baseline="0" noProof="0" dirty="0" err="1">
                <a:ln>
                  <a:noFill/>
                </a:ln>
                <a:solidFill>
                  <a:srgbClr val="000000"/>
                </a:solidFill>
                <a:effectLst/>
                <a:uLnTx/>
                <a:uFillTx/>
                <a:latin typeface="MBLZ text" pitchFamily="2" charset="0"/>
                <a:ea typeface="Times New Roman" panose="02020603050405020304" pitchFamily="18" charset="0"/>
                <a:cs typeface="+mn-cs"/>
              </a:rPr>
              <a:t>financial</a:t>
            </a: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 Corporate », le paramètre </a:t>
            </a:r>
            <a:r>
              <a:rPr kumimoji="0" lang="el-G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γ</a:t>
            </a: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 est égal à 0.5. On supposera que la marge des nouveaux encours sur 2024 est égale à</a:t>
            </a:r>
            <a:r>
              <a:rPr kumimoji="0" lang="fr-FR" sz="1100" b="0" i="1"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 Marge 1 </a:t>
            </a: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soit 20bp.</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Ainsi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p:txBody>
      </p:sp>
      <p:sp>
        <p:nvSpPr>
          <p:cNvPr id="5" name="TextBox 4">
            <a:extLst>
              <a:ext uri="{FF2B5EF4-FFF2-40B4-BE49-F238E27FC236}">
                <a16:creationId xmlns:a16="http://schemas.microsoft.com/office/drawing/2014/main" id="{7ADE0242-C4DB-CA6D-7143-B64446CF42E4}"/>
              </a:ext>
            </a:extLst>
          </p:cNvPr>
          <p:cNvSpPr txBox="1"/>
          <p:nvPr/>
        </p:nvSpPr>
        <p:spPr>
          <a:xfrm>
            <a:off x="1147672" y="2500882"/>
            <a:ext cx="9754328" cy="928118"/>
          </a:xfrm>
          <a:prstGeom prst="rect">
            <a:avLst/>
          </a:prstGeom>
          <a:noFill/>
          <a:ln>
            <a:solidFill>
              <a:schemeClr val="tx1"/>
            </a:solidFill>
          </a:ln>
        </p:spPr>
        <p:txBody>
          <a:bodyPr wrap="square" rtlCol="0">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Under the projection scenarios, the margin paid on interest-bearing liabilities should increase equal to the higher of a proportion of the changes in the sovereign spread of the country of location of the activity and the same proportion applied to the increase of an idiosyncratic component, derived from the impact on banks’ wholesale funding rate of a rating downgrade. For the baseline scenario , the idiosyncratic component should be set at 0.</a:t>
            </a:r>
          </a:p>
        </p:txBody>
      </p:sp>
      <p:graphicFrame>
        <p:nvGraphicFramePr>
          <p:cNvPr id="6" name="Table 5">
            <a:extLst>
              <a:ext uri="{FF2B5EF4-FFF2-40B4-BE49-F238E27FC236}">
                <a16:creationId xmlns:a16="http://schemas.microsoft.com/office/drawing/2014/main" id="{CA13C285-56D4-6392-2A48-A6EC7078B89D}"/>
              </a:ext>
            </a:extLst>
          </p:cNvPr>
          <p:cNvGraphicFramePr>
            <a:graphicFrameLocks noGrp="1"/>
          </p:cNvGraphicFramePr>
          <p:nvPr/>
        </p:nvGraphicFramePr>
        <p:xfrm>
          <a:off x="759168" y="3823579"/>
          <a:ext cx="6489700" cy="1280160"/>
        </p:xfrm>
        <a:graphic>
          <a:graphicData uri="http://schemas.openxmlformats.org/drawingml/2006/table">
            <a:tbl>
              <a:tblPr>
                <a:tableStyleId>{5C22544A-7EE6-4342-B048-85BDC9FD1C3A}</a:tableStyleId>
              </a:tblPr>
              <a:tblGrid>
                <a:gridCol w="1934832">
                  <a:extLst>
                    <a:ext uri="{9D8B030D-6E8A-4147-A177-3AD203B41FA5}">
                      <a16:colId xmlns:a16="http://schemas.microsoft.com/office/drawing/2014/main" val="1617607656"/>
                    </a:ext>
                  </a:extLst>
                </a:gridCol>
                <a:gridCol w="378000">
                  <a:extLst>
                    <a:ext uri="{9D8B030D-6E8A-4147-A177-3AD203B41FA5}">
                      <a16:colId xmlns:a16="http://schemas.microsoft.com/office/drawing/2014/main" val="3110234048"/>
                    </a:ext>
                  </a:extLst>
                </a:gridCol>
                <a:gridCol w="879058">
                  <a:extLst>
                    <a:ext uri="{9D8B030D-6E8A-4147-A177-3AD203B41FA5}">
                      <a16:colId xmlns:a16="http://schemas.microsoft.com/office/drawing/2014/main" val="2211644078"/>
                    </a:ext>
                  </a:extLst>
                </a:gridCol>
                <a:gridCol w="549635">
                  <a:extLst>
                    <a:ext uri="{9D8B030D-6E8A-4147-A177-3AD203B41FA5}">
                      <a16:colId xmlns:a16="http://schemas.microsoft.com/office/drawing/2014/main" val="769823231"/>
                    </a:ext>
                  </a:extLst>
                </a:gridCol>
                <a:gridCol w="549635">
                  <a:extLst>
                    <a:ext uri="{9D8B030D-6E8A-4147-A177-3AD203B41FA5}">
                      <a16:colId xmlns:a16="http://schemas.microsoft.com/office/drawing/2014/main" val="2983393761"/>
                    </a:ext>
                  </a:extLst>
                </a:gridCol>
                <a:gridCol w="549635">
                  <a:extLst>
                    <a:ext uri="{9D8B030D-6E8A-4147-A177-3AD203B41FA5}">
                      <a16:colId xmlns:a16="http://schemas.microsoft.com/office/drawing/2014/main" val="3915905733"/>
                    </a:ext>
                  </a:extLst>
                </a:gridCol>
                <a:gridCol w="549635">
                  <a:extLst>
                    <a:ext uri="{9D8B030D-6E8A-4147-A177-3AD203B41FA5}">
                      <a16:colId xmlns:a16="http://schemas.microsoft.com/office/drawing/2014/main" val="4190293990"/>
                    </a:ext>
                  </a:extLst>
                </a:gridCol>
                <a:gridCol w="549635">
                  <a:extLst>
                    <a:ext uri="{9D8B030D-6E8A-4147-A177-3AD203B41FA5}">
                      <a16:colId xmlns:a16="http://schemas.microsoft.com/office/drawing/2014/main" val="3126825574"/>
                    </a:ext>
                  </a:extLst>
                </a:gridCol>
                <a:gridCol w="549635">
                  <a:extLst>
                    <a:ext uri="{9D8B030D-6E8A-4147-A177-3AD203B41FA5}">
                      <a16:colId xmlns:a16="http://schemas.microsoft.com/office/drawing/2014/main" val="164507706"/>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Tenor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point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gridSpan="3">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tc gridSpan="3">
                  <a:txBody>
                    <a:bodyPr/>
                    <a:lstStyle/>
                    <a:p>
                      <a:pPr algn="ct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449581099"/>
                  </a:ext>
                </a:extLst>
              </a:tr>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2024 – Latest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411976108"/>
                  </a:ext>
                </a:extLst>
              </a:tr>
              <a:tr h="182880">
                <a:tc>
                  <a:txBody>
                    <a:bodyPr/>
                    <a:lstStyle/>
                    <a:p>
                      <a:pPr algn="l" fontAlgn="b"/>
                      <a:r>
                        <a:rPr lang="el-G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Δ</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Sov spread</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10Y</a:t>
                      </a:r>
                    </a:p>
                  </a:txBody>
                  <a:tcPr marL="7620" marR="7620" marT="7620" marB="0" anchor="b"/>
                </a:tc>
                <a:tc>
                  <a:txBody>
                    <a:bodyPr/>
                    <a:lstStyle/>
                    <a:p>
                      <a:pPr algn="r"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-0,21%</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0,02%</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0,26%</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0,65%</a:t>
                      </a:r>
                    </a:p>
                  </a:txBody>
                  <a:tcPr marL="7620" marR="7620" marT="7620" marB="0" anchor="b"/>
                </a:tc>
                <a:extLst>
                  <a:ext uri="{0D108BD9-81ED-4DB2-BD59-A6C34878D82A}">
                    <a16:rowId xmlns:a16="http://schemas.microsoft.com/office/drawing/2014/main" val="2033724575"/>
                  </a:ext>
                </a:extLst>
              </a:tr>
              <a:tr h="182880">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Price of a rating downgrade</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5Y</a:t>
                      </a:r>
                    </a:p>
                  </a:txBody>
                  <a:tcPr marL="7620" marR="7620" marT="7620" marB="0" anchor="b"/>
                </a:tc>
                <a:tc>
                  <a:txBody>
                    <a:bodyPr/>
                    <a:lstStyle/>
                    <a:p>
                      <a:pPr algn="r"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extLst>
                  <a:ext uri="{0D108BD9-81ED-4DB2-BD59-A6C34878D82A}">
                    <a16:rowId xmlns:a16="http://schemas.microsoft.com/office/drawing/2014/main" val="98054828"/>
                  </a:ext>
                </a:extLst>
              </a:tr>
              <a:tr h="182880">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Floor on the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idiosyncratic</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comp</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620" marR="7620" marT="7620" marB="0" anchor="b"/>
                </a:tc>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extLst>
                  <a:ext uri="{0D108BD9-81ED-4DB2-BD59-A6C34878D82A}">
                    <a16:rowId xmlns:a16="http://schemas.microsoft.com/office/drawing/2014/main" val="1957904298"/>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l-G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Δ</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Idiosyncratic</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component</a:t>
                      </a:r>
                    </a:p>
                  </a:txBody>
                  <a:tcPr marL="7620" marR="7620" marT="7620" marB="0" anchor="b"/>
                </a:tc>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extLst>
                  <a:ext uri="{0D108BD9-81ED-4DB2-BD59-A6C34878D82A}">
                    <a16:rowId xmlns:a16="http://schemas.microsoft.com/office/drawing/2014/main" val="4005152088"/>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Max (</a:t>
                      </a:r>
                      <a:r>
                        <a:rPr lang="el-G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Δ</a:t>
                      </a:r>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sov, </a:t>
                      </a:r>
                      <a:r>
                        <a:rPr lang="el-G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Δ</a:t>
                      </a:r>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fr-FR" sz="1100" b="1"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idiosyncratic</a:t>
                      </a:r>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620" marR="7620" marT="7620" marB="0" anchor="b"/>
                </a:tc>
                <a:tc>
                  <a:txBody>
                    <a:bodyPr/>
                    <a:lstStyle/>
                    <a:p>
                      <a:pPr algn="l" fontAlgn="b"/>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0,02%</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0,35%</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0,26%</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0,45%</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0,65%</a:t>
                      </a:r>
                    </a:p>
                  </a:txBody>
                  <a:tcPr marL="7620" marR="7620" marT="7620" marB="0" anchor="b"/>
                </a:tc>
                <a:extLst>
                  <a:ext uri="{0D108BD9-81ED-4DB2-BD59-A6C34878D82A}">
                    <a16:rowId xmlns:a16="http://schemas.microsoft.com/office/drawing/2014/main" val="218826723"/>
                  </a:ext>
                </a:extLst>
              </a:tr>
            </a:tbl>
          </a:graphicData>
        </a:graphic>
      </p:graphicFrame>
      <p:graphicFrame>
        <p:nvGraphicFramePr>
          <p:cNvPr id="7" name="Table 6">
            <a:extLst>
              <a:ext uri="{FF2B5EF4-FFF2-40B4-BE49-F238E27FC236}">
                <a16:creationId xmlns:a16="http://schemas.microsoft.com/office/drawing/2014/main" id="{B51B0B7F-0A8D-69F0-D2C0-27CF6756960C}"/>
              </a:ext>
            </a:extLst>
          </p:cNvPr>
          <p:cNvGraphicFramePr>
            <a:graphicFrameLocks noGrp="1"/>
          </p:cNvGraphicFramePr>
          <p:nvPr/>
        </p:nvGraphicFramePr>
        <p:xfrm>
          <a:off x="756158" y="5598189"/>
          <a:ext cx="6438244" cy="365760"/>
        </p:xfrm>
        <a:graphic>
          <a:graphicData uri="http://schemas.openxmlformats.org/drawingml/2006/table">
            <a:tbl>
              <a:tblPr>
                <a:tableStyleId>{5C22544A-7EE6-4342-B048-85BDC9FD1C3A}</a:tableStyleId>
              </a:tblPr>
              <a:tblGrid>
                <a:gridCol w="1910603">
                  <a:extLst>
                    <a:ext uri="{9D8B030D-6E8A-4147-A177-3AD203B41FA5}">
                      <a16:colId xmlns:a16="http://schemas.microsoft.com/office/drawing/2014/main" val="1617607656"/>
                    </a:ext>
                  </a:extLst>
                </a:gridCol>
                <a:gridCol w="982742">
                  <a:extLst>
                    <a:ext uri="{9D8B030D-6E8A-4147-A177-3AD203B41FA5}">
                      <a16:colId xmlns:a16="http://schemas.microsoft.com/office/drawing/2014/main" val="266489559"/>
                    </a:ext>
                  </a:extLst>
                </a:gridCol>
                <a:gridCol w="982742">
                  <a:extLst>
                    <a:ext uri="{9D8B030D-6E8A-4147-A177-3AD203B41FA5}">
                      <a16:colId xmlns:a16="http://schemas.microsoft.com/office/drawing/2014/main" val="3110234048"/>
                    </a:ext>
                  </a:extLst>
                </a:gridCol>
                <a:gridCol w="1164617">
                  <a:extLst>
                    <a:ext uri="{9D8B030D-6E8A-4147-A177-3AD203B41FA5}">
                      <a16:colId xmlns:a16="http://schemas.microsoft.com/office/drawing/2014/main" val="2211644078"/>
                    </a:ext>
                  </a:extLst>
                </a:gridCol>
                <a:gridCol w="698770">
                  <a:extLst>
                    <a:ext uri="{9D8B030D-6E8A-4147-A177-3AD203B41FA5}">
                      <a16:colId xmlns:a16="http://schemas.microsoft.com/office/drawing/2014/main" val="769823231"/>
                    </a:ext>
                  </a:extLst>
                </a:gridCol>
                <a:gridCol w="698770">
                  <a:extLst>
                    <a:ext uri="{9D8B030D-6E8A-4147-A177-3AD203B41FA5}">
                      <a16:colId xmlns:a16="http://schemas.microsoft.com/office/drawing/2014/main" val="4190293990"/>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Year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Margin T0</a:t>
                      </a:r>
                    </a:p>
                  </a:txBody>
                  <a:tcPr marL="7620" marR="7620" marT="7620" marB="0" anchor="b"/>
                </a:tc>
                <a:tc>
                  <a:txBody>
                    <a:bodyPr/>
                    <a:lstStyle/>
                    <a:p>
                      <a:pPr algn="ctr" fontAlgn="b"/>
                      <a:r>
                        <a:rPr kumimoji="0" lang="fr-FR" sz="1100" b="0" i="0" u="none" strike="noStrike" kern="1200" cap="none" spc="0" normalizeH="0" baseline="0" noProof="0" dirty="0">
                          <a:ln>
                            <a:noFill/>
                          </a:ln>
                          <a:solidFill>
                            <a:srgbClr val="000000"/>
                          </a:solidFill>
                          <a:effectLst/>
                          <a:uLnTx/>
                          <a:uFillTx/>
                          <a:latin typeface="MBLZ text" pitchFamily="2" charset="0"/>
                          <a:ea typeface="Calibri" panose="020F0502020204030204" pitchFamily="34" charset="0"/>
                          <a:cs typeface="+mn-cs"/>
                        </a:rPr>
                        <a:t>γ</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Baseline</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Adverse</a:t>
                      </a:r>
                    </a:p>
                  </a:txBody>
                  <a:tcPr marL="7620" marR="7620" marT="7620" marB="0" anchor="b"/>
                </a:tc>
                <a:extLst>
                  <a:ext uri="{0D108BD9-81ED-4DB2-BD59-A6C34878D82A}">
                    <a16:rowId xmlns:a16="http://schemas.microsoft.com/office/drawing/2014/main" val="2449581099"/>
                  </a:ext>
                </a:extLst>
              </a:tr>
              <a:tr h="182880">
                <a:tc>
                  <a:txBody>
                    <a:bodyPr/>
                    <a:lstStyle/>
                    <a:p>
                      <a:pPr algn="l" fontAlgn="b"/>
                      <a:r>
                        <a:rPr lang="fr-FR" sz="1100" b="1" u="none" strike="noStrike" dirty="0">
                          <a:effectLst/>
                          <a:latin typeface="Calibri" panose="020F0502020204030204" pitchFamily="34" charset="0"/>
                          <a:ea typeface="Calibri" panose="020F0502020204030204" pitchFamily="34" charset="0"/>
                          <a:cs typeface="Calibri" panose="020F0502020204030204" pitchFamily="34" charset="0"/>
                        </a:rPr>
                        <a:t>Marge 2</a:t>
                      </a:r>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2026</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0.5</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0,21%</a:t>
                      </a:r>
                    </a:p>
                  </a:txBody>
                  <a:tcPr marL="7620" marR="7620" marT="7620" marB="0" anchor="b"/>
                </a:tc>
                <a:tc>
                  <a:txBody>
                    <a:bodyPr/>
                    <a:lstStyle/>
                    <a:p>
                      <a:pPr algn="ctr" fontAlgn="b"/>
                      <a:r>
                        <a:rPr lang="fr-FR" sz="11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0.44%</a:t>
                      </a:r>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411976108"/>
                  </a:ext>
                </a:extLst>
              </a:tr>
            </a:tbl>
          </a:graphicData>
        </a:graphic>
      </p:graphicFrame>
      <p:cxnSp>
        <p:nvCxnSpPr>
          <p:cNvPr id="8" name="Straight Arrow Connector 7">
            <a:extLst>
              <a:ext uri="{FF2B5EF4-FFF2-40B4-BE49-F238E27FC236}">
                <a16:creationId xmlns:a16="http://schemas.microsoft.com/office/drawing/2014/main" id="{4AEA339A-3139-966F-BA0C-3B32B362F7C9}"/>
              </a:ext>
            </a:extLst>
          </p:cNvPr>
          <p:cNvCxnSpPr/>
          <p:nvPr/>
        </p:nvCxnSpPr>
        <p:spPr>
          <a:xfrm>
            <a:off x="918882" y="1685582"/>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35EBEF03-FD94-9DC9-AD7B-F83FBEE7A3A1}"/>
              </a:ext>
            </a:extLst>
          </p:cNvPr>
          <p:cNvSpPr/>
          <p:nvPr/>
        </p:nvSpPr>
        <p:spPr>
          <a:xfrm>
            <a:off x="918882" y="1376372"/>
            <a:ext cx="5560057" cy="238182"/>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MBLZ Bold"/>
                <a:ea typeface="+mn-ea"/>
                <a:cs typeface="+mn-cs"/>
              </a:rPr>
              <a:t>                                                                                            Marge 1 </a:t>
            </a:r>
          </a:p>
        </p:txBody>
      </p:sp>
      <p:sp>
        <p:nvSpPr>
          <p:cNvPr id="10" name="TextBox 9">
            <a:extLst>
              <a:ext uri="{FF2B5EF4-FFF2-40B4-BE49-F238E27FC236}">
                <a16:creationId xmlns:a16="http://schemas.microsoft.com/office/drawing/2014/main" id="{D5D2CAD6-2D0F-E994-F9F8-E77445F9358C}"/>
              </a:ext>
            </a:extLst>
          </p:cNvPr>
          <p:cNvSpPr txBox="1"/>
          <p:nvPr/>
        </p:nvSpPr>
        <p:spPr>
          <a:xfrm>
            <a:off x="763619" y="172080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MBLZ Bold"/>
                <a:ea typeface="+mn-ea"/>
                <a:cs typeface="+mn-cs"/>
              </a:rPr>
              <a:t>31.12.23</a:t>
            </a:r>
          </a:p>
        </p:txBody>
      </p:sp>
      <p:sp>
        <p:nvSpPr>
          <p:cNvPr id="11" name="TextBox 10">
            <a:extLst>
              <a:ext uri="{FF2B5EF4-FFF2-40B4-BE49-F238E27FC236}">
                <a16:creationId xmlns:a16="http://schemas.microsoft.com/office/drawing/2014/main" id="{C8115492-FF38-35C7-FE9E-FC255634948C}"/>
              </a:ext>
            </a:extLst>
          </p:cNvPr>
          <p:cNvSpPr txBox="1"/>
          <p:nvPr/>
        </p:nvSpPr>
        <p:spPr>
          <a:xfrm>
            <a:off x="6100939" y="1732742"/>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MBLZ Bold"/>
                <a:ea typeface="+mn-ea"/>
                <a:cs typeface="+mn-cs"/>
              </a:rPr>
              <a:t>30.06.26</a:t>
            </a:r>
          </a:p>
        </p:txBody>
      </p:sp>
      <p:sp>
        <p:nvSpPr>
          <p:cNvPr id="12" name="TextBox 11">
            <a:extLst>
              <a:ext uri="{FF2B5EF4-FFF2-40B4-BE49-F238E27FC236}">
                <a16:creationId xmlns:a16="http://schemas.microsoft.com/office/drawing/2014/main" id="{D4081398-3C59-1DA5-EE4E-CD9ABBD7C1B8}"/>
              </a:ext>
            </a:extLst>
          </p:cNvPr>
          <p:cNvSpPr txBox="1"/>
          <p:nvPr/>
        </p:nvSpPr>
        <p:spPr>
          <a:xfrm>
            <a:off x="9734433" y="1719659"/>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MBLZ Bold"/>
                <a:ea typeface="+mn-ea"/>
                <a:cs typeface="+mn-cs"/>
              </a:rPr>
              <a:t>31.12.27</a:t>
            </a:r>
          </a:p>
        </p:txBody>
      </p:sp>
      <p:sp>
        <p:nvSpPr>
          <p:cNvPr id="13" name="TextBox 12">
            <a:extLst>
              <a:ext uri="{FF2B5EF4-FFF2-40B4-BE49-F238E27FC236}">
                <a16:creationId xmlns:a16="http://schemas.microsoft.com/office/drawing/2014/main" id="{365B0B08-E687-853B-AE06-A4FA9031BE66}"/>
              </a:ext>
            </a:extLst>
          </p:cNvPr>
          <p:cNvSpPr txBox="1"/>
          <p:nvPr/>
        </p:nvSpPr>
        <p:spPr>
          <a:xfrm>
            <a:off x="2653619" y="1725886"/>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MBLZ Bold"/>
                <a:ea typeface="+mn-ea"/>
                <a:cs typeface="+mn-cs"/>
              </a:rPr>
              <a:t>31.12.24</a:t>
            </a:r>
          </a:p>
        </p:txBody>
      </p:sp>
      <p:sp>
        <p:nvSpPr>
          <p:cNvPr id="14" name="Rectangle 13">
            <a:extLst>
              <a:ext uri="{FF2B5EF4-FFF2-40B4-BE49-F238E27FC236}">
                <a16:creationId xmlns:a16="http://schemas.microsoft.com/office/drawing/2014/main" id="{7F53F942-1948-6270-2582-35B358231F11}"/>
              </a:ext>
            </a:extLst>
          </p:cNvPr>
          <p:cNvSpPr/>
          <p:nvPr/>
        </p:nvSpPr>
        <p:spPr>
          <a:xfrm>
            <a:off x="6628632" y="1376369"/>
            <a:ext cx="5407367"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MBLZ Bold"/>
                <a:ea typeface="+mn-ea"/>
                <a:cs typeface="+mn-cs"/>
              </a:rPr>
              <a:t>                                                                     Marge 2                 </a:t>
            </a:r>
          </a:p>
        </p:txBody>
      </p:sp>
      <p:sp>
        <p:nvSpPr>
          <p:cNvPr id="15" name="Rectangle 14">
            <a:extLst>
              <a:ext uri="{FF2B5EF4-FFF2-40B4-BE49-F238E27FC236}">
                <a16:creationId xmlns:a16="http://schemas.microsoft.com/office/drawing/2014/main" id="{A27E5ADC-62AB-3BE2-1EDB-85952232B3CE}"/>
              </a:ext>
            </a:extLst>
          </p:cNvPr>
          <p:cNvSpPr/>
          <p:nvPr/>
        </p:nvSpPr>
        <p:spPr>
          <a:xfrm>
            <a:off x="10036792" y="1368332"/>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MBLZ Bold"/>
              <a:ea typeface="+mn-ea"/>
              <a:cs typeface="+mn-cs"/>
            </a:endParaRPr>
          </a:p>
        </p:txBody>
      </p:sp>
      <p:sp>
        <p:nvSpPr>
          <p:cNvPr id="16" name="Rectangle 15">
            <a:extLst>
              <a:ext uri="{FF2B5EF4-FFF2-40B4-BE49-F238E27FC236}">
                <a16:creationId xmlns:a16="http://schemas.microsoft.com/office/drawing/2014/main" id="{23A06333-0D18-4E8C-EFFE-F4EF8BB3755F}"/>
              </a:ext>
            </a:extLst>
          </p:cNvPr>
          <p:cNvSpPr/>
          <p:nvPr/>
        </p:nvSpPr>
        <p:spPr>
          <a:xfrm>
            <a:off x="920097" y="1376369"/>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MBLZ Bold"/>
              <a:ea typeface="+mn-ea"/>
              <a:cs typeface="+mn-cs"/>
            </a:endParaRPr>
          </a:p>
        </p:txBody>
      </p:sp>
      <p:sp>
        <p:nvSpPr>
          <p:cNvPr id="17" name="Rectangle 16">
            <a:extLst>
              <a:ext uri="{FF2B5EF4-FFF2-40B4-BE49-F238E27FC236}">
                <a16:creationId xmlns:a16="http://schemas.microsoft.com/office/drawing/2014/main" id="{8D0AF2EA-B277-0CCE-F5DC-E39E21C9C954}"/>
              </a:ext>
            </a:extLst>
          </p:cNvPr>
          <p:cNvSpPr/>
          <p:nvPr/>
        </p:nvSpPr>
        <p:spPr>
          <a:xfrm>
            <a:off x="1357619" y="1095944"/>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MBLZ Bold"/>
                <a:ea typeface="+mn-ea"/>
                <a:cs typeface="+mn-cs"/>
              </a:rPr>
              <a:t>Taux 1</a:t>
            </a:r>
          </a:p>
        </p:txBody>
      </p:sp>
      <p:sp>
        <p:nvSpPr>
          <p:cNvPr id="18" name="Rectangle 17">
            <a:extLst>
              <a:ext uri="{FF2B5EF4-FFF2-40B4-BE49-F238E27FC236}">
                <a16:creationId xmlns:a16="http://schemas.microsoft.com/office/drawing/2014/main" id="{6E636BD9-2462-6463-9DC1-3CB105EC62A0}"/>
              </a:ext>
            </a:extLst>
          </p:cNvPr>
          <p:cNvSpPr/>
          <p:nvPr/>
        </p:nvSpPr>
        <p:spPr>
          <a:xfrm>
            <a:off x="3758819"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2</a:t>
            </a:r>
          </a:p>
        </p:txBody>
      </p:sp>
      <p:sp>
        <p:nvSpPr>
          <p:cNvPr id="19" name="Rectangle 18">
            <a:extLst>
              <a:ext uri="{FF2B5EF4-FFF2-40B4-BE49-F238E27FC236}">
                <a16:creationId xmlns:a16="http://schemas.microsoft.com/office/drawing/2014/main" id="{DF3D9F4E-E419-E946-CBA9-6F8BAED77818}"/>
              </a:ext>
            </a:extLst>
          </p:cNvPr>
          <p:cNvSpPr/>
          <p:nvPr/>
        </p:nvSpPr>
        <p:spPr>
          <a:xfrm>
            <a:off x="9407100" y="1082991"/>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000000"/>
                </a:solidFill>
                <a:effectLst/>
                <a:uLnTx/>
                <a:uFillTx/>
                <a:latin typeface="MBLZ Bold"/>
                <a:ea typeface="+mn-ea"/>
                <a:cs typeface="+mn-cs"/>
              </a:rPr>
              <a:t>Taux 12</a:t>
            </a:r>
          </a:p>
        </p:txBody>
      </p:sp>
      <p:sp>
        <p:nvSpPr>
          <p:cNvPr id="20" name="Rectangle 19">
            <a:extLst>
              <a:ext uri="{FF2B5EF4-FFF2-40B4-BE49-F238E27FC236}">
                <a16:creationId xmlns:a16="http://schemas.microsoft.com/office/drawing/2014/main" id="{85E8ADAA-B75A-0290-DBB3-1A18B97A7792}"/>
              </a:ext>
            </a:extLst>
          </p:cNvPr>
          <p:cNvSpPr/>
          <p:nvPr/>
        </p:nvSpPr>
        <p:spPr>
          <a:xfrm>
            <a:off x="10036792" y="1082991"/>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000000"/>
              </a:solidFill>
              <a:effectLst/>
              <a:uLnTx/>
              <a:uFillTx/>
              <a:latin typeface="MBLZ Bold"/>
              <a:ea typeface="+mn-ea"/>
              <a:cs typeface="+mn-cs"/>
            </a:endParaRPr>
          </a:p>
        </p:txBody>
      </p:sp>
      <p:sp>
        <p:nvSpPr>
          <p:cNvPr id="21" name="Rectangle 20">
            <a:extLst>
              <a:ext uri="{FF2B5EF4-FFF2-40B4-BE49-F238E27FC236}">
                <a16:creationId xmlns:a16="http://schemas.microsoft.com/office/drawing/2014/main" id="{7884B3BB-E5A4-7898-C1D2-23D493DDB395}"/>
              </a:ext>
            </a:extLst>
          </p:cNvPr>
          <p:cNvSpPr/>
          <p:nvPr/>
        </p:nvSpPr>
        <p:spPr>
          <a:xfrm>
            <a:off x="920097" y="1084750"/>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MBLZ Bold"/>
              <a:ea typeface="+mn-ea"/>
              <a:cs typeface="+mn-cs"/>
            </a:endParaRPr>
          </a:p>
        </p:txBody>
      </p:sp>
      <p:sp>
        <p:nvSpPr>
          <p:cNvPr id="22" name="TextBox 21">
            <a:extLst>
              <a:ext uri="{FF2B5EF4-FFF2-40B4-BE49-F238E27FC236}">
                <a16:creationId xmlns:a16="http://schemas.microsoft.com/office/drawing/2014/main" id="{BC422C3D-6030-7614-5E70-A0A8E97191BC}"/>
              </a:ext>
            </a:extLst>
          </p:cNvPr>
          <p:cNvSpPr txBox="1"/>
          <p:nvPr/>
        </p:nvSpPr>
        <p:spPr>
          <a:xfrm>
            <a:off x="101508" y="999000"/>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MBLZ Bold"/>
                <a:ea typeface="+mn-ea"/>
                <a:cs typeface="+mn-cs"/>
              </a:rPr>
              <a:t>Taux</a:t>
            </a:r>
          </a:p>
        </p:txBody>
      </p:sp>
      <p:sp>
        <p:nvSpPr>
          <p:cNvPr id="23" name="TextBox 22">
            <a:extLst>
              <a:ext uri="{FF2B5EF4-FFF2-40B4-BE49-F238E27FC236}">
                <a16:creationId xmlns:a16="http://schemas.microsoft.com/office/drawing/2014/main" id="{BA739416-7D7B-A7B4-F707-F754B1189664}"/>
              </a:ext>
            </a:extLst>
          </p:cNvPr>
          <p:cNvSpPr txBox="1"/>
          <p:nvPr/>
        </p:nvSpPr>
        <p:spPr>
          <a:xfrm>
            <a:off x="114908" y="1330971"/>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MBLZ Bold"/>
                <a:ea typeface="+mn-ea"/>
                <a:cs typeface="+mn-cs"/>
              </a:rPr>
              <a:t>Marge</a:t>
            </a:r>
          </a:p>
        </p:txBody>
      </p:sp>
      <p:sp>
        <p:nvSpPr>
          <p:cNvPr id="24" name="Rectangle 23">
            <a:extLst>
              <a:ext uri="{FF2B5EF4-FFF2-40B4-BE49-F238E27FC236}">
                <a16:creationId xmlns:a16="http://schemas.microsoft.com/office/drawing/2014/main" id="{8E8EF8C9-B457-F07F-36DE-E70275F3531E}"/>
              </a:ext>
            </a:extLst>
          </p:cNvPr>
          <p:cNvSpPr/>
          <p:nvPr/>
        </p:nvSpPr>
        <p:spPr>
          <a:xfrm>
            <a:off x="4310149"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3</a:t>
            </a:r>
          </a:p>
        </p:txBody>
      </p:sp>
      <p:sp>
        <p:nvSpPr>
          <p:cNvPr id="25" name="Rectangle 24">
            <a:extLst>
              <a:ext uri="{FF2B5EF4-FFF2-40B4-BE49-F238E27FC236}">
                <a16:creationId xmlns:a16="http://schemas.microsoft.com/office/drawing/2014/main" id="{C6E70DB3-B89A-005A-FF88-9932207BDB5F}"/>
              </a:ext>
            </a:extLst>
          </p:cNvPr>
          <p:cNvSpPr/>
          <p:nvPr/>
        </p:nvSpPr>
        <p:spPr>
          <a:xfrm>
            <a:off x="4861479"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4</a:t>
            </a:r>
          </a:p>
        </p:txBody>
      </p:sp>
      <p:sp>
        <p:nvSpPr>
          <p:cNvPr id="26" name="Rectangle 25">
            <a:extLst>
              <a:ext uri="{FF2B5EF4-FFF2-40B4-BE49-F238E27FC236}">
                <a16:creationId xmlns:a16="http://schemas.microsoft.com/office/drawing/2014/main" id="{D56FC374-19EB-0751-C030-992A29DA9BA2}"/>
              </a:ext>
            </a:extLst>
          </p:cNvPr>
          <p:cNvSpPr/>
          <p:nvPr/>
        </p:nvSpPr>
        <p:spPr>
          <a:xfrm>
            <a:off x="5412809"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5</a:t>
            </a:r>
          </a:p>
        </p:txBody>
      </p:sp>
      <p:sp>
        <p:nvSpPr>
          <p:cNvPr id="27" name="Rectangle 26">
            <a:extLst>
              <a:ext uri="{FF2B5EF4-FFF2-40B4-BE49-F238E27FC236}">
                <a16:creationId xmlns:a16="http://schemas.microsoft.com/office/drawing/2014/main" id="{A13C60A5-ABA2-5E2D-290A-6F341A7407C9}"/>
              </a:ext>
            </a:extLst>
          </p:cNvPr>
          <p:cNvSpPr/>
          <p:nvPr/>
        </p:nvSpPr>
        <p:spPr>
          <a:xfrm>
            <a:off x="5964139"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6</a:t>
            </a:r>
          </a:p>
        </p:txBody>
      </p:sp>
      <p:sp>
        <p:nvSpPr>
          <p:cNvPr id="28" name="Rectangle 27">
            <a:extLst>
              <a:ext uri="{FF2B5EF4-FFF2-40B4-BE49-F238E27FC236}">
                <a16:creationId xmlns:a16="http://schemas.microsoft.com/office/drawing/2014/main" id="{06B29EAC-DEDD-95CC-1DB7-F646475435BC}"/>
              </a:ext>
            </a:extLst>
          </p:cNvPr>
          <p:cNvSpPr/>
          <p:nvPr/>
        </p:nvSpPr>
        <p:spPr>
          <a:xfrm>
            <a:off x="6642231"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7</a:t>
            </a:r>
          </a:p>
        </p:txBody>
      </p:sp>
      <p:sp>
        <p:nvSpPr>
          <p:cNvPr id="29" name="Rectangle 28">
            <a:extLst>
              <a:ext uri="{FF2B5EF4-FFF2-40B4-BE49-F238E27FC236}">
                <a16:creationId xmlns:a16="http://schemas.microsoft.com/office/drawing/2014/main" id="{434DBB05-0EBB-492E-35A6-DFE4BC36A81E}"/>
              </a:ext>
            </a:extLst>
          </p:cNvPr>
          <p:cNvSpPr/>
          <p:nvPr/>
        </p:nvSpPr>
        <p:spPr>
          <a:xfrm>
            <a:off x="7194402"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8</a:t>
            </a:r>
          </a:p>
        </p:txBody>
      </p:sp>
      <p:sp>
        <p:nvSpPr>
          <p:cNvPr id="30" name="Rectangle 29">
            <a:extLst>
              <a:ext uri="{FF2B5EF4-FFF2-40B4-BE49-F238E27FC236}">
                <a16:creationId xmlns:a16="http://schemas.microsoft.com/office/drawing/2014/main" id="{FAD28C73-A6CF-E711-C49A-9A5DBE4EDDF6}"/>
              </a:ext>
            </a:extLst>
          </p:cNvPr>
          <p:cNvSpPr/>
          <p:nvPr/>
        </p:nvSpPr>
        <p:spPr>
          <a:xfrm>
            <a:off x="7746573"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9</a:t>
            </a:r>
          </a:p>
        </p:txBody>
      </p:sp>
      <p:sp>
        <p:nvSpPr>
          <p:cNvPr id="31" name="Rectangle 30">
            <a:extLst>
              <a:ext uri="{FF2B5EF4-FFF2-40B4-BE49-F238E27FC236}">
                <a16:creationId xmlns:a16="http://schemas.microsoft.com/office/drawing/2014/main" id="{5F9DFD8B-61C7-0886-5662-470C9C40E46C}"/>
              </a:ext>
            </a:extLst>
          </p:cNvPr>
          <p:cNvSpPr/>
          <p:nvPr/>
        </p:nvSpPr>
        <p:spPr>
          <a:xfrm>
            <a:off x="8298744"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10</a:t>
            </a:r>
          </a:p>
        </p:txBody>
      </p:sp>
      <p:sp>
        <p:nvSpPr>
          <p:cNvPr id="32" name="Rectangle 31">
            <a:extLst>
              <a:ext uri="{FF2B5EF4-FFF2-40B4-BE49-F238E27FC236}">
                <a16:creationId xmlns:a16="http://schemas.microsoft.com/office/drawing/2014/main" id="{68D1A7E3-05DE-54FD-7C00-7A2AA49B9D54}"/>
              </a:ext>
            </a:extLst>
          </p:cNvPr>
          <p:cNvSpPr/>
          <p:nvPr/>
        </p:nvSpPr>
        <p:spPr>
          <a:xfrm>
            <a:off x="8850913"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11</a:t>
            </a:r>
          </a:p>
        </p:txBody>
      </p:sp>
      <p:pic>
        <p:nvPicPr>
          <p:cNvPr id="33" name="Picture 32">
            <a:extLst>
              <a:ext uri="{FF2B5EF4-FFF2-40B4-BE49-F238E27FC236}">
                <a16:creationId xmlns:a16="http://schemas.microsoft.com/office/drawing/2014/main" id="{547BD0D1-EFAF-0030-0A05-E8A4DD228FB9}"/>
              </a:ext>
            </a:extLst>
          </p:cNvPr>
          <p:cNvPicPr>
            <a:picLocks noChangeAspect="1"/>
          </p:cNvPicPr>
          <p:nvPr/>
        </p:nvPicPr>
        <p:blipFill>
          <a:blip r:embed="rId2"/>
          <a:stretch>
            <a:fillRect/>
          </a:stretch>
        </p:blipFill>
        <p:spPr>
          <a:xfrm>
            <a:off x="3376656" y="3072991"/>
            <a:ext cx="5296359" cy="281964"/>
          </a:xfrm>
          <a:prstGeom prst="rect">
            <a:avLst/>
          </a:prstGeom>
        </p:spPr>
      </p:pic>
      <p:sp>
        <p:nvSpPr>
          <p:cNvPr id="62" name="Espace réservé du texte 16">
            <a:extLst>
              <a:ext uri="{FF2B5EF4-FFF2-40B4-BE49-F238E27FC236}">
                <a16:creationId xmlns:a16="http://schemas.microsoft.com/office/drawing/2014/main" id="{D2F5A24E-3DCC-F8E7-5E16-82E1E39103E1}"/>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391608368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6D8219C-5124-AD11-73B1-66F676811C31}"/>
              </a:ext>
            </a:extLst>
          </p:cNvPr>
          <p:cNvSpPr>
            <a:spLocks noGrp="1"/>
          </p:cNvSpPr>
          <p:nvPr>
            <p:ph type="body" sz="quarter" idx="11"/>
          </p:nvPr>
        </p:nvSpPr>
        <p:spPr/>
        <p:txBody>
          <a:bodyPr/>
          <a:lstStyle/>
          <a:p>
            <a:r>
              <a:rPr lang="fr-FR" dirty="0"/>
              <a:t>Annexes</a:t>
            </a:r>
          </a:p>
        </p:txBody>
      </p:sp>
      <p:graphicFrame>
        <p:nvGraphicFramePr>
          <p:cNvPr id="6" name="Table 5">
            <a:extLst>
              <a:ext uri="{FF2B5EF4-FFF2-40B4-BE49-F238E27FC236}">
                <a16:creationId xmlns:a16="http://schemas.microsoft.com/office/drawing/2014/main" id="{B39A0EC9-4117-ECD5-67B3-26941C806F36}"/>
              </a:ext>
            </a:extLst>
          </p:cNvPr>
          <p:cNvGraphicFramePr>
            <a:graphicFrameLocks noGrp="1"/>
          </p:cNvGraphicFramePr>
          <p:nvPr>
            <p:extLst>
              <p:ext uri="{D42A27DB-BD31-4B8C-83A1-F6EECF244321}">
                <p14:modId xmlns:p14="http://schemas.microsoft.com/office/powerpoint/2010/main" val="681494994"/>
              </p:ext>
            </p:extLst>
          </p:nvPr>
        </p:nvGraphicFramePr>
        <p:xfrm>
          <a:off x="999137" y="1637238"/>
          <a:ext cx="5890578" cy="2003335"/>
        </p:xfrm>
        <a:graphic>
          <a:graphicData uri="http://schemas.openxmlformats.org/drawingml/2006/table">
            <a:tbl>
              <a:tblPr firstRow="1" bandRow="1">
                <a:tableStyleId>{B407F83F-F4B1-428F-90E6-6AE17F0CE779}</a:tableStyleId>
              </a:tblPr>
              <a:tblGrid>
                <a:gridCol w="2945289">
                  <a:extLst>
                    <a:ext uri="{9D8B030D-6E8A-4147-A177-3AD203B41FA5}">
                      <a16:colId xmlns:a16="http://schemas.microsoft.com/office/drawing/2014/main" val="365084050"/>
                    </a:ext>
                  </a:extLst>
                </a:gridCol>
                <a:gridCol w="2945289">
                  <a:extLst>
                    <a:ext uri="{9D8B030D-6E8A-4147-A177-3AD203B41FA5}">
                      <a16:colId xmlns:a16="http://schemas.microsoft.com/office/drawing/2014/main" val="3308542114"/>
                    </a:ext>
                  </a:extLst>
                </a:gridCol>
              </a:tblGrid>
              <a:tr h="527422">
                <a:tc>
                  <a:txBody>
                    <a:bodyPr/>
                    <a:lstStyle/>
                    <a:p>
                      <a:r>
                        <a:rPr lang="fr-FR" b="1" dirty="0"/>
                        <a:t>Documents réglementaires</a:t>
                      </a:r>
                    </a:p>
                  </a:txBody>
                  <a:tcPr>
                    <a:solidFill>
                      <a:schemeClr val="bg1">
                        <a:lumMod val="75000"/>
                      </a:schemeClr>
                    </a:solidFill>
                  </a:tcPr>
                </a:tc>
                <a:tc>
                  <a:txBody>
                    <a:bodyPr/>
                    <a:lstStyle/>
                    <a:p>
                      <a:r>
                        <a:rPr lang="fr-FR" b="1" dirty="0"/>
                        <a:t>Liens</a:t>
                      </a:r>
                    </a:p>
                  </a:txBody>
                  <a:tcPr>
                    <a:solidFill>
                      <a:schemeClr val="bg1">
                        <a:lumMod val="75000"/>
                      </a:schemeClr>
                    </a:solidFill>
                  </a:tcPr>
                </a:tc>
                <a:extLst>
                  <a:ext uri="{0D108BD9-81ED-4DB2-BD59-A6C34878D82A}">
                    <a16:rowId xmlns:a16="http://schemas.microsoft.com/office/drawing/2014/main" val="3062179187"/>
                  </a:ext>
                </a:extLst>
              </a:tr>
              <a:tr h="527422">
                <a:tc>
                  <a:txBody>
                    <a:bodyPr/>
                    <a:lstStyle/>
                    <a:p>
                      <a:r>
                        <a:rPr lang="fr-FR" dirty="0"/>
                        <a:t>Note méthodologique + Guide sur le remplissage des Templates</a:t>
                      </a:r>
                    </a:p>
                  </a:txBody>
                  <a:tcPr/>
                </a:tc>
                <a:tc>
                  <a:txBody>
                    <a:bodyPr/>
                    <a:lstStyle/>
                    <a:p>
                      <a:r>
                        <a:rPr lang="fr-FR" dirty="0">
                          <a:hlinkClick r:id="rId2"/>
                        </a:rPr>
                        <a:t>Lien EBA</a:t>
                      </a:r>
                      <a:endParaRPr lang="fr-FR" dirty="0"/>
                    </a:p>
                  </a:txBody>
                  <a:tcPr/>
                </a:tc>
                <a:extLst>
                  <a:ext uri="{0D108BD9-81ED-4DB2-BD59-A6C34878D82A}">
                    <a16:rowId xmlns:a16="http://schemas.microsoft.com/office/drawing/2014/main" val="2162853318"/>
                  </a:ext>
                </a:extLst>
              </a:tr>
              <a:tr h="561513">
                <a:tc>
                  <a:txBody>
                    <a:bodyPr/>
                    <a:lstStyle/>
                    <a:p>
                      <a:endParaRPr lang="fr-FR" dirty="0"/>
                    </a:p>
                  </a:txBody>
                  <a:tcPr/>
                </a:tc>
                <a:tc>
                  <a:txBody>
                    <a:bodyPr/>
                    <a:lstStyle/>
                    <a:p>
                      <a:endParaRPr lang="fr-FR" dirty="0"/>
                    </a:p>
                  </a:txBody>
                  <a:tcPr/>
                </a:tc>
                <a:extLst>
                  <a:ext uri="{0D108BD9-81ED-4DB2-BD59-A6C34878D82A}">
                    <a16:rowId xmlns:a16="http://schemas.microsoft.com/office/drawing/2014/main" val="1660030121"/>
                  </a:ext>
                </a:extLst>
              </a:tr>
            </a:tbl>
          </a:graphicData>
        </a:graphic>
      </p:graphicFrame>
    </p:spTree>
    <p:extLst>
      <p:ext uri="{BB962C8B-B14F-4D97-AF65-F5344CB8AC3E}">
        <p14:creationId xmlns:p14="http://schemas.microsoft.com/office/powerpoint/2010/main" val="90527036"/>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67927C4-0A75-7E10-5D36-DF5E4ED6E8FC}"/>
              </a:ext>
            </a:extLst>
          </p:cNvPr>
          <p:cNvSpPr>
            <a:spLocks noGrp="1"/>
          </p:cNvSpPr>
          <p:nvPr>
            <p:ph type="body" sz="quarter" idx="11"/>
          </p:nvPr>
        </p:nvSpPr>
        <p:spPr/>
        <p:txBody>
          <a:bodyPr/>
          <a:lstStyle/>
          <a:p>
            <a:r>
              <a:rPr lang="fr-FR" dirty="0"/>
              <a:t>Trame PPT pour la thématique STEBA NII</a:t>
            </a:r>
          </a:p>
        </p:txBody>
      </p:sp>
      <p:sp>
        <p:nvSpPr>
          <p:cNvPr id="3" name="Text Placeholder 2">
            <a:extLst>
              <a:ext uri="{FF2B5EF4-FFF2-40B4-BE49-F238E27FC236}">
                <a16:creationId xmlns:a16="http://schemas.microsoft.com/office/drawing/2014/main" id="{31BE37CE-CB90-573D-9149-9A908A123025}"/>
              </a:ext>
            </a:extLst>
          </p:cNvPr>
          <p:cNvSpPr>
            <a:spLocks noGrp="1"/>
          </p:cNvSpPr>
          <p:nvPr>
            <p:ph type="body" sz="quarter" idx="22"/>
          </p:nvPr>
        </p:nvSpPr>
        <p:spPr/>
        <p:txBody>
          <a:bodyPr/>
          <a:lstStyle/>
          <a:p>
            <a:endParaRPr lang="fr-FR"/>
          </a:p>
        </p:txBody>
      </p:sp>
      <p:sp>
        <p:nvSpPr>
          <p:cNvPr id="5" name="TextBox 4">
            <a:extLst>
              <a:ext uri="{FF2B5EF4-FFF2-40B4-BE49-F238E27FC236}">
                <a16:creationId xmlns:a16="http://schemas.microsoft.com/office/drawing/2014/main" id="{30AD4D54-1A3E-584F-27EB-126AA173B806}"/>
              </a:ext>
            </a:extLst>
          </p:cNvPr>
          <p:cNvSpPr txBox="1"/>
          <p:nvPr/>
        </p:nvSpPr>
        <p:spPr>
          <a:xfrm>
            <a:off x="1212783" y="1568918"/>
            <a:ext cx="6843562" cy="2677656"/>
          </a:xfrm>
          <a:prstGeom prst="rect">
            <a:avLst/>
          </a:prstGeom>
          <a:noFill/>
        </p:spPr>
        <p:txBody>
          <a:bodyPr wrap="square" rtlCol="0">
            <a:spAutoFit/>
          </a:bodyPr>
          <a:lstStyle/>
          <a:p>
            <a:pPr marL="342900" indent="-342900">
              <a:buAutoNum type="arabicPeriod"/>
            </a:pPr>
            <a:r>
              <a:rPr lang="fr-FR" dirty="0">
                <a:latin typeface="Calibri (body)"/>
              </a:rPr>
              <a:t>Gap </a:t>
            </a:r>
            <a:r>
              <a:rPr lang="fr-FR" dirty="0" err="1">
                <a:latin typeface="Calibri (body)"/>
              </a:rPr>
              <a:t>analysis</a:t>
            </a:r>
            <a:r>
              <a:rPr lang="fr-FR" dirty="0">
                <a:latin typeface="Calibri (body)"/>
              </a:rPr>
              <a:t> IRRBB/STEBA NII</a:t>
            </a:r>
          </a:p>
          <a:p>
            <a:pPr marL="342900" indent="-342900">
              <a:buAutoNum type="arabicPeriod"/>
            </a:pPr>
            <a:endParaRPr lang="fr-FR" dirty="0">
              <a:latin typeface="Calibri (body)"/>
            </a:endParaRPr>
          </a:p>
          <a:p>
            <a:pPr marL="342900" indent="-342900">
              <a:buAutoNum type="arabicPeriod"/>
            </a:pPr>
            <a:r>
              <a:rPr lang="fr-FR" dirty="0">
                <a:latin typeface="Calibri (body)"/>
              </a:rPr>
              <a:t>Périmètre de réalisation STEBA NII</a:t>
            </a:r>
          </a:p>
          <a:p>
            <a:pPr marL="342900" indent="-342900">
              <a:buAutoNum type="arabicPeriod"/>
            </a:pPr>
            <a:endParaRPr lang="fr-FR" dirty="0">
              <a:latin typeface="Calibri (body)"/>
            </a:endParaRPr>
          </a:p>
          <a:p>
            <a:pPr marL="342900" indent="-342900">
              <a:buAutoNum type="arabicPeriod"/>
            </a:pPr>
            <a:r>
              <a:rPr lang="fr-FR" dirty="0">
                <a:latin typeface="Calibri (body)"/>
              </a:rPr>
              <a:t>Présentation des templates</a:t>
            </a:r>
          </a:p>
          <a:p>
            <a:pPr marL="342900" indent="-342900">
              <a:buAutoNum type="arabicPeriod"/>
            </a:pPr>
            <a:endParaRPr lang="fr-FR" dirty="0">
              <a:latin typeface="Calibri (body)"/>
            </a:endParaRPr>
          </a:p>
          <a:p>
            <a:pPr marL="342900" indent="-342900">
              <a:buAutoNum type="arabicPeriod"/>
            </a:pPr>
            <a:r>
              <a:rPr lang="fr-FR" dirty="0">
                <a:latin typeface="Calibri (body)"/>
              </a:rPr>
              <a:t>Méthodologie de calcul des taux et marges futures</a:t>
            </a:r>
          </a:p>
          <a:p>
            <a:r>
              <a:rPr lang="fr-FR" dirty="0">
                <a:latin typeface="Calibri (body)"/>
              </a:rPr>
              <a:t>	Méthodologie générale</a:t>
            </a:r>
          </a:p>
          <a:p>
            <a:r>
              <a:rPr lang="fr-FR" dirty="0">
                <a:latin typeface="Calibri (body)"/>
              </a:rPr>
              <a:t>	Exemples calculatoires</a:t>
            </a:r>
          </a:p>
          <a:p>
            <a:r>
              <a:rPr lang="fr-FR" dirty="0">
                <a:latin typeface="Calibri (body)"/>
              </a:rPr>
              <a:t>		Cas d’un prêt à taux fixe</a:t>
            </a:r>
          </a:p>
          <a:p>
            <a:r>
              <a:rPr lang="fr-FR" dirty="0">
                <a:latin typeface="Calibri (body)"/>
              </a:rPr>
              <a:t>		Cas d’un emprunt à taux variable</a:t>
            </a:r>
          </a:p>
          <a:p>
            <a:endParaRPr lang="fr-FR" dirty="0">
              <a:latin typeface="Calibri (body)"/>
            </a:endParaRPr>
          </a:p>
        </p:txBody>
      </p:sp>
    </p:spTree>
    <p:extLst>
      <p:ext uri="{BB962C8B-B14F-4D97-AF65-F5344CB8AC3E}">
        <p14:creationId xmlns:p14="http://schemas.microsoft.com/office/powerpoint/2010/main" val="238567986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5">
            <a:extLst>
              <a:ext uri="{FF2B5EF4-FFF2-40B4-BE49-F238E27FC236}">
                <a16:creationId xmlns:a16="http://schemas.microsoft.com/office/drawing/2014/main" id="{43BB123A-A93A-921F-882A-249436991657}"/>
              </a:ext>
            </a:extLst>
          </p:cNvPr>
          <p:cNvSpPr/>
          <p:nvPr/>
        </p:nvSpPr>
        <p:spPr>
          <a:xfrm>
            <a:off x="240583" y="6085918"/>
            <a:ext cx="11867998" cy="615313"/>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ext Placeholder 1">
            <a:extLst>
              <a:ext uri="{FF2B5EF4-FFF2-40B4-BE49-F238E27FC236}">
                <a16:creationId xmlns:a16="http://schemas.microsoft.com/office/drawing/2014/main" id="{3977C4A7-F809-0D65-85E9-F64F7615E460}"/>
              </a:ext>
            </a:extLst>
          </p:cNvPr>
          <p:cNvSpPr>
            <a:spLocks noGrp="1"/>
          </p:cNvSpPr>
          <p:nvPr>
            <p:ph type="body" sz="quarter" idx="11"/>
          </p:nvPr>
        </p:nvSpPr>
        <p:spPr/>
        <p:txBody>
          <a:bodyPr/>
          <a:lstStyle/>
          <a:p>
            <a:r>
              <a:rPr lang="fr-FR" dirty="0"/>
              <a:t>Gap </a:t>
            </a:r>
            <a:r>
              <a:rPr lang="fr-FR" dirty="0" err="1"/>
              <a:t>analysis</a:t>
            </a:r>
            <a:r>
              <a:rPr lang="fr-FR" dirty="0"/>
              <a:t> STEBA NII vs IRRBB</a:t>
            </a:r>
          </a:p>
        </p:txBody>
      </p:sp>
      <p:sp>
        <p:nvSpPr>
          <p:cNvPr id="3" name="Text Placeholder 2">
            <a:extLst>
              <a:ext uri="{FF2B5EF4-FFF2-40B4-BE49-F238E27FC236}">
                <a16:creationId xmlns:a16="http://schemas.microsoft.com/office/drawing/2014/main" id="{0627C06C-8761-5CB4-FB14-6A7BF5EB6BBC}"/>
              </a:ext>
            </a:extLst>
          </p:cNvPr>
          <p:cNvSpPr>
            <a:spLocks noGrp="1"/>
          </p:cNvSpPr>
          <p:nvPr>
            <p:ph type="body" sz="quarter" idx="22"/>
          </p:nvPr>
        </p:nvSpPr>
        <p:spPr/>
        <p:txBody>
          <a:bodyPr/>
          <a:lstStyle/>
          <a:p>
            <a:r>
              <a:rPr lang="fr-FR" dirty="0"/>
              <a:t>1</a:t>
            </a:r>
          </a:p>
        </p:txBody>
      </p:sp>
      <p:sp>
        <p:nvSpPr>
          <p:cNvPr id="6" name="Rectangle 5">
            <a:extLst>
              <a:ext uri="{FF2B5EF4-FFF2-40B4-BE49-F238E27FC236}">
                <a16:creationId xmlns:a16="http://schemas.microsoft.com/office/drawing/2014/main" id="{D29EE756-AA82-BCC2-6095-E8862E9751F8}"/>
              </a:ext>
            </a:extLst>
          </p:cNvPr>
          <p:cNvSpPr/>
          <p:nvPr/>
        </p:nvSpPr>
        <p:spPr>
          <a:xfrm>
            <a:off x="9572853" y="794453"/>
            <a:ext cx="576000" cy="144000"/>
          </a:xfrm>
          <a:prstGeom prst="rect">
            <a:avLst/>
          </a:prstGeom>
          <a:solidFill>
            <a:schemeClr val="tx2">
              <a:lumMod val="40000"/>
              <a:lumOff val="60000"/>
              <a:alpha val="4980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28600" marR="0" lvl="0" indent="-228600" algn="ctr" defTabSz="914400" rtl="0" eaLnBrk="1" fontAlgn="auto" latinLnBrk="0" hangingPunct="1">
              <a:lnSpc>
                <a:spcPct val="100000"/>
              </a:lnSpc>
              <a:spcBef>
                <a:spcPts val="0"/>
              </a:spcBef>
              <a:spcAft>
                <a:spcPts val="0"/>
              </a:spcAft>
              <a:buClrTx/>
              <a:buSzTx/>
              <a:buFont typeface="+mj-lt"/>
              <a:buAutoNum type="arabicPeriod"/>
              <a:tabLst/>
              <a:defRPr/>
            </a:pPr>
            <a:endParaRPr kumimoji="0" lang="fr-FR" sz="1000" b="1"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p:txBody>
      </p:sp>
      <p:sp>
        <p:nvSpPr>
          <p:cNvPr id="7" name="Rectangle 6">
            <a:extLst>
              <a:ext uri="{FF2B5EF4-FFF2-40B4-BE49-F238E27FC236}">
                <a16:creationId xmlns:a16="http://schemas.microsoft.com/office/drawing/2014/main" id="{3EF6315C-1A18-8402-A783-C59D2D5DFF38}"/>
              </a:ext>
            </a:extLst>
          </p:cNvPr>
          <p:cNvSpPr/>
          <p:nvPr/>
        </p:nvSpPr>
        <p:spPr>
          <a:xfrm>
            <a:off x="9572853" y="963536"/>
            <a:ext cx="576000" cy="14400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p:txBody>
      </p:sp>
      <p:sp>
        <p:nvSpPr>
          <p:cNvPr id="8" name="Rectangle 7">
            <a:extLst>
              <a:ext uri="{FF2B5EF4-FFF2-40B4-BE49-F238E27FC236}">
                <a16:creationId xmlns:a16="http://schemas.microsoft.com/office/drawing/2014/main" id="{37C4142F-1525-E086-516F-BB02E94A591F}"/>
              </a:ext>
            </a:extLst>
          </p:cNvPr>
          <p:cNvSpPr/>
          <p:nvPr/>
        </p:nvSpPr>
        <p:spPr>
          <a:xfrm>
            <a:off x="10185857" y="794453"/>
            <a:ext cx="576000" cy="14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Point commun</a:t>
            </a:r>
          </a:p>
        </p:txBody>
      </p:sp>
      <p:sp>
        <p:nvSpPr>
          <p:cNvPr id="9" name="Rectangle 8">
            <a:extLst>
              <a:ext uri="{FF2B5EF4-FFF2-40B4-BE49-F238E27FC236}">
                <a16:creationId xmlns:a16="http://schemas.microsoft.com/office/drawing/2014/main" id="{9E1A45B9-C01E-6E8B-7E41-AE1CED2B64D1}"/>
              </a:ext>
            </a:extLst>
          </p:cNvPr>
          <p:cNvSpPr/>
          <p:nvPr/>
        </p:nvSpPr>
        <p:spPr>
          <a:xfrm>
            <a:off x="10185857" y="963536"/>
            <a:ext cx="576000" cy="14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Ecarts de méthodologie et/ou hypothèses</a:t>
            </a:r>
          </a:p>
        </p:txBody>
      </p:sp>
      <p:sp>
        <p:nvSpPr>
          <p:cNvPr id="10" name="Rectangle 9">
            <a:extLst>
              <a:ext uri="{FF2B5EF4-FFF2-40B4-BE49-F238E27FC236}">
                <a16:creationId xmlns:a16="http://schemas.microsoft.com/office/drawing/2014/main" id="{73DF2B73-8F83-ADC4-B66B-6EFD607686A8}"/>
              </a:ext>
            </a:extLst>
          </p:cNvPr>
          <p:cNvSpPr/>
          <p:nvPr/>
        </p:nvSpPr>
        <p:spPr>
          <a:xfrm>
            <a:off x="195310" y="1200093"/>
            <a:ext cx="11690885" cy="5410988"/>
          </a:xfrm>
          <a:prstGeom prst="rect">
            <a:avLst/>
          </a:prstGeom>
          <a:noFill/>
          <a:ln w="38100">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12" name="Rectangle 11">
            <a:extLst>
              <a:ext uri="{FF2B5EF4-FFF2-40B4-BE49-F238E27FC236}">
                <a16:creationId xmlns:a16="http://schemas.microsoft.com/office/drawing/2014/main" id="{CF094A40-7F8D-9879-E26B-035A4D004B83}"/>
              </a:ext>
            </a:extLst>
          </p:cNvPr>
          <p:cNvSpPr/>
          <p:nvPr/>
        </p:nvSpPr>
        <p:spPr>
          <a:xfrm>
            <a:off x="305805" y="4830601"/>
            <a:ext cx="324000" cy="1619486"/>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Calibri (body)"/>
                <a:ea typeface="Times New Roman" panose="02020603050405020304" pitchFamily="18" charset="0"/>
              </a:rPr>
              <a:t>Données nécessaires</a:t>
            </a:r>
          </a:p>
        </p:txBody>
      </p:sp>
      <p:sp>
        <p:nvSpPr>
          <p:cNvPr id="13" name="Rectangle 12">
            <a:extLst>
              <a:ext uri="{FF2B5EF4-FFF2-40B4-BE49-F238E27FC236}">
                <a16:creationId xmlns:a16="http://schemas.microsoft.com/office/drawing/2014/main" id="{8BAF6289-BFB8-1CD6-6AA0-535ECBC97B1F}"/>
              </a:ext>
            </a:extLst>
          </p:cNvPr>
          <p:cNvSpPr/>
          <p:nvPr/>
        </p:nvSpPr>
        <p:spPr>
          <a:xfrm>
            <a:off x="305805" y="1590602"/>
            <a:ext cx="324000" cy="3186000"/>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Calibri (body)"/>
                <a:ea typeface="Times New Roman" panose="02020603050405020304" pitchFamily="18" charset="0"/>
              </a:rPr>
              <a:t>Hypothèses</a:t>
            </a:r>
          </a:p>
        </p:txBody>
      </p:sp>
      <p:sp>
        <p:nvSpPr>
          <p:cNvPr id="14" name="Rectangle 13">
            <a:extLst>
              <a:ext uri="{FF2B5EF4-FFF2-40B4-BE49-F238E27FC236}">
                <a16:creationId xmlns:a16="http://schemas.microsoft.com/office/drawing/2014/main" id="{B5698DC2-6B0B-82B1-FE4F-E24B0107C8FD}"/>
              </a:ext>
            </a:extLst>
          </p:cNvPr>
          <p:cNvSpPr/>
          <p:nvPr/>
        </p:nvSpPr>
        <p:spPr>
          <a:xfrm>
            <a:off x="6352098" y="1310325"/>
            <a:ext cx="5400000" cy="27942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b="1"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IRRBB</a:t>
            </a:r>
          </a:p>
        </p:txBody>
      </p:sp>
      <p:sp>
        <p:nvSpPr>
          <p:cNvPr id="15" name="Rectangle 14">
            <a:extLst>
              <a:ext uri="{FF2B5EF4-FFF2-40B4-BE49-F238E27FC236}">
                <a16:creationId xmlns:a16="http://schemas.microsoft.com/office/drawing/2014/main" id="{26DC5ED3-C74A-2534-8665-8E4B18E3B62E}"/>
              </a:ext>
            </a:extLst>
          </p:cNvPr>
          <p:cNvSpPr/>
          <p:nvPr/>
        </p:nvSpPr>
        <p:spPr>
          <a:xfrm>
            <a:off x="743518" y="1285603"/>
            <a:ext cx="5400000" cy="27942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b="1"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ONGLET STEBA NII_ALM </a:t>
            </a:r>
          </a:p>
        </p:txBody>
      </p:sp>
      <p:sp>
        <p:nvSpPr>
          <p:cNvPr id="16" name="Rectangle 15">
            <a:extLst>
              <a:ext uri="{FF2B5EF4-FFF2-40B4-BE49-F238E27FC236}">
                <a16:creationId xmlns:a16="http://schemas.microsoft.com/office/drawing/2014/main" id="{98AEA024-2AA7-88F1-35F6-35CC79476CBC}"/>
              </a:ext>
            </a:extLst>
          </p:cNvPr>
          <p:cNvSpPr/>
          <p:nvPr/>
        </p:nvSpPr>
        <p:spPr>
          <a:xfrm>
            <a:off x="751924" y="5455457"/>
            <a:ext cx="11029475" cy="994630"/>
          </a:xfrm>
          <a:prstGeom prst="rect">
            <a:avLst/>
          </a:prstGeom>
          <a:solidFill>
            <a:schemeClr val="tx2">
              <a:lumMod val="40000"/>
              <a:lumOff val="60000"/>
              <a:alpha val="4980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0" numCol="3" rtlCol="0" anchor="ctr"/>
          <a:lstStyle/>
          <a:p>
            <a:pPr marL="171450" marR="0" lvl="2" indent="-17145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Maturité à l’origine</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Nature de produit</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Type de contrepartie</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Classes d’actifs de rattachement</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Devise</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Type de taux</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Index et taux de référence</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Date et fréquence de </a:t>
            </a:r>
            <a:r>
              <a:rPr kumimoji="0" lang="fr-FR" sz="1000" b="0" i="0" u="none" strike="noStrike" kern="1200" cap="none" spc="0" normalizeH="0" baseline="0" noProof="0" dirty="0" err="1">
                <a:ln>
                  <a:noFill/>
                </a:ln>
                <a:solidFill>
                  <a:srgbClr val="000000"/>
                </a:solidFill>
                <a:effectLst/>
                <a:uLnTx/>
                <a:uFillTx/>
                <a:latin typeface="Calibri (body)"/>
              </a:rPr>
              <a:t>refixing</a:t>
            </a:r>
            <a:endParaRPr kumimoji="0" lang="fr-FR" sz="1000" b="0" i="0" u="none" strike="noStrike" kern="1200" cap="none" spc="0" normalizeH="0" baseline="0" noProof="0" dirty="0">
              <a:ln>
                <a:noFill/>
              </a:ln>
              <a:solidFill>
                <a:srgbClr val="000000"/>
              </a:solidFill>
              <a:effectLst/>
              <a:uLnTx/>
              <a:uFillTx/>
              <a:latin typeface="Calibri (body)"/>
            </a:endParaRP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Caractéristiques d’optionnalité</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endParaRPr kumimoji="0" lang="fr-FR" sz="1000" b="0" i="0" u="none" strike="noStrike" kern="1200" cap="none" spc="0" normalizeH="0" baseline="0" noProof="0" dirty="0">
              <a:ln>
                <a:noFill/>
              </a:ln>
              <a:solidFill>
                <a:srgbClr val="000000"/>
              </a:solidFill>
              <a:effectLst/>
              <a:uLnTx/>
              <a:uFillTx/>
              <a:latin typeface="Calibri (body)"/>
            </a:endParaRPr>
          </a:p>
          <a:p>
            <a:pPr marL="0" marR="0" lvl="2" indent="0" algn="just" defTabSz="914400" rtl="0" eaLnBrk="1" fontAlgn="auto" latinLnBrk="0" hangingPunct="1">
              <a:lnSpc>
                <a:spcPct val="100000"/>
              </a:lnSpc>
              <a:spcBef>
                <a:spcPts val="0"/>
              </a:spcBef>
              <a:spcAft>
                <a:spcPts val="0"/>
              </a:spcAft>
              <a:buClrTx/>
              <a:buSzPts val="1000"/>
              <a:buFontTx/>
              <a:buNone/>
              <a:tabLst>
                <a:tab pos="1371600" algn="l"/>
              </a:tabLst>
              <a:defRPr/>
            </a:pPr>
            <a:endParaRPr kumimoji="0" lang="fr-FR" sz="1000" b="0" i="0" u="none" strike="noStrike" kern="1200" cap="none" spc="0" normalizeH="0" baseline="0" noProof="0" dirty="0">
              <a:ln>
                <a:noFill/>
              </a:ln>
              <a:solidFill>
                <a:srgbClr val="000000"/>
              </a:solidFill>
              <a:effectLst/>
              <a:uLnTx/>
              <a:uFillTx/>
              <a:latin typeface="Calibri (body)"/>
            </a:endParaRP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Capital </a:t>
            </a:r>
          </a:p>
          <a:p>
            <a:pPr marL="0" marR="0" lvl="2" indent="-228600" algn="just" defTabSz="914400" rtl="0" eaLnBrk="1" fontAlgn="auto" latinLnBrk="0" hangingPunct="1">
              <a:lnSpc>
                <a:spcPct val="100000"/>
              </a:lnSpc>
              <a:spcBef>
                <a:spcPts val="0"/>
              </a:spcBef>
              <a:spcAft>
                <a:spcPts val="0"/>
              </a:spcAft>
              <a:buClrTx/>
              <a:buSzPts val="1000"/>
              <a:buFont typeface="Wingdings" panose="05000000000000000000" pitchFamily="2" charset="2"/>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Intérêts</a:t>
            </a:r>
          </a:p>
        </p:txBody>
      </p:sp>
      <p:sp>
        <p:nvSpPr>
          <p:cNvPr id="17" name="Rectangle 16">
            <a:extLst>
              <a:ext uri="{FF2B5EF4-FFF2-40B4-BE49-F238E27FC236}">
                <a16:creationId xmlns:a16="http://schemas.microsoft.com/office/drawing/2014/main" id="{DA9D23F8-A153-9A2C-FD10-DD52ACA26A9E}"/>
              </a:ext>
            </a:extLst>
          </p:cNvPr>
          <p:cNvSpPr/>
          <p:nvPr/>
        </p:nvSpPr>
        <p:spPr>
          <a:xfrm>
            <a:off x="743518" y="1590601"/>
            <a:ext cx="10937767" cy="279424"/>
          </a:xfrm>
          <a:prstGeom prst="rect">
            <a:avLst/>
          </a:prstGeom>
          <a:solidFill>
            <a:schemeClr val="tx2">
              <a:lumMod val="40000"/>
              <a:lumOff val="60000"/>
              <a:alpha val="4980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Bilan constant (avec renouvellement des expositions à maturité) &amp; assiette similaire sur le point de départ</a:t>
            </a:r>
          </a:p>
        </p:txBody>
      </p:sp>
      <p:sp>
        <p:nvSpPr>
          <p:cNvPr id="18" name="Rectangle 17">
            <a:extLst>
              <a:ext uri="{FF2B5EF4-FFF2-40B4-BE49-F238E27FC236}">
                <a16:creationId xmlns:a16="http://schemas.microsoft.com/office/drawing/2014/main" id="{85BB36E9-26D8-F6AC-3DDD-F59BEED573BA}"/>
              </a:ext>
            </a:extLst>
          </p:cNvPr>
          <p:cNvSpPr/>
          <p:nvPr/>
        </p:nvSpPr>
        <p:spPr>
          <a:xfrm>
            <a:off x="6281806" y="2568541"/>
            <a:ext cx="5400000" cy="1112671"/>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182563" marR="0" lvl="0" indent="-92075"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rPr>
              <a:t>Méthodologie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Un scénario central et deux scénarios de choc</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Courbes de taux déterminées en interne (</a:t>
            </a:r>
            <a:r>
              <a:rPr kumimoji="0" lang="fr-FR" sz="1000" b="0" i="0" u="none" strike="noStrike" kern="1200" cap="none" spc="0" normalizeH="0" baseline="0" noProof="0" dirty="0" err="1">
                <a:ln>
                  <a:noFill/>
                </a:ln>
                <a:solidFill>
                  <a:srgbClr val="000000"/>
                </a:solidFill>
                <a:effectLst/>
                <a:uLnTx/>
                <a:uFillTx/>
                <a:latin typeface="Calibri (body)"/>
                <a:ea typeface="Times New Roman" panose="02020603050405020304" pitchFamily="18" charset="0"/>
              </a:rPr>
              <a:t>Secured</a:t>
            </a: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 </a:t>
            </a:r>
            <a:r>
              <a:rPr kumimoji="0" lang="fr-FR" sz="1000" b="0" i="0" u="none" strike="noStrike" kern="1200" cap="none" spc="0" normalizeH="0" baseline="0" noProof="0" dirty="0" err="1">
                <a:ln>
                  <a:noFill/>
                </a:ln>
                <a:solidFill>
                  <a:srgbClr val="000000"/>
                </a:solidFill>
                <a:effectLst/>
                <a:uLnTx/>
                <a:uFillTx/>
                <a:latin typeface="Calibri (body)"/>
                <a:ea typeface="Times New Roman" panose="02020603050405020304" pitchFamily="18" charset="0"/>
              </a:rPr>
              <a:t>unsecured</a:t>
            </a: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 other…)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Vision encours par encours (non prescriptive sur la granularité)</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Horizon un an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Gains </a:t>
            </a:r>
            <a:r>
              <a:rPr kumimoji="0" lang="fr-FR" sz="1000" b="0" i="0" u="none" strike="noStrike" kern="1200" cap="none" spc="0" normalizeH="0" baseline="0" noProof="0" dirty="0" err="1">
                <a:ln>
                  <a:noFill/>
                </a:ln>
                <a:solidFill>
                  <a:srgbClr val="000000"/>
                </a:solidFill>
                <a:effectLst/>
                <a:uLnTx/>
                <a:uFillTx/>
                <a:latin typeface="Calibri (body)"/>
                <a:ea typeface="Times New Roman" panose="02020603050405020304" pitchFamily="18" charset="0"/>
              </a:rPr>
              <a:t>cappés</a:t>
            </a: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 par devise</a:t>
            </a:r>
          </a:p>
        </p:txBody>
      </p:sp>
      <p:sp>
        <p:nvSpPr>
          <p:cNvPr id="19" name="Rectangle 18">
            <a:extLst>
              <a:ext uri="{FF2B5EF4-FFF2-40B4-BE49-F238E27FC236}">
                <a16:creationId xmlns:a16="http://schemas.microsoft.com/office/drawing/2014/main" id="{E99574F3-A5E2-C979-415B-356A9B6AD1C9}"/>
              </a:ext>
            </a:extLst>
          </p:cNvPr>
          <p:cNvSpPr/>
          <p:nvPr/>
        </p:nvSpPr>
        <p:spPr>
          <a:xfrm>
            <a:off x="751924" y="2571145"/>
            <a:ext cx="5400000" cy="1112671"/>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92075" marR="0" lvl="2" indent="0" algn="l" defTabSz="914400" rtl="0" eaLnBrk="1" fontAlgn="auto" latinLnBrk="0" hangingPunct="1">
              <a:lnSpc>
                <a:spcPct val="100000"/>
              </a:lnSpc>
              <a:spcBef>
                <a:spcPts val="0"/>
              </a:spcBef>
              <a:spcAft>
                <a:spcPts val="0"/>
              </a:spcAft>
              <a:buClrTx/>
              <a:buSzPts val="1000"/>
              <a:buFontTx/>
              <a:buNone/>
              <a:tabLst>
                <a:tab pos="1371600" algn="l"/>
              </a:tabLst>
              <a:defRPr/>
            </a:pPr>
            <a:r>
              <a:rPr kumimoji="0" lang="fr-FR" sz="1000" b="1" i="0" u="none" strike="noStrike" kern="1200" cap="none" spc="0" normalizeH="0" baseline="0" noProof="0" dirty="0">
                <a:ln>
                  <a:noFill/>
                </a:ln>
                <a:solidFill>
                  <a:srgbClr val="000000"/>
                </a:solidFill>
                <a:effectLst/>
                <a:uLnTx/>
                <a:uFillTx/>
                <a:latin typeface="Calibri (body)"/>
              </a:rPr>
              <a:t>Méthodologie</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Un scénario central et un scénario adverse</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Courbes de taux définies par le régulateur (courbes de swap)</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Vision granulaire prescrite</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Horizon 3 ans avec chocs (discrets) différenciés par année</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Somme directe des expositions en devise</a:t>
            </a:r>
          </a:p>
        </p:txBody>
      </p:sp>
      <p:sp>
        <p:nvSpPr>
          <p:cNvPr id="20" name="Rectangle 19">
            <a:extLst>
              <a:ext uri="{FF2B5EF4-FFF2-40B4-BE49-F238E27FC236}">
                <a16:creationId xmlns:a16="http://schemas.microsoft.com/office/drawing/2014/main" id="{17438906-1266-0D77-C500-AB8091AB260D}"/>
              </a:ext>
            </a:extLst>
          </p:cNvPr>
          <p:cNvSpPr/>
          <p:nvPr/>
        </p:nvSpPr>
        <p:spPr>
          <a:xfrm>
            <a:off x="743518" y="3743936"/>
            <a:ext cx="5400000" cy="1010401"/>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182563" marR="0" lvl="0" indent="-92075"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rPr>
              <a:t>Application des hypothèses</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Pas de modélisation comportementale</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Décomposition du taux explicite</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Projection du taux et de la marge différenciées et prescrites</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Seuil de 90% (ou top 50) sur les couples Pays/Devises</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Neutralisation des encours centralisés à a CDC actif-passif</a:t>
            </a:r>
          </a:p>
          <a:p>
            <a:pPr marL="182563" marR="0" lvl="0" indent="-92075"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a:p>
            <a:pPr marL="182563" marR="0" lvl="0" indent="-92075"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p:txBody>
      </p:sp>
      <p:sp>
        <p:nvSpPr>
          <p:cNvPr id="21" name="Rectangle 20">
            <a:extLst>
              <a:ext uri="{FF2B5EF4-FFF2-40B4-BE49-F238E27FC236}">
                <a16:creationId xmlns:a16="http://schemas.microsoft.com/office/drawing/2014/main" id="{DB7B5B22-0A96-33AC-4B48-3350311A8565}"/>
              </a:ext>
            </a:extLst>
          </p:cNvPr>
          <p:cNvSpPr/>
          <p:nvPr/>
        </p:nvSpPr>
        <p:spPr>
          <a:xfrm>
            <a:off x="6281285" y="3743936"/>
            <a:ext cx="5400000" cy="1010401"/>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182563" marR="0" lvl="0" indent="-92075"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rPr>
              <a:t>Application des hypothèses</a:t>
            </a:r>
            <a:endParaRPr kumimoji="0" lang="fr-FR" sz="1000" b="0" i="0" u="none" strike="noStrike" kern="1200" cap="none" spc="0" normalizeH="0" baseline="0" noProof="0" dirty="0">
              <a:ln>
                <a:noFill/>
              </a:ln>
              <a:solidFill>
                <a:srgbClr val="000000"/>
              </a:solidFill>
              <a:effectLst/>
              <a:uLnTx/>
              <a:uFillTx/>
              <a:latin typeface="Calibri (body)"/>
            </a:endParaRP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5 types d’hypothèses comportementales (remboursement anticipé sur les prêts et les emprunts à taux fixe, modélisation des NP, ligne de crédit à taux fixe, dépôts à vue)</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Décomposition du taux implicite</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Seuil de 90% sur les devises uniquement</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Calibri" panose="020F0502020204030204" pitchFamily="34" charset="0"/>
              </a:rPr>
              <a:t>Cap à 5 ans non appliqué sur les livrets réglementés</a:t>
            </a:r>
          </a:p>
        </p:txBody>
      </p:sp>
      <p:sp>
        <p:nvSpPr>
          <p:cNvPr id="22" name="Rectangle 21">
            <a:extLst>
              <a:ext uri="{FF2B5EF4-FFF2-40B4-BE49-F238E27FC236}">
                <a16:creationId xmlns:a16="http://schemas.microsoft.com/office/drawing/2014/main" id="{E13D6163-BDF6-0587-343A-52974D63F15D}"/>
              </a:ext>
            </a:extLst>
          </p:cNvPr>
          <p:cNvSpPr/>
          <p:nvPr/>
        </p:nvSpPr>
        <p:spPr>
          <a:xfrm>
            <a:off x="6281285" y="1886589"/>
            <a:ext cx="5400000" cy="62942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182563" marR="0" lvl="0" indent="-92075"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rPr>
              <a:t>Périmètre et granularité</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Tous les encours sensibles en taux</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rPr>
              <a:t>Seuls les tradings books considérés comme « petits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p:txBody>
      </p:sp>
      <p:sp>
        <p:nvSpPr>
          <p:cNvPr id="23" name="Rectangle 22">
            <a:extLst>
              <a:ext uri="{FF2B5EF4-FFF2-40B4-BE49-F238E27FC236}">
                <a16:creationId xmlns:a16="http://schemas.microsoft.com/office/drawing/2014/main" id="{1048CFB9-B272-A086-44BE-840F6E316114}"/>
              </a:ext>
            </a:extLst>
          </p:cNvPr>
          <p:cNvSpPr/>
          <p:nvPr/>
        </p:nvSpPr>
        <p:spPr>
          <a:xfrm>
            <a:off x="751924" y="1886242"/>
            <a:ext cx="5400000" cy="62976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182563" marR="0" lvl="0" indent="-92075"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000000"/>
                </a:solidFill>
                <a:effectLst/>
                <a:uLnTx/>
                <a:uFillTx/>
                <a:latin typeface="Calibri (body)"/>
              </a:rPr>
              <a:t>Périmètre et granularité</a:t>
            </a:r>
          </a:p>
          <a:p>
            <a:pPr marL="171450" marR="0" lvl="2"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Positions held for trading (avec une méthodologie distincte fondée sur l’historique) incluses</a:t>
            </a:r>
          </a:p>
          <a:p>
            <a:pPr marL="0" marR="0" lvl="2" indent="0" algn="l" defTabSz="914400" rtl="0" eaLnBrk="1" fontAlgn="auto" latinLnBrk="0" hangingPunct="1">
              <a:lnSpc>
                <a:spcPct val="100000"/>
              </a:lnSpc>
              <a:spcBef>
                <a:spcPts val="0"/>
              </a:spcBef>
              <a:spcAft>
                <a:spcPts val="0"/>
              </a:spcAft>
              <a:buClrTx/>
              <a:buSzPts val="1000"/>
              <a:buFontTx/>
              <a:buNone/>
              <a:tabLst>
                <a:tab pos="1371600" algn="l"/>
              </a:tabLst>
              <a:defRPr/>
            </a:pPr>
            <a:endParaRPr kumimoji="0" lang="fr-FR" sz="1000" b="0" i="0" u="none" strike="noStrike" kern="1200" cap="none" spc="0" normalizeH="0" baseline="0" noProof="0" dirty="0">
              <a:ln>
                <a:noFill/>
              </a:ln>
              <a:solidFill>
                <a:srgbClr val="000000"/>
              </a:solidFill>
              <a:effectLst/>
              <a:uLnTx/>
              <a:uFillTx/>
              <a:latin typeface="Calibri (body)"/>
            </a:endParaRPr>
          </a:p>
        </p:txBody>
      </p:sp>
      <p:sp>
        <p:nvSpPr>
          <p:cNvPr id="24" name="Rectangle 23">
            <a:extLst>
              <a:ext uri="{FF2B5EF4-FFF2-40B4-BE49-F238E27FC236}">
                <a16:creationId xmlns:a16="http://schemas.microsoft.com/office/drawing/2014/main" id="{6E3EC930-50E0-A877-72AA-9530FB87C069}"/>
              </a:ext>
            </a:extLst>
          </p:cNvPr>
          <p:cNvSpPr/>
          <p:nvPr/>
        </p:nvSpPr>
        <p:spPr>
          <a:xfrm>
            <a:off x="728577" y="4844487"/>
            <a:ext cx="5400000" cy="52082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Volume moyen 2024 et taux moyens (référence et marge)</a:t>
            </a:r>
          </a:p>
          <a:p>
            <a:pPr marL="273050" marR="0" lvl="2" indent="-185738"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Décomposition de l’élément couvert par les swaps entre actifs et passifs</a:t>
            </a:r>
          </a:p>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Granularité un peu plus fine sur les contreparties</a:t>
            </a: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a:p>
            <a:pPr marL="182563" marR="0" lvl="0" indent="-92075"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p:txBody>
      </p:sp>
      <p:sp>
        <p:nvSpPr>
          <p:cNvPr id="25" name="Rectangle 24">
            <a:extLst>
              <a:ext uri="{FF2B5EF4-FFF2-40B4-BE49-F238E27FC236}">
                <a16:creationId xmlns:a16="http://schemas.microsoft.com/office/drawing/2014/main" id="{2CDFABFA-C849-A096-3328-7D05CFA56746}"/>
              </a:ext>
            </a:extLst>
          </p:cNvPr>
          <p:cNvSpPr/>
          <p:nvPr/>
        </p:nvSpPr>
        <p:spPr>
          <a:xfrm>
            <a:off x="6281285" y="4829897"/>
            <a:ext cx="5400000" cy="52082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26193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000" b="0" i="0" u="none" strike="noStrike" kern="1200" cap="none" spc="0" normalizeH="0" baseline="0" noProof="0" dirty="0">
                <a:ln>
                  <a:noFill/>
                </a:ln>
                <a:solidFill>
                  <a:srgbClr val="000000"/>
                </a:solidFill>
                <a:effectLst/>
                <a:uLnTx/>
                <a:uFillTx/>
                <a:latin typeface="Calibri (body)"/>
              </a:rPr>
              <a:t>Vision prospective uniquement</a:t>
            </a:r>
          </a:p>
          <a:p>
            <a:pPr marL="273050" marR="0" lvl="2" indent="-185738"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1371600" algn="l"/>
              </a:tabLst>
              <a:defRPr/>
            </a:pPr>
            <a:r>
              <a:rPr kumimoji="0" lang="fr-FR" sz="1000" b="0" i="0" u="none" strike="noStrike" kern="1200" cap="none" spc="0" normalizeH="0" baseline="0" noProof="0" dirty="0">
                <a:ln>
                  <a:noFill/>
                </a:ln>
                <a:solidFill>
                  <a:srgbClr val="000000"/>
                </a:solidFill>
                <a:effectLst/>
                <a:uLnTx/>
                <a:uFillTx/>
                <a:latin typeface="Calibri (body)"/>
              </a:rPr>
              <a:t>Décomposition des swaps selon le type d’élément couvert mais pas le sens</a:t>
            </a:r>
          </a:p>
          <a:p>
            <a:pPr marL="182563" marR="0" lvl="0" indent="-92075"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endParaRPr>
          </a:p>
        </p:txBody>
      </p:sp>
    </p:spTree>
    <p:extLst>
      <p:ext uri="{BB962C8B-B14F-4D97-AF65-F5344CB8AC3E}">
        <p14:creationId xmlns:p14="http://schemas.microsoft.com/office/powerpoint/2010/main" val="31796833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9625" y="5970245"/>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Périmètre de réalisation STEBA NII</a:t>
            </a:r>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77</a:t>
            </a:fld>
            <a:endParaRPr lang="fr-FR" sz="1050" kern="1200" dirty="0">
              <a:solidFill>
                <a:srgbClr val="003565"/>
              </a:solidFill>
              <a:latin typeface="Calibri (body)"/>
              <a:ea typeface="+mn-ea"/>
              <a:cs typeface="+mn-cs"/>
            </a:endParaRPr>
          </a:p>
        </p:txBody>
      </p:sp>
      <p:sp>
        <p:nvSpPr>
          <p:cNvPr id="137" name="Rectangle 136">
            <a:extLst>
              <a:ext uri="{FF2B5EF4-FFF2-40B4-BE49-F238E27FC236}">
                <a16:creationId xmlns:a16="http://schemas.microsoft.com/office/drawing/2014/main" id="{479EE359-F166-1A7C-709C-39117822A442}"/>
              </a:ext>
            </a:extLst>
          </p:cNvPr>
          <p:cNvSpPr/>
          <p:nvPr/>
        </p:nvSpPr>
        <p:spPr>
          <a:xfrm>
            <a:off x="257440" y="2539320"/>
            <a:ext cx="11563110" cy="1108591"/>
          </a:xfrm>
          <a:prstGeom prst="rect">
            <a:avLst/>
          </a:prstGeom>
          <a:solidFill>
            <a:srgbClr val="FFFFFF">
              <a:lumMod val="95000"/>
            </a:srgbClr>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fr-FR" sz="2800" b="0" i="0" u="none" strike="noStrike" kern="1200" cap="none" spc="0" normalizeH="0" baseline="0" noProof="0" dirty="0">
              <a:ln>
                <a:noFill/>
              </a:ln>
              <a:solidFill>
                <a:srgbClr val="FFFFFF"/>
              </a:solidFill>
              <a:effectLst/>
              <a:uLnTx/>
              <a:uFillTx/>
              <a:latin typeface="Calibri (body)"/>
              <a:ea typeface="+mn-ea"/>
              <a:cs typeface="+mn-cs"/>
            </a:endParaRPr>
          </a:p>
        </p:txBody>
      </p:sp>
      <p:sp>
        <p:nvSpPr>
          <p:cNvPr id="138" name="TextBox 137">
            <a:extLst>
              <a:ext uri="{FF2B5EF4-FFF2-40B4-BE49-F238E27FC236}">
                <a16:creationId xmlns:a16="http://schemas.microsoft.com/office/drawing/2014/main" id="{CF007A3D-AFE6-589F-6923-51B8E5372B86}"/>
              </a:ext>
            </a:extLst>
          </p:cNvPr>
          <p:cNvSpPr txBox="1"/>
          <p:nvPr/>
        </p:nvSpPr>
        <p:spPr>
          <a:xfrm>
            <a:off x="360769" y="1269112"/>
            <a:ext cx="10810875" cy="4893647"/>
          </a:xfrm>
          <a:prstGeom prst="rect">
            <a:avLst/>
          </a:prstGeom>
          <a:noFill/>
        </p:spPr>
        <p:txBody>
          <a:bodyPr wrap="square">
            <a:spAutoFit/>
          </a:bodyPr>
          <a:lstStyle/>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prstClr val="black"/>
                </a:solidFill>
                <a:effectLst/>
                <a:uLnTx/>
                <a:uFillTx/>
                <a:latin typeface="Calibri (body)"/>
                <a:ea typeface="+mn-ea"/>
              </a:rPr>
              <a:t>Périmètre:</a:t>
            </a: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positions rémunérées ou productrices d'intérêts dans toutes les catégories comptables, en incluant :</a:t>
            </a:r>
          </a:p>
          <a:p>
            <a:pPr marL="781035" marR="0" lvl="1"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instruments soumis à l'évaluation au coût amorti</a:t>
            </a:r>
          </a:p>
          <a:p>
            <a:pPr marL="781035" marR="0" lvl="1"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instruments soumis à l'évaluation à la juste valeur (FVOCI, </a:t>
            </a:r>
            <a:r>
              <a:rPr kumimoji="0" lang="fr-FR" sz="1200" b="0" i="0" u="none" strike="noStrike" kern="1200" cap="none" spc="0" normalizeH="0" baseline="0" noProof="0" dirty="0" err="1">
                <a:ln>
                  <a:noFill/>
                </a:ln>
                <a:solidFill>
                  <a:prstClr val="black"/>
                </a:solidFill>
                <a:effectLst/>
                <a:uLnTx/>
                <a:uFillTx/>
                <a:latin typeface="Calibri (body)"/>
                <a:ea typeface="+mn-ea"/>
              </a:rPr>
              <a:t>FVPnL</a:t>
            </a:r>
            <a:r>
              <a:rPr kumimoji="0" lang="fr-FR" sz="1200" b="0" i="0" u="none" strike="noStrike" kern="1200" cap="none" spc="0" normalizeH="0" baseline="0" noProof="0" dirty="0">
                <a:ln>
                  <a:noFill/>
                </a:ln>
                <a:solidFill>
                  <a:prstClr val="black"/>
                </a:solidFill>
                <a:effectLst/>
                <a:uLnTx/>
                <a:uFillTx/>
                <a:latin typeface="Calibri (body)"/>
                <a:ea typeface="+mn-ea"/>
              </a:rPr>
              <a:t>)</a:t>
            </a:r>
          </a:p>
          <a:p>
            <a:pPr marL="781035" marR="0" lvl="1"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frais et commissions reconnus comme de la marge nette d’intérêt</a:t>
            </a:r>
          </a:p>
          <a:p>
            <a:pPr marL="781035" marR="0" lvl="1" indent="-171450" algn="just" defTabSz="121917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200" b="0" i="0" u="none" strike="noStrike" kern="1200" cap="none" spc="0" normalizeH="0" baseline="0" noProof="0" dirty="0">
                <a:ln>
                  <a:noFill/>
                </a:ln>
                <a:solidFill>
                  <a:prstClr val="black"/>
                </a:solidFill>
                <a:effectLst/>
                <a:uLnTx/>
                <a:uFillTx/>
                <a:latin typeface="Calibri (body)"/>
                <a:ea typeface="+mn-ea"/>
              </a:rPr>
              <a:t>Dans le bilan de juin, il est mentionné que les commissions d’octroi de crédit sont intégrées au taux d’intérêt. Elles sont donc dans le périmètre de calcul de la MNI au sens du STEBA</a:t>
            </a:r>
            <a:endParaRPr kumimoji="0" lang="fr-FR" sz="12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a:p>
            <a:pPr marL="0" marR="0" lvl="0" indent="0" algn="just" defTabSz="1219170" eaLnBrk="1" fontAlgn="auto" latinLnBrk="0" hangingPunct="1">
              <a:lnSpc>
                <a:spcPct val="100000"/>
              </a:lnSpc>
              <a:spcBef>
                <a:spcPts val="0"/>
              </a:spcBef>
              <a:spcAft>
                <a:spcPts val="0"/>
              </a:spcAft>
              <a:buClrTx/>
              <a:buSzTx/>
              <a:buFontTx/>
              <a:buNone/>
              <a:tabLst/>
              <a:defRPr/>
            </a:pPr>
            <a:endParaRPr kumimoji="0" lang="fr-FR" sz="1200" b="1" i="0" u="sng"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Traitement des expositions non performantes</a:t>
            </a:r>
            <a:endParaRPr kumimoji="0" lang="fr-FR" sz="1200" b="1"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 ratio d’expositions doit être homogène avec les templates crédit. Des formules Excel assurent la cohérence entre les deux, par pays et types d’actifs. Une table de transcodification (présentée en annexe) est disponible dans la méthodo pour faire le lien granulaire entre les deux.</a:t>
            </a:r>
          </a:p>
          <a:p>
            <a:pPr marL="781035" marR="0" lvl="1"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Il est imposé de considérer une même proportion d’encours douteux sur la partie taux fixe et sur la partie taux révisable. </a:t>
            </a:r>
          </a:p>
          <a:p>
            <a:pPr marL="781035" marR="0" lvl="1"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données du point de départ doivent être cohérentes avec le </a:t>
            </a:r>
            <a:r>
              <a:rPr kumimoji="0" lang="fr-FR" sz="1200" b="0" i="0" u="none" strike="noStrike" kern="1200" cap="none" spc="0" normalizeH="0" baseline="0" noProof="0" dirty="0" err="1">
                <a:ln>
                  <a:noFill/>
                </a:ln>
                <a:solidFill>
                  <a:prstClr val="black"/>
                </a:solidFill>
                <a:effectLst/>
                <a:uLnTx/>
                <a:uFillTx/>
                <a:latin typeface="Calibri (body)"/>
                <a:ea typeface="+mn-ea"/>
              </a:rPr>
              <a:t>Finrep</a:t>
            </a:r>
            <a:r>
              <a:rPr kumimoji="0" lang="fr-FR" sz="1200" b="0" i="0" u="none" strike="noStrike" kern="1200" cap="none" spc="0" normalizeH="0" baseline="0" noProof="0" dirty="0">
                <a:ln>
                  <a:noFill/>
                </a:ln>
                <a:solidFill>
                  <a:prstClr val="black"/>
                </a:solidFill>
                <a:effectLst/>
                <a:uLnTx/>
                <a:uFillTx/>
                <a:latin typeface="Calibri (body)"/>
                <a:ea typeface="+mn-ea"/>
              </a:rPr>
              <a:t> (F02).</a:t>
            </a:r>
          </a:p>
          <a:p>
            <a:pPr marL="609585" marR="0" lvl="1" indent="0" algn="just" defTabSz="121917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solidFill>
              <a:effectLst/>
              <a:uLnTx/>
              <a:uFillTx/>
              <a:latin typeface="Calibri (body)"/>
              <a:ea typeface="+mn-ea"/>
            </a:endParaRPr>
          </a:p>
          <a:p>
            <a:pPr marL="0" marR="0" lvl="0" indent="0" algn="just" defTabSz="121917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prstClr val="black"/>
              </a:solidFill>
              <a:effectLst/>
              <a:uLnTx/>
              <a:uFillTx/>
              <a:latin typeface="Calibri (body)"/>
              <a:ea typeface="+mn-ea"/>
            </a:endParaRPr>
          </a:p>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prstClr val="black"/>
                </a:solidFill>
                <a:effectLst/>
                <a:uLnTx/>
                <a:uFillTx/>
                <a:latin typeface="Calibri (body)"/>
                <a:ea typeface="+mn-ea"/>
              </a:rPr>
              <a:t>Point de départ</a:t>
            </a:r>
            <a:endParaRPr kumimoji="0" lang="fr-FR" sz="1200" b="1" i="0" u="none" strike="noStrike" kern="1200" cap="none" spc="0" normalizeH="0" baseline="0" noProof="0" dirty="0">
              <a:ln>
                <a:noFill/>
              </a:ln>
              <a:solidFill>
                <a:prstClr val="black"/>
              </a:solidFill>
              <a:effectLst/>
              <a:uLnTx/>
              <a:uFillTx/>
              <a:latin typeface="Calibri (body)"/>
              <a:ea typeface="+mn-ea"/>
            </a:endParaRPr>
          </a:p>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Les données du point de départ regroupent deux parties :</a:t>
            </a: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Le stock à fin 2024</a:t>
            </a: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La moyenne des encours sur l’année 2024</a:t>
            </a: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fr-FR" sz="1200" b="0" i="0" u="none" strike="noStrike" kern="1200" cap="none" spc="0" normalizeH="0" baseline="0" noProof="0" dirty="0">
              <a:ln>
                <a:noFill/>
              </a:ln>
              <a:solidFill>
                <a:prstClr val="black"/>
              </a:solidFill>
              <a:effectLst/>
              <a:uLnTx/>
              <a:uFillTx/>
              <a:latin typeface="Calibri (body)"/>
              <a:ea typeface="+mn-ea"/>
            </a:endParaRPr>
          </a:p>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Calibri (body)"/>
                <a:ea typeface="+mn-ea"/>
              </a:rPr>
              <a:t>Ces deux catégories incluent une décomposition du taux en sa composante marge et sa composante taux</a:t>
            </a:r>
          </a:p>
          <a:p>
            <a:pPr marL="0" marR="0" lvl="0" indent="0" algn="just" defTabSz="121917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solidFill>
              <a:effectLst/>
              <a:uLnTx/>
              <a:uFillTx/>
              <a:latin typeface="Calibri (body)"/>
              <a:ea typeface="+mn-ea"/>
            </a:endParaRPr>
          </a:p>
          <a:p>
            <a:pPr marL="0" marR="0" lvl="0" indent="0" algn="just" defTabSz="121917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prstClr val="black"/>
                </a:solidFill>
                <a:effectLst/>
                <a:uLnTx/>
                <a:uFillTx/>
                <a:latin typeface="Calibri (body)"/>
                <a:ea typeface="+mn-ea"/>
              </a:rPr>
              <a:t>Bilan constant</a:t>
            </a:r>
            <a:endParaRPr kumimoji="0" lang="fr-FR" sz="1200" b="0" i="0" u="none" strike="noStrike" kern="1200" cap="none" spc="0" normalizeH="0" baseline="0" noProof="0" dirty="0">
              <a:ln>
                <a:noFill/>
              </a:ln>
              <a:solidFill>
                <a:prstClr val="black"/>
              </a:solidFill>
              <a:effectLst/>
              <a:uLnTx/>
              <a:uFillTx/>
              <a:latin typeface="Calibri (body)"/>
              <a:ea typeface="+mn-ea"/>
            </a:endParaRP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De la même manière que pour tous les templates, les calculs doivent être effectuées avec l’hypothèse d’un bilan constant.</a:t>
            </a:r>
          </a:p>
          <a:p>
            <a:pPr marL="171450" marR="0" lvl="0" indent="-171450" algn="just"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solidFill>
                <a:effectLst/>
                <a:uLnTx/>
                <a:uFillTx/>
                <a:latin typeface="Calibri (body)"/>
                <a:ea typeface="+mn-ea"/>
              </a:rPr>
              <a:t>Cela signifie que tout encours qui mature pendant l’horizon de projection sera remplacé par des encours de même nature (Maturité originelle, contrepartie, nominal, devise, …) aux paramètres de choc près.</a:t>
            </a:r>
            <a:endParaRPr kumimoji="0" lang="fr-FR" sz="12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p:txBody>
      </p:sp>
      <p:sp>
        <p:nvSpPr>
          <p:cNvPr id="140" name="Rectangle 139">
            <a:extLst>
              <a:ext uri="{FF2B5EF4-FFF2-40B4-BE49-F238E27FC236}">
                <a16:creationId xmlns:a16="http://schemas.microsoft.com/office/drawing/2014/main" id="{500C57BC-8DAE-38D7-55B5-CC0BA47855E8}"/>
              </a:ext>
            </a:extLst>
          </p:cNvPr>
          <p:cNvSpPr/>
          <p:nvPr/>
        </p:nvSpPr>
        <p:spPr>
          <a:xfrm>
            <a:off x="257441" y="1269112"/>
            <a:ext cx="11563109" cy="4893647"/>
          </a:xfrm>
          <a:prstGeom prst="rect">
            <a:avLst/>
          </a:prstGeom>
          <a:no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800" b="0" i="0" u="none" strike="noStrike" kern="1200" cap="none" spc="0" normalizeH="0" baseline="0" noProof="0">
              <a:ln>
                <a:noFill/>
              </a:ln>
              <a:solidFill>
                <a:srgbClr val="FFFFFF"/>
              </a:solidFill>
              <a:effectLst/>
              <a:uLnTx/>
              <a:uFillTx/>
              <a:latin typeface="Calibri (body)"/>
              <a:ea typeface="+mn-ea"/>
              <a:cs typeface="+mn-cs"/>
            </a:endParaRPr>
          </a:p>
        </p:txBody>
      </p:sp>
      <p:sp>
        <p:nvSpPr>
          <p:cNvPr id="141" name="Espace réservé du texte 16">
            <a:extLst>
              <a:ext uri="{FF2B5EF4-FFF2-40B4-BE49-F238E27FC236}">
                <a16:creationId xmlns:a16="http://schemas.microsoft.com/office/drawing/2014/main" id="{E05A3605-2D0E-0117-E9A8-B88BB6B80FBE}"/>
              </a:ext>
            </a:extLst>
          </p:cNvPr>
          <p:cNvSpPr txBox="1">
            <a:spLocks/>
          </p:cNvSpPr>
          <p:nvPr/>
        </p:nvSpPr>
        <p:spPr>
          <a:xfrm flipH="1">
            <a:off x="75568" y="62260"/>
            <a:ext cx="648000" cy="608400"/>
          </a:xfrm>
          <a:prstGeom prst="parallelogram">
            <a:avLst/>
          </a:prstGeom>
          <a:solidFill>
            <a:srgbClr val="3E7888"/>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2</a:t>
            </a:r>
          </a:p>
        </p:txBody>
      </p:sp>
    </p:spTree>
    <p:extLst>
      <p:ext uri="{BB962C8B-B14F-4D97-AF65-F5344CB8AC3E}">
        <p14:creationId xmlns:p14="http://schemas.microsoft.com/office/powerpoint/2010/main" val="159860003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9625" y="5970245"/>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Présentation des templates</a:t>
            </a:r>
          </a:p>
          <a:p>
            <a:r>
              <a:rPr lang="fr-FR" sz="2000" dirty="0"/>
              <a:t>a- Templates réglementaires  STEBA</a:t>
            </a:r>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78</a:t>
            </a:fld>
            <a:endParaRPr lang="fr-FR" sz="1050" kern="1200" dirty="0">
              <a:solidFill>
                <a:srgbClr val="003565"/>
              </a:solidFill>
              <a:latin typeface="Calibri (body)"/>
              <a:ea typeface="+mn-ea"/>
              <a:cs typeface="+mn-cs"/>
            </a:endParaRPr>
          </a:p>
        </p:txBody>
      </p:sp>
      <p:sp>
        <p:nvSpPr>
          <p:cNvPr id="116" name="Text Placeholder 1">
            <a:extLst>
              <a:ext uri="{FF2B5EF4-FFF2-40B4-BE49-F238E27FC236}">
                <a16:creationId xmlns:a16="http://schemas.microsoft.com/office/drawing/2014/main" id="{846B73BB-768D-3AB9-5FDE-7100E0679529}"/>
              </a:ext>
            </a:extLst>
          </p:cNvPr>
          <p:cNvSpPr txBox="1">
            <a:spLocks/>
          </p:cNvSpPr>
          <p:nvPr/>
        </p:nvSpPr>
        <p:spPr bwMode="gray">
          <a:xfrm>
            <a:off x="301131" y="1573633"/>
            <a:ext cx="3600000" cy="4536503"/>
          </a:xfrm>
          <a:prstGeom prst="rect">
            <a:avLst/>
          </a:prstGeom>
          <a:solidFill>
            <a:schemeClr val="tx2">
              <a:lumMod val="20000"/>
              <a:lumOff val="80000"/>
            </a:schemeClr>
          </a:solidFill>
          <a:ln>
            <a:solidFill>
              <a:srgbClr val="003565"/>
            </a:solidFill>
          </a:ln>
        </p:spPr>
        <p:txBody>
          <a:bodyPr vert="horz" lIns="252000" tIns="720000" rIns="14400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1800" kern="1200">
                <a:solidFill>
                  <a:schemeClr val="bg1"/>
                </a:solidFill>
                <a:latin typeface="+mn-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85750" marR="0" lvl="0" indent="-285750" algn="l" defTabSz="1219170" rtl="0" eaLnBrk="1" fontAlgn="auto" latinLnBrk="0" hangingPunct="1">
              <a:lnSpc>
                <a:spcPct val="100000"/>
              </a:lnSpc>
              <a:spcBef>
                <a:spcPts val="0"/>
              </a:spcBef>
              <a:spcAft>
                <a:spcPts val="0"/>
              </a:spcAft>
              <a:buClrTx/>
              <a:buSzTx/>
              <a:buFontTx/>
              <a:buChar char="-"/>
              <a:tabLst/>
              <a:defRPr/>
            </a:pPr>
            <a:r>
              <a:rPr kumimoji="0" lang="fr-FR" sz="1400" b="0" i="0" u="none" strike="noStrike" kern="1200" cap="none" spc="0" normalizeH="0" baseline="0" noProof="0" dirty="0">
                <a:ln>
                  <a:noFill/>
                </a:ln>
                <a:solidFill>
                  <a:sysClr val="windowText" lastClr="000000"/>
                </a:solidFill>
                <a:effectLst/>
                <a:uLnTx/>
                <a:uFillTx/>
                <a:latin typeface="Calibri (body)"/>
              </a:rPr>
              <a:t>Reprend de façon synthétique les résultats du stress test sur la MNI.</a:t>
            </a:r>
          </a:p>
          <a:p>
            <a:pPr marL="285750" marR="0" lvl="0" indent="-285750" algn="l" defTabSz="1219170" rtl="0" eaLnBrk="1" fontAlgn="auto" latinLnBrk="0" hangingPunct="1">
              <a:lnSpc>
                <a:spcPct val="100000"/>
              </a:lnSpc>
              <a:spcBef>
                <a:spcPts val="0"/>
              </a:spcBef>
              <a:spcAft>
                <a:spcPts val="0"/>
              </a:spcAft>
              <a:buClrTx/>
              <a:buSzTx/>
              <a:buFontTx/>
              <a:buChar char="-"/>
              <a:tabLst/>
              <a:defRPr/>
            </a:pPr>
            <a:endParaRPr kumimoji="0" lang="fr-FR" sz="1400" b="0" i="0" u="none" strike="noStrike" kern="1200" cap="none" spc="0" normalizeH="0" baseline="0" noProof="0" dirty="0">
              <a:ln>
                <a:noFill/>
              </a:ln>
              <a:solidFill>
                <a:sysClr val="windowText" lastClr="000000"/>
              </a:solidFill>
              <a:effectLst/>
              <a:uLnTx/>
              <a:uFillTx/>
              <a:latin typeface="Calibri (body)"/>
            </a:endParaRPr>
          </a:p>
          <a:p>
            <a:pPr marL="285750" marR="0" lvl="0" indent="-285750" algn="l" defTabSz="1219170" rtl="0" eaLnBrk="1" fontAlgn="auto" latinLnBrk="0" hangingPunct="1">
              <a:lnSpc>
                <a:spcPct val="100000"/>
              </a:lnSpc>
              <a:spcBef>
                <a:spcPts val="0"/>
              </a:spcBef>
              <a:spcAft>
                <a:spcPts val="0"/>
              </a:spcAft>
              <a:buClrTx/>
              <a:buSzTx/>
              <a:buFontTx/>
              <a:buChar char="-"/>
              <a:tabLst/>
              <a:defRPr/>
            </a:pPr>
            <a:r>
              <a:rPr kumimoji="0" lang="fr-FR" sz="1400" b="0" i="0" u="none" strike="noStrike" kern="1200" cap="none" spc="0" normalizeH="0" baseline="0" noProof="0" dirty="0">
                <a:ln>
                  <a:noFill/>
                </a:ln>
                <a:solidFill>
                  <a:sysClr val="windowText" lastClr="000000"/>
                </a:solidFill>
                <a:effectLst/>
                <a:uLnTx/>
                <a:uFillTx/>
                <a:latin typeface="Calibri (body)"/>
              </a:rPr>
              <a:t>Les données à remplir concernent :</a:t>
            </a:r>
          </a:p>
          <a:p>
            <a:pPr marL="0" marR="0" lvl="0" indent="0" algn="l"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endParaRPr kumimoji="0" lang="fr-FR" sz="1400" b="0" i="0" u="none" strike="noStrike" kern="1200" cap="none" spc="0" normalizeH="0" baseline="0" noProof="0" dirty="0">
              <a:ln>
                <a:noFill/>
              </a:ln>
              <a:solidFill>
                <a:sysClr val="windowText" lastClr="000000"/>
              </a:solidFill>
              <a:effectLst/>
              <a:uLnTx/>
              <a:uFillTx/>
              <a:latin typeface="Calibri (body)"/>
            </a:endParaRPr>
          </a:p>
          <a:p>
            <a:pPr marL="587375" marR="0" lvl="1" indent="-228600" algn="l" defTabSz="1219170" rtl="0" eaLnBrk="1" fontAlgn="auto" latinLnBrk="0" hangingPunct="1">
              <a:lnSpc>
                <a:spcPct val="100000"/>
              </a:lnSpc>
              <a:spcBef>
                <a:spcPts val="0"/>
              </a:spcBef>
              <a:spcAft>
                <a:spcPts val="1200"/>
              </a:spcAft>
              <a:buClrTx/>
              <a:buSzTx/>
              <a:buFont typeface="Quicksand" panose="00000500000000000000" pitchFamily="2" charset="0"/>
              <a:buAutoNum type="arabicPeriod"/>
              <a:tabLst/>
              <a:defRPr/>
            </a:pPr>
            <a:r>
              <a:rPr kumimoji="0" lang="fr-FR" sz="1200" b="0" i="0" u="none" strike="noStrike" kern="1200" cap="none" spc="0" normalizeH="0" baseline="0" noProof="0" dirty="0">
                <a:ln>
                  <a:noFill/>
                </a:ln>
                <a:solidFill>
                  <a:sysClr val="windowText" lastClr="000000"/>
                </a:solidFill>
                <a:effectLst/>
                <a:uLnTx/>
                <a:uFillTx/>
                <a:latin typeface="Calibri (body)"/>
              </a:rPr>
              <a:t>Le point de départ à fin 2024 sur le compte de résultat</a:t>
            </a:r>
          </a:p>
          <a:p>
            <a:pPr marL="587375" marR="0" lvl="1" indent="-228600" algn="l" defTabSz="1219170" rtl="0" eaLnBrk="1" fontAlgn="auto" latinLnBrk="0" hangingPunct="1">
              <a:lnSpc>
                <a:spcPct val="100000"/>
              </a:lnSpc>
              <a:spcBef>
                <a:spcPts val="0"/>
              </a:spcBef>
              <a:spcAft>
                <a:spcPts val="1200"/>
              </a:spcAft>
              <a:buClrTx/>
              <a:buSzTx/>
              <a:buFont typeface="Quicksand" panose="00000500000000000000" pitchFamily="2" charset="0"/>
              <a:buAutoNum type="arabicPeriod"/>
              <a:tabLst/>
              <a:defRPr/>
            </a:pPr>
            <a:r>
              <a:rPr kumimoji="0" lang="fr-FR" sz="1200" b="0" i="0" u="none" strike="noStrike" kern="1200" cap="none" spc="0" normalizeH="0" baseline="0" noProof="0" dirty="0">
                <a:ln>
                  <a:noFill/>
                </a:ln>
                <a:solidFill>
                  <a:sysClr val="windowText" lastClr="000000"/>
                </a:solidFill>
                <a:effectLst/>
                <a:uLnTx/>
                <a:uFillTx/>
                <a:latin typeface="Calibri (body)"/>
              </a:rPr>
              <a:t>Le niveau de stress idiosyncratique, la notation et le caractère domestique de la banque</a:t>
            </a:r>
          </a:p>
          <a:p>
            <a:pPr marL="587375" marR="0" lvl="1" indent="-228600" algn="l" defTabSz="1219170" rtl="0" eaLnBrk="1" fontAlgn="auto" latinLnBrk="0" hangingPunct="1">
              <a:lnSpc>
                <a:spcPct val="100000"/>
              </a:lnSpc>
              <a:spcBef>
                <a:spcPts val="0"/>
              </a:spcBef>
              <a:spcAft>
                <a:spcPts val="1200"/>
              </a:spcAft>
              <a:buClrTx/>
              <a:buSzTx/>
              <a:buFont typeface="Quicksand" panose="00000500000000000000" pitchFamily="2" charset="0"/>
              <a:buAutoNum type="arabicPeriod"/>
              <a:tabLst/>
              <a:defRPr/>
            </a:pPr>
            <a:r>
              <a:rPr kumimoji="0" lang="fr-FR" sz="1200" b="0" i="0" u="none" strike="noStrike" kern="1200" cap="none" spc="0" normalizeH="0" baseline="0" noProof="0" dirty="0">
                <a:ln>
                  <a:noFill/>
                </a:ln>
                <a:solidFill>
                  <a:sysClr val="windowText" lastClr="000000"/>
                </a:solidFill>
                <a:effectLst/>
                <a:uLnTx/>
                <a:uFillTx/>
                <a:latin typeface="Calibri (body)"/>
              </a:rPr>
              <a:t>Un récapitulatif de l’encours de dépôts réglementés</a:t>
            </a:r>
          </a:p>
          <a:p>
            <a:pPr marL="587375" marR="0" lvl="1" indent="-228600" algn="l" defTabSz="1219170" rtl="0" eaLnBrk="1" fontAlgn="auto" latinLnBrk="0" hangingPunct="1">
              <a:lnSpc>
                <a:spcPct val="100000"/>
              </a:lnSpc>
              <a:spcBef>
                <a:spcPts val="0"/>
              </a:spcBef>
              <a:spcAft>
                <a:spcPts val="1200"/>
              </a:spcAft>
              <a:buClrTx/>
              <a:buSzTx/>
              <a:buFont typeface="Quicksand" panose="00000500000000000000" pitchFamily="2" charset="0"/>
              <a:buAutoNum type="arabicPeriod"/>
              <a:tabLst/>
              <a:defRPr/>
            </a:pPr>
            <a:r>
              <a:rPr kumimoji="0" lang="fr-FR" sz="1200" b="0" i="0" u="none" strike="noStrike" kern="1200" cap="none" spc="0" normalizeH="0" baseline="0" noProof="0" dirty="0">
                <a:ln>
                  <a:noFill/>
                </a:ln>
                <a:solidFill>
                  <a:sysClr val="windowText" lastClr="000000"/>
                </a:solidFill>
                <a:effectLst/>
                <a:uLnTx/>
                <a:uFillTx/>
                <a:latin typeface="Calibri (body)"/>
              </a:rPr>
              <a:t>Le détail (taux, marge des encours centralisés à la CDC sur les livrets réglementés</a:t>
            </a:r>
            <a:endParaRPr kumimoji="0" lang="fr-FR" sz="1800" b="0" i="0" u="none" strike="noStrike" kern="1200" cap="none" spc="0" normalizeH="0" baseline="0" noProof="0" dirty="0">
              <a:ln>
                <a:noFill/>
              </a:ln>
              <a:solidFill>
                <a:sysClr val="windowText" lastClr="000000"/>
              </a:solidFill>
              <a:effectLst/>
              <a:uLnTx/>
              <a:uFillTx/>
              <a:latin typeface="Calibri (body)"/>
            </a:endParaRPr>
          </a:p>
        </p:txBody>
      </p:sp>
      <p:sp>
        <p:nvSpPr>
          <p:cNvPr id="117" name="Text Placeholder 2">
            <a:extLst>
              <a:ext uri="{FF2B5EF4-FFF2-40B4-BE49-F238E27FC236}">
                <a16:creationId xmlns:a16="http://schemas.microsoft.com/office/drawing/2014/main" id="{626DFD56-4ED1-D89A-E91B-CC09F3DEADC8}"/>
              </a:ext>
            </a:extLst>
          </p:cNvPr>
          <p:cNvSpPr txBox="1">
            <a:spLocks/>
          </p:cNvSpPr>
          <p:nvPr/>
        </p:nvSpPr>
        <p:spPr bwMode="gray">
          <a:xfrm>
            <a:off x="1418011" y="1725661"/>
            <a:ext cx="1434044" cy="432048"/>
          </a:xfrm>
          <a:prstGeom prst="rect">
            <a:avLst/>
          </a:prstGeom>
        </p:spPr>
        <p:txBody>
          <a:bodyPr vert="horz" lIns="0" tIns="0" rIns="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2000" kern="1200">
                <a:solidFill>
                  <a:schemeClr val="bg1"/>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r>
              <a:rPr kumimoji="0" lang="en-GB" sz="1800" b="1" i="0" u="none" strike="noStrike" kern="1200" cap="none" spc="0" normalizeH="0" baseline="0" noProof="0" dirty="0">
                <a:ln>
                  <a:noFill/>
                </a:ln>
                <a:solidFill>
                  <a:sysClr val="windowText" lastClr="000000"/>
                </a:solidFill>
                <a:effectLst/>
                <a:uLnTx/>
                <a:uFillTx/>
                <a:latin typeface="Calibri (body)"/>
              </a:rPr>
              <a:t>NII_SUM</a:t>
            </a:r>
          </a:p>
        </p:txBody>
      </p:sp>
      <p:sp>
        <p:nvSpPr>
          <p:cNvPr id="118" name="Text Placeholder 3">
            <a:extLst>
              <a:ext uri="{FF2B5EF4-FFF2-40B4-BE49-F238E27FC236}">
                <a16:creationId xmlns:a16="http://schemas.microsoft.com/office/drawing/2014/main" id="{3C7099C3-DEC4-6346-A9E4-F9E4F89081AC}"/>
              </a:ext>
            </a:extLst>
          </p:cNvPr>
          <p:cNvSpPr txBox="1">
            <a:spLocks/>
          </p:cNvSpPr>
          <p:nvPr/>
        </p:nvSpPr>
        <p:spPr bwMode="gray">
          <a:xfrm>
            <a:off x="4291732" y="1573631"/>
            <a:ext cx="3600000" cy="4536503"/>
          </a:xfrm>
          <a:prstGeom prst="rect">
            <a:avLst/>
          </a:prstGeom>
          <a:solidFill>
            <a:schemeClr val="tx2">
              <a:lumMod val="20000"/>
              <a:lumOff val="80000"/>
            </a:schemeClr>
          </a:solidFill>
          <a:ln>
            <a:solidFill>
              <a:srgbClr val="003565"/>
            </a:solidFill>
          </a:ln>
        </p:spPr>
        <p:txBody>
          <a:bodyPr vert="horz" lIns="252000" tIns="720000" rIns="14400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1800" kern="1200">
                <a:solidFill>
                  <a:schemeClr val="bg1"/>
                </a:solidFill>
                <a:latin typeface="+mn-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85750" marR="0" lvl="0" indent="-285750" algn="l" defTabSz="1219170" rtl="0" eaLnBrk="1" fontAlgn="auto" latinLnBrk="0" hangingPunct="1">
              <a:lnSpc>
                <a:spcPct val="100000"/>
              </a:lnSpc>
              <a:spcBef>
                <a:spcPts val="0"/>
              </a:spcBef>
              <a:spcAft>
                <a:spcPts val="0"/>
              </a:spcAft>
              <a:buClrTx/>
              <a:buSzTx/>
              <a:buFontTx/>
              <a:buChar char="-"/>
              <a:tabLst/>
              <a:defRPr/>
            </a:pPr>
            <a:r>
              <a:rPr kumimoji="0" lang="fr-FR" sz="1400" b="0" i="0" u="none" strike="noStrike" kern="1200" cap="none" spc="0" normalizeH="0" baseline="0" noProof="0">
                <a:ln>
                  <a:noFill/>
                </a:ln>
                <a:solidFill>
                  <a:sysClr val="windowText" lastClr="000000"/>
                </a:solidFill>
                <a:effectLst/>
                <a:uLnTx/>
                <a:uFillTx/>
                <a:latin typeface="Calibri (body)"/>
              </a:rPr>
              <a:t>Détail de la MNI par :</a:t>
            </a:r>
          </a:p>
          <a:p>
            <a:pPr marL="0" marR="0" lvl="0" indent="0" algn="l"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endParaRPr kumimoji="0" lang="fr-FR" sz="1400" b="0" i="0" u="none" strike="noStrike" kern="1200" cap="none" spc="0" normalizeH="0" baseline="0" noProof="0">
              <a:ln>
                <a:noFill/>
              </a:ln>
              <a:solidFill>
                <a:sysClr val="windowText" lastClr="000000"/>
              </a:solidFill>
              <a:effectLst/>
              <a:uLnTx/>
              <a:uFillTx/>
              <a:latin typeface="Calibri (body)"/>
            </a:endParaRP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Poste du bilan</a:t>
            </a: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Fixe/Révisable</a:t>
            </a: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Performant/douteux</a:t>
            </a: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Stock/projection (baseline et adverse)</a:t>
            </a: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Maturité résiduelle</a:t>
            </a:r>
          </a:p>
          <a:p>
            <a:pPr marL="592137" marR="0" lvl="1" indent="-228600" algn="l" defTabSz="1219170" rtl="0" eaLnBrk="1" fontAlgn="auto" latinLnBrk="0" hangingPunct="1">
              <a:lnSpc>
                <a:spcPct val="100000"/>
              </a:lnSpc>
              <a:spcBef>
                <a:spcPts val="0"/>
              </a:spcBef>
              <a:spcAft>
                <a:spcPts val="1200"/>
              </a:spcAft>
              <a:buClrTx/>
              <a:buSzTx/>
              <a:buFont typeface="+mj-lt"/>
              <a:buAutoNum type="arabicPeriod"/>
              <a:tabLst/>
              <a:defRPr/>
            </a:pPr>
            <a:r>
              <a:rPr kumimoji="0" lang="fr-FR" sz="1200" b="0" i="0" u="none" strike="noStrike" kern="1200" cap="none" spc="0" normalizeH="0" baseline="0" noProof="0">
                <a:ln>
                  <a:noFill/>
                </a:ln>
                <a:solidFill>
                  <a:sysClr val="windowText" lastClr="000000"/>
                </a:solidFill>
                <a:effectLst/>
                <a:uLnTx/>
                <a:uFillTx/>
                <a:latin typeface="Calibri (body)"/>
              </a:rPr>
              <a:t>Maturité d’origine</a:t>
            </a:r>
          </a:p>
          <a:p>
            <a:pPr marL="0" marR="0" lvl="1" indent="0" algn="l" defTabSz="1219170" rtl="0" eaLnBrk="1" fontAlgn="auto" latinLnBrk="0" hangingPunct="1">
              <a:lnSpc>
                <a:spcPct val="100000"/>
              </a:lnSpc>
              <a:spcBef>
                <a:spcPts val="0"/>
              </a:spcBef>
              <a:spcAft>
                <a:spcPts val="1200"/>
              </a:spcAft>
              <a:buClrTx/>
              <a:buSzTx/>
              <a:buFont typeface="Quicksand" panose="00000500000000000000" pitchFamily="2" charset="0"/>
              <a:buNone/>
              <a:tabLst/>
              <a:defRPr/>
            </a:pPr>
            <a:endParaRPr kumimoji="0" lang="fr-FR" sz="1400" b="0" i="0" u="none" strike="noStrike" kern="1200" cap="none" spc="0" normalizeH="0" baseline="0" noProof="0" dirty="0">
              <a:ln>
                <a:noFill/>
              </a:ln>
              <a:solidFill>
                <a:sysClr val="windowText" lastClr="000000"/>
              </a:solidFill>
              <a:effectLst/>
              <a:uLnTx/>
              <a:uFillTx/>
              <a:latin typeface="Calibri (body)"/>
            </a:endParaRPr>
          </a:p>
        </p:txBody>
      </p:sp>
      <p:sp>
        <p:nvSpPr>
          <p:cNvPr id="119" name="Text Placeholder 4">
            <a:extLst>
              <a:ext uri="{FF2B5EF4-FFF2-40B4-BE49-F238E27FC236}">
                <a16:creationId xmlns:a16="http://schemas.microsoft.com/office/drawing/2014/main" id="{4A30C411-1F92-2594-6A5E-374E03653067}"/>
              </a:ext>
            </a:extLst>
          </p:cNvPr>
          <p:cNvSpPr txBox="1">
            <a:spLocks/>
          </p:cNvSpPr>
          <p:nvPr/>
        </p:nvSpPr>
        <p:spPr bwMode="gray">
          <a:xfrm>
            <a:off x="5372036" y="1710863"/>
            <a:ext cx="1470618" cy="432048"/>
          </a:xfrm>
          <a:prstGeom prst="rect">
            <a:avLst/>
          </a:prstGeom>
        </p:spPr>
        <p:txBody>
          <a:bodyPr vert="horz" lIns="0" tIns="0" rIns="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2000" kern="1200">
                <a:solidFill>
                  <a:schemeClr val="bg1"/>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r>
              <a:rPr kumimoji="0" lang="en-GB" sz="1800" b="1" i="0" u="none" strike="noStrike" kern="1200" cap="none" spc="0" normalizeH="0" baseline="0" noProof="0">
                <a:ln>
                  <a:noFill/>
                </a:ln>
                <a:solidFill>
                  <a:sysClr val="windowText" lastClr="000000"/>
                </a:solidFill>
                <a:effectLst/>
                <a:uLnTx/>
                <a:uFillTx/>
                <a:latin typeface="Calibri (body)"/>
              </a:rPr>
              <a:t>NII_CALC</a:t>
            </a:r>
            <a:endParaRPr kumimoji="0" lang="en-GB" sz="1800" b="1" i="0" u="none" strike="noStrike" kern="1200" cap="none" spc="0" normalizeH="0" baseline="0" noProof="0" dirty="0">
              <a:ln>
                <a:noFill/>
              </a:ln>
              <a:solidFill>
                <a:sysClr val="windowText" lastClr="000000"/>
              </a:solidFill>
              <a:effectLst/>
              <a:uLnTx/>
              <a:uFillTx/>
              <a:latin typeface="Calibri (body)"/>
            </a:endParaRPr>
          </a:p>
        </p:txBody>
      </p:sp>
      <p:sp>
        <p:nvSpPr>
          <p:cNvPr id="120" name="Text Placeholder 5">
            <a:extLst>
              <a:ext uri="{FF2B5EF4-FFF2-40B4-BE49-F238E27FC236}">
                <a16:creationId xmlns:a16="http://schemas.microsoft.com/office/drawing/2014/main" id="{FC39216B-ABEB-FCD5-FCD7-19BBE61B8ADC}"/>
              </a:ext>
            </a:extLst>
          </p:cNvPr>
          <p:cNvSpPr txBox="1">
            <a:spLocks/>
          </p:cNvSpPr>
          <p:nvPr/>
        </p:nvSpPr>
        <p:spPr bwMode="gray">
          <a:xfrm>
            <a:off x="8282333" y="1575909"/>
            <a:ext cx="3600000" cy="4536503"/>
          </a:xfrm>
          <a:prstGeom prst="rect">
            <a:avLst/>
          </a:prstGeom>
          <a:solidFill>
            <a:schemeClr val="tx2">
              <a:lumMod val="20000"/>
              <a:lumOff val="80000"/>
            </a:schemeClr>
          </a:solidFill>
          <a:ln>
            <a:solidFill>
              <a:srgbClr val="003565"/>
            </a:solidFill>
          </a:ln>
        </p:spPr>
        <p:txBody>
          <a:bodyPr vert="horz" lIns="252000" tIns="720000" rIns="14400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1800" kern="1200">
                <a:solidFill>
                  <a:schemeClr val="bg1"/>
                </a:solidFill>
                <a:latin typeface="+mn-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85750" marR="0" lvl="0" indent="-285750" algn="l" defTabSz="1219170" rtl="0" eaLnBrk="1" fontAlgn="auto" latinLnBrk="0" hangingPunct="1">
              <a:lnSpc>
                <a:spcPct val="100000"/>
              </a:lnSpc>
              <a:spcBef>
                <a:spcPts val="0"/>
              </a:spcBef>
              <a:spcAft>
                <a:spcPts val="0"/>
              </a:spcAft>
              <a:buClrTx/>
              <a:buSzTx/>
              <a:buFontTx/>
              <a:buChar char="-"/>
              <a:tabLst/>
              <a:defRPr/>
            </a:pPr>
            <a:r>
              <a:rPr kumimoji="0" lang="fr-FR" sz="1400" b="0" i="0" u="none" strike="noStrike" kern="1200" cap="none" spc="0" normalizeH="0" baseline="0" noProof="0">
                <a:ln>
                  <a:noFill/>
                </a:ln>
                <a:solidFill>
                  <a:sysClr val="windowText" lastClr="000000"/>
                </a:solidFill>
                <a:effectLst/>
                <a:uLnTx/>
                <a:uFillTx/>
                <a:latin typeface="Calibri (body)"/>
              </a:rPr>
              <a:t>Pass-through rate des dépôts centralisés à la CDC, avec la même granularité que l’onglet NII_CALC</a:t>
            </a:r>
            <a:endParaRPr kumimoji="0" lang="fr-FR" sz="1400" b="0" i="0" u="none" strike="noStrike" kern="1200" cap="none" spc="0" normalizeH="0" baseline="0" noProof="0" dirty="0">
              <a:ln>
                <a:noFill/>
              </a:ln>
              <a:solidFill>
                <a:sysClr val="windowText" lastClr="000000"/>
              </a:solidFill>
              <a:effectLst/>
              <a:uLnTx/>
              <a:uFillTx/>
              <a:latin typeface="Calibri (body)"/>
            </a:endParaRPr>
          </a:p>
        </p:txBody>
      </p:sp>
      <p:sp>
        <p:nvSpPr>
          <p:cNvPr id="121" name="Text Placeholder 6">
            <a:extLst>
              <a:ext uri="{FF2B5EF4-FFF2-40B4-BE49-F238E27FC236}">
                <a16:creationId xmlns:a16="http://schemas.microsoft.com/office/drawing/2014/main" id="{316E48B6-FB9F-4368-950F-6387896F9F50}"/>
              </a:ext>
            </a:extLst>
          </p:cNvPr>
          <p:cNvSpPr txBox="1">
            <a:spLocks/>
          </p:cNvSpPr>
          <p:nvPr/>
        </p:nvSpPr>
        <p:spPr bwMode="gray">
          <a:xfrm>
            <a:off x="8461030" y="1710863"/>
            <a:ext cx="3242605" cy="432048"/>
          </a:xfrm>
          <a:prstGeom prst="rect">
            <a:avLst/>
          </a:prstGeom>
        </p:spPr>
        <p:txBody>
          <a:bodyPr vert="horz" lIns="0" tIns="0" rIns="0" bIns="0" rtlCol="0" anchor="t" anchorCtr="0">
            <a:normAutofit/>
          </a:bodyPr>
          <a:lstStyle>
            <a:lvl1pPr marL="0" indent="0" algn="l" defTabSz="1219170" rtl="0" eaLnBrk="1" latinLnBrk="0" hangingPunct="1">
              <a:lnSpc>
                <a:spcPct val="100000"/>
              </a:lnSpc>
              <a:spcBef>
                <a:spcPts val="0"/>
              </a:spcBef>
              <a:spcAft>
                <a:spcPts val="0"/>
              </a:spcAft>
              <a:buFont typeface="Quicksand" panose="00000500000000000000" pitchFamily="2" charset="0"/>
              <a:buNone/>
              <a:defRPr sz="2000" kern="1200">
                <a:solidFill>
                  <a:schemeClr val="bg1"/>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r>
              <a:rPr kumimoji="0" lang="fr-FR" sz="1800" b="1" i="0" u="none" strike="noStrike" kern="1200" cap="none" spc="0" normalizeH="0" baseline="0" noProof="0">
                <a:ln>
                  <a:noFill/>
                </a:ln>
                <a:solidFill>
                  <a:sysClr val="windowText" lastClr="000000"/>
                </a:solidFill>
                <a:effectLst/>
                <a:uLnTx/>
                <a:uFillTx/>
                <a:latin typeface="Calibri (body)"/>
              </a:rPr>
              <a:t>NII_CALC_FUNDING_MATCH</a:t>
            </a:r>
            <a:endParaRPr kumimoji="0" lang="fr-FR" sz="1800" b="1" i="0" u="none" strike="noStrike" kern="1200" cap="none" spc="0" normalizeH="0" baseline="0" noProof="0" dirty="0">
              <a:ln>
                <a:noFill/>
              </a:ln>
              <a:solidFill>
                <a:sysClr val="windowText" lastClr="000000"/>
              </a:solidFill>
              <a:effectLst/>
              <a:uLnTx/>
              <a:uFillTx/>
              <a:latin typeface="Calibri (body)"/>
            </a:endParaRPr>
          </a:p>
        </p:txBody>
      </p:sp>
      <p:sp>
        <p:nvSpPr>
          <p:cNvPr id="122" name="Text Placeholder 11">
            <a:extLst>
              <a:ext uri="{FF2B5EF4-FFF2-40B4-BE49-F238E27FC236}">
                <a16:creationId xmlns:a16="http://schemas.microsoft.com/office/drawing/2014/main" id="{EF98969B-DEC0-092C-E9D6-44775A219FE0}"/>
              </a:ext>
            </a:extLst>
          </p:cNvPr>
          <p:cNvSpPr txBox="1">
            <a:spLocks/>
          </p:cNvSpPr>
          <p:nvPr/>
        </p:nvSpPr>
        <p:spPr bwMode="gray">
          <a:xfrm>
            <a:off x="845518" y="2179034"/>
            <a:ext cx="2268000" cy="0"/>
          </a:xfrm>
          <a:prstGeom prst="rect">
            <a:avLst/>
          </a:prstGeom>
          <a:solidFill>
            <a:srgbClr val="003565"/>
          </a:solidFill>
          <a:ln w="12700">
            <a:solidFill>
              <a:srgbClr val="003565"/>
            </a:solidFill>
          </a:ln>
        </p:spPr>
        <p:txBody>
          <a:bodyPr vert="horz" lIns="0" tIns="0" rIns="0" bIns="0" rtlCol="0" anchor="t" anchorCtr="0">
            <a:normAutofit fontScale="25000" lnSpcReduction="20000"/>
          </a:bodyPr>
          <a:lstStyle>
            <a:lvl1pPr marL="0" indent="0" algn="ctr" defTabSz="1219170" rtl="0" eaLnBrk="1" latinLnBrk="0" hangingPunct="1">
              <a:lnSpc>
                <a:spcPct val="100000"/>
              </a:lnSpc>
              <a:spcBef>
                <a:spcPts val="0"/>
              </a:spcBef>
              <a:spcAft>
                <a:spcPts val="0"/>
              </a:spcAft>
              <a:buFont typeface="Quicksand" panose="00000500000000000000" pitchFamily="2" charset="0"/>
              <a:buNone/>
              <a:defRPr sz="100" kern="1200">
                <a:solidFill>
                  <a:schemeClr val="bg1">
                    <a:alpha val="0"/>
                  </a:schemeClr>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ctr"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endParaRPr kumimoji="0" lang="en-GB" sz="100" b="0" i="0" u="none" strike="noStrike" kern="1200" cap="none" spc="0" normalizeH="0" baseline="0" noProof="0">
              <a:ln>
                <a:noFill/>
              </a:ln>
              <a:solidFill>
                <a:srgbClr val="FFFFFF">
                  <a:alpha val="0"/>
                </a:srgbClr>
              </a:solidFill>
              <a:effectLst/>
              <a:uLnTx/>
              <a:uFillTx/>
              <a:latin typeface="Calibri (body)"/>
            </a:endParaRPr>
          </a:p>
        </p:txBody>
      </p:sp>
      <p:sp>
        <p:nvSpPr>
          <p:cNvPr id="123" name="Rectangle 122">
            <a:extLst>
              <a:ext uri="{FF2B5EF4-FFF2-40B4-BE49-F238E27FC236}">
                <a16:creationId xmlns:a16="http://schemas.microsoft.com/office/drawing/2014/main" id="{50E668B1-829C-C9E3-892F-2BDEC02E7BF8}"/>
              </a:ext>
            </a:extLst>
          </p:cNvPr>
          <p:cNvSpPr/>
          <p:nvPr/>
        </p:nvSpPr>
        <p:spPr>
          <a:xfrm>
            <a:off x="216470" y="1002290"/>
            <a:ext cx="11759059" cy="5590573"/>
          </a:xfrm>
          <a:prstGeom prst="rect">
            <a:avLst/>
          </a:prstGeom>
          <a:no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Calibri (body)"/>
              <a:ea typeface="+mn-ea"/>
              <a:cs typeface="+mn-cs"/>
            </a:endParaRPr>
          </a:p>
        </p:txBody>
      </p:sp>
      <p:sp>
        <p:nvSpPr>
          <p:cNvPr id="124" name="TextBox 123">
            <a:extLst>
              <a:ext uri="{FF2B5EF4-FFF2-40B4-BE49-F238E27FC236}">
                <a16:creationId xmlns:a16="http://schemas.microsoft.com/office/drawing/2014/main" id="{1513F7C0-F38D-C6C7-B357-867FCE8F8CFA}"/>
              </a:ext>
            </a:extLst>
          </p:cNvPr>
          <p:cNvSpPr txBox="1"/>
          <p:nvPr/>
        </p:nvSpPr>
        <p:spPr>
          <a:xfrm>
            <a:off x="355733" y="1151055"/>
            <a:ext cx="11347904" cy="215444"/>
          </a:xfrm>
          <a:prstGeom prst="rect">
            <a:avLst/>
          </a:prstGeom>
          <a:noFill/>
        </p:spPr>
        <p:txBody>
          <a:bodyPr wrap="square" lIns="0" tIns="0" rIns="0" bIns="0" rtlCol="0">
            <a:spAutoFit/>
          </a:bodyPr>
          <a:lstStyle/>
          <a:p>
            <a:pPr marL="0" marR="0" lvl="0" indent="0" defTabSz="1219170" eaLnBrk="1" fontAlgn="auto" latinLnBrk="0" hangingPunct="1">
              <a:lnSpc>
                <a:spcPct val="100000"/>
              </a:lnSpc>
              <a:spcBef>
                <a:spcPts val="0"/>
              </a:spcBef>
              <a:spcAft>
                <a:spcPts val="0"/>
              </a:spcAft>
              <a:buClrTx/>
              <a:buSzTx/>
              <a:buFontTx/>
              <a:buNone/>
              <a:tabLst/>
              <a:defRPr/>
            </a:pPr>
            <a:r>
              <a:rPr kumimoji="0" lang="fr-FR" b="1" i="0" u="none" strike="noStrike" kern="1200" cap="none" spc="0" normalizeH="0" baseline="0" noProof="0" dirty="0">
                <a:ln>
                  <a:noFill/>
                </a:ln>
                <a:solidFill>
                  <a:prstClr val="black"/>
                </a:solidFill>
                <a:effectLst/>
                <a:uLnTx/>
                <a:uFillTx/>
                <a:latin typeface="Calibri (body)"/>
                <a:ea typeface="+mn-ea"/>
              </a:rPr>
              <a:t>Les onglets liés à la marge nette d’intérêt dans les stress tests EBA sont les trois suivants :</a:t>
            </a:r>
          </a:p>
        </p:txBody>
      </p:sp>
      <p:sp>
        <p:nvSpPr>
          <p:cNvPr id="125" name="Text Placeholder 11">
            <a:extLst>
              <a:ext uri="{FF2B5EF4-FFF2-40B4-BE49-F238E27FC236}">
                <a16:creationId xmlns:a16="http://schemas.microsoft.com/office/drawing/2014/main" id="{376C318D-CDD4-EF91-4567-8DEE1EABFC4E}"/>
              </a:ext>
            </a:extLst>
          </p:cNvPr>
          <p:cNvSpPr txBox="1">
            <a:spLocks/>
          </p:cNvSpPr>
          <p:nvPr/>
        </p:nvSpPr>
        <p:spPr bwMode="gray">
          <a:xfrm>
            <a:off x="4857648" y="2179034"/>
            <a:ext cx="2268000" cy="0"/>
          </a:xfrm>
          <a:prstGeom prst="rect">
            <a:avLst/>
          </a:prstGeom>
          <a:solidFill>
            <a:srgbClr val="003565"/>
          </a:solidFill>
          <a:ln w="12700">
            <a:solidFill>
              <a:srgbClr val="003565"/>
            </a:solidFill>
          </a:ln>
        </p:spPr>
        <p:txBody>
          <a:bodyPr vert="horz" lIns="0" tIns="0" rIns="0" bIns="0" rtlCol="0" anchor="t" anchorCtr="0">
            <a:normAutofit fontScale="25000" lnSpcReduction="20000"/>
          </a:bodyPr>
          <a:lstStyle>
            <a:lvl1pPr marL="0" indent="0" algn="ctr" defTabSz="1219170" rtl="0" eaLnBrk="1" latinLnBrk="0" hangingPunct="1">
              <a:lnSpc>
                <a:spcPct val="100000"/>
              </a:lnSpc>
              <a:spcBef>
                <a:spcPts val="0"/>
              </a:spcBef>
              <a:spcAft>
                <a:spcPts val="0"/>
              </a:spcAft>
              <a:buFont typeface="Quicksand" panose="00000500000000000000" pitchFamily="2" charset="0"/>
              <a:buNone/>
              <a:defRPr sz="100" kern="1200">
                <a:solidFill>
                  <a:schemeClr val="bg1">
                    <a:alpha val="0"/>
                  </a:schemeClr>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ctr"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endParaRPr kumimoji="0" lang="en-GB" sz="100" b="0" i="0" u="none" strike="noStrike" kern="1200" cap="none" spc="0" normalizeH="0" baseline="0" noProof="0">
              <a:ln>
                <a:noFill/>
              </a:ln>
              <a:solidFill>
                <a:srgbClr val="FFFFFF">
                  <a:alpha val="0"/>
                </a:srgbClr>
              </a:solidFill>
              <a:effectLst/>
              <a:uLnTx/>
              <a:uFillTx/>
              <a:latin typeface="Calibri (body)"/>
            </a:endParaRPr>
          </a:p>
        </p:txBody>
      </p:sp>
      <p:sp>
        <p:nvSpPr>
          <p:cNvPr id="126" name="Text Placeholder 11">
            <a:extLst>
              <a:ext uri="{FF2B5EF4-FFF2-40B4-BE49-F238E27FC236}">
                <a16:creationId xmlns:a16="http://schemas.microsoft.com/office/drawing/2014/main" id="{BBF1941F-EC5E-52FE-5A31-7F7A27E0C649}"/>
              </a:ext>
            </a:extLst>
          </p:cNvPr>
          <p:cNvSpPr txBox="1">
            <a:spLocks/>
          </p:cNvSpPr>
          <p:nvPr/>
        </p:nvSpPr>
        <p:spPr bwMode="gray">
          <a:xfrm>
            <a:off x="8773526" y="2179034"/>
            <a:ext cx="2268000" cy="0"/>
          </a:xfrm>
          <a:prstGeom prst="rect">
            <a:avLst/>
          </a:prstGeom>
          <a:solidFill>
            <a:srgbClr val="003565"/>
          </a:solidFill>
          <a:ln w="12700">
            <a:solidFill>
              <a:srgbClr val="003565"/>
            </a:solidFill>
          </a:ln>
        </p:spPr>
        <p:txBody>
          <a:bodyPr vert="horz" lIns="0" tIns="0" rIns="0" bIns="0" rtlCol="0" anchor="t" anchorCtr="0">
            <a:normAutofit fontScale="25000" lnSpcReduction="20000"/>
          </a:bodyPr>
          <a:lstStyle>
            <a:lvl1pPr marL="0" indent="0" algn="ctr" defTabSz="1219170" rtl="0" eaLnBrk="1" latinLnBrk="0" hangingPunct="1">
              <a:lnSpc>
                <a:spcPct val="100000"/>
              </a:lnSpc>
              <a:spcBef>
                <a:spcPts val="0"/>
              </a:spcBef>
              <a:spcAft>
                <a:spcPts val="0"/>
              </a:spcAft>
              <a:buFont typeface="Quicksand" panose="00000500000000000000" pitchFamily="2" charset="0"/>
              <a:buNone/>
              <a:defRPr sz="100" kern="1200">
                <a:solidFill>
                  <a:schemeClr val="bg1">
                    <a:alpha val="0"/>
                  </a:schemeClr>
                </a:solidFill>
                <a:latin typeface="+mj-lt"/>
                <a:ea typeface="+mn-ea"/>
                <a:cs typeface="+mn-cs"/>
              </a:defRPr>
            </a:lvl1pPr>
            <a:lvl2pPr marL="0" indent="0" algn="l" defTabSz="1219170" rtl="0" eaLnBrk="1" latinLnBrk="0" hangingPunct="1">
              <a:lnSpc>
                <a:spcPct val="100000"/>
              </a:lnSpc>
              <a:spcBef>
                <a:spcPts val="0"/>
              </a:spcBef>
              <a:spcAft>
                <a:spcPts val="1200"/>
              </a:spcAft>
              <a:buFont typeface="Quicksand" panose="00000500000000000000" pitchFamily="2" charset="0"/>
              <a:buNone/>
              <a:defRPr sz="1800" kern="1200">
                <a:solidFill>
                  <a:schemeClr val="tx2"/>
                </a:solidFill>
                <a:latin typeface="+mn-lt"/>
                <a:ea typeface="+mn-ea"/>
                <a:cs typeface="+mn-cs"/>
              </a:defRPr>
            </a:lvl2pPr>
            <a:lvl3pPr marL="0" indent="0" algn="l" defTabSz="1219170" rtl="0" eaLnBrk="1" latinLnBrk="0" hangingPunct="1">
              <a:lnSpc>
                <a:spcPct val="100000"/>
              </a:lnSpc>
              <a:spcBef>
                <a:spcPts val="600"/>
              </a:spcBef>
              <a:spcAft>
                <a:spcPts val="1200"/>
              </a:spcAft>
              <a:buSzPct val="100000"/>
              <a:buFont typeface="Wingdings" panose="05000000000000000000" pitchFamily="2" charset="2"/>
              <a:buNone/>
              <a:defRPr sz="1600" kern="1200">
                <a:solidFill>
                  <a:schemeClr val="tx2"/>
                </a:solidFill>
                <a:latin typeface="+mn-lt"/>
                <a:ea typeface="+mn-ea"/>
                <a:cs typeface="+mn-cs"/>
              </a:defRPr>
            </a:lvl3pPr>
            <a:lvl4pPr marL="0" indent="0" algn="l" defTabSz="1219170" rtl="0" eaLnBrk="1" latinLnBrk="0" hangingPunct="1">
              <a:lnSpc>
                <a:spcPct val="100000"/>
              </a:lnSpc>
              <a:spcBef>
                <a:spcPts val="600"/>
              </a:spcBef>
              <a:spcAft>
                <a:spcPts val="1200"/>
              </a:spcAft>
              <a:buSzPct val="100000"/>
              <a:buFont typeface="Quicksand" panose="00000500000000000000" pitchFamily="2" charset="0"/>
              <a:buNone/>
              <a:defRPr sz="1400" kern="1200">
                <a:solidFill>
                  <a:schemeClr val="tx2"/>
                </a:solidFill>
                <a:latin typeface="+mn-lt"/>
                <a:ea typeface="+mn-ea"/>
                <a:cs typeface="+mn-cs"/>
              </a:defRPr>
            </a:lvl4pPr>
            <a:lvl5pPr marL="0" indent="0" algn="l" defTabSz="1219170" rtl="0" eaLnBrk="1" latinLnBrk="0" hangingPunct="1">
              <a:lnSpc>
                <a:spcPct val="100000"/>
              </a:lnSpc>
              <a:spcBef>
                <a:spcPts val="0"/>
              </a:spcBef>
              <a:spcAft>
                <a:spcPts val="1200"/>
              </a:spcAft>
              <a:buSzPct val="100000"/>
              <a:buFont typeface="Arial" panose="020B0604020202020204" pitchFamily="34" charset="0"/>
              <a:buNone/>
              <a:defRPr sz="2000" kern="1200">
                <a:solidFill>
                  <a:schemeClr val="tx2"/>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ctr" defTabSz="1219170" rtl="0" eaLnBrk="1" fontAlgn="auto" latinLnBrk="0" hangingPunct="1">
              <a:lnSpc>
                <a:spcPct val="100000"/>
              </a:lnSpc>
              <a:spcBef>
                <a:spcPts val="0"/>
              </a:spcBef>
              <a:spcAft>
                <a:spcPts val="0"/>
              </a:spcAft>
              <a:buClrTx/>
              <a:buSzTx/>
              <a:buFont typeface="Quicksand" panose="00000500000000000000" pitchFamily="2" charset="0"/>
              <a:buNone/>
              <a:tabLst/>
              <a:defRPr/>
            </a:pPr>
            <a:endParaRPr kumimoji="0" lang="en-GB" sz="100" b="0" i="0" u="none" strike="noStrike" kern="1200" cap="none" spc="0" normalizeH="0" baseline="0" noProof="0">
              <a:ln>
                <a:noFill/>
              </a:ln>
              <a:solidFill>
                <a:srgbClr val="FFFFFF">
                  <a:alpha val="0"/>
                </a:srgbClr>
              </a:solidFill>
              <a:effectLst/>
              <a:uLnTx/>
              <a:uFillTx/>
              <a:latin typeface="Calibri (body)"/>
            </a:endParaRPr>
          </a:p>
        </p:txBody>
      </p:sp>
      <p:sp>
        <p:nvSpPr>
          <p:cNvPr id="3" name="Espace réservé du texte 16">
            <a:extLst>
              <a:ext uri="{FF2B5EF4-FFF2-40B4-BE49-F238E27FC236}">
                <a16:creationId xmlns:a16="http://schemas.microsoft.com/office/drawing/2014/main" id="{92791585-B3F3-17B4-618D-496A9C9064F1}"/>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257078391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48005" y="6006164"/>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Présentation des templates</a:t>
            </a:r>
          </a:p>
          <a:p>
            <a:r>
              <a:rPr lang="fr-FR" sz="2000" dirty="0"/>
              <a:t>b- Templates réglementaires – </a:t>
            </a:r>
            <a:r>
              <a:rPr lang="en-GB" sz="2000" dirty="0"/>
              <a:t>NII_SUM (1)</a:t>
            </a:r>
            <a:endParaRPr lang="fr-FR" sz="2000" dirty="0"/>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79</a:t>
            </a:fld>
            <a:endParaRPr lang="fr-FR" sz="1050" kern="1200" dirty="0">
              <a:solidFill>
                <a:srgbClr val="003565"/>
              </a:solidFill>
              <a:latin typeface="Calibri (body)"/>
              <a:ea typeface="+mn-ea"/>
              <a:cs typeface="+mn-cs"/>
            </a:endParaRPr>
          </a:p>
        </p:txBody>
      </p:sp>
      <p:sp>
        <p:nvSpPr>
          <p:cNvPr id="86" name="TextBox 85">
            <a:extLst>
              <a:ext uri="{FF2B5EF4-FFF2-40B4-BE49-F238E27FC236}">
                <a16:creationId xmlns:a16="http://schemas.microsoft.com/office/drawing/2014/main" id="{1A3F7557-AB30-A7DA-A19B-808CCDBE1FE3}"/>
              </a:ext>
            </a:extLst>
          </p:cNvPr>
          <p:cNvSpPr txBox="1"/>
          <p:nvPr/>
        </p:nvSpPr>
        <p:spPr>
          <a:xfrm>
            <a:off x="204283" y="1158052"/>
            <a:ext cx="5325978" cy="2677656"/>
          </a:xfrm>
          <a:prstGeom prst="rect">
            <a:avLst/>
          </a:prstGeom>
          <a:noFill/>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Quatre aspects clés dans ce template :</a:t>
            </a:r>
          </a:p>
          <a:p>
            <a:pPr marL="0" marR="0" lvl="0" indent="0" algn="just" defTabSz="121917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endParaRPr>
          </a:p>
          <a:p>
            <a:pPr marL="228600" marR="0" lvl="0" indent="-228600" algn="just" defTabSz="1219170" rtl="0" eaLnBrk="1" fontAlgn="auto" latinLnBrk="0" hangingPunct="1">
              <a:lnSpc>
                <a:spcPct val="100000"/>
              </a:lnSpc>
              <a:spcBef>
                <a:spcPts val="0"/>
              </a:spcBef>
              <a:spcAft>
                <a:spcPts val="0"/>
              </a:spcAft>
              <a:buClrTx/>
              <a:buSzTx/>
              <a:buFontTx/>
              <a:buAutoNum type="arabicPeriod"/>
              <a:tabLst/>
              <a:defRPr/>
            </a:pPr>
            <a:r>
              <a:rPr kumimoji="0" lang="fr-FR" sz="1200" b="1" i="0" u="sng"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Table de résumé</a:t>
            </a:r>
          </a:p>
          <a:p>
            <a:pPr marL="228600" marR="0" lvl="0" indent="-228600" algn="just" defTabSz="1219170" rtl="0" eaLnBrk="1" fontAlgn="auto" latinLnBrk="0" hangingPunct="1">
              <a:lnSpc>
                <a:spcPct val="100000"/>
              </a:lnSpc>
              <a:spcBef>
                <a:spcPts val="0"/>
              </a:spcBef>
              <a:spcAft>
                <a:spcPts val="0"/>
              </a:spcAft>
              <a:buClrTx/>
              <a:buSzTx/>
              <a:buFontTx/>
              <a:buAutoNum type="arabicPeriod"/>
              <a:tabLst/>
              <a:defRPr/>
            </a:pPr>
            <a:endPar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Les données historiques (ligne 1 et 11) devront être cohérentes avec les données du  FINREP (F02.00).</a:t>
            </a:r>
          </a:p>
          <a:p>
            <a:pPr marL="171450" marR="0" lvl="0"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Les données ajustées correspondent à l’alignement en termes de périmètre :</a:t>
            </a:r>
          </a:p>
          <a:p>
            <a:pPr marL="781035" marR="0" lvl="1"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Trading book</a:t>
            </a:r>
          </a:p>
          <a:p>
            <a:pPr marL="781035" marR="0" lvl="1"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Eléments qui empêchent l’approche de bilan constant (ligne de tirages, garanties)</a:t>
            </a:r>
          </a:p>
          <a:p>
            <a:pPr marL="781035" marR="0" lvl="1" indent="-171450" algn="just"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rPr>
              <a:t>Frais et commissions qui ne sont pas liés à des prêts </a:t>
            </a:r>
          </a:p>
          <a:p>
            <a:pPr marL="0" marR="0" lvl="0" indent="0" algn="just" defTabSz="121917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endParaRPr>
          </a:p>
          <a:p>
            <a:pPr marL="0" marR="0" lvl="0" indent="0" algn="just" defTabSz="121917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lumMod val="75000"/>
                </a:prstClr>
              </a:solidFill>
              <a:effectLst/>
              <a:uLnTx/>
              <a:uFillTx/>
              <a:latin typeface="Calibri (body)"/>
              <a:ea typeface="Calibri" panose="020F0502020204030204" pitchFamily="34" charset="0"/>
              <a:cs typeface="Calibri" panose="020F0502020204030204" pitchFamily="34" charset="0"/>
            </a:endParaRPr>
          </a:p>
        </p:txBody>
      </p:sp>
      <p:pic>
        <p:nvPicPr>
          <p:cNvPr id="87" name="Picture 86">
            <a:extLst>
              <a:ext uri="{FF2B5EF4-FFF2-40B4-BE49-F238E27FC236}">
                <a16:creationId xmlns:a16="http://schemas.microsoft.com/office/drawing/2014/main" id="{116EDBB7-4439-2E17-F1DA-F537FFA0DDCA}"/>
              </a:ext>
            </a:extLst>
          </p:cNvPr>
          <p:cNvPicPr>
            <a:picLocks noChangeAspect="1"/>
          </p:cNvPicPr>
          <p:nvPr/>
        </p:nvPicPr>
        <p:blipFill>
          <a:blip r:embed="rId2"/>
          <a:stretch>
            <a:fillRect/>
          </a:stretch>
        </p:blipFill>
        <p:spPr>
          <a:xfrm>
            <a:off x="5705676" y="1474514"/>
            <a:ext cx="5826761" cy="4178103"/>
          </a:xfrm>
          <a:prstGeom prst="rect">
            <a:avLst/>
          </a:prstGeom>
          <a:ln>
            <a:solidFill>
              <a:srgbClr val="003565"/>
            </a:solidFill>
          </a:ln>
        </p:spPr>
      </p:pic>
      <p:sp>
        <p:nvSpPr>
          <p:cNvPr id="88" name="Rectangle 87">
            <a:extLst>
              <a:ext uri="{FF2B5EF4-FFF2-40B4-BE49-F238E27FC236}">
                <a16:creationId xmlns:a16="http://schemas.microsoft.com/office/drawing/2014/main" id="{C4536B88-07AA-0943-421C-06D2881EE58A}"/>
              </a:ext>
            </a:extLst>
          </p:cNvPr>
          <p:cNvSpPr/>
          <p:nvPr/>
        </p:nvSpPr>
        <p:spPr>
          <a:xfrm>
            <a:off x="144744" y="890076"/>
            <a:ext cx="11563109" cy="5552033"/>
          </a:xfrm>
          <a:prstGeom prst="rect">
            <a:avLst/>
          </a:prstGeom>
          <a:noFill/>
          <a:ln>
            <a:solidFill>
              <a:srgbClr val="00356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Espace réservé du texte 16">
            <a:extLst>
              <a:ext uri="{FF2B5EF4-FFF2-40B4-BE49-F238E27FC236}">
                <a16:creationId xmlns:a16="http://schemas.microsoft.com/office/drawing/2014/main" id="{0246C514-0FDB-B50B-3CD2-6B3489E33689}"/>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156666040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48005" y="6006164"/>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Présentation des templates</a:t>
            </a:r>
          </a:p>
          <a:p>
            <a:r>
              <a:rPr lang="fr-FR" sz="2000" dirty="0"/>
              <a:t>b- Templates réglementaires – </a:t>
            </a:r>
            <a:r>
              <a:rPr lang="en-GB" sz="2000" dirty="0"/>
              <a:t>NII_SUM (2)</a:t>
            </a:r>
            <a:endParaRPr lang="fr-FR" sz="2000" dirty="0"/>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80</a:t>
            </a:fld>
            <a:endParaRPr lang="fr-FR" sz="1050" kern="1200" dirty="0">
              <a:solidFill>
                <a:srgbClr val="003565"/>
              </a:solidFill>
              <a:latin typeface="Calibri (body)"/>
              <a:ea typeface="+mn-ea"/>
              <a:cs typeface="+mn-cs"/>
            </a:endParaRPr>
          </a:p>
        </p:txBody>
      </p:sp>
      <p:sp>
        <p:nvSpPr>
          <p:cNvPr id="78" name="TextBox 77">
            <a:extLst>
              <a:ext uri="{FF2B5EF4-FFF2-40B4-BE49-F238E27FC236}">
                <a16:creationId xmlns:a16="http://schemas.microsoft.com/office/drawing/2014/main" id="{3C588CD7-F6AD-532A-AFCB-E8C7EA4DCB50}"/>
              </a:ext>
            </a:extLst>
          </p:cNvPr>
          <p:cNvSpPr txBox="1"/>
          <p:nvPr/>
        </p:nvSpPr>
        <p:spPr>
          <a:xfrm>
            <a:off x="382843" y="1024169"/>
            <a:ext cx="5983611" cy="5001369"/>
          </a:xfrm>
          <a:prstGeom prst="rect">
            <a:avLst/>
          </a:prstGeom>
          <a:noFill/>
        </p:spPr>
        <p:txBody>
          <a:bodyPr wrap="square">
            <a:spAutoFit/>
          </a:bodyPr>
          <a:lstStyle/>
          <a:p>
            <a:pPr algn="just" defTabSz="1219170">
              <a:buClrTx/>
              <a:buFontTx/>
              <a:buNone/>
              <a:defRPr/>
            </a:pPr>
            <a:r>
              <a:rPr lang="fr-FR" sz="1100" b="1" kern="1200" dirty="0">
                <a:solidFill>
                  <a:prstClr val="black">
                    <a:lumMod val="75000"/>
                  </a:prstClr>
                </a:solidFill>
                <a:latin typeface="Calibri (body)"/>
                <a:ea typeface="+mn-ea"/>
                <a:cs typeface="Calibri" panose="020F0502020204030204" pitchFamily="34" charset="0"/>
              </a:rPr>
              <a:t>2</a:t>
            </a:r>
            <a:r>
              <a:rPr lang="fr-FR" sz="1100" b="1" u="sng" kern="1200" dirty="0">
                <a:solidFill>
                  <a:prstClr val="black">
                    <a:lumMod val="75000"/>
                  </a:prstClr>
                </a:solidFill>
                <a:latin typeface="Calibri (body)"/>
                <a:ea typeface="+mn-ea"/>
                <a:cs typeface="Calibri" panose="020F0502020204030204" pitchFamily="34" charset="0"/>
              </a:rPr>
              <a:t>. Paramètres de projection du taux</a:t>
            </a:r>
          </a:p>
          <a:p>
            <a:pPr algn="just" defTabSz="1219170">
              <a:buClrTx/>
              <a:buFontTx/>
              <a:buNone/>
              <a:defRPr/>
            </a:pPr>
            <a:endParaRPr lang="fr-FR" sz="1100" b="1" u="sng"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r>
              <a:rPr lang="fr-FR" sz="1100" u="sng" kern="1200" dirty="0">
                <a:solidFill>
                  <a:prstClr val="black">
                    <a:lumMod val="75000"/>
                  </a:prstClr>
                </a:solidFill>
                <a:latin typeface="Calibri (body)"/>
                <a:ea typeface="+mn-ea"/>
                <a:cs typeface="Calibri" panose="020F0502020204030204" pitchFamily="34" charset="0"/>
              </a:rPr>
              <a:t>Delta idiosyncratic component</a:t>
            </a:r>
          </a:p>
          <a:p>
            <a:pPr algn="just" defTabSz="1219170">
              <a:buClrTx/>
              <a:buFontTx/>
              <a:buNone/>
              <a:defRPr/>
            </a:pPr>
            <a:r>
              <a:rPr lang="fr-FR" sz="1100" kern="1200" dirty="0">
                <a:solidFill>
                  <a:prstClr val="black">
                    <a:lumMod val="75000"/>
                  </a:prstClr>
                </a:solidFill>
                <a:latin typeface="Calibri (body)"/>
                <a:ea typeface="+mn-ea"/>
                <a:cs typeface="Calibri" panose="020F0502020204030204" pitchFamily="34" charset="0"/>
              </a:rPr>
              <a:t>Voir slides ci-dessus sur la méthodologie de projection de la marge et du taux sans risques</a:t>
            </a:r>
          </a:p>
          <a:p>
            <a:pPr algn="just" defTabSz="1219170">
              <a:buClrTx/>
              <a:buFontTx/>
              <a:buNone/>
              <a:defRPr/>
            </a:pPr>
            <a:r>
              <a:rPr lang="fr-FR" sz="1100" u="sng" kern="1200" dirty="0">
                <a:solidFill>
                  <a:prstClr val="black">
                    <a:lumMod val="75000"/>
                  </a:prstClr>
                </a:solidFill>
                <a:latin typeface="Calibri (body)"/>
                <a:ea typeface="+mn-ea"/>
                <a:cs typeface="Calibri" panose="020F0502020204030204" pitchFamily="34" charset="0"/>
              </a:rPr>
              <a:t>Rating</a:t>
            </a:r>
            <a:endParaRPr lang="fr-FR" sz="1100" kern="1200" dirty="0">
              <a:solidFill>
                <a:prstClr val="black">
                  <a:lumMod val="75000"/>
                </a:prstClr>
              </a:solidFill>
              <a:latin typeface="Calibri (body)"/>
              <a:ea typeface="+mn-ea"/>
              <a:cs typeface="Calibri" panose="020F0502020204030204" pitchFamily="34" charset="0"/>
            </a:endParaRPr>
          </a:p>
          <a:p>
            <a:pPr lvl="1" algn="just" defTabSz="1219170">
              <a:buClrTx/>
              <a:buFontTx/>
              <a:buNone/>
              <a:defRPr/>
            </a:pPr>
            <a:r>
              <a:rPr lang="fr-FR" sz="1100" u="sng" kern="1200" dirty="0">
                <a:solidFill>
                  <a:prstClr val="black">
                    <a:lumMod val="75000"/>
                  </a:prstClr>
                </a:solidFill>
                <a:latin typeface="Calibri (body)"/>
                <a:ea typeface="+mn-ea"/>
                <a:cs typeface="Calibri" panose="020F0502020204030204" pitchFamily="34" charset="0"/>
              </a:rPr>
              <a:t>Caractère Domestique de la Banque</a:t>
            </a:r>
            <a:endParaRPr lang="fr-FR" sz="1100" kern="1200" dirty="0">
              <a:solidFill>
                <a:prstClr val="black">
                  <a:lumMod val="75000"/>
                </a:prstClr>
              </a:solidFill>
              <a:latin typeface="Calibri (body)"/>
              <a:ea typeface="+mn-ea"/>
              <a:cs typeface="Calibri" panose="020F0502020204030204" pitchFamily="34" charset="0"/>
            </a:endParaRPr>
          </a:p>
          <a:p>
            <a:pPr lvl="1" algn="just" defTabSz="1219170">
              <a:buClrTx/>
              <a:buFontTx/>
              <a:buNone/>
              <a:defRPr/>
            </a:pPr>
            <a:endParaRPr lang="fr-FR" sz="1100"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r>
              <a:rPr lang="fr-FR" sz="1100" b="1" u="sng" kern="1200" dirty="0">
                <a:solidFill>
                  <a:prstClr val="black">
                    <a:lumMod val="75000"/>
                  </a:prstClr>
                </a:solidFill>
                <a:latin typeface="Calibri (body)"/>
                <a:ea typeface="+mn-ea"/>
                <a:cs typeface="Calibri" panose="020F0502020204030204" pitchFamily="34" charset="0"/>
              </a:rPr>
              <a:t>3. Dépôts réglementés</a:t>
            </a:r>
          </a:p>
          <a:p>
            <a:pPr algn="just" defTabSz="1219170">
              <a:buClrTx/>
              <a:buFontTx/>
              <a:buNone/>
              <a:defRPr/>
            </a:pPr>
            <a:endParaRPr lang="fr-FR" sz="1100" b="1" u="sng"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r>
              <a:rPr lang="fr-FR" sz="1100" kern="1200" dirty="0">
                <a:solidFill>
                  <a:prstClr val="black">
                    <a:lumMod val="75000"/>
                  </a:prstClr>
                </a:solidFill>
                <a:latin typeface="Calibri (body)"/>
                <a:ea typeface="+mn-ea"/>
                <a:cs typeface="Calibri" panose="020F0502020204030204" pitchFamily="34" charset="0"/>
              </a:rPr>
              <a:t>Volumes et le résultat de la formule réglementée au 31 décembre 2024 pour les dépôts réglementés </a:t>
            </a:r>
          </a:p>
          <a:p>
            <a:pPr algn="just" defTabSz="1219170">
              <a:buClrTx/>
              <a:buFontTx/>
              <a:buNone/>
              <a:defRPr/>
            </a:pPr>
            <a:r>
              <a:rPr lang="fr-FR" sz="1100" kern="1200" dirty="0">
                <a:solidFill>
                  <a:prstClr val="black">
                    <a:lumMod val="75000"/>
                  </a:prstClr>
                </a:solidFill>
                <a:latin typeface="Calibri (body)"/>
                <a:ea typeface="+mn-ea"/>
                <a:cs typeface="Calibri" panose="020F0502020204030204" pitchFamily="34" charset="0"/>
              </a:rPr>
              <a:t>Pour les projections, les banques doivent indiquer le résultat de la formule réglementée pour 2025, 2026 et 2027, à la fois pour le scénario de base et pour le scénario défavorable. </a:t>
            </a:r>
          </a:p>
          <a:p>
            <a:pPr algn="just" defTabSz="1219170">
              <a:buClrTx/>
              <a:buFontTx/>
              <a:buNone/>
              <a:defRPr/>
            </a:pPr>
            <a:r>
              <a:rPr lang="fr-FR" sz="1100" kern="1200" dirty="0">
                <a:solidFill>
                  <a:prstClr val="black">
                    <a:lumMod val="75000"/>
                  </a:prstClr>
                </a:solidFill>
                <a:latin typeface="Calibri (body)"/>
                <a:ea typeface="+mn-ea"/>
                <a:cs typeface="Calibri" panose="020F0502020204030204" pitchFamily="34" charset="0"/>
              </a:rPr>
              <a:t>Pour rappel :</a:t>
            </a:r>
          </a:p>
          <a:p>
            <a:pPr marL="781035" lvl="1" indent="-171450" algn="just" defTabSz="1219170">
              <a:buClrTx/>
              <a:buFont typeface="Arial" panose="020B0604020202020204" pitchFamily="34" charset="0"/>
              <a:buChar char="•"/>
              <a:defRPr/>
            </a:pPr>
            <a:r>
              <a:rPr lang="fr-FR" sz="1100" kern="1200" dirty="0">
                <a:solidFill>
                  <a:prstClr val="black">
                    <a:lumMod val="75000"/>
                  </a:prstClr>
                </a:solidFill>
                <a:latin typeface="Calibri (body)"/>
                <a:ea typeface="+mn-ea"/>
                <a:cs typeface="Calibri" panose="020F0502020204030204" pitchFamily="34" charset="0"/>
              </a:rPr>
              <a:t>Livret A et LDDS  : Min((Ester + Inflation hors tabac) /2, 0.5%), arrondi à 0.1%</a:t>
            </a:r>
          </a:p>
          <a:p>
            <a:pPr marL="781035" lvl="1" indent="-171450" algn="just" defTabSz="1219170">
              <a:buClrTx/>
              <a:buFont typeface="Arial" panose="020B0604020202020204" pitchFamily="34" charset="0"/>
              <a:buChar char="•"/>
              <a:defRPr/>
            </a:pPr>
            <a:r>
              <a:rPr lang="fr-FR" sz="1100" kern="1200" dirty="0">
                <a:solidFill>
                  <a:prstClr val="black">
                    <a:lumMod val="75000"/>
                  </a:prstClr>
                </a:solidFill>
                <a:latin typeface="Calibri (body)"/>
                <a:ea typeface="+mn-ea"/>
                <a:cs typeface="Calibri" panose="020F0502020204030204" pitchFamily="34" charset="0"/>
              </a:rPr>
              <a:t>LEP = Max (Livret A + 0, 5, inflation hors tabac), arrondi à 0.1%</a:t>
            </a:r>
          </a:p>
          <a:p>
            <a:pPr marL="781035" lvl="1" indent="-171450" algn="just" defTabSz="1219170">
              <a:buClrTx/>
              <a:buFont typeface="Arial" panose="020B0604020202020204" pitchFamily="34" charset="0"/>
              <a:buChar char="•"/>
              <a:defRPr/>
            </a:pPr>
            <a:r>
              <a:rPr lang="fr-FR" sz="1100" kern="1200" dirty="0">
                <a:solidFill>
                  <a:prstClr val="black">
                    <a:lumMod val="75000"/>
                  </a:prstClr>
                </a:solidFill>
                <a:latin typeface="Calibri (body)"/>
                <a:ea typeface="+mn-ea"/>
                <a:cs typeface="Calibri" panose="020F0502020204030204" pitchFamily="34" charset="0"/>
              </a:rPr>
              <a:t>CEL = 2/3 * livret A , arrondi à 0.5%</a:t>
            </a:r>
          </a:p>
          <a:p>
            <a:pPr marL="781035" lvl="1" indent="-171450" algn="just" defTabSz="1219170">
              <a:buClrTx/>
              <a:buFont typeface="Arial" panose="020B0604020202020204" pitchFamily="34" charset="0"/>
              <a:buChar char="•"/>
              <a:defRPr/>
            </a:pPr>
            <a:r>
              <a:rPr lang="fr-FR" sz="1100" kern="1200" dirty="0">
                <a:solidFill>
                  <a:prstClr val="black">
                    <a:lumMod val="75000"/>
                  </a:prstClr>
                </a:solidFill>
                <a:latin typeface="Calibri (body)"/>
                <a:ea typeface="+mn-ea"/>
                <a:cs typeface="Calibri" panose="020F0502020204030204" pitchFamily="34" charset="0"/>
              </a:rPr>
              <a:t>Les données utilisées sont une moyenne sur les 6 derniers mois</a:t>
            </a:r>
          </a:p>
          <a:p>
            <a:pPr marL="609585" lvl="1" algn="just" defTabSz="1219170">
              <a:buClrTx/>
              <a:buFontTx/>
              <a:buNone/>
              <a:defRPr/>
            </a:pPr>
            <a:endParaRPr lang="fr-FR" sz="1100" kern="1200" dirty="0">
              <a:solidFill>
                <a:prstClr val="black">
                  <a:lumMod val="75000"/>
                </a:prstClr>
              </a:solidFill>
              <a:latin typeface="Calibri (body)"/>
              <a:ea typeface="+mn-ea"/>
              <a:cs typeface="Calibri" panose="020F0502020204030204" pitchFamily="34" charset="0"/>
            </a:endParaRPr>
          </a:p>
          <a:p>
            <a:pPr marL="171450" lvl="1" indent="-171450" algn="just" defTabSz="1219170">
              <a:buClrTx/>
              <a:buFont typeface="Symbol" panose="05050102010706020507" pitchFamily="18" charset="2"/>
              <a:buChar char="Þ"/>
              <a:defRPr/>
            </a:pPr>
            <a:r>
              <a:rPr lang="fr-FR" sz="1100" b="1" kern="1200" dirty="0">
                <a:solidFill>
                  <a:prstClr val="black">
                    <a:lumMod val="75000"/>
                  </a:prstClr>
                </a:solidFill>
                <a:latin typeface="Calibri (body)"/>
                <a:ea typeface="+mn-ea"/>
                <a:cs typeface="Calibri" panose="020F0502020204030204" pitchFamily="34" charset="0"/>
              </a:rPr>
              <a:t>Il est possible de remplir les informations de taux uniquement à partir des données du cadrage macroéconomique</a:t>
            </a:r>
          </a:p>
          <a:p>
            <a:pPr marL="171450" lvl="1" indent="-171450" algn="just" defTabSz="1219170">
              <a:buClrTx/>
              <a:buFont typeface="Symbol" panose="05050102010706020507" pitchFamily="18" charset="2"/>
              <a:buChar char="Þ"/>
              <a:defRPr/>
            </a:pPr>
            <a:endParaRPr lang="fr-FR" sz="1100" b="1"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r>
              <a:rPr lang="fr-FR" sz="1100" b="1" u="sng" kern="1200" dirty="0">
                <a:solidFill>
                  <a:prstClr val="black">
                    <a:lumMod val="75000"/>
                  </a:prstClr>
                </a:solidFill>
                <a:latin typeface="Calibri (body)"/>
                <a:ea typeface="+mn-ea"/>
                <a:cs typeface="Calibri" panose="020F0502020204030204" pitchFamily="34" charset="0"/>
              </a:rPr>
              <a:t>4. Exemptions légales sur la production nouvelle</a:t>
            </a:r>
          </a:p>
          <a:p>
            <a:pPr marL="228600" indent="-228600" algn="just" defTabSz="1219170">
              <a:buClrTx/>
              <a:buFont typeface="+mj-lt"/>
              <a:buAutoNum type="arabicPeriod" startAt="3"/>
              <a:defRPr/>
            </a:pPr>
            <a:endParaRPr lang="fr-FR" sz="1100"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r>
              <a:rPr lang="fr-FR" sz="1100" kern="1200" dirty="0">
                <a:solidFill>
                  <a:prstClr val="black">
                    <a:lumMod val="75000"/>
                  </a:prstClr>
                </a:solidFill>
                <a:latin typeface="Calibri (body)"/>
                <a:ea typeface="+mn-ea"/>
                <a:cs typeface="Calibri" panose="020F0502020204030204" pitchFamily="34" charset="0"/>
              </a:rPr>
              <a:t>Reporter ici les actifs centralisés à la CDC – 59.5% de l’encours de livret A et 50% de l’encours de LEP </a:t>
            </a:r>
          </a:p>
          <a:p>
            <a:pPr lvl="1" algn="just" defTabSz="1219170">
              <a:buClrTx/>
              <a:buFontTx/>
              <a:buNone/>
              <a:defRPr/>
            </a:pPr>
            <a:endParaRPr lang="fr-FR" sz="1100" b="1"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endParaRPr lang="fr-FR" sz="1100" b="1" u="sng"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endParaRPr lang="fr-FR" sz="1100" u="sng" kern="1200" dirty="0">
              <a:solidFill>
                <a:prstClr val="black">
                  <a:lumMod val="75000"/>
                </a:prstClr>
              </a:solidFill>
              <a:latin typeface="Calibri (body)"/>
              <a:ea typeface="+mn-ea"/>
              <a:cs typeface="Calibri" panose="020F0502020204030204" pitchFamily="34" charset="0"/>
            </a:endParaRPr>
          </a:p>
          <a:p>
            <a:pPr algn="just" defTabSz="1219170">
              <a:buClrTx/>
              <a:buFontTx/>
              <a:buNone/>
              <a:defRPr/>
            </a:pPr>
            <a:endParaRPr lang="fr-FR" sz="1100" u="sng" kern="1200" dirty="0">
              <a:solidFill>
                <a:prstClr val="black">
                  <a:lumMod val="75000"/>
                </a:prstClr>
              </a:solidFill>
              <a:latin typeface="Calibri (body)"/>
              <a:ea typeface="+mn-ea"/>
              <a:cs typeface="Calibri" panose="020F0502020204030204" pitchFamily="34" charset="0"/>
            </a:endParaRPr>
          </a:p>
          <a:p>
            <a:pPr lvl="1" algn="just" defTabSz="1219170">
              <a:buClrTx/>
              <a:buFontTx/>
              <a:buNone/>
              <a:defRPr/>
            </a:pPr>
            <a:endParaRPr lang="fr-FR" sz="1100" kern="1200" dirty="0">
              <a:solidFill>
                <a:prstClr val="black">
                  <a:lumMod val="75000"/>
                </a:prstClr>
              </a:solidFill>
              <a:latin typeface="Calibri (body)"/>
              <a:ea typeface="+mn-ea"/>
              <a:cs typeface="Calibri" panose="020F0502020204030204" pitchFamily="34" charset="0"/>
            </a:endParaRPr>
          </a:p>
        </p:txBody>
      </p:sp>
      <p:pic>
        <p:nvPicPr>
          <p:cNvPr id="79" name="Picture 78">
            <a:extLst>
              <a:ext uri="{FF2B5EF4-FFF2-40B4-BE49-F238E27FC236}">
                <a16:creationId xmlns:a16="http://schemas.microsoft.com/office/drawing/2014/main" id="{7DB1BE82-5D88-0645-45F7-B96CC264E04D}"/>
              </a:ext>
            </a:extLst>
          </p:cNvPr>
          <p:cNvPicPr>
            <a:picLocks noChangeAspect="1"/>
          </p:cNvPicPr>
          <p:nvPr/>
        </p:nvPicPr>
        <p:blipFill>
          <a:blip r:embed="rId2"/>
          <a:stretch>
            <a:fillRect/>
          </a:stretch>
        </p:blipFill>
        <p:spPr>
          <a:xfrm>
            <a:off x="6645778" y="1758405"/>
            <a:ext cx="5044075" cy="821686"/>
          </a:xfrm>
          <a:prstGeom prst="rect">
            <a:avLst/>
          </a:prstGeom>
          <a:ln>
            <a:solidFill>
              <a:srgbClr val="003565"/>
            </a:solidFill>
          </a:ln>
        </p:spPr>
      </p:pic>
      <p:pic>
        <p:nvPicPr>
          <p:cNvPr id="80" name="Picture 79">
            <a:extLst>
              <a:ext uri="{FF2B5EF4-FFF2-40B4-BE49-F238E27FC236}">
                <a16:creationId xmlns:a16="http://schemas.microsoft.com/office/drawing/2014/main" id="{9303744D-D9DC-1C7E-6FCF-74A07B1ECCE0}"/>
              </a:ext>
            </a:extLst>
          </p:cNvPr>
          <p:cNvPicPr>
            <a:picLocks noChangeAspect="1"/>
          </p:cNvPicPr>
          <p:nvPr/>
        </p:nvPicPr>
        <p:blipFill>
          <a:blip r:embed="rId3"/>
          <a:stretch>
            <a:fillRect/>
          </a:stretch>
        </p:blipFill>
        <p:spPr>
          <a:xfrm>
            <a:off x="6760714" y="3376003"/>
            <a:ext cx="4814201" cy="1308389"/>
          </a:xfrm>
          <a:prstGeom prst="rect">
            <a:avLst/>
          </a:prstGeom>
          <a:ln>
            <a:solidFill>
              <a:srgbClr val="003565"/>
            </a:solidFill>
          </a:ln>
        </p:spPr>
      </p:pic>
      <p:pic>
        <p:nvPicPr>
          <p:cNvPr id="81" name="Picture 80">
            <a:extLst>
              <a:ext uri="{FF2B5EF4-FFF2-40B4-BE49-F238E27FC236}">
                <a16:creationId xmlns:a16="http://schemas.microsoft.com/office/drawing/2014/main" id="{9DA81365-DE67-112B-B9FC-FF4ACA3B7B48}"/>
              </a:ext>
            </a:extLst>
          </p:cNvPr>
          <p:cNvPicPr>
            <a:picLocks noChangeAspect="1"/>
          </p:cNvPicPr>
          <p:nvPr/>
        </p:nvPicPr>
        <p:blipFill>
          <a:blip r:embed="rId4"/>
          <a:stretch>
            <a:fillRect/>
          </a:stretch>
        </p:blipFill>
        <p:spPr>
          <a:xfrm>
            <a:off x="4540073" y="5313898"/>
            <a:ext cx="7034841" cy="1111754"/>
          </a:xfrm>
          <a:prstGeom prst="rect">
            <a:avLst/>
          </a:prstGeom>
          <a:ln>
            <a:solidFill>
              <a:srgbClr val="003565"/>
            </a:solidFill>
          </a:ln>
        </p:spPr>
      </p:pic>
      <p:sp>
        <p:nvSpPr>
          <p:cNvPr id="82" name="Rectangle 81">
            <a:extLst>
              <a:ext uri="{FF2B5EF4-FFF2-40B4-BE49-F238E27FC236}">
                <a16:creationId xmlns:a16="http://schemas.microsoft.com/office/drawing/2014/main" id="{FDC2F9B9-42A7-50E6-6515-E4EB3F0F78FD}"/>
              </a:ext>
            </a:extLst>
          </p:cNvPr>
          <p:cNvSpPr/>
          <p:nvPr/>
        </p:nvSpPr>
        <p:spPr>
          <a:xfrm>
            <a:off x="257441" y="938202"/>
            <a:ext cx="11563109" cy="5607899"/>
          </a:xfrm>
          <a:prstGeom prst="rect">
            <a:avLst/>
          </a:prstGeom>
          <a:no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Espace réservé du texte 16">
            <a:extLst>
              <a:ext uri="{FF2B5EF4-FFF2-40B4-BE49-F238E27FC236}">
                <a16:creationId xmlns:a16="http://schemas.microsoft.com/office/drawing/2014/main" id="{05A32BDE-82CE-49FC-E4F6-1164FE2C062B}"/>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135133086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48005" y="6006164"/>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Présentation des templates</a:t>
            </a:r>
          </a:p>
          <a:p>
            <a:r>
              <a:rPr lang="fr-FR" sz="2000" dirty="0"/>
              <a:t>c- Templates réglementaires – </a:t>
            </a:r>
            <a:r>
              <a:rPr lang="en-GB" sz="2000" dirty="0"/>
              <a:t>NII_CALC (1)</a:t>
            </a:r>
            <a:endParaRPr lang="fr-FR" sz="2000" dirty="0"/>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81</a:t>
            </a:fld>
            <a:endParaRPr lang="fr-FR" sz="1050" kern="1200" dirty="0">
              <a:solidFill>
                <a:srgbClr val="003565"/>
              </a:solidFill>
              <a:latin typeface="Calibri (body)"/>
              <a:ea typeface="+mn-ea"/>
              <a:cs typeface="+mn-cs"/>
            </a:endParaRPr>
          </a:p>
        </p:txBody>
      </p:sp>
      <p:sp>
        <p:nvSpPr>
          <p:cNvPr id="43" name="Rectangle 42">
            <a:extLst>
              <a:ext uri="{FF2B5EF4-FFF2-40B4-BE49-F238E27FC236}">
                <a16:creationId xmlns:a16="http://schemas.microsoft.com/office/drawing/2014/main" id="{A6983419-08FA-8D46-3DA1-28CF36774BE6}"/>
              </a:ext>
            </a:extLst>
          </p:cNvPr>
          <p:cNvSpPr/>
          <p:nvPr/>
        </p:nvSpPr>
        <p:spPr>
          <a:xfrm>
            <a:off x="124256" y="1915925"/>
            <a:ext cx="11696294" cy="4712857"/>
          </a:xfrm>
          <a:prstGeom prst="rect">
            <a:avLst/>
          </a:prstGeom>
          <a:solidFill>
            <a:srgbClr val="FFFFFF">
              <a:lumMod val="95000"/>
            </a:srgbClr>
          </a:solid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Calibri (body)"/>
              <a:ea typeface="+mn-ea"/>
              <a:cs typeface="+mn-cs"/>
            </a:endParaRPr>
          </a:p>
        </p:txBody>
      </p:sp>
      <p:sp>
        <p:nvSpPr>
          <p:cNvPr id="44" name="TextBox 43">
            <a:extLst>
              <a:ext uri="{FF2B5EF4-FFF2-40B4-BE49-F238E27FC236}">
                <a16:creationId xmlns:a16="http://schemas.microsoft.com/office/drawing/2014/main" id="{C57BB7E9-794B-B81C-8CC5-F5121B9FDA3F}"/>
              </a:ext>
            </a:extLst>
          </p:cNvPr>
          <p:cNvSpPr txBox="1"/>
          <p:nvPr/>
        </p:nvSpPr>
        <p:spPr>
          <a:xfrm>
            <a:off x="124256" y="964578"/>
            <a:ext cx="11282361" cy="1338828"/>
          </a:xfrm>
          <a:prstGeom prst="rect">
            <a:avLst/>
          </a:prstGeom>
          <a:noFill/>
        </p:spPr>
        <p:txBody>
          <a:bodyPr wrap="square">
            <a:spAutoFit/>
          </a:bodyPr>
          <a:lstStyle/>
          <a:p>
            <a:pPr marL="176213" marR="0" lvl="1" indent="0" algn="just" defTabSz="1219170" eaLnBrk="1" fontAlgn="auto" latinLnBrk="0" hangingPunct="1">
              <a:lnSpc>
                <a:spcPct val="100000"/>
              </a:lnSpc>
              <a:spcBef>
                <a:spcPts val="0"/>
              </a:spcBef>
              <a:spcAft>
                <a:spcPts val="0"/>
              </a:spcAft>
              <a:buClrTx/>
              <a:buSzTx/>
              <a:buFontTx/>
              <a:buNone/>
              <a:tabLst/>
              <a:defRPr/>
            </a:pPr>
            <a:r>
              <a:rPr kumimoji="0" lang="fr-FR" sz="1050" b="1" i="0" u="none" strike="noStrike" kern="1200" cap="none" spc="0" normalizeH="0" baseline="0" noProof="0" dirty="0">
                <a:ln>
                  <a:noFill/>
                </a:ln>
                <a:solidFill>
                  <a:prstClr val="black"/>
                </a:solidFill>
                <a:effectLst/>
                <a:uLnTx/>
                <a:uFillTx/>
                <a:latin typeface="Calibri (body)"/>
                <a:ea typeface="+mn-ea"/>
              </a:rPr>
              <a:t>Trois sections principales sur cette table :</a:t>
            </a:r>
          </a:p>
          <a:p>
            <a:pPr marL="176213" marR="0" lvl="1" indent="0" algn="just" defTabSz="1219170" eaLnBrk="1" fontAlgn="auto" latinLnBrk="0" hangingPunct="1">
              <a:lnSpc>
                <a:spcPct val="100000"/>
              </a:lnSpc>
              <a:spcBef>
                <a:spcPts val="0"/>
              </a:spcBef>
              <a:spcAft>
                <a:spcPts val="0"/>
              </a:spcAft>
              <a:buClrTx/>
              <a:buSzTx/>
              <a:buFontTx/>
              <a:buNone/>
              <a:tabLst/>
              <a:defRPr/>
            </a:pPr>
            <a:endParaRPr kumimoji="0" lang="fr-FR" sz="1050" b="0" i="0" u="none" strike="noStrike" kern="1200" cap="none" spc="0" normalizeH="0" baseline="0" noProof="0" dirty="0">
              <a:ln>
                <a:noFill/>
              </a:ln>
              <a:solidFill>
                <a:prstClr val="black"/>
              </a:solidFill>
              <a:effectLst/>
              <a:uLnTx/>
              <a:uFillTx/>
              <a:latin typeface="Calibri (body)"/>
              <a:ea typeface="+mn-ea"/>
            </a:endParaRPr>
          </a:p>
          <a:p>
            <a:pPr marL="176213" marR="0" lvl="1" indent="0" algn="just"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prstClr val="black"/>
                </a:solidFill>
                <a:effectLst/>
                <a:uLnTx/>
                <a:uFillTx/>
                <a:latin typeface="Calibri (body)"/>
                <a:ea typeface="+mn-ea"/>
              </a:rPr>
              <a:t>• Portefeuille Taux fixe; </a:t>
            </a:r>
          </a:p>
          <a:p>
            <a:pPr marL="176213" marR="0" lvl="1" indent="0" algn="just"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prstClr val="black"/>
                </a:solidFill>
                <a:effectLst/>
                <a:uLnTx/>
                <a:uFillTx/>
                <a:latin typeface="Calibri (body)"/>
                <a:ea typeface="+mn-ea"/>
              </a:rPr>
              <a:t>• Portefeuille taux variable; </a:t>
            </a:r>
          </a:p>
          <a:p>
            <a:pPr marL="176213" marR="0" lvl="1" indent="0" algn="just"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prstClr val="black"/>
                </a:solidFill>
                <a:effectLst/>
                <a:uLnTx/>
                <a:uFillTx/>
                <a:latin typeface="Calibri (body)"/>
                <a:ea typeface="+mn-ea"/>
              </a:rPr>
              <a:t>• Calcul de MNI totale pour les deux portefeuilles </a:t>
            </a:r>
            <a:r>
              <a:rPr kumimoji="0" lang="fr-FR" sz="1050" b="1" i="0" u="none" strike="noStrike" kern="1200" cap="none" spc="0" normalizeH="0" baseline="0" noProof="0" dirty="0">
                <a:ln>
                  <a:noFill/>
                </a:ln>
                <a:solidFill>
                  <a:prstClr val="black"/>
                </a:solidFill>
                <a:effectLst/>
                <a:uLnTx/>
                <a:uFillTx/>
                <a:latin typeface="Calibri (body)"/>
                <a:ea typeface="+mn-ea"/>
              </a:rPr>
              <a:t>(calculé en automatique- voir slide suivante)</a:t>
            </a:r>
          </a:p>
          <a:p>
            <a:pPr marL="176213" marR="0" lvl="1" indent="0" algn="just" defTabSz="1219170" eaLnBrk="1" fontAlgn="auto" latinLnBrk="0" hangingPunct="1">
              <a:lnSpc>
                <a:spcPct val="100000"/>
              </a:lnSpc>
              <a:spcBef>
                <a:spcPts val="0"/>
              </a:spcBef>
              <a:spcAft>
                <a:spcPts val="0"/>
              </a:spcAft>
              <a:buClrTx/>
              <a:buSzTx/>
              <a:buFontTx/>
              <a:buNone/>
              <a:tabLst/>
              <a:defRPr/>
            </a:pPr>
            <a:endParaRPr kumimoji="0" lang="fr-FR" sz="1050" b="0" i="0" u="none" strike="noStrike" kern="1200" cap="none" spc="0" normalizeH="0" baseline="0" noProof="0" dirty="0">
              <a:ln>
                <a:noFill/>
              </a:ln>
              <a:solidFill>
                <a:prstClr val="black">
                  <a:lumMod val="75000"/>
                </a:prstClr>
              </a:solidFill>
              <a:effectLst/>
              <a:uLnTx/>
              <a:uFillTx/>
              <a:latin typeface="Calibri (body)"/>
              <a:ea typeface="+mn-ea"/>
              <a:cs typeface="Calibri" panose="020F0502020204030204" pitchFamily="34" charset="0"/>
            </a:endParaRPr>
          </a:p>
          <a:p>
            <a:pPr marL="176213" marR="0" lvl="1" indent="0" algn="just" defTabSz="1219170" eaLnBrk="1" fontAlgn="auto" latinLnBrk="0" hangingPunct="1">
              <a:lnSpc>
                <a:spcPct val="100000"/>
              </a:lnSpc>
              <a:spcBef>
                <a:spcPts val="0"/>
              </a:spcBef>
              <a:spcAft>
                <a:spcPts val="0"/>
              </a:spcAft>
              <a:buClrTx/>
              <a:buSzTx/>
              <a:buFontTx/>
              <a:buNone/>
              <a:tabLst/>
              <a:defRPr/>
            </a:pPr>
            <a:r>
              <a:rPr kumimoji="0" lang="fr-FR" sz="1800" b="1" i="1" u="sng" strike="noStrike" kern="1200" cap="none" spc="0" normalizeH="0" baseline="0" noProof="0" dirty="0">
                <a:ln>
                  <a:noFill/>
                </a:ln>
                <a:solidFill>
                  <a:prstClr val="black"/>
                </a:solidFill>
                <a:effectLst/>
                <a:uLnTx/>
                <a:uFillTx/>
                <a:latin typeface="Calibri (body)"/>
                <a:ea typeface="+mn-ea"/>
              </a:rPr>
              <a:t>Pour chacune des sections fixe et variable </a:t>
            </a:r>
            <a:r>
              <a:rPr kumimoji="0" lang="fr-FR" sz="1050" b="1" i="1" u="sng" strike="noStrike" kern="1200" cap="none" spc="0" normalizeH="0" baseline="0" noProof="0" dirty="0">
                <a:ln>
                  <a:noFill/>
                </a:ln>
                <a:solidFill>
                  <a:prstClr val="black"/>
                </a:solidFill>
                <a:effectLst/>
                <a:uLnTx/>
                <a:uFillTx/>
                <a:latin typeface="Calibri (body)"/>
                <a:ea typeface="+mn-ea"/>
              </a:rPr>
              <a:t>:</a:t>
            </a:r>
          </a:p>
        </p:txBody>
      </p:sp>
      <p:sp>
        <p:nvSpPr>
          <p:cNvPr id="45" name="Rectangle 44">
            <a:extLst>
              <a:ext uri="{FF2B5EF4-FFF2-40B4-BE49-F238E27FC236}">
                <a16:creationId xmlns:a16="http://schemas.microsoft.com/office/drawing/2014/main" id="{FCD0AC4C-1BA0-4F31-9C06-E7B29523176B}"/>
              </a:ext>
            </a:extLst>
          </p:cNvPr>
          <p:cNvSpPr/>
          <p:nvPr/>
        </p:nvSpPr>
        <p:spPr>
          <a:xfrm>
            <a:off x="407509" y="2544572"/>
            <a:ext cx="4947412" cy="488373"/>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FFFFFF"/>
                </a:solidFill>
                <a:effectLst/>
                <a:uLnTx/>
                <a:uFillTx/>
                <a:latin typeface="Calibri (body)"/>
                <a:ea typeface="+mn-ea"/>
                <a:cs typeface="+mn-cs"/>
              </a:rPr>
              <a:t>Starting point</a:t>
            </a:r>
          </a:p>
        </p:txBody>
      </p:sp>
      <p:sp>
        <p:nvSpPr>
          <p:cNvPr id="46" name="Rectangle 45">
            <a:extLst>
              <a:ext uri="{FF2B5EF4-FFF2-40B4-BE49-F238E27FC236}">
                <a16:creationId xmlns:a16="http://schemas.microsoft.com/office/drawing/2014/main" id="{887781C1-EA3D-8B19-5A31-3346A1C841A3}"/>
              </a:ext>
            </a:extLst>
          </p:cNvPr>
          <p:cNvSpPr/>
          <p:nvPr/>
        </p:nvSpPr>
        <p:spPr>
          <a:xfrm>
            <a:off x="6842351" y="2530022"/>
            <a:ext cx="1932709" cy="488373"/>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FFFFFF"/>
                </a:solidFill>
                <a:effectLst/>
                <a:uLnTx/>
                <a:uFillTx/>
                <a:latin typeface="Calibri (body)"/>
                <a:ea typeface="+mn-ea"/>
                <a:cs typeface="+mn-cs"/>
              </a:rPr>
              <a:t>Projections - baseline</a:t>
            </a:r>
          </a:p>
        </p:txBody>
      </p:sp>
      <p:sp>
        <p:nvSpPr>
          <p:cNvPr id="47" name="Rectangle 46">
            <a:extLst>
              <a:ext uri="{FF2B5EF4-FFF2-40B4-BE49-F238E27FC236}">
                <a16:creationId xmlns:a16="http://schemas.microsoft.com/office/drawing/2014/main" id="{EFF9C253-13EF-A814-EA62-4777E875BEAB}"/>
              </a:ext>
            </a:extLst>
          </p:cNvPr>
          <p:cNvSpPr/>
          <p:nvPr/>
        </p:nvSpPr>
        <p:spPr>
          <a:xfrm>
            <a:off x="407509" y="3154174"/>
            <a:ext cx="1565922"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Performing</a:t>
            </a:r>
          </a:p>
        </p:txBody>
      </p:sp>
      <p:sp>
        <p:nvSpPr>
          <p:cNvPr id="48" name="Rectangle 47">
            <a:extLst>
              <a:ext uri="{FF2B5EF4-FFF2-40B4-BE49-F238E27FC236}">
                <a16:creationId xmlns:a16="http://schemas.microsoft.com/office/drawing/2014/main" id="{44BBF966-857B-0833-3027-266EB96393B4}"/>
              </a:ext>
            </a:extLst>
          </p:cNvPr>
          <p:cNvSpPr/>
          <p:nvPr/>
        </p:nvSpPr>
        <p:spPr>
          <a:xfrm>
            <a:off x="2073695" y="3154174"/>
            <a:ext cx="1565922"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Non-performing</a:t>
            </a:r>
          </a:p>
        </p:txBody>
      </p:sp>
      <p:sp>
        <p:nvSpPr>
          <p:cNvPr id="49" name="Rectangle 48">
            <a:extLst>
              <a:ext uri="{FF2B5EF4-FFF2-40B4-BE49-F238E27FC236}">
                <a16:creationId xmlns:a16="http://schemas.microsoft.com/office/drawing/2014/main" id="{C27B0C36-B37F-B595-BB8D-95A39FCCB62A}"/>
              </a:ext>
            </a:extLst>
          </p:cNvPr>
          <p:cNvSpPr/>
          <p:nvPr/>
        </p:nvSpPr>
        <p:spPr>
          <a:xfrm>
            <a:off x="8966868" y="2530023"/>
            <a:ext cx="1932709" cy="488373"/>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FFFFFF"/>
                </a:solidFill>
                <a:effectLst/>
                <a:uLnTx/>
                <a:uFillTx/>
                <a:latin typeface="Calibri (body)"/>
                <a:ea typeface="+mn-ea"/>
                <a:cs typeface="+mn-cs"/>
              </a:rPr>
              <a:t>Projections - adverse</a:t>
            </a:r>
          </a:p>
        </p:txBody>
      </p:sp>
      <p:sp>
        <p:nvSpPr>
          <p:cNvPr id="50" name="Rectangle 49">
            <a:extLst>
              <a:ext uri="{FF2B5EF4-FFF2-40B4-BE49-F238E27FC236}">
                <a16:creationId xmlns:a16="http://schemas.microsoft.com/office/drawing/2014/main" id="{CDB3DD04-F293-B589-CFD9-DB4445E804C2}"/>
              </a:ext>
            </a:extLst>
          </p:cNvPr>
          <p:cNvSpPr/>
          <p:nvPr/>
        </p:nvSpPr>
        <p:spPr>
          <a:xfrm>
            <a:off x="3739880" y="3154174"/>
            <a:ext cx="1620000"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a:ln>
                  <a:noFill/>
                </a:ln>
                <a:solidFill>
                  <a:srgbClr val="FFFFFF"/>
                </a:solidFill>
                <a:effectLst/>
                <a:uLnTx/>
                <a:uFillTx/>
                <a:latin typeface="Calibri (body)"/>
                <a:ea typeface="+mn-ea"/>
                <a:cs typeface="+mn-cs"/>
              </a:rPr>
              <a:t>Échéancier pour les expositions performantes </a:t>
            </a:r>
          </a:p>
        </p:txBody>
      </p:sp>
      <p:sp>
        <p:nvSpPr>
          <p:cNvPr id="51" name="Rectangle 50">
            <a:extLst>
              <a:ext uri="{FF2B5EF4-FFF2-40B4-BE49-F238E27FC236}">
                <a16:creationId xmlns:a16="http://schemas.microsoft.com/office/drawing/2014/main" id="{C093BB0B-5C16-6201-A63F-6207F64E6777}"/>
              </a:ext>
            </a:extLst>
          </p:cNvPr>
          <p:cNvSpPr/>
          <p:nvPr/>
        </p:nvSpPr>
        <p:spPr>
          <a:xfrm>
            <a:off x="407509" y="4032209"/>
            <a:ext cx="756000" cy="408707"/>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Moyenne 2024</a:t>
            </a:r>
          </a:p>
        </p:txBody>
      </p:sp>
      <p:sp>
        <p:nvSpPr>
          <p:cNvPr id="52" name="Rectangle 51">
            <a:extLst>
              <a:ext uri="{FF2B5EF4-FFF2-40B4-BE49-F238E27FC236}">
                <a16:creationId xmlns:a16="http://schemas.microsoft.com/office/drawing/2014/main" id="{C7DAC216-2B58-EF95-8235-916E47DD987A}"/>
              </a:ext>
            </a:extLst>
          </p:cNvPr>
          <p:cNvSpPr/>
          <p:nvPr/>
        </p:nvSpPr>
        <p:spPr>
          <a:xfrm>
            <a:off x="1219911" y="4042600"/>
            <a:ext cx="75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Dec. 2024</a:t>
            </a:r>
          </a:p>
        </p:txBody>
      </p:sp>
      <p:sp>
        <p:nvSpPr>
          <p:cNvPr id="53" name="Rectangle 52">
            <a:extLst>
              <a:ext uri="{FF2B5EF4-FFF2-40B4-BE49-F238E27FC236}">
                <a16:creationId xmlns:a16="http://schemas.microsoft.com/office/drawing/2014/main" id="{85FACB24-9E54-A21C-D45F-9A56F1815C5F}"/>
              </a:ext>
            </a:extLst>
          </p:cNvPr>
          <p:cNvSpPr/>
          <p:nvPr/>
        </p:nvSpPr>
        <p:spPr>
          <a:xfrm>
            <a:off x="407509" y="4562145"/>
            <a:ext cx="756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Marge </a:t>
            </a:r>
          </a:p>
        </p:txBody>
      </p:sp>
      <p:sp>
        <p:nvSpPr>
          <p:cNvPr id="54" name="Rectangle 53">
            <a:extLst>
              <a:ext uri="{FF2B5EF4-FFF2-40B4-BE49-F238E27FC236}">
                <a16:creationId xmlns:a16="http://schemas.microsoft.com/office/drawing/2014/main" id="{9936A282-175C-5287-2DF5-BF9C5E7B45D8}"/>
              </a:ext>
            </a:extLst>
          </p:cNvPr>
          <p:cNvSpPr/>
          <p:nvPr/>
        </p:nvSpPr>
        <p:spPr>
          <a:xfrm>
            <a:off x="1219911" y="4562145"/>
            <a:ext cx="756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1" i="0" u="sng" strike="noStrike" kern="1200" cap="none" spc="0" normalizeH="0" baseline="0" noProof="0" dirty="0">
                <a:ln>
                  <a:noFill/>
                </a:ln>
                <a:solidFill>
                  <a:prstClr val="black"/>
                </a:solidFill>
                <a:effectLst/>
                <a:uLnTx/>
                <a:uFillTx/>
                <a:latin typeface="Calibri (body)"/>
                <a:ea typeface="+mn-ea"/>
                <a:cs typeface="+mn-cs"/>
              </a:rPr>
              <a:t>Total</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Marge</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Maturité d’origine</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0" i="0" u="sng" strike="noStrike" kern="1200" cap="none" spc="0" normalizeH="0" baseline="0" noProof="0" dirty="0">
              <a:ln>
                <a:noFill/>
              </a:ln>
              <a:solidFill>
                <a:prstClr val="black"/>
              </a:solidFill>
              <a:effectLst/>
              <a:uLnTx/>
              <a:uFillTx/>
              <a:latin typeface="Calibri (body)"/>
              <a:ea typeface="+mn-ea"/>
              <a:cs typeface="+mn-cs"/>
            </a:endParaRP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1" i="0" u="sng" strike="noStrike" kern="1200" cap="none" spc="0" normalizeH="0" baseline="0" noProof="0" dirty="0">
                <a:ln>
                  <a:noFill/>
                </a:ln>
                <a:solidFill>
                  <a:prstClr val="black"/>
                </a:solidFill>
                <a:effectLst/>
                <a:uLnTx/>
                <a:uFillTx/>
                <a:latin typeface="Calibri (body)"/>
                <a:ea typeface="+mn-ea"/>
                <a:cs typeface="+mn-cs"/>
              </a:rPr>
              <a:t>Nouvelle prod 24</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Marge</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Maturité d’origine</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p:txBody>
      </p:sp>
      <p:sp>
        <p:nvSpPr>
          <p:cNvPr id="55" name="Rectangle 54">
            <a:extLst>
              <a:ext uri="{FF2B5EF4-FFF2-40B4-BE49-F238E27FC236}">
                <a16:creationId xmlns:a16="http://schemas.microsoft.com/office/drawing/2014/main" id="{0F208FB6-DE08-185F-057C-A6463175191D}"/>
              </a:ext>
            </a:extLst>
          </p:cNvPr>
          <p:cNvSpPr/>
          <p:nvPr/>
        </p:nvSpPr>
        <p:spPr>
          <a:xfrm>
            <a:off x="2073695" y="4042600"/>
            <a:ext cx="756000" cy="408707"/>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Moyenne 2024</a:t>
            </a:r>
          </a:p>
        </p:txBody>
      </p:sp>
      <p:sp>
        <p:nvSpPr>
          <p:cNvPr id="56" name="Rectangle 55">
            <a:extLst>
              <a:ext uri="{FF2B5EF4-FFF2-40B4-BE49-F238E27FC236}">
                <a16:creationId xmlns:a16="http://schemas.microsoft.com/office/drawing/2014/main" id="{FEEF872F-8A27-2554-5776-AAA81FFF4ED3}"/>
              </a:ext>
            </a:extLst>
          </p:cNvPr>
          <p:cNvSpPr/>
          <p:nvPr/>
        </p:nvSpPr>
        <p:spPr>
          <a:xfrm>
            <a:off x="2886097" y="4052991"/>
            <a:ext cx="75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Dec. 2024</a:t>
            </a:r>
          </a:p>
        </p:txBody>
      </p:sp>
      <p:sp>
        <p:nvSpPr>
          <p:cNvPr id="57" name="Rectangle 56">
            <a:extLst>
              <a:ext uri="{FF2B5EF4-FFF2-40B4-BE49-F238E27FC236}">
                <a16:creationId xmlns:a16="http://schemas.microsoft.com/office/drawing/2014/main" id="{9AFE7A85-3A89-1FA4-66FC-A956639B2284}"/>
              </a:ext>
            </a:extLst>
          </p:cNvPr>
          <p:cNvSpPr/>
          <p:nvPr/>
        </p:nvSpPr>
        <p:spPr>
          <a:xfrm>
            <a:off x="2071215" y="4562145"/>
            <a:ext cx="756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 couvert par  provision</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prstClr val="black"/>
              </a:solidFill>
              <a:effectLst/>
              <a:uLnTx/>
              <a:uFillTx/>
              <a:latin typeface="Calibri (body)"/>
              <a:ea typeface="+mn-ea"/>
              <a:cs typeface="+mn-cs"/>
            </a:endParaRPr>
          </a:p>
        </p:txBody>
      </p:sp>
      <p:sp>
        <p:nvSpPr>
          <p:cNvPr id="58" name="Rectangle 57">
            <a:extLst>
              <a:ext uri="{FF2B5EF4-FFF2-40B4-BE49-F238E27FC236}">
                <a16:creationId xmlns:a16="http://schemas.microsoft.com/office/drawing/2014/main" id="{A0F662F1-3B87-CD51-3B7B-252980EB8D4A}"/>
              </a:ext>
            </a:extLst>
          </p:cNvPr>
          <p:cNvSpPr/>
          <p:nvPr/>
        </p:nvSpPr>
        <p:spPr>
          <a:xfrm>
            <a:off x="2883617" y="4562145"/>
            <a:ext cx="756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 couvert par  provision</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p:txBody>
      </p:sp>
      <p:sp>
        <p:nvSpPr>
          <p:cNvPr id="59" name="Rectangle 58">
            <a:extLst>
              <a:ext uri="{FF2B5EF4-FFF2-40B4-BE49-F238E27FC236}">
                <a16:creationId xmlns:a16="http://schemas.microsoft.com/office/drawing/2014/main" id="{B4DEA09C-5522-2FD7-C238-CDE10B5D29C0}"/>
              </a:ext>
            </a:extLst>
          </p:cNvPr>
          <p:cNvSpPr/>
          <p:nvPr/>
        </p:nvSpPr>
        <p:spPr>
          <a:xfrm>
            <a:off x="3739880" y="4052991"/>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2025</a:t>
            </a:r>
          </a:p>
        </p:txBody>
      </p:sp>
      <p:sp>
        <p:nvSpPr>
          <p:cNvPr id="60" name="Rectangle 59">
            <a:extLst>
              <a:ext uri="{FF2B5EF4-FFF2-40B4-BE49-F238E27FC236}">
                <a16:creationId xmlns:a16="http://schemas.microsoft.com/office/drawing/2014/main" id="{16A5077D-FF0F-9948-B719-1220676E37D6}"/>
              </a:ext>
            </a:extLst>
          </p:cNvPr>
          <p:cNvSpPr/>
          <p:nvPr/>
        </p:nvSpPr>
        <p:spPr>
          <a:xfrm>
            <a:off x="4306880" y="4052991"/>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2026</a:t>
            </a:r>
          </a:p>
        </p:txBody>
      </p:sp>
      <p:sp>
        <p:nvSpPr>
          <p:cNvPr id="61" name="Rectangle 60">
            <a:extLst>
              <a:ext uri="{FF2B5EF4-FFF2-40B4-BE49-F238E27FC236}">
                <a16:creationId xmlns:a16="http://schemas.microsoft.com/office/drawing/2014/main" id="{FFF8D4DF-1E15-7C3E-7E4A-0ED95E183F72}"/>
              </a:ext>
            </a:extLst>
          </p:cNvPr>
          <p:cNvSpPr/>
          <p:nvPr/>
        </p:nvSpPr>
        <p:spPr>
          <a:xfrm>
            <a:off x="4873880" y="4052991"/>
            <a:ext cx="48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2027</a:t>
            </a:r>
          </a:p>
        </p:txBody>
      </p:sp>
      <p:sp>
        <p:nvSpPr>
          <p:cNvPr id="62" name="Rectangle 61">
            <a:extLst>
              <a:ext uri="{FF2B5EF4-FFF2-40B4-BE49-F238E27FC236}">
                <a16:creationId xmlns:a16="http://schemas.microsoft.com/office/drawing/2014/main" id="{C00C5B17-F27C-7C46-6FCF-B6FB63937CCF}"/>
              </a:ext>
            </a:extLst>
          </p:cNvPr>
          <p:cNvSpPr/>
          <p:nvPr/>
        </p:nvSpPr>
        <p:spPr>
          <a:xfrm>
            <a:off x="3734921" y="4562145"/>
            <a:ext cx="1620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fr-FR" sz="900" b="1" i="0" u="sng" strike="noStrike" kern="1200" cap="none" spc="0" normalizeH="0" baseline="0" noProof="0" dirty="0">
                <a:ln>
                  <a:noFill/>
                </a:ln>
                <a:solidFill>
                  <a:prstClr val="black"/>
                </a:solidFill>
                <a:effectLst/>
                <a:uLnTx/>
                <a:uFillTx/>
                <a:latin typeface="Calibri (body)"/>
                <a:ea typeface="+mn-ea"/>
                <a:cs typeface="+mn-cs"/>
              </a:rPr>
              <a:t>Pour chaque année :</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Volume arrivant à maturité dans l’année correspondante:</a:t>
            </a:r>
          </a:p>
          <a:p>
            <a:pPr marL="171450" marR="0" lvl="0" indent="-79375"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Marge</a:t>
            </a:r>
          </a:p>
          <a:p>
            <a:pPr marL="171450" marR="0" lvl="0" indent="-79375"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Taux</a:t>
            </a:r>
          </a:p>
          <a:p>
            <a:pPr marL="171450" marR="0" lvl="0" indent="-79375"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Maturité originelle</a:t>
            </a:r>
          </a:p>
          <a:p>
            <a:pPr marL="171450" marR="0" lvl="0" indent="-79375" defTabSz="121917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Split par maturité originelle des mêmes informations pour 2025</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p:txBody>
      </p:sp>
      <p:sp>
        <p:nvSpPr>
          <p:cNvPr id="63" name="Rectangle 62">
            <a:extLst>
              <a:ext uri="{FF2B5EF4-FFF2-40B4-BE49-F238E27FC236}">
                <a16:creationId xmlns:a16="http://schemas.microsoft.com/office/drawing/2014/main" id="{F02223FB-4CBC-383D-CC62-DC6A23A2A2B9}"/>
              </a:ext>
            </a:extLst>
          </p:cNvPr>
          <p:cNvSpPr/>
          <p:nvPr/>
        </p:nvSpPr>
        <p:spPr>
          <a:xfrm>
            <a:off x="6245121" y="3154174"/>
            <a:ext cx="1620000"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FFFFFF"/>
                </a:solidFill>
                <a:effectLst/>
                <a:uLnTx/>
                <a:uFillTx/>
                <a:latin typeface="Calibri (body)"/>
                <a:ea typeface="+mn-ea"/>
                <a:cs typeface="+mn-cs"/>
              </a:rPr>
              <a:t>Marge sur les expositions performantes</a:t>
            </a:r>
          </a:p>
        </p:txBody>
      </p:sp>
      <p:sp>
        <p:nvSpPr>
          <p:cNvPr id="64" name="Rectangle 63">
            <a:extLst>
              <a:ext uri="{FF2B5EF4-FFF2-40B4-BE49-F238E27FC236}">
                <a16:creationId xmlns:a16="http://schemas.microsoft.com/office/drawing/2014/main" id="{62951C59-8E7B-3448-78C7-CEB8DC9B0E6C}"/>
              </a:ext>
            </a:extLst>
          </p:cNvPr>
          <p:cNvSpPr/>
          <p:nvPr/>
        </p:nvSpPr>
        <p:spPr>
          <a:xfrm>
            <a:off x="7992097" y="3154174"/>
            <a:ext cx="1620000"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FFFFFF"/>
                </a:solidFill>
                <a:effectLst/>
                <a:uLnTx/>
                <a:uFillTx/>
                <a:latin typeface="Calibri (body)"/>
                <a:ea typeface="+mn-ea"/>
                <a:cs typeface="+mn-cs"/>
              </a:rPr>
              <a:t>Taux de référence sur les expositions performantes</a:t>
            </a:r>
          </a:p>
        </p:txBody>
      </p:sp>
      <p:sp>
        <p:nvSpPr>
          <p:cNvPr id="65" name="Rectangle 64">
            <a:extLst>
              <a:ext uri="{FF2B5EF4-FFF2-40B4-BE49-F238E27FC236}">
                <a16:creationId xmlns:a16="http://schemas.microsoft.com/office/drawing/2014/main" id="{5F6655A6-BBD1-DD08-D895-CC5215771EC5}"/>
              </a:ext>
            </a:extLst>
          </p:cNvPr>
          <p:cNvSpPr/>
          <p:nvPr/>
        </p:nvSpPr>
        <p:spPr>
          <a:xfrm>
            <a:off x="9741412" y="3154174"/>
            <a:ext cx="1620000" cy="75680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FFFFFF"/>
                </a:solidFill>
                <a:effectLst/>
                <a:uLnTx/>
                <a:uFillTx/>
                <a:latin typeface="Calibri (body)"/>
                <a:ea typeface="+mn-ea"/>
                <a:cs typeface="+mn-cs"/>
              </a:rPr>
              <a:t>Exposition non-performantes</a:t>
            </a:r>
          </a:p>
        </p:txBody>
      </p:sp>
      <p:sp>
        <p:nvSpPr>
          <p:cNvPr id="66" name="Rectangle 65">
            <a:extLst>
              <a:ext uri="{FF2B5EF4-FFF2-40B4-BE49-F238E27FC236}">
                <a16:creationId xmlns:a16="http://schemas.microsoft.com/office/drawing/2014/main" id="{8233D2B6-37FC-5439-4DA1-2FAC508D98BC}"/>
              </a:ext>
            </a:extLst>
          </p:cNvPr>
          <p:cNvSpPr/>
          <p:nvPr/>
        </p:nvSpPr>
        <p:spPr>
          <a:xfrm>
            <a:off x="6245121" y="4046758"/>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2025</a:t>
            </a:r>
          </a:p>
        </p:txBody>
      </p:sp>
      <p:sp>
        <p:nvSpPr>
          <p:cNvPr id="67" name="Rectangle 66">
            <a:extLst>
              <a:ext uri="{FF2B5EF4-FFF2-40B4-BE49-F238E27FC236}">
                <a16:creationId xmlns:a16="http://schemas.microsoft.com/office/drawing/2014/main" id="{24A482F0-F636-3951-1996-B9DA7AF7B471}"/>
              </a:ext>
            </a:extLst>
          </p:cNvPr>
          <p:cNvSpPr/>
          <p:nvPr/>
        </p:nvSpPr>
        <p:spPr>
          <a:xfrm>
            <a:off x="6812121" y="4046758"/>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2026</a:t>
            </a:r>
          </a:p>
        </p:txBody>
      </p:sp>
      <p:sp>
        <p:nvSpPr>
          <p:cNvPr id="68" name="Rectangle 67">
            <a:extLst>
              <a:ext uri="{FF2B5EF4-FFF2-40B4-BE49-F238E27FC236}">
                <a16:creationId xmlns:a16="http://schemas.microsoft.com/office/drawing/2014/main" id="{1CEEF637-2629-2ACA-0524-D29ED46AD763}"/>
              </a:ext>
            </a:extLst>
          </p:cNvPr>
          <p:cNvSpPr/>
          <p:nvPr/>
        </p:nvSpPr>
        <p:spPr>
          <a:xfrm>
            <a:off x="7379121" y="4046758"/>
            <a:ext cx="48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2027</a:t>
            </a:r>
          </a:p>
        </p:txBody>
      </p:sp>
      <p:sp>
        <p:nvSpPr>
          <p:cNvPr id="69" name="Rectangle 68">
            <a:extLst>
              <a:ext uri="{FF2B5EF4-FFF2-40B4-BE49-F238E27FC236}">
                <a16:creationId xmlns:a16="http://schemas.microsoft.com/office/drawing/2014/main" id="{AF9B8C50-A83A-513D-61D2-BA9647D6F7BA}"/>
              </a:ext>
            </a:extLst>
          </p:cNvPr>
          <p:cNvSpPr/>
          <p:nvPr/>
        </p:nvSpPr>
        <p:spPr>
          <a:xfrm>
            <a:off x="7992097" y="4046758"/>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2025</a:t>
            </a:r>
          </a:p>
        </p:txBody>
      </p:sp>
      <p:sp>
        <p:nvSpPr>
          <p:cNvPr id="70" name="Rectangle 69">
            <a:extLst>
              <a:ext uri="{FF2B5EF4-FFF2-40B4-BE49-F238E27FC236}">
                <a16:creationId xmlns:a16="http://schemas.microsoft.com/office/drawing/2014/main" id="{D0AAE749-105F-026B-53D5-6C94BA6AA691}"/>
              </a:ext>
            </a:extLst>
          </p:cNvPr>
          <p:cNvSpPr/>
          <p:nvPr/>
        </p:nvSpPr>
        <p:spPr>
          <a:xfrm>
            <a:off x="8559097" y="4046758"/>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2026</a:t>
            </a:r>
          </a:p>
        </p:txBody>
      </p:sp>
      <p:sp>
        <p:nvSpPr>
          <p:cNvPr id="71" name="Rectangle 70">
            <a:extLst>
              <a:ext uri="{FF2B5EF4-FFF2-40B4-BE49-F238E27FC236}">
                <a16:creationId xmlns:a16="http://schemas.microsoft.com/office/drawing/2014/main" id="{263C7A87-6096-39D6-FF71-6C3DE050E832}"/>
              </a:ext>
            </a:extLst>
          </p:cNvPr>
          <p:cNvSpPr/>
          <p:nvPr/>
        </p:nvSpPr>
        <p:spPr>
          <a:xfrm>
            <a:off x="9126097" y="4046758"/>
            <a:ext cx="48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2027</a:t>
            </a:r>
          </a:p>
        </p:txBody>
      </p:sp>
      <p:sp>
        <p:nvSpPr>
          <p:cNvPr id="72" name="Rectangle 71">
            <a:extLst>
              <a:ext uri="{FF2B5EF4-FFF2-40B4-BE49-F238E27FC236}">
                <a16:creationId xmlns:a16="http://schemas.microsoft.com/office/drawing/2014/main" id="{5904D1CA-F17C-3680-B752-6B51A98E41AF}"/>
              </a:ext>
            </a:extLst>
          </p:cNvPr>
          <p:cNvSpPr/>
          <p:nvPr/>
        </p:nvSpPr>
        <p:spPr>
          <a:xfrm>
            <a:off x="9741412" y="4035584"/>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2025</a:t>
            </a:r>
          </a:p>
        </p:txBody>
      </p:sp>
      <p:sp>
        <p:nvSpPr>
          <p:cNvPr id="73" name="Rectangle 72">
            <a:extLst>
              <a:ext uri="{FF2B5EF4-FFF2-40B4-BE49-F238E27FC236}">
                <a16:creationId xmlns:a16="http://schemas.microsoft.com/office/drawing/2014/main" id="{C7ED45ED-9FD0-AD29-218F-0F918B46B9C0}"/>
              </a:ext>
            </a:extLst>
          </p:cNvPr>
          <p:cNvSpPr/>
          <p:nvPr/>
        </p:nvSpPr>
        <p:spPr>
          <a:xfrm>
            <a:off x="10308412" y="4035584"/>
            <a:ext cx="484389"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2026</a:t>
            </a:r>
          </a:p>
        </p:txBody>
      </p:sp>
      <p:sp>
        <p:nvSpPr>
          <p:cNvPr id="74" name="Rectangle 73">
            <a:extLst>
              <a:ext uri="{FF2B5EF4-FFF2-40B4-BE49-F238E27FC236}">
                <a16:creationId xmlns:a16="http://schemas.microsoft.com/office/drawing/2014/main" id="{08085169-2219-FBB3-94D1-086234002EFF}"/>
              </a:ext>
            </a:extLst>
          </p:cNvPr>
          <p:cNvSpPr/>
          <p:nvPr/>
        </p:nvSpPr>
        <p:spPr>
          <a:xfrm>
            <a:off x="10875412" y="4035584"/>
            <a:ext cx="486000" cy="398316"/>
          </a:xfrm>
          <a:prstGeom prst="rect">
            <a:avLst/>
          </a:prstGeom>
          <a:solidFill>
            <a:schemeClr val="tx2"/>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ea typeface="+mn-ea"/>
                <a:cs typeface="+mn-cs"/>
              </a:rPr>
              <a:t>2027</a:t>
            </a:r>
          </a:p>
        </p:txBody>
      </p:sp>
      <p:sp>
        <p:nvSpPr>
          <p:cNvPr id="75" name="Rectangle 74">
            <a:extLst>
              <a:ext uri="{FF2B5EF4-FFF2-40B4-BE49-F238E27FC236}">
                <a16:creationId xmlns:a16="http://schemas.microsoft.com/office/drawing/2014/main" id="{226B27B2-A0A9-0BD3-66E7-91583B879460}"/>
              </a:ext>
            </a:extLst>
          </p:cNvPr>
          <p:cNvSpPr/>
          <p:nvPr/>
        </p:nvSpPr>
        <p:spPr>
          <a:xfrm>
            <a:off x="6244315" y="4562145"/>
            <a:ext cx="3367782"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fr-FR" sz="900" b="1" i="0" u="sng" strike="noStrike" kern="1200" cap="none" spc="0" normalizeH="0" baseline="0" noProof="0" dirty="0">
                <a:ln>
                  <a:noFill/>
                </a:ln>
                <a:solidFill>
                  <a:prstClr val="black"/>
                </a:solidFill>
                <a:effectLst/>
                <a:uLnTx/>
                <a:uFillTx/>
                <a:latin typeface="Calibri (body)"/>
                <a:ea typeface="+mn-ea"/>
                <a:cs typeface="+mn-cs"/>
              </a:rPr>
              <a:t>Pour chaque année :</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Marge ou taux sur le stock</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Marge ou taux sur les encours qui maturent</a:t>
            </a:r>
          </a:p>
          <a:p>
            <a:pPr marL="0" marR="0" lvl="0" indent="0" defTabSz="121917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prstClr val="black"/>
                </a:solidFill>
                <a:effectLst/>
                <a:uLnTx/>
                <a:uFillTx/>
                <a:latin typeface="Calibri (body)"/>
                <a:ea typeface="+mn-ea"/>
                <a:cs typeface="+mn-cs"/>
              </a:rPr>
              <a:t>- Marge ou taux sur les nouveaux encours (pour les besoins de bilan constant)</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p:txBody>
      </p:sp>
      <p:sp>
        <p:nvSpPr>
          <p:cNvPr id="76" name="Rectangle 75">
            <a:extLst>
              <a:ext uri="{FF2B5EF4-FFF2-40B4-BE49-F238E27FC236}">
                <a16:creationId xmlns:a16="http://schemas.microsoft.com/office/drawing/2014/main" id="{F18DC081-F9FB-17C6-B2F0-AA7DE046BEA7}"/>
              </a:ext>
            </a:extLst>
          </p:cNvPr>
          <p:cNvSpPr/>
          <p:nvPr/>
        </p:nvSpPr>
        <p:spPr>
          <a:xfrm>
            <a:off x="9741412" y="4562145"/>
            <a:ext cx="1620000" cy="1998000"/>
          </a:xfrm>
          <a:prstGeom prst="rect">
            <a:avLst/>
          </a:prstGeom>
          <a:noFill/>
          <a:ln w="25400" cap="flat" cmpd="sng" algn="ctr">
            <a:solidFill>
              <a:srgbClr val="003565"/>
            </a:solidFill>
            <a:prstDash val="solid"/>
          </a:ln>
          <a:effectLst/>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Volume couvert par  provision</a:t>
            </a:r>
          </a:p>
          <a:p>
            <a:pPr marL="0" marR="0" lvl="0" indent="0" defTabSz="121917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prstClr val="black"/>
                </a:solidFill>
                <a:effectLst/>
                <a:uLnTx/>
                <a:uFillTx/>
                <a:latin typeface="Calibri (body)"/>
                <a:ea typeface="+mn-ea"/>
                <a:cs typeface="+mn-cs"/>
              </a:rPr>
              <a:t>- Taux </a:t>
            </a:r>
          </a:p>
          <a:p>
            <a:pPr marL="0" marR="0" lvl="0" indent="0" defTabSz="1219170" eaLnBrk="1" fontAlgn="auto" latinLnBrk="0" hangingPunct="1">
              <a:lnSpc>
                <a:spcPct val="100000"/>
              </a:lnSpc>
              <a:spcBef>
                <a:spcPts val="0"/>
              </a:spcBef>
              <a:spcAft>
                <a:spcPts val="0"/>
              </a:spcAft>
              <a:buClrTx/>
              <a:buSzTx/>
              <a:buFontTx/>
              <a:buNone/>
              <a:tabLst/>
              <a:defRPr/>
            </a:pPr>
            <a:endParaRPr kumimoji="0" lang="fr-FR" sz="900" b="1" i="0" u="sng" strike="noStrike" kern="1200" cap="none" spc="0" normalizeH="0" baseline="0" noProof="0" dirty="0">
              <a:ln>
                <a:noFill/>
              </a:ln>
              <a:solidFill>
                <a:prstClr val="black"/>
              </a:solidFill>
              <a:effectLst/>
              <a:uLnTx/>
              <a:uFillTx/>
              <a:latin typeface="Calibri (body)"/>
              <a:ea typeface="+mn-ea"/>
              <a:cs typeface="+mn-cs"/>
            </a:endParaRPr>
          </a:p>
        </p:txBody>
      </p:sp>
      <p:sp>
        <p:nvSpPr>
          <p:cNvPr id="77" name="Rectangle 76">
            <a:extLst>
              <a:ext uri="{FF2B5EF4-FFF2-40B4-BE49-F238E27FC236}">
                <a16:creationId xmlns:a16="http://schemas.microsoft.com/office/drawing/2014/main" id="{41EE0852-65FD-8740-86FA-C3D9240EACD5}"/>
              </a:ext>
            </a:extLst>
          </p:cNvPr>
          <p:cNvSpPr/>
          <p:nvPr/>
        </p:nvSpPr>
        <p:spPr>
          <a:xfrm>
            <a:off x="124255" y="949747"/>
            <a:ext cx="11696294" cy="5679035"/>
          </a:xfrm>
          <a:prstGeom prst="rect">
            <a:avLst/>
          </a:prstGeom>
          <a:no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Calibri (body)"/>
              <a:ea typeface="+mn-ea"/>
              <a:cs typeface="+mn-cs"/>
            </a:endParaRPr>
          </a:p>
        </p:txBody>
      </p:sp>
      <p:sp>
        <p:nvSpPr>
          <p:cNvPr id="3" name="Espace réservé du texte 16">
            <a:extLst>
              <a:ext uri="{FF2B5EF4-FFF2-40B4-BE49-F238E27FC236}">
                <a16:creationId xmlns:a16="http://schemas.microsoft.com/office/drawing/2014/main" id="{686688ED-05D7-81F1-2ACC-FBB245613733}"/>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400036128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48005" y="6006164"/>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Présentation des templates</a:t>
            </a:r>
          </a:p>
          <a:p>
            <a:r>
              <a:rPr lang="fr-FR" sz="2000" dirty="0"/>
              <a:t>c- Templates réglementaires – </a:t>
            </a:r>
            <a:r>
              <a:rPr lang="en-GB" sz="2000" dirty="0"/>
              <a:t>NII_CALC (2)</a:t>
            </a:r>
            <a:endParaRPr lang="fr-FR" sz="2000" dirty="0"/>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00" kern="1200" smtClean="0">
                <a:solidFill>
                  <a:srgbClr val="003565"/>
                </a:solidFill>
                <a:latin typeface="Calibri (body)"/>
                <a:ea typeface="+mn-ea"/>
                <a:cs typeface="+mn-cs"/>
              </a:rPr>
              <a:pPr algn="r" defTabSz="1219170">
                <a:buClrTx/>
                <a:buFontTx/>
                <a:buNone/>
                <a:defRPr/>
              </a:pPr>
              <a:t>82</a:t>
            </a:fld>
            <a:endParaRPr lang="fr-FR" sz="1000" kern="1200" dirty="0">
              <a:solidFill>
                <a:srgbClr val="003565"/>
              </a:solidFill>
              <a:latin typeface="Calibri (body)"/>
              <a:ea typeface="+mn-ea"/>
              <a:cs typeface="+mn-cs"/>
            </a:endParaRPr>
          </a:p>
        </p:txBody>
      </p:sp>
      <p:sp>
        <p:nvSpPr>
          <p:cNvPr id="24" name="TextBox 23">
            <a:extLst>
              <a:ext uri="{FF2B5EF4-FFF2-40B4-BE49-F238E27FC236}">
                <a16:creationId xmlns:a16="http://schemas.microsoft.com/office/drawing/2014/main" id="{180184F3-AB9F-6336-EEFE-35609415CA28}"/>
              </a:ext>
            </a:extLst>
          </p:cNvPr>
          <p:cNvSpPr txBox="1"/>
          <p:nvPr/>
        </p:nvSpPr>
        <p:spPr>
          <a:xfrm>
            <a:off x="124256" y="714680"/>
            <a:ext cx="11696294" cy="6255559"/>
          </a:xfrm>
          <a:prstGeom prst="rect">
            <a:avLst/>
          </a:prstGeom>
          <a:noFill/>
        </p:spPr>
        <p:txBody>
          <a:bodyPr wrap="square">
            <a:spAutoFit/>
          </a:bodyPr>
          <a:lstStyle/>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000" b="1"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prstClr val="black"/>
                </a:solidFill>
                <a:effectLst/>
                <a:uLnTx/>
                <a:uFillTx/>
                <a:latin typeface="Calibri (body)"/>
                <a:ea typeface="+mn-ea"/>
                <a:cs typeface="+mn-cs"/>
              </a:rPr>
              <a:t>Enjeux clés et méthodologie de projection</a:t>
            </a:r>
          </a:p>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Calibri (body)"/>
                <a:ea typeface="+mn-ea"/>
                <a:cs typeface="+mn-cs"/>
              </a:rPr>
              <a:t>• Le template STEBA utilise une méthodologie de calcul </a:t>
            </a:r>
            <a:r>
              <a:rPr kumimoji="0" lang="fr-FR" sz="1200" b="1" i="0" u="none" strike="noStrike" kern="1200" cap="none" spc="0" normalizeH="0" baseline="0" noProof="0" dirty="0">
                <a:ln>
                  <a:noFill/>
                </a:ln>
                <a:solidFill>
                  <a:prstClr val="black"/>
                </a:solidFill>
                <a:effectLst/>
                <a:uLnTx/>
                <a:uFillTx/>
                <a:latin typeface="Calibri (body)"/>
                <a:ea typeface="+mn-ea"/>
                <a:cs typeface="+mn-cs"/>
              </a:rPr>
              <a:t>agrégée</a:t>
            </a:r>
            <a:r>
              <a:rPr kumimoji="0" lang="fr-FR" sz="1200" b="0" i="0" u="none" strike="noStrike" kern="1200" cap="none" spc="0" normalizeH="0" baseline="0" noProof="0" dirty="0">
                <a:ln>
                  <a:noFill/>
                </a:ln>
                <a:solidFill>
                  <a:prstClr val="black"/>
                </a:solidFill>
                <a:effectLst/>
                <a:uLnTx/>
                <a:uFillTx/>
                <a:latin typeface="Calibri (body)"/>
                <a:ea typeface="+mn-ea"/>
                <a:cs typeface="+mn-cs"/>
              </a:rPr>
              <a:t> :</a:t>
            </a:r>
          </a:p>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200" b="0" i="0" u="none" strike="noStrike" kern="1200" cap="none" spc="0" normalizeH="0" baseline="0" noProof="0" dirty="0">
                <a:ln>
                  <a:noFill/>
                </a:ln>
                <a:solidFill>
                  <a:prstClr val="black"/>
                </a:solidFill>
                <a:effectLst/>
                <a:uLnTx/>
                <a:uFillTx/>
                <a:latin typeface="Calibri (body)"/>
                <a:ea typeface="+mn-ea"/>
                <a:cs typeface="+mn-cs"/>
              </a:rPr>
              <a:t>Cela signifie que toutes les transactions sont dans un premier temps agrégé selon leurs caractéristiques :</a:t>
            </a:r>
          </a:p>
          <a:p>
            <a:pPr marL="176213" marR="0" lvl="1" algn="just" defTabSz="1219170" rtl="0" eaLnBrk="1" fontAlgn="auto" latinLnBrk="0" hangingPunct="1">
              <a:lnSpc>
                <a:spcPct val="100000"/>
              </a:lnSpc>
              <a:spcBef>
                <a:spcPts val="0"/>
              </a:spcBef>
              <a:spcAft>
                <a:spcPts val="0"/>
              </a:spcAft>
              <a:buClrTx/>
              <a:buSzTx/>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347663" marR="0" lvl="1" indent="-171450" algn="just" defTabSz="121917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algn="just" defTabSz="1219170" rtl="0" eaLnBrk="1" fontAlgn="auto" latinLnBrk="0" hangingPunct="1">
              <a:lnSpc>
                <a:spcPct val="100000"/>
              </a:lnSpc>
              <a:spcBef>
                <a:spcPts val="0"/>
              </a:spcBef>
              <a:spcAft>
                <a:spcPts val="0"/>
              </a:spcAft>
              <a:buClrTx/>
              <a:buSzTx/>
              <a:tabLst/>
              <a:defRPr/>
            </a:pPr>
            <a:endParaRPr lang="fr-FR" sz="1000" kern="1200" dirty="0">
              <a:solidFill>
                <a:prstClr val="black"/>
              </a:solidFill>
              <a:latin typeface="Calibri (body)"/>
              <a:ea typeface="+mn-ea"/>
              <a:cs typeface="+mn-cs"/>
            </a:endParaRPr>
          </a:p>
          <a:p>
            <a:pPr marL="176213" marR="0" lvl="1" algn="just" defTabSz="1219170" rtl="0" eaLnBrk="1" fontAlgn="auto" latinLnBrk="0" hangingPunct="1">
              <a:lnSpc>
                <a:spcPct val="100000"/>
              </a:lnSpc>
              <a:spcBef>
                <a:spcPts val="0"/>
              </a:spcBef>
              <a:spcAft>
                <a:spcPts val="0"/>
              </a:spcAft>
              <a:buClrTx/>
              <a:buSzTx/>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Le calcul de MNI est en ensuite effectué avec plusieurs hypothèses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implicites ou explicites :</a:t>
            </a:r>
          </a:p>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050" b="0" i="0" u="none" strike="noStrike" kern="1200" cap="none" spc="0" normalizeH="0" baseline="0" noProof="0" dirty="0">
              <a:ln>
                <a:noFill/>
              </a:ln>
              <a:solidFill>
                <a:prstClr val="black"/>
              </a:solidFill>
              <a:effectLst/>
              <a:uLnTx/>
              <a:uFillTx/>
              <a:latin typeface="Calibri (body)"/>
              <a:ea typeface="+mn-ea"/>
              <a:cs typeface="+mn-cs"/>
            </a:endParaRP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Le taux (et la marge) moyen d’un portefeuille homogène selon les critères ci-dessus correspond au taux associé à la maturité moyenne du portefeuille</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La marge sur les nouveaux produits est calculée à partir des marges de l’année 2024.  </a:t>
            </a:r>
          </a:p>
          <a:p>
            <a:pPr marL="633413" marR="0" lvl="2" indent="0" algn="just" defTabSz="1219170" rtl="0" eaLnBrk="1" fontAlgn="auto" latinLnBrk="0" hangingPunct="1">
              <a:lnSpc>
                <a:spcPct val="100000"/>
              </a:lnSpc>
              <a:spcBef>
                <a:spcPts val="0"/>
              </a:spcBef>
              <a:spcAft>
                <a:spcPts val="0"/>
              </a:spcAft>
              <a:buClrTx/>
              <a:buSzTx/>
              <a:buFontTx/>
              <a:buNone/>
              <a:tabLst/>
              <a:defRPr/>
            </a:pPr>
            <a:endParaRPr kumimoji="0" lang="fr-FR" sz="1050" b="0" i="0" u="none" strike="noStrike" kern="1200" cap="none" spc="0" normalizeH="0" baseline="0" noProof="0" dirty="0">
              <a:ln>
                <a:noFill/>
              </a:ln>
              <a:solidFill>
                <a:prstClr val="black"/>
              </a:solidFill>
              <a:effectLst/>
              <a:uLnTx/>
              <a:uFillTx/>
              <a:latin typeface="Calibri (body)"/>
              <a:ea typeface="+mn-ea"/>
              <a:cs typeface="+mn-cs"/>
            </a:endParaRP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Pour les transactions à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taux révisable</a:t>
            </a:r>
            <a:r>
              <a:rPr kumimoji="0" lang="fr-FR" sz="1050" b="0" i="0" u="none" strike="noStrike" kern="1200" cap="none" spc="0" normalizeH="0" baseline="0" noProof="0" dirty="0">
                <a:ln>
                  <a:noFill/>
                </a:ln>
                <a:solidFill>
                  <a:prstClr val="black"/>
                </a:solidFill>
                <a:effectLst/>
                <a:uLnTx/>
                <a:uFillTx/>
                <a:latin typeface="Calibri (body)"/>
                <a:ea typeface="+mn-ea"/>
                <a:cs typeface="+mn-cs"/>
              </a:rPr>
              <a:t>, la projection </a:t>
            </a:r>
            <a:r>
              <a:rPr kumimoji="0" lang="fr-FR" sz="1050" b="0" i="0" u="sng" strike="noStrike" kern="1200" cap="none" spc="0" normalizeH="0" baseline="0" noProof="0" dirty="0">
                <a:ln>
                  <a:noFill/>
                </a:ln>
                <a:solidFill>
                  <a:prstClr val="black"/>
                </a:solidFill>
                <a:effectLst/>
                <a:uLnTx/>
                <a:uFillTx/>
                <a:latin typeface="Calibri (body)"/>
                <a:ea typeface="+mn-ea"/>
                <a:cs typeface="+mn-cs"/>
              </a:rPr>
              <a:t>du taux de référence </a:t>
            </a:r>
            <a:r>
              <a:rPr kumimoji="0" lang="fr-FR" sz="1050" b="0" i="0" u="none" strike="noStrike" kern="1200" cap="none" spc="0" normalizeH="0" baseline="0" noProof="0" dirty="0">
                <a:ln>
                  <a:noFill/>
                </a:ln>
                <a:solidFill>
                  <a:prstClr val="black"/>
                </a:solidFill>
                <a:effectLst/>
                <a:uLnTx/>
                <a:uFillTx/>
                <a:latin typeface="Calibri (body)"/>
                <a:ea typeface="+mn-ea"/>
                <a:cs typeface="+mn-cs"/>
              </a:rPr>
              <a:t>est faite en partant du principe que les encours repricent en moyenne à une proportion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fixée</a:t>
            </a:r>
            <a:r>
              <a:rPr kumimoji="0" lang="fr-FR" sz="1050" b="0" i="0" u="none" strike="noStrike" kern="1200" cap="none" spc="0" normalizeH="0" baseline="0" noProof="0" dirty="0">
                <a:ln>
                  <a:noFill/>
                </a:ln>
                <a:solidFill>
                  <a:prstClr val="black"/>
                </a:solidFill>
                <a:effectLst/>
                <a:uLnTx/>
                <a:uFillTx/>
                <a:latin typeface="Calibri (body)"/>
                <a:ea typeface="+mn-ea"/>
                <a:cs typeface="+mn-cs"/>
              </a:rPr>
              <a:t> de l’année :</a:t>
            </a:r>
          </a:p>
          <a:p>
            <a:pPr marL="1262063" marR="0" lvl="3"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20% de l’année sur les encours à terme</a:t>
            </a:r>
          </a:p>
          <a:p>
            <a:pPr marL="1262063" marR="0" lvl="3"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Immédiatement sur les encours à vue</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Pour les transactions à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taux fixe</a:t>
            </a:r>
            <a:r>
              <a:rPr kumimoji="0" lang="fr-FR" sz="1050" b="0" i="0" u="none" strike="noStrike" kern="1200" cap="none" spc="0" normalizeH="0" baseline="0" noProof="0" dirty="0">
                <a:ln>
                  <a:noFill/>
                </a:ln>
                <a:solidFill>
                  <a:prstClr val="black"/>
                </a:solidFill>
                <a:effectLst/>
                <a:uLnTx/>
                <a:uFillTx/>
                <a:latin typeface="Calibri (body)"/>
                <a:ea typeface="+mn-ea"/>
                <a:cs typeface="+mn-cs"/>
              </a:rPr>
              <a:t>, la projection </a:t>
            </a:r>
            <a:r>
              <a:rPr kumimoji="0" lang="fr-FR" sz="1050" b="0" i="0" u="sng" strike="noStrike" kern="1200" cap="none" spc="0" normalizeH="0" baseline="0" noProof="0" dirty="0">
                <a:ln>
                  <a:noFill/>
                </a:ln>
                <a:solidFill>
                  <a:prstClr val="black"/>
                </a:solidFill>
                <a:effectLst/>
                <a:uLnTx/>
                <a:uFillTx/>
                <a:latin typeface="Calibri (body)"/>
                <a:ea typeface="+mn-ea"/>
                <a:cs typeface="+mn-cs"/>
              </a:rPr>
              <a:t>du taux de référence et de la marge </a:t>
            </a:r>
            <a:r>
              <a:rPr kumimoji="0" lang="fr-FR" sz="1050" b="0" i="0" u="none" strike="noStrike" kern="1200" cap="none" spc="0" normalizeH="0" baseline="0" noProof="0" dirty="0">
                <a:ln>
                  <a:noFill/>
                </a:ln>
                <a:solidFill>
                  <a:prstClr val="black"/>
                </a:solidFill>
                <a:effectLst/>
                <a:uLnTx/>
                <a:uFillTx/>
                <a:latin typeface="Calibri (body)"/>
                <a:ea typeface="+mn-ea"/>
                <a:cs typeface="+mn-cs"/>
              </a:rPr>
              <a:t>est faite en partant du principe que les encours repricent en moyenne à une proportion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fixée</a:t>
            </a:r>
            <a:r>
              <a:rPr kumimoji="0" lang="fr-FR" sz="1050" b="0" i="0" u="none" strike="noStrike" kern="1200" cap="none" spc="0" normalizeH="0" baseline="0" noProof="0" dirty="0">
                <a:ln>
                  <a:noFill/>
                </a:ln>
                <a:solidFill>
                  <a:prstClr val="black"/>
                </a:solidFill>
                <a:effectLst/>
                <a:uLnTx/>
                <a:uFillTx/>
                <a:latin typeface="Calibri (body)"/>
                <a:ea typeface="+mn-ea"/>
                <a:cs typeface="+mn-cs"/>
              </a:rPr>
              <a:t> de l’année :</a:t>
            </a:r>
          </a:p>
          <a:p>
            <a:pPr marL="1262063" marR="0" lvl="3"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50% de l’année sur les encours à l’actif et les émissions de dette</a:t>
            </a:r>
          </a:p>
          <a:p>
            <a:pPr marL="1262063" marR="0" lvl="3"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Immédiatement sur les encours à vue au passif</a:t>
            </a:r>
          </a:p>
          <a:p>
            <a:pPr marL="1262063" marR="0" lvl="3"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30% de l’année sur les emprunts à terme</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La part de marge des transactions à </a:t>
            </a:r>
            <a:r>
              <a:rPr kumimoji="0" lang="fr-FR" sz="1050" b="1" i="0" u="none" strike="noStrike" kern="1200" cap="none" spc="0" normalizeH="0" baseline="0" noProof="0" dirty="0">
                <a:ln>
                  <a:noFill/>
                </a:ln>
                <a:solidFill>
                  <a:prstClr val="black"/>
                </a:solidFill>
                <a:effectLst/>
                <a:uLnTx/>
                <a:uFillTx/>
                <a:latin typeface="Calibri (body)"/>
                <a:ea typeface="+mn-ea"/>
                <a:cs typeface="+mn-cs"/>
              </a:rPr>
              <a:t>taux révisable </a:t>
            </a:r>
            <a:r>
              <a:rPr kumimoji="0" lang="fr-FR" sz="1050" b="0" i="0" u="none" strike="noStrike" kern="1200" cap="none" spc="0" normalizeH="0" baseline="0" noProof="0" dirty="0">
                <a:ln>
                  <a:noFill/>
                </a:ln>
                <a:solidFill>
                  <a:prstClr val="black"/>
                </a:solidFill>
                <a:effectLst/>
                <a:uLnTx/>
                <a:uFillTx/>
                <a:latin typeface="Calibri (body)"/>
                <a:ea typeface="+mn-ea"/>
                <a:cs typeface="+mn-cs"/>
              </a:rPr>
              <a:t>est projetée de la même manière que les encours à taux fixe</a:t>
            </a:r>
          </a:p>
          <a:p>
            <a:pPr marL="347663" marR="0" lvl="1" indent="-171450" algn="just" defTabSz="121917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fr-FR" sz="1050" b="0" i="0" u="none" strike="noStrike" kern="1200" cap="none" spc="0" normalizeH="0" baseline="0" noProof="0" dirty="0">
              <a:ln>
                <a:noFill/>
              </a:ln>
              <a:solidFill>
                <a:prstClr val="black"/>
              </a:solidFill>
              <a:effectLst/>
              <a:uLnTx/>
              <a:uFillTx/>
              <a:latin typeface="Calibri (body)"/>
              <a:ea typeface="+mn-ea"/>
              <a:cs typeface="+mn-cs"/>
            </a:endParaRPr>
          </a:p>
          <a:p>
            <a:pPr marL="633413" marR="0" lvl="2" indent="0" algn="just" defTabSz="121917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La MNI est ainsi découpée en trois composantes par année :</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La partie qui ne mature pas ni ne refixe dans l’année pour laquelle le taux utilisé est le taux original</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La partie qui mature ou reprice dans l’année (définie précédemment) pour laquelle on utilise le taux original également</a:t>
            </a:r>
          </a:p>
          <a:p>
            <a:pPr marL="862013" marR="0" lvl="2" indent="-228600" algn="just"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050" b="0" i="0" u="none" strike="noStrike" kern="1200" cap="none" spc="0" normalizeH="0" baseline="0" noProof="0" dirty="0">
                <a:ln>
                  <a:noFill/>
                </a:ln>
                <a:solidFill>
                  <a:prstClr val="black"/>
                </a:solidFill>
                <a:effectLst/>
                <a:uLnTx/>
                <a:uFillTx/>
                <a:latin typeface="Calibri (body)"/>
                <a:ea typeface="+mn-ea"/>
                <a:cs typeface="+mn-cs"/>
              </a:rPr>
              <a:t>Le remplacement de ces encours pour satisfaire l’hypothèse de bilan constant pour lequel on utilise les projections de taux</a:t>
            </a:r>
            <a:endParaRPr kumimoji="0" lang="fr-FR" sz="11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prstClr val="black"/>
              </a:solidFill>
              <a:effectLst/>
              <a:uLnTx/>
              <a:uFillTx/>
              <a:latin typeface="Calibri (body)"/>
              <a:ea typeface="+mn-ea"/>
              <a:cs typeface="+mn-cs"/>
            </a:endParaRPr>
          </a:p>
          <a:p>
            <a:pPr marL="176213" marR="0" lvl="1" indent="0" algn="just" defTabSz="121917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Le traitement de ces lignes est par la suite </a:t>
            </a:r>
            <a:r>
              <a:rPr kumimoji="0" lang="fr-FR" sz="1100" b="1" i="0" u="none" strike="noStrike" kern="1200" cap="none" spc="0" normalizeH="0" baseline="0" noProof="0" dirty="0">
                <a:ln>
                  <a:noFill/>
                </a:ln>
                <a:solidFill>
                  <a:prstClr val="black"/>
                </a:solidFill>
                <a:effectLst/>
                <a:uLnTx/>
                <a:uFillTx/>
                <a:latin typeface="Calibri (body)"/>
                <a:ea typeface="+mn-ea"/>
                <a:cs typeface="+mn-cs"/>
              </a:rPr>
              <a:t>uniforme. </a:t>
            </a:r>
            <a:endParaRPr kumimoji="0" lang="fr-FR" sz="1100" b="0" i="0" u="none" strike="noStrike" kern="1200" cap="none" spc="0" normalizeH="0" baseline="0" noProof="0" dirty="0">
              <a:ln>
                <a:noFill/>
              </a:ln>
              <a:solidFill>
                <a:prstClr val="black"/>
              </a:solidFill>
              <a:effectLst/>
              <a:uLnTx/>
              <a:uFillTx/>
              <a:latin typeface="Calibri (body)"/>
              <a:ea typeface="+mn-ea"/>
              <a:cs typeface="+mn-cs"/>
            </a:endParaRPr>
          </a:p>
        </p:txBody>
      </p:sp>
      <p:sp>
        <p:nvSpPr>
          <p:cNvPr id="25" name="Rectangle 24">
            <a:extLst>
              <a:ext uri="{FF2B5EF4-FFF2-40B4-BE49-F238E27FC236}">
                <a16:creationId xmlns:a16="http://schemas.microsoft.com/office/drawing/2014/main" id="{2F0D9FB2-766F-F591-F646-9B70A07908CC}"/>
              </a:ext>
            </a:extLst>
          </p:cNvPr>
          <p:cNvSpPr/>
          <p:nvPr/>
        </p:nvSpPr>
        <p:spPr>
          <a:xfrm>
            <a:off x="48005" y="847383"/>
            <a:ext cx="11696294" cy="2470921"/>
          </a:xfrm>
          <a:prstGeom prst="rect">
            <a:avLst/>
          </a:prstGeom>
          <a:noFill/>
          <a:ln>
            <a:solidFill>
              <a:srgbClr val="00356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Calibri (body)"/>
            </a:endParaRPr>
          </a:p>
        </p:txBody>
      </p:sp>
      <p:sp>
        <p:nvSpPr>
          <p:cNvPr id="26" name="Rectangle 25">
            <a:extLst>
              <a:ext uri="{FF2B5EF4-FFF2-40B4-BE49-F238E27FC236}">
                <a16:creationId xmlns:a16="http://schemas.microsoft.com/office/drawing/2014/main" id="{5E717EDB-115E-5CEF-8350-C8DE5E13D586}"/>
              </a:ext>
            </a:extLst>
          </p:cNvPr>
          <p:cNvSpPr/>
          <p:nvPr/>
        </p:nvSpPr>
        <p:spPr>
          <a:xfrm>
            <a:off x="31560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rPr>
              <a:t>Taux</a:t>
            </a:r>
          </a:p>
        </p:txBody>
      </p:sp>
      <p:sp>
        <p:nvSpPr>
          <p:cNvPr id="27" name="Rectangle 26">
            <a:extLst>
              <a:ext uri="{FF2B5EF4-FFF2-40B4-BE49-F238E27FC236}">
                <a16:creationId xmlns:a16="http://schemas.microsoft.com/office/drawing/2014/main" id="{833AA2DB-CC91-4D78-20E7-F6659AD7B537}"/>
              </a:ext>
            </a:extLst>
          </p:cNvPr>
          <p:cNvSpPr/>
          <p:nvPr/>
        </p:nvSpPr>
        <p:spPr>
          <a:xfrm>
            <a:off x="168206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rPr>
              <a:t>Bilan</a:t>
            </a:r>
          </a:p>
        </p:txBody>
      </p:sp>
      <p:sp>
        <p:nvSpPr>
          <p:cNvPr id="28" name="Rectangle 27">
            <a:extLst>
              <a:ext uri="{FF2B5EF4-FFF2-40B4-BE49-F238E27FC236}">
                <a16:creationId xmlns:a16="http://schemas.microsoft.com/office/drawing/2014/main" id="{428D115B-C668-1CE5-6ECE-81F0EB3AE192}"/>
              </a:ext>
            </a:extLst>
          </p:cNvPr>
          <p:cNvSpPr/>
          <p:nvPr/>
        </p:nvSpPr>
        <p:spPr>
          <a:xfrm>
            <a:off x="304852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rPr>
              <a:t>P</a:t>
            </a:r>
            <a:r>
              <a:rPr kumimoji="0" lang="en-GB" sz="1050" b="0" i="0" u="none" strike="noStrike" kern="1200" cap="none" spc="0" normalizeH="0" baseline="0" noProof="0" dirty="0" err="1">
                <a:ln>
                  <a:noFill/>
                </a:ln>
                <a:solidFill>
                  <a:srgbClr val="FFFFFF"/>
                </a:solidFill>
                <a:effectLst/>
                <a:uLnTx/>
                <a:uFillTx/>
                <a:latin typeface="Calibri (body)"/>
              </a:rPr>
              <a:t>roduit</a:t>
            </a:r>
            <a:endParaRPr kumimoji="0" lang="en-GB" sz="1050" b="0" i="0" u="none" strike="noStrike" kern="1200" cap="none" spc="0" normalizeH="0" baseline="0" noProof="0" dirty="0">
              <a:ln>
                <a:noFill/>
              </a:ln>
              <a:solidFill>
                <a:srgbClr val="FFFFFF"/>
              </a:solidFill>
              <a:effectLst/>
              <a:uLnTx/>
              <a:uFillTx/>
              <a:latin typeface="Calibri (body)"/>
            </a:endParaRPr>
          </a:p>
        </p:txBody>
      </p:sp>
      <p:sp>
        <p:nvSpPr>
          <p:cNvPr id="29" name="Rectangle 28">
            <a:extLst>
              <a:ext uri="{FF2B5EF4-FFF2-40B4-BE49-F238E27FC236}">
                <a16:creationId xmlns:a16="http://schemas.microsoft.com/office/drawing/2014/main" id="{DFE4C86F-E150-7B45-AA84-2A0CBC034FE5}"/>
              </a:ext>
            </a:extLst>
          </p:cNvPr>
          <p:cNvSpPr/>
          <p:nvPr/>
        </p:nvSpPr>
        <p:spPr>
          <a:xfrm>
            <a:off x="441498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srgbClr val="FFFFFF"/>
                </a:solidFill>
                <a:effectLst/>
                <a:uLnTx/>
                <a:uFillTx/>
                <a:latin typeface="Calibri (body)"/>
              </a:rPr>
              <a:t>Contrepartie</a:t>
            </a:r>
            <a:endParaRPr kumimoji="0" lang="en-GB" sz="1050" b="0" i="0" u="none" strike="noStrike" kern="1200" cap="none" spc="0" normalizeH="0" baseline="0" noProof="0" dirty="0">
              <a:ln>
                <a:noFill/>
              </a:ln>
              <a:solidFill>
                <a:srgbClr val="FFFFFF"/>
              </a:solidFill>
              <a:effectLst/>
              <a:uLnTx/>
              <a:uFillTx/>
              <a:latin typeface="Calibri (body)"/>
            </a:endParaRPr>
          </a:p>
        </p:txBody>
      </p:sp>
      <p:sp>
        <p:nvSpPr>
          <p:cNvPr id="30" name="Rectangle 29">
            <a:extLst>
              <a:ext uri="{FF2B5EF4-FFF2-40B4-BE49-F238E27FC236}">
                <a16:creationId xmlns:a16="http://schemas.microsoft.com/office/drawing/2014/main" id="{C904E63E-63D3-10F1-C3E2-6B1AA2CBD5E1}"/>
              </a:ext>
            </a:extLst>
          </p:cNvPr>
          <p:cNvSpPr/>
          <p:nvPr/>
        </p:nvSpPr>
        <p:spPr>
          <a:xfrm>
            <a:off x="578144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srgbClr val="FFFFFF"/>
                </a:solidFill>
                <a:effectLst/>
                <a:uLnTx/>
                <a:uFillTx/>
                <a:latin typeface="Calibri (body)"/>
              </a:rPr>
              <a:t>Optionnalité</a:t>
            </a:r>
            <a:endParaRPr kumimoji="0" lang="en-GB" sz="1050" b="0" i="0" u="none" strike="noStrike" kern="1200" cap="none" spc="0" normalizeH="0" baseline="0" noProof="0" dirty="0">
              <a:ln>
                <a:noFill/>
              </a:ln>
              <a:solidFill>
                <a:srgbClr val="FFFFFF"/>
              </a:solidFill>
              <a:effectLst/>
              <a:uLnTx/>
              <a:uFillTx/>
              <a:latin typeface="Calibri (body)"/>
            </a:endParaRPr>
          </a:p>
        </p:txBody>
      </p:sp>
      <p:sp>
        <p:nvSpPr>
          <p:cNvPr id="31" name="Rectangle 30">
            <a:extLst>
              <a:ext uri="{FF2B5EF4-FFF2-40B4-BE49-F238E27FC236}">
                <a16:creationId xmlns:a16="http://schemas.microsoft.com/office/drawing/2014/main" id="{DDA84793-D61E-8E7E-5BC7-EA1968A401B4}"/>
              </a:ext>
            </a:extLst>
          </p:cNvPr>
          <p:cNvSpPr/>
          <p:nvPr/>
        </p:nvSpPr>
        <p:spPr>
          <a:xfrm>
            <a:off x="714790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srgbClr val="FFFFFF"/>
                </a:solidFill>
                <a:effectLst/>
                <a:uLnTx/>
                <a:uFillTx/>
                <a:latin typeface="Calibri (body)"/>
              </a:rPr>
              <a:t>Maturité</a:t>
            </a:r>
            <a:r>
              <a:rPr kumimoji="0" lang="en-GB" sz="1050" b="0" i="0" u="none" strike="noStrike" kern="1200" cap="none" spc="0" normalizeH="0" baseline="0" noProof="0" dirty="0">
                <a:ln>
                  <a:noFill/>
                </a:ln>
                <a:solidFill>
                  <a:srgbClr val="FFFFFF"/>
                </a:solidFill>
                <a:effectLst/>
                <a:uLnTx/>
                <a:uFillTx/>
                <a:latin typeface="Calibri (body)"/>
              </a:rPr>
              <a:t> </a:t>
            </a:r>
            <a:r>
              <a:rPr kumimoji="0" lang="en-GB" sz="1050" b="0" i="0" u="none" strike="noStrike" kern="1200" cap="none" spc="0" normalizeH="0" baseline="0" noProof="0" dirty="0" err="1">
                <a:ln>
                  <a:noFill/>
                </a:ln>
                <a:solidFill>
                  <a:srgbClr val="FFFFFF"/>
                </a:solidFill>
                <a:effectLst/>
                <a:uLnTx/>
                <a:uFillTx/>
                <a:latin typeface="Calibri (body)"/>
              </a:rPr>
              <a:t>résiduelle</a:t>
            </a:r>
            <a:endParaRPr kumimoji="0" lang="en-GB" sz="1050" b="0" i="0" u="none" strike="noStrike" kern="1200" cap="none" spc="0" normalizeH="0" baseline="0" noProof="0" dirty="0">
              <a:ln>
                <a:noFill/>
              </a:ln>
              <a:solidFill>
                <a:srgbClr val="FFFFFF"/>
              </a:solidFill>
              <a:effectLst/>
              <a:uLnTx/>
              <a:uFillTx/>
              <a:latin typeface="Calibri (body)"/>
            </a:endParaRPr>
          </a:p>
        </p:txBody>
      </p:sp>
      <p:sp>
        <p:nvSpPr>
          <p:cNvPr id="32" name="Rectangle 31">
            <a:extLst>
              <a:ext uri="{FF2B5EF4-FFF2-40B4-BE49-F238E27FC236}">
                <a16:creationId xmlns:a16="http://schemas.microsoft.com/office/drawing/2014/main" id="{9C04A07C-6E33-1186-E209-E65396A8069A}"/>
              </a:ext>
            </a:extLst>
          </p:cNvPr>
          <p:cNvSpPr/>
          <p:nvPr/>
        </p:nvSpPr>
        <p:spPr>
          <a:xfrm>
            <a:off x="9880824"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rPr>
              <a:t>Pays</a:t>
            </a:r>
          </a:p>
        </p:txBody>
      </p:sp>
      <p:sp>
        <p:nvSpPr>
          <p:cNvPr id="33" name="Rectangle 32">
            <a:extLst>
              <a:ext uri="{FF2B5EF4-FFF2-40B4-BE49-F238E27FC236}">
                <a16:creationId xmlns:a16="http://schemas.microsoft.com/office/drawing/2014/main" id="{3437857E-C606-B624-DAA5-4F01265C8CF8}"/>
              </a:ext>
            </a:extLst>
          </p:cNvPr>
          <p:cNvSpPr/>
          <p:nvPr/>
        </p:nvSpPr>
        <p:spPr>
          <a:xfrm>
            <a:off x="8514361" y="1953928"/>
            <a:ext cx="1224000" cy="361300"/>
          </a:xfrm>
          <a:prstGeom prst="rect">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FFFFFF"/>
                </a:solidFill>
                <a:effectLst/>
                <a:uLnTx/>
                <a:uFillTx/>
                <a:latin typeface="Calibri (body)"/>
              </a:rPr>
              <a:t>Devise</a:t>
            </a:r>
          </a:p>
        </p:txBody>
      </p:sp>
      <p:sp>
        <p:nvSpPr>
          <p:cNvPr id="34" name="Rectangle 33">
            <a:extLst>
              <a:ext uri="{FF2B5EF4-FFF2-40B4-BE49-F238E27FC236}">
                <a16:creationId xmlns:a16="http://schemas.microsoft.com/office/drawing/2014/main" id="{4482A2E9-B152-436D-98CC-55E8DE06B396}"/>
              </a:ext>
            </a:extLst>
          </p:cNvPr>
          <p:cNvSpPr/>
          <p:nvPr/>
        </p:nvSpPr>
        <p:spPr>
          <a:xfrm>
            <a:off x="315601" y="2334840"/>
            <a:ext cx="1224000" cy="737194"/>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Fixe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prstClr val="black"/>
                </a:solidFill>
                <a:effectLst/>
                <a:uLnTx/>
                <a:uFillTx/>
                <a:latin typeface="Calibri (body)"/>
              </a:rPr>
              <a:t>Révisable</a:t>
            </a:r>
            <a:endParaRPr kumimoji="0" lang="en-GB" sz="1050" b="0" i="0" u="none" strike="noStrike" kern="1200" cap="none" spc="0" normalizeH="0" baseline="0" noProof="0" dirty="0">
              <a:ln>
                <a:noFill/>
              </a:ln>
              <a:solidFill>
                <a:prstClr val="black"/>
              </a:solidFill>
              <a:effectLst/>
              <a:uLnTx/>
              <a:uFillTx/>
              <a:latin typeface="Calibri (body)"/>
            </a:endParaRPr>
          </a:p>
        </p:txBody>
      </p:sp>
      <p:sp>
        <p:nvSpPr>
          <p:cNvPr id="35" name="Rectangle 34">
            <a:extLst>
              <a:ext uri="{FF2B5EF4-FFF2-40B4-BE49-F238E27FC236}">
                <a16:creationId xmlns:a16="http://schemas.microsoft.com/office/drawing/2014/main" id="{C45F0ADA-E995-719E-F120-CBF597A8C526}"/>
              </a:ext>
            </a:extLst>
          </p:cNvPr>
          <p:cNvSpPr/>
          <p:nvPr/>
        </p:nvSpPr>
        <p:spPr>
          <a:xfrm>
            <a:off x="1682642" y="2334840"/>
            <a:ext cx="1224000" cy="737194"/>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prstClr val="black"/>
                </a:solidFill>
                <a:effectLst/>
                <a:uLnTx/>
                <a:uFillTx/>
                <a:latin typeface="Calibri (body)"/>
              </a:rPr>
              <a:t>Actif</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prstClr val="black"/>
                </a:solidFill>
                <a:effectLst/>
                <a:uLnTx/>
                <a:uFillTx/>
                <a:latin typeface="Calibri (body)"/>
              </a:rPr>
              <a:t>Passif</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Swap</a:t>
            </a:r>
          </a:p>
        </p:txBody>
      </p:sp>
      <p:sp>
        <p:nvSpPr>
          <p:cNvPr id="36" name="Rectangle 35">
            <a:extLst>
              <a:ext uri="{FF2B5EF4-FFF2-40B4-BE49-F238E27FC236}">
                <a16:creationId xmlns:a16="http://schemas.microsoft.com/office/drawing/2014/main" id="{93DB8C46-7948-C75A-0A0B-D39EEAF21EA6}"/>
              </a:ext>
            </a:extLst>
          </p:cNvPr>
          <p:cNvSpPr/>
          <p:nvPr/>
        </p:nvSpPr>
        <p:spPr>
          <a:xfrm>
            <a:off x="3049683" y="2334840"/>
            <a:ext cx="1224000" cy="737194"/>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Prêt </a:t>
            </a:r>
            <a:r>
              <a:rPr kumimoji="0" lang="en-GB" sz="1050" b="0" i="0" u="none" strike="noStrike" kern="1200" cap="none" spc="0" normalizeH="0" baseline="0" noProof="0" dirty="0" err="1">
                <a:ln>
                  <a:noFill/>
                </a:ln>
                <a:solidFill>
                  <a:prstClr val="black"/>
                </a:solidFill>
                <a:effectLst/>
                <a:uLnTx/>
                <a:uFillTx/>
                <a:latin typeface="Calibri (body)"/>
              </a:rPr>
              <a:t>Conso</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Prêt </a:t>
            </a:r>
            <a:r>
              <a:rPr kumimoji="0" lang="en-GB" sz="1050" b="0" i="0" u="none" strike="noStrike" kern="1200" cap="none" spc="0" normalizeH="0" baseline="0" noProof="0" dirty="0" err="1">
                <a:ln>
                  <a:noFill/>
                </a:ln>
                <a:solidFill>
                  <a:prstClr val="black"/>
                </a:solidFill>
                <a:effectLst/>
                <a:uLnTx/>
                <a:uFillTx/>
                <a:latin typeface="Calibri (body)"/>
              </a:rPr>
              <a:t>immo</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Titre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t>
            </a:r>
          </a:p>
        </p:txBody>
      </p:sp>
      <p:sp>
        <p:nvSpPr>
          <p:cNvPr id="37" name="Rectangle 36">
            <a:extLst>
              <a:ext uri="{FF2B5EF4-FFF2-40B4-BE49-F238E27FC236}">
                <a16:creationId xmlns:a16="http://schemas.microsoft.com/office/drawing/2014/main" id="{3EC786BE-A19C-AE6B-C0F9-9648D79A4571}"/>
              </a:ext>
            </a:extLst>
          </p:cNvPr>
          <p:cNvSpPr/>
          <p:nvPr/>
        </p:nvSpPr>
        <p:spPr>
          <a:xfrm>
            <a:off x="4416724" y="2334840"/>
            <a:ext cx="1224000" cy="737194"/>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Banque centrale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Retail</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t>
            </a:r>
          </a:p>
        </p:txBody>
      </p:sp>
      <p:sp>
        <p:nvSpPr>
          <p:cNvPr id="38" name="Rectangle 37">
            <a:extLst>
              <a:ext uri="{FF2B5EF4-FFF2-40B4-BE49-F238E27FC236}">
                <a16:creationId xmlns:a16="http://schemas.microsoft.com/office/drawing/2014/main" id="{6284C6EC-B79F-2EFE-DF9E-5ED0555BBA0D}"/>
              </a:ext>
            </a:extLst>
          </p:cNvPr>
          <p:cNvSpPr/>
          <p:nvPr/>
        </p:nvSpPr>
        <p:spPr>
          <a:xfrm>
            <a:off x="5783765" y="2315228"/>
            <a:ext cx="1224000" cy="756806"/>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 </a:t>
            </a:r>
            <a:r>
              <a:rPr kumimoji="0" lang="en-GB" sz="1050" b="0" i="0" u="none" strike="noStrike" kern="1200" cap="none" spc="0" normalizeH="0" baseline="0" noProof="0" dirty="0" err="1">
                <a:ln>
                  <a:noFill/>
                </a:ln>
                <a:solidFill>
                  <a:prstClr val="black"/>
                </a:solidFill>
                <a:effectLst/>
                <a:uLnTx/>
                <a:uFillTx/>
                <a:latin typeface="Calibri (body)"/>
              </a:rPr>
              <a:t>vue</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 </a:t>
            </a:r>
            <a:r>
              <a:rPr kumimoji="0" lang="en-GB" sz="1050" b="0" i="0" u="none" strike="noStrike" kern="1200" cap="none" spc="0" normalizeH="0" baseline="0" noProof="0" dirty="0" err="1">
                <a:ln>
                  <a:noFill/>
                </a:ln>
                <a:solidFill>
                  <a:prstClr val="black"/>
                </a:solidFill>
                <a:effectLst/>
                <a:uLnTx/>
                <a:uFillTx/>
                <a:latin typeface="Calibri (body)"/>
              </a:rPr>
              <a:t>terme</a:t>
            </a:r>
            <a:endParaRPr kumimoji="0" lang="en-GB" sz="1050" b="0" i="0" u="none" strike="noStrike" kern="1200" cap="none" spc="0" normalizeH="0" baseline="0" noProof="0" dirty="0">
              <a:ln>
                <a:noFill/>
              </a:ln>
              <a:solidFill>
                <a:prstClr val="black"/>
              </a:solidFill>
              <a:effectLst/>
              <a:uLnTx/>
              <a:uFillTx/>
              <a:latin typeface="Calibri (body)"/>
            </a:endParaRPr>
          </a:p>
        </p:txBody>
      </p:sp>
      <p:sp>
        <p:nvSpPr>
          <p:cNvPr id="39" name="Rectangle 38">
            <a:extLst>
              <a:ext uri="{FF2B5EF4-FFF2-40B4-BE49-F238E27FC236}">
                <a16:creationId xmlns:a16="http://schemas.microsoft.com/office/drawing/2014/main" id="{8B58E13E-DE7A-EBBD-A475-2759749D1B16}"/>
              </a:ext>
            </a:extLst>
          </p:cNvPr>
          <p:cNvSpPr/>
          <p:nvPr/>
        </p:nvSpPr>
        <p:spPr>
          <a:xfrm>
            <a:off x="7150806" y="2315228"/>
            <a:ext cx="1224000" cy="756806"/>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&lt; 1 an</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&gt; 1 an et &lt; 2 </a:t>
            </a:r>
            <a:r>
              <a:rPr kumimoji="0" lang="en-GB" sz="1050" b="0" i="0" u="none" strike="noStrike" kern="1200" cap="none" spc="0" normalizeH="0" baseline="0" noProof="0" dirty="0" err="1">
                <a:ln>
                  <a:noFill/>
                </a:ln>
                <a:solidFill>
                  <a:prstClr val="black"/>
                </a:solidFill>
                <a:effectLst/>
                <a:uLnTx/>
                <a:uFillTx/>
                <a:latin typeface="Calibri (body)"/>
              </a:rPr>
              <a:t>ans</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t>
            </a:r>
          </a:p>
        </p:txBody>
      </p:sp>
      <p:sp>
        <p:nvSpPr>
          <p:cNvPr id="40" name="Rectangle 39">
            <a:extLst>
              <a:ext uri="{FF2B5EF4-FFF2-40B4-BE49-F238E27FC236}">
                <a16:creationId xmlns:a16="http://schemas.microsoft.com/office/drawing/2014/main" id="{8F629EDD-DE3D-6415-6940-B4724CD89B8B}"/>
              </a:ext>
            </a:extLst>
          </p:cNvPr>
          <p:cNvSpPr/>
          <p:nvPr/>
        </p:nvSpPr>
        <p:spPr>
          <a:xfrm>
            <a:off x="8517847" y="2334840"/>
            <a:ext cx="1224000" cy="737194"/>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err="1">
                <a:ln>
                  <a:noFill/>
                </a:ln>
                <a:solidFill>
                  <a:prstClr val="black"/>
                </a:solidFill>
                <a:effectLst/>
                <a:uLnTx/>
                <a:uFillTx/>
                <a:latin typeface="Calibri (body)"/>
              </a:rPr>
              <a:t>Eur</a:t>
            </a:r>
            <a:endParaRPr kumimoji="0" lang="en-GB" sz="1050" b="0" i="0" u="none" strike="noStrike" kern="1200" cap="none" spc="0" normalizeH="0" baseline="0" noProof="0" dirty="0">
              <a:ln>
                <a:noFill/>
              </a:ln>
              <a:solidFill>
                <a:prstClr val="black"/>
              </a:solidFill>
              <a:effectLst/>
              <a:uLnTx/>
              <a:uFillTx/>
              <a:latin typeface="Calibri (body)"/>
            </a:endParaRP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t>
            </a:r>
          </a:p>
        </p:txBody>
      </p:sp>
      <p:sp>
        <p:nvSpPr>
          <p:cNvPr id="41" name="Rectangle 40">
            <a:extLst>
              <a:ext uri="{FF2B5EF4-FFF2-40B4-BE49-F238E27FC236}">
                <a16:creationId xmlns:a16="http://schemas.microsoft.com/office/drawing/2014/main" id="{37E11F91-755A-C240-7F40-B226D6A881FF}"/>
              </a:ext>
            </a:extLst>
          </p:cNvPr>
          <p:cNvSpPr/>
          <p:nvPr/>
        </p:nvSpPr>
        <p:spPr>
          <a:xfrm>
            <a:off x="9884891" y="2315228"/>
            <a:ext cx="1224000" cy="756806"/>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France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prstClr val="black"/>
                </a:solidFill>
                <a:effectLst/>
                <a:uLnTx/>
                <a:uFillTx/>
                <a:latin typeface="Calibri (body)"/>
              </a:rPr>
              <a:t>…</a:t>
            </a:r>
          </a:p>
        </p:txBody>
      </p:sp>
      <p:sp>
        <p:nvSpPr>
          <p:cNvPr id="3" name="Espace réservé du texte 16">
            <a:extLst>
              <a:ext uri="{FF2B5EF4-FFF2-40B4-BE49-F238E27FC236}">
                <a16:creationId xmlns:a16="http://schemas.microsoft.com/office/drawing/2014/main" id="{35BF2879-A6BD-4CC1-FB4F-4E9D202A5235}"/>
              </a:ext>
            </a:extLst>
          </p:cNvPr>
          <p:cNvSpPr txBox="1">
            <a:spLocks/>
          </p:cNvSpPr>
          <p:nvPr/>
        </p:nvSpPr>
        <p:spPr>
          <a:xfrm flipH="1">
            <a:off x="75568" y="62260"/>
            <a:ext cx="648000" cy="608400"/>
          </a:xfrm>
          <a:prstGeom prst="parallelogram">
            <a:avLst/>
          </a:prstGeom>
          <a:solidFill>
            <a:schemeClr val="accent1">
              <a:lumMod val="40000"/>
              <a:lumOff val="6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3</a:t>
            </a:r>
          </a:p>
        </p:txBody>
      </p:sp>
    </p:spTree>
    <p:extLst>
      <p:ext uri="{BB962C8B-B14F-4D97-AF65-F5344CB8AC3E}">
        <p14:creationId xmlns:p14="http://schemas.microsoft.com/office/powerpoint/2010/main" val="288679083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229D0FB8-71F0-E6D7-8A1F-517FA9A97E31}"/>
              </a:ext>
            </a:extLst>
          </p:cNvPr>
          <p:cNvSpPr/>
          <p:nvPr/>
        </p:nvSpPr>
        <p:spPr>
          <a:xfrm>
            <a:off x="-9625" y="5970245"/>
            <a:ext cx="12067744" cy="845187"/>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600">
              <a:latin typeface="Calibri (body)"/>
            </a:endParaRPr>
          </a:p>
        </p:txBody>
      </p:sp>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Méthodologie de calculs des taux et marges futures</a:t>
            </a:r>
          </a:p>
          <a:p>
            <a:r>
              <a:rPr lang="fr-FR" sz="2000" dirty="0"/>
              <a:t>a- Méthodologie de calcul</a:t>
            </a:r>
          </a:p>
        </p:txBody>
      </p:sp>
      <p:sp>
        <p:nvSpPr>
          <p:cNvPr id="22" name="Espace réservé du numéro de diapositive 3">
            <a:extLst>
              <a:ext uri="{FF2B5EF4-FFF2-40B4-BE49-F238E27FC236}">
                <a16:creationId xmlns:a16="http://schemas.microsoft.com/office/drawing/2014/main" id="{21C99743-FFD6-E518-4CB6-B21498E24437}"/>
              </a:ext>
            </a:extLst>
          </p:cNvPr>
          <p:cNvSpPr txBox="1">
            <a:spLocks/>
          </p:cNvSpPr>
          <p:nvPr/>
        </p:nvSpPr>
        <p:spPr>
          <a:xfrm>
            <a:off x="11322538" y="6641524"/>
            <a:ext cx="498012" cy="2225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1219170">
              <a:buClrTx/>
              <a:buFontTx/>
              <a:buNone/>
              <a:defRPr/>
            </a:pPr>
            <a:fld id="{D6BAF5B3-C8C8-4448-AD5D-E4CACBC78DFF}" type="slidenum">
              <a:rPr lang="fr-FR" sz="1050" kern="1200" smtClean="0">
                <a:solidFill>
                  <a:srgbClr val="003565"/>
                </a:solidFill>
                <a:latin typeface="Calibri (body)"/>
                <a:ea typeface="+mn-ea"/>
                <a:cs typeface="+mn-cs"/>
              </a:rPr>
              <a:pPr algn="r" defTabSz="1219170">
                <a:buClrTx/>
                <a:buFontTx/>
                <a:buNone/>
                <a:defRPr/>
              </a:pPr>
              <a:t>83</a:t>
            </a:fld>
            <a:endParaRPr lang="fr-FR" sz="1050" kern="1200" dirty="0">
              <a:solidFill>
                <a:srgbClr val="003565"/>
              </a:solidFill>
              <a:latin typeface="Calibri (body)"/>
              <a:ea typeface="+mn-ea"/>
              <a:cs typeface="+mn-cs"/>
            </a:endParaRPr>
          </a:p>
        </p:txBody>
      </p:sp>
      <p:sp>
        <p:nvSpPr>
          <p:cNvPr id="130" name="Rectangle 129">
            <a:extLst>
              <a:ext uri="{FF2B5EF4-FFF2-40B4-BE49-F238E27FC236}">
                <a16:creationId xmlns:a16="http://schemas.microsoft.com/office/drawing/2014/main" id="{7091C8CF-E848-2B4E-38F5-7F652F4EBAB0}"/>
              </a:ext>
            </a:extLst>
          </p:cNvPr>
          <p:cNvSpPr/>
          <p:nvPr/>
        </p:nvSpPr>
        <p:spPr>
          <a:xfrm>
            <a:off x="266768" y="2990651"/>
            <a:ext cx="11540866" cy="3115016"/>
          </a:xfrm>
          <a:prstGeom prst="rect">
            <a:avLst/>
          </a:prstGeom>
          <a:solidFill>
            <a:srgbClr val="FFFFFF">
              <a:lumMod val="95000"/>
            </a:srgbClr>
          </a:solidFill>
          <a:ln w="25400" cap="flat" cmpd="sng" algn="ctr">
            <a:no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32" name="TextBox 131">
            <a:extLst>
              <a:ext uri="{FF2B5EF4-FFF2-40B4-BE49-F238E27FC236}">
                <a16:creationId xmlns:a16="http://schemas.microsoft.com/office/drawing/2014/main" id="{4DBC93D6-CCD4-308F-83C5-9B00FD04A051}"/>
              </a:ext>
            </a:extLst>
          </p:cNvPr>
          <p:cNvSpPr txBox="1"/>
          <p:nvPr/>
        </p:nvSpPr>
        <p:spPr>
          <a:xfrm>
            <a:off x="279684" y="868219"/>
            <a:ext cx="11547324" cy="5501506"/>
          </a:xfrm>
          <a:prstGeom prst="rect">
            <a:avLst/>
          </a:prstGeom>
          <a:noFill/>
        </p:spPr>
        <p:txBody>
          <a:bodyPr wrap="square">
            <a:spAutoFit/>
          </a:bodyPr>
          <a:lstStyle/>
          <a:p>
            <a:pPr algn="just" defTabSz="1219170">
              <a:buClrTx/>
              <a:buFontTx/>
              <a:buNone/>
              <a:defRPr/>
            </a:pPr>
            <a:r>
              <a:rPr lang="fr-FR" sz="1100" b="1" u="sng" kern="1200" dirty="0">
                <a:solidFill>
                  <a:prstClr val="black"/>
                </a:solidFill>
                <a:latin typeface="Calibri (body)"/>
                <a:ea typeface="+mn-ea"/>
                <a:cs typeface="Calibri" panose="020F0502020204030204" pitchFamily="34" charset="0"/>
              </a:rPr>
              <a:t>Cap sur le scenario adverse</a:t>
            </a:r>
            <a:endParaRPr lang="fr-FR" sz="1100" b="1" kern="1200" dirty="0">
              <a:solidFill>
                <a:prstClr val="black"/>
              </a:solidFill>
              <a:latin typeface="Calibri (body)"/>
              <a:ea typeface="+mn-ea"/>
              <a:cs typeface="Calibri" panose="020F0502020204030204" pitchFamily="34" charset="0"/>
            </a:endParaRPr>
          </a:p>
          <a:p>
            <a:pPr marL="171450"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Les hypothèses ne peuvent pas conduire à une augmentation de la NII de la banque, par rapport à la valeur de 2024, dans le cadre du scénario adverse :</a:t>
            </a: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Avant de considérer l’impact des provisions (ce qui revient à spécifier que le taux sur les expositions performantes en scénario adverse est cappé aux taux de celles-ci en 2024)</a:t>
            </a: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Les revenus sur les expositions non performantes est calculé net des provisions, et cappé au niveau global au taux de rendement des expositions performantes.</a:t>
            </a:r>
          </a:p>
          <a:p>
            <a:pPr algn="just" defTabSz="1219170">
              <a:buClrTx/>
              <a:buFontTx/>
              <a:buNone/>
              <a:defRPr/>
            </a:pPr>
            <a:r>
              <a:rPr lang="fr-FR" sz="1100" kern="1200" dirty="0">
                <a:solidFill>
                  <a:prstClr val="black"/>
                </a:solidFill>
                <a:latin typeface="Calibri (body)"/>
                <a:ea typeface="+mn-ea"/>
                <a:cs typeface="Calibri" panose="020F0502020204030204" pitchFamily="34" charset="0"/>
              </a:rPr>
              <a:t> </a:t>
            </a:r>
          </a:p>
          <a:p>
            <a:pPr algn="just" defTabSz="1219170">
              <a:buClrTx/>
              <a:buFontTx/>
              <a:buNone/>
              <a:defRPr/>
            </a:pPr>
            <a:r>
              <a:rPr lang="fr-FR" sz="1100" b="1" u="sng" kern="1200" dirty="0">
                <a:solidFill>
                  <a:prstClr val="black"/>
                </a:solidFill>
                <a:latin typeface="Calibri (body)"/>
                <a:ea typeface="+mn-ea"/>
                <a:cs typeface="Calibri" panose="020F0502020204030204" pitchFamily="34" charset="0"/>
              </a:rPr>
              <a:t>Décomposition du taux</a:t>
            </a:r>
            <a:endParaRPr lang="fr-FR" sz="1100" u="sng" kern="1200" dirty="0">
              <a:solidFill>
                <a:prstClr val="black"/>
              </a:solidFill>
              <a:latin typeface="Calibri (body)"/>
              <a:ea typeface="+mn-ea"/>
              <a:cs typeface="Calibri" panose="020F0502020204030204" pitchFamily="34" charset="0"/>
            </a:endParaRPr>
          </a:p>
          <a:p>
            <a:pPr algn="just" defTabSz="1219170">
              <a:buClrTx/>
              <a:buFontTx/>
              <a:buNone/>
              <a:defRPr/>
            </a:pPr>
            <a:r>
              <a:rPr lang="fr-FR" sz="1100" kern="1200" dirty="0">
                <a:solidFill>
                  <a:prstClr val="black"/>
                </a:solidFill>
                <a:latin typeface="Calibri (body)"/>
                <a:ea typeface="+mn-ea"/>
                <a:cs typeface="Calibri" panose="020F0502020204030204" pitchFamily="34" charset="0"/>
              </a:rPr>
              <a:t>Le taux des instruments doit être décomposé en deux parties :</a:t>
            </a:r>
          </a:p>
          <a:p>
            <a:pPr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171450"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Une composante “taux sans risque”</a:t>
            </a:r>
          </a:p>
          <a:p>
            <a:pPr marL="171450"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Une composante marge, qui inclut les potentielles primes de liquidité, de credit et la marge commerciale (voir annexe 2)</a:t>
            </a:r>
          </a:p>
          <a:p>
            <a:pPr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algn="just" defTabSz="1219170">
              <a:buClrTx/>
              <a:buFontTx/>
              <a:buNone/>
              <a:defRPr/>
            </a:pPr>
            <a:r>
              <a:rPr lang="fr-FR" sz="1100" kern="1200" dirty="0">
                <a:solidFill>
                  <a:prstClr val="black"/>
                </a:solidFill>
                <a:latin typeface="Calibri (body)"/>
                <a:ea typeface="+mn-ea"/>
                <a:cs typeface="Calibri" panose="020F0502020204030204" pitchFamily="34" charset="0"/>
              </a:rPr>
              <a:t>Les courbes de taux sans risques sont fournies par le cadrage macro-économique. Pour le point de départ, tout ce qui n’est pas du taux sans risque sera par défaut inclus dans la partie marge.</a:t>
            </a:r>
          </a:p>
          <a:p>
            <a:pPr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algn="just" defTabSz="1219170">
              <a:buClrTx/>
              <a:buFontTx/>
              <a:buNone/>
              <a:defRPr/>
            </a:pPr>
            <a:r>
              <a:rPr lang="fr-FR" sz="1100" b="1" u="sng" kern="1200" dirty="0">
                <a:solidFill>
                  <a:prstClr val="black"/>
                </a:solidFill>
                <a:latin typeface="Calibri (body)"/>
                <a:ea typeface="+mn-ea"/>
                <a:cs typeface="Calibri" panose="020F0502020204030204" pitchFamily="34" charset="0"/>
              </a:rPr>
              <a:t>Projection du taux</a:t>
            </a:r>
            <a:endParaRPr lang="fr-FR" sz="1100" b="1" kern="1200" dirty="0">
              <a:solidFill>
                <a:prstClr val="black"/>
              </a:solidFill>
              <a:latin typeface="Calibri (body)"/>
              <a:ea typeface="+mn-ea"/>
              <a:cs typeface="Calibri" panose="020F0502020204030204" pitchFamily="34" charset="0"/>
            </a:endParaRPr>
          </a:p>
          <a:p>
            <a:pPr marL="171450"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la composante taux sans risques, les courbes seront issues du cadrage macro-économique :</a:t>
            </a: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les expositions à taux fixe, la courbe de swap sera utilisée (par interpolation linéaire entre les points fournis)</a:t>
            </a: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les expositions à taux révisable, les valeurs des indices seront fournies également (pour l’Ester et l’Euribor uniquement chez CCF selon notre compréhension) </a:t>
            </a:r>
          </a:p>
          <a:p>
            <a:pPr marL="781035" lvl="1" indent="-171450" algn="just" defTabSz="1219170">
              <a:buClrTx/>
              <a:buFont typeface="Arial" panose="020B0604020202020204" pitchFamily="34" charset="0"/>
              <a:buChar char="•"/>
              <a:defRPr/>
            </a:pPr>
            <a:endParaRPr lang="fr-FR" sz="1100" kern="1200" dirty="0">
              <a:solidFill>
                <a:prstClr val="black"/>
              </a:solidFill>
              <a:latin typeface="Calibri (body)"/>
              <a:ea typeface="+mn-ea"/>
              <a:cs typeface="Calibri" panose="020F0502020204030204" pitchFamily="34" charset="0"/>
            </a:endParaRPr>
          </a:p>
          <a:p>
            <a:pPr marL="171450"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la composante marge:</a:t>
            </a: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les actifs, la projection de la marge devra inclure une partie liée au spread de credit souverain. La marge totale est cappée à </a:t>
            </a:r>
          </a:p>
          <a:p>
            <a:pPr marL="781035" lvl="1" indent="-171450" algn="just" defTabSz="1219170">
              <a:buClrTx/>
              <a:buFont typeface="Arial" panose="020B0604020202020204" pitchFamily="34" charset="0"/>
              <a:buChar char="•"/>
              <a:defRPr/>
            </a:pPr>
            <a:endParaRPr lang="fr-FR" sz="1100" kern="1200" dirty="0">
              <a:solidFill>
                <a:prstClr val="black"/>
              </a:solidFill>
              <a:latin typeface="Calibri (body)"/>
              <a:ea typeface="+mn-ea"/>
              <a:cs typeface="Calibri" panose="020F0502020204030204" pitchFamily="34" charset="0"/>
            </a:endParaRPr>
          </a:p>
          <a:p>
            <a:pPr marL="609585" lvl="1"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609585" lvl="1"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177800" lvl="1" algn="just" defTabSz="1219170">
              <a:buClrTx/>
              <a:buFontTx/>
              <a:buNone/>
              <a:defRPr/>
            </a:pPr>
            <a:r>
              <a:rPr lang="fr-FR" sz="1100" kern="1200" dirty="0">
                <a:solidFill>
                  <a:prstClr val="black"/>
                </a:solidFill>
                <a:latin typeface="Calibri (body)"/>
                <a:ea typeface="+mn-ea"/>
                <a:cs typeface="Calibri" panose="020F0502020204030204" pitchFamily="34" charset="0"/>
              </a:rPr>
              <a:t>Où </a:t>
            </a:r>
            <a:r>
              <a:rPr lang="fr-FR" sz="1100" i="1" kern="1200" dirty="0">
                <a:solidFill>
                  <a:prstClr val="black"/>
                </a:solidFill>
                <a:latin typeface="Calibri (body)"/>
                <a:ea typeface="+mn-ea"/>
                <a:cs typeface="Calibri" panose="020F0502020204030204" pitchFamily="34" charset="0"/>
              </a:rPr>
              <a:t>λ</a:t>
            </a:r>
            <a:r>
              <a:rPr lang="fr-FR" sz="1100" kern="1200" dirty="0">
                <a:solidFill>
                  <a:prstClr val="black"/>
                </a:solidFill>
                <a:latin typeface="Calibri (body)"/>
                <a:ea typeface="+mn-ea"/>
                <a:cs typeface="Calibri" panose="020F0502020204030204" pitchFamily="34" charset="0"/>
              </a:rPr>
              <a:t> représente un facteur qui dépend de la classe d’actifs, compris entre 0 et 1 et </a:t>
            </a:r>
            <a:r>
              <a:rPr lang="fr-FR" sz="1100" i="1" kern="1200" dirty="0">
                <a:solidFill>
                  <a:prstClr val="black"/>
                </a:solidFill>
                <a:latin typeface="Calibri (body)"/>
                <a:ea typeface="+mn-ea"/>
                <a:cs typeface="Calibri" panose="020F0502020204030204" pitchFamily="34" charset="0"/>
              </a:rPr>
              <a:t>∆sov spread </a:t>
            </a:r>
            <a:r>
              <a:rPr lang="fr-FR" sz="1100" kern="1200" dirty="0">
                <a:solidFill>
                  <a:prstClr val="black"/>
                </a:solidFill>
                <a:latin typeface="Calibri (body)"/>
                <a:ea typeface="+mn-ea"/>
                <a:cs typeface="Calibri" panose="020F0502020204030204" pitchFamily="34" charset="0"/>
              </a:rPr>
              <a:t>est la variation du spread entre les courbes souveraines et le taux sans risques, selon le scénario.</a:t>
            </a:r>
          </a:p>
          <a:p>
            <a:pPr marL="177800" lvl="1"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781035" lvl="1" indent="-171450" algn="just" defTabSz="1219170">
              <a:buClrTx/>
              <a:buFont typeface="Arial" panose="020B0604020202020204" pitchFamily="34" charset="0"/>
              <a:buChar char="•"/>
              <a:defRPr/>
            </a:pPr>
            <a:r>
              <a:rPr lang="fr-FR" sz="1100" kern="1200" dirty="0">
                <a:solidFill>
                  <a:prstClr val="black"/>
                </a:solidFill>
                <a:latin typeface="Calibri (body)"/>
                <a:ea typeface="+mn-ea"/>
                <a:cs typeface="Calibri" panose="020F0502020204030204" pitchFamily="34" charset="0"/>
              </a:rPr>
              <a:t>Pour les passifs, la projection de la marge devra également inclure une partie liée au spread de idiosyncratique. La marge totale est cappée à </a:t>
            </a:r>
          </a:p>
          <a:p>
            <a:pPr marL="781035" lvl="1" indent="-171450" algn="just" defTabSz="1219170">
              <a:buClrTx/>
              <a:buFont typeface="Arial" panose="020B0604020202020204" pitchFamily="34" charset="0"/>
              <a:buChar char="•"/>
              <a:defRPr/>
            </a:pPr>
            <a:endParaRPr lang="fr-FR" sz="1100" kern="1200" dirty="0">
              <a:solidFill>
                <a:prstClr val="black"/>
              </a:solidFill>
              <a:latin typeface="Calibri (body)"/>
              <a:ea typeface="+mn-ea"/>
              <a:cs typeface="Calibri" panose="020F0502020204030204" pitchFamily="34" charset="0"/>
            </a:endParaRPr>
          </a:p>
          <a:p>
            <a:pPr marL="609585" lvl="1"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609585" lvl="1" algn="just" defTabSz="1219170">
              <a:buClrTx/>
              <a:buFontTx/>
              <a:buNone/>
              <a:defRPr/>
            </a:pPr>
            <a:endParaRPr lang="fr-FR" sz="1100" kern="1200" dirty="0">
              <a:solidFill>
                <a:prstClr val="black"/>
              </a:solidFill>
              <a:latin typeface="Calibri (body)"/>
              <a:ea typeface="+mn-ea"/>
              <a:cs typeface="Calibri" panose="020F0502020204030204" pitchFamily="34" charset="0"/>
            </a:endParaRPr>
          </a:p>
          <a:p>
            <a:pPr marL="177800" lvl="1" algn="just" defTabSz="1219170">
              <a:buClrTx/>
              <a:buFontTx/>
              <a:buNone/>
              <a:defRPr/>
            </a:pPr>
            <a:r>
              <a:rPr lang="fr-FR" sz="1100" kern="1200" dirty="0">
                <a:solidFill>
                  <a:prstClr val="black"/>
                </a:solidFill>
                <a:latin typeface="Calibri (body)"/>
                <a:ea typeface="+mn-ea"/>
                <a:cs typeface="Calibri" panose="020F0502020204030204" pitchFamily="34" charset="0"/>
              </a:rPr>
              <a:t>Où </a:t>
            </a:r>
            <a:r>
              <a:rPr lang="el-GR" sz="1100" i="1" kern="1200" dirty="0">
                <a:solidFill>
                  <a:prstClr val="black"/>
                </a:solidFill>
                <a:latin typeface="Calibri (body)"/>
                <a:ea typeface="+mn-ea"/>
                <a:cs typeface="Calibri" panose="020F0502020204030204" pitchFamily="34" charset="0"/>
              </a:rPr>
              <a:t>γ</a:t>
            </a:r>
            <a:r>
              <a:rPr lang="fr-FR" sz="1100" kern="1200" dirty="0">
                <a:solidFill>
                  <a:prstClr val="black"/>
                </a:solidFill>
                <a:latin typeface="Calibri (body)"/>
                <a:ea typeface="+mn-ea"/>
                <a:cs typeface="Calibri" panose="020F0502020204030204" pitchFamily="34" charset="0"/>
              </a:rPr>
              <a:t> représente un facteur qui dépend de la classe de passifs, compris entre 0 et 1 , </a:t>
            </a:r>
            <a:r>
              <a:rPr lang="fr-FR" sz="1100" i="1" kern="1200" dirty="0">
                <a:solidFill>
                  <a:prstClr val="black"/>
                </a:solidFill>
                <a:latin typeface="Calibri (body)"/>
                <a:ea typeface="+mn-ea"/>
                <a:cs typeface="Calibri" panose="020F0502020204030204" pitchFamily="34" charset="0"/>
              </a:rPr>
              <a:t>∆sov spread </a:t>
            </a:r>
            <a:r>
              <a:rPr lang="fr-FR" sz="1100" kern="1200" dirty="0">
                <a:solidFill>
                  <a:prstClr val="black"/>
                </a:solidFill>
                <a:latin typeface="Calibri (body)"/>
                <a:ea typeface="+mn-ea"/>
                <a:cs typeface="Calibri" panose="020F0502020204030204" pitchFamily="34" charset="0"/>
              </a:rPr>
              <a:t>le même que ci-dessus et </a:t>
            </a:r>
            <a:r>
              <a:rPr lang="fr-FR" sz="1100" i="1" kern="1200" dirty="0">
                <a:solidFill>
                  <a:prstClr val="black"/>
                </a:solidFill>
                <a:latin typeface="Calibri (body)"/>
                <a:ea typeface="+mn-ea"/>
                <a:cs typeface="Calibri" panose="020F0502020204030204" pitchFamily="34" charset="0"/>
              </a:rPr>
              <a:t>∆idiosyncratic component</a:t>
            </a:r>
            <a:r>
              <a:rPr lang="fr-FR" sz="1100" kern="1200" dirty="0">
                <a:solidFill>
                  <a:prstClr val="black"/>
                </a:solidFill>
                <a:latin typeface="Calibri (body)"/>
                <a:ea typeface="+mn-ea"/>
                <a:cs typeface="Calibri" panose="020F0502020204030204" pitchFamily="34" charset="0"/>
              </a:rPr>
              <a:t> égal à 0 en scénario baseline et égal à l’impact d’un downgrade sur le coût de la dette unsecured à 5 ans en scénario adverse. Cette composante est </a:t>
            </a:r>
            <a:r>
              <a:rPr lang="fr-FR" sz="1100" kern="1200" dirty="0" err="1">
                <a:solidFill>
                  <a:prstClr val="black"/>
                </a:solidFill>
                <a:latin typeface="Calibri (body)"/>
                <a:ea typeface="+mn-ea"/>
                <a:cs typeface="Calibri" panose="020F0502020204030204" pitchFamily="34" charset="0"/>
              </a:rPr>
              <a:t>floorée</a:t>
            </a:r>
            <a:r>
              <a:rPr lang="fr-FR" sz="1100" kern="1200" dirty="0">
                <a:solidFill>
                  <a:prstClr val="black"/>
                </a:solidFill>
                <a:latin typeface="Calibri (body)"/>
                <a:ea typeface="+mn-ea"/>
                <a:cs typeface="Calibri" panose="020F0502020204030204" pitchFamily="34" charset="0"/>
              </a:rPr>
              <a:t> à 25 </a:t>
            </a:r>
            <a:r>
              <a:rPr lang="fr-FR" sz="1100" kern="1200" dirty="0" err="1">
                <a:solidFill>
                  <a:prstClr val="black"/>
                </a:solidFill>
                <a:latin typeface="Calibri (body)"/>
                <a:ea typeface="+mn-ea"/>
                <a:cs typeface="Calibri" panose="020F0502020204030204" pitchFamily="34" charset="0"/>
              </a:rPr>
              <a:t>bp</a:t>
            </a:r>
            <a:r>
              <a:rPr lang="fr-FR" sz="1100" kern="1200" dirty="0">
                <a:solidFill>
                  <a:prstClr val="black"/>
                </a:solidFill>
                <a:latin typeface="Calibri (body)"/>
                <a:ea typeface="+mn-ea"/>
                <a:cs typeface="Calibri" panose="020F0502020204030204" pitchFamily="34" charset="0"/>
              </a:rPr>
              <a:t> pour une banque AAA.</a:t>
            </a:r>
          </a:p>
          <a:p>
            <a:pPr marL="177800" lvl="1" algn="just" defTabSz="1219170">
              <a:buClrTx/>
              <a:buFontTx/>
              <a:buNone/>
              <a:defRPr/>
            </a:pPr>
            <a:r>
              <a:rPr lang="fr-FR" sz="1050" kern="1200" dirty="0">
                <a:solidFill>
                  <a:prstClr val="black"/>
                </a:solidFill>
                <a:latin typeface="Calibri (body)"/>
                <a:ea typeface="+mn-ea"/>
                <a:cs typeface="Calibri" panose="020F0502020204030204" pitchFamily="34" charset="0"/>
              </a:rPr>
              <a:t>	</a:t>
            </a:r>
          </a:p>
        </p:txBody>
      </p:sp>
      <p:pic>
        <p:nvPicPr>
          <p:cNvPr id="133" name="Picture 132">
            <a:extLst>
              <a:ext uri="{FF2B5EF4-FFF2-40B4-BE49-F238E27FC236}">
                <a16:creationId xmlns:a16="http://schemas.microsoft.com/office/drawing/2014/main" id="{2B5E2213-661F-243E-D12B-A21CE084C465}"/>
              </a:ext>
            </a:extLst>
          </p:cNvPr>
          <p:cNvPicPr>
            <a:picLocks noChangeAspect="1"/>
          </p:cNvPicPr>
          <p:nvPr/>
        </p:nvPicPr>
        <p:blipFill>
          <a:blip r:embed="rId2"/>
          <a:stretch>
            <a:fillRect/>
          </a:stretch>
        </p:blipFill>
        <p:spPr>
          <a:xfrm>
            <a:off x="3650987" y="4308005"/>
            <a:ext cx="4333875" cy="323850"/>
          </a:xfrm>
          <a:prstGeom prst="rect">
            <a:avLst/>
          </a:prstGeom>
        </p:spPr>
      </p:pic>
      <p:pic>
        <p:nvPicPr>
          <p:cNvPr id="134" name="Picture 133">
            <a:extLst>
              <a:ext uri="{FF2B5EF4-FFF2-40B4-BE49-F238E27FC236}">
                <a16:creationId xmlns:a16="http://schemas.microsoft.com/office/drawing/2014/main" id="{0F924973-3CB1-CD3B-CFAD-4B907180FACA}"/>
              </a:ext>
            </a:extLst>
          </p:cNvPr>
          <p:cNvPicPr>
            <a:picLocks noChangeAspect="1"/>
          </p:cNvPicPr>
          <p:nvPr/>
        </p:nvPicPr>
        <p:blipFill>
          <a:blip r:embed="rId3"/>
          <a:stretch>
            <a:fillRect/>
          </a:stretch>
        </p:blipFill>
        <p:spPr>
          <a:xfrm>
            <a:off x="3650987" y="5341620"/>
            <a:ext cx="5206945" cy="382851"/>
          </a:xfrm>
          <a:prstGeom prst="rect">
            <a:avLst/>
          </a:prstGeom>
        </p:spPr>
      </p:pic>
      <p:sp>
        <p:nvSpPr>
          <p:cNvPr id="136" name="Rectangle 135">
            <a:extLst>
              <a:ext uri="{FF2B5EF4-FFF2-40B4-BE49-F238E27FC236}">
                <a16:creationId xmlns:a16="http://schemas.microsoft.com/office/drawing/2014/main" id="{E4CE3554-B14D-80AA-D51A-6D23867255FA}"/>
              </a:ext>
            </a:extLst>
          </p:cNvPr>
          <p:cNvSpPr/>
          <p:nvPr/>
        </p:nvSpPr>
        <p:spPr>
          <a:xfrm>
            <a:off x="273226" y="892548"/>
            <a:ext cx="11547324" cy="5509201"/>
          </a:xfrm>
          <a:prstGeom prst="rect">
            <a:avLst/>
          </a:prstGeom>
          <a:noFill/>
          <a:ln w="25400" cap="flat" cmpd="sng" algn="ctr">
            <a:solidFill>
              <a:srgbClr val="003565"/>
            </a:solidFill>
            <a:prstDash val="solid"/>
          </a:ln>
          <a:effectLst/>
        </p:spPr>
        <p:txBody>
          <a:bodyPr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Espace réservé du texte 16">
            <a:extLst>
              <a:ext uri="{FF2B5EF4-FFF2-40B4-BE49-F238E27FC236}">
                <a16:creationId xmlns:a16="http://schemas.microsoft.com/office/drawing/2014/main" id="{6AF5EAE6-9843-4BA0-F5D1-D0034695BD73}"/>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691113425"/>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1 – Prêt à taux fixe</a:t>
            </a:r>
          </a:p>
        </p:txBody>
      </p:sp>
      <p:graphicFrame>
        <p:nvGraphicFramePr>
          <p:cNvPr id="53" name="Table 52">
            <a:extLst>
              <a:ext uri="{FF2B5EF4-FFF2-40B4-BE49-F238E27FC236}">
                <a16:creationId xmlns:a16="http://schemas.microsoft.com/office/drawing/2014/main" id="{033948EC-43F5-79C8-0118-ADFA094201E2}"/>
              </a:ext>
            </a:extLst>
          </p:cNvPr>
          <p:cNvGraphicFramePr>
            <a:graphicFrameLocks noGrp="1"/>
          </p:cNvGraphicFramePr>
          <p:nvPr/>
        </p:nvGraphicFramePr>
        <p:xfrm>
          <a:off x="1200913" y="1509997"/>
          <a:ext cx="2628900" cy="2572287"/>
        </p:xfrm>
        <a:graphic>
          <a:graphicData uri="http://schemas.openxmlformats.org/drawingml/2006/table">
            <a:tbl>
              <a:tblPr>
                <a:tableStyleId>{5C22544A-7EE6-4342-B048-85BDC9FD1C3A}</a:tableStyleId>
              </a:tblPr>
              <a:tblGrid>
                <a:gridCol w="1092200">
                  <a:extLst>
                    <a:ext uri="{9D8B030D-6E8A-4147-A177-3AD203B41FA5}">
                      <a16:colId xmlns:a16="http://schemas.microsoft.com/office/drawing/2014/main" val="3042862825"/>
                    </a:ext>
                  </a:extLst>
                </a:gridCol>
                <a:gridCol w="1536700">
                  <a:extLst>
                    <a:ext uri="{9D8B030D-6E8A-4147-A177-3AD203B41FA5}">
                      <a16:colId xmlns:a16="http://schemas.microsoft.com/office/drawing/2014/main" val="3241058480"/>
                    </a:ext>
                  </a:extLst>
                </a:gridCol>
              </a:tblGrid>
              <a:tr h="114185">
                <a:tc>
                  <a:txBody>
                    <a:bodyPr/>
                    <a:lstStyle/>
                    <a:p>
                      <a:pPr algn="l" fontAlgn="b"/>
                      <a:r>
                        <a:rPr lang="fr-FR" sz="1100" u="none" strike="noStrike" dirty="0">
                          <a:solidFill>
                            <a:srgbClr val="FFFFFF"/>
                          </a:solidFill>
                          <a:effectLst/>
                        </a:rPr>
                        <a:t>Caractéristique</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tc>
                  <a:txBody>
                    <a:bodyPr/>
                    <a:lstStyle/>
                    <a:p>
                      <a:pPr algn="ctr" fontAlgn="b"/>
                      <a:r>
                        <a:rPr lang="fr-FR" sz="1100" u="none" strike="noStrike" dirty="0">
                          <a:solidFill>
                            <a:srgbClr val="FFFFFF"/>
                          </a:solidFill>
                          <a:effectLst/>
                        </a:rPr>
                        <a:t>Valeur</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extLst>
                  <a:ext uri="{0D108BD9-81ED-4DB2-BD59-A6C34878D82A}">
                    <a16:rowId xmlns:a16="http://schemas.microsoft.com/office/drawing/2014/main" val="317880372"/>
                  </a:ext>
                </a:extLst>
              </a:tr>
              <a:tr h="182880">
                <a:tc>
                  <a:txBody>
                    <a:bodyPr/>
                    <a:lstStyle/>
                    <a:p>
                      <a:pPr algn="l" fontAlgn="b"/>
                      <a:r>
                        <a:rPr lang="fr-FR" sz="1100" u="none" strike="noStrike" dirty="0">
                          <a:effectLst/>
                        </a:rPr>
                        <a:t>Produit</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Prêt</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270652949"/>
                  </a:ext>
                </a:extLst>
              </a:tr>
              <a:tr h="182880">
                <a:tc>
                  <a:txBody>
                    <a:bodyPr/>
                    <a:lstStyle/>
                    <a:p>
                      <a:pPr algn="l" fontAlgn="b"/>
                      <a:r>
                        <a:rPr lang="fr-FR" sz="1100" u="none" strike="noStrike">
                          <a:effectLst/>
                        </a:rPr>
                        <a:t>Ss-produit</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In fine</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924623812"/>
                  </a:ext>
                </a:extLst>
              </a:tr>
              <a:tr h="202467">
                <a:tc>
                  <a:txBody>
                    <a:bodyPr/>
                    <a:lstStyle/>
                    <a:p>
                      <a:pPr algn="l" fontAlgn="b"/>
                      <a:r>
                        <a:rPr lang="fr-FR" sz="1100" b="1" u="none" strike="noStrike" dirty="0">
                          <a:effectLst/>
                        </a:rPr>
                        <a:t>Value date</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u="none" strike="noStrike">
                          <a:effectLst/>
                        </a:rPr>
                        <a:t>31/12/2023</a:t>
                      </a:r>
                      <a:endParaRPr lang="fr-FR" sz="1100" b="1"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13043668"/>
                  </a:ext>
                </a:extLst>
              </a:tr>
              <a:tr h="182880">
                <a:tc>
                  <a:txBody>
                    <a:bodyPr/>
                    <a:lstStyle/>
                    <a:p>
                      <a:pPr algn="l" fontAlgn="b"/>
                      <a:r>
                        <a:rPr lang="fr-FR" sz="1100" b="1" u="none" strike="noStrike" dirty="0">
                          <a:effectLst/>
                        </a:rPr>
                        <a:t>Maturity date</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u="none" strike="noStrike" dirty="0">
                          <a:effectLst/>
                        </a:rPr>
                        <a:t>31/03/2025</a:t>
                      </a:r>
                      <a:endParaRPr lang="fr-FR" sz="1100" b="1"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314595148"/>
                  </a:ext>
                </a:extLst>
              </a:tr>
              <a:tr h="182880">
                <a:tc>
                  <a:txBody>
                    <a:bodyPr/>
                    <a:lstStyle/>
                    <a:p>
                      <a:pPr algn="l" fontAlgn="b"/>
                      <a:r>
                        <a:rPr lang="fr-FR" sz="1100" u="none" strike="noStrike">
                          <a:effectLst/>
                        </a:rPr>
                        <a:t>Contrpartie</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Non-financial corporation</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853942388"/>
                  </a:ext>
                </a:extLst>
              </a:tr>
              <a:tr h="182880">
                <a:tc>
                  <a:txBody>
                    <a:bodyPr/>
                    <a:lstStyle/>
                    <a:p>
                      <a:pPr algn="l" fontAlgn="b"/>
                      <a:r>
                        <a:rPr lang="fr-FR" sz="1100" u="none" strike="noStrike">
                          <a:effectLst/>
                        </a:rPr>
                        <a:t>Devise</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EUR</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77300222"/>
                  </a:ext>
                </a:extLst>
              </a:tr>
              <a:tr h="182880">
                <a:tc>
                  <a:txBody>
                    <a:bodyPr/>
                    <a:lstStyle/>
                    <a:p>
                      <a:pPr algn="l" fontAlgn="b"/>
                      <a:r>
                        <a:rPr lang="fr-FR" sz="1100" u="none" strike="noStrike">
                          <a:effectLst/>
                        </a:rPr>
                        <a:t>Pays</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France</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384422577"/>
                  </a:ext>
                </a:extLst>
              </a:tr>
              <a:tr h="182880">
                <a:tc>
                  <a:txBody>
                    <a:bodyPr/>
                    <a:lstStyle/>
                    <a:p>
                      <a:pPr algn="l" fontAlgn="b"/>
                      <a:r>
                        <a:rPr lang="fr-FR" sz="1100" u="none" strike="noStrike" dirty="0">
                          <a:effectLst/>
                        </a:rPr>
                        <a:t>Type de taux</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Fixe</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668657570"/>
                  </a:ext>
                </a:extLst>
              </a:tr>
              <a:tr h="182880">
                <a:tc>
                  <a:txBody>
                    <a:bodyPr/>
                    <a:lstStyle/>
                    <a:p>
                      <a:pPr algn="l" fontAlgn="b"/>
                      <a:r>
                        <a:rPr lang="fr-FR" sz="1100" u="none" strike="noStrike" dirty="0">
                          <a:effectLst/>
                        </a:rPr>
                        <a:t>Index de taux</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3%</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163763400"/>
                  </a:ext>
                </a:extLst>
              </a:tr>
              <a:tr h="182880">
                <a:tc>
                  <a:txBody>
                    <a:bodyPr/>
                    <a:lstStyle/>
                    <a:p>
                      <a:pPr algn="l" fontAlgn="b"/>
                      <a:r>
                        <a:rPr lang="fr-FR" sz="1100" u="none" strike="noStrike">
                          <a:effectLst/>
                        </a:rPr>
                        <a:t>Marge</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0,40%</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129066204"/>
                  </a:ext>
                </a:extLst>
              </a:tr>
              <a:tr h="182880">
                <a:tc>
                  <a:txBody>
                    <a:bodyPr/>
                    <a:lstStyle/>
                    <a:p>
                      <a:pPr algn="l" fontAlgn="b"/>
                      <a:r>
                        <a:rPr lang="fr-FR" sz="1100" u="none" strike="noStrike">
                          <a:effectLst/>
                        </a:rPr>
                        <a:t>date de fixing</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N/A</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4173249553"/>
                  </a:ext>
                </a:extLst>
              </a:tr>
              <a:tr h="182880">
                <a:tc>
                  <a:txBody>
                    <a:bodyPr/>
                    <a:lstStyle/>
                    <a:p>
                      <a:pPr algn="l" fontAlgn="b"/>
                      <a:r>
                        <a:rPr lang="fr-FR" sz="1100" u="none" strike="noStrike">
                          <a:effectLst/>
                        </a:rPr>
                        <a:t>Capital</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a:effectLst/>
                        </a:rPr>
                        <a:t>100</a:t>
                      </a:r>
                      <a:endParaRPr lang="fr-FR" sz="1100" b="0" i="0"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4093349665"/>
                  </a:ext>
                </a:extLst>
              </a:tr>
              <a:tr h="182880">
                <a:tc>
                  <a:txBody>
                    <a:bodyPr/>
                    <a:lstStyle/>
                    <a:p>
                      <a:pPr algn="l" fontAlgn="b"/>
                      <a:r>
                        <a:rPr lang="fr-FR" sz="1100" u="none" strike="noStrike">
                          <a:effectLst/>
                        </a:rPr>
                        <a:t>Performing</a:t>
                      </a:r>
                      <a:endParaRPr lang="fr-FR" sz="1100" b="0" i="0"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Yes</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914817019"/>
                  </a:ext>
                </a:extLst>
              </a:tr>
            </a:tbl>
          </a:graphicData>
        </a:graphic>
      </p:graphicFrame>
      <p:cxnSp>
        <p:nvCxnSpPr>
          <p:cNvPr id="54" name="Straight Arrow Connector 53">
            <a:extLst>
              <a:ext uri="{FF2B5EF4-FFF2-40B4-BE49-F238E27FC236}">
                <a16:creationId xmlns:a16="http://schemas.microsoft.com/office/drawing/2014/main" id="{6D3A3200-19CC-1480-2C16-AC5B38EAEEA5}"/>
              </a:ext>
            </a:extLst>
          </p:cNvPr>
          <p:cNvCxnSpPr/>
          <p:nvPr/>
        </p:nvCxnSpPr>
        <p:spPr>
          <a:xfrm>
            <a:off x="905263" y="5418513"/>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5" name="Rectangle 54">
            <a:extLst>
              <a:ext uri="{FF2B5EF4-FFF2-40B4-BE49-F238E27FC236}">
                <a16:creationId xmlns:a16="http://schemas.microsoft.com/office/drawing/2014/main" id="{6C5DC016-F5DD-EFBE-AE71-5E6ABDC50FE3}"/>
              </a:ext>
            </a:extLst>
          </p:cNvPr>
          <p:cNvSpPr/>
          <p:nvPr/>
        </p:nvSpPr>
        <p:spPr>
          <a:xfrm>
            <a:off x="905263" y="5109302"/>
            <a:ext cx="2781463"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1</a:t>
            </a:r>
          </a:p>
        </p:txBody>
      </p:sp>
      <p:sp>
        <p:nvSpPr>
          <p:cNvPr id="56" name="TextBox 55">
            <a:extLst>
              <a:ext uri="{FF2B5EF4-FFF2-40B4-BE49-F238E27FC236}">
                <a16:creationId xmlns:a16="http://schemas.microsoft.com/office/drawing/2014/main" id="{3E038A43-57F6-EB1F-DE4C-8D21DDF7BE18}"/>
              </a:ext>
            </a:extLst>
          </p:cNvPr>
          <p:cNvSpPr txBox="1"/>
          <p:nvPr/>
        </p:nvSpPr>
        <p:spPr>
          <a:xfrm>
            <a:off x="750000" y="5453731"/>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31.12.23</a:t>
            </a:r>
          </a:p>
        </p:txBody>
      </p:sp>
      <p:sp>
        <p:nvSpPr>
          <p:cNvPr id="57" name="TextBox 56">
            <a:extLst>
              <a:ext uri="{FF2B5EF4-FFF2-40B4-BE49-F238E27FC236}">
                <a16:creationId xmlns:a16="http://schemas.microsoft.com/office/drawing/2014/main" id="{E3B072E5-042C-569E-7798-3307D73CDD19}"/>
              </a:ext>
            </a:extLst>
          </p:cNvPr>
          <p:cNvSpPr txBox="1"/>
          <p:nvPr/>
        </p:nvSpPr>
        <p:spPr>
          <a:xfrm>
            <a:off x="3274052" y="5453731"/>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31.03.25</a:t>
            </a:r>
          </a:p>
        </p:txBody>
      </p:sp>
      <p:sp>
        <p:nvSpPr>
          <p:cNvPr id="58" name="TextBox 57">
            <a:extLst>
              <a:ext uri="{FF2B5EF4-FFF2-40B4-BE49-F238E27FC236}">
                <a16:creationId xmlns:a16="http://schemas.microsoft.com/office/drawing/2014/main" id="{F6538D63-405C-DB40-5C98-391D53BF87B2}"/>
              </a:ext>
            </a:extLst>
          </p:cNvPr>
          <p:cNvSpPr txBox="1"/>
          <p:nvPr/>
        </p:nvSpPr>
        <p:spPr>
          <a:xfrm>
            <a:off x="6087320" y="5465673"/>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30.06.26</a:t>
            </a:r>
          </a:p>
        </p:txBody>
      </p:sp>
      <p:sp>
        <p:nvSpPr>
          <p:cNvPr id="59" name="TextBox 58">
            <a:extLst>
              <a:ext uri="{FF2B5EF4-FFF2-40B4-BE49-F238E27FC236}">
                <a16:creationId xmlns:a16="http://schemas.microsoft.com/office/drawing/2014/main" id="{C93C116E-D153-D539-4064-C8218C3DFFB5}"/>
              </a:ext>
            </a:extLst>
          </p:cNvPr>
          <p:cNvSpPr txBox="1"/>
          <p:nvPr/>
        </p:nvSpPr>
        <p:spPr>
          <a:xfrm>
            <a:off x="8865914" y="545259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30.09.27</a:t>
            </a:r>
          </a:p>
        </p:txBody>
      </p:sp>
      <p:sp>
        <p:nvSpPr>
          <p:cNvPr id="60" name="TextBox 59">
            <a:extLst>
              <a:ext uri="{FF2B5EF4-FFF2-40B4-BE49-F238E27FC236}">
                <a16:creationId xmlns:a16="http://schemas.microsoft.com/office/drawing/2014/main" id="{B5EF9B5F-40F8-AE50-B8EC-F995C12573DF}"/>
              </a:ext>
            </a:extLst>
          </p:cNvPr>
          <p:cNvSpPr txBox="1"/>
          <p:nvPr/>
        </p:nvSpPr>
        <p:spPr>
          <a:xfrm>
            <a:off x="9720814" y="545259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31.12.27</a:t>
            </a:r>
          </a:p>
        </p:txBody>
      </p:sp>
      <p:sp>
        <p:nvSpPr>
          <p:cNvPr id="61" name="TextBox 60">
            <a:extLst>
              <a:ext uri="{FF2B5EF4-FFF2-40B4-BE49-F238E27FC236}">
                <a16:creationId xmlns:a16="http://schemas.microsoft.com/office/drawing/2014/main" id="{AA9E87BA-6F05-102C-ED0C-06891C62731E}"/>
              </a:ext>
            </a:extLst>
          </p:cNvPr>
          <p:cNvSpPr txBox="1"/>
          <p:nvPr/>
        </p:nvSpPr>
        <p:spPr>
          <a:xfrm>
            <a:off x="2640000" y="5458817"/>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31.12.24</a:t>
            </a:r>
          </a:p>
        </p:txBody>
      </p:sp>
      <p:sp>
        <p:nvSpPr>
          <p:cNvPr id="62" name="Rectangle 61">
            <a:extLst>
              <a:ext uri="{FF2B5EF4-FFF2-40B4-BE49-F238E27FC236}">
                <a16:creationId xmlns:a16="http://schemas.microsoft.com/office/drawing/2014/main" id="{9598B398-B9B5-9B14-041A-8EFFC4231651}"/>
              </a:ext>
            </a:extLst>
          </p:cNvPr>
          <p:cNvSpPr/>
          <p:nvPr/>
        </p:nvSpPr>
        <p:spPr>
          <a:xfrm>
            <a:off x="3836420" y="5109301"/>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2</a:t>
            </a:r>
          </a:p>
        </p:txBody>
      </p:sp>
      <p:sp>
        <p:nvSpPr>
          <p:cNvPr id="63" name="Rectangle 62">
            <a:extLst>
              <a:ext uri="{FF2B5EF4-FFF2-40B4-BE49-F238E27FC236}">
                <a16:creationId xmlns:a16="http://schemas.microsoft.com/office/drawing/2014/main" id="{EECF38BB-52FC-A18E-CF99-F2BAF09782C4}"/>
              </a:ext>
            </a:extLst>
          </p:cNvPr>
          <p:cNvSpPr/>
          <p:nvPr/>
        </p:nvSpPr>
        <p:spPr>
          <a:xfrm>
            <a:off x="6615014" y="5109300"/>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3</a:t>
            </a:r>
          </a:p>
        </p:txBody>
      </p:sp>
      <p:sp>
        <p:nvSpPr>
          <p:cNvPr id="64" name="Rectangle 63">
            <a:extLst>
              <a:ext uri="{FF2B5EF4-FFF2-40B4-BE49-F238E27FC236}">
                <a16:creationId xmlns:a16="http://schemas.microsoft.com/office/drawing/2014/main" id="{0A06D2BB-EB02-B3EC-6260-98A6E00D6FBF}"/>
              </a:ext>
            </a:extLst>
          </p:cNvPr>
          <p:cNvSpPr/>
          <p:nvPr/>
        </p:nvSpPr>
        <p:spPr>
          <a:xfrm>
            <a:off x="9393481" y="5102750"/>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4</a:t>
            </a:r>
          </a:p>
        </p:txBody>
      </p:sp>
      <p:sp>
        <p:nvSpPr>
          <p:cNvPr id="65" name="Rectangle 64">
            <a:extLst>
              <a:ext uri="{FF2B5EF4-FFF2-40B4-BE49-F238E27FC236}">
                <a16:creationId xmlns:a16="http://schemas.microsoft.com/office/drawing/2014/main" id="{CE1B5EEA-C3AE-2336-4607-579C3CDD05DA}"/>
              </a:ext>
            </a:extLst>
          </p:cNvPr>
          <p:cNvSpPr/>
          <p:nvPr/>
        </p:nvSpPr>
        <p:spPr>
          <a:xfrm>
            <a:off x="10023173" y="5101263"/>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66" name="Rectangle 65">
            <a:extLst>
              <a:ext uri="{FF2B5EF4-FFF2-40B4-BE49-F238E27FC236}">
                <a16:creationId xmlns:a16="http://schemas.microsoft.com/office/drawing/2014/main" id="{EE93A560-6635-0FF6-9C05-64C593C48333}"/>
              </a:ext>
            </a:extLst>
          </p:cNvPr>
          <p:cNvSpPr/>
          <p:nvPr/>
        </p:nvSpPr>
        <p:spPr>
          <a:xfrm>
            <a:off x="906478" y="5109300"/>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67" name="Rectangle 66">
            <a:extLst>
              <a:ext uri="{FF2B5EF4-FFF2-40B4-BE49-F238E27FC236}">
                <a16:creationId xmlns:a16="http://schemas.microsoft.com/office/drawing/2014/main" id="{C034291A-2951-1E5A-62BD-A42AAA34D199}"/>
              </a:ext>
            </a:extLst>
          </p:cNvPr>
          <p:cNvSpPr/>
          <p:nvPr/>
        </p:nvSpPr>
        <p:spPr>
          <a:xfrm>
            <a:off x="1344000" y="4828875"/>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1</a:t>
            </a:r>
          </a:p>
        </p:txBody>
      </p:sp>
      <p:sp>
        <p:nvSpPr>
          <p:cNvPr id="68" name="Rectangle 67">
            <a:extLst>
              <a:ext uri="{FF2B5EF4-FFF2-40B4-BE49-F238E27FC236}">
                <a16:creationId xmlns:a16="http://schemas.microsoft.com/office/drawing/2014/main" id="{835B7921-9EDE-0128-C3A6-62A9C3D56EDB}"/>
              </a:ext>
            </a:extLst>
          </p:cNvPr>
          <p:cNvSpPr/>
          <p:nvPr/>
        </p:nvSpPr>
        <p:spPr>
          <a:xfrm>
            <a:off x="3836420" y="4817682"/>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2</a:t>
            </a:r>
          </a:p>
        </p:txBody>
      </p:sp>
      <p:sp>
        <p:nvSpPr>
          <p:cNvPr id="69" name="Rectangle 68">
            <a:extLst>
              <a:ext uri="{FF2B5EF4-FFF2-40B4-BE49-F238E27FC236}">
                <a16:creationId xmlns:a16="http://schemas.microsoft.com/office/drawing/2014/main" id="{E7F54D1A-4511-76E6-574A-EF67CFA42DD1}"/>
              </a:ext>
            </a:extLst>
          </p:cNvPr>
          <p:cNvSpPr/>
          <p:nvPr/>
        </p:nvSpPr>
        <p:spPr>
          <a:xfrm>
            <a:off x="6615014" y="4817682"/>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3</a:t>
            </a:r>
          </a:p>
        </p:txBody>
      </p:sp>
      <p:sp>
        <p:nvSpPr>
          <p:cNvPr id="70" name="Rectangle 69">
            <a:extLst>
              <a:ext uri="{FF2B5EF4-FFF2-40B4-BE49-F238E27FC236}">
                <a16:creationId xmlns:a16="http://schemas.microsoft.com/office/drawing/2014/main" id="{4B841CA2-20DD-60E8-A79A-660C8527435D}"/>
              </a:ext>
            </a:extLst>
          </p:cNvPr>
          <p:cNvSpPr/>
          <p:nvPr/>
        </p:nvSpPr>
        <p:spPr>
          <a:xfrm>
            <a:off x="9393481" y="4811131"/>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4</a:t>
            </a:r>
          </a:p>
        </p:txBody>
      </p:sp>
      <p:sp>
        <p:nvSpPr>
          <p:cNvPr id="71" name="Rectangle 70">
            <a:extLst>
              <a:ext uri="{FF2B5EF4-FFF2-40B4-BE49-F238E27FC236}">
                <a16:creationId xmlns:a16="http://schemas.microsoft.com/office/drawing/2014/main" id="{739699A6-679D-DC96-74F2-3C3AB00E8C13}"/>
              </a:ext>
            </a:extLst>
          </p:cNvPr>
          <p:cNvSpPr/>
          <p:nvPr/>
        </p:nvSpPr>
        <p:spPr>
          <a:xfrm>
            <a:off x="10023173" y="4809644"/>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72" name="Rectangle 71">
            <a:extLst>
              <a:ext uri="{FF2B5EF4-FFF2-40B4-BE49-F238E27FC236}">
                <a16:creationId xmlns:a16="http://schemas.microsoft.com/office/drawing/2014/main" id="{CA0A4FA5-FE40-CB8A-8D88-D5E853B2C56B}"/>
              </a:ext>
            </a:extLst>
          </p:cNvPr>
          <p:cNvSpPr/>
          <p:nvPr/>
        </p:nvSpPr>
        <p:spPr>
          <a:xfrm>
            <a:off x="906478" y="4817681"/>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73" name="TextBox 72">
            <a:extLst>
              <a:ext uri="{FF2B5EF4-FFF2-40B4-BE49-F238E27FC236}">
                <a16:creationId xmlns:a16="http://schemas.microsoft.com/office/drawing/2014/main" id="{801F42E1-1F64-AD4E-CA17-F4DAA98927BC}"/>
              </a:ext>
            </a:extLst>
          </p:cNvPr>
          <p:cNvSpPr txBox="1"/>
          <p:nvPr/>
        </p:nvSpPr>
        <p:spPr>
          <a:xfrm>
            <a:off x="107139" y="4731931"/>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Taux</a:t>
            </a:r>
          </a:p>
        </p:txBody>
      </p:sp>
      <p:sp>
        <p:nvSpPr>
          <p:cNvPr id="74" name="TextBox 73">
            <a:extLst>
              <a:ext uri="{FF2B5EF4-FFF2-40B4-BE49-F238E27FC236}">
                <a16:creationId xmlns:a16="http://schemas.microsoft.com/office/drawing/2014/main" id="{FCF053ED-1262-7AFC-7B44-2759A55E29CD}"/>
              </a:ext>
            </a:extLst>
          </p:cNvPr>
          <p:cNvSpPr txBox="1"/>
          <p:nvPr/>
        </p:nvSpPr>
        <p:spPr>
          <a:xfrm>
            <a:off x="101289" y="5063902"/>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Marge</a:t>
            </a:r>
          </a:p>
        </p:txBody>
      </p:sp>
      <p:graphicFrame>
        <p:nvGraphicFramePr>
          <p:cNvPr id="75" name="Table 74">
            <a:extLst>
              <a:ext uri="{FF2B5EF4-FFF2-40B4-BE49-F238E27FC236}">
                <a16:creationId xmlns:a16="http://schemas.microsoft.com/office/drawing/2014/main" id="{49363DCA-17BC-3E4B-5E74-608944F3978C}"/>
              </a:ext>
            </a:extLst>
          </p:cNvPr>
          <p:cNvGraphicFramePr>
            <a:graphicFrameLocks noGrp="1"/>
          </p:cNvGraphicFramePr>
          <p:nvPr/>
        </p:nvGraphicFramePr>
        <p:xfrm>
          <a:off x="4422000" y="1509997"/>
          <a:ext cx="2628900" cy="1698263"/>
        </p:xfrm>
        <a:graphic>
          <a:graphicData uri="http://schemas.openxmlformats.org/drawingml/2006/table">
            <a:tbl>
              <a:tblPr>
                <a:tableStyleId>{5C22544A-7EE6-4342-B048-85BDC9FD1C3A}</a:tableStyleId>
              </a:tblPr>
              <a:tblGrid>
                <a:gridCol w="1092200">
                  <a:extLst>
                    <a:ext uri="{9D8B030D-6E8A-4147-A177-3AD203B41FA5}">
                      <a16:colId xmlns:a16="http://schemas.microsoft.com/office/drawing/2014/main" val="3042862825"/>
                    </a:ext>
                  </a:extLst>
                </a:gridCol>
                <a:gridCol w="1536700">
                  <a:extLst>
                    <a:ext uri="{9D8B030D-6E8A-4147-A177-3AD203B41FA5}">
                      <a16:colId xmlns:a16="http://schemas.microsoft.com/office/drawing/2014/main" val="3241058480"/>
                    </a:ext>
                  </a:extLst>
                </a:gridCol>
              </a:tblGrid>
              <a:tr h="114185">
                <a:tc>
                  <a:txBody>
                    <a:bodyPr/>
                    <a:lstStyle/>
                    <a:p>
                      <a:pPr algn="l" fontAlgn="b"/>
                      <a:r>
                        <a:rPr lang="fr-FR" sz="1100" b="0" i="0" u="none" strike="noStrike" dirty="0">
                          <a:solidFill>
                            <a:srgbClr val="FFFFFF"/>
                          </a:solidFill>
                          <a:effectLst/>
                          <a:latin typeface="Calibri" panose="020F0502020204030204" pitchFamily="34" charset="0"/>
                        </a:rPr>
                        <a:t>Taux</a:t>
                      </a:r>
                    </a:p>
                  </a:txBody>
                  <a:tcPr marL="7620" marR="7620" marT="7620" marB="0" anchor="b">
                    <a:solidFill>
                      <a:schemeClr val="tx1"/>
                    </a:solidFill>
                  </a:tcPr>
                </a:tc>
                <a:tc>
                  <a:txBody>
                    <a:bodyPr/>
                    <a:lstStyle/>
                    <a:p>
                      <a:pPr algn="ctr" fontAlgn="b"/>
                      <a:r>
                        <a:rPr lang="fr-FR" sz="1100" u="none" strike="noStrike" dirty="0">
                          <a:solidFill>
                            <a:srgbClr val="FFFFFF"/>
                          </a:solidFill>
                          <a:effectLst/>
                        </a:rPr>
                        <a:t>Valeur</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extLst>
                  <a:ext uri="{0D108BD9-81ED-4DB2-BD59-A6C34878D82A}">
                    <a16:rowId xmlns:a16="http://schemas.microsoft.com/office/drawing/2014/main" val="317880372"/>
                  </a:ext>
                </a:extLst>
              </a:tr>
              <a:tr h="223256">
                <a:tc>
                  <a:txBody>
                    <a:bodyPr/>
                    <a:lstStyle/>
                    <a:p>
                      <a:pPr algn="l" fontAlgn="b"/>
                      <a:r>
                        <a:rPr lang="fr-FR" sz="1100" u="none" strike="noStrike" dirty="0">
                          <a:effectLst/>
                        </a:rPr>
                        <a:t>Taux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3%</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270652949"/>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u="none" strike="noStrike" dirty="0">
                          <a:effectLst/>
                        </a:rPr>
                        <a:t>Taux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924623812"/>
                  </a:ext>
                </a:extLst>
              </a:tr>
              <a:tr h="202467">
                <a:tc>
                  <a:txBody>
                    <a:bodyPr/>
                    <a:lstStyle/>
                    <a:p>
                      <a:pPr algn="l" fontAlgn="b"/>
                      <a:r>
                        <a:rPr lang="fr-FR" sz="1100" b="1" u="none" strike="noStrike" dirty="0">
                          <a:effectLst/>
                        </a:rPr>
                        <a:t>Taux 3</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u="none" strike="noStrike" dirty="0">
                          <a:effectLst/>
                        </a:rPr>
                        <a:t>?</a:t>
                      </a:r>
                      <a:endParaRPr lang="fr-FR" sz="1100" b="1"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13043668"/>
                  </a:ext>
                </a:extLst>
              </a:tr>
              <a:tr h="182880">
                <a:tc>
                  <a:txBody>
                    <a:bodyPr/>
                    <a:lstStyle/>
                    <a:p>
                      <a:pPr algn="l" fontAlgn="b"/>
                      <a:r>
                        <a:rPr lang="fr-FR" sz="1100" b="1" u="none" strike="noStrike" dirty="0">
                          <a:effectLst/>
                        </a:rPr>
                        <a:t>Taux 4</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u="none" strike="noStrike" dirty="0">
                          <a:effectLst/>
                        </a:rPr>
                        <a:t>?</a:t>
                      </a:r>
                      <a:endParaRPr lang="fr-FR" sz="1100" b="1"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314595148"/>
                  </a:ext>
                </a:extLst>
              </a:tr>
              <a:tr h="182880">
                <a:tc>
                  <a:txBody>
                    <a:bodyPr/>
                    <a:lstStyle/>
                    <a:p>
                      <a:pPr algn="l" fontAlgn="b"/>
                      <a:r>
                        <a:rPr lang="fr-FR" sz="1100" u="none" strike="noStrike" dirty="0">
                          <a:effectLst/>
                        </a:rPr>
                        <a:t>Marge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0.40%</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853942388"/>
                  </a:ext>
                </a:extLst>
              </a:tr>
              <a:tr h="182880">
                <a:tc>
                  <a:txBody>
                    <a:bodyPr/>
                    <a:lstStyle/>
                    <a:p>
                      <a:pPr algn="l" fontAlgn="b"/>
                      <a:r>
                        <a:rPr lang="fr-FR" sz="1100" u="none" strike="noStrike" dirty="0">
                          <a:effectLst/>
                        </a:rPr>
                        <a:t>Marge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77300222"/>
                  </a:ext>
                </a:extLst>
              </a:tr>
              <a:tr h="182880">
                <a:tc>
                  <a:txBody>
                    <a:bodyPr/>
                    <a:lstStyle/>
                    <a:p>
                      <a:pPr algn="l" fontAlgn="b"/>
                      <a:r>
                        <a:rPr lang="fr-FR" sz="1100" u="none" strike="noStrike" dirty="0">
                          <a:effectLst/>
                        </a:rPr>
                        <a:t>Marge 3</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384422577"/>
                  </a:ext>
                </a:extLst>
              </a:tr>
              <a:tr h="182880">
                <a:tc>
                  <a:txBody>
                    <a:bodyPr/>
                    <a:lstStyle/>
                    <a:p>
                      <a:pPr algn="l" fontAlgn="b"/>
                      <a:r>
                        <a:rPr lang="fr-FR" sz="1100" u="none" strike="noStrike" dirty="0">
                          <a:effectLst/>
                        </a:rPr>
                        <a:t>Marge 4</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668657570"/>
                  </a:ext>
                </a:extLst>
              </a:tr>
            </a:tbl>
          </a:graphicData>
        </a:graphic>
      </p:graphicFrame>
      <p:graphicFrame>
        <p:nvGraphicFramePr>
          <p:cNvPr id="76" name="Table 75">
            <a:extLst>
              <a:ext uri="{FF2B5EF4-FFF2-40B4-BE49-F238E27FC236}">
                <a16:creationId xmlns:a16="http://schemas.microsoft.com/office/drawing/2014/main" id="{02A4FE5B-C5D4-23CA-F7B1-A669526DC111}"/>
              </a:ext>
            </a:extLst>
          </p:cNvPr>
          <p:cNvGraphicFramePr>
            <a:graphicFrameLocks noGrp="1"/>
          </p:cNvGraphicFramePr>
          <p:nvPr/>
        </p:nvGraphicFramePr>
        <p:xfrm>
          <a:off x="8155743" y="1465577"/>
          <a:ext cx="3402000" cy="1698263"/>
        </p:xfrm>
        <a:graphic>
          <a:graphicData uri="http://schemas.openxmlformats.org/drawingml/2006/table">
            <a:tbl>
              <a:tblPr>
                <a:tableStyleId>{5C22544A-7EE6-4342-B048-85BDC9FD1C3A}</a:tableStyleId>
              </a:tblPr>
              <a:tblGrid>
                <a:gridCol w="891988">
                  <a:extLst>
                    <a:ext uri="{9D8B030D-6E8A-4147-A177-3AD203B41FA5}">
                      <a16:colId xmlns:a16="http://schemas.microsoft.com/office/drawing/2014/main" val="3042862825"/>
                    </a:ext>
                  </a:extLst>
                </a:gridCol>
                <a:gridCol w="1333519">
                  <a:extLst>
                    <a:ext uri="{9D8B030D-6E8A-4147-A177-3AD203B41FA5}">
                      <a16:colId xmlns:a16="http://schemas.microsoft.com/office/drawing/2014/main" val="3241058480"/>
                    </a:ext>
                  </a:extLst>
                </a:gridCol>
                <a:gridCol w="1176493">
                  <a:extLst>
                    <a:ext uri="{9D8B030D-6E8A-4147-A177-3AD203B41FA5}">
                      <a16:colId xmlns:a16="http://schemas.microsoft.com/office/drawing/2014/main" val="2916917821"/>
                    </a:ext>
                  </a:extLst>
                </a:gridCol>
              </a:tblGrid>
              <a:tr h="114185">
                <a:tc>
                  <a:txBody>
                    <a:bodyPr/>
                    <a:lstStyle/>
                    <a:p>
                      <a:pPr algn="l" fontAlgn="b"/>
                      <a:r>
                        <a:rPr lang="fr-FR" sz="1100" b="0" i="0" u="none" strike="noStrike" dirty="0">
                          <a:solidFill>
                            <a:srgbClr val="FFFFFF"/>
                          </a:solidFill>
                          <a:effectLst/>
                          <a:latin typeface="Calibri" panose="020F0502020204030204" pitchFamily="34" charset="0"/>
                        </a:rPr>
                        <a:t>Taux</a:t>
                      </a:r>
                    </a:p>
                  </a:txBody>
                  <a:tcPr marL="7620" marR="7620" marT="7620" marB="0" anchor="b">
                    <a:solidFill>
                      <a:schemeClr val="tx1"/>
                    </a:solidFill>
                  </a:tcPr>
                </a:tc>
                <a:tc>
                  <a:txBody>
                    <a:bodyPr/>
                    <a:lstStyle/>
                    <a:p>
                      <a:pPr algn="ctr" fontAlgn="b"/>
                      <a:r>
                        <a:rPr lang="fr-FR" sz="1100" u="none" strike="noStrike" dirty="0">
                          <a:solidFill>
                            <a:srgbClr val="FFFFFF"/>
                          </a:solidFill>
                          <a:effectLst/>
                        </a:rPr>
                        <a:t>Valeur baseline</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fr-FR" sz="1100" u="none" strike="noStrike" dirty="0">
                          <a:solidFill>
                            <a:srgbClr val="FFFFFF"/>
                          </a:solidFill>
                          <a:effectLst/>
                        </a:rPr>
                        <a:t>Valeur adverse</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extLst>
                  <a:ext uri="{0D108BD9-81ED-4DB2-BD59-A6C34878D82A}">
                    <a16:rowId xmlns:a16="http://schemas.microsoft.com/office/drawing/2014/main" val="317880372"/>
                  </a:ext>
                </a:extLst>
              </a:tr>
              <a:tr h="223256">
                <a:tc>
                  <a:txBody>
                    <a:bodyPr/>
                    <a:lstStyle/>
                    <a:p>
                      <a:pPr algn="l" fontAlgn="b"/>
                      <a:r>
                        <a:rPr lang="fr-FR" sz="1100" u="none" strike="noStrike" dirty="0">
                          <a:effectLst/>
                        </a:rPr>
                        <a:t>Taux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3%</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3%</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270652949"/>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u="none" strike="noStrike" dirty="0">
                          <a:effectLst/>
                        </a:rPr>
                        <a:t>Taux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3,65%</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5,19%</a:t>
                      </a:r>
                    </a:p>
                  </a:txBody>
                  <a:tcPr marL="7620" marR="7620" marT="7620" marB="0" anchor="b"/>
                </a:tc>
                <a:extLst>
                  <a:ext uri="{0D108BD9-81ED-4DB2-BD59-A6C34878D82A}">
                    <a16:rowId xmlns:a16="http://schemas.microsoft.com/office/drawing/2014/main" val="924623812"/>
                  </a:ext>
                </a:extLst>
              </a:tr>
              <a:tr h="202467">
                <a:tc>
                  <a:txBody>
                    <a:bodyPr/>
                    <a:lstStyle/>
                    <a:p>
                      <a:pPr algn="l" fontAlgn="b"/>
                      <a:r>
                        <a:rPr lang="fr-FR" sz="1100" b="1" u="none" strike="noStrike" dirty="0">
                          <a:effectLst/>
                        </a:rPr>
                        <a:t>Taux 3</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3,45%</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4,67%</a:t>
                      </a:r>
                    </a:p>
                  </a:txBody>
                  <a:tcPr marL="7620" marR="7620" marT="7620" marB="0" anchor="b"/>
                </a:tc>
                <a:extLst>
                  <a:ext uri="{0D108BD9-81ED-4DB2-BD59-A6C34878D82A}">
                    <a16:rowId xmlns:a16="http://schemas.microsoft.com/office/drawing/2014/main" val="1413043668"/>
                  </a:ext>
                </a:extLst>
              </a:tr>
              <a:tr h="182880">
                <a:tc>
                  <a:txBody>
                    <a:bodyPr/>
                    <a:lstStyle/>
                    <a:p>
                      <a:pPr algn="l" fontAlgn="b"/>
                      <a:r>
                        <a:rPr lang="fr-FR" sz="1100" b="1" u="none" strike="noStrike" dirty="0">
                          <a:effectLst/>
                        </a:rPr>
                        <a:t>Taux 4</a:t>
                      </a:r>
                      <a:endParaRPr lang="fr-FR" sz="1100" b="1"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3,21%</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4,25%</a:t>
                      </a:r>
                    </a:p>
                  </a:txBody>
                  <a:tcPr marL="7620" marR="7620" marT="7620" marB="0" anchor="b"/>
                </a:tc>
                <a:extLst>
                  <a:ext uri="{0D108BD9-81ED-4DB2-BD59-A6C34878D82A}">
                    <a16:rowId xmlns:a16="http://schemas.microsoft.com/office/drawing/2014/main" val="2314595148"/>
                  </a:ext>
                </a:extLst>
              </a:tr>
              <a:tr h="182880">
                <a:tc>
                  <a:txBody>
                    <a:bodyPr/>
                    <a:lstStyle/>
                    <a:p>
                      <a:pPr algn="l" fontAlgn="b"/>
                      <a:r>
                        <a:rPr lang="fr-FR" sz="1100" u="none" strike="noStrike" dirty="0">
                          <a:effectLst/>
                        </a:rPr>
                        <a:t>Marge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0.40%</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fr-FR" sz="1100" u="none" strike="noStrike" dirty="0">
                          <a:effectLst/>
                        </a:rPr>
                        <a:t>0.40%</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853942388"/>
                  </a:ext>
                </a:extLst>
              </a:tr>
              <a:tr h="182880">
                <a:tc>
                  <a:txBody>
                    <a:bodyPr/>
                    <a:lstStyle/>
                    <a:p>
                      <a:pPr algn="l" fontAlgn="b"/>
                      <a:r>
                        <a:rPr lang="fr-FR" sz="1100" u="none" strike="noStrike" dirty="0">
                          <a:effectLst/>
                        </a:rPr>
                        <a:t>Marge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0.41%</a:t>
                      </a:r>
                    </a:p>
                  </a:txBody>
                  <a:tcPr marL="7620" marR="7620" marT="7620" marB="0" anchor="b"/>
                </a:tc>
                <a:extLst>
                  <a:ext uri="{0D108BD9-81ED-4DB2-BD59-A6C34878D82A}">
                    <a16:rowId xmlns:a16="http://schemas.microsoft.com/office/drawing/2014/main" val="1477300222"/>
                  </a:ext>
                </a:extLst>
              </a:tr>
              <a:tr h="182880">
                <a:tc>
                  <a:txBody>
                    <a:bodyPr/>
                    <a:lstStyle/>
                    <a:p>
                      <a:pPr algn="l" fontAlgn="b"/>
                      <a:r>
                        <a:rPr lang="fr-FR" sz="1100" u="none" strike="noStrike" dirty="0">
                          <a:effectLst/>
                        </a:rPr>
                        <a:t>Marge 3</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0.44%</a:t>
                      </a:r>
                    </a:p>
                  </a:txBody>
                  <a:tcPr marL="7620" marR="7620" marT="7620" marB="0" anchor="b"/>
                </a:tc>
                <a:extLst>
                  <a:ext uri="{0D108BD9-81ED-4DB2-BD59-A6C34878D82A}">
                    <a16:rowId xmlns:a16="http://schemas.microsoft.com/office/drawing/2014/main" val="2384422577"/>
                  </a:ext>
                </a:extLst>
              </a:tr>
              <a:tr h="182880">
                <a:tc>
                  <a:txBody>
                    <a:bodyPr/>
                    <a:lstStyle/>
                    <a:p>
                      <a:pPr algn="l" fontAlgn="b"/>
                      <a:r>
                        <a:rPr lang="fr-FR" sz="1100" u="none" strike="noStrike" dirty="0">
                          <a:effectLst/>
                        </a:rPr>
                        <a:t>Marge 4</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0.42%</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0.49%</a:t>
                      </a:r>
                    </a:p>
                  </a:txBody>
                  <a:tcPr marL="7620" marR="7620" marT="7620" marB="0" anchor="b"/>
                </a:tc>
                <a:extLst>
                  <a:ext uri="{0D108BD9-81ED-4DB2-BD59-A6C34878D82A}">
                    <a16:rowId xmlns:a16="http://schemas.microsoft.com/office/drawing/2014/main" val="2668657570"/>
                  </a:ext>
                </a:extLst>
              </a:tr>
            </a:tbl>
          </a:graphicData>
        </a:graphic>
      </p:graphicFrame>
      <p:sp>
        <p:nvSpPr>
          <p:cNvPr id="77" name="Arrow: Right 76">
            <a:extLst>
              <a:ext uri="{FF2B5EF4-FFF2-40B4-BE49-F238E27FC236}">
                <a16:creationId xmlns:a16="http://schemas.microsoft.com/office/drawing/2014/main" id="{89B3CB4F-DFE4-9AF7-0E0A-3ADA0751844E}"/>
              </a:ext>
            </a:extLst>
          </p:cNvPr>
          <p:cNvSpPr/>
          <p:nvPr/>
        </p:nvSpPr>
        <p:spPr>
          <a:xfrm>
            <a:off x="7296350" y="2208970"/>
            <a:ext cx="654900" cy="433213"/>
          </a:xfrm>
          <a:prstGeom prst="rightArrow">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MBLZ Bold"/>
              <a:ea typeface="+mn-ea"/>
              <a:cs typeface="+mn-cs"/>
            </a:endParaRPr>
          </a:p>
        </p:txBody>
      </p:sp>
      <p:sp>
        <p:nvSpPr>
          <p:cNvPr id="78" name="Espace réservé du texte 16">
            <a:extLst>
              <a:ext uri="{FF2B5EF4-FFF2-40B4-BE49-F238E27FC236}">
                <a16:creationId xmlns:a16="http://schemas.microsoft.com/office/drawing/2014/main" id="{EA921468-1C8D-18AB-7ED5-CB0B53E9C8FD}"/>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138712835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Rectangle 81">
            <a:extLst>
              <a:ext uri="{FF2B5EF4-FFF2-40B4-BE49-F238E27FC236}">
                <a16:creationId xmlns:a16="http://schemas.microsoft.com/office/drawing/2014/main" id="{319313BC-1EA5-A2E2-5EBF-27D6A43790BD}"/>
              </a:ext>
            </a:extLst>
          </p:cNvPr>
          <p:cNvSpPr/>
          <p:nvPr/>
        </p:nvSpPr>
        <p:spPr>
          <a:xfrm>
            <a:off x="13400" y="5503790"/>
            <a:ext cx="12191998" cy="1298174"/>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1 – Prêt à taux fixe : Détermination des taux sans risques futurs</a:t>
            </a:r>
          </a:p>
        </p:txBody>
      </p:sp>
      <p:cxnSp>
        <p:nvCxnSpPr>
          <p:cNvPr id="32" name="Straight Arrow Connector 31">
            <a:extLst>
              <a:ext uri="{FF2B5EF4-FFF2-40B4-BE49-F238E27FC236}">
                <a16:creationId xmlns:a16="http://schemas.microsoft.com/office/drawing/2014/main" id="{DAE0439D-B98C-3181-D7B1-FBB292D867F6}"/>
              </a:ext>
            </a:extLst>
          </p:cNvPr>
          <p:cNvCxnSpPr/>
          <p:nvPr/>
        </p:nvCxnSpPr>
        <p:spPr>
          <a:xfrm>
            <a:off x="817374" y="1718079"/>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19CF3A06-3268-826F-B99E-7D5A61297895}"/>
              </a:ext>
            </a:extLst>
          </p:cNvPr>
          <p:cNvSpPr/>
          <p:nvPr/>
        </p:nvSpPr>
        <p:spPr>
          <a:xfrm>
            <a:off x="817374" y="1408868"/>
            <a:ext cx="2781463"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Marge 1</a:t>
            </a:r>
          </a:p>
        </p:txBody>
      </p:sp>
      <p:sp>
        <p:nvSpPr>
          <p:cNvPr id="34" name="TextBox 33">
            <a:extLst>
              <a:ext uri="{FF2B5EF4-FFF2-40B4-BE49-F238E27FC236}">
                <a16:creationId xmlns:a16="http://schemas.microsoft.com/office/drawing/2014/main" id="{EE09C071-4AD9-D75D-43E9-841703F62A7C}"/>
              </a:ext>
            </a:extLst>
          </p:cNvPr>
          <p:cNvSpPr txBox="1"/>
          <p:nvPr/>
        </p:nvSpPr>
        <p:spPr>
          <a:xfrm>
            <a:off x="602123" y="1743289"/>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31.12.23</a:t>
            </a:r>
          </a:p>
        </p:txBody>
      </p:sp>
      <p:sp>
        <p:nvSpPr>
          <p:cNvPr id="35" name="TextBox 34">
            <a:extLst>
              <a:ext uri="{FF2B5EF4-FFF2-40B4-BE49-F238E27FC236}">
                <a16:creationId xmlns:a16="http://schemas.microsoft.com/office/drawing/2014/main" id="{5BD2712C-62AC-D045-8C3A-99D37BCAA932}"/>
              </a:ext>
            </a:extLst>
          </p:cNvPr>
          <p:cNvSpPr txBox="1"/>
          <p:nvPr/>
        </p:nvSpPr>
        <p:spPr>
          <a:xfrm>
            <a:off x="3340639" y="1753637"/>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31.03.25</a:t>
            </a:r>
          </a:p>
        </p:txBody>
      </p:sp>
      <p:sp>
        <p:nvSpPr>
          <p:cNvPr id="36" name="TextBox 35">
            <a:extLst>
              <a:ext uri="{FF2B5EF4-FFF2-40B4-BE49-F238E27FC236}">
                <a16:creationId xmlns:a16="http://schemas.microsoft.com/office/drawing/2014/main" id="{A06244E9-110D-0F7A-9DA0-6E72447365BB}"/>
              </a:ext>
            </a:extLst>
          </p:cNvPr>
          <p:cNvSpPr txBox="1"/>
          <p:nvPr/>
        </p:nvSpPr>
        <p:spPr>
          <a:xfrm>
            <a:off x="5999431" y="1765239"/>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30.06.26</a:t>
            </a:r>
          </a:p>
        </p:txBody>
      </p:sp>
      <p:sp>
        <p:nvSpPr>
          <p:cNvPr id="37" name="TextBox 36">
            <a:extLst>
              <a:ext uri="{FF2B5EF4-FFF2-40B4-BE49-F238E27FC236}">
                <a16:creationId xmlns:a16="http://schemas.microsoft.com/office/drawing/2014/main" id="{DC652014-90C6-2A12-0013-AE75ED44196D}"/>
              </a:ext>
            </a:extLst>
          </p:cNvPr>
          <p:cNvSpPr txBox="1"/>
          <p:nvPr/>
        </p:nvSpPr>
        <p:spPr>
          <a:xfrm>
            <a:off x="8778025" y="1752156"/>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30.09.27</a:t>
            </a:r>
          </a:p>
        </p:txBody>
      </p:sp>
      <p:sp>
        <p:nvSpPr>
          <p:cNvPr id="38" name="TextBox 37">
            <a:extLst>
              <a:ext uri="{FF2B5EF4-FFF2-40B4-BE49-F238E27FC236}">
                <a16:creationId xmlns:a16="http://schemas.microsoft.com/office/drawing/2014/main" id="{D1E158D1-A659-CCA2-99CC-8DD2E1BC781C}"/>
              </a:ext>
            </a:extLst>
          </p:cNvPr>
          <p:cNvSpPr txBox="1"/>
          <p:nvPr/>
        </p:nvSpPr>
        <p:spPr>
          <a:xfrm>
            <a:off x="9632925" y="1752156"/>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31.12.27</a:t>
            </a:r>
          </a:p>
        </p:txBody>
      </p:sp>
      <p:sp>
        <p:nvSpPr>
          <p:cNvPr id="39" name="TextBox 38">
            <a:extLst>
              <a:ext uri="{FF2B5EF4-FFF2-40B4-BE49-F238E27FC236}">
                <a16:creationId xmlns:a16="http://schemas.microsoft.com/office/drawing/2014/main" id="{470EC341-785B-7561-39DB-30E1B3377CA1}"/>
              </a:ext>
            </a:extLst>
          </p:cNvPr>
          <p:cNvSpPr txBox="1"/>
          <p:nvPr/>
        </p:nvSpPr>
        <p:spPr>
          <a:xfrm>
            <a:off x="2552111" y="1758383"/>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31.12.24</a:t>
            </a:r>
          </a:p>
        </p:txBody>
      </p:sp>
      <p:sp>
        <p:nvSpPr>
          <p:cNvPr id="40" name="Rectangle 39">
            <a:extLst>
              <a:ext uri="{FF2B5EF4-FFF2-40B4-BE49-F238E27FC236}">
                <a16:creationId xmlns:a16="http://schemas.microsoft.com/office/drawing/2014/main" id="{28A17F4A-A390-50A3-C68B-27DFCCBE5DC8}"/>
              </a:ext>
            </a:extLst>
          </p:cNvPr>
          <p:cNvSpPr/>
          <p:nvPr/>
        </p:nvSpPr>
        <p:spPr>
          <a:xfrm>
            <a:off x="3748531" y="1408867"/>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Marge 2</a:t>
            </a:r>
          </a:p>
        </p:txBody>
      </p:sp>
      <p:sp>
        <p:nvSpPr>
          <p:cNvPr id="41" name="Rectangle 40">
            <a:extLst>
              <a:ext uri="{FF2B5EF4-FFF2-40B4-BE49-F238E27FC236}">
                <a16:creationId xmlns:a16="http://schemas.microsoft.com/office/drawing/2014/main" id="{BB298EE5-C2CB-1BE1-10AE-6318C0C19678}"/>
              </a:ext>
            </a:extLst>
          </p:cNvPr>
          <p:cNvSpPr/>
          <p:nvPr/>
        </p:nvSpPr>
        <p:spPr>
          <a:xfrm>
            <a:off x="6527125" y="1408866"/>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Marge 3</a:t>
            </a:r>
          </a:p>
        </p:txBody>
      </p:sp>
      <p:sp>
        <p:nvSpPr>
          <p:cNvPr id="42" name="Rectangle 41">
            <a:extLst>
              <a:ext uri="{FF2B5EF4-FFF2-40B4-BE49-F238E27FC236}">
                <a16:creationId xmlns:a16="http://schemas.microsoft.com/office/drawing/2014/main" id="{0CDFDFFB-2AC3-4388-E656-A25CA31BEF76}"/>
              </a:ext>
            </a:extLst>
          </p:cNvPr>
          <p:cNvSpPr/>
          <p:nvPr/>
        </p:nvSpPr>
        <p:spPr>
          <a:xfrm>
            <a:off x="9305592" y="1402316"/>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Marge 4</a:t>
            </a:r>
          </a:p>
        </p:txBody>
      </p:sp>
      <p:sp>
        <p:nvSpPr>
          <p:cNvPr id="43" name="Rectangle 42">
            <a:extLst>
              <a:ext uri="{FF2B5EF4-FFF2-40B4-BE49-F238E27FC236}">
                <a16:creationId xmlns:a16="http://schemas.microsoft.com/office/drawing/2014/main" id="{A6C9D027-5A45-7CAB-6A1C-CBD5E3057DC5}"/>
              </a:ext>
            </a:extLst>
          </p:cNvPr>
          <p:cNvSpPr/>
          <p:nvPr/>
        </p:nvSpPr>
        <p:spPr>
          <a:xfrm>
            <a:off x="9935284" y="1400829"/>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a typeface="Calibri" panose="020F0502020204030204" pitchFamily="34" charset="0"/>
              <a:cs typeface="Calibri" panose="020F0502020204030204" pitchFamily="34" charset="0"/>
            </a:endParaRPr>
          </a:p>
        </p:txBody>
      </p:sp>
      <p:sp>
        <p:nvSpPr>
          <p:cNvPr id="44" name="Rectangle 43">
            <a:extLst>
              <a:ext uri="{FF2B5EF4-FFF2-40B4-BE49-F238E27FC236}">
                <a16:creationId xmlns:a16="http://schemas.microsoft.com/office/drawing/2014/main" id="{03A00AE6-912D-C977-50E3-6D43AAC48495}"/>
              </a:ext>
            </a:extLst>
          </p:cNvPr>
          <p:cNvSpPr/>
          <p:nvPr/>
        </p:nvSpPr>
        <p:spPr>
          <a:xfrm>
            <a:off x="818589" y="1408866"/>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a typeface="Calibri" panose="020F0502020204030204" pitchFamily="34" charset="0"/>
              <a:cs typeface="Calibri" panose="020F0502020204030204" pitchFamily="34" charset="0"/>
            </a:endParaRPr>
          </a:p>
        </p:txBody>
      </p:sp>
      <p:sp>
        <p:nvSpPr>
          <p:cNvPr id="45" name="Rectangle 44">
            <a:extLst>
              <a:ext uri="{FF2B5EF4-FFF2-40B4-BE49-F238E27FC236}">
                <a16:creationId xmlns:a16="http://schemas.microsoft.com/office/drawing/2014/main" id="{CD2C3472-C64D-25F3-83FA-583D936BE2D6}"/>
              </a:ext>
            </a:extLst>
          </p:cNvPr>
          <p:cNvSpPr/>
          <p:nvPr/>
        </p:nvSpPr>
        <p:spPr>
          <a:xfrm>
            <a:off x="1256111" y="1128441"/>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1</a:t>
            </a:r>
          </a:p>
        </p:txBody>
      </p:sp>
      <p:sp>
        <p:nvSpPr>
          <p:cNvPr id="46" name="Rectangle 45">
            <a:extLst>
              <a:ext uri="{FF2B5EF4-FFF2-40B4-BE49-F238E27FC236}">
                <a16:creationId xmlns:a16="http://schemas.microsoft.com/office/drawing/2014/main" id="{99EDBB23-2BE5-8EF2-42FB-2930CA132F97}"/>
              </a:ext>
            </a:extLst>
          </p:cNvPr>
          <p:cNvSpPr/>
          <p:nvPr/>
        </p:nvSpPr>
        <p:spPr>
          <a:xfrm>
            <a:off x="3748531" y="1117248"/>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2</a:t>
            </a:r>
          </a:p>
        </p:txBody>
      </p:sp>
      <p:sp>
        <p:nvSpPr>
          <p:cNvPr id="47" name="Rectangle 46">
            <a:extLst>
              <a:ext uri="{FF2B5EF4-FFF2-40B4-BE49-F238E27FC236}">
                <a16:creationId xmlns:a16="http://schemas.microsoft.com/office/drawing/2014/main" id="{0BD1ECD2-A57F-569A-675C-92EADF942302}"/>
              </a:ext>
            </a:extLst>
          </p:cNvPr>
          <p:cNvSpPr/>
          <p:nvPr/>
        </p:nvSpPr>
        <p:spPr>
          <a:xfrm>
            <a:off x="6527125" y="1117248"/>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3</a:t>
            </a:r>
          </a:p>
        </p:txBody>
      </p:sp>
      <p:sp>
        <p:nvSpPr>
          <p:cNvPr id="48" name="Rectangle 47">
            <a:extLst>
              <a:ext uri="{FF2B5EF4-FFF2-40B4-BE49-F238E27FC236}">
                <a16:creationId xmlns:a16="http://schemas.microsoft.com/office/drawing/2014/main" id="{FD8C78F6-A9BA-4F6D-5DA4-8EFA36F5147C}"/>
              </a:ext>
            </a:extLst>
          </p:cNvPr>
          <p:cNvSpPr/>
          <p:nvPr/>
        </p:nvSpPr>
        <p:spPr>
          <a:xfrm>
            <a:off x="9305592" y="1110697"/>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4</a:t>
            </a:r>
          </a:p>
        </p:txBody>
      </p:sp>
      <p:sp>
        <p:nvSpPr>
          <p:cNvPr id="49" name="Rectangle 48">
            <a:extLst>
              <a:ext uri="{FF2B5EF4-FFF2-40B4-BE49-F238E27FC236}">
                <a16:creationId xmlns:a16="http://schemas.microsoft.com/office/drawing/2014/main" id="{48D5A055-13CD-B31C-0E6F-00CBEA6F5231}"/>
              </a:ext>
            </a:extLst>
          </p:cNvPr>
          <p:cNvSpPr/>
          <p:nvPr/>
        </p:nvSpPr>
        <p:spPr>
          <a:xfrm>
            <a:off x="9935284" y="1109210"/>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50" name="Rectangle 49">
            <a:extLst>
              <a:ext uri="{FF2B5EF4-FFF2-40B4-BE49-F238E27FC236}">
                <a16:creationId xmlns:a16="http://schemas.microsoft.com/office/drawing/2014/main" id="{A595B0D6-A41E-4515-26FC-FEEA0528C12E}"/>
              </a:ext>
            </a:extLst>
          </p:cNvPr>
          <p:cNvSpPr/>
          <p:nvPr/>
        </p:nvSpPr>
        <p:spPr>
          <a:xfrm>
            <a:off x="818589" y="1117247"/>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51" name="TextBox 50">
            <a:extLst>
              <a:ext uri="{FF2B5EF4-FFF2-40B4-BE49-F238E27FC236}">
                <a16:creationId xmlns:a16="http://schemas.microsoft.com/office/drawing/2014/main" id="{9CCD9A73-A4BA-8ACF-616A-55DDDAA15073}"/>
              </a:ext>
            </a:extLst>
          </p:cNvPr>
          <p:cNvSpPr txBox="1"/>
          <p:nvPr/>
        </p:nvSpPr>
        <p:spPr>
          <a:xfrm>
            <a:off x="0" y="1031497"/>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Taux</a:t>
            </a:r>
          </a:p>
        </p:txBody>
      </p:sp>
      <p:sp>
        <p:nvSpPr>
          <p:cNvPr id="76" name="TextBox 75">
            <a:extLst>
              <a:ext uri="{FF2B5EF4-FFF2-40B4-BE49-F238E27FC236}">
                <a16:creationId xmlns:a16="http://schemas.microsoft.com/office/drawing/2014/main" id="{3067B4E9-217E-A6DB-40E5-FEB880724FA6}"/>
              </a:ext>
            </a:extLst>
          </p:cNvPr>
          <p:cNvSpPr txBox="1"/>
          <p:nvPr/>
        </p:nvSpPr>
        <p:spPr>
          <a:xfrm>
            <a:off x="13400" y="1363468"/>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Marge</a:t>
            </a:r>
          </a:p>
        </p:txBody>
      </p:sp>
      <p:sp>
        <p:nvSpPr>
          <p:cNvPr id="77" name="ZoneTexte 16">
            <a:extLst>
              <a:ext uri="{FF2B5EF4-FFF2-40B4-BE49-F238E27FC236}">
                <a16:creationId xmlns:a16="http://schemas.microsoft.com/office/drawing/2014/main" id="{CF10F63D-A864-4F75-D313-72405366865C}"/>
              </a:ext>
            </a:extLst>
          </p:cNvPr>
          <p:cNvSpPr txBox="1"/>
          <p:nvPr/>
        </p:nvSpPr>
        <p:spPr>
          <a:xfrm>
            <a:off x="580103" y="2026849"/>
            <a:ext cx="10838656" cy="4104407"/>
          </a:xfrm>
          <a:prstGeom prst="rect">
            <a:avLst/>
          </a:prstGeom>
          <a:solidFill>
            <a:schemeClr val="tx2">
              <a:lumMod val="40000"/>
              <a:lumOff val="60000"/>
              <a:alpha val="16000"/>
            </a:schemeClr>
          </a:solidFill>
          <a:ln>
            <a:solidFill>
              <a:schemeClr val="accent2"/>
            </a:solidFill>
          </a:ln>
        </p:spPr>
        <p:txBody>
          <a:bodyPr wrap="square">
            <a:noAutofit/>
          </a:bodyPr>
          <a:lstStyle/>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100" b="1" i="0" u="none" strike="noStrike" kern="1200" cap="none" spc="0" normalizeH="0" baseline="0" noProof="0" dirty="0">
                <a:ln>
                  <a:noFill/>
                </a:ln>
                <a:solidFill>
                  <a:srgbClr val="00B050"/>
                </a:solidFill>
                <a:effectLst/>
                <a:uLnTx/>
                <a:uFillTx/>
                <a:latin typeface="Calibri (body)"/>
                <a:ea typeface="Calibri" panose="020F0502020204030204" pitchFamily="34" charset="0"/>
                <a:cs typeface="Calibri" panose="020F0502020204030204" pitchFamily="34" charset="0"/>
              </a:rPr>
              <a:t>Pour taux 2 </a:t>
            </a:r>
            <a:r>
              <a:rPr kumimoji="0" lang="fr-FR" sz="1100" b="1"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 </a:t>
            </a: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Les données issues du cadrage macro-économique de taux sans risques sont utilisées : </a:t>
            </a: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Les données de 2023, appliquées à 2025 indiquent :</a:t>
            </a: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Il s’agit de déterminer le taux 1,25 ans au 31.03.2025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Et de la même manière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p:txBody>
      </p:sp>
      <p:graphicFrame>
        <p:nvGraphicFramePr>
          <p:cNvPr id="78" name="Table 77">
            <a:extLst>
              <a:ext uri="{FF2B5EF4-FFF2-40B4-BE49-F238E27FC236}">
                <a16:creationId xmlns:a16="http://schemas.microsoft.com/office/drawing/2014/main" id="{BF0A7831-9F7F-D2DA-FAF0-784D56F0D9E2}"/>
              </a:ext>
            </a:extLst>
          </p:cNvPr>
          <p:cNvGraphicFramePr>
            <a:graphicFrameLocks noGrp="1"/>
          </p:cNvGraphicFramePr>
          <p:nvPr/>
        </p:nvGraphicFramePr>
        <p:xfrm>
          <a:off x="638856" y="4150985"/>
          <a:ext cx="8023205" cy="748997"/>
        </p:xfrm>
        <a:graphic>
          <a:graphicData uri="http://schemas.openxmlformats.org/drawingml/2006/table">
            <a:tbl>
              <a:tblPr>
                <a:tableStyleId>{5C22544A-7EE6-4342-B048-85BDC9FD1C3A}</a:tableStyleId>
              </a:tblPr>
              <a:tblGrid>
                <a:gridCol w="1446357">
                  <a:extLst>
                    <a:ext uri="{9D8B030D-6E8A-4147-A177-3AD203B41FA5}">
                      <a16:colId xmlns:a16="http://schemas.microsoft.com/office/drawing/2014/main" val="2414715135"/>
                    </a:ext>
                  </a:extLst>
                </a:gridCol>
                <a:gridCol w="528849">
                  <a:extLst>
                    <a:ext uri="{9D8B030D-6E8A-4147-A177-3AD203B41FA5}">
                      <a16:colId xmlns:a16="http://schemas.microsoft.com/office/drawing/2014/main" val="460327212"/>
                    </a:ext>
                  </a:extLst>
                </a:gridCol>
                <a:gridCol w="756000">
                  <a:extLst>
                    <a:ext uri="{9D8B030D-6E8A-4147-A177-3AD203B41FA5}">
                      <a16:colId xmlns:a16="http://schemas.microsoft.com/office/drawing/2014/main" val="887882823"/>
                    </a:ext>
                  </a:extLst>
                </a:gridCol>
                <a:gridCol w="2754000">
                  <a:extLst>
                    <a:ext uri="{9D8B030D-6E8A-4147-A177-3AD203B41FA5}">
                      <a16:colId xmlns:a16="http://schemas.microsoft.com/office/drawing/2014/main" val="2346094627"/>
                    </a:ext>
                  </a:extLst>
                </a:gridCol>
                <a:gridCol w="1296000">
                  <a:extLst>
                    <a:ext uri="{9D8B030D-6E8A-4147-A177-3AD203B41FA5}">
                      <a16:colId xmlns:a16="http://schemas.microsoft.com/office/drawing/2014/main" val="4108423645"/>
                    </a:ext>
                  </a:extLst>
                </a:gridCol>
                <a:gridCol w="1241999">
                  <a:extLst>
                    <a:ext uri="{9D8B030D-6E8A-4147-A177-3AD203B41FA5}">
                      <a16:colId xmlns:a16="http://schemas.microsoft.com/office/drawing/2014/main" val="3177001386"/>
                    </a:ext>
                  </a:extLst>
                </a:gridCol>
              </a:tblGrid>
              <a:tr h="206057">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Durée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a:t>
                      </a:r>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Year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Formula</a:t>
                      </a: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2226423331"/>
                  </a:ext>
                </a:extLst>
              </a:tr>
              <a:tr h="122220">
                <a:tc>
                  <a:txBody>
                    <a:bodyPr/>
                    <a:lstStyle/>
                    <a:p>
                      <a:pPr algn="l" fontAlgn="b"/>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 an</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1Y</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2025</a:t>
                      </a:r>
                    </a:p>
                  </a:txBody>
                  <a:tcPr marL="7620" marR="7620" marT="7620" marB="0" anchor="b"/>
                </a:tc>
                <a:tc>
                  <a:txBody>
                    <a:bodyPr/>
                    <a:lstStyle/>
                    <a:p>
                      <a:pPr algn="ctr"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3,67% </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5,19%</a:t>
                      </a:r>
                    </a:p>
                  </a:txBody>
                  <a:tcPr marL="7620" marR="7620" marT="7620" marB="0" anchor="b"/>
                </a:tc>
                <a:extLst>
                  <a:ext uri="{0D108BD9-81ED-4DB2-BD59-A6C34878D82A}">
                    <a16:rowId xmlns:a16="http://schemas.microsoft.com/office/drawing/2014/main" val="3387536283"/>
                  </a:ext>
                </a:extLst>
              </a:tr>
              <a:tr h="19242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 ans</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2Y</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2025</a:t>
                      </a:r>
                    </a:p>
                  </a:txBody>
                  <a:tcPr marL="7620" marR="7620" marT="7620" marB="0" anchor="b"/>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3,58%</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5,18%</a:t>
                      </a:r>
                    </a:p>
                  </a:txBody>
                  <a:tcPr marL="7620" marR="7620" marT="7620" marB="0" anchor="b"/>
                </a:tc>
                <a:extLst>
                  <a:ext uri="{0D108BD9-81ED-4DB2-BD59-A6C34878D82A}">
                    <a16:rowId xmlns:a16="http://schemas.microsoft.com/office/drawing/2014/main" val="3339605865"/>
                  </a:ext>
                </a:extLst>
              </a:tr>
              <a:tr h="140697">
                <a:tc>
                  <a:txBody>
                    <a:bodyPr/>
                    <a:lstStyle/>
                    <a:p>
                      <a:pPr algn="l" fontAlgn="b"/>
                      <a:r>
                        <a:rPr lang="fr-FR" sz="1100" b="1" u="none" strike="noStrike" dirty="0">
                          <a:effectLst/>
                          <a:latin typeface="Calibri" panose="020F0502020204030204" pitchFamily="34" charset="0"/>
                          <a:ea typeface="Calibri" panose="020F0502020204030204" pitchFamily="34" charset="0"/>
                          <a:cs typeface="Calibri" panose="020F0502020204030204" pitchFamily="34" charset="0"/>
                        </a:rPr>
                        <a:t>Taux 2 </a:t>
                      </a:r>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1,25Y</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0,25Y</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1an+ 1/4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2ans</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3,65%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5,19%</a:t>
                      </a:r>
                    </a:p>
                  </a:txBody>
                  <a:tcPr marL="7620" marR="7620" marT="7620" marB="0" anchor="b"/>
                </a:tc>
                <a:extLst>
                  <a:ext uri="{0D108BD9-81ED-4DB2-BD59-A6C34878D82A}">
                    <a16:rowId xmlns:a16="http://schemas.microsoft.com/office/drawing/2014/main" val="522921818"/>
                  </a:ext>
                </a:extLst>
              </a:tr>
            </a:tbl>
          </a:graphicData>
        </a:graphic>
      </p:graphicFrame>
      <p:graphicFrame>
        <p:nvGraphicFramePr>
          <p:cNvPr id="79" name="Table 78">
            <a:extLst>
              <a:ext uri="{FF2B5EF4-FFF2-40B4-BE49-F238E27FC236}">
                <a16:creationId xmlns:a16="http://schemas.microsoft.com/office/drawing/2014/main" id="{B0F8D223-3D0F-8B8E-D9E1-A899F83DB673}"/>
              </a:ext>
            </a:extLst>
          </p:cNvPr>
          <p:cNvGraphicFramePr>
            <a:graphicFrameLocks noGrp="1"/>
          </p:cNvGraphicFramePr>
          <p:nvPr/>
        </p:nvGraphicFramePr>
        <p:xfrm>
          <a:off x="638856" y="3116672"/>
          <a:ext cx="6489700" cy="731520"/>
        </p:xfrm>
        <a:graphic>
          <a:graphicData uri="http://schemas.openxmlformats.org/drawingml/2006/table">
            <a:tbl>
              <a:tblPr>
                <a:tableStyleId>{5C22544A-7EE6-4342-B048-85BDC9FD1C3A}</a:tableStyleId>
              </a:tblPr>
              <a:tblGrid>
                <a:gridCol w="1374087">
                  <a:extLst>
                    <a:ext uri="{9D8B030D-6E8A-4147-A177-3AD203B41FA5}">
                      <a16:colId xmlns:a16="http://schemas.microsoft.com/office/drawing/2014/main" val="1617607656"/>
                    </a:ext>
                  </a:extLst>
                </a:gridCol>
                <a:gridCol w="901745">
                  <a:extLst>
                    <a:ext uri="{9D8B030D-6E8A-4147-A177-3AD203B41FA5}">
                      <a16:colId xmlns:a16="http://schemas.microsoft.com/office/drawing/2014/main" val="3110234048"/>
                    </a:ext>
                  </a:extLst>
                </a:gridCol>
                <a:gridCol w="916058">
                  <a:extLst>
                    <a:ext uri="{9D8B030D-6E8A-4147-A177-3AD203B41FA5}">
                      <a16:colId xmlns:a16="http://schemas.microsoft.com/office/drawing/2014/main" val="2211644078"/>
                    </a:ext>
                  </a:extLst>
                </a:gridCol>
                <a:gridCol w="549635">
                  <a:extLst>
                    <a:ext uri="{9D8B030D-6E8A-4147-A177-3AD203B41FA5}">
                      <a16:colId xmlns:a16="http://schemas.microsoft.com/office/drawing/2014/main" val="769823231"/>
                    </a:ext>
                  </a:extLst>
                </a:gridCol>
                <a:gridCol w="549635">
                  <a:extLst>
                    <a:ext uri="{9D8B030D-6E8A-4147-A177-3AD203B41FA5}">
                      <a16:colId xmlns:a16="http://schemas.microsoft.com/office/drawing/2014/main" val="2983393761"/>
                    </a:ext>
                  </a:extLst>
                </a:gridCol>
                <a:gridCol w="549635">
                  <a:extLst>
                    <a:ext uri="{9D8B030D-6E8A-4147-A177-3AD203B41FA5}">
                      <a16:colId xmlns:a16="http://schemas.microsoft.com/office/drawing/2014/main" val="3915905733"/>
                    </a:ext>
                  </a:extLst>
                </a:gridCol>
                <a:gridCol w="549635">
                  <a:extLst>
                    <a:ext uri="{9D8B030D-6E8A-4147-A177-3AD203B41FA5}">
                      <a16:colId xmlns:a16="http://schemas.microsoft.com/office/drawing/2014/main" val="4190293990"/>
                    </a:ext>
                  </a:extLst>
                </a:gridCol>
                <a:gridCol w="549635">
                  <a:extLst>
                    <a:ext uri="{9D8B030D-6E8A-4147-A177-3AD203B41FA5}">
                      <a16:colId xmlns:a16="http://schemas.microsoft.com/office/drawing/2014/main" val="3126825574"/>
                    </a:ext>
                  </a:extLst>
                </a:gridCol>
                <a:gridCol w="549635">
                  <a:extLst>
                    <a:ext uri="{9D8B030D-6E8A-4147-A177-3AD203B41FA5}">
                      <a16:colId xmlns:a16="http://schemas.microsoft.com/office/drawing/2014/main" val="164507706"/>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Tenor</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point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gridSpan="3">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tc gridSpan="3">
                  <a:txBody>
                    <a:bodyPr/>
                    <a:lstStyle/>
                    <a:p>
                      <a:pPr algn="ct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449581099"/>
                  </a:ext>
                </a:extLst>
              </a:tr>
              <a:tr h="182880">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Data cadrage macro</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2024 – Latest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411976108"/>
                  </a:ext>
                </a:extLst>
              </a:tr>
              <a:tr h="182880">
                <a:tc>
                  <a:txBody>
                    <a:bodyPr/>
                    <a:lstStyle/>
                    <a:p>
                      <a:pPr algn="l"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Swap rates - EUR</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1Y</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3,03%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3,67%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3,47%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3,23%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5,19%</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4,68%</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714933764"/>
                  </a:ext>
                </a:extLst>
              </a:tr>
              <a:tr h="182880">
                <a:tc>
                  <a:txBody>
                    <a:bodyPr/>
                    <a:lstStyle/>
                    <a:p>
                      <a:pPr algn="l" fontAlgn="b"/>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2Y</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3,09%</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3,58%</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3,38%</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3,14%</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5,18%</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4,65%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4,23%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4014010499"/>
                  </a:ext>
                </a:extLst>
              </a:tr>
            </a:tbl>
          </a:graphicData>
        </a:graphic>
      </p:graphicFrame>
      <p:graphicFrame>
        <p:nvGraphicFramePr>
          <p:cNvPr id="80" name="Table 79">
            <a:extLst>
              <a:ext uri="{FF2B5EF4-FFF2-40B4-BE49-F238E27FC236}">
                <a16:creationId xmlns:a16="http://schemas.microsoft.com/office/drawing/2014/main" id="{6F8772EE-B2C8-A70B-C3F8-E10821EFB9BF}"/>
              </a:ext>
            </a:extLst>
          </p:cNvPr>
          <p:cNvGraphicFramePr>
            <a:graphicFrameLocks noGrp="1"/>
          </p:cNvGraphicFramePr>
          <p:nvPr/>
        </p:nvGraphicFramePr>
        <p:xfrm>
          <a:off x="638856" y="5314384"/>
          <a:ext cx="8139169" cy="525780"/>
        </p:xfrm>
        <a:graphic>
          <a:graphicData uri="http://schemas.openxmlformats.org/drawingml/2006/table">
            <a:tbl>
              <a:tblPr>
                <a:tableStyleId>{5C22544A-7EE6-4342-B048-85BDC9FD1C3A}</a:tableStyleId>
              </a:tblPr>
              <a:tblGrid>
                <a:gridCol w="1467262">
                  <a:extLst>
                    <a:ext uri="{9D8B030D-6E8A-4147-A177-3AD203B41FA5}">
                      <a16:colId xmlns:a16="http://schemas.microsoft.com/office/drawing/2014/main" val="1979307956"/>
                    </a:ext>
                  </a:extLst>
                </a:gridCol>
                <a:gridCol w="507944">
                  <a:extLst>
                    <a:ext uri="{9D8B030D-6E8A-4147-A177-3AD203B41FA5}">
                      <a16:colId xmlns:a16="http://schemas.microsoft.com/office/drawing/2014/main" val="2876099685"/>
                    </a:ext>
                  </a:extLst>
                </a:gridCol>
                <a:gridCol w="756000">
                  <a:extLst>
                    <a:ext uri="{9D8B030D-6E8A-4147-A177-3AD203B41FA5}">
                      <a16:colId xmlns:a16="http://schemas.microsoft.com/office/drawing/2014/main" val="2625515557"/>
                    </a:ext>
                  </a:extLst>
                </a:gridCol>
                <a:gridCol w="2754000">
                  <a:extLst>
                    <a:ext uri="{9D8B030D-6E8A-4147-A177-3AD203B41FA5}">
                      <a16:colId xmlns:a16="http://schemas.microsoft.com/office/drawing/2014/main" val="1651410649"/>
                    </a:ext>
                  </a:extLst>
                </a:gridCol>
                <a:gridCol w="1296000">
                  <a:extLst>
                    <a:ext uri="{9D8B030D-6E8A-4147-A177-3AD203B41FA5}">
                      <a16:colId xmlns:a16="http://schemas.microsoft.com/office/drawing/2014/main" val="4234388702"/>
                    </a:ext>
                  </a:extLst>
                </a:gridCol>
                <a:gridCol w="1357963">
                  <a:extLst>
                    <a:ext uri="{9D8B030D-6E8A-4147-A177-3AD203B41FA5}">
                      <a16:colId xmlns:a16="http://schemas.microsoft.com/office/drawing/2014/main" val="1614877694"/>
                    </a:ext>
                  </a:extLst>
                </a:gridCol>
              </a:tblGrid>
              <a:tr h="156658">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Durée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a:t>
                      </a:r>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Year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Formula</a:t>
                      </a: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3002583700"/>
                  </a:ext>
                </a:extLst>
              </a:tr>
              <a:tr h="133244">
                <a:tc>
                  <a:txBody>
                    <a:bodyPr/>
                    <a:lstStyle/>
                    <a:p>
                      <a:pPr algn="l"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Taux 3</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1,25Y</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2026</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1an+ 1/4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2ans</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3,45% </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4,67%</a:t>
                      </a:r>
                    </a:p>
                  </a:txBody>
                  <a:tcPr marL="7620" marR="7620" marT="7620" marB="0" anchor="b"/>
                </a:tc>
                <a:extLst>
                  <a:ext uri="{0D108BD9-81ED-4DB2-BD59-A6C34878D82A}">
                    <a16:rowId xmlns:a16="http://schemas.microsoft.com/office/drawing/2014/main" val="1557661515"/>
                  </a:ext>
                </a:extLst>
              </a:tr>
              <a:tr h="146290">
                <a:tc>
                  <a:txBody>
                    <a:bodyPr/>
                    <a:lstStyle/>
                    <a:p>
                      <a:pPr algn="l"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Taux 4</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1,25Y</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2027</a:t>
                      </a:r>
                    </a:p>
                  </a:txBody>
                  <a:tcPr marL="7620" marR="7620" marT="7620" marB="0" anchor="b"/>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1an+ 1/4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2ans</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3,21%</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4,25%</a:t>
                      </a:r>
                    </a:p>
                  </a:txBody>
                  <a:tcPr marL="7620" marR="7620" marT="7620" marB="0" anchor="b"/>
                </a:tc>
                <a:extLst>
                  <a:ext uri="{0D108BD9-81ED-4DB2-BD59-A6C34878D82A}">
                    <a16:rowId xmlns:a16="http://schemas.microsoft.com/office/drawing/2014/main" val="1126858285"/>
                  </a:ext>
                </a:extLst>
              </a:tr>
            </a:tbl>
          </a:graphicData>
        </a:graphic>
      </p:graphicFrame>
      <p:sp>
        <p:nvSpPr>
          <p:cNvPr id="81" name="TextBox 80">
            <a:extLst>
              <a:ext uri="{FF2B5EF4-FFF2-40B4-BE49-F238E27FC236}">
                <a16:creationId xmlns:a16="http://schemas.microsoft.com/office/drawing/2014/main" id="{D5F377C4-68D9-028A-17F2-3CF6E6E09581}"/>
              </a:ext>
            </a:extLst>
          </p:cNvPr>
          <p:cNvSpPr txBox="1"/>
          <p:nvPr/>
        </p:nvSpPr>
        <p:spPr>
          <a:xfrm>
            <a:off x="817374" y="2346236"/>
            <a:ext cx="10484654" cy="430887"/>
          </a:xfrm>
          <a:prstGeom prst="rect">
            <a:avLst/>
          </a:prstGeom>
          <a:no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The new reference rate is given by the value provided in the macroeconomic scenario for the swap rate in the baseline/adverse scenario for the year in which the instrument replaces. In case no swap rate for a given average original maturity is provided in the macroeconomic scenario, linear interpolation of the swap rate is used.</a:t>
            </a:r>
            <a:endParaRPr kumimoji="0" lang="fr-FR"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p:txBody>
      </p:sp>
      <p:sp>
        <p:nvSpPr>
          <p:cNvPr id="83" name="Espace réservé du texte 16">
            <a:extLst>
              <a:ext uri="{FF2B5EF4-FFF2-40B4-BE49-F238E27FC236}">
                <a16:creationId xmlns:a16="http://schemas.microsoft.com/office/drawing/2014/main" id="{E9E82E27-B27C-8CCE-63FF-735092CF0897}"/>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229793060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Rectangle 81">
            <a:extLst>
              <a:ext uri="{FF2B5EF4-FFF2-40B4-BE49-F238E27FC236}">
                <a16:creationId xmlns:a16="http://schemas.microsoft.com/office/drawing/2014/main" id="{319313BC-1EA5-A2E2-5EBF-27D6A43790BD}"/>
              </a:ext>
            </a:extLst>
          </p:cNvPr>
          <p:cNvSpPr/>
          <p:nvPr/>
        </p:nvSpPr>
        <p:spPr>
          <a:xfrm>
            <a:off x="13400" y="5503790"/>
            <a:ext cx="12191998" cy="1298174"/>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Calibri (body)"/>
            </a:endParaRPr>
          </a:p>
        </p:txBody>
      </p:sp>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1 – Prêt à taux fixe : Détermination des marges futures </a:t>
            </a:r>
          </a:p>
        </p:txBody>
      </p:sp>
      <p:cxnSp>
        <p:nvCxnSpPr>
          <p:cNvPr id="4" name="Straight Arrow Connector 3">
            <a:extLst>
              <a:ext uri="{FF2B5EF4-FFF2-40B4-BE49-F238E27FC236}">
                <a16:creationId xmlns:a16="http://schemas.microsoft.com/office/drawing/2014/main" id="{2ED104B1-BB2C-FC38-891F-B42AD6658464}"/>
              </a:ext>
            </a:extLst>
          </p:cNvPr>
          <p:cNvCxnSpPr/>
          <p:nvPr/>
        </p:nvCxnSpPr>
        <p:spPr>
          <a:xfrm>
            <a:off x="897312" y="1785453"/>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7C8C868E-5BFA-BBBA-90BA-DF017F7F9738}"/>
              </a:ext>
            </a:extLst>
          </p:cNvPr>
          <p:cNvSpPr/>
          <p:nvPr/>
        </p:nvSpPr>
        <p:spPr>
          <a:xfrm>
            <a:off x="897312" y="1476242"/>
            <a:ext cx="2781463"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1</a:t>
            </a:r>
          </a:p>
        </p:txBody>
      </p:sp>
      <p:sp>
        <p:nvSpPr>
          <p:cNvPr id="6" name="TextBox 5">
            <a:extLst>
              <a:ext uri="{FF2B5EF4-FFF2-40B4-BE49-F238E27FC236}">
                <a16:creationId xmlns:a16="http://schemas.microsoft.com/office/drawing/2014/main" id="{5856CFCE-5E3A-D125-406F-BAC8FF76B740}"/>
              </a:ext>
            </a:extLst>
          </p:cNvPr>
          <p:cNvSpPr txBox="1"/>
          <p:nvPr/>
        </p:nvSpPr>
        <p:spPr>
          <a:xfrm>
            <a:off x="742049" y="1820671"/>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31.12.23</a:t>
            </a:r>
          </a:p>
        </p:txBody>
      </p:sp>
      <p:sp>
        <p:nvSpPr>
          <p:cNvPr id="7" name="TextBox 6">
            <a:extLst>
              <a:ext uri="{FF2B5EF4-FFF2-40B4-BE49-F238E27FC236}">
                <a16:creationId xmlns:a16="http://schemas.microsoft.com/office/drawing/2014/main" id="{4D62C75A-B35C-F93E-CBC1-D38DB8B7886B}"/>
              </a:ext>
            </a:extLst>
          </p:cNvPr>
          <p:cNvSpPr txBox="1"/>
          <p:nvPr/>
        </p:nvSpPr>
        <p:spPr>
          <a:xfrm>
            <a:off x="3420577" y="1821011"/>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31.03.25</a:t>
            </a:r>
          </a:p>
        </p:txBody>
      </p:sp>
      <p:sp>
        <p:nvSpPr>
          <p:cNvPr id="8" name="TextBox 7">
            <a:extLst>
              <a:ext uri="{FF2B5EF4-FFF2-40B4-BE49-F238E27FC236}">
                <a16:creationId xmlns:a16="http://schemas.microsoft.com/office/drawing/2014/main" id="{030A667F-1636-9D87-E02B-C5457E0D3E52}"/>
              </a:ext>
            </a:extLst>
          </p:cNvPr>
          <p:cNvSpPr txBox="1"/>
          <p:nvPr/>
        </p:nvSpPr>
        <p:spPr>
          <a:xfrm>
            <a:off x="6079369" y="1832613"/>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30.06.26</a:t>
            </a:r>
          </a:p>
        </p:txBody>
      </p:sp>
      <p:sp>
        <p:nvSpPr>
          <p:cNvPr id="9" name="TextBox 8">
            <a:extLst>
              <a:ext uri="{FF2B5EF4-FFF2-40B4-BE49-F238E27FC236}">
                <a16:creationId xmlns:a16="http://schemas.microsoft.com/office/drawing/2014/main" id="{4CED33AA-4A57-72F9-D38F-68C19B2F7CB8}"/>
              </a:ext>
            </a:extLst>
          </p:cNvPr>
          <p:cNvSpPr txBox="1"/>
          <p:nvPr/>
        </p:nvSpPr>
        <p:spPr>
          <a:xfrm>
            <a:off x="8857963" y="181953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30.09.27</a:t>
            </a:r>
          </a:p>
        </p:txBody>
      </p:sp>
      <p:sp>
        <p:nvSpPr>
          <p:cNvPr id="10" name="TextBox 9">
            <a:extLst>
              <a:ext uri="{FF2B5EF4-FFF2-40B4-BE49-F238E27FC236}">
                <a16:creationId xmlns:a16="http://schemas.microsoft.com/office/drawing/2014/main" id="{41AAB761-33AD-D22A-8C14-38B082B5475D}"/>
              </a:ext>
            </a:extLst>
          </p:cNvPr>
          <p:cNvSpPr txBox="1"/>
          <p:nvPr/>
        </p:nvSpPr>
        <p:spPr>
          <a:xfrm>
            <a:off x="9712863" y="181953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31.12.27</a:t>
            </a:r>
          </a:p>
        </p:txBody>
      </p:sp>
      <p:sp>
        <p:nvSpPr>
          <p:cNvPr id="11" name="TextBox 10">
            <a:extLst>
              <a:ext uri="{FF2B5EF4-FFF2-40B4-BE49-F238E27FC236}">
                <a16:creationId xmlns:a16="http://schemas.microsoft.com/office/drawing/2014/main" id="{1E359CFA-F393-7A4F-4CE4-70940A9DBAF5}"/>
              </a:ext>
            </a:extLst>
          </p:cNvPr>
          <p:cNvSpPr txBox="1"/>
          <p:nvPr/>
        </p:nvSpPr>
        <p:spPr>
          <a:xfrm>
            <a:off x="2632049" y="1825757"/>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31.12.24</a:t>
            </a:r>
          </a:p>
        </p:txBody>
      </p:sp>
      <p:sp>
        <p:nvSpPr>
          <p:cNvPr id="12" name="Rectangle 11">
            <a:extLst>
              <a:ext uri="{FF2B5EF4-FFF2-40B4-BE49-F238E27FC236}">
                <a16:creationId xmlns:a16="http://schemas.microsoft.com/office/drawing/2014/main" id="{D8058415-9759-10AE-3366-3682EA555633}"/>
              </a:ext>
            </a:extLst>
          </p:cNvPr>
          <p:cNvSpPr/>
          <p:nvPr/>
        </p:nvSpPr>
        <p:spPr>
          <a:xfrm>
            <a:off x="3828469" y="1476241"/>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2</a:t>
            </a:r>
          </a:p>
        </p:txBody>
      </p:sp>
      <p:sp>
        <p:nvSpPr>
          <p:cNvPr id="13" name="Rectangle 12">
            <a:extLst>
              <a:ext uri="{FF2B5EF4-FFF2-40B4-BE49-F238E27FC236}">
                <a16:creationId xmlns:a16="http://schemas.microsoft.com/office/drawing/2014/main" id="{D1D5B1AF-D45F-8245-EEAC-F91192AAAB1F}"/>
              </a:ext>
            </a:extLst>
          </p:cNvPr>
          <p:cNvSpPr/>
          <p:nvPr/>
        </p:nvSpPr>
        <p:spPr>
          <a:xfrm>
            <a:off x="6607063" y="1476240"/>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3</a:t>
            </a:r>
          </a:p>
        </p:txBody>
      </p:sp>
      <p:sp>
        <p:nvSpPr>
          <p:cNvPr id="14" name="Rectangle 13">
            <a:extLst>
              <a:ext uri="{FF2B5EF4-FFF2-40B4-BE49-F238E27FC236}">
                <a16:creationId xmlns:a16="http://schemas.microsoft.com/office/drawing/2014/main" id="{B0F87A1A-7549-21CC-ADAB-22E27E3C5163}"/>
              </a:ext>
            </a:extLst>
          </p:cNvPr>
          <p:cNvSpPr/>
          <p:nvPr/>
        </p:nvSpPr>
        <p:spPr>
          <a:xfrm>
            <a:off x="9385530" y="1469690"/>
            <a:ext cx="2628900"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Marge 4</a:t>
            </a:r>
          </a:p>
        </p:txBody>
      </p:sp>
      <p:sp>
        <p:nvSpPr>
          <p:cNvPr id="15" name="Rectangle 14">
            <a:extLst>
              <a:ext uri="{FF2B5EF4-FFF2-40B4-BE49-F238E27FC236}">
                <a16:creationId xmlns:a16="http://schemas.microsoft.com/office/drawing/2014/main" id="{7F905BB2-8EBB-F74B-13D4-EDAC2C2C18F2}"/>
              </a:ext>
            </a:extLst>
          </p:cNvPr>
          <p:cNvSpPr/>
          <p:nvPr/>
        </p:nvSpPr>
        <p:spPr>
          <a:xfrm>
            <a:off x="10015222" y="1468203"/>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16" name="Rectangle 15">
            <a:extLst>
              <a:ext uri="{FF2B5EF4-FFF2-40B4-BE49-F238E27FC236}">
                <a16:creationId xmlns:a16="http://schemas.microsoft.com/office/drawing/2014/main" id="{6F924E57-45FD-8983-5E7B-46663AAEED82}"/>
              </a:ext>
            </a:extLst>
          </p:cNvPr>
          <p:cNvSpPr/>
          <p:nvPr/>
        </p:nvSpPr>
        <p:spPr>
          <a:xfrm>
            <a:off x="898527" y="1476240"/>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17" name="Rectangle 16">
            <a:extLst>
              <a:ext uri="{FF2B5EF4-FFF2-40B4-BE49-F238E27FC236}">
                <a16:creationId xmlns:a16="http://schemas.microsoft.com/office/drawing/2014/main" id="{A8B3AE4B-0484-2022-3DF6-916771E4189E}"/>
              </a:ext>
            </a:extLst>
          </p:cNvPr>
          <p:cNvSpPr/>
          <p:nvPr/>
        </p:nvSpPr>
        <p:spPr>
          <a:xfrm>
            <a:off x="1336049" y="1195815"/>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1</a:t>
            </a:r>
          </a:p>
        </p:txBody>
      </p:sp>
      <p:sp>
        <p:nvSpPr>
          <p:cNvPr id="18" name="Rectangle 17">
            <a:extLst>
              <a:ext uri="{FF2B5EF4-FFF2-40B4-BE49-F238E27FC236}">
                <a16:creationId xmlns:a16="http://schemas.microsoft.com/office/drawing/2014/main" id="{90B9C984-94BF-9535-FDD8-CB9739E3A0E2}"/>
              </a:ext>
            </a:extLst>
          </p:cNvPr>
          <p:cNvSpPr/>
          <p:nvPr/>
        </p:nvSpPr>
        <p:spPr>
          <a:xfrm>
            <a:off x="3828469" y="1184622"/>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2</a:t>
            </a:r>
          </a:p>
        </p:txBody>
      </p:sp>
      <p:sp>
        <p:nvSpPr>
          <p:cNvPr id="19" name="Rectangle 18">
            <a:extLst>
              <a:ext uri="{FF2B5EF4-FFF2-40B4-BE49-F238E27FC236}">
                <a16:creationId xmlns:a16="http://schemas.microsoft.com/office/drawing/2014/main" id="{217B3709-CA34-AE7B-2528-FF9F32AD2696}"/>
              </a:ext>
            </a:extLst>
          </p:cNvPr>
          <p:cNvSpPr/>
          <p:nvPr/>
        </p:nvSpPr>
        <p:spPr>
          <a:xfrm>
            <a:off x="6607063" y="1184622"/>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3</a:t>
            </a:r>
          </a:p>
        </p:txBody>
      </p:sp>
      <p:sp>
        <p:nvSpPr>
          <p:cNvPr id="20" name="Rectangle 19">
            <a:extLst>
              <a:ext uri="{FF2B5EF4-FFF2-40B4-BE49-F238E27FC236}">
                <a16:creationId xmlns:a16="http://schemas.microsoft.com/office/drawing/2014/main" id="{893E59A3-2444-FCF3-1A76-B9F6E8FA561D}"/>
              </a:ext>
            </a:extLst>
          </p:cNvPr>
          <p:cNvSpPr/>
          <p:nvPr/>
        </p:nvSpPr>
        <p:spPr>
          <a:xfrm>
            <a:off x="9385530" y="1178071"/>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4</a:t>
            </a:r>
          </a:p>
        </p:txBody>
      </p:sp>
      <p:sp>
        <p:nvSpPr>
          <p:cNvPr id="21" name="Rectangle 20">
            <a:extLst>
              <a:ext uri="{FF2B5EF4-FFF2-40B4-BE49-F238E27FC236}">
                <a16:creationId xmlns:a16="http://schemas.microsoft.com/office/drawing/2014/main" id="{D80A4CCC-A96F-82EF-CCA8-331A1100272E}"/>
              </a:ext>
            </a:extLst>
          </p:cNvPr>
          <p:cNvSpPr/>
          <p:nvPr/>
        </p:nvSpPr>
        <p:spPr>
          <a:xfrm>
            <a:off x="10015222" y="1176584"/>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22" name="Rectangle 21">
            <a:extLst>
              <a:ext uri="{FF2B5EF4-FFF2-40B4-BE49-F238E27FC236}">
                <a16:creationId xmlns:a16="http://schemas.microsoft.com/office/drawing/2014/main" id="{F2F78C01-E69C-C57D-413C-4D677F5B5472}"/>
              </a:ext>
            </a:extLst>
          </p:cNvPr>
          <p:cNvSpPr/>
          <p:nvPr/>
        </p:nvSpPr>
        <p:spPr>
          <a:xfrm>
            <a:off x="898527" y="1184621"/>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23" name="TextBox 22">
            <a:extLst>
              <a:ext uri="{FF2B5EF4-FFF2-40B4-BE49-F238E27FC236}">
                <a16:creationId xmlns:a16="http://schemas.microsoft.com/office/drawing/2014/main" id="{8361FFA0-5095-9E22-6D58-1DB35726B534}"/>
              </a:ext>
            </a:extLst>
          </p:cNvPr>
          <p:cNvSpPr txBox="1"/>
          <p:nvPr/>
        </p:nvSpPr>
        <p:spPr>
          <a:xfrm>
            <a:off x="79938" y="1098871"/>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Taux</a:t>
            </a:r>
          </a:p>
        </p:txBody>
      </p:sp>
      <p:sp>
        <p:nvSpPr>
          <p:cNvPr id="24" name="TextBox 23">
            <a:extLst>
              <a:ext uri="{FF2B5EF4-FFF2-40B4-BE49-F238E27FC236}">
                <a16:creationId xmlns:a16="http://schemas.microsoft.com/office/drawing/2014/main" id="{10266E3B-B7BC-8D6B-EDC3-0155A9E5ABB9}"/>
              </a:ext>
            </a:extLst>
          </p:cNvPr>
          <p:cNvSpPr txBox="1"/>
          <p:nvPr/>
        </p:nvSpPr>
        <p:spPr>
          <a:xfrm>
            <a:off x="74088" y="1430842"/>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Marge</a:t>
            </a:r>
          </a:p>
        </p:txBody>
      </p:sp>
      <p:sp>
        <p:nvSpPr>
          <p:cNvPr id="25" name="ZoneTexte 16">
            <a:extLst>
              <a:ext uri="{FF2B5EF4-FFF2-40B4-BE49-F238E27FC236}">
                <a16:creationId xmlns:a16="http://schemas.microsoft.com/office/drawing/2014/main" id="{9C6AF4D2-C780-8B36-7026-314EE80B947E}"/>
              </a:ext>
            </a:extLst>
          </p:cNvPr>
          <p:cNvSpPr txBox="1"/>
          <p:nvPr/>
        </p:nvSpPr>
        <p:spPr>
          <a:xfrm>
            <a:off x="660041" y="2180033"/>
            <a:ext cx="10838656" cy="4136687"/>
          </a:xfrm>
          <a:prstGeom prst="rect">
            <a:avLst/>
          </a:prstGeom>
          <a:solidFill>
            <a:schemeClr val="accent2">
              <a:lumMod val="20000"/>
              <a:lumOff val="80000"/>
            </a:schemeClr>
          </a:solidFill>
          <a:ln>
            <a:solidFill>
              <a:schemeClr val="accent2"/>
            </a:solidFill>
          </a:ln>
        </p:spPr>
        <p:txBody>
          <a:bodyPr wrap="square">
            <a:noAutofit/>
          </a:bodyPr>
          <a:lstStyle/>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100" b="1" i="0" u="none" strike="noStrike" kern="1200" cap="none" spc="0" normalizeH="0" baseline="0" noProof="0" dirty="0">
                <a:ln>
                  <a:noFill/>
                </a:ln>
                <a:solidFill>
                  <a:srgbClr val="6437FF"/>
                </a:solidFill>
                <a:effectLst/>
                <a:uLnTx/>
                <a:uFillTx/>
                <a:latin typeface="Calibri (body)"/>
                <a:ea typeface="Times New Roman" panose="02020603050405020304" pitchFamily="18" charset="0"/>
                <a:cs typeface="+mn-cs"/>
              </a:rPr>
              <a:t>Pour marge 2 </a:t>
            </a:r>
            <a:r>
              <a:rPr kumimoji="0" lang="fr-FR" sz="1100" b="1"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 </a:t>
            </a: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Le texte mentionne pour les actifs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Soit  dans cet exemple, pour Marge 2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Pour une contrepartie « Non </a:t>
            </a:r>
            <a:r>
              <a:rPr kumimoji="0" lang="fr-FR" sz="1100" b="0" i="0" u="none" strike="noStrike" kern="1200" cap="none" spc="0" normalizeH="0" baseline="0" noProof="0" dirty="0" err="1">
                <a:ln>
                  <a:noFill/>
                </a:ln>
                <a:solidFill>
                  <a:srgbClr val="000000"/>
                </a:solidFill>
                <a:effectLst/>
                <a:uLnTx/>
                <a:uFillTx/>
                <a:latin typeface="Calibri (body)"/>
                <a:ea typeface="Times New Roman" panose="02020603050405020304" pitchFamily="18" charset="0"/>
                <a:cs typeface="+mn-cs"/>
              </a:rPr>
              <a:t>financial</a:t>
            </a: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 Corporate », le paramètre λ est égal à 0.15. </a:t>
            </a:r>
            <a:r>
              <a:rPr kumimoji="0" lang="fr-FR" sz="1100" b="1"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On supposera que la marge des nouveaux encours sur 2024 est égale à</a:t>
            </a:r>
            <a:r>
              <a:rPr kumimoji="0" lang="fr-FR" sz="1100" b="1" i="1"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 Marge 1</a:t>
            </a:r>
            <a:r>
              <a:rPr kumimoji="0" lang="fr-FR" sz="1100" b="0" i="1"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 </a:t>
            </a: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soit 40bp.</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rPr>
              <a:t>Ainsi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Times New Roman" panose="02020603050405020304" pitchFamily="18" charset="0"/>
              <a:cs typeface="+mn-cs"/>
            </a:endParaRPr>
          </a:p>
        </p:txBody>
      </p:sp>
      <p:sp>
        <p:nvSpPr>
          <p:cNvPr id="26" name="TextBox 25">
            <a:extLst>
              <a:ext uri="{FF2B5EF4-FFF2-40B4-BE49-F238E27FC236}">
                <a16:creationId xmlns:a16="http://schemas.microsoft.com/office/drawing/2014/main" id="{522F63A3-405D-4459-B70E-8553FFA3D6BA}"/>
              </a:ext>
            </a:extLst>
          </p:cNvPr>
          <p:cNvSpPr txBox="1"/>
          <p:nvPr/>
        </p:nvSpPr>
        <p:spPr>
          <a:xfrm>
            <a:off x="1147672" y="2500882"/>
            <a:ext cx="9754328" cy="928118"/>
          </a:xfrm>
          <a:prstGeom prst="rect">
            <a:avLst/>
          </a:prstGeom>
          <a:noFill/>
          <a:ln>
            <a:solidFill>
              <a:schemeClr val="tx1"/>
            </a:solidFill>
          </a:ln>
        </p:spPr>
        <p:txBody>
          <a:bodyPr wrap="square" rtlCol="0">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The margin component shall be based on the margin new business (margin of the instruments that were originated in 2024 and which were on the balance sheet at the end of the year) and will be projected with the following constraints :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Where λ differs for the type of counterparty, and </a:t>
            </a:r>
            <a:r>
              <a:rPr kumimoji="0" lang="el-GR"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Δ</a:t>
            </a:r>
            <a:r>
              <a:rPr kumimoji="0" lang="fr-FR"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rPr>
              <a:t> sov spread is the différence between the sovereign rate and the risk free rate</a:t>
            </a:r>
            <a:endParaRPr kumimoji="0" lang="en-US" sz="1100" b="0" i="1" u="none" strike="noStrike" kern="1200" cap="none" spc="0" normalizeH="0" baseline="0" noProof="0" dirty="0">
              <a:ln>
                <a:noFill/>
              </a:ln>
              <a:solidFill>
                <a:prstClr val="black"/>
              </a:solidFill>
              <a:effectLst/>
              <a:uLnTx/>
              <a:uFillTx/>
              <a:latin typeface="Calibri (body)"/>
              <a:ea typeface="Calibri" panose="020F0502020204030204" pitchFamily="34" charset="0"/>
              <a:cs typeface="Calibri" panose="020F0502020204030204" pitchFamily="34" charset="0"/>
            </a:endParaRPr>
          </a:p>
        </p:txBody>
      </p:sp>
      <p:pic>
        <p:nvPicPr>
          <p:cNvPr id="27" name="Picture 26">
            <a:extLst>
              <a:ext uri="{FF2B5EF4-FFF2-40B4-BE49-F238E27FC236}">
                <a16:creationId xmlns:a16="http://schemas.microsoft.com/office/drawing/2014/main" id="{86BA0AFA-AE9D-8492-45E3-21D7D50A6756}"/>
              </a:ext>
            </a:extLst>
          </p:cNvPr>
          <p:cNvPicPr>
            <a:picLocks noChangeAspect="1"/>
          </p:cNvPicPr>
          <p:nvPr/>
        </p:nvPicPr>
        <p:blipFill rotWithShape="1">
          <a:blip r:embed="rId2"/>
          <a:srcRect t="34168" b="760"/>
          <a:stretch/>
        </p:blipFill>
        <p:spPr>
          <a:xfrm>
            <a:off x="3997740" y="2920974"/>
            <a:ext cx="4054191" cy="238026"/>
          </a:xfrm>
          <a:prstGeom prst="rect">
            <a:avLst/>
          </a:prstGeom>
        </p:spPr>
      </p:pic>
      <p:graphicFrame>
        <p:nvGraphicFramePr>
          <p:cNvPr id="28" name="Table 27">
            <a:extLst>
              <a:ext uri="{FF2B5EF4-FFF2-40B4-BE49-F238E27FC236}">
                <a16:creationId xmlns:a16="http://schemas.microsoft.com/office/drawing/2014/main" id="{A734ABF9-CB01-9D46-7302-5BCB76C755A1}"/>
              </a:ext>
            </a:extLst>
          </p:cNvPr>
          <p:cNvGraphicFramePr>
            <a:graphicFrameLocks noGrp="1"/>
          </p:cNvGraphicFramePr>
          <p:nvPr/>
        </p:nvGraphicFramePr>
        <p:xfrm>
          <a:off x="759168" y="3823579"/>
          <a:ext cx="6489700" cy="1097280"/>
        </p:xfrm>
        <a:graphic>
          <a:graphicData uri="http://schemas.openxmlformats.org/drawingml/2006/table">
            <a:tbl>
              <a:tblPr>
                <a:tableStyleId>{5C22544A-7EE6-4342-B048-85BDC9FD1C3A}</a:tableStyleId>
              </a:tblPr>
              <a:tblGrid>
                <a:gridCol w="1502832">
                  <a:extLst>
                    <a:ext uri="{9D8B030D-6E8A-4147-A177-3AD203B41FA5}">
                      <a16:colId xmlns:a16="http://schemas.microsoft.com/office/drawing/2014/main" val="1617607656"/>
                    </a:ext>
                  </a:extLst>
                </a:gridCol>
                <a:gridCol w="773000">
                  <a:extLst>
                    <a:ext uri="{9D8B030D-6E8A-4147-A177-3AD203B41FA5}">
                      <a16:colId xmlns:a16="http://schemas.microsoft.com/office/drawing/2014/main" val="3110234048"/>
                    </a:ext>
                  </a:extLst>
                </a:gridCol>
                <a:gridCol w="916058">
                  <a:extLst>
                    <a:ext uri="{9D8B030D-6E8A-4147-A177-3AD203B41FA5}">
                      <a16:colId xmlns:a16="http://schemas.microsoft.com/office/drawing/2014/main" val="2211644078"/>
                    </a:ext>
                  </a:extLst>
                </a:gridCol>
                <a:gridCol w="549635">
                  <a:extLst>
                    <a:ext uri="{9D8B030D-6E8A-4147-A177-3AD203B41FA5}">
                      <a16:colId xmlns:a16="http://schemas.microsoft.com/office/drawing/2014/main" val="769823231"/>
                    </a:ext>
                  </a:extLst>
                </a:gridCol>
                <a:gridCol w="549635">
                  <a:extLst>
                    <a:ext uri="{9D8B030D-6E8A-4147-A177-3AD203B41FA5}">
                      <a16:colId xmlns:a16="http://schemas.microsoft.com/office/drawing/2014/main" val="2983393761"/>
                    </a:ext>
                  </a:extLst>
                </a:gridCol>
                <a:gridCol w="549635">
                  <a:extLst>
                    <a:ext uri="{9D8B030D-6E8A-4147-A177-3AD203B41FA5}">
                      <a16:colId xmlns:a16="http://schemas.microsoft.com/office/drawing/2014/main" val="3915905733"/>
                    </a:ext>
                  </a:extLst>
                </a:gridCol>
                <a:gridCol w="549635">
                  <a:extLst>
                    <a:ext uri="{9D8B030D-6E8A-4147-A177-3AD203B41FA5}">
                      <a16:colId xmlns:a16="http://schemas.microsoft.com/office/drawing/2014/main" val="4190293990"/>
                    </a:ext>
                  </a:extLst>
                </a:gridCol>
                <a:gridCol w="549635">
                  <a:extLst>
                    <a:ext uri="{9D8B030D-6E8A-4147-A177-3AD203B41FA5}">
                      <a16:colId xmlns:a16="http://schemas.microsoft.com/office/drawing/2014/main" val="3126825574"/>
                    </a:ext>
                  </a:extLst>
                </a:gridCol>
                <a:gridCol w="549635">
                  <a:extLst>
                    <a:ext uri="{9D8B030D-6E8A-4147-A177-3AD203B41FA5}">
                      <a16:colId xmlns:a16="http://schemas.microsoft.com/office/drawing/2014/main" val="164507706"/>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Tenor</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point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gridSpan="3">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tc gridSpan="3">
                  <a:txBody>
                    <a:bodyPr/>
                    <a:lstStyle/>
                    <a:p>
                      <a:pPr algn="ct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449581099"/>
                  </a:ext>
                </a:extLst>
              </a:tr>
              <a:tr h="182880">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Data cadrage macro</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2024 – Latest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411976108"/>
                  </a:ext>
                </a:extLst>
              </a:tr>
              <a:tr h="182880">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Swap rates – EUR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10Y</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2,81%</a:t>
                      </a: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2,85%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2,66%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2,43%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4,57%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4,03%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3,60%</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714933764"/>
                  </a:ext>
                </a:extLst>
              </a:tr>
              <a:tr h="182880">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Long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term</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rates – France</a:t>
                      </a: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10Y</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2,63%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2,46%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2,50%</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2,58%</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4,69%</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4,30%</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4,17%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4014010499"/>
                  </a:ext>
                </a:extLst>
              </a:tr>
              <a:tr h="182880">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Sov spread</a:t>
                      </a:r>
                    </a:p>
                  </a:txBody>
                  <a:tcPr marL="7620" marR="7620" marT="7620" marB="0" anchor="b"/>
                </a:tc>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-0,18%</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-0,39%</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-0,16%</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0,17%</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0,08%</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0,27%</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0,57%</a:t>
                      </a:r>
                    </a:p>
                  </a:txBody>
                  <a:tcPr marL="7620" marR="7620" marT="7620" marB="0" anchor="b"/>
                </a:tc>
                <a:extLst>
                  <a:ext uri="{0D108BD9-81ED-4DB2-BD59-A6C34878D82A}">
                    <a16:rowId xmlns:a16="http://schemas.microsoft.com/office/drawing/2014/main" val="2033724575"/>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l-G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Δ</a:t>
                      </a:r>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Sov spread</a:t>
                      </a:r>
                    </a:p>
                  </a:txBody>
                  <a:tcPr marL="7620" marR="7620" marT="7620" marB="0" anchor="b"/>
                </a:tc>
                <a:tc>
                  <a:txBody>
                    <a:bodyPr/>
                    <a:lstStyle/>
                    <a:p>
                      <a:pPr algn="l" fontAlgn="b"/>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-0,21%</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0,02%</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0,35%</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0,26%</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0,45%</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0,65%</a:t>
                      </a:r>
                    </a:p>
                  </a:txBody>
                  <a:tcPr marL="7620" marR="7620" marT="7620" marB="0" anchor="b"/>
                </a:tc>
                <a:extLst>
                  <a:ext uri="{0D108BD9-81ED-4DB2-BD59-A6C34878D82A}">
                    <a16:rowId xmlns:a16="http://schemas.microsoft.com/office/drawing/2014/main" val="1890273008"/>
                  </a:ext>
                </a:extLst>
              </a:tr>
            </a:tbl>
          </a:graphicData>
        </a:graphic>
      </p:graphicFrame>
      <p:graphicFrame>
        <p:nvGraphicFramePr>
          <p:cNvPr id="29" name="Table 28">
            <a:extLst>
              <a:ext uri="{FF2B5EF4-FFF2-40B4-BE49-F238E27FC236}">
                <a16:creationId xmlns:a16="http://schemas.microsoft.com/office/drawing/2014/main" id="{6BF682E8-91AC-B782-5EB2-E6BF9ACE162B}"/>
              </a:ext>
            </a:extLst>
          </p:cNvPr>
          <p:cNvGraphicFramePr>
            <a:graphicFrameLocks noGrp="1"/>
          </p:cNvGraphicFramePr>
          <p:nvPr/>
        </p:nvGraphicFramePr>
        <p:xfrm>
          <a:off x="791756" y="5448734"/>
          <a:ext cx="6438244" cy="731520"/>
        </p:xfrm>
        <a:graphic>
          <a:graphicData uri="http://schemas.openxmlformats.org/drawingml/2006/table">
            <a:tbl>
              <a:tblPr>
                <a:tableStyleId>{5C22544A-7EE6-4342-B048-85BDC9FD1C3A}</a:tableStyleId>
              </a:tblPr>
              <a:tblGrid>
                <a:gridCol w="1910603">
                  <a:extLst>
                    <a:ext uri="{9D8B030D-6E8A-4147-A177-3AD203B41FA5}">
                      <a16:colId xmlns:a16="http://schemas.microsoft.com/office/drawing/2014/main" val="1617607656"/>
                    </a:ext>
                  </a:extLst>
                </a:gridCol>
                <a:gridCol w="982742">
                  <a:extLst>
                    <a:ext uri="{9D8B030D-6E8A-4147-A177-3AD203B41FA5}">
                      <a16:colId xmlns:a16="http://schemas.microsoft.com/office/drawing/2014/main" val="266489559"/>
                    </a:ext>
                  </a:extLst>
                </a:gridCol>
                <a:gridCol w="982742">
                  <a:extLst>
                    <a:ext uri="{9D8B030D-6E8A-4147-A177-3AD203B41FA5}">
                      <a16:colId xmlns:a16="http://schemas.microsoft.com/office/drawing/2014/main" val="3110234048"/>
                    </a:ext>
                  </a:extLst>
                </a:gridCol>
                <a:gridCol w="1164617">
                  <a:extLst>
                    <a:ext uri="{9D8B030D-6E8A-4147-A177-3AD203B41FA5}">
                      <a16:colId xmlns:a16="http://schemas.microsoft.com/office/drawing/2014/main" val="2211644078"/>
                    </a:ext>
                  </a:extLst>
                </a:gridCol>
                <a:gridCol w="698770">
                  <a:extLst>
                    <a:ext uri="{9D8B030D-6E8A-4147-A177-3AD203B41FA5}">
                      <a16:colId xmlns:a16="http://schemas.microsoft.com/office/drawing/2014/main" val="769823231"/>
                    </a:ext>
                  </a:extLst>
                </a:gridCol>
                <a:gridCol w="698770">
                  <a:extLst>
                    <a:ext uri="{9D8B030D-6E8A-4147-A177-3AD203B41FA5}">
                      <a16:colId xmlns:a16="http://schemas.microsoft.com/office/drawing/2014/main" val="4190293990"/>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Year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Margin T0</a:t>
                      </a:r>
                    </a:p>
                  </a:txBody>
                  <a:tcPr marL="7620" marR="7620" marT="7620" marB="0" anchor="b"/>
                </a:tc>
                <a:tc>
                  <a:txBody>
                    <a:bodyPr/>
                    <a:lstStyle/>
                    <a:p>
                      <a:pPr algn="ctr" fontAlgn="b"/>
                      <a:r>
                        <a:rPr kumimoji="0" lang="fr-FR" sz="110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λ</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Baseline</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Adverse</a:t>
                      </a:r>
                    </a:p>
                  </a:txBody>
                  <a:tcPr marL="7620" marR="7620" marT="7620" marB="0" anchor="b"/>
                </a:tc>
                <a:extLst>
                  <a:ext uri="{0D108BD9-81ED-4DB2-BD59-A6C34878D82A}">
                    <a16:rowId xmlns:a16="http://schemas.microsoft.com/office/drawing/2014/main" val="2449581099"/>
                  </a:ext>
                </a:extLst>
              </a:tr>
              <a:tr h="182880">
                <a:tc>
                  <a:txBody>
                    <a:bodyPr/>
                    <a:lstStyle/>
                    <a:p>
                      <a:pPr algn="l" fontAlgn="b"/>
                      <a:r>
                        <a:rPr lang="fr-FR" sz="1100" b="1" u="none" strike="noStrike" dirty="0">
                          <a:effectLst/>
                          <a:latin typeface="Calibri" panose="020F0502020204030204" pitchFamily="34" charset="0"/>
                          <a:ea typeface="Calibri" panose="020F0502020204030204" pitchFamily="34" charset="0"/>
                          <a:cs typeface="Calibri" panose="020F0502020204030204" pitchFamily="34" charset="0"/>
                        </a:rPr>
                        <a:t>Marge 2</a:t>
                      </a:r>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2025</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0.40%</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0.44%</a:t>
                      </a:r>
                    </a:p>
                  </a:txBody>
                  <a:tcPr marL="7620" marR="7620" marT="7620" marB="0" anchor="b"/>
                </a:tc>
                <a:extLst>
                  <a:ext uri="{0D108BD9-81ED-4DB2-BD59-A6C34878D82A}">
                    <a16:rowId xmlns:a16="http://schemas.microsoft.com/office/drawing/2014/main" val="1411976108"/>
                  </a:ext>
                </a:extLst>
              </a:tr>
              <a:tr h="182880">
                <a:tc>
                  <a:txBody>
                    <a:bodyPr/>
                    <a:lstStyle/>
                    <a:p>
                      <a:pPr algn="l" fontAlgn="b"/>
                      <a:r>
                        <a:rPr lang="fr-FR" sz="1100" b="1" u="none" strike="noStrike" dirty="0">
                          <a:effectLst/>
                          <a:latin typeface="Calibri" panose="020F0502020204030204" pitchFamily="34" charset="0"/>
                          <a:ea typeface="Calibri" panose="020F0502020204030204" pitchFamily="34" charset="0"/>
                          <a:cs typeface="Calibri" panose="020F0502020204030204" pitchFamily="34" charset="0"/>
                        </a:rPr>
                        <a:t>Marge 3</a:t>
                      </a:r>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2026</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0.40%</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0.47%</a:t>
                      </a:r>
                    </a:p>
                  </a:txBody>
                  <a:tcPr marL="7620" marR="7620" marT="7620" marB="0" anchor="b"/>
                </a:tc>
                <a:extLst>
                  <a:ext uri="{0D108BD9-81ED-4DB2-BD59-A6C34878D82A}">
                    <a16:rowId xmlns:a16="http://schemas.microsoft.com/office/drawing/2014/main" val="1714933764"/>
                  </a:ext>
                </a:extLst>
              </a:tr>
              <a:tr h="182880">
                <a:tc>
                  <a:txBody>
                    <a:bodyPr/>
                    <a:lstStyle/>
                    <a:p>
                      <a:pPr algn="l"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Marge 4</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2027</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0.45%</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0.50%</a:t>
                      </a:r>
                    </a:p>
                  </a:txBody>
                  <a:tcPr marL="7620" marR="7620" marT="7620" marB="0" anchor="b"/>
                </a:tc>
                <a:extLst>
                  <a:ext uri="{0D108BD9-81ED-4DB2-BD59-A6C34878D82A}">
                    <a16:rowId xmlns:a16="http://schemas.microsoft.com/office/drawing/2014/main" val="4014010499"/>
                  </a:ext>
                </a:extLst>
              </a:tr>
            </a:tbl>
          </a:graphicData>
        </a:graphic>
      </p:graphicFrame>
      <p:sp>
        <p:nvSpPr>
          <p:cNvPr id="30" name="Espace réservé du texte 16">
            <a:extLst>
              <a:ext uri="{FF2B5EF4-FFF2-40B4-BE49-F238E27FC236}">
                <a16:creationId xmlns:a16="http://schemas.microsoft.com/office/drawing/2014/main" id="{7D5366C7-336D-F7C8-B5CB-40BFDC3CFFCE}"/>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143776986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2 – Emprunt à taux révisable</a:t>
            </a:r>
          </a:p>
        </p:txBody>
      </p:sp>
      <p:graphicFrame>
        <p:nvGraphicFramePr>
          <p:cNvPr id="5" name="Table 4">
            <a:extLst>
              <a:ext uri="{FF2B5EF4-FFF2-40B4-BE49-F238E27FC236}">
                <a16:creationId xmlns:a16="http://schemas.microsoft.com/office/drawing/2014/main" id="{9E0DC7CA-8DDB-76E6-550A-CB32E51252FD}"/>
              </a:ext>
            </a:extLst>
          </p:cNvPr>
          <p:cNvGraphicFramePr>
            <a:graphicFrameLocks noGrp="1"/>
          </p:cNvGraphicFramePr>
          <p:nvPr/>
        </p:nvGraphicFramePr>
        <p:xfrm>
          <a:off x="1113024" y="1586998"/>
          <a:ext cx="2628900" cy="2572287"/>
        </p:xfrm>
        <a:graphic>
          <a:graphicData uri="http://schemas.openxmlformats.org/drawingml/2006/table">
            <a:tbl>
              <a:tblPr>
                <a:tableStyleId>{5C22544A-7EE6-4342-B048-85BDC9FD1C3A}</a:tableStyleId>
              </a:tblPr>
              <a:tblGrid>
                <a:gridCol w="1092200">
                  <a:extLst>
                    <a:ext uri="{9D8B030D-6E8A-4147-A177-3AD203B41FA5}">
                      <a16:colId xmlns:a16="http://schemas.microsoft.com/office/drawing/2014/main" val="3042862825"/>
                    </a:ext>
                  </a:extLst>
                </a:gridCol>
                <a:gridCol w="1536700">
                  <a:extLst>
                    <a:ext uri="{9D8B030D-6E8A-4147-A177-3AD203B41FA5}">
                      <a16:colId xmlns:a16="http://schemas.microsoft.com/office/drawing/2014/main" val="3241058480"/>
                    </a:ext>
                  </a:extLst>
                </a:gridCol>
              </a:tblGrid>
              <a:tr h="114185">
                <a:tc>
                  <a:txBody>
                    <a:bodyPr/>
                    <a:lstStyle/>
                    <a:p>
                      <a:pPr algn="l" fontAlgn="b"/>
                      <a:r>
                        <a:rPr lang="fr-FR" sz="1100" u="none" strike="noStrike" dirty="0">
                          <a:solidFill>
                            <a:srgbClr val="FFFFFF"/>
                          </a:solidFill>
                          <a:effectLst/>
                          <a:latin typeface="+mn-lt"/>
                        </a:rPr>
                        <a:t>Caractéristique</a:t>
                      </a:r>
                      <a:endParaRPr lang="fr-FR" sz="1100" b="0" i="0" u="none" strike="noStrike" dirty="0">
                        <a:solidFill>
                          <a:srgbClr val="FFFFFF"/>
                        </a:solidFill>
                        <a:effectLst/>
                        <a:latin typeface="+mn-lt"/>
                      </a:endParaRPr>
                    </a:p>
                  </a:txBody>
                  <a:tcPr marL="7620" marR="7620" marT="7620" marB="0" anchor="b">
                    <a:solidFill>
                      <a:schemeClr val="tx1"/>
                    </a:solidFill>
                  </a:tcPr>
                </a:tc>
                <a:tc>
                  <a:txBody>
                    <a:bodyPr/>
                    <a:lstStyle/>
                    <a:p>
                      <a:pPr algn="ctr" fontAlgn="b"/>
                      <a:r>
                        <a:rPr lang="fr-FR" sz="1100" u="none" strike="noStrike" dirty="0">
                          <a:solidFill>
                            <a:srgbClr val="FFFFFF"/>
                          </a:solidFill>
                          <a:effectLst/>
                          <a:latin typeface="+mn-lt"/>
                        </a:rPr>
                        <a:t>Valeur</a:t>
                      </a:r>
                      <a:endParaRPr lang="fr-FR" sz="1100" b="0" i="0" u="none" strike="noStrike" dirty="0">
                        <a:solidFill>
                          <a:srgbClr val="FFFFFF"/>
                        </a:solidFill>
                        <a:effectLst/>
                        <a:latin typeface="+mn-lt"/>
                      </a:endParaRPr>
                    </a:p>
                  </a:txBody>
                  <a:tcPr marL="7620" marR="7620" marT="7620" marB="0" anchor="b">
                    <a:solidFill>
                      <a:schemeClr val="tx1"/>
                    </a:solidFill>
                  </a:tcPr>
                </a:tc>
                <a:extLst>
                  <a:ext uri="{0D108BD9-81ED-4DB2-BD59-A6C34878D82A}">
                    <a16:rowId xmlns:a16="http://schemas.microsoft.com/office/drawing/2014/main" val="317880372"/>
                  </a:ext>
                </a:extLst>
              </a:tr>
              <a:tr h="182880">
                <a:tc>
                  <a:txBody>
                    <a:bodyPr/>
                    <a:lstStyle/>
                    <a:p>
                      <a:pPr algn="l" fontAlgn="b"/>
                      <a:r>
                        <a:rPr lang="fr-FR" sz="1100" u="none" strike="noStrike" dirty="0">
                          <a:effectLst/>
                          <a:latin typeface="+mn-lt"/>
                        </a:rPr>
                        <a:t>Produit</a:t>
                      </a:r>
                      <a:endParaRPr lang="fr-FR" sz="1100" b="0" i="0" u="none" strike="noStrike" dirty="0">
                        <a:solidFill>
                          <a:srgbClr val="000000"/>
                        </a:solidFill>
                        <a:effectLst/>
                        <a:latin typeface="+mn-lt"/>
                      </a:endParaRPr>
                    </a:p>
                  </a:txBody>
                  <a:tcPr marL="7620" marR="7620" marT="7620" marB="0" anchor="b"/>
                </a:tc>
                <a:tc>
                  <a:txBody>
                    <a:bodyPr/>
                    <a:lstStyle/>
                    <a:p>
                      <a:pPr algn="ctr" fontAlgn="b"/>
                      <a:r>
                        <a:rPr lang="fr-FR" sz="1100" u="none" strike="noStrike" dirty="0">
                          <a:effectLst/>
                          <a:latin typeface="+mn-lt"/>
                        </a:rPr>
                        <a:t>Emprunt</a:t>
                      </a:r>
                      <a:endParaRPr lang="fr-FR" sz="1100" b="0" i="0" u="none" strike="noStrike" dirty="0">
                        <a:solidFill>
                          <a:srgbClr val="000000"/>
                        </a:solidFill>
                        <a:effectLst/>
                        <a:latin typeface="+mn-lt"/>
                      </a:endParaRPr>
                    </a:p>
                  </a:txBody>
                  <a:tcPr marL="7620" marR="7620" marT="7620" marB="0" anchor="b"/>
                </a:tc>
                <a:extLst>
                  <a:ext uri="{0D108BD9-81ED-4DB2-BD59-A6C34878D82A}">
                    <a16:rowId xmlns:a16="http://schemas.microsoft.com/office/drawing/2014/main" val="2270652949"/>
                  </a:ext>
                </a:extLst>
              </a:tr>
              <a:tr h="182880">
                <a:tc>
                  <a:txBody>
                    <a:bodyPr/>
                    <a:lstStyle/>
                    <a:p>
                      <a:pPr algn="l" fontAlgn="b"/>
                      <a:r>
                        <a:rPr lang="fr-FR" sz="1100" u="none" strike="noStrike">
                          <a:effectLst/>
                          <a:latin typeface="+mn-lt"/>
                        </a:rPr>
                        <a:t>Ss-produit</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a:effectLst/>
                          <a:latin typeface="+mn-lt"/>
                        </a:rPr>
                        <a:t>In fine</a:t>
                      </a:r>
                      <a:endParaRPr lang="fr-FR" sz="1100" b="0"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924623812"/>
                  </a:ext>
                </a:extLst>
              </a:tr>
              <a:tr h="202467">
                <a:tc>
                  <a:txBody>
                    <a:bodyPr/>
                    <a:lstStyle/>
                    <a:p>
                      <a:pPr algn="l" fontAlgn="b"/>
                      <a:r>
                        <a:rPr lang="fr-FR" sz="1100" b="1" u="none" strike="noStrike" dirty="0">
                          <a:effectLst/>
                          <a:latin typeface="+mn-lt"/>
                        </a:rPr>
                        <a:t>Value date</a:t>
                      </a:r>
                      <a:endParaRPr lang="fr-FR" sz="1100" b="1" i="0" u="none" strike="noStrike" dirty="0">
                        <a:solidFill>
                          <a:srgbClr val="000000"/>
                        </a:solidFill>
                        <a:effectLst/>
                        <a:latin typeface="+mn-lt"/>
                      </a:endParaRPr>
                    </a:p>
                  </a:txBody>
                  <a:tcPr marL="7620" marR="7620" marT="7620" marB="0" anchor="b"/>
                </a:tc>
                <a:tc>
                  <a:txBody>
                    <a:bodyPr/>
                    <a:lstStyle/>
                    <a:p>
                      <a:pPr algn="ctr" fontAlgn="b"/>
                      <a:r>
                        <a:rPr lang="fr-FR" sz="1100" b="1" u="none" strike="noStrike">
                          <a:effectLst/>
                          <a:latin typeface="+mn-lt"/>
                        </a:rPr>
                        <a:t>31/12/2023</a:t>
                      </a:r>
                      <a:endParaRPr lang="fr-FR" sz="1100" b="1"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1413043668"/>
                  </a:ext>
                </a:extLst>
              </a:tr>
              <a:tr h="182880">
                <a:tc>
                  <a:txBody>
                    <a:bodyPr/>
                    <a:lstStyle/>
                    <a:p>
                      <a:pPr algn="l" fontAlgn="b"/>
                      <a:r>
                        <a:rPr lang="fr-FR" sz="1100" b="1" u="none" strike="noStrike" dirty="0">
                          <a:effectLst/>
                          <a:latin typeface="+mn-lt"/>
                        </a:rPr>
                        <a:t>Maturity date</a:t>
                      </a:r>
                      <a:endParaRPr lang="fr-FR" sz="1100" b="1" i="0" u="none" strike="noStrike" dirty="0">
                        <a:solidFill>
                          <a:srgbClr val="000000"/>
                        </a:solidFill>
                        <a:effectLst/>
                        <a:latin typeface="+mn-lt"/>
                      </a:endParaRPr>
                    </a:p>
                  </a:txBody>
                  <a:tcPr marL="7620" marR="7620" marT="7620" marB="0" anchor="b"/>
                </a:tc>
                <a:tc>
                  <a:txBody>
                    <a:bodyPr/>
                    <a:lstStyle/>
                    <a:p>
                      <a:pPr algn="ctr" fontAlgn="b"/>
                      <a:r>
                        <a:rPr lang="fr-FR" sz="1100" b="1" u="none" strike="noStrike" dirty="0">
                          <a:effectLst/>
                          <a:latin typeface="+mn-lt"/>
                        </a:rPr>
                        <a:t>31/03/2026</a:t>
                      </a:r>
                      <a:endParaRPr lang="fr-FR" sz="1100" b="1" i="0" u="none" strike="noStrike" dirty="0">
                        <a:solidFill>
                          <a:srgbClr val="000000"/>
                        </a:solidFill>
                        <a:effectLst/>
                        <a:latin typeface="+mn-lt"/>
                      </a:endParaRPr>
                    </a:p>
                  </a:txBody>
                  <a:tcPr marL="7620" marR="7620" marT="7620" marB="0" anchor="b"/>
                </a:tc>
                <a:extLst>
                  <a:ext uri="{0D108BD9-81ED-4DB2-BD59-A6C34878D82A}">
                    <a16:rowId xmlns:a16="http://schemas.microsoft.com/office/drawing/2014/main" val="2314595148"/>
                  </a:ext>
                </a:extLst>
              </a:tr>
              <a:tr h="182880">
                <a:tc>
                  <a:txBody>
                    <a:bodyPr/>
                    <a:lstStyle/>
                    <a:p>
                      <a:pPr algn="l" fontAlgn="b"/>
                      <a:r>
                        <a:rPr lang="fr-FR" sz="1100" u="none" strike="noStrike">
                          <a:effectLst/>
                          <a:latin typeface="+mn-lt"/>
                        </a:rPr>
                        <a:t>Contrpartie</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a:effectLst/>
                          <a:latin typeface="+mn-lt"/>
                        </a:rPr>
                        <a:t>Non-financial corporation</a:t>
                      </a:r>
                      <a:endParaRPr lang="fr-FR" sz="1100" b="0"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853942388"/>
                  </a:ext>
                </a:extLst>
              </a:tr>
              <a:tr h="182880">
                <a:tc>
                  <a:txBody>
                    <a:bodyPr/>
                    <a:lstStyle/>
                    <a:p>
                      <a:pPr algn="l" fontAlgn="b"/>
                      <a:r>
                        <a:rPr lang="fr-FR" sz="1100" u="none" strike="noStrike">
                          <a:effectLst/>
                          <a:latin typeface="+mn-lt"/>
                        </a:rPr>
                        <a:t>Devise</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a:effectLst/>
                          <a:latin typeface="+mn-lt"/>
                        </a:rPr>
                        <a:t>EUR</a:t>
                      </a:r>
                      <a:endParaRPr lang="fr-FR" sz="1100" b="0"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1477300222"/>
                  </a:ext>
                </a:extLst>
              </a:tr>
              <a:tr h="182880">
                <a:tc>
                  <a:txBody>
                    <a:bodyPr/>
                    <a:lstStyle/>
                    <a:p>
                      <a:pPr algn="l" fontAlgn="b"/>
                      <a:r>
                        <a:rPr lang="fr-FR" sz="1100" u="none" strike="noStrike">
                          <a:effectLst/>
                          <a:latin typeface="+mn-lt"/>
                        </a:rPr>
                        <a:t>Pays</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a:effectLst/>
                          <a:latin typeface="+mn-lt"/>
                        </a:rPr>
                        <a:t>France</a:t>
                      </a:r>
                      <a:endParaRPr lang="fr-FR" sz="1100" b="0"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2384422577"/>
                  </a:ext>
                </a:extLst>
              </a:tr>
              <a:tr h="182880">
                <a:tc>
                  <a:txBody>
                    <a:bodyPr/>
                    <a:lstStyle/>
                    <a:p>
                      <a:pPr algn="l" fontAlgn="b"/>
                      <a:r>
                        <a:rPr lang="fr-FR" sz="1100" u="none" strike="noStrike" dirty="0">
                          <a:effectLst/>
                          <a:latin typeface="+mn-lt"/>
                        </a:rPr>
                        <a:t>Type de taux</a:t>
                      </a:r>
                      <a:endParaRPr lang="fr-FR" sz="1100" b="0" i="0" u="none" strike="noStrike" dirty="0">
                        <a:solidFill>
                          <a:srgbClr val="000000"/>
                        </a:solidFill>
                        <a:effectLst/>
                        <a:latin typeface="+mn-lt"/>
                      </a:endParaRPr>
                    </a:p>
                  </a:txBody>
                  <a:tcPr marL="7620" marR="7620" marT="7620" marB="0" anchor="b"/>
                </a:tc>
                <a:tc>
                  <a:txBody>
                    <a:bodyPr/>
                    <a:lstStyle/>
                    <a:p>
                      <a:pPr algn="ctr" fontAlgn="b"/>
                      <a:r>
                        <a:rPr lang="fr-FR" sz="1100" u="none" strike="noStrike" dirty="0">
                          <a:effectLst/>
                          <a:latin typeface="+mn-lt"/>
                        </a:rPr>
                        <a:t>Révisable</a:t>
                      </a:r>
                      <a:endParaRPr lang="fr-FR" sz="1100" b="0" i="0" u="none" strike="noStrike" dirty="0">
                        <a:solidFill>
                          <a:srgbClr val="000000"/>
                        </a:solidFill>
                        <a:effectLst/>
                        <a:latin typeface="+mn-lt"/>
                      </a:endParaRPr>
                    </a:p>
                  </a:txBody>
                  <a:tcPr marL="7620" marR="7620" marT="7620" marB="0" anchor="b"/>
                </a:tc>
                <a:extLst>
                  <a:ext uri="{0D108BD9-81ED-4DB2-BD59-A6C34878D82A}">
                    <a16:rowId xmlns:a16="http://schemas.microsoft.com/office/drawing/2014/main" val="2668657570"/>
                  </a:ext>
                </a:extLst>
              </a:tr>
              <a:tr h="182880">
                <a:tc>
                  <a:txBody>
                    <a:bodyPr/>
                    <a:lstStyle/>
                    <a:p>
                      <a:pPr algn="l" fontAlgn="b"/>
                      <a:r>
                        <a:rPr lang="fr-FR" sz="1100" u="none" strike="noStrike" dirty="0">
                          <a:effectLst/>
                          <a:latin typeface="+mn-lt"/>
                        </a:rPr>
                        <a:t>Index de taux</a:t>
                      </a:r>
                      <a:endParaRPr lang="fr-FR" sz="1100" b="0" i="0" u="none" strike="noStrike" dirty="0">
                        <a:solidFill>
                          <a:srgbClr val="000000"/>
                        </a:solidFill>
                        <a:effectLst/>
                        <a:latin typeface="+mn-lt"/>
                      </a:endParaRPr>
                    </a:p>
                  </a:txBody>
                  <a:tcPr marL="7620" marR="7620" marT="7620" marB="0" anchor="b"/>
                </a:tc>
                <a:tc>
                  <a:txBody>
                    <a:bodyPr/>
                    <a:lstStyle/>
                    <a:p>
                      <a:pPr algn="ctr" fontAlgn="b"/>
                      <a:r>
                        <a:rPr lang="fr-FR" sz="1100" b="1" i="0" u="none" strike="noStrike" dirty="0">
                          <a:solidFill>
                            <a:srgbClr val="000000"/>
                          </a:solidFill>
                          <a:effectLst/>
                          <a:latin typeface="+mn-lt"/>
                        </a:rPr>
                        <a:t>EURIBOR</a:t>
                      </a:r>
                    </a:p>
                  </a:txBody>
                  <a:tcPr marL="7620" marR="7620" marT="7620" marB="0" anchor="b"/>
                </a:tc>
                <a:extLst>
                  <a:ext uri="{0D108BD9-81ED-4DB2-BD59-A6C34878D82A}">
                    <a16:rowId xmlns:a16="http://schemas.microsoft.com/office/drawing/2014/main" val="2163763400"/>
                  </a:ext>
                </a:extLst>
              </a:tr>
              <a:tr h="182880">
                <a:tc>
                  <a:txBody>
                    <a:bodyPr/>
                    <a:lstStyle/>
                    <a:p>
                      <a:pPr algn="l" fontAlgn="b"/>
                      <a:r>
                        <a:rPr lang="fr-FR" sz="1100" u="none" strike="noStrike">
                          <a:effectLst/>
                          <a:latin typeface="+mn-lt"/>
                        </a:rPr>
                        <a:t>Marge</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dirty="0">
                          <a:effectLst/>
                          <a:latin typeface="+mn-lt"/>
                        </a:rPr>
                        <a:t>0,20%</a:t>
                      </a:r>
                      <a:endParaRPr lang="fr-FR" sz="1100" b="0" i="0" u="none" strike="noStrike" dirty="0">
                        <a:solidFill>
                          <a:srgbClr val="000000"/>
                        </a:solidFill>
                        <a:effectLst/>
                        <a:latin typeface="+mn-lt"/>
                      </a:endParaRPr>
                    </a:p>
                  </a:txBody>
                  <a:tcPr marL="7620" marR="7620" marT="7620" marB="0" anchor="b"/>
                </a:tc>
                <a:extLst>
                  <a:ext uri="{0D108BD9-81ED-4DB2-BD59-A6C34878D82A}">
                    <a16:rowId xmlns:a16="http://schemas.microsoft.com/office/drawing/2014/main" val="2129066204"/>
                  </a:ext>
                </a:extLst>
              </a:tr>
              <a:tr h="182880">
                <a:tc>
                  <a:txBody>
                    <a:bodyPr/>
                    <a:lstStyle/>
                    <a:p>
                      <a:pPr algn="l" fontAlgn="b"/>
                      <a:r>
                        <a:rPr lang="fr-FR" sz="1100" u="none" strike="noStrike">
                          <a:effectLst/>
                          <a:latin typeface="+mn-lt"/>
                        </a:rPr>
                        <a:t>date de fixing</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b="1" i="0" u="none" strike="noStrike" dirty="0" err="1">
                          <a:solidFill>
                            <a:srgbClr val="000000"/>
                          </a:solidFill>
                          <a:effectLst/>
                          <a:latin typeface="+mn-lt"/>
                        </a:rPr>
                        <a:t>Every</a:t>
                      </a:r>
                      <a:r>
                        <a:rPr lang="fr-FR" sz="1100" b="1" i="0" u="none" strike="noStrike" dirty="0">
                          <a:solidFill>
                            <a:srgbClr val="000000"/>
                          </a:solidFill>
                          <a:effectLst/>
                          <a:latin typeface="+mn-lt"/>
                        </a:rPr>
                        <a:t> 3 month</a:t>
                      </a:r>
                    </a:p>
                  </a:txBody>
                  <a:tcPr marL="7620" marR="7620" marT="7620" marB="0" anchor="b"/>
                </a:tc>
                <a:extLst>
                  <a:ext uri="{0D108BD9-81ED-4DB2-BD59-A6C34878D82A}">
                    <a16:rowId xmlns:a16="http://schemas.microsoft.com/office/drawing/2014/main" val="4173249553"/>
                  </a:ext>
                </a:extLst>
              </a:tr>
              <a:tr h="182880">
                <a:tc>
                  <a:txBody>
                    <a:bodyPr/>
                    <a:lstStyle/>
                    <a:p>
                      <a:pPr algn="l" fontAlgn="b"/>
                      <a:r>
                        <a:rPr lang="fr-FR" sz="1100" u="none" strike="noStrike">
                          <a:effectLst/>
                          <a:latin typeface="+mn-lt"/>
                        </a:rPr>
                        <a:t>Capital</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a:effectLst/>
                          <a:latin typeface="+mn-lt"/>
                        </a:rPr>
                        <a:t>100</a:t>
                      </a:r>
                      <a:endParaRPr lang="fr-FR" sz="1100" b="0" i="0" u="none" strike="noStrike">
                        <a:solidFill>
                          <a:srgbClr val="000000"/>
                        </a:solidFill>
                        <a:effectLst/>
                        <a:latin typeface="+mn-lt"/>
                      </a:endParaRPr>
                    </a:p>
                  </a:txBody>
                  <a:tcPr marL="7620" marR="7620" marT="7620" marB="0" anchor="b"/>
                </a:tc>
                <a:extLst>
                  <a:ext uri="{0D108BD9-81ED-4DB2-BD59-A6C34878D82A}">
                    <a16:rowId xmlns:a16="http://schemas.microsoft.com/office/drawing/2014/main" val="4093349665"/>
                  </a:ext>
                </a:extLst>
              </a:tr>
              <a:tr h="182880">
                <a:tc>
                  <a:txBody>
                    <a:bodyPr/>
                    <a:lstStyle/>
                    <a:p>
                      <a:pPr algn="l" fontAlgn="b"/>
                      <a:r>
                        <a:rPr lang="fr-FR" sz="1100" u="none" strike="noStrike">
                          <a:effectLst/>
                          <a:latin typeface="+mn-lt"/>
                        </a:rPr>
                        <a:t>Performing</a:t>
                      </a:r>
                      <a:endParaRPr lang="fr-FR" sz="1100" b="0" i="0" u="none" strike="noStrike">
                        <a:solidFill>
                          <a:srgbClr val="000000"/>
                        </a:solidFill>
                        <a:effectLst/>
                        <a:latin typeface="+mn-lt"/>
                      </a:endParaRPr>
                    </a:p>
                  </a:txBody>
                  <a:tcPr marL="7620" marR="7620" marT="7620" marB="0" anchor="b"/>
                </a:tc>
                <a:tc>
                  <a:txBody>
                    <a:bodyPr/>
                    <a:lstStyle/>
                    <a:p>
                      <a:pPr algn="ctr" fontAlgn="b"/>
                      <a:r>
                        <a:rPr lang="fr-FR" sz="1100" u="none" strike="noStrike" dirty="0">
                          <a:effectLst/>
                          <a:latin typeface="+mn-lt"/>
                        </a:rPr>
                        <a:t>Yes</a:t>
                      </a:r>
                      <a:endParaRPr lang="fr-FR" sz="1100" b="0" i="0" u="none" strike="noStrike" dirty="0">
                        <a:solidFill>
                          <a:srgbClr val="000000"/>
                        </a:solidFill>
                        <a:effectLst/>
                        <a:latin typeface="+mn-lt"/>
                      </a:endParaRPr>
                    </a:p>
                  </a:txBody>
                  <a:tcPr marL="7620" marR="7620" marT="7620" marB="0" anchor="b"/>
                </a:tc>
                <a:extLst>
                  <a:ext uri="{0D108BD9-81ED-4DB2-BD59-A6C34878D82A}">
                    <a16:rowId xmlns:a16="http://schemas.microsoft.com/office/drawing/2014/main" val="2914817019"/>
                  </a:ext>
                </a:extLst>
              </a:tr>
            </a:tbl>
          </a:graphicData>
        </a:graphic>
      </p:graphicFrame>
      <p:cxnSp>
        <p:nvCxnSpPr>
          <p:cNvPr id="6" name="Straight Arrow Connector 5">
            <a:extLst>
              <a:ext uri="{FF2B5EF4-FFF2-40B4-BE49-F238E27FC236}">
                <a16:creationId xmlns:a16="http://schemas.microsoft.com/office/drawing/2014/main" id="{0F59B0B6-1700-6EA9-DB44-92C78BB243CB}"/>
              </a:ext>
            </a:extLst>
          </p:cNvPr>
          <p:cNvCxnSpPr/>
          <p:nvPr/>
        </p:nvCxnSpPr>
        <p:spPr>
          <a:xfrm>
            <a:off x="817374" y="5495514"/>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7FDCF7D0-65B2-1E23-9844-CB8750D96565}"/>
              </a:ext>
            </a:extLst>
          </p:cNvPr>
          <p:cNvSpPr/>
          <p:nvPr/>
        </p:nvSpPr>
        <p:spPr>
          <a:xfrm>
            <a:off x="817374" y="5186304"/>
            <a:ext cx="5560057" cy="238182"/>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                                                                                            Marge 1 </a:t>
            </a:r>
          </a:p>
        </p:txBody>
      </p:sp>
      <p:sp>
        <p:nvSpPr>
          <p:cNvPr id="8" name="TextBox 7">
            <a:extLst>
              <a:ext uri="{FF2B5EF4-FFF2-40B4-BE49-F238E27FC236}">
                <a16:creationId xmlns:a16="http://schemas.microsoft.com/office/drawing/2014/main" id="{3F78EAFA-43BF-D348-23E0-6F1803EBF736}"/>
              </a:ext>
            </a:extLst>
          </p:cNvPr>
          <p:cNvSpPr txBox="1"/>
          <p:nvPr/>
        </p:nvSpPr>
        <p:spPr>
          <a:xfrm>
            <a:off x="662111" y="5530732"/>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31.12.23</a:t>
            </a:r>
          </a:p>
        </p:txBody>
      </p:sp>
      <p:sp>
        <p:nvSpPr>
          <p:cNvPr id="9" name="TextBox 8">
            <a:extLst>
              <a:ext uri="{FF2B5EF4-FFF2-40B4-BE49-F238E27FC236}">
                <a16:creationId xmlns:a16="http://schemas.microsoft.com/office/drawing/2014/main" id="{6DD58B58-AD09-4B0D-1AE7-634E9D2E0189}"/>
              </a:ext>
            </a:extLst>
          </p:cNvPr>
          <p:cNvSpPr txBox="1"/>
          <p:nvPr/>
        </p:nvSpPr>
        <p:spPr>
          <a:xfrm>
            <a:off x="5999431" y="5542674"/>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30.06.26</a:t>
            </a:r>
          </a:p>
        </p:txBody>
      </p:sp>
      <p:sp>
        <p:nvSpPr>
          <p:cNvPr id="10" name="TextBox 9">
            <a:extLst>
              <a:ext uri="{FF2B5EF4-FFF2-40B4-BE49-F238E27FC236}">
                <a16:creationId xmlns:a16="http://schemas.microsoft.com/office/drawing/2014/main" id="{3D810DB7-2F0E-D07C-DC1A-3B661C0E5E76}"/>
              </a:ext>
            </a:extLst>
          </p:cNvPr>
          <p:cNvSpPr txBox="1"/>
          <p:nvPr/>
        </p:nvSpPr>
        <p:spPr>
          <a:xfrm>
            <a:off x="9632925" y="5529591"/>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31.12.27</a:t>
            </a:r>
          </a:p>
        </p:txBody>
      </p:sp>
      <p:sp>
        <p:nvSpPr>
          <p:cNvPr id="11" name="TextBox 10">
            <a:extLst>
              <a:ext uri="{FF2B5EF4-FFF2-40B4-BE49-F238E27FC236}">
                <a16:creationId xmlns:a16="http://schemas.microsoft.com/office/drawing/2014/main" id="{73A60163-2F18-DE74-4D2F-E955BB9A2582}"/>
              </a:ext>
            </a:extLst>
          </p:cNvPr>
          <p:cNvSpPr txBox="1"/>
          <p:nvPr/>
        </p:nvSpPr>
        <p:spPr>
          <a:xfrm>
            <a:off x="2552111" y="5535818"/>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31.12.24</a:t>
            </a:r>
          </a:p>
        </p:txBody>
      </p:sp>
      <p:sp>
        <p:nvSpPr>
          <p:cNvPr id="12" name="Rectangle 11">
            <a:extLst>
              <a:ext uri="{FF2B5EF4-FFF2-40B4-BE49-F238E27FC236}">
                <a16:creationId xmlns:a16="http://schemas.microsoft.com/office/drawing/2014/main" id="{6B131255-0373-7D65-559E-1DA14FC5308D}"/>
              </a:ext>
            </a:extLst>
          </p:cNvPr>
          <p:cNvSpPr/>
          <p:nvPr/>
        </p:nvSpPr>
        <p:spPr>
          <a:xfrm>
            <a:off x="6527124" y="5186301"/>
            <a:ext cx="5407367"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                                                                     Marge 2                 </a:t>
            </a:r>
          </a:p>
        </p:txBody>
      </p:sp>
      <p:sp>
        <p:nvSpPr>
          <p:cNvPr id="13" name="Rectangle 12">
            <a:extLst>
              <a:ext uri="{FF2B5EF4-FFF2-40B4-BE49-F238E27FC236}">
                <a16:creationId xmlns:a16="http://schemas.microsoft.com/office/drawing/2014/main" id="{C5222BC3-8B4B-A2D7-7395-99DE1DA91246}"/>
              </a:ext>
            </a:extLst>
          </p:cNvPr>
          <p:cNvSpPr/>
          <p:nvPr/>
        </p:nvSpPr>
        <p:spPr>
          <a:xfrm>
            <a:off x="9935284" y="5178264"/>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14" name="Rectangle 13">
            <a:extLst>
              <a:ext uri="{FF2B5EF4-FFF2-40B4-BE49-F238E27FC236}">
                <a16:creationId xmlns:a16="http://schemas.microsoft.com/office/drawing/2014/main" id="{63A215A9-FF00-C231-0969-366D6D72F076}"/>
              </a:ext>
            </a:extLst>
          </p:cNvPr>
          <p:cNvSpPr/>
          <p:nvPr/>
        </p:nvSpPr>
        <p:spPr>
          <a:xfrm>
            <a:off x="818589" y="5186301"/>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15" name="Rectangle 14">
            <a:extLst>
              <a:ext uri="{FF2B5EF4-FFF2-40B4-BE49-F238E27FC236}">
                <a16:creationId xmlns:a16="http://schemas.microsoft.com/office/drawing/2014/main" id="{C38A3393-857C-C5F1-AE9F-E6099B0963D3}"/>
              </a:ext>
            </a:extLst>
          </p:cNvPr>
          <p:cNvSpPr/>
          <p:nvPr/>
        </p:nvSpPr>
        <p:spPr>
          <a:xfrm>
            <a:off x="1256111" y="4905876"/>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1</a:t>
            </a:r>
          </a:p>
        </p:txBody>
      </p:sp>
      <p:sp>
        <p:nvSpPr>
          <p:cNvPr id="16" name="Rectangle 15">
            <a:extLst>
              <a:ext uri="{FF2B5EF4-FFF2-40B4-BE49-F238E27FC236}">
                <a16:creationId xmlns:a16="http://schemas.microsoft.com/office/drawing/2014/main" id="{0847D1D0-EE3F-D623-8F49-283C5973A780}"/>
              </a:ext>
            </a:extLst>
          </p:cNvPr>
          <p:cNvSpPr/>
          <p:nvPr/>
        </p:nvSpPr>
        <p:spPr>
          <a:xfrm>
            <a:off x="3657311"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2</a:t>
            </a:r>
          </a:p>
        </p:txBody>
      </p:sp>
      <p:sp>
        <p:nvSpPr>
          <p:cNvPr id="17" name="Rectangle 16">
            <a:extLst>
              <a:ext uri="{FF2B5EF4-FFF2-40B4-BE49-F238E27FC236}">
                <a16:creationId xmlns:a16="http://schemas.microsoft.com/office/drawing/2014/main" id="{690228FB-5453-993D-AE55-2BF61A24BDE3}"/>
              </a:ext>
            </a:extLst>
          </p:cNvPr>
          <p:cNvSpPr/>
          <p:nvPr/>
        </p:nvSpPr>
        <p:spPr>
          <a:xfrm>
            <a:off x="9305592" y="4892923"/>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000000"/>
                </a:solidFill>
                <a:effectLst/>
                <a:uLnTx/>
                <a:uFillTx/>
                <a:latin typeface="Calibri (body)"/>
              </a:rPr>
              <a:t>Taux 12</a:t>
            </a:r>
          </a:p>
        </p:txBody>
      </p:sp>
      <p:sp>
        <p:nvSpPr>
          <p:cNvPr id="18" name="Rectangle 17">
            <a:extLst>
              <a:ext uri="{FF2B5EF4-FFF2-40B4-BE49-F238E27FC236}">
                <a16:creationId xmlns:a16="http://schemas.microsoft.com/office/drawing/2014/main" id="{3B548A37-C76A-6C36-E40B-E5996656D75D}"/>
              </a:ext>
            </a:extLst>
          </p:cNvPr>
          <p:cNvSpPr/>
          <p:nvPr/>
        </p:nvSpPr>
        <p:spPr>
          <a:xfrm>
            <a:off x="9935284" y="4892923"/>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000000"/>
              </a:solidFill>
              <a:effectLst/>
              <a:uLnTx/>
              <a:uFillTx/>
              <a:latin typeface="Calibri (body)"/>
            </a:endParaRPr>
          </a:p>
        </p:txBody>
      </p:sp>
      <p:sp>
        <p:nvSpPr>
          <p:cNvPr id="19" name="Rectangle 18">
            <a:extLst>
              <a:ext uri="{FF2B5EF4-FFF2-40B4-BE49-F238E27FC236}">
                <a16:creationId xmlns:a16="http://schemas.microsoft.com/office/drawing/2014/main" id="{CFE708F2-9ACE-150A-D660-ED9C4BC9FC97}"/>
              </a:ext>
            </a:extLst>
          </p:cNvPr>
          <p:cNvSpPr/>
          <p:nvPr/>
        </p:nvSpPr>
        <p:spPr>
          <a:xfrm>
            <a:off x="818589" y="4894682"/>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20" name="TextBox 19">
            <a:extLst>
              <a:ext uri="{FF2B5EF4-FFF2-40B4-BE49-F238E27FC236}">
                <a16:creationId xmlns:a16="http://schemas.microsoft.com/office/drawing/2014/main" id="{5EC0D0CF-D477-4A4B-BAFC-3A4A28BD35F4}"/>
              </a:ext>
            </a:extLst>
          </p:cNvPr>
          <p:cNvSpPr txBox="1"/>
          <p:nvPr/>
        </p:nvSpPr>
        <p:spPr>
          <a:xfrm>
            <a:off x="19250" y="4808932"/>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Taux</a:t>
            </a:r>
          </a:p>
        </p:txBody>
      </p:sp>
      <p:sp>
        <p:nvSpPr>
          <p:cNvPr id="21" name="TextBox 20">
            <a:extLst>
              <a:ext uri="{FF2B5EF4-FFF2-40B4-BE49-F238E27FC236}">
                <a16:creationId xmlns:a16="http://schemas.microsoft.com/office/drawing/2014/main" id="{65D3AA2E-4055-DD09-66ED-448B25308604}"/>
              </a:ext>
            </a:extLst>
          </p:cNvPr>
          <p:cNvSpPr txBox="1"/>
          <p:nvPr/>
        </p:nvSpPr>
        <p:spPr>
          <a:xfrm>
            <a:off x="13400" y="5140903"/>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Marge</a:t>
            </a:r>
          </a:p>
        </p:txBody>
      </p:sp>
      <p:graphicFrame>
        <p:nvGraphicFramePr>
          <p:cNvPr id="22" name="Table 21">
            <a:extLst>
              <a:ext uri="{FF2B5EF4-FFF2-40B4-BE49-F238E27FC236}">
                <a16:creationId xmlns:a16="http://schemas.microsoft.com/office/drawing/2014/main" id="{B0B7B97A-8759-00DF-CB7E-BBF77F788A8F}"/>
              </a:ext>
            </a:extLst>
          </p:cNvPr>
          <p:cNvGraphicFramePr>
            <a:graphicFrameLocks noGrp="1"/>
          </p:cNvGraphicFramePr>
          <p:nvPr/>
        </p:nvGraphicFramePr>
        <p:xfrm>
          <a:off x="4334111" y="1586998"/>
          <a:ext cx="2628900" cy="1698263"/>
        </p:xfrm>
        <a:graphic>
          <a:graphicData uri="http://schemas.openxmlformats.org/drawingml/2006/table">
            <a:tbl>
              <a:tblPr>
                <a:tableStyleId>{5C22544A-7EE6-4342-B048-85BDC9FD1C3A}</a:tableStyleId>
              </a:tblPr>
              <a:tblGrid>
                <a:gridCol w="1092200">
                  <a:extLst>
                    <a:ext uri="{9D8B030D-6E8A-4147-A177-3AD203B41FA5}">
                      <a16:colId xmlns:a16="http://schemas.microsoft.com/office/drawing/2014/main" val="3042862825"/>
                    </a:ext>
                  </a:extLst>
                </a:gridCol>
                <a:gridCol w="1536700">
                  <a:extLst>
                    <a:ext uri="{9D8B030D-6E8A-4147-A177-3AD203B41FA5}">
                      <a16:colId xmlns:a16="http://schemas.microsoft.com/office/drawing/2014/main" val="3241058480"/>
                    </a:ext>
                  </a:extLst>
                </a:gridCol>
              </a:tblGrid>
              <a:tr h="114185">
                <a:tc>
                  <a:txBody>
                    <a:bodyPr/>
                    <a:lstStyle/>
                    <a:p>
                      <a:pPr algn="l" fontAlgn="b"/>
                      <a:r>
                        <a:rPr lang="fr-FR" sz="1100" b="0" i="0" u="none" strike="noStrike" dirty="0">
                          <a:solidFill>
                            <a:srgbClr val="FFFFFF"/>
                          </a:solidFill>
                          <a:effectLst/>
                          <a:latin typeface="Calibri" panose="020F0502020204030204" pitchFamily="34" charset="0"/>
                        </a:rPr>
                        <a:t>Taux</a:t>
                      </a:r>
                    </a:p>
                  </a:txBody>
                  <a:tcPr marL="7620" marR="7620" marT="7620" marB="0" anchor="b">
                    <a:solidFill>
                      <a:schemeClr val="tx1"/>
                    </a:solidFill>
                  </a:tcPr>
                </a:tc>
                <a:tc>
                  <a:txBody>
                    <a:bodyPr/>
                    <a:lstStyle/>
                    <a:p>
                      <a:pPr algn="ctr" fontAlgn="b"/>
                      <a:r>
                        <a:rPr lang="fr-FR" sz="1100" u="none" strike="noStrike" dirty="0">
                          <a:solidFill>
                            <a:srgbClr val="FFFFFF"/>
                          </a:solidFill>
                          <a:effectLst/>
                        </a:rPr>
                        <a:t>Valeur</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extLst>
                  <a:ext uri="{0D108BD9-81ED-4DB2-BD59-A6C34878D82A}">
                    <a16:rowId xmlns:a16="http://schemas.microsoft.com/office/drawing/2014/main" val="317880372"/>
                  </a:ext>
                </a:extLst>
              </a:tr>
              <a:tr h="223256">
                <a:tc>
                  <a:txBody>
                    <a:bodyPr/>
                    <a:lstStyle/>
                    <a:p>
                      <a:pPr algn="l" fontAlgn="b"/>
                      <a:r>
                        <a:rPr lang="fr-FR" sz="1100" u="none" strike="noStrike" dirty="0">
                          <a:effectLst/>
                        </a:rPr>
                        <a:t>Taux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i="0" u="none" strike="noStrike" dirty="0">
                          <a:solidFill>
                            <a:srgbClr val="000000"/>
                          </a:solidFill>
                          <a:effectLst/>
                          <a:latin typeface="+mn-lt"/>
                        </a:rPr>
                        <a:t>Euribor </a:t>
                      </a:r>
                      <a:r>
                        <a:rPr lang="fr-FR" sz="1100" b="1" i="0" u="none" strike="noStrike" dirty="0" err="1">
                          <a:solidFill>
                            <a:srgbClr val="000000"/>
                          </a:solidFill>
                          <a:effectLst/>
                          <a:latin typeface="+mn-lt"/>
                        </a:rPr>
                        <a:t>histo</a:t>
                      </a:r>
                      <a:r>
                        <a:rPr lang="fr-FR" sz="1100" b="1" i="0" u="none" strike="noStrike" dirty="0">
                          <a:solidFill>
                            <a:srgbClr val="000000"/>
                          </a:solidFill>
                          <a:effectLst/>
                          <a:latin typeface="+mn-lt"/>
                        </a:rPr>
                        <a:t> – 3,65</a:t>
                      </a:r>
                    </a:p>
                  </a:txBody>
                  <a:tcPr marL="7620" marR="7620" marT="7620" marB="0" anchor="b"/>
                </a:tc>
                <a:extLst>
                  <a:ext uri="{0D108BD9-81ED-4DB2-BD59-A6C34878D82A}">
                    <a16:rowId xmlns:a16="http://schemas.microsoft.com/office/drawing/2014/main" val="2270652949"/>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u="none" strike="noStrike" dirty="0">
                          <a:effectLst/>
                        </a:rPr>
                        <a:t>Taux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924623812"/>
                  </a:ext>
                </a:extLst>
              </a:tr>
              <a:tr h="202467">
                <a:tc>
                  <a:txBody>
                    <a:bodyPr/>
                    <a:lstStyle/>
                    <a:p>
                      <a:pPr algn="l" fontAlgn="b"/>
                      <a:r>
                        <a:rPr lang="fr-FR" sz="1100" b="1"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rPr>
                        <a:t>…</a:t>
                      </a:r>
                    </a:p>
                  </a:txBody>
                  <a:tcPr marL="7620" marR="7620" marT="7620" marB="0" anchor="b"/>
                </a:tc>
                <a:extLst>
                  <a:ext uri="{0D108BD9-81ED-4DB2-BD59-A6C34878D82A}">
                    <a16:rowId xmlns:a16="http://schemas.microsoft.com/office/drawing/2014/main" val="1413043668"/>
                  </a:ext>
                </a:extLst>
              </a:tr>
              <a:tr h="182880">
                <a:tc>
                  <a:txBody>
                    <a:bodyPr/>
                    <a:lstStyle/>
                    <a:p>
                      <a:pPr algn="l" fontAlgn="b"/>
                      <a:r>
                        <a:rPr lang="fr-FR" sz="1100" b="1"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rPr>
                        <a:t>…</a:t>
                      </a:r>
                    </a:p>
                  </a:txBody>
                  <a:tcPr marL="7620" marR="7620" marT="7620" marB="0" anchor="b"/>
                </a:tc>
                <a:extLst>
                  <a:ext uri="{0D108BD9-81ED-4DB2-BD59-A6C34878D82A}">
                    <a16:rowId xmlns:a16="http://schemas.microsoft.com/office/drawing/2014/main" val="2314595148"/>
                  </a:ext>
                </a:extLst>
              </a:tr>
              <a:tr h="182880">
                <a:tc>
                  <a:txBody>
                    <a:bodyPr/>
                    <a:lstStyle/>
                    <a:p>
                      <a:pPr algn="l" fontAlgn="b"/>
                      <a:r>
                        <a:rPr lang="fr-FR" sz="1100" b="1" i="0" u="none" strike="noStrike" dirty="0">
                          <a:solidFill>
                            <a:srgbClr val="000000"/>
                          </a:solidFill>
                          <a:effectLst/>
                          <a:latin typeface="Calibri" panose="020F0502020204030204" pitchFamily="34" charset="0"/>
                        </a:rPr>
                        <a:t>Taux 11</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rPr>
                        <a:t>?</a:t>
                      </a:r>
                    </a:p>
                  </a:txBody>
                  <a:tcPr marL="7620" marR="7620" marT="7620" marB="0" anchor="b"/>
                </a:tc>
                <a:extLst>
                  <a:ext uri="{0D108BD9-81ED-4DB2-BD59-A6C34878D82A}">
                    <a16:rowId xmlns:a16="http://schemas.microsoft.com/office/drawing/2014/main" val="3711581075"/>
                  </a:ext>
                </a:extLst>
              </a:tr>
              <a:tr h="182880">
                <a:tc>
                  <a:txBody>
                    <a:bodyPr/>
                    <a:lstStyle/>
                    <a:p>
                      <a:pPr algn="l" fontAlgn="b"/>
                      <a:r>
                        <a:rPr lang="fr-FR" sz="1100" b="1" i="0" u="none" strike="noStrike" dirty="0">
                          <a:solidFill>
                            <a:srgbClr val="000000"/>
                          </a:solidFill>
                          <a:effectLst/>
                          <a:latin typeface="Calibri" panose="020F0502020204030204" pitchFamily="34" charset="0"/>
                        </a:rPr>
                        <a:t>Taux 12</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rPr>
                        <a:t>?</a:t>
                      </a:r>
                    </a:p>
                  </a:txBody>
                  <a:tcPr marL="7620" marR="7620" marT="7620" marB="0" anchor="b"/>
                </a:tc>
                <a:extLst>
                  <a:ext uri="{0D108BD9-81ED-4DB2-BD59-A6C34878D82A}">
                    <a16:rowId xmlns:a16="http://schemas.microsoft.com/office/drawing/2014/main" val="3310413453"/>
                  </a:ext>
                </a:extLst>
              </a:tr>
              <a:tr h="182880">
                <a:tc>
                  <a:txBody>
                    <a:bodyPr/>
                    <a:lstStyle/>
                    <a:p>
                      <a:pPr algn="l" fontAlgn="b"/>
                      <a:r>
                        <a:rPr lang="fr-FR" sz="1100" u="none" strike="noStrike" dirty="0">
                          <a:effectLst/>
                        </a:rPr>
                        <a:t>Marge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0.20%</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853942388"/>
                  </a:ext>
                </a:extLst>
              </a:tr>
              <a:tr h="182880">
                <a:tc>
                  <a:txBody>
                    <a:bodyPr/>
                    <a:lstStyle/>
                    <a:p>
                      <a:pPr algn="l" fontAlgn="b"/>
                      <a:r>
                        <a:rPr lang="fr-FR" sz="1100" u="none" strike="noStrike" dirty="0">
                          <a:effectLst/>
                        </a:rPr>
                        <a:t>Marge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a:t>
                      </a:r>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77300222"/>
                  </a:ext>
                </a:extLst>
              </a:tr>
            </a:tbl>
          </a:graphicData>
        </a:graphic>
      </p:graphicFrame>
      <p:sp>
        <p:nvSpPr>
          <p:cNvPr id="23" name="Rectangle 22">
            <a:extLst>
              <a:ext uri="{FF2B5EF4-FFF2-40B4-BE49-F238E27FC236}">
                <a16:creationId xmlns:a16="http://schemas.microsoft.com/office/drawing/2014/main" id="{B6219088-993D-D031-3CB8-6E81FF4830C8}"/>
              </a:ext>
            </a:extLst>
          </p:cNvPr>
          <p:cNvSpPr/>
          <p:nvPr/>
        </p:nvSpPr>
        <p:spPr>
          <a:xfrm>
            <a:off x="4208641"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3</a:t>
            </a:r>
          </a:p>
        </p:txBody>
      </p:sp>
      <p:sp>
        <p:nvSpPr>
          <p:cNvPr id="24" name="Rectangle 23">
            <a:extLst>
              <a:ext uri="{FF2B5EF4-FFF2-40B4-BE49-F238E27FC236}">
                <a16:creationId xmlns:a16="http://schemas.microsoft.com/office/drawing/2014/main" id="{5EBD5FE1-ABDB-8DE8-3F56-9B43AF3717C8}"/>
              </a:ext>
            </a:extLst>
          </p:cNvPr>
          <p:cNvSpPr/>
          <p:nvPr/>
        </p:nvSpPr>
        <p:spPr>
          <a:xfrm>
            <a:off x="4759971"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4</a:t>
            </a:r>
          </a:p>
        </p:txBody>
      </p:sp>
      <p:sp>
        <p:nvSpPr>
          <p:cNvPr id="25" name="Rectangle 24">
            <a:extLst>
              <a:ext uri="{FF2B5EF4-FFF2-40B4-BE49-F238E27FC236}">
                <a16:creationId xmlns:a16="http://schemas.microsoft.com/office/drawing/2014/main" id="{6AC19E09-4D64-1F68-972E-2139B0740A93}"/>
              </a:ext>
            </a:extLst>
          </p:cNvPr>
          <p:cNvSpPr/>
          <p:nvPr/>
        </p:nvSpPr>
        <p:spPr>
          <a:xfrm>
            <a:off x="5311301"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5</a:t>
            </a:r>
          </a:p>
        </p:txBody>
      </p:sp>
      <p:sp>
        <p:nvSpPr>
          <p:cNvPr id="26" name="Rectangle 25">
            <a:extLst>
              <a:ext uri="{FF2B5EF4-FFF2-40B4-BE49-F238E27FC236}">
                <a16:creationId xmlns:a16="http://schemas.microsoft.com/office/drawing/2014/main" id="{63E8B88C-9075-2C33-0B02-CE3B0A57F267}"/>
              </a:ext>
            </a:extLst>
          </p:cNvPr>
          <p:cNvSpPr/>
          <p:nvPr/>
        </p:nvSpPr>
        <p:spPr>
          <a:xfrm>
            <a:off x="5862631"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6</a:t>
            </a:r>
          </a:p>
        </p:txBody>
      </p:sp>
      <p:sp>
        <p:nvSpPr>
          <p:cNvPr id="27" name="Rectangle 26">
            <a:extLst>
              <a:ext uri="{FF2B5EF4-FFF2-40B4-BE49-F238E27FC236}">
                <a16:creationId xmlns:a16="http://schemas.microsoft.com/office/drawing/2014/main" id="{F28456F1-6A82-E6B5-765A-03E4A52C3999}"/>
              </a:ext>
            </a:extLst>
          </p:cNvPr>
          <p:cNvSpPr/>
          <p:nvPr/>
        </p:nvSpPr>
        <p:spPr>
          <a:xfrm>
            <a:off x="6540723"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7</a:t>
            </a:r>
          </a:p>
        </p:txBody>
      </p:sp>
      <p:sp>
        <p:nvSpPr>
          <p:cNvPr id="28" name="Rectangle 27">
            <a:extLst>
              <a:ext uri="{FF2B5EF4-FFF2-40B4-BE49-F238E27FC236}">
                <a16:creationId xmlns:a16="http://schemas.microsoft.com/office/drawing/2014/main" id="{F50B4383-77C8-FB81-3623-B768A6AB161C}"/>
              </a:ext>
            </a:extLst>
          </p:cNvPr>
          <p:cNvSpPr/>
          <p:nvPr/>
        </p:nvSpPr>
        <p:spPr>
          <a:xfrm>
            <a:off x="7092894"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8</a:t>
            </a:r>
          </a:p>
        </p:txBody>
      </p:sp>
      <p:sp>
        <p:nvSpPr>
          <p:cNvPr id="29" name="Rectangle 28">
            <a:extLst>
              <a:ext uri="{FF2B5EF4-FFF2-40B4-BE49-F238E27FC236}">
                <a16:creationId xmlns:a16="http://schemas.microsoft.com/office/drawing/2014/main" id="{B35EE44F-0C62-3DE7-9148-21FECA817618}"/>
              </a:ext>
            </a:extLst>
          </p:cNvPr>
          <p:cNvSpPr/>
          <p:nvPr/>
        </p:nvSpPr>
        <p:spPr>
          <a:xfrm>
            <a:off x="7645065"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9</a:t>
            </a:r>
          </a:p>
        </p:txBody>
      </p:sp>
      <p:sp>
        <p:nvSpPr>
          <p:cNvPr id="30" name="Rectangle 29">
            <a:extLst>
              <a:ext uri="{FF2B5EF4-FFF2-40B4-BE49-F238E27FC236}">
                <a16:creationId xmlns:a16="http://schemas.microsoft.com/office/drawing/2014/main" id="{406CAD4C-30AD-B33E-3F55-5F6FD46359CC}"/>
              </a:ext>
            </a:extLst>
          </p:cNvPr>
          <p:cNvSpPr/>
          <p:nvPr/>
        </p:nvSpPr>
        <p:spPr>
          <a:xfrm>
            <a:off x="8197236"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10</a:t>
            </a:r>
          </a:p>
        </p:txBody>
      </p:sp>
      <p:sp>
        <p:nvSpPr>
          <p:cNvPr id="31" name="Rectangle 30">
            <a:extLst>
              <a:ext uri="{FF2B5EF4-FFF2-40B4-BE49-F238E27FC236}">
                <a16:creationId xmlns:a16="http://schemas.microsoft.com/office/drawing/2014/main" id="{FE7E9754-3E91-C4F2-C737-F4E99CD2832F}"/>
              </a:ext>
            </a:extLst>
          </p:cNvPr>
          <p:cNvSpPr/>
          <p:nvPr/>
        </p:nvSpPr>
        <p:spPr>
          <a:xfrm>
            <a:off x="8749405" y="4894684"/>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11</a:t>
            </a:r>
          </a:p>
        </p:txBody>
      </p:sp>
      <p:sp>
        <p:nvSpPr>
          <p:cNvPr id="32" name="Arrow: Right 31">
            <a:extLst>
              <a:ext uri="{FF2B5EF4-FFF2-40B4-BE49-F238E27FC236}">
                <a16:creationId xmlns:a16="http://schemas.microsoft.com/office/drawing/2014/main" id="{B435F394-955E-7FC7-28D9-03D14CF753ED}"/>
              </a:ext>
            </a:extLst>
          </p:cNvPr>
          <p:cNvSpPr/>
          <p:nvPr/>
        </p:nvSpPr>
        <p:spPr>
          <a:xfrm>
            <a:off x="7189211" y="2320945"/>
            <a:ext cx="654900" cy="433213"/>
          </a:xfrm>
          <a:prstGeom prst="rightArrow">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graphicFrame>
        <p:nvGraphicFramePr>
          <p:cNvPr id="33" name="Table 32">
            <a:extLst>
              <a:ext uri="{FF2B5EF4-FFF2-40B4-BE49-F238E27FC236}">
                <a16:creationId xmlns:a16="http://schemas.microsoft.com/office/drawing/2014/main" id="{B71F29E6-69FF-559D-C9A5-7064DD3491E3}"/>
              </a:ext>
            </a:extLst>
          </p:cNvPr>
          <p:cNvGraphicFramePr>
            <a:graphicFrameLocks noGrp="1"/>
          </p:cNvGraphicFramePr>
          <p:nvPr/>
        </p:nvGraphicFramePr>
        <p:xfrm>
          <a:off x="8197236" y="1586998"/>
          <a:ext cx="3372875" cy="1698260"/>
        </p:xfrm>
        <a:graphic>
          <a:graphicData uri="http://schemas.openxmlformats.org/drawingml/2006/table">
            <a:tbl>
              <a:tblPr>
                <a:tableStyleId>{5C22544A-7EE6-4342-B048-85BDC9FD1C3A}</a:tableStyleId>
              </a:tblPr>
              <a:tblGrid>
                <a:gridCol w="884351">
                  <a:extLst>
                    <a:ext uri="{9D8B030D-6E8A-4147-A177-3AD203B41FA5}">
                      <a16:colId xmlns:a16="http://schemas.microsoft.com/office/drawing/2014/main" val="3042862825"/>
                    </a:ext>
                  </a:extLst>
                </a:gridCol>
                <a:gridCol w="1244262">
                  <a:extLst>
                    <a:ext uri="{9D8B030D-6E8A-4147-A177-3AD203B41FA5}">
                      <a16:colId xmlns:a16="http://schemas.microsoft.com/office/drawing/2014/main" val="3241058480"/>
                    </a:ext>
                  </a:extLst>
                </a:gridCol>
                <a:gridCol w="1244262">
                  <a:extLst>
                    <a:ext uri="{9D8B030D-6E8A-4147-A177-3AD203B41FA5}">
                      <a16:colId xmlns:a16="http://schemas.microsoft.com/office/drawing/2014/main" val="476355002"/>
                    </a:ext>
                  </a:extLst>
                </a:gridCol>
              </a:tblGrid>
              <a:tr h="114185">
                <a:tc>
                  <a:txBody>
                    <a:bodyPr/>
                    <a:lstStyle/>
                    <a:p>
                      <a:pPr algn="l" fontAlgn="b"/>
                      <a:r>
                        <a:rPr lang="fr-FR" sz="1100" b="0" i="0" u="none" strike="noStrike" dirty="0">
                          <a:solidFill>
                            <a:srgbClr val="FFFFFF"/>
                          </a:solidFill>
                          <a:effectLst/>
                          <a:latin typeface="Calibri" panose="020F0502020204030204" pitchFamily="34" charset="0"/>
                        </a:rPr>
                        <a:t>Taux</a:t>
                      </a:r>
                    </a:p>
                  </a:txBody>
                  <a:tcPr marL="7620" marR="7620" marT="7620" marB="0" anchor="b">
                    <a:solidFill>
                      <a:schemeClr val="tx1"/>
                    </a:solidFill>
                  </a:tcPr>
                </a:tc>
                <a:tc>
                  <a:txBody>
                    <a:bodyPr/>
                    <a:lstStyle/>
                    <a:p>
                      <a:pPr algn="ctr" fontAlgn="b"/>
                      <a:r>
                        <a:rPr lang="fr-FR" sz="1100" u="none" strike="noStrike" dirty="0">
                          <a:solidFill>
                            <a:srgbClr val="FFFFFF"/>
                          </a:solidFill>
                          <a:effectLst/>
                        </a:rPr>
                        <a:t>Valeur baseline</a:t>
                      </a:r>
                      <a:endParaRPr lang="fr-FR" sz="1100" b="0" i="0" u="none" strike="noStrike" dirty="0">
                        <a:solidFill>
                          <a:srgbClr val="FFFFFF"/>
                        </a:solidFill>
                        <a:effectLst/>
                        <a:latin typeface="Calibri" panose="020F0502020204030204" pitchFamily="34" charset="0"/>
                      </a:endParaRPr>
                    </a:p>
                  </a:txBody>
                  <a:tcPr marL="7620" marR="7620" marT="7620" marB="0" anchor="b">
                    <a:solidFill>
                      <a:schemeClr val="tx1"/>
                    </a:solidFill>
                  </a:tcPr>
                </a:tc>
                <a:tc>
                  <a:txBody>
                    <a:bodyPr/>
                    <a:lstStyle/>
                    <a:p>
                      <a:pPr algn="ctr" fontAlgn="b"/>
                      <a:r>
                        <a:rPr lang="fr-FR" sz="1100" b="1" i="0" u="none" strike="noStrike" dirty="0">
                          <a:solidFill>
                            <a:srgbClr val="FFFFFF"/>
                          </a:solidFill>
                          <a:effectLst/>
                          <a:latin typeface="Calibri" panose="020F0502020204030204" pitchFamily="34" charset="0"/>
                        </a:rPr>
                        <a:t>Valeur adverse</a:t>
                      </a:r>
                    </a:p>
                  </a:txBody>
                  <a:tcPr marL="7620" marR="7620" marT="7620" marB="0" anchor="b">
                    <a:solidFill>
                      <a:schemeClr val="tx1"/>
                    </a:solidFill>
                  </a:tcPr>
                </a:tc>
                <a:extLst>
                  <a:ext uri="{0D108BD9-81ED-4DB2-BD59-A6C34878D82A}">
                    <a16:rowId xmlns:a16="http://schemas.microsoft.com/office/drawing/2014/main" val="317880372"/>
                  </a:ext>
                </a:extLst>
              </a:tr>
              <a:tr h="190375">
                <a:tc>
                  <a:txBody>
                    <a:bodyPr/>
                    <a:lstStyle/>
                    <a:p>
                      <a:pPr algn="l" fontAlgn="b"/>
                      <a:r>
                        <a:rPr lang="fr-FR" sz="1100" u="none" strike="noStrike" dirty="0">
                          <a:effectLst/>
                        </a:rPr>
                        <a:t>Taux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i="0" u="none" strike="noStrike" dirty="0">
                          <a:solidFill>
                            <a:srgbClr val="000000"/>
                          </a:solidFill>
                          <a:effectLst/>
                          <a:latin typeface="+mn-lt"/>
                        </a:rPr>
                        <a:t>3,65%</a:t>
                      </a:r>
                    </a:p>
                  </a:txBody>
                  <a:tcPr marL="7620" marR="7620" marT="7620" marB="0" anchor="b"/>
                </a:tc>
                <a:tc>
                  <a:txBody>
                    <a:bodyPr/>
                    <a:lstStyle/>
                    <a:p>
                      <a:pPr algn="ctr" fontAlgn="b"/>
                      <a:r>
                        <a:rPr lang="fr-FR" sz="1100" b="1" i="0" u="none" strike="noStrike" dirty="0">
                          <a:solidFill>
                            <a:srgbClr val="000000"/>
                          </a:solidFill>
                          <a:effectLst/>
                          <a:latin typeface="+mn-lt"/>
                        </a:rPr>
                        <a:t>3,65%</a:t>
                      </a:r>
                    </a:p>
                  </a:txBody>
                  <a:tcPr marL="7620" marR="7620" marT="7620" marB="0" anchor="b"/>
                </a:tc>
                <a:extLst>
                  <a:ext uri="{0D108BD9-81ED-4DB2-BD59-A6C34878D82A}">
                    <a16:rowId xmlns:a16="http://schemas.microsoft.com/office/drawing/2014/main" val="2270652949"/>
                  </a:ext>
                </a:extLst>
              </a:tr>
              <a:tr h="190375">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b="0" u="none" strike="noStrike" dirty="0">
                          <a:effectLst/>
                        </a:rPr>
                        <a:t>Taux 2</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2,91%</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4,43%</a:t>
                      </a:r>
                    </a:p>
                  </a:txBody>
                  <a:tcPr marL="7620" marR="7620" marT="7620" marB="0" anchor="b"/>
                </a:tc>
                <a:extLst>
                  <a:ext uri="{0D108BD9-81ED-4DB2-BD59-A6C34878D82A}">
                    <a16:rowId xmlns:a16="http://schemas.microsoft.com/office/drawing/2014/main" val="924623812"/>
                  </a:ext>
                </a:extLst>
              </a:tr>
              <a:tr h="190375">
                <a:tc>
                  <a:txBody>
                    <a:bodyPr/>
                    <a:lstStyle/>
                    <a:p>
                      <a:pPr algn="l" fontAlgn="b"/>
                      <a:r>
                        <a:rPr lang="fr-FR" sz="1100" b="0"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413043668"/>
                  </a:ext>
                </a:extLst>
              </a:tr>
              <a:tr h="190375">
                <a:tc>
                  <a:txBody>
                    <a:bodyPr/>
                    <a:lstStyle/>
                    <a:p>
                      <a:pPr algn="l" fontAlgn="b"/>
                      <a:r>
                        <a:rPr lang="fr-FR" sz="1100" b="0"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a:t>
                      </a:r>
                    </a:p>
                  </a:txBody>
                  <a:tcPr marL="7620" marR="7620" marT="7620" marB="0" anchor="b"/>
                </a:tc>
                <a:tc>
                  <a:txBody>
                    <a:bodyPr/>
                    <a:lstStyle/>
                    <a:p>
                      <a:pPr algn="ctr" fontAlgn="b"/>
                      <a:endParaRPr lang="fr-FR" sz="1100" b="0" i="0"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314595148"/>
                  </a:ext>
                </a:extLst>
              </a:tr>
              <a:tr h="190375">
                <a:tc>
                  <a:txBody>
                    <a:bodyPr/>
                    <a:lstStyle/>
                    <a:p>
                      <a:pPr algn="l" fontAlgn="b"/>
                      <a:r>
                        <a:rPr lang="fr-FR" sz="1100" b="0" i="0" u="none" strike="noStrike" dirty="0">
                          <a:solidFill>
                            <a:srgbClr val="000000"/>
                          </a:solidFill>
                          <a:effectLst/>
                          <a:latin typeface="Calibri" panose="020F0502020204030204" pitchFamily="34" charset="0"/>
                        </a:rPr>
                        <a:t>Taux 11</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2,47%</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3,51%</a:t>
                      </a:r>
                    </a:p>
                  </a:txBody>
                  <a:tcPr marL="7620" marR="7620" marT="7620" marB="0" anchor="b"/>
                </a:tc>
                <a:extLst>
                  <a:ext uri="{0D108BD9-81ED-4DB2-BD59-A6C34878D82A}">
                    <a16:rowId xmlns:a16="http://schemas.microsoft.com/office/drawing/2014/main" val="3711581075"/>
                  </a:ext>
                </a:extLst>
              </a:tr>
              <a:tr h="190375">
                <a:tc>
                  <a:txBody>
                    <a:bodyPr/>
                    <a:lstStyle/>
                    <a:p>
                      <a:pPr algn="l" fontAlgn="b"/>
                      <a:r>
                        <a:rPr lang="fr-FR" sz="1100" b="0" i="0" u="none" strike="noStrike" dirty="0">
                          <a:solidFill>
                            <a:srgbClr val="000000"/>
                          </a:solidFill>
                          <a:effectLst/>
                          <a:latin typeface="Calibri" panose="020F0502020204030204" pitchFamily="34" charset="0"/>
                        </a:rPr>
                        <a:t>Taux 12</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2,47%</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rPr>
                        <a:t>3,51%</a:t>
                      </a:r>
                    </a:p>
                  </a:txBody>
                  <a:tcPr marL="7620" marR="7620" marT="7620" marB="0" anchor="b"/>
                </a:tc>
                <a:extLst>
                  <a:ext uri="{0D108BD9-81ED-4DB2-BD59-A6C34878D82A}">
                    <a16:rowId xmlns:a16="http://schemas.microsoft.com/office/drawing/2014/main" val="3310413453"/>
                  </a:ext>
                </a:extLst>
              </a:tr>
              <a:tr h="190375">
                <a:tc>
                  <a:txBody>
                    <a:bodyPr/>
                    <a:lstStyle/>
                    <a:p>
                      <a:pPr algn="l" fontAlgn="b"/>
                      <a:r>
                        <a:rPr lang="fr-FR" sz="1100" u="none" strike="noStrike" dirty="0">
                          <a:effectLst/>
                        </a:rPr>
                        <a:t>Marge 1</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u="none" strike="noStrike" dirty="0">
                          <a:effectLst/>
                        </a:rPr>
                        <a:t>0.20%</a:t>
                      </a:r>
                      <a:endParaRPr lang="fr-FR" sz="1100" b="0" i="0"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rPr>
                        <a:t>0,20%</a:t>
                      </a:r>
                    </a:p>
                  </a:txBody>
                  <a:tcPr marL="7620" marR="7620" marT="7620" marB="0" anchor="b"/>
                </a:tc>
                <a:extLst>
                  <a:ext uri="{0D108BD9-81ED-4DB2-BD59-A6C34878D82A}">
                    <a16:rowId xmlns:a16="http://schemas.microsoft.com/office/drawing/2014/main" val="853942388"/>
                  </a:ext>
                </a:extLst>
              </a:tr>
              <a:tr h="190375">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Marge 2</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0,33%</a:t>
                      </a:r>
                    </a:p>
                  </a:txBody>
                  <a:tcPr marL="7620" marR="7620" marT="7620" marB="0" anchor="b"/>
                </a:tc>
                <a:extLst>
                  <a:ext uri="{0D108BD9-81ED-4DB2-BD59-A6C34878D82A}">
                    <a16:rowId xmlns:a16="http://schemas.microsoft.com/office/drawing/2014/main" val="1477300222"/>
                  </a:ext>
                </a:extLst>
              </a:tr>
            </a:tbl>
          </a:graphicData>
        </a:graphic>
      </p:graphicFrame>
      <p:sp>
        <p:nvSpPr>
          <p:cNvPr id="34" name="Espace réservé du texte 16">
            <a:extLst>
              <a:ext uri="{FF2B5EF4-FFF2-40B4-BE49-F238E27FC236}">
                <a16:creationId xmlns:a16="http://schemas.microsoft.com/office/drawing/2014/main" id="{5319D28D-6A0A-A424-05D3-A79637CAC850}"/>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340998749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2 – Emprunt à taux révisable : Détermination des taux sans risques futurs</a:t>
            </a:r>
          </a:p>
        </p:txBody>
      </p:sp>
      <p:sp>
        <p:nvSpPr>
          <p:cNvPr id="34" name="ZoneTexte 16">
            <a:extLst>
              <a:ext uri="{FF2B5EF4-FFF2-40B4-BE49-F238E27FC236}">
                <a16:creationId xmlns:a16="http://schemas.microsoft.com/office/drawing/2014/main" id="{9DE2B094-13A7-9F98-5D81-A54B00D6A050}"/>
              </a:ext>
            </a:extLst>
          </p:cNvPr>
          <p:cNvSpPr txBox="1"/>
          <p:nvPr/>
        </p:nvSpPr>
        <p:spPr>
          <a:xfrm>
            <a:off x="739727" y="2459069"/>
            <a:ext cx="10838656" cy="4104407"/>
          </a:xfrm>
          <a:prstGeom prst="rect">
            <a:avLst/>
          </a:prstGeom>
          <a:solidFill>
            <a:schemeClr val="tx2">
              <a:lumMod val="40000"/>
              <a:lumOff val="60000"/>
              <a:alpha val="16000"/>
            </a:schemeClr>
          </a:solidFill>
          <a:ln>
            <a:solidFill>
              <a:schemeClr val="accent2"/>
            </a:solidFill>
          </a:ln>
        </p:spPr>
        <p:txBody>
          <a:bodyPr wrap="square">
            <a:noAutofit/>
          </a:bodyPr>
          <a:lstStyle/>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100" b="1" i="0" u="none" strike="noStrike" kern="1200" cap="none" spc="0" normalizeH="0" baseline="0" noProof="0" dirty="0">
                <a:ln>
                  <a:noFill/>
                </a:ln>
                <a:solidFill>
                  <a:srgbClr val="00B050"/>
                </a:solidFill>
                <a:effectLst/>
                <a:uLnTx/>
                <a:uFillTx/>
                <a:latin typeface="Calibri (body)"/>
                <a:ea typeface="Calibri" panose="020F0502020204030204" pitchFamily="34" charset="0"/>
                <a:cs typeface="Calibri" panose="020F0502020204030204" pitchFamily="34" charset="0"/>
              </a:rPr>
              <a:t>Pour les taux de référence </a:t>
            </a:r>
            <a:r>
              <a:rPr kumimoji="0" lang="fr-FR" sz="1100" b="1"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 </a:t>
            </a: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Les données issues du cadrage macro-économique de taux sans risques sont utilisées, de la même manière que pour le deal précédent :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Les données de 2023, appliquées à 2025 indiquent  sur la courbe Euribor 3 M:</a:t>
            </a: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rPr>
              <a:t>Soit:</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Calibri (body)"/>
              <a:ea typeface="Calibri" panose="020F0502020204030204" pitchFamily="34" charset="0"/>
              <a:cs typeface="Calibri" panose="020F0502020204030204" pitchFamily="34" charset="0"/>
            </a:endParaRPr>
          </a:p>
        </p:txBody>
      </p:sp>
      <p:graphicFrame>
        <p:nvGraphicFramePr>
          <p:cNvPr id="35" name="Table 34">
            <a:extLst>
              <a:ext uri="{FF2B5EF4-FFF2-40B4-BE49-F238E27FC236}">
                <a16:creationId xmlns:a16="http://schemas.microsoft.com/office/drawing/2014/main" id="{01052E7A-73A5-1FF4-8303-CBFC5880489F}"/>
              </a:ext>
            </a:extLst>
          </p:cNvPr>
          <p:cNvGraphicFramePr>
            <a:graphicFrameLocks noGrp="1"/>
          </p:cNvGraphicFramePr>
          <p:nvPr/>
        </p:nvGraphicFramePr>
        <p:xfrm>
          <a:off x="809403" y="4356865"/>
          <a:ext cx="5269205" cy="748997"/>
        </p:xfrm>
        <a:graphic>
          <a:graphicData uri="http://schemas.openxmlformats.org/drawingml/2006/table">
            <a:tbl>
              <a:tblPr>
                <a:tableStyleId>{5C22544A-7EE6-4342-B048-85BDC9FD1C3A}</a:tableStyleId>
              </a:tblPr>
              <a:tblGrid>
                <a:gridCol w="1446357">
                  <a:extLst>
                    <a:ext uri="{9D8B030D-6E8A-4147-A177-3AD203B41FA5}">
                      <a16:colId xmlns:a16="http://schemas.microsoft.com/office/drawing/2014/main" val="2414715135"/>
                    </a:ext>
                  </a:extLst>
                </a:gridCol>
                <a:gridCol w="528849">
                  <a:extLst>
                    <a:ext uri="{9D8B030D-6E8A-4147-A177-3AD203B41FA5}">
                      <a16:colId xmlns:a16="http://schemas.microsoft.com/office/drawing/2014/main" val="460327212"/>
                    </a:ext>
                  </a:extLst>
                </a:gridCol>
                <a:gridCol w="756000">
                  <a:extLst>
                    <a:ext uri="{9D8B030D-6E8A-4147-A177-3AD203B41FA5}">
                      <a16:colId xmlns:a16="http://schemas.microsoft.com/office/drawing/2014/main" val="887882823"/>
                    </a:ext>
                  </a:extLst>
                </a:gridCol>
                <a:gridCol w="1296000">
                  <a:extLst>
                    <a:ext uri="{9D8B030D-6E8A-4147-A177-3AD203B41FA5}">
                      <a16:colId xmlns:a16="http://schemas.microsoft.com/office/drawing/2014/main" val="4108423645"/>
                    </a:ext>
                  </a:extLst>
                </a:gridCol>
                <a:gridCol w="1241999">
                  <a:extLst>
                    <a:ext uri="{9D8B030D-6E8A-4147-A177-3AD203B41FA5}">
                      <a16:colId xmlns:a16="http://schemas.microsoft.com/office/drawing/2014/main" val="3177001386"/>
                    </a:ext>
                  </a:extLst>
                </a:gridCol>
              </a:tblGrid>
              <a:tr h="206057">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Durée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a:t>
                      </a:r>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Year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2226423331"/>
                  </a:ext>
                </a:extLst>
              </a:tr>
              <a:tr h="122220">
                <a:tc>
                  <a:txBody>
                    <a:bodyPr/>
                    <a:lstStyle/>
                    <a:p>
                      <a:pPr algn="l" fontAlgn="b"/>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2-4</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3M</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2,91% </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4,43%</a:t>
                      </a:r>
                    </a:p>
                  </a:txBody>
                  <a:tcPr marL="7620" marR="7620" marT="7620" marB="0" anchor="b"/>
                </a:tc>
                <a:extLst>
                  <a:ext uri="{0D108BD9-81ED-4DB2-BD59-A6C34878D82A}">
                    <a16:rowId xmlns:a16="http://schemas.microsoft.com/office/drawing/2014/main" val="3387536283"/>
                  </a:ext>
                </a:extLst>
              </a:tr>
              <a:tr h="19242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5-8</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3M</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2026</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2,71%</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3,92%</a:t>
                      </a:r>
                    </a:p>
                  </a:txBody>
                  <a:tcPr marL="7620" marR="7620" marT="7620" marB="0" anchor="b"/>
                </a:tc>
                <a:extLst>
                  <a:ext uri="{0D108BD9-81ED-4DB2-BD59-A6C34878D82A}">
                    <a16:rowId xmlns:a16="http://schemas.microsoft.com/office/drawing/2014/main" val="3339605865"/>
                  </a:ext>
                </a:extLst>
              </a:tr>
              <a:tr h="140697">
                <a:tc>
                  <a:txBody>
                    <a:bodyPr/>
                    <a:lstStyle/>
                    <a:p>
                      <a:pPr algn="l" fontAlgn="b"/>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Tx</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9-12</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3M</a:t>
                      </a:r>
                    </a:p>
                  </a:txBody>
                  <a:tcPr marL="7620" marR="7620" marT="7620" marB="0" anchor="b"/>
                </a:tc>
                <a:tc>
                  <a:txBody>
                    <a:bodyPr/>
                    <a:lstStyle/>
                    <a:p>
                      <a:pPr algn="r" fontAlgn="b"/>
                      <a:r>
                        <a:rPr lang="fr-FR" sz="1100" b="0" u="none" strike="noStrike"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2027</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2,47%</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3,51%</a:t>
                      </a:r>
                    </a:p>
                  </a:txBody>
                  <a:tcPr marL="7620" marR="7620" marT="7620" marB="0" anchor="b"/>
                </a:tc>
                <a:extLst>
                  <a:ext uri="{0D108BD9-81ED-4DB2-BD59-A6C34878D82A}">
                    <a16:rowId xmlns:a16="http://schemas.microsoft.com/office/drawing/2014/main" val="522921818"/>
                  </a:ext>
                </a:extLst>
              </a:tr>
            </a:tbl>
          </a:graphicData>
        </a:graphic>
      </p:graphicFrame>
      <p:graphicFrame>
        <p:nvGraphicFramePr>
          <p:cNvPr id="36" name="Table 35">
            <a:extLst>
              <a:ext uri="{FF2B5EF4-FFF2-40B4-BE49-F238E27FC236}">
                <a16:creationId xmlns:a16="http://schemas.microsoft.com/office/drawing/2014/main" id="{E6C9DF47-4ACB-3267-8823-279B5A941136}"/>
              </a:ext>
            </a:extLst>
          </p:cNvPr>
          <p:cNvGraphicFramePr>
            <a:graphicFrameLocks noGrp="1"/>
          </p:cNvGraphicFramePr>
          <p:nvPr/>
        </p:nvGraphicFramePr>
        <p:xfrm>
          <a:off x="779082" y="3099610"/>
          <a:ext cx="6489700" cy="548640"/>
        </p:xfrm>
        <a:graphic>
          <a:graphicData uri="http://schemas.openxmlformats.org/drawingml/2006/table">
            <a:tbl>
              <a:tblPr>
                <a:tableStyleId>{5C22544A-7EE6-4342-B048-85BDC9FD1C3A}</a:tableStyleId>
              </a:tblPr>
              <a:tblGrid>
                <a:gridCol w="1374087">
                  <a:extLst>
                    <a:ext uri="{9D8B030D-6E8A-4147-A177-3AD203B41FA5}">
                      <a16:colId xmlns:a16="http://schemas.microsoft.com/office/drawing/2014/main" val="1617607656"/>
                    </a:ext>
                  </a:extLst>
                </a:gridCol>
                <a:gridCol w="901745">
                  <a:extLst>
                    <a:ext uri="{9D8B030D-6E8A-4147-A177-3AD203B41FA5}">
                      <a16:colId xmlns:a16="http://schemas.microsoft.com/office/drawing/2014/main" val="3110234048"/>
                    </a:ext>
                  </a:extLst>
                </a:gridCol>
                <a:gridCol w="916058">
                  <a:extLst>
                    <a:ext uri="{9D8B030D-6E8A-4147-A177-3AD203B41FA5}">
                      <a16:colId xmlns:a16="http://schemas.microsoft.com/office/drawing/2014/main" val="2211644078"/>
                    </a:ext>
                  </a:extLst>
                </a:gridCol>
                <a:gridCol w="549635">
                  <a:extLst>
                    <a:ext uri="{9D8B030D-6E8A-4147-A177-3AD203B41FA5}">
                      <a16:colId xmlns:a16="http://schemas.microsoft.com/office/drawing/2014/main" val="769823231"/>
                    </a:ext>
                  </a:extLst>
                </a:gridCol>
                <a:gridCol w="549635">
                  <a:extLst>
                    <a:ext uri="{9D8B030D-6E8A-4147-A177-3AD203B41FA5}">
                      <a16:colId xmlns:a16="http://schemas.microsoft.com/office/drawing/2014/main" val="2983393761"/>
                    </a:ext>
                  </a:extLst>
                </a:gridCol>
                <a:gridCol w="549635">
                  <a:extLst>
                    <a:ext uri="{9D8B030D-6E8A-4147-A177-3AD203B41FA5}">
                      <a16:colId xmlns:a16="http://schemas.microsoft.com/office/drawing/2014/main" val="3915905733"/>
                    </a:ext>
                  </a:extLst>
                </a:gridCol>
                <a:gridCol w="549635">
                  <a:extLst>
                    <a:ext uri="{9D8B030D-6E8A-4147-A177-3AD203B41FA5}">
                      <a16:colId xmlns:a16="http://schemas.microsoft.com/office/drawing/2014/main" val="4190293990"/>
                    </a:ext>
                  </a:extLst>
                </a:gridCol>
                <a:gridCol w="549635">
                  <a:extLst>
                    <a:ext uri="{9D8B030D-6E8A-4147-A177-3AD203B41FA5}">
                      <a16:colId xmlns:a16="http://schemas.microsoft.com/office/drawing/2014/main" val="3126825574"/>
                    </a:ext>
                  </a:extLst>
                </a:gridCol>
                <a:gridCol w="549635">
                  <a:extLst>
                    <a:ext uri="{9D8B030D-6E8A-4147-A177-3AD203B41FA5}">
                      <a16:colId xmlns:a16="http://schemas.microsoft.com/office/drawing/2014/main" val="164507706"/>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Tenor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point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gridSpan="3">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tc gridSpan="3">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449581099"/>
                  </a:ext>
                </a:extLst>
              </a:tr>
              <a:tr h="182880">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Data cadrage macro</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2024 – Latest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411976108"/>
                  </a:ext>
                </a:extLst>
              </a:tr>
              <a:tr h="182880">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Swap rates - EUR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3M</a:t>
                      </a: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2,91%</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2,71%</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2,47%</a:t>
                      </a: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4,43%</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3,92%</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3,51%</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714933764"/>
                  </a:ext>
                </a:extLst>
              </a:tr>
            </a:tbl>
          </a:graphicData>
        </a:graphic>
      </p:graphicFrame>
      <p:cxnSp>
        <p:nvCxnSpPr>
          <p:cNvPr id="37" name="Straight Arrow Connector 36">
            <a:extLst>
              <a:ext uri="{FF2B5EF4-FFF2-40B4-BE49-F238E27FC236}">
                <a16:creationId xmlns:a16="http://schemas.microsoft.com/office/drawing/2014/main" id="{C719C5DB-7A1E-8699-E644-A9A58B86F2FD}"/>
              </a:ext>
            </a:extLst>
          </p:cNvPr>
          <p:cNvCxnSpPr/>
          <p:nvPr/>
        </p:nvCxnSpPr>
        <p:spPr>
          <a:xfrm>
            <a:off x="934345" y="1997342"/>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2FBEF58C-AECD-E9DB-F606-4C8B49EE90D0}"/>
              </a:ext>
            </a:extLst>
          </p:cNvPr>
          <p:cNvSpPr/>
          <p:nvPr/>
        </p:nvSpPr>
        <p:spPr>
          <a:xfrm>
            <a:off x="934345" y="1688132"/>
            <a:ext cx="5560057" cy="238182"/>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                                                                                            Marge 1 </a:t>
            </a:r>
          </a:p>
        </p:txBody>
      </p:sp>
      <p:sp>
        <p:nvSpPr>
          <p:cNvPr id="39" name="TextBox 38">
            <a:extLst>
              <a:ext uri="{FF2B5EF4-FFF2-40B4-BE49-F238E27FC236}">
                <a16:creationId xmlns:a16="http://schemas.microsoft.com/office/drawing/2014/main" id="{5B49A062-320C-35CC-97A3-3BA17B160ABC}"/>
              </a:ext>
            </a:extLst>
          </p:cNvPr>
          <p:cNvSpPr txBox="1"/>
          <p:nvPr/>
        </p:nvSpPr>
        <p:spPr>
          <a:xfrm>
            <a:off x="779082" y="203256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31.12.23</a:t>
            </a:r>
          </a:p>
        </p:txBody>
      </p:sp>
      <p:sp>
        <p:nvSpPr>
          <p:cNvPr id="40" name="TextBox 39">
            <a:extLst>
              <a:ext uri="{FF2B5EF4-FFF2-40B4-BE49-F238E27FC236}">
                <a16:creationId xmlns:a16="http://schemas.microsoft.com/office/drawing/2014/main" id="{9DB5BDD9-4B86-D913-CF90-8C630E29CF66}"/>
              </a:ext>
            </a:extLst>
          </p:cNvPr>
          <p:cNvSpPr txBox="1"/>
          <p:nvPr/>
        </p:nvSpPr>
        <p:spPr>
          <a:xfrm>
            <a:off x="6116402" y="2044502"/>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30.06.26</a:t>
            </a:r>
          </a:p>
        </p:txBody>
      </p:sp>
      <p:sp>
        <p:nvSpPr>
          <p:cNvPr id="41" name="TextBox 40">
            <a:extLst>
              <a:ext uri="{FF2B5EF4-FFF2-40B4-BE49-F238E27FC236}">
                <a16:creationId xmlns:a16="http://schemas.microsoft.com/office/drawing/2014/main" id="{0EBA4DE2-E1B9-F37F-68FF-B351349A8B2D}"/>
              </a:ext>
            </a:extLst>
          </p:cNvPr>
          <p:cNvSpPr txBox="1"/>
          <p:nvPr/>
        </p:nvSpPr>
        <p:spPr>
          <a:xfrm>
            <a:off x="9749896" y="2031419"/>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31.12.27</a:t>
            </a:r>
          </a:p>
        </p:txBody>
      </p:sp>
      <p:sp>
        <p:nvSpPr>
          <p:cNvPr id="42" name="TextBox 41">
            <a:extLst>
              <a:ext uri="{FF2B5EF4-FFF2-40B4-BE49-F238E27FC236}">
                <a16:creationId xmlns:a16="http://schemas.microsoft.com/office/drawing/2014/main" id="{CAE377E9-D105-C909-340F-7F55C13EB5F0}"/>
              </a:ext>
            </a:extLst>
          </p:cNvPr>
          <p:cNvSpPr txBox="1"/>
          <p:nvPr/>
        </p:nvSpPr>
        <p:spPr>
          <a:xfrm>
            <a:off x="2669082" y="2037646"/>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Calibri (body)"/>
                <a:ea typeface="+mn-ea"/>
                <a:cs typeface="+mn-cs"/>
              </a:rPr>
              <a:t>31.12.24</a:t>
            </a:r>
          </a:p>
        </p:txBody>
      </p:sp>
      <p:sp>
        <p:nvSpPr>
          <p:cNvPr id="43" name="Rectangle 42">
            <a:extLst>
              <a:ext uri="{FF2B5EF4-FFF2-40B4-BE49-F238E27FC236}">
                <a16:creationId xmlns:a16="http://schemas.microsoft.com/office/drawing/2014/main" id="{9C654DB7-868D-8E04-DD26-6598905202EB}"/>
              </a:ext>
            </a:extLst>
          </p:cNvPr>
          <p:cNvSpPr/>
          <p:nvPr/>
        </p:nvSpPr>
        <p:spPr>
          <a:xfrm>
            <a:off x="6644095" y="1688129"/>
            <a:ext cx="5407367"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                                                                     Marge 2                 </a:t>
            </a:r>
          </a:p>
        </p:txBody>
      </p:sp>
      <p:sp>
        <p:nvSpPr>
          <p:cNvPr id="44" name="Rectangle 43">
            <a:extLst>
              <a:ext uri="{FF2B5EF4-FFF2-40B4-BE49-F238E27FC236}">
                <a16:creationId xmlns:a16="http://schemas.microsoft.com/office/drawing/2014/main" id="{2F902356-E78D-BF26-6609-5384A2CFB622}"/>
              </a:ext>
            </a:extLst>
          </p:cNvPr>
          <p:cNvSpPr/>
          <p:nvPr/>
        </p:nvSpPr>
        <p:spPr>
          <a:xfrm>
            <a:off x="10052255" y="1680092"/>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45" name="Rectangle 44">
            <a:extLst>
              <a:ext uri="{FF2B5EF4-FFF2-40B4-BE49-F238E27FC236}">
                <a16:creationId xmlns:a16="http://schemas.microsoft.com/office/drawing/2014/main" id="{D5D1694F-0688-98F1-3B96-07AC21226D40}"/>
              </a:ext>
            </a:extLst>
          </p:cNvPr>
          <p:cNvSpPr/>
          <p:nvPr/>
        </p:nvSpPr>
        <p:spPr>
          <a:xfrm>
            <a:off x="935560" y="1688129"/>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46" name="Rectangle 45">
            <a:extLst>
              <a:ext uri="{FF2B5EF4-FFF2-40B4-BE49-F238E27FC236}">
                <a16:creationId xmlns:a16="http://schemas.microsoft.com/office/drawing/2014/main" id="{63A466B0-1552-C925-18BF-C1F7DB01D7A1}"/>
              </a:ext>
            </a:extLst>
          </p:cNvPr>
          <p:cNvSpPr/>
          <p:nvPr/>
        </p:nvSpPr>
        <p:spPr>
          <a:xfrm>
            <a:off x="1373082" y="1407704"/>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body)"/>
              </a:rPr>
              <a:t>Taux 1</a:t>
            </a:r>
          </a:p>
        </p:txBody>
      </p:sp>
      <p:sp>
        <p:nvSpPr>
          <p:cNvPr id="47" name="Rectangle 46">
            <a:extLst>
              <a:ext uri="{FF2B5EF4-FFF2-40B4-BE49-F238E27FC236}">
                <a16:creationId xmlns:a16="http://schemas.microsoft.com/office/drawing/2014/main" id="{7B26E7D2-BE15-B606-A03A-06CD347D225E}"/>
              </a:ext>
            </a:extLst>
          </p:cNvPr>
          <p:cNvSpPr/>
          <p:nvPr/>
        </p:nvSpPr>
        <p:spPr>
          <a:xfrm>
            <a:off x="3774282"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2</a:t>
            </a:r>
          </a:p>
        </p:txBody>
      </p:sp>
      <p:sp>
        <p:nvSpPr>
          <p:cNvPr id="48" name="Rectangle 47">
            <a:extLst>
              <a:ext uri="{FF2B5EF4-FFF2-40B4-BE49-F238E27FC236}">
                <a16:creationId xmlns:a16="http://schemas.microsoft.com/office/drawing/2014/main" id="{FD5D93E5-1956-F9B8-EEC7-22359CC9827D}"/>
              </a:ext>
            </a:extLst>
          </p:cNvPr>
          <p:cNvSpPr/>
          <p:nvPr/>
        </p:nvSpPr>
        <p:spPr>
          <a:xfrm>
            <a:off x="9422563" y="1394751"/>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000000"/>
                </a:solidFill>
                <a:effectLst/>
                <a:uLnTx/>
                <a:uFillTx/>
                <a:latin typeface="Calibri (body)"/>
              </a:rPr>
              <a:t>Taux 12</a:t>
            </a:r>
          </a:p>
        </p:txBody>
      </p:sp>
      <p:sp>
        <p:nvSpPr>
          <p:cNvPr id="49" name="Rectangle 48">
            <a:extLst>
              <a:ext uri="{FF2B5EF4-FFF2-40B4-BE49-F238E27FC236}">
                <a16:creationId xmlns:a16="http://schemas.microsoft.com/office/drawing/2014/main" id="{5133943B-FFB5-5831-3913-F54424CE29F4}"/>
              </a:ext>
            </a:extLst>
          </p:cNvPr>
          <p:cNvSpPr/>
          <p:nvPr/>
        </p:nvSpPr>
        <p:spPr>
          <a:xfrm>
            <a:off x="10052255" y="1394751"/>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000000"/>
              </a:solidFill>
              <a:effectLst/>
              <a:uLnTx/>
              <a:uFillTx/>
              <a:latin typeface="Calibri (body)"/>
            </a:endParaRPr>
          </a:p>
        </p:txBody>
      </p:sp>
      <p:sp>
        <p:nvSpPr>
          <p:cNvPr id="50" name="Rectangle 49">
            <a:extLst>
              <a:ext uri="{FF2B5EF4-FFF2-40B4-BE49-F238E27FC236}">
                <a16:creationId xmlns:a16="http://schemas.microsoft.com/office/drawing/2014/main" id="{F73161C6-00C7-796A-C90A-AB9A9C98DBB3}"/>
              </a:ext>
            </a:extLst>
          </p:cNvPr>
          <p:cNvSpPr/>
          <p:nvPr/>
        </p:nvSpPr>
        <p:spPr>
          <a:xfrm>
            <a:off x="935560" y="1396510"/>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body)"/>
            </a:endParaRPr>
          </a:p>
        </p:txBody>
      </p:sp>
      <p:sp>
        <p:nvSpPr>
          <p:cNvPr id="51" name="TextBox 50">
            <a:extLst>
              <a:ext uri="{FF2B5EF4-FFF2-40B4-BE49-F238E27FC236}">
                <a16:creationId xmlns:a16="http://schemas.microsoft.com/office/drawing/2014/main" id="{921CAFD9-EC72-29D9-274F-BA48A303813B}"/>
              </a:ext>
            </a:extLst>
          </p:cNvPr>
          <p:cNvSpPr txBox="1"/>
          <p:nvPr/>
        </p:nvSpPr>
        <p:spPr>
          <a:xfrm>
            <a:off x="116971" y="1310760"/>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Taux</a:t>
            </a:r>
          </a:p>
        </p:txBody>
      </p:sp>
      <p:sp>
        <p:nvSpPr>
          <p:cNvPr id="52" name="TextBox 51">
            <a:extLst>
              <a:ext uri="{FF2B5EF4-FFF2-40B4-BE49-F238E27FC236}">
                <a16:creationId xmlns:a16="http://schemas.microsoft.com/office/drawing/2014/main" id="{9C1EEABD-AE9A-F03B-708F-5D929CA67BE3}"/>
              </a:ext>
            </a:extLst>
          </p:cNvPr>
          <p:cNvSpPr txBox="1"/>
          <p:nvPr/>
        </p:nvSpPr>
        <p:spPr>
          <a:xfrm>
            <a:off x="130371" y="1642731"/>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Calibri (body)"/>
                <a:ea typeface="+mn-ea"/>
                <a:cs typeface="+mn-cs"/>
              </a:rPr>
              <a:t>Marge</a:t>
            </a:r>
          </a:p>
        </p:txBody>
      </p:sp>
      <p:sp>
        <p:nvSpPr>
          <p:cNvPr id="53" name="Rectangle 52">
            <a:extLst>
              <a:ext uri="{FF2B5EF4-FFF2-40B4-BE49-F238E27FC236}">
                <a16:creationId xmlns:a16="http://schemas.microsoft.com/office/drawing/2014/main" id="{5C4A47D8-9106-B8EC-B0BF-5AC621938DD5}"/>
              </a:ext>
            </a:extLst>
          </p:cNvPr>
          <p:cNvSpPr/>
          <p:nvPr/>
        </p:nvSpPr>
        <p:spPr>
          <a:xfrm>
            <a:off x="4325612"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3</a:t>
            </a:r>
          </a:p>
        </p:txBody>
      </p:sp>
      <p:sp>
        <p:nvSpPr>
          <p:cNvPr id="54" name="Rectangle 53">
            <a:extLst>
              <a:ext uri="{FF2B5EF4-FFF2-40B4-BE49-F238E27FC236}">
                <a16:creationId xmlns:a16="http://schemas.microsoft.com/office/drawing/2014/main" id="{37D9865E-ABE0-F5C5-AE2C-33623BDAC77F}"/>
              </a:ext>
            </a:extLst>
          </p:cNvPr>
          <p:cNvSpPr/>
          <p:nvPr/>
        </p:nvSpPr>
        <p:spPr>
          <a:xfrm>
            <a:off x="4876942"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4</a:t>
            </a:r>
          </a:p>
        </p:txBody>
      </p:sp>
      <p:sp>
        <p:nvSpPr>
          <p:cNvPr id="55" name="Rectangle 54">
            <a:extLst>
              <a:ext uri="{FF2B5EF4-FFF2-40B4-BE49-F238E27FC236}">
                <a16:creationId xmlns:a16="http://schemas.microsoft.com/office/drawing/2014/main" id="{85C78672-4BCE-5098-83F1-C1134EE5FBE3}"/>
              </a:ext>
            </a:extLst>
          </p:cNvPr>
          <p:cNvSpPr/>
          <p:nvPr/>
        </p:nvSpPr>
        <p:spPr>
          <a:xfrm>
            <a:off x="5428272"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5</a:t>
            </a:r>
          </a:p>
        </p:txBody>
      </p:sp>
      <p:sp>
        <p:nvSpPr>
          <p:cNvPr id="56" name="Rectangle 55">
            <a:extLst>
              <a:ext uri="{FF2B5EF4-FFF2-40B4-BE49-F238E27FC236}">
                <a16:creationId xmlns:a16="http://schemas.microsoft.com/office/drawing/2014/main" id="{1F5017C3-EED5-90E5-D046-4D4BBC2880BA}"/>
              </a:ext>
            </a:extLst>
          </p:cNvPr>
          <p:cNvSpPr/>
          <p:nvPr/>
        </p:nvSpPr>
        <p:spPr>
          <a:xfrm>
            <a:off x="5979602"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6</a:t>
            </a:r>
          </a:p>
        </p:txBody>
      </p:sp>
      <p:sp>
        <p:nvSpPr>
          <p:cNvPr id="57" name="Rectangle 56">
            <a:extLst>
              <a:ext uri="{FF2B5EF4-FFF2-40B4-BE49-F238E27FC236}">
                <a16:creationId xmlns:a16="http://schemas.microsoft.com/office/drawing/2014/main" id="{A95CEF93-8B92-58A6-0BEF-E136AD819C0F}"/>
              </a:ext>
            </a:extLst>
          </p:cNvPr>
          <p:cNvSpPr/>
          <p:nvPr/>
        </p:nvSpPr>
        <p:spPr>
          <a:xfrm>
            <a:off x="6657694"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7</a:t>
            </a:r>
          </a:p>
        </p:txBody>
      </p:sp>
      <p:sp>
        <p:nvSpPr>
          <p:cNvPr id="58" name="Rectangle 57">
            <a:extLst>
              <a:ext uri="{FF2B5EF4-FFF2-40B4-BE49-F238E27FC236}">
                <a16:creationId xmlns:a16="http://schemas.microsoft.com/office/drawing/2014/main" id="{56BC17C9-B61E-8C60-665E-FD4487DE5BBD}"/>
              </a:ext>
            </a:extLst>
          </p:cNvPr>
          <p:cNvSpPr/>
          <p:nvPr/>
        </p:nvSpPr>
        <p:spPr>
          <a:xfrm>
            <a:off x="7209865"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8</a:t>
            </a:r>
          </a:p>
        </p:txBody>
      </p:sp>
      <p:sp>
        <p:nvSpPr>
          <p:cNvPr id="59" name="Rectangle 58">
            <a:extLst>
              <a:ext uri="{FF2B5EF4-FFF2-40B4-BE49-F238E27FC236}">
                <a16:creationId xmlns:a16="http://schemas.microsoft.com/office/drawing/2014/main" id="{B399DA74-C7B5-656E-3021-59F40093F9FF}"/>
              </a:ext>
            </a:extLst>
          </p:cNvPr>
          <p:cNvSpPr/>
          <p:nvPr/>
        </p:nvSpPr>
        <p:spPr>
          <a:xfrm>
            <a:off x="7762036"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9</a:t>
            </a:r>
          </a:p>
        </p:txBody>
      </p:sp>
      <p:sp>
        <p:nvSpPr>
          <p:cNvPr id="60" name="Rectangle 59">
            <a:extLst>
              <a:ext uri="{FF2B5EF4-FFF2-40B4-BE49-F238E27FC236}">
                <a16:creationId xmlns:a16="http://schemas.microsoft.com/office/drawing/2014/main" id="{535B3649-73AC-3984-345D-F2324C917818}"/>
              </a:ext>
            </a:extLst>
          </p:cNvPr>
          <p:cNvSpPr/>
          <p:nvPr/>
        </p:nvSpPr>
        <p:spPr>
          <a:xfrm>
            <a:off x="8314207"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10</a:t>
            </a:r>
          </a:p>
        </p:txBody>
      </p:sp>
      <p:sp>
        <p:nvSpPr>
          <p:cNvPr id="61" name="Rectangle 60">
            <a:extLst>
              <a:ext uri="{FF2B5EF4-FFF2-40B4-BE49-F238E27FC236}">
                <a16:creationId xmlns:a16="http://schemas.microsoft.com/office/drawing/2014/main" id="{AE0BCAE9-254F-AFBF-7423-1CCD7CC3F8D2}"/>
              </a:ext>
            </a:extLst>
          </p:cNvPr>
          <p:cNvSpPr/>
          <p:nvPr/>
        </p:nvSpPr>
        <p:spPr>
          <a:xfrm>
            <a:off x="8866376" y="139651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Calibri (body)"/>
              </a:rPr>
              <a:t>Taux 11</a:t>
            </a:r>
          </a:p>
        </p:txBody>
      </p:sp>
      <p:sp>
        <p:nvSpPr>
          <p:cNvPr id="62" name="Espace réservé du texte 16">
            <a:extLst>
              <a:ext uri="{FF2B5EF4-FFF2-40B4-BE49-F238E27FC236}">
                <a16:creationId xmlns:a16="http://schemas.microsoft.com/office/drawing/2014/main" id="{22DE4F3B-B70F-6E13-D137-3E6F16ACBBB4}"/>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50744651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0172D87E-ED66-CA8B-F2B9-EBEBCDFC495A}"/>
              </a:ext>
            </a:extLst>
          </p:cNvPr>
          <p:cNvSpPr>
            <a:spLocks noGrp="1"/>
          </p:cNvSpPr>
          <p:nvPr>
            <p:ph type="body" sz="quarter" idx="11"/>
          </p:nvPr>
        </p:nvSpPr>
        <p:spPr/>
        <p:txBody>
          <a:bodyPr/>
          <a:lstStyle/>
          <a:p>
            <a:r>
              <a:rPr lang="fr-FR" dirty="0"/>
              <a:t>Méthodologie de calcul des taux et marges futures</a:t>
            </a:r>
          </a:p>
          <a:p>
            <a:r>
              <a:rPr lang="fr-FR" sz="2000" dirty="0"/>
              <a:t>Exemple 2 – Emprunt à taux révisable : Détermination des marges futures</a:t>
            </a:r>
          </a:p>
        </p:txBody>
      </p:sp>
      <p:sp>
        <p:nvSpPr>
          <p:cNvPr id="4" name="ZoneTexte 16">
            <a:extLst>
              <a:ext uri="{FF2B5EF4-FFF2-40B4-BE49-F238E27FC236}">
                <a16:creationId xmlns:a16="http://schemas.microsoft.com/office/drawing/2014/main" id="{01268207-C707-71C3-9765-BF8A016E52B4}"/>
              </a:ext>
            </a:extLst>
          </p:cNvPr>
          <p:cNvSpPr txBox="1"/>
          <p:nvPr/>
        </p:nvSpPr>
        <p:spPr>
          <a:xfrm>
            <a:off x="660041" y="2180034"/>
            <a:ext cx="10838656" cy="4141466"/>
          </a:xfrm>
          <a:prstGeom prst="rect">
            <a:avLst/>
          </a:prstGeom>
          <a:solidFill>
            <a:schemeClr val="accent2">
              <a:lumMod val="20000"/>
              <a:lumOff val="80000"/>
            </a:schemeClr>
          </a:solidFill>
          <a:ln>
            <a:solidFill>
              <a:schemeClr val="accent2"/>
            </a:solidFill>
          </a:ln>
        </p:spPr>
        <p:txBody>
          <a:bodyPr wrap="square">
            <a:noAutofit/>
          </a:bodyPr>
          <a:lstStyle/>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r>
              <a:rPr kumimoji="0" lang="fr-FR" sz="1100" b="1" i="0" u="none" strike="noStrike" kern="1200" cap="none" spc="0" normalizeH="0" baseline="0" noProof="0" dirty="0">
                <a:ln>
                  <a:noFill/>
                </a:ln>
                <a:solidFill>
                  <a:srgbClr val="6437FF"/>
                </a:solidFill>
                <a:effectLst/>
                <a:uLnTx/>
                <a:uFillTx/>
                <a:latin typeface="MBLZ text" pitchFamily="2" charset="0"/>
                <a:ea typeface="Times New Roman" panose="02020603050405020304" pitchFamily="18" charset="0"/>
                <a:cs typeface="+mn-cs"/>
              </a:rPr>
              <a:t>Pour marge 2 </a:t>
            </a:r>
            <a:r>
              <a:rPr kumimoji="0" lang="fr-FR" sz="1100" b="1"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 </a:t>
            </a: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Le texte mentionne pour les passifs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Soit  dans cet exemple, pour Marge 2 (on suppose que le changement sur la marge en cas de downgrade sur les émissions </a:t>
            </a:r>
            <a:r>
              <a:rPr kumimoji="0" lang="fr-FR" sz="1100" b="0" i="0" u="none" strike="noStrike" kern="1200" cap="none" spc="0" normalizeH="0" baseline="0" noProof="0" dirty="0" err="1">
                <a:ln>
                  <a:noFill/>
                </a:ln>
                <a:solidFill>
                  <a:srgbClr val="000000"/>
                </a:solidFill>
                <a:effectLst/>
                <a:uLnTx/>
                <a:uFillTx/>
                <a:latin typeface="MBLZ text" pitchFamily="2" charset="0"/>
                <a:ea typeface="Times New Roman" panose="02020603050405020304" pitchFamily="18" charset="0"/>
                <a:cs typeface="+mn-cs"/>
              </a:rPr>
              <a:t>unsecured</a:t>
            </a: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 à 5 ans est de 15bp)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Pour une contrepartie « Non </a:t>
            </a:r>
            <a:r>
              <a:rPr kumimoji="0" lang="fr-FR" sz="1100" b="0" i="0" u="none" strike="noStrike" kern="1200" cap="none" spc="0" normalizeH="0" baseline="0" noProof="0" dirty="0" err="1">
                <a:ln>
                  <a:noFill/>
                </a:ln>
                <a:solidFill>
                  <a:srgbClr val="000000"/>
                </a:solidFill>
                <a:effectLst/>
                <a:uLnTx/>
                <a:uFillTx/>
                <a:latin typeface="MBLZ text" pitchFamily="2" charset="0"/>
                <a:ea typeface="Times New Roman" panose="02020603050405020304" pitchFamily="18" charset="0"/>
                <a:cs typeface="+mn-cs"/>
              </a:rPr>
              <a:t>financial</a:t>
            </a: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 Corporate », le paramètre </a:t>
            </a:r>
            <a:r>
              <a:rPr kumimoji="0" lang="el-G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γ</a:t>
            </a: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 est égal à 0.5. On supposera que la marge des nouveaux encours sur 2024 est égale à</a:t>
            </a:r>
            <a:r>
              <a:rPr kumimoji="0" lang="fr-FR" sz="1100" b="0" i="1"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 Marge 1 </a:t>
            </a: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soit 20bp.</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rPr>
              <a:t>Ainsi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171450" marR="0" lvl="0" indent="-171450" algn="just" defTabSz="914400" rtl="0" eaLnBrk="1" fontAlgn="auto" latinLnBrk="0" hangingPunct="1">
              <a:lnSpc>
                <a:spcPct val="100000"/>
              </a:lnSpc>
              <a:spcBef>
                <a:spcPts val="0"/>
              </a:spcBef>
              <a:spcAft>
                <a:spcPts val="0"/>
              </a:spcAft>
              <a:buClrTx/>
              <a:buSzTx/>
              <a:buFont typeface="Symbol" panose="05050102010706020507" pitchFamily="18" charset="2"/>
              <a:buChar char="Þ"/>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dirty="0">
              <a:ln>
                <a:noFill/>
              </a:ln>
              <a:solidFill>
                <a:srgbClr val="000000"/>
              </a:solidFill>
              <a:effectLst/>
              <a:uLnTx/>
              <a:uFillTx/>
              <a:latin typeface="MBLZ text" pitchFamily="2" charset="0"/>
              <a:ea typeface="Times New Roman" panose="02020603050405020304" pitchFamily="18" charset="0"/>
              <a:cs typeface="+mn-cs"/>
            </a:endParaRPr>
          </a:p>
        </p:txBody>
      </p:sp>
      <p:sp>
        <p:nvSpPr>
          <p:cNvPr id="5" name="TextBox 4">
            <a:extLst>
              <a:ext uri="{FF2B5EF4-FFF2-40B4-BE49-F238E27FC236}">
                <a16:creationId xmlns:a16="http://schemas.microsoft.com/office/drawing/2014/main" id="{7ADE0242-C4DB-CA6D-7143-B64446CF42E4}"/>
              </a:ext>
            </a:extLst>
          </p:cNvPr>
          <p:cNvSpPr txBox="1"/>
          <p:nvPr/>
        </p:nvSpPr>
        <p:spPr>
          <a:xfrm>
            <a:off x="1147672" y="2500882"/>
            <a:ext cx="9754328" cy="928118"/>
          </a:xfrm>
          <a:prstGeom prst="rect">
            <a:avLst/>
          </a:prstGeom>
          <a:noFill/>
          <a:ln>
            <a:solidFill>
              <a:schemeClr val="tx1"/>
            </a:solidFill>
          </a:ln>
        </p:spPr>
        <p:txBody>
          <a:bodyPr wrap="square" rtlCol="0">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Under the projection scenarios, the margin paid on interest-bearing liabilities should increase equal to the higher of a proportion of the changes in the sovereign spread of the country of location of the activity and the same proportion applied to the increase of an idiosyncratic component, derived from the impact on banks’ wholesale funding rate of a rating downgrade. For the baseline scenario , the idiosyncratic component should be set at 0.</a:t>
            </a:r>
          </a:p>
        </p:txBody>
      </p:sp>
      <p:graphicFrame>
        <p:nvGraphicFramePr>
          <p:cNvPr id="6" name="Table 5">
            <a:extLst>
              <a:ext uri="{FF2B5EF4-FFF2-40B4-BE49-F238E27FC236}">
                <a16:creationId xmlns:a16="http://schemas.microsoft.com/office/drawing/2014/main" id="{CA13C285-56D4-6392-2A48-A6EC7078B89D}"/>
              </a:ext>
            </a:extLst>
          </p:cNvPr>
          <p:cNvGraphicFramePr>
            <a:graphicFrameLocks noGrp="1"/>
          </p:cNvGraphicFramePr>
          <p:nvPr/>
        </p:nvGraphicFramePr>
        <p:xfrm>
          <a:off x="759168" y="3823579"/>
          <a:ext cx="6489700" cy="1280160"/>
        </p:xfrm>
        <a:graphic>
          <a:graphicData uri="http://schemas.openxmlformats.org/drawingml/2006/table">
            <a:tbl>
              <a:tblPr>
                <a:tableStyleId>{5C22544A-7EE6-4342-B048-85BDC9FD1C3A}</a:tableStyleId>
              </a:tblPr>
              <a:tblGrid>
                <a:gridCol w="1934832">
                  <a:extLst>
                    <a:ext uri="{9D8B030D-6E8A-4147-A177-3AD203B41FA5}">
                      <a16:colId xmlns:a16="http://schemas.microsoft.com/office/drawing/2014/main" val="1617607656"/>
                    </a:ext>
                  </a:extLst>
                </a:gridCol>
                <a:gridCol w="378000">
                  <a:extLst>
                    <a:ext uri="{9D8B030D-6E8A-4147-A177-3AD203B41FA5}">
                      <a16:colId xmlns:a16="http://schemas.microsoft.com/office/drawing/2014/main" val="3110234048"/>
                    </a:ext>
                  </a:extLst>
                </a:gridCol>
                <a:gridCol w="879058">
                  <a:extLst>
                    <a:ext uri="{9D8B030D-6E8A-4147-A177-3AD203B41FA5}">
                      <a16:colId xmlns:a16="http://schemas.microsoft.com/office/drawing/2014/main" val="2211644078"/>
                    </a:ext>
                  </a:extLst>
                </a:gridCol>
                <a:gridCol w="549635">
                  <a:extLst>
                    <a:ext uri="{9D8B030D-6E8A-4147-A177-3AD203B41FA5}">
                      <a16:colId xmlns:a16="http://schemas.microsoft.com/office/drawing/2014/main" val="769823231"/>
                    </a:ext>
                  </a:extLst>
                </a:gridCol>
                <a:gridCol w="549635">
                  <a:extLst>
                    <a:ext uri="{9D8B030D-6E8A-4147-A177-3AD203B41FA5}">
                      <a16:colId xmlns:a16="http://schemas.microsoft.com/office/drawing/2014/main" val="2983393761"/>
                    </a:ext>
                  </a:extLst>
                </a:gridCol>
                <a:gridCol w="549635">
                  <a:extLst>
                    <a:ext uri="{9D8B030D-6E8A-4147-A177-3AD203B41FA5}">
                      <a16:colId xmlns:a16="http://schemas.microsoft.com/office/drawing/2014/main" val="3915905733"/>
                    </a:ext>
                  </a:extLst>
                </a:gridCol>
                <a:gridCol w="549635">
                  <a:extLst>
                    <a:ext uri="{9D8B030D-6E8A-4147-A177-3AD203B41FA5}">
                      <a16:colId xmlns:a16="http://schemas.microsoft.com/office/drawing/2014/main" val="4190293990"/>
                    </a:ext>
                  </a:extLst>
                </a:gridCol>
                <a:gridCol w="549635">
                  <a:extLst>
                    <a:ext uri="{9D8B030D-6E8A-4147-A177-3AD203B41FA5}">
                      <a16:colId xmlns:a16="http://schemas.microsoft.com/office/drawing/2014/main" val="3126825574"/>
                    </a:ext>
                  </a:extLst>
                </a:gridCol>
                <a:gridCol w="549635">
                  <a:extLst>
                    <a:ext uri="{9D8B030D-6E8A-4147-A177-3AD203B41FA5}">
                      <a16:colId xmlns:a16="http://schemas.microsoft.com/office/drawing/2014/main" val="164507706"/>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Tenor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err="1">
                          <a:effectLst/>
                          <a:latin typeface="Calibri" panose="020F0502020204030204" pitchFamily="34" charset="0"/>
                          <a:ea typeface="Calibri" panose="020F0502020204030204" pitchFamily="34" charset="0"/>
                          <a:cs typeface="Calibri" panose="020F0502020204030204" pitchFamily="34" charset="0"/>
                        </a:rPr>
                        <a:t>Starting</a:t>
                      </a:r>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 point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gridSpan="3">
                  <a:txBody>
                    <a:bodyPr/>
                    <a:lstStyle/>
                    <a:p>
                      <a:pPr algn="ct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Baseline</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tc gridSpan="3">
                  <a:txBody>
                    <a:bodyPr/>
                    <a:lstStyle/>
                    <a:p>
                      <a:pPr algn="ct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Adverse</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449581099"/>
                  </a:ext>
                </a:extLst>
              </a:tr>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l"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2024 – Latest</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2025</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a:effectLst/>
                          <a:latin typeface="Calibri" panose="020F0502020204030204" pitchFamily="34" charset="0"/>
                          <a:ea typeface="Calibri" panose="020F0502020204030204" pitchFamily="34" charset="0"/>
                          <a:cs typeface="Calibri" panose="020F0502020204030204" pitchFamily="34" charset="0"/>
                        </a:rPr>
                        <a:t>2026</a:t>
                      </a:r>
                      <a:endParaRPr lang="fr-FR"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u="none" strike="noStrike" dirty="0">
                          <a:effectLst/>
                          <a:latin typeface="Calibri" panose="020F0502020204030204" pitchFamily="34" charset="0"/>
                          <a:ea typeface="Calibri" panose="020F0502020204030204" pitchFamily="34" charset="0"/>
                          <a:cs typeface="Calibri" panose="020F0502020204030204" pitchFamily="34" charset="0"/>
                        </a:rPr>
                        <a:t>2027</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411976108"/>
                  </a:ext>
                </a:extLst>
              </a:tr>
              <a:tr h="182880">
                <a:tc>
                  <a:txBody>
                    <a:bodyPr/>
                    <a:lstStyle/>
                    <a:p>
                      <a:pPr algn="l" fontAlgn="b"/>
                      <a:r>
                        <a:rPr lang="el-G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Δ</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Sov spread</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10Y</a:t>
                      </a:r>
                    </a:p>
                  </a:txBody>
                  <a:tcPr marL="7620" marR="7620" marT="7620" marB="0" anchor="b"/>
                </a:tc>
                <a:tc>
                  <a:txBody>
                    <a:bodyPr/>
                    <a:lstStyle/>
                    <a:p>
                      <a:pPr algn="r"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-0,21%</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0,02%</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0,26%</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0,65%</a:t>
                      </a:r>
                    </a:p>
                  </a:txBody>
                  <a:tcPr marL="7620" marR="7620" marT="7620" marB="0" anchor="b"/>
                </a:tc>
                <a:extLst>
                  <a:ext uri="{0D108BD9-81ED-4DB2-BD59-A6C34878D82A}">
                    <a16:rowId xmlns:a16="http://schemas.microsoft.com/office/drawing/2014/main" val="2033724575"/>
                  </a:ext>
                </a:extLst>
              </a:tr>
              <a:tr h="182880">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Price of a rating downgrade</a:t>
                      </a:r>
                    </a:p>
                  </a:txBody>
                  <a:tcPr marL="7620" marR="7620" marT="7620" marB="0" anchor="b"/>
                </a:tc>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5Y</a:t>
                      </a:r>
                    </a:p>
                  </a:txBody>
                  <a:tcPr marL="7620" marR="7620" marT="7620" marB="0" anchor="b"/>
                </a:tc>
                <a:tc>
                  <a:txBody>
                    <a:bodyPr/>
                    <a:lstStyle/>
                    <a:p>
                      <a:pPr algn="r"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620" marR="7620" marT="7620" marB="0" anchor="b"/>
                </a:tc>
                <a:extLst>
                  <a:ext uri="{0D108BD9-81ED-4DB2-BD59-A6C34878D82A}">
                    <a16:rowId xmlns:a16="http://schemas.microsoft.com/office/drawing/2014/main" val="98054828"/>
                  </a:ext>
                </a:extLst>
              </a:tr>
              <a:tr h="182880">
                <a:tc>
                  <a:txBody>
                    <a:bodyPr/>
                    <a:lstStyle/>
                    <a:p>
                      <a:pPr algn="l"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Floor on the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idiosyncratic</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comp</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620" marR="7620" marT="7620" marB="0" anchor="b"/>
                </a:tc>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extLst>
                  <a:ext uri="{0D108BD9-81ED-4DB2-BD59-A6C34878D82A}">
                    <a16:rowId xmlns:a16="http://schemas.microsoft.com/office/drawing/2014/main" val="1957904298"/>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l-G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Δ</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Idiosyncratic</a:t>
                      </a:r>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component</a:t>
                      </a:r>
                    </a:p>
                  </a:txBody>
                  <a:tcPr marL="7620" marR="7620" marT="7620" marB="0" anchor="b"/>
                </a:tc>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tc>
                  <a:txBody>
                    <a:bodyPr/>
                    <a:lstStyle/>
                    <a:p>
                      <a:pPr algn="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0,25%</a:t>
                      </a:r>
                    </a:p>
                  </a:txBody>
                  <a:tcPr marL="7620" marR="7620" marT="7620" marB="0" anchor="b"/>
                </a:tc>
                <a:extLst>
                  <a:ext uri="{0D108BD9-81ED-4DB2-BD59-A6C34878D82A}">
                    <a16:rowId xmlns:a16="http://schemas.microsoft.com/office/drawing/2014/main" val="4005152088"/>
                  </a:ext>
                </a:extLst>
              </a:tr>
              <a:tr h="182880">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Max (</a:t>
                      </a:r>
                      <a:r>
                        <a:rPr lang="el-G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Δ</a:t>
                      </a:r>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sov, </a:t>
                      </a:r>
                      <a:r>
                        <a:rPr lang="el-G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Δ</a:t>
                      </a:r>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fr-FR" sz="1100" b="1"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idiosyncratic</a:t>
                      </a:r>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620" marR="7620" marT="7620" marB="0" anchor="b"/>
                </a:tc>
                <a:tc>
                  <a:txBody>
                    <a:bodyPr/>
                    <a:lstStyle/>
                    <a:p>
                      <a:pPr algn="l" fontAlgn="b"/>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0,02%</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0,35%</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0,26%</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0,45%</a:t>
                      </a:r>
                    </a:p>
                  </a:txBody>
                  <a:tcPr marL="7620" marR="7620" marT="7620" marB="0" anchor="b"/>
                </a:tc>
                <a:tc>
                  <a:txBody>
                    <a:bodyPr/>
                    <a:lstStyle/>
                    <a:p>
                      <a:pPr algn="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0,65%</a:t>
                      </a:r>
                    </a:p>
                  </a:txBody>
                  <a:tcPr marL="7620" marR="7620" marT="7620" marB="0" anchor="b"/>
                </a:tc>
                <a:extLst>
                  <a:ext uri="{0D108BD9-81ED-4DB2-BD59-A6C34878D82A}">
                    <a16:rowId xmlns:a16="http://schemas.microsoft.com/office/drawing/2014/main" val="218826723"/>
                  </a:ext>
                </a:extLst>
              </a:tr>
            </a:tbl>
          </a:graphicData>
        </a:graphic>
      </p:graphicFrame>
      <p:graphicFrame>
        <p:nvGraphicFramePr>
          <p:cNvPr id="7" name="Table 6">
            <a:extLst>
              <a:ext uri="{FF2B5EF4-FFF2-40B4-BE49-F238E27FC236}">
                <a16:creationId xmlns:a16="http://schemas.microsoft.com/office/drawing/2014/main" id="{B51B0B7F-0A8D-69F0-D2C0-27CF6756960C}"/>
              </a:ext>
            </a:extLst>
          </p:cNvPr>
          <p:cNvGraphicFramePr>
            <a:graphicFrameLocks noGrp="1"/>
          </p:cNvGraphicFramePr>
          <p:nvPr/>
        </p:nvGraphicFramePr>
        <p:xfrm>
          <a:off x="756158" y="5598189"/>
          <a:ext cx="6438244" cy="365760"/>
        </p:xfrm>
        <a:graphic>
          <a:graphicData uri="http://schemas.openxmlformats.org/drawingml/2006/table">
            <a:tbl>
              <a:tblPr>
                <a:tableStyleId>{5C22544A-7EE6-4342-B048-85BDC9FD1C3A}</a:tableStyleId>
              </a:tblPr>
              <a:tblGrid>
                <a:gridCol w="1910603">
                  <a:extLst>
                    <a:ext uri="{9D8B030D-6E8A-4147-A177-3AD203B41FA5}">
                      <a16:colId xmlns:a16="http://schemas.microsoft.com/office/drawing/2014/main" val="1617607656"/>
                    </a:ext>
                  </a:extLst>
                </a:gridCol>
                <a:gridCol w="982742">
                  <a:extLst>
                    <a:ext uri="{9D8B030D-6E8A-4147-A177-3AD203B41FA5}">
                      <a16:colId xmlns:a16="http://schemas.microsoft.com/office/drawing/2014/main" val="266489559"/>
                    </a:ext>
                  </a:extLst>
                </a:gridCol>
                <a:gridCol w="982742">
                  <a:extLst>
                    <a:ext uri="{9D8B030D-6E8A-4147-A177-3AD203B41FA5}">
                      <a16:colId xmlns:a16="http://schemas.microsoft.com/office/drawing/2014/main" val="3110234048"/>
                    </a:ext>
                  </a:extLst>
                </a:gridCol>
                <a:gridCol w="1164617">
                  <a:extLst>
                    <a:ext uri="{9D8B030D-6E8A-4147-A177-3AD203B41FA5}">
                      <a16:colId xmlns:a16="http://schemas.microsoft.com/office/drawing/2014/main" val="2211644078"/>
                    </a:ext>
                  </a:extLst>
                </a:gridCol>
                <a:gridCol w="698770">
                  <a:extLst>
                    <a:ext uri="{9D8B030D-6E8A-4147-A177-3AD203B41FA5}">
                      <a16:colId xmlns:a16="http://schemas.microsoft.com/office/drawing/2014/main" val="769823231"/>
                    </a:ext>
                  </a:extLst>
                </a:gridCol>
                <a:gridCol w="698770">
                  <a:extLst>
                    <a:ext uri="{9D8B030D-6E8A-4147-A177-3AD203B41FA5}">
                      <a16:colId xmlns:a16="http://schemas.microsoft.com/office/drawing/2014/main" val="4190293990"/>
                    </a:ext>
                  </a:extLst>
                </a:gridCol>
              </a:tblGrid>
              <a:tr h="182880">
                <a:tc>
                  <a:txBody>
                    <a:bodyPr/>
                    <a:lstStyle/>
                    <a:p>
                      <a:pPr algn="l" fontAlgn="b"/>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Year</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Margin T0</a:t>
                      </a:r>
                    </a:p>
                  </a:txBody>
                  <a:tcPr marL="7620" marR="7620" marT="7620" marB="0" anchor="b"/>
                </a:tc>
                <a:tc>
                  <a:txBody>
                    <a:bodyPr/>
                    <a:lstStyle/>
                    <a:p>
                      <a:pPr algn="ctr" fontAlgn="b"/>
                      <a:r>
                        <a:rPr kumimoji="0" lang="fr-FR" sz="1100" b="0" i="0" u="none" strike="noStrike" kern="1200" cap="none" spc="0" normalizeH="0" baseline="0" noProof="0" dirty="0">
                          <a:ln>
                            <a:noFill/>
                          </a:ln>
                          <a:solidFill>
                            <a:srgbClr val="000000"/>
                          </a:solidFill>
                          <a:effectLst/>
                          <a:uLnTx/>
                          <a:uFillTx/>
                          <a:latin typeface="MBLZ text" pitchFamily="2" charset="0"/>
                          <a:ea typeface="Calibri" panose="020F0502020204030204" pitchFamily="34" charset="0"/>
                          <a:cs typeface="+mn-cs"/>
                        </a:rPr>
                        <a:t>γ</a:t>
                      </a:r>
                      <a:endPar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Baseline</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Adverse</a:t>
                      </a:r>
                    </a:p>
                  </a:txBody>
                  <a:tcPr marL="7620" marR="7620" marT="7620" marB="0" anchor="b"/>
                </a:tc>
                <a:extLst>
                  <a:ext uri="{0D108BD9-81ED-4DB2-BD59-A6C34878D82A}">
                    <a16:rowId xmlns:a16="http://schemas.microsoft.com/office/drawing/2014/main" val="2449581099"/>
                  </a:ext>
                </a:extLst>
              </a:tr>
              <a:tr h="182880">
                <a:tc>
                  <a:txBody>
                    <a:bodyPr/>
                    <a:lstStyle/>
                    <a:p>
                      <a:pPr algn="l" fontAlgn="b"/>
                      <a:r>
                        <a:rPr lang="fr-FR" sz="1100" b="1" u="none" strike="noStrike" dirty="0">
                          <a:effectLst/>
                          <a:latin typeface="Calibri" panose="020F0502020204030204" pitchFamily="34" charset="0"/>
                          <a:ea typeface="Calibri" panose="020F0502020204030204" pitchFamily="34" charset="0"/>
                          <a:cs typeface="Calibri" panose="020F0502020204030204" pitchFamily="34" charset="0"/>
                        </a:rPr>
                        <a:t>Marge 2</a:t>
                      </a:r>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2026</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0.20%</a:t>
                      </a:r>
                    </a:p>
                  </a:txBody>
                  <a:tcPr marL="7620" marR="7620" marT="7620" marB="0" anchor="b"/>
                </a:tc>
                <a:tc>
                  <a:txBody>
                    <a:bodyPr/>
                    <a:lstStyle/>
                    <a:p>
                      <a:pPr algn="ctr" fontAlgn="b"/>
                      <a:r>
                        <a:rPr lang="fr-FR"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0.5</a:t>
                      </a:r>
                    </a:p>
                  </a:txBody>
                  <a:tcPr marL="7620" marR="7620" marT="7620" marB="0" anchor="b"/>
                </a:tc>
                <a:tc>
                  <a:txBody>
                    <a:bodyPr/>
                    <a:lstStyle/>
                    <a:p>
                      <a:pPr algn="ctr" fontAlgn="b"/>
                      <a:r>
                        <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0,21%</a:t>
                      </a:r>
                    </a:p>
                  </a:txBody>
                  <a:tcPr marL="7620" marR="7620" marT="7620" marB="0" anchor="b"/>
                </a:tc>
                <a:tc>
                  <a:txBody>
                    <a:bodyPr/>
                    <a:lstStyle/>
                    <a:p>
                      <a:pPr algn="ctr" fontAlgn="b"/>
                      <a:r>
                        <a:rPr lang="fr-FR" sz="11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0.44%</a:t>
                      </a:r>
                      <a:endParaRPr lang="fr-FR"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620" marR="7620" marT="7620" marB="0" anchor="b"/>
                </a:tc>
                <a:extLst>
                  <a:ext uri="{0D108BD9-81ED-4DB2-BD59-A6C34878D82A}">
                    <a16:rowId xmlns:a16="http://schemas.microsoft.com/office/drawing/2014/main" val="1411976108"/>
                  </a:ext>
                </a:extLst>
              </a:tr>
            </a:tbl>
          </a:graphicData>
        </a:graphic>
      </p:graphicFrame>
      <p:cxnSp>
        <p:nvCxnSpPr>
          <p:cNvPr id="8" name="Straight Arrow Connector 7">
            <a:extLst>
              <a:ext uri="{FF2B5EF4-FFF2-40B4-BE49-F238E27FC236}">
                <a16:creationId xmlns:a16="http://schemas.microsoft.com/office/drawing/2014/main" id="{4AEA339A-3139-966F-BA0C-3B32B362F7C9}"/>
              </a:ext>
            </a:extLst>
          </p:cNvPr>
          <p:cNvCxnSpPr/>
          <p:nvPr/>
        </p:nvCxnSpPr>
        <p:spPr>
          <a:xfrm>
            <a:off x="918882" y="1685582"/>
            <a:ext cx="103814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35EBEF03-FD94-9DC9-AD7B-F83FBEE7A3A1}"/>
              </a:ext>
            </a:extLst>
          </p:cNvPr>
          <p:cNvSpPr/>
          <p:nvPr/>
        </p:nvSpPr>
        <p:spPr>
          <a:xfrm>
            <a:off x="918882" y="1376372"/>
            <a:ext cx="5560057" cy="238182"/>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MBLZ Bold"/>
                <a:ea typeface="+mn-ea"/>
                <a:cs typeface="+mn-cs"/>
              </a:rPr>
              <a:t>                                                                                            Marge 1 </a:t>
            </a:r>
          </a:p>
        </p:txBody>
      </p:sp>
      <p:sp>
        <p:nvSpPr>
          <p:cNvPr id="10" name="TextBox 9">
            <a:extLst>
              <a:ext uri="{FF2B5EF4-FFF2-40B4-BE49-F238E27FC236}">
                <a16:creationId xmlns:a16="http://schemas.microsoft.com/office/drawing/2014/main" id="{D5D2CAD6-2D0F-E994-F9F8-E77445F9358C}"/>
              </a:ext>
            </a:extLst>
          </p:cNvPr>
          <p:cNvSpPr txBox="1"/>
          <p:nvPr/>
        </p:nvSpPr>
        <p:spPr>
          <a:xfrm>
            <a:off x="763619" y="1720800"/>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MBLZ Bold"/>
                <a:ea typeface="+mn-ea"/>
                <a:cs typeface="+mn-cs"/>
              </a:rPr>
              <a:t>31.12.23</a:t>
            </a:r>
          </a:p>
        </p:txBody>
      </p:sp>
      <p:sp>
        <p:nvSpPr>
          <p:cNvPr id="11" name="TextBox 10">
            <a:extLst>
              <a:ext uri="{FF2B5EF4-FFF2-40B4-BE49-F238E27FC236}">
                <a16:creationId xmlns:a16="http://schemas.microsoft.com/office/drawing/2014/main" id="{C8115492-FF38-35C7-FE9E-FC255634948C}"/>
              </a:ext>
            </a:extLst>
          </p:cNvPr>
          <p:cNvSpPr txBox="1"/>
          <p:nvPr/>
        </p:nvSpPr>
        <p:spPr>
          <a:xfrm>
            <a:off x="6100939" y="1732742"/>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MBLZ Bold"/>
                <a:ea typeface="+mn-ea"/>
                <a:cs typeface="+mn-cs"/>
              </a:rPr>
              <a:t>30.06.26</a:t>
            </a:r>
          </a:p>
        </p:txBody>
      </p:sp>
      <p:sp>
        <p:nvSpPr>
          <p:cNvPr id="12" name="TextBox 11">
            <a:extLst>
              <a:ext uri="{FF2B5EF4-FFF2-40B4-BE49-F238E27FC236}">
                <a16:creationId xmlns:a16="http://schemas.microsoft.com/office/drawing/2014/main" id="{D4081398-3C59-1DA5-EE4E-CD9ABBD7C1B8}"/>
              </a:ext>
            </a:extLst>
          </p:cNvPr>
          <p:cNvSpPr txBox="1"/>
          <p:nvPr/>
        </p:nvSpPr>
        <p:spPr>
          <a:xfrm>
            <a:off x="9734433" y="1719659"/>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MBLZ Bold"/>
                <a:ea typeface="+mn-ea"/>
                <a:cs typeface="+mn-cs"/>
              </a:rPr>
              <a:t>31.12.27</a:t>
            </a:r>
          </a:p>
        </p:txBody>
      </p:sp>
      <p:sp>
        <p:nvSpPr>
          <p:cNvPr id="13" name="TextBox 12">
            <a:extLst>
              <a:ext uri="{FF2B5EF4-FFF2-40B4-BE49-F238E27FC236}">
                <a16:creationId xmlns:a16="http://schemas.microsoft.com/office/drawing/2014/main" id="{365B0B08-E687-853B-AE06-A4FA9031BE66}"/>
              </a:ext>
            </a:extLst>
          </p:cNvPr>
          <p:cNvSpPr txBox="1"/>
          <p:nvPr/>
        </p:nvSpPr>
        <p:spPr>
          <a:xfrm>
            <a:off x="2653619" y="1725886"/>
            <a:ext cx="756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black"/>
                </a:solidFill>
                <a:effectLst/>
                <a:uLnTx/>
                <a:uFillTx/>
                <a:latin typeface="MBLZ Bold"/>
                <a:ea typeface="+mn-ea"/>
                <a:cs typeface="+mn-cs"/>
              </a:rPr>
              <a:t>31.12.24</a:t>
            </a:r>
          </a:p>
        </p:txBody>
      </p:sp>
      <p:sp>
        <p:nvSpPr>
          <p:cNvPr id="14" name="Rectangle 13">
            <a:extLst>
              <a:ext uri="{FF2B5EF4-FFF2-40B4-BE49-F238E27FC236}">
                <a16:creationId xmlns:a16="http://schemas.microsoft.com/office/drawing/2014/main" id="{7F53F942-1948-6270-2582-35B358231F11}"/>
              </a:ext>
            </a:extLst>
          </p:cNvPr>
          <p:cNvSpPr/>
          <p:nvPr/>
        </p:nvSpPr>
        <p:spPr>
          <a:xfrm>
            <a:off x="6628632" y="1376369"/>
            <a:ext cx="5407367" cy="246221"/>
          </a:xfrm>
          <a:prstGeom prst="rect">
            <a:avLst/>
          </a:prstGeom>
          <a:solidFill>
            <a:srgbClr val="009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MBLZ Bold"/>
                <a:ea typeface="+mn-ea"/>
                <a:cs typeface="+mn-cs"/>
              </a:rPr>
              <a:t>                                                                     Marge 2                 </a:t>
            </a:r>
          </a:p>
        </p:txBody>
      </p:sp>
      <p:sp>
        <p:nvSpPr>
          <p:cNvPr id="15" name="Rectangle 14">
            <a:extLst>
              <a:ext uri="{FF2B5EF4-FFF2-40B4-BE49-F238E27FC236}">
                <a16:creationId xmlns:a16="http://schemas.microsoft.com/office/drawing/2014/main" id="{A27E5ADC-62AB-3BE2-1EDB-85952232B3CE}"/>
              </a:ext>
            </a:extLst>
          </p:cNvPr>
          <p:cNvSpPr/>
          <p:nvPr/>
        </p:nvSpPr>
        <p:spPr>
          <a:xfrm>
            <a:off x="10036792" y="1368332"/>
            <a:ext cx="1999208"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MBLZ Bold"/>
              <a:ea typeface="+mn-ea"/>
              <a:cs typeface="+mn-cs"/>
            </a:endParaRPr>
          </a:p>
        </p:txBody>
      </p:sp>
      <p:sp>
        <p:nvSpPr>
          <p:cNvPr id="16" name="Rectangle 15">
            <a:extLst>
              <a:ext uri="{FF2B5EF4-FFF2-40B4-BE49-F238E27FC236}">
                <a16:creationId xmlns:a16="http://schemas.microsoft.com/office/drawing/2014/main" id="{23A06333-0D18-4E8C-EFFE-F4EF8BB3755F}"/>
              </a:ext>
            </a:extLst>
          </p:cNvPr>
          <p:cNvSpPr/>
          <p:nvPr/>
        </p:nvSpPr>
        <p:spPr>
          <a:xfrm>
            <a:off x="920097" y="1376369"/>
            <a:ext cx="2136781" cy="246221"/>
          </a:xfrm>
          <a:prstGeom prst="rect">
            <a:avLst/>
          </a:prstGeom>
          <a:pattFill prst="dkDnDiag">
            <a:fgClr>
              <a:srgbClr val="0096FF"/>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MBLZ Bold"/>
              <a:ea typeface="+mn-ea"/>
              <a:cs typeface="+mn-cs"/>
            </a:endParaRPr>
          </a:p>
        </p:txBody>
      </p:sp>
      <p:sp>
        <p:nvSpPr>
          <p:cNvPr id="17" name="Rectangle 16">
            <a:extLst>
              <a:ext uri="{FF2B5EF4-FFF2-40B4-BE49-F238E27FC236}">
                <a16:creationId xmlns:a16="http://schemas.microsoft.com/office/drawing/2014/main" id="{8D0AF2EA-B277-0CCE-F5DC-E39E21C9C954}"/>
              </a:ext>
            </a:extLst>
          </p:cNvPr>
          <p:cNvSpPr/>
          <p:nvPr/>
        </p:nvSpPr>
        <p:spPr>
          <a:xfrm>
            <a:off x="1357619" y="1095944"/>
            <a:ext cx="2342726" cy="223837"/>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marR="0" lvl="1"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MBLZ Bold"/>
                <a:ea typeface="+mn-ea"/>
                <a:cs typeface="+mn-cs"/>
              </a:rPr>
              <a:t>Taux 1</a:t>
            </a:r>
          </a:p>
        </p:txBody>
      </p:sp>
      <p:sp>
        <p:nvSpPr>
          <p:cNvPr id="18" name="Rectangle 17">
            <a:extLst>
              <a:ext uri="{FF2B5EF4-FFF2-40B4-BE49-F238E27FC236}">
                <a16:creationId xmlns:a16="http://schemas.microsoft.com/office/drawing/2014/main" id="{6E636BD9-2462-6463-9DC1-3CB105EC62A0}"/>
              </a:ext>
            </a:extLst>
          </p:cNvPr>
          <p:cNvSpPr/>
          <p:nvPr/>
        </p:nvSpPr>
        <p:spPr>
          <a:xfrm>
            <a:off x="3758819"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2</a:t>
            </a:r>
          </a:p>
        </p:txBody>
      </p:sp>
      <p:sp>
        <p:nvSpPr>
          <p:cNvPr id="19" name="Rectangle 18">
            <a:extLst>
              <a:ext uri="{FF2B5EF4-FFF2-40B4-BE49-F238E27FC236}">
                <a16:creationId xmlns:a16="http://schemas.microsoft.com/office/drawing/2014/main" id="{DF3D9F4E-E419-E946-CBA9-6F8BAED77818}"/>
              </a:ext>
            </a:extLst>
          </p:cNvPr>
          <p:cNvSpPr/>
          <p:nvPr/>
        </p:nvSpPr>
        <p:spPr>
          <a:xfrm>
            <a:off x="9407100" y="1082991"/>
            <a:ext cx="2628900" cy="24622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000000"/>
                </a:solidFill>
                <a:effectLst/>
                <a:uLnTx/>
                <a:uFillTx/>
                <a:latin typeface="MBLZ Bold"/>
                <a:ea typeface="+mn-ea"/>
                <a:cs typeface="+mn-cs"/>
              </a:rPr>
              <a:t>Taux 12</a:t>
            </a:r>
          </a:p>
        </p:txBody>
      </p:sp>
      <p:sp>
        <p:nvSpPr>
          <p:cNvPr id="20" name="Rectangle 19">
            <a:extLst>
              <a:ext uri="{FF2B5EF4-FFF2-40B4-BE49-F238E27FC236}">
                <a16:creationId xmlns:a16="http://schemas.microsoft.com/office/drawing/2014/main" id="{85E8ADAA-B75A-0290-DBB3-1A18B97A7792}"/>
              </a:ext>
            </a:extLst>
          </p:cNvPr>
          <p:cNvSpPr/>
          <p:nvPr/>
        </p:nvSpPr>
        <p:spPr>
          <a:xfrm>
            <a:off x="10036792" y="1082991"/>
            <a:ext cx="1999208"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000000"/>
              </a:solidFill>
              <a:effectLst/>
              <a:uLnTx/>
              <a:uFillTx/>
              <a:latin typeface="MBLZ Bold"/>
              <a:ea typeface="+mn-ea"/>
              <a:cs typeface="+mn-cs"/>
            </a:endParaRPr>
          </a:p>
        </p:txBody>
      </p:sp>
      <p:sp>
        <p:nvSpPr>
          <p:cNvPr id="21" name="Rectangle 20">
            <a:extLst>
              <a:ext uri="{FF2B5EF4-FFF2-40B4-BE49-F238E27FC236}">
                <a16:creationId xmlns:a16="http://schemas.microsoft.com/office/drawing/2014/main" id="{7884B3BB-E5A4-7898-C1D2-23D493DDB395}"/>
              </a:ext>
            </a:extLst>
          </p:cNvPr>
          <p:cNvSpPr/>
          <p:nvPr/>
        </p:nvSpPr>
        <p:spPr>
          <a:xfrm>
            <a:off x="920097" y="1084750"/>
            <a:ext cx="2136781" cy="246221"/>
          </a:xfrm>
          <a:prstGeom prst="rect">
            <a:avLst/>
          </a:prstGeom>
          <a:pattFill prst="dkDnDiag">
            <a:fgClr>
              <a:srgbClr val="00B050"/>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MBLZ Bold"/>
              <a:ea typeface="+mn-ea"/>
              <a:cs typeface="+mn-cs"/>
            </a:endParaRPr>
          </a:p>
        </p:txBody>
      </p:sp>
      <p:sp>
        <p:nvSpPr>
          <p:cNvPr id="22" name="TextBox 21">
            <a:extLst>
              <a:ext uri="{FF2B5EF4-FFF2-40B4-BE49-F238E27FC236}">
                <a16:creationId xmlns:a16="http://schemas.microsoft.com/office/drawing/2014/main" id="{BC422C3D-6030-7614-5E70-A0A8E97191BC}"/>
              </a:ext>
            </a:extLst>
          </p:cNvPr>
          <p:cNvSpPr txBox="1"/>
          <p:nvPr/>
        </p:nvSpPr>
        <p:spPr>
          <a:xfrm>
            <a:off x="101508" y="999000"/>
            <a:ext cx="74252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MBLZ Bold"/>
                <a:ea typeface="+mn-ea"/>
                <a:cs typeface="+mn-cs"/>
              </a:rPr>
              <a:t>Taux</a:t>
            </a:r>
          </a:p>
        </p:txBody>
      </p:sp>
      <p:sp>
        <p:nvSpPr>
          <p:cNvPr id="23" name="TextBox 22">
            <a:extLst>
              <a:ext uri="{FF2B5EF4-FFF2-40B4-BE49-F238E27FC236}">
                <a16:creationId xmlns:a16="http://schemas.microsoft.com/office/drawing/2014/main" id="{BA739416-7D7B-A7B4-F707-F754B1189664}"/>
              </a:ext>
            </a:extLst>
          </p:cNvPr>
          <p:cNvSpPr txBox="1"/>
          <p:nvPr/>
        </p:nvSpPr>
        <p:spPr>
          <a:xfrm>
            <a:off x="114908" y="1330971"/>
            <a:ext cx="87869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prstClr val="black"/>
                </a:solidFill>
                <a:effectLst/>
                <a:uLnTx/>
                <a:uFillTx/>
                <a:latin typeface="MBLZ Bold"/>
                <a:ea typeface="+mn-ea"/>
                <a:cs typeface="+mn-cs"/>
              </a:rPr>
              <a:t>Marge</a:t>
            </a:r>
          </a:p>
        </p:txBody>
      </p:sp>
      <p:sp>
        <p:nvSpPr>
          <p:cNvPr id="24" name="Rectangle 23">
            <a:extLst>
              <a:ext uri="{FF2B5EF4-FFF2-40B4-BE49-F238E27FC236}">
                <a16:creationId xmlns:a16="http://schemas.microsoft.com/office/drawing/2014/main" id="{8E8EF8C9-B457-F07F-36DE-E70275F3531E}"/>
              </a:ext>
            </a:extLst>
          </p:cNvPr>
          <p:cNvSpPr/>
          <p:nvPr/>
        </p:nvSpPr>
        <p:spPr>
          <a:xfrm>
            <a:off x="4310149"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3</a:t>
            </a:r>
          </a:p>
        </p:txBody>
      </p:sp>
      <p:sp>
        <p:nvSpPr>
          <p:cNvPr id="25" name="Rectangle 24">
            <a:extLst>
              <a:ext uri="{FF2B5EF4-FFF2-40B4-BE49-F238E27FC236}">
                <a16:creationId xmlns:a16="http://schemas.microsoft.com/office/drawing/2014/main" id="{C6E70DB3-B89A-005A-FF88-9932207BDB5F}"/>
              </a:ext>
            </a:extLst>
          </p:cNvPr>
          <p:cNvSpPr/>
          <p:nvPr/>
        </p:nvSpPr>
        <p:spPr>
          <a:xfrm>
            <a:off x="4861479"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4</a:t>
            </a:r>
          </a:p>
        </p:txBody>
      </p:sp>
      <p:sp>
        <p:nvSpPr>
          <p:cNvPr id="26" name="Rectangle 25">
            <a:extLst>
              <a:ext uri="{FF2B5EF4-FFF2-40B4-BE49-F238E27FC236}">
                <a16:creationId xmlns:a16="http://schemas.microsoft.com/office/drawing/2014/main" id="{D56FC374-19EB-0751-C030-992A29DA9BA2}"/>
              </a:ext>
            </a:extLst>
          </p:cNvPr>
          <p:cNvSpPr/>
          <p:nvPr/>
        </p:nvSpPr>
        <p:spPr>
          <a:xfrm>
            <a:off x="5412809"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5</a:t>
            </a:r>
          </a:p>
        </p:txBody>
      </p:sp>
      <p:sp>
        <p:nvSpPr>
          <p:cNvPr id="27" name="Rectangle 26">
            <a:extLst>
              <a:ext uri="{FF2B5EF4-FFF2-40B4-BE49-F238E27FC236}">
                <a16:creationId xmlns:a16="http://schemas.microsoft.com/office/drawing/2014/main" id="{A13C60A5-ABA2-5E2D-290A-6F341A7407C9}"/>
              </a:ext>
            </a:extLst>
          </p:cNvPr>
          <p:cNvSpPr/>
          <p:nvPr/>
        </p:nvSpPr>
        <p:spPr>
          <a:xfrm>
            <a:off x="5964139"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6</a:t>
            </a:r>
          </a:p>
        </p:txBody>
      </p:sp>
      <p:sp>
        <p:nvSpPr>
          <p:cNvPr id="28" name="Rectangle 27">
            <a:extLst>
              <a:ext uri="{FF2B5EF4-FFF2-40B4-BE49-F238E27FC236}">
                <a16:creationId xmlns:a16="http://schemas.microsoft.com/office/drawing/2014/main" id="{06B29EAC-DEDD-95CC-1DB7-F646475435BC}"/>
              </a:ext>
            </a:extLst>
          </p:cNvPr>
          <p:cNvSpPr/>
          <p:nvPr/>
        </p:nvSpPr>
        <p:spPr>
          <a:xfrm>
            <a:off x="6642231"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7</a:t>
            </a:r>
          </a:p>
        </p:txBody>
      </p:sp>
      <p:sp>
        <p:nvSpPr>
          <p:cNvPr id="29" name="Rectangle 28">
            <a:extLst>
              <a:ext uri="{FF2B5EF4-FFF2-40B4-BE49-F238E27FC236}">
                <a16:creationId xmlns:a16="http://schemas.microsoft.com/office/drawing/2014/main" id="{434DBB05-0EBB-492E-35A6-DFE4BC36A81E}"/>
              </a:ext>
            </a:extLst>
          </p:cNvPr>
          <p:cNvSpPr/>
          <p:nvPr/>
        </p:nvSpPr>
        <p:spPr>
          <a:xfrm>
            <a:off x="7194402"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8</a:t>
            </a:r>
          </a:p>
        </p:txBody>
      </p:sp>
      <p:sp>
        <p:nvSpPr>
          <p:cNvPr id="30" name="Rectangle 29">
            <a:extLst>
              <a:ext uri="{FF2B5EF4-FFF2-40B4-BE49-F238E27FC236}">
                <a16:creationId xmlns:a16="http://schemas.microsoft.com/office/drawing/2014/main" id="{FAD28C73-A6CF-E711-C49A-9A5DBE4EDDF6}"/>
              </a:ext>
            </a:extLst>
          </p:cNvPr>
          <p:cNvSpPr/>
          <p:nvPr/>
        </p:nvSpPr>
        <p:spPr>
          <a:xfrm>
            <a:off x="7746573"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9</a:t>
            </a:r>
          </a:p>
        </p:txBody>
      </p:sp>
      <p:sp>
        <p:nvSpPr>
          <p:cNvPr id="31" name="Rectangle 30">
            <a:extLst>
              <a:ext uri="{FF2B5EF4-FFF2-40B4-BE49-F238E27FC236}">
                <a16:creationId xmlns:a16="http://schemas.microsoft.com/office/drawing/2014/main" id="{5F9DFD8B-61C7-0886-5662-470C9C40E46C}"/>
              </a:ext>
            </a:extLst>
          </p:cNvPr>
          <p:cNvSpPr/>
          <p:nvPr/>
        </p:nvSpPr>
        <p:spPr>
          <a:xfrm>
            <a:off x="8298744"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10</a:t>
            </a:r>
          </a:p>
        </p:txBody>
      </p:sp>
      <p:sp>
        <p:nvSpPr>
          <p:cNvPr id="32" name="Rectangle 31">
            <a:extLst>
              <a:ext uri="{FF2B5EF4-FFF2-40B4-BE49-F238E27FC236}">
                <a16:creationId xmlns:a16="http://schemas.microsoft.com/office/drawing/2014/main" id="{68D1A7E3-05DE-54FD-7C00-7A2AA49B9D54}"/>
              </a:ext>
            </a:extLst>
          </p:cNvPr>
          <p:cNvSpPr/>
          <p:nvPr/>
        </p:nvSpPr>
        <p:spPr>
          <a:xfrm>
            <a:off x="8850913" y="1084752"/>
            <a:ext cx="514800" cy="2444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1" indent="0" algn="ctr" defTabSz="625475" rtl="0" eaLnBrk="1" fontAlgn="auto" latinLnBrk="0" hangingPunct="1">
              <a:lnSpc>
                <a:spcPct val="100000"/>
              </a:lnSpc>
              <a:spcBef>
                <a:spcPts val="0"/>
              </a:spcBef>
              <a:spcAft>
                <a:spcPts val="0"/>
              </a:spcAft>
              <a:buClrTx/>
              <a:buSzTx/>
              <a:buFontTx/>
              <a:buNone/>
              <a:tabLst/>
              <a:defRPr/>
            </a:pPr>
            <a:r>
              <a:rPr kumimoji="0" lang="fr-FR" sz="900" b="0" i="0" u="none" strike="noStrike" kern="1200" cap="none" spc="0" normalizeH="0" baseline="0" noProof="0" dirty="0">
                <a:ln>
                  <a:noFill/>
                </a:ln>
                <a:solidFill>
                  <a:srgbClr val="000000"/>
                </a:solidFill>
                <a:effectLst/>
                <a:uLnTx/>
                <a:uFillTx/>
                <a:latin typeface="MBLZ Bold"/>
                <a:ea typeface="+mn-ea"/>
                <a:cs typeface="+mn-cs"/>
              </a:rPr>
              <a:t>Taux 11</a:t>
            </a:r>
          </a:p>
        </p:txBody>
      </p:sp>
      <p:pic>
        <p:nvPicPr>
          <p:cNvPr id="33" name="Picture 32">
            <a:extLst>
              <a:ext uri="{FF2B5EF4-FFF2-40B4-BE49-F238E27FC236}">
                <a16:creationId xmlns:a16="http://schemas.microsoft.com/office/drawing/2014/main" id="{547BD0D1-EFAF-0030-0A05-E8A4DD228FB9}"/>
              </a:ext>
            </a:extLst>
          </p:cNvPr>
          <p:cNvPicPr>
            <a:picLocks noChangeAspect="1"/>
          </p:cNvPicPr>
          <p:nvPr/>
        </p:nvPicPr>
        <p:blipFill>
          <a:blip r:embed="rId2"/>
          <a:stretch>
            <a:fillRect/>
          </a:stretch>
        </p:blipFill>
        <p:spPr>
          <a:xfrm>
            <a:off x="3376656" y="3072991"/>
            <a:ext cx="5296359" cy="281964"/>
          </a:xfrm>
          <a:prstGeom prst="rect">
            <a:avLst/>
          </a:prstGeom>
        </p:spPr>
      </p:pic>
      <p:sp>
        <p:nvSpPr>
          <p:cNvPr id="62" name="Espace réservé du texte 16">
            <a:extLst>
              <a:ext uri="{FF2B5EF4-FFF2-40B4-BE49-F238E27FC236}">
                <a16:creationId xmlns:a16="http://schemas.microsoft.com/office/drawing/2014/main" id="{D2F5A24E-3DCC-F8E7-5E16-82E1E39103E1}"/>
              </a:ext>
            </a:extLst>
          </p:cNvPr>
          <p:cNvSpPr txBox="1">
            <a:spLocks/>
          </p:cNvSpPr>
          <p:nvPr/>
        </p:nvSpPr>
        <p:spPr>
          <a:xfrm flipH="1">
            <a:off x="75568" y="62260"/>
            <a:ext cx="648000" cy="608400"/>
          </a:xfrm>
          <a:prstGeom prst="parallelogram">
            <a:avLst/>
          </a:prstGeom>
          <a:solidFill>
            <a:schemeClr val="accent6">
              <a:lumMod val="60000"/>
              <a:lumOff val="40000"/>
            </a:schemeClr>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4</a:t>
            </a:r>
          </a:p>
        </p:txBody>
      </p:sp>
    </p:spTree>
    <p:extLst>
      <p:ext uri="{BB962C8B-B14F-4D97-AF65-F5344CB8AC3E}">
        <p14:creationId xmlns:p14="http://schemas.microsoft.com/office/powerpoint/2010/main" val="160572032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6D8219C-5124-AD11-73B1-66F676811C31}"/>
              </a:ext>
            </a:extLst>
          </p:cNvPr>
          <p:cNvSpPr>
            <a:spLocks noGrp="1"/>
          </p:cNvSpPr>
          <p:nvPr>
            <p:ph type="body" sz="quarter" idx="11"/>
          </p:nvPr>
        </p:nvSpPr>
        <p:spPr/>
        <p:txBody>
          <a:bodyPr/>
          <a:lstStyle/>
          <a:p>
            <a:r>
              <a:rPr lang="fr-FR" dirty="0"/>
              <a:t>Annexes</a:t>
            </a:r>
          </a:p>
        </p:txBody>
      </p:sp>
      <p:graphicFrame>
        <p:nvGraphicFramePr>
          <p:cNvPr id="6" name="Table 5">
            <a:extLst>
              <a:ext uri="{FF2B5EF4-FFF2-40B4-BE49-F238E27FC236}">
                <a16:creationId xmlns:a16="http://schemas.microsoft.com/office/drawing/2014/main" id="{B39A0EC9-4117-ECD5-67B3-26941C806F36}"/>
              </a:ext>
            </a:extLst>
          </p:cNvPr>
          <p:cNvGraphicFramePr>
            <a:graphicFrameLocks noGrp="1"/>
          </p:cNvGraphicFramePr>
          <p:nvPr/>
        </p:nvGraphicFramePr>
        <p:xfrm>
          <a:off x="999137" y="1637238"/>
          <a:ext cx="5890578" cy="2003335"/>
        </p:xfrm>
        <a:graphic>
          <a:graphicData uri="http://schemas.openxmlformats.org/drawingml/2006/table">
            <a:tbl>
              <a:tblPr firstRow="1" bandRow="1">
                <a:tableStyleId>{B407F83F-F4B1-428F-90E6-6AE17F0CE779}</a:tableStyleId>
              </a:tblPr>
              <a:tblGrid>
                <a:gridCol w="2945289">
                  <a:extLst>
                    <a:ext uri="{9D8B030D-6E8A-4147-A177-3AD203B41FA5}">
                      <a16:colId xmlns:a16="http://schemas.microsoft.com/office/drawing/2014/main" val="365084050"/>
                    </a:ext>
                  </a:extLst>
                </a:gridCol>
                <a:gridCol w="2945289">
                  <a:extLst>
                    <a:ext uri="{9D8B030D-6E8A-4147-A177-3AD203B41FA5}">
                      <a16:colId xmlns:a16="http://schemas.microsoft.com/office/drawing/2014/main" val="3308542114"/>
                    </a:ext>
                  </a:extLst>
                </a:gridCol>
              </a:tblGrid>
              <a:tr h="527422">
                <a:tc>
                  <a:txBody>
                    <a:bodyPr/>
                    <a:lstStyle/>
                    <a:p>
                      <a:r>
                        <a:rPr lang="fr-FR" b="1" dirty="0"/>
                        <a:t>Documents réglementaires</a:t>
                      </a:r>
                    </a:p>
                  </a:txBody>
                  <a:tcPr>
                    <a:solidFill>
                      <a:schemeClr val="bg1">
                        <a:lumMod val="75000"/>
                      </a:schemeClr>
                    </a:solidFill>
                  </a:tcPr>
                </a:tc>
                <a:tc>
                  <a:txBody>
                    <a:bodyPr/>
                    <a:lstStyle/>
                    <a:p>
                      <a:r>
                        <a:rPr lang="fr-FR" b="1" dirty="0"/>
                        <a:t>Liens</a:t>
                      </a:r>
                    </a:p>
                  </a:txBody>
                  <a:tcPr>
                    <a:solidFill>
                      <a:schemeClr val="bg1">
                        <a:lumMod val="75000"/>
                      </a:schemeClr>
                    </a:solidFill>
                  </a:tcPr>
                </a:tc>
                <a:extLst>
                  <a:ext uri="{0D108BD9-81ED-4DB2-BD59-A6C34878D82A}">
                    <a16:rowId xmlns:a16="http://schemas.microsoft.com/office/drawing/2014/main" val="3062179187"/>
                  </a:ext>
                </a:extLst>
              </a:tr>
              <a:tr h="527422">
                <a:tc>
                  <a:txBody>
                    <a:bodyPr/>
                    <a:lstStyle/>
                    <a:p>
                      <a:r>
                        <a:rPr lang="fr-FR" dirty="0"/>
                        <a:t>Note méthodologique + Guide sur le remplissage des Templates</a:t>
                      </a:r>
                    </a:p>
                  </a:txBody>
                  <a:tcPr/>
                </a:tc>
                <a:tc>
                  <a:txBody>
                    <a:bodyPr/>
                    <a:lstStyle/>
                    <a:p>
                      <a:r>
                        <a:rPr lang="fr-FR" dirty="0">
                          <a:hlinkClick r:id="rId2"/>
                        </a:rPr>
                        <a:t>Lien EBA</a:t>
                      </a:r>
                      <a:endParaRPr lang="fr-FR" dirty="0"/>
                    </a:p>
                  </a:txBody>
                  <a:tcPr/>
                </a:tc>
                <a:extLst>
                  <a:ext uri="{0D108BD9-81ED-4DB2-BD59-A6C34878D82A}">
                    <a16:rowId xmlns:a16="http://schemas.microsoft.com/office/drawing/2014/main" val="2162853318"/>
                  </a:ext>
                </a:extLst>
              </a:tr>
              <a:tr h="561513">
                <a:tc>
                  <a:txBody>
                    <a:bodyPr/>
                    <a:lstStyle/>
                    <a:p>
                      <a:endParaRPr lang="fr-FR" dirty="0"/>
                    </a:p>
                  </a:txBody>
                  <a:tcPr/>
                </a:tc>
                <a:tc>
                  <a:txBody>
                    <a:bodyPr/>
                    <a:lstStyle/>
                    <a:p>
                      <a:endParaRPr lang="fr-FR" dirty="0"/>
                    </a:p>
                  </a:txBody>
                  <a:tcPr/>
                </a:tc>
                <a:extLst>
                  <a:ext uri="{0D108BD9-81ED-4DB2-BD59-A6C34878D82A}">
                    <a16:rowId xmlns:a16="http://schemas.microsoft.com/office/drawing/2014/main" val="1660030121"/>
                  </a:ext>
                </a:extLst>
              </a:tr>
            </a:tbl>
          </a:graphicData>
        </a:graphic>
      </p:graphicFrame>
    </p:spTree>
    <p:extLst>
      <p:ext uri="{BB962C8B-B14F-4D97-AF65-F5344CB8AC3E}">
        <p14:creationId xmlns:p14="http://schemas.microsoft.com/office/powerpoint/2010/main" val="218810122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Trame PPT pour la thématique CSRBB</a:t>
            </a:r>
          </a:p>
        </p:txBody>
      </p:sp>
      <p:sp>
        <p:nvSpPr>
          <p:cNvPr id="4" name="Rectangle 3">
            <a:extLst>
              <a:ext uri="{FF2B5EF4-FFF2-40B4-BE49-F238E27FC236}">
                <a16:creationId xmlns:a16="http://schemas.microsoft.com/office/drawing/2014/main" id="{8F9D1BCE-D5E2-90BE-DF71-D8BD11D49805}"/>
              </a:ext>
            </a:extLst>
          </p:cNvPr>
          <p:cNvSpPr/>
          <p:nvPr/>
        </p:nvSpPr>
        <p:spPr>
          <a:xfrm>
            <a:off x="4272101" y="3147997"/>
            <a:ext cx="5164667" cy="29972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dirty="0"/>
              <a:t>Gap </a:t>
            </a:r>
            <a:r>
              <a:rPr lang="fr-FR" dirty="0" err="1"/>
              <a:t>analysis</a:t>
            </a:r>
            <a:r>
              <a:rPr lang="fr-FR" dirty="0"/>
              <a:t> avec IRRBB ?</a:t>
            </a:r>
          </a:p>
          <a:p>
            <a:pPr algn="ctr"/>
            <a:r>
              <a:rPr lang="fr-FR" dirty="0"/>
              <a:t>+ tableau avec les différents taux ? …</a:t>
            </a:r>
          </a:p>
          <a:p>
            <a:pPr algn="ctr"/>
            <a:endParaRPr lang="fr-FR" dirty="0"/>
          </a:p>
        </p:txBody>
      </p:sp>
    </p:spTree>
    <p:extLst>
      <p:ext uri="{BB962C8B-B14F-4D97-AF65-F5344CB8AC3E}">
        <p14:creationId xmlns:p14="http://schemas.microsoft.com/office/powerpoint/2010/main" val="52224433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F957DE3-100D-0B9F-E112-53B250FB008B}"/>
              </a:ext>
            </a:extLst>
          </p:cNvPr>
          <p:cNvSpPr>
            <a:spLocks noGrp="1"/>
          </p:cNvSpPr>
          <p:nvPr>
            <p:ph type="body" sz="quarter" idx="11"/>
          </p:nvPr>
        </p:nvSpPr>
        <p:spPr>
          <a:noFill/>
        </p:spPr>
        <p:txBody>
          <a:bodyPr anchor="ctr"/>
          <a:lstStyle/>
          <a:p>
            <a:r>
              <a:rPr lang="fr-FR" dirty="0"/>
              <a:t>	Risque de taux dans le </a:t>
            </a:r>
            <a:r>
              <a:rPr lang="fr-FR" dirty="0" err="1"/>
              <a:t>banking</a:t>
            </a:r>
            <a:r>
              <a:rPr lang="fr-FR" dirty="0"/>
              <a:t> book</a:t>
            </a:r>
          </a:p>
          <a:p>
            <a:pPr>
              <a:spcBef>
                <a:spcPts val="0"/>
              </a:spcBef>
            </a:pPr>
            <a:r>
              <a:rPr lang="fr-FR" sz="2000" b="0" dirty="0"/>
              <a:t>	Notion de taux d’intérêt</a:t>
            </a:r>
          </a:p>
        </p:txBody>
      </p:sp>
      <p:sp>
        <p:nvSpPr>
          <p:cNvPr id="4" name="object 3">
            <a:extLst>
              <a:ext uri="{FF2B5EF4-FFF2-40B4-BE49-F238E27FC236}">
                <a16:creationId xmlns:a16="http://schemas.microsoft.com/office/drawing/2014/main" id="{0FE6394E-3F4A-770C-DC12-BF19D6F07E2A}"/>
              </a:ext>
            </a:extLst>
          </p:cNvPr>
          <p:cNvSpPr/>
          <p:nvPr/>
        </p:nvSpPr>
        <p:spPr>
          <a:xfrm>
            <a:off x="7892796" y="7033259"/>
            <a:ext cx="0" cy="472440"/>
          </a:xfrm>
          <a:custGeom>
            <a:avLst/>
            <a:gdLst/>
            <a:ahLst/>
            <a:cxnLst/>
            <a:rect l="l" t="t" r="r" b="b"/>
            <a:pathLst>
              <a:path h="472440">
                <a:moveTo>
                  <a:pt x="0" y="0"/>
                </a:moveTo>
                <a:lnTo>
                  <a:pt x="0" y="4724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grpSp>
        <p:nvGrpSpPr>
          <p:cNvPr id="5" name="object 4">
            <a:extLst>
              <a:ext uri="{FF2B5EF4-FFF2-40B4-BE49-F238E27FC236}">
                <a16:creationId xmlns:a16="http://schemas.microsoft.com/office/drawing/2014/main" id="{C1D71733-34F6-2D81-E688-139A31F5A274}"/>
              </a:ext>
            </a:extLst>
          </p:cNvPr>
          <p:cNvGrpSpPr/>
          <p:nvPr/>
        </p:nvGrpSpPr>
        <p:grpSpPr>
          <a:xfrm>
            <a:off x="7339571" y="7065276"/>
            <a:ext cx="404495" cy="411988"/>
            <a:chOff x="7339571" y="7065276"/>
            <a:chExt cx="404495" cy="411988"/>
          </a:xfrm>
          <a:noFill/>
        </p:grpSpPr>
        <p:sp>
          <p:nvSpPr>
            <p:cNvPr id="6" name="object 5">
              <a:extLst>
                <a:ext uri="{FF2B5EF4-FFF2-40B4-BE49-F238E27FC236}">
                  <a16:creationId xmlns:a16="http://schemas.microsoft.com/office/drawing/2014/main" id="{29F6F458-560F-8894-3E55-09C7A71AF8C4}"/>
                </a:ext>
              </a:extLst>
            </p:cNvPr>
            <p:cNvSpPr/>
            <p:nvPr/>
          </p:nvSpPr>
          <p:spPr>
            <a:xfrm>
              <a:off x="7339571" y="7065276"/>
              <a:ext cx="404495" cy="411480"/>
            </a:xfrm>
            <a:custGeom>
              <a:avLst/>
              <a:gdLst/>
              <a:ahLst/>
              <a:cxnLst/>
              <a:rect l="l" t="t" r="r" b="b"/>
              <a:pathLst>
                <a:path w="404495" h="411479">
                  <a:moveTo>
                    <a:pt x="403872" y="0"/>
                  </a:moveTo>
                  <a:lnTo>
                    <a:pt x="0" y="0"/>
                  </a:lnTo>
                  <a:lnTo>
                    <a:pt x="0" y="46990"/>
                  </a:lnTo>
                  <a:lnTo>
                    <a:pt x="0" y="411480"/>
                  </a:lnTo>
                  <a:lnTo>
                    <a:pt x="48768" y="411480"/>
                  </a:lnTo>
                  <a:lnTo>
                    <a:pt x="48768" y="46990"/>
                  </a:lnTo>
                  <a:lnTo>
                    <a:pt x="358140" y="46990"/>
                  </a:lnTo>
                  <a:lnTo>
                    <a:pt x="358140" y="411480"/>
                  </a:lnTo>
                  <a:lnTo>
                    <a:pt x="403872" y="411480"/>
                  </a:lnTo>
                  <a:lnTo>
                    <a:pt x="403872" y="46990"/>
                  </a:lnTo>
                  <a:lnTo>
                    <a:pt x="403872" y="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7" name="object 6">
              <a:extLst>
                <a:ext uri="{FF2B5EF4-FFF2-40B4-BE49-F238E27FC236}">
                  <a16:creationId xmlns:a16="http://schemas.microsoft.com/office/drawing/2014/main" id="{B74E1C72-ABD9-BC0B-AF1C-F1804148DEAF}"/>
                </a:ext>
              </a:extLst>
            </p:cNvPr>
            <p:cNvSpPr/>
            <p:nvPr/>
          </p:nvSpPr>
          <p:spPr>
            <a:xfrm>
              <a:off x="7511795" y="7295387"/>
              <a:ext cx="59690" cy="48895"/>
            </a:xfrm>
            <a:custGeom>
              <a:avLst/>
              <a:gdLst/>
              <a:ahLst/>
              <a:cxnLst/>
              <a:rect l="l" t="t" r="r" b="b"/>
              <a:pathLst>
                <a:path w="59690" h="48895">
                  <a:moveTo>
                    <a:pt x="59435" y="48767"/>
                  </a:moveTo>
                  <a:lnTo>
                    <a:pt x="0" y="48767"/>
                  </a:lnTo>
                  <a:lnTo>
                    <a:pt x="0" y="0"/>
                  </a:lnTo>
                  <a:lnTo>
                    <a:pt x="59435" y="0"/>
                  </a:lnTo>
                  <a:lnTo>
                    <a:pt x="59435" y="48767"/>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8" name="object 7">
              <a:extLst>
                <a:ext uri="{FF2B5EF4-FFF2-40B4-BE49-F238E27FC236}">
                  <a16:creationId xmlns:a16="http://schemas.microsoft.com/office/drawing/2014/main" id="{8CE0C4B1-0348-FFD9-4264-63B89FCF7122}"/>
                </a:ext>
              </a:extLst>
            </p:cNvPr>
            <p:cNvSpPr/>
            <p:nvPr/>
          </p:nvSpPr>
          <p:spPr>
            <a:xfrm>
              <a:off x="7427976" y="7152639"/>
              <a:ext cx="144780" cy="323850"/>
            </a:xfrm>
            <a:custGeom>
              <a:avLst/>
              <a:gdLst/>
              <a:ahLst/>
              <a:cxnLst/>
              <a:rect l="l" t="t" r="r" b="b"/>
              <a:pathLst>
                <a:path w="144779" h="323850">
                  <a:moveTo>
                    <a:pt x="144780" y="276860"/>
                  </a:moveTo>
                  <a:lnTo>
                    <a:pt x="48768" y="276860"/>
                  </a:lnTo>
                  <a:lnTo>
                    <a:pt x="48768" y="0"/>
                  </a:lnTo>
                  <a:lnTo>
                    <a:pt x="0" y="0"/>
                  </a:lnTo>
                  <a:lnTo>
                    <a:pt x="0" y="276860"/>
                  </a:lnTo>
                  <a:lnTo>
                    <a:pt x="0" y="323850"/>
                  </a:lnTo>
                  <a:lnTo>
                    <a:pt x="144780" y="323850"/>
                  </a:lnTo>
                  <a:lnTo>
                    <a:pt x="144780" y="27686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9" name="object 8">
              <a:extLst>
                <a:ext uri="{FF2B5EF4-FFF2-40B4-BE49-F238E27FC236}">
                  <a16:creationId xmlns:a16="http://schemas.microsoft.com/office/drawing/2014/main" id="{20AD0A77-A08B-4C35-41E1-32E5FA0A9569}"/>
                </a:ext>
              </a:extLst>
            </p:cNvPr>
            <p:cNvSpPr/>
            <p:nvPr/>
          </p:nvSpPr>
          <p:spPr>
            <a:xfrm>
              <a:off x="7511796" y="7152144"/>
              <a:ext cx="142240" cy="325120"/>
            </a:xfrm>
            <a:custGeom>
              <a:avLst/>
              <a:gdLst/>
              <a:ahLst/>
              <a:cxnLst/>
              <a:rect l="l" t="t" r="r" b="b"/>
              <a:pathLst>
                <a:path w="142240" h="325120">
                  <a:moveTo>
                    <a:pt x="141732" y="0"/>
                  </a:moveTo>
                  <a:lnTo>
                    <a:pt x="0" y="0"/>
                  </a:lnTo>
                  <a:lnTo>
                    <a:pt x="0" y="48260"/>
                  </a:lnTo>
                  <a:lnTo>
                    <a:pt x="94488" y="48260"/>
                  </a:lnTo>
                  <a:lnTo>
                    <a:pt x="94488" y="325120"/>
                  </a:lnTo>
                  <a:lnTo>
                    <a:pt x="141732" y="325120"/>
                  </a:lnTo>
                  <a:lnTo>
                    <a:pt x="141732" y="48260"/>
                  </a:lnTo>
                  <a:lnTo>
                    <a:pt x="141732" y="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grpSp>
      <p:pic>
        <p:nvPicPr>
          <p:cNvPr id="10" name="object 9">
            <a:extLst>
              <a:ext uri="{FF2B5EF4-FFF2-40B4-BE49-F238E27FC236}">
                <a16:creationId xmlns:a16="http://schemas.microsoft.com/office/drawing/2014/main" id="{3C35C66E-CB3F-40E2-269B-186F9EEC59F3}"/>
              </a:ext>
            </a:extLst>
          </p:cNvPr>
          <p:cNvPicPr/>
          <p:nvPr/>
        </p:nvPicPr>
        <p:blipFill>
          <a:blip r:embed="rId3" cstate="print"/>
          <a:stretch>
            <a:fillRect/>
          </a:stretch>
        </p:blipFill>
        <p:spPr>
          <a:xfrm>
            <a:off x="8057388" y="7161276"/>
            <a:ext cx="123444" cy="96012"/>
          </a:xfrm>
          <a:prstGeom prst="rect">
            <a:avLst/>
          </a:prstGeom>
          <a:noFill/>
        </p:spPr>
      </p:pic>
      <p:grpSp>
        <p:nvGrpSpPr>
          <p:cNvPr id="11" name="object 10">
            <a:extLst>
              <a:ext uri="{FF2B5EF4-FFF2-40B4-BE49-F238E27FC236}">
                <a16:creationId xmlns:a16="http://schemas.microsoft.com/office/drawing/2014/main" id="{F39AF2CE-35E7-DDC8-5488-8E27EB0C4EA9}"/>
              </a:ext>
            </a:extLst>
          </p:cNvPr>
          <p:cNvGrpSpPr/>
          <p:nvPr/>
        </p:nvGrpSpPr>
        <p:grpSpPr>
          <a:xfrm>
            <a:off x="8240255" y="7160767"/>
            <a:ext cx="622058" cy="97028"/>
            <a:chOff x="8240255" y="7160767"/>
            <a:chExt cx="622058" cy="97028"/>
          </a:xfrm>
          <a:noFill/>
        </p:grpSpPr>
        <p:sp>
          <p:nvSpPr>
            <p:cNvPr id="12" name="object 11">
              <a:extLst>
                <a:ext uri="{FF2B5EF4-FFF2-40B4-BE49-F238E27FC236}">
                  <a16:creationId xmlns:a16="http://schemas.microsoft.com/office/drawing/2014/main" id="{840143FA-D174-F453-9235-AB2576A9A8C0}"/>
                </a:ext>
              </a:extLst>
            </p:cNvPr>
            <p:cNvSpPr/>
            <p:nvPr/>
          </p:nvSpPr>
          <p:spPr>
            <a:xfrm>
              <a:off x="8240255" y="7160767"/>
              <a:ext cx="86995" cy="96520"/>
            </a:xfrm>
            <a:custGeom>
              <a:avLst/>
              <a:gdLst/>
              <a:ahLst/>
              <a:cxnLst/>
              <a:rect l="l" t="t" r="r" b="b"/>
              <a:pathLst>
                <a:path w="86995" h="96520">
                  <a:moveTo>
                    <a:pt x="86868" y="78740"/>
                  </a:moveTo>
                  <a:lnTo>
                    <a:pt x="21336" y="78740"/>
                  </a:lnTo>
                  <a:lnTo>
                    <a:pt x="21336" y="0"/>
                  </a:lnTo>
                  <a:lnTo>
                    <a:pt x="0" y="0"/>
                  </a:lnTo>
                  <a:lnTo>
                    <a:pt x="0" y="78740"/>
                  </a:lnTo>
                  <a:lnTo>
                    <a:pt x="0" y="96520"/>
                  </a:lnTo>
                  <a:lnTo>
                    <a:pt x="86868" y="96520"/>
                  </a:lnTo>
                  <a:lnTo>
                    <a:pt x="86868" y="7874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pic>
          <p:nvPicPr>
            <p:cNvPr id="13" name="object 12">
              <a:extLst>
                <a:ext uri="{FF2B5EF4-FFF2-40B4-BE49-F238E27FC236}">
                  <a16:creationId xmlns:a16="http://schemas.microsoft.com/office/drawing/2014/main" id="{A158D297-3608-D45E-60EF-8987057F5499}"/>
                </a:ext>
              </a:extLst>
            </p:cNvPr>
            <p:cNvPicPr/>
            <p:nvPr/>
          </p:nvPicPr>
          <p:blipFill>
            <a:blip r:embed="rId4" cstate="print"/>
            <a:stretch>
              <a:fillRect/>
            </a:stretch>
          </p:blipFill>
          <p:spPr>
            <a:xfrm>
              <a:off x="8368283" y="7161275"/>
              <a:ext cx="117348" cy="96012"/>
            </a:xfrm>
            <a:prstGeom prst="rect">
              <a:avLst/>
            </a:prstGeom>
            <a:grpFill/>
          </p:spPr>
        </p:pic>
        <p:pic>
          <p:nvPicPr>
            <p:cNvPr id="14" name="object 13">
              <a:extLst>
                <a:ext uri="{FF2B5EF4-FFF2-40B4-BE49-F238E27FC236}">
                  <a16:creationId xmlns:a16="http://schemas.microsoft.com/office/drawing/2014/main" id="{05F23F5F-4E48-F852-EF28-3F50FE25E294}"/>
                </a:ext>
              </a:extLst>
            </p:cNvPr>
            <p:cNvPicPr/>
            <p:nvPr/>
          </p:nvPicPr>
          <p:blipFill>
            <a:blip r:embed="rId5" cstate="print"/>
            <a:stretch>
              <a:fillRect/>
            </a:stretch>
          </p:blipFill>
          <p:spPr>
            <a:xfrm>
              <a:off x="8529827" y="7161275"/>
              <a:ext cx="109728" cy="96012"/>
            </a:xfrm>
            <a:prstGeom prst="rect">
              <a:avLst/>
            </a:prstGeom>
            <a:grpFill/>
          </p:spPr>
        </p:pic>
        <p:pic>
          <p:nvPicPr>
            <p:cNvPr id="15" name="object 14">
              <a:extLst>
                <a:ext uri="{FF2B5EF4-FFF2-40B4-BE49-F238E27FC236}">
                  <a16:creationId xmlns:a16="http://schemas.microsoft.com/office/drawing/2014/main" id="{EF85DA0B-F0F1-9DEC-D5D2-2361EA8E2CC4}"/>
                </a:ext>
              </a:extLst>
            </p:cNvPr>
            <p:cNvPicPr/>
            <p:nvPr/>
          </p:nvPicPr>
          <p:blipFill>
            <a:blip r:embed="rId6" cstate="print"/>
            <a:stretch>
              <a:fillRect/>
            </a:stretch>
          </p:blipFill>
          <p:spPr>
            <a:xfrm>
              <a:off x="8677655" y="7161275"/>
              <a:ext cx="120396" cy="96012"/>
            </a:xfrm>
            <a:prstGeom prst="rect">
              <a:avLst/>
            </a:prstGeom>
            <a:grpFill/>
          </p:spPr>
        </p:pic>
        <p:sp>
          <p:nvSpPr>
            <p:cNvPr id="16" name="object 15">
              <a:extLst>
                <a:ext uri="{FF2B5EF4-FFF2-40B4-BE49-F238E27FC236}">
                  <a16:creationId xmlns:a16="http://schemas.microsoft.com/office/drawing/2014/main" id="{65A90C1E-4C51-B911-33BA-88BC886A3004}"/>
                </a:ext>
              </a:extLst>
            </p:cNvPr>
            <p:cNvSpPr/>
            <p:nvPr/>
          </p:nvSpPr>
          <p:spPr>
            <a:xfrm>
              <a:off x="8840723" y="7161275"/>
              <a:ext cx="21590" cy="96520"/>
            </a:xfrm>
            <a:custGeom>
              <a:avLst/>
              <a:gdLst/>
              <a:ahLst/>
              <a:cxnLst/>
              <a:rect l="l" t="t" r="r" b="b"/>
              <a:pathLst>
                <a:path w="21590" h="96520">
                  <a:moveTo>
                    <a:pt x="21336" y="96011"/>
                  </a:moveTo>
                  <a:lnTo>
                    <a:pt x="0" y="96011"/>
                  </a:lnTo>
                  <a:lnTo>
                    <a:pt x="0" y="0"/>
                  </a:lnTo>
                  <a:lnTo>
                    <a:pt x="21336" y="0"/>
                  </a:lnTo>
                  <a:lnTo>
                    <a:pt x="21336" y="9601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grpSp>
      <p:pic>
        <p:nvPicPr>
          <p:cNvPr id="17" name="object 16">
            <a:extLst>
              <a:ext uri="{FF2B5EF4-FFF2-40B4-BE49-F238E27FC236}">
                <a16:creationId xmlns:a16="http://schemas.microsoft.com/office/drawing/2014/main" id="{69AE7696-D252-06B9-7B87-8B3860151B90}"/>
              </a:ext>
            </a:extLst>
          </p:cNvPr>
          <p:cNvPicPr/>
          <p:nvPr/>
        </p:nvPicPr>
        <p:blipFill>
          <a:blip r:embed="rId7" cstate="print"/>
          <a:stretch>
            <a:fillRect/>
          </a:stretch>
        </p:blipFill>
        <p:spPr>
          <a:xfrm>
            <a:off x="8913876" y="7158227"/>
            <a:ext cx="106680" cy="102107"/>
          </a:xfrm>
          <a:prstGeom prst="rect">
            <a:avLst/>
          </a:prstGeom>
          <a:noFill/>
        </p:spPr>
      </p:pic>
      <p:pic>
        <p:nvPicPr>
          <p:cNvPr id="18" name="object 17">
            <a:extLst>
              <a:ext uri="{FF2B5EF4-FFF2-40B4-BE49-F238E27FC236}">
                <a16:creationId xmlns:a16="http://schemas.microsoft.com/office/drawing/2014/main" id="{5C47DB6D-4EDA-96BE-F55D-5D186EC16D64}"/>
              </a:ext>
            </a:extLst>
          </p:cNvPr>
          <p:cNvPicPr/>
          <p:nvPr/>
        </p:nvPicPr>
        <p:blipFill>
          <a:blip r:embed="rId8" cstate="print"/>
          <a:stretch>
            <a:fillRect/>
          </a:stretch>
        </p:blipFill>
        <p:spPr>
          <a:xfrm>
            <a:off x="9067800" y="7158228"/>
            <a:ext cx="115824" cy="102108"/>
          </a:xfrm>
          <a:prstGeom prst="rect">
            <a:avLst/>
          </a:prstGeom>
          <a:noFill/>
        </p:spPr>
      </p:pic>
      <p:grpSp>
        <p:nvGrpSpPr>
          <p:cNvPr id="19" name="object 18">
            <a:extLst>
              <a:ext uri="{FF2B5EF4-FFF2-40B4-BE49-F238E27FC236}">
                <a16:creationId xmlns:a16="http://schemas.microsoft.com/office/drawing/2014/main" id="{EFA5C0DA-684D-60E0-5274-E007215B6D4B}"/>
              </a:ext>
            </a:extLst>
          </p:cNvPr>
          <p:cNvGrpSpPr/>
          <p:nvPr/>
        </p:nvGrpSpPr>
        <p:grpSpPr>
          <a:xfrm>
            <a:off x="9240011" y="7161276"/>
            <a:ext cx="257556" cy="96012"/>
            <a:chOff x="9240011" y="7161276"/>
            <a:chExt cx="257556" cy="96012"/>
          </a:xfrm>
          <a:noFill/>
        </p:grpSpPr>
        <p:pic>
          <p:nvPicPr>
            <p:cNvPr id="20" name="object 19">
              <a:extLst>
                <a:ext uri="{FF2B5EF4-FFF2-40B4-BE49-F238E27FC236}">
                  <a16:creationId xmlns:a16="http://schemas.microsoft.com/office/drawing/2014/main" id="{916E990C-D2AA-0E0C-B725-90FD7589D585}"/>
                </a:ext>
              </a:extLst>
            </p:cNvPr>
            <p:cNvPicPr/>
            <p:nvPr/>
          </p:nvPicPr>
          <p:blipFill>
            <a:blip r:embed="rId9" cstate="print"/>
            <a:stretch>
              <a:fillRect/>
            </a:stretch>
          </p:blipFill>
          <p:spPr>
            <a:xfrm>
              <a:off x="9240011" y="7161276"/>
              <a:ext cx="103632" cy="96012"/>
            </a:xfrm>
            <a:prstGeom prst="rect">
              <a:avLst/>
            </a:prstGeom>
            <a:grpFill/>
          </p:spPr>
        </p:pic>
        <p:pic>
          <p:nvPicPr>
            <p:cNvPr id="21" name="object 20">
              <a:extLst>
                <a:ext uri="{FF2B5EF4-FFF2-40B4-BE49-F238E27FC236}">
                  <a16:creationId xmlns:a16="http://schemas.microsoft.com/office/drawing/2014/main" id="{6EAD4D52-0716-74C2-A783-6027F16FD747}"/>
                </a:ext>
              </a:extLst>
            </p:cNvPr>
            <p:cNvPicPr/>
            <p:nvPr/>
          </p:nvPicPr>
          <p:blipFill>
            <a:blip r:embed="rId10" cstate="print"/>
            <a:stretch>
              <a:fillRect/>
            </a:stretch>
          </p:blipFill>
          <p:spPr>
            <a:xfrm>
              <a:off x="9375647" y="7161276"/>
              <a:ext cx="121920" cy="96012"/>
            </a:xfrm>
            <a:prstGeom prst="rect">
              <a:avLst/>
            </a:prstGeom>
            <a:grpFill/>
          </p:spPr>
        </p:pic>
      </p:grpSp>
      <p:sp>
        <p:nvSpPr>
          <p:cNvPr id="22" name="object 21">
            <a:extLst>
              <a:ext uri="{FF2B5EF4-FFF2-40B4-BE49-F238E27FC236}">
                <a16:creationId xmlns:a16="http://schemas.microsoft.com/office/drawing/2014/main" id="{41D868D6-DBB9-DF8F-A315-BD1D82FE5594}"/>
              </a:ext>
            </a:extLst>
          </p:cNvPr>
          <p:cNvSpPr/>
          <p:nvPr/>
        </p:nvSpPr>
        <p:spPr>
          <a:xfrm>
            <a:off x="8057388" y="7333488"/>
            <a:ext cx="1431290" cy="55244"/>
          </a:xfrm>
          <a:custGeom>
            <a:avLst/>
            <a:gdLst/>
            <a:ahLst/>
            <a:cxnLst/>
            <a:rect l="l" t="t" r="r" b="b"/>
            <a:pathLst>
              <a:path w="1431290" h="55245">
                <a:moveTo>
                  <a:pt x="47244" y="7632"/>
                </a:moveTo>
                <a:lnTo>
                  <a:pt x="46101" y="6108"/>
                </a:lnTo>
                <a:lnTo>
                  <a:pt x="42672" y="1536"/>
                </a:lnTo>
                <a:lnTo>
                  <a:pt x="42672" y="9156"/>
                </a:lnTo>
                <a:lnTo>
                  <a:pt x="42672" y="21348"/>
                </a:lnTo>
                <a:lnTo>
                  <a:pt x="39624" y="25920"/>
                </a:lnTo>
                <a:lnTo>
                  <a:pt x="4572" y="25920"/>
                </a:lnTo>
                <a:lnTo>
                  <a:pt x="4572" y="6108"/>
                </a:lnTo>
                <a:lnTo>
                  <a:pt x="39624" y="6108"/>
                </a:lnTo>
                <a:lnTo>
                  <a:pt x="42672" y="9156"/>
                </a:lnTo>
                <a:lnTo>
                  <a:pt x="42672" y="1536"/>
                </a:lnTo>
                <a:lnTo>
                  <a:pt x="0" y="1536"/>
                </a:lnTo>
                <a:lnTo>
                  <a:pt x="0" y="47256"/>
                </a:lnTo>
                <a:lnTo>
                  <a:pt x="4572" y="47256"/>
                </a:lnTo>
                <a:lnTo>
                  <a:pt x="4572" y="28968"/>
                </a:lnTo>
                <a:lnTo>
                  <a:pt x="28956" y="28968"/>
                </a:lnTo>
                <a:lnTo>
                  <a:pt x="42672" y="47256"/>
                </a:lnTo>
                <a:lnTo>
                  <a:pt x="47244" y="47256"/>
                </a:lnTo>
                <a:lnTo>
                  <a:pt x="33528" y="28968"/>
                </a:lnTo>
                <a:lnTo>
                  <a:pt x="42672" y="27444"/>
                </a:lnTo>
                <a:lnTo>
                  <a:pt x="44196" y="25920"/>
                </a:lnTo>
                <a:lnTo>
                  <a:pt x="47244" y="22872"/>
                </a:lnTo>
                <a:lnTo>
                  <a:pt x="47244" y="7632"/>
                </a:lnTo>
                <a:close/>
              </a:path>
              <a:path w="1431290" h="55245">
                <a:moveTo>
                  <a:pt x="73139" y="1536"/>
                </a:moveTo>
                <a:lnTo>
                  <a:pt x="68567" y="1536"/>
                </a:lnTo>
                <a:lnTo>
                  <a:pt x="68567" y="47256"/>
                </a:lnTo>
                <a:lnTo>
                  <a:pt x="73139" y="47256"/>
                </a:lnTo>
                <a:lnTo>
                  <a:pt x="73139" y="1536"/>
                </a:lnTo>
                <a:close/>
              </a:path>
              <a:path w="1431290" h="55245">
                <a:moveTo>
                  <a:pt x="140208" y="28968"/>
                </a:moveTo>
                <a:lnTo>
                  <a:pt x="137160" y="25920"/>
                </a:lnTo>
                <a:lnTo>
                  <a:pt x="132588" y="22872"/>
                </a:lnTo>
                <a:lnTo>
                  <a:pt x="129540" y="21348"/>
                </a:lnTo>
                <a:lnTo>
                  <a:pt x="103632" y="21348"/>
                </a:lnTo>
                <a:lnTo>
                  <a:pt x="97536" y="19824"/>
                </a:lnTo>
                <a:lnTo>
                  <a:pt x="97536" y="7632"/>
                </a:lnTo>
                <a:lnTo>
                  <a:pt x="103632" y="4584"/>
                </a:lnTo>
                <a:lnTo>
                  <a:pt x="121920" y="4584"/>
                </a:lnTo>
                <a:lnTo>
                  <a:pt x="128016" y="6108"/>
                </a:lnTo>
                <a:lnTo>
                  <a:pt x="134112" y="9156"/>
                </a:lnTo>
                <a:lnTo>
                  <a:pt x="137160" y="6108"/>
                </a:lnTo>
                <a:lnTo>
                  <a:pt x="131064" y="1536"/>
                </a:lnTo>
                <a:lnTo>
                  <a:pt x="100584" y="1536"/>
                </a:lnTo>
                <a:lnTo>
                  <a:pt x="92964" y="6108"/>
                </a:lnTo>
                <a:lnTo>
                  <a:pt x="92964" y="18300"/>
                </a:lnTo>
                <a:lnTo>
                  <a:pt x="96012" y="21348"/>
                </a:lnTo>
                <a:lnTo>
                  <a:pt x="99060" y="22872"/>
                </a:lnTo>
                <a:lnTo>
                  <a:pt x="103632" y="24396"/>
                </a:lnTo>
                <a:lnTo>
                  <a:pt x="109728" y="25920"/>
                </a:lnTo>
                <a:lnTo>
                  <a:pt x="129540" y="25920"/>
                </a:lnTo>
                <a:lnTo>
                  <a:pt x="135636" y="27444"/>
                </a:lnTo>
                <a:lnTo>
                  <a:pt x="135636" y="41160"/>
                </a:lnTo>
                <a:lnTo>
                  <a:pt x="128016" y="44208"/>
                </a:lnTo>
                <a:lnTo>
                  <a:pt x="108204" y="44208"/>
                </a:lnTo>
                <a:lnTo>
                  <a:pt x="100584" y="42684"/>
                </a:lnTo>
                <a:lnTo>
                  <a:pt x="94488" y="38112"/>
                </a:lnTo>
                <a:lnTo>
                  <a:pt x="91440" y="42684"/>
                </a:lnTo>
                <a:lnTo>
                  <a:pt x="96558" y="45554"/>
                </a:lnTo>
                <a:lnTo>
                  <a:pt x="102679" y="47447"/>
                </a:lnTo>
                <a:lnTo>
                  <a:pt x="109651" y="48463"/>
                </a:lnTo>
                <a:lnTo>
                  <a:pt x="117348" y="48780"/>
                </a:lnTo>
                <a:lnTo>
                  <a:pt x="127342" y="47675"/>
                </a:lnTo>
                <a:lnTo>
                  <a:pt x="134493" y="44589"/>
                </a:lnTo>
                <a:lnTo>
                  <a:pt x="138772" y="39776"/>
                </a:lnTo>
                <a:lnTo>
                  <a:pt x="140208" y="33540"/>
                </a:lnTo>
                <a:lnTo>
                  <a:pt x="140208" y="28968"/>
                </a:lnTo>
                <a:close/>
              </a:path>
              <a:path w="1431290" h="55245">
                <a:moveTo>
                  <a:pt x="207251" y="47256"/>
                </a:moveTo>
                <a:lnTo>
                  <a:pt x="182867" y="18300"/>
                </a:lnTo>
                <a:lnTo>
                  <a:pt x="204203" y="1536"/>
                </a:lnTo>
                <a:lnTo>
                  <a:pt x="198107" y="1536"/>
                </a:lnTo>
                <a:lnTo>
                  <a:pt x="164579" y="28968"/>
                </a:lnTo>
                <a:lnTo>
                  <a:pt x="164579" y="1536"/>
                </a:lnTo>
                <a:lnTo>
                  <a:pt x="160007" y="1536"/>
                </a:lnTo>
                <a:lnTo>
                  <a:pt x="160007" y="47256"/>
                </a:lnTo>
                <a:lnTo>
                  <a:pt x="164579" y="47256"/>
                </a:lnTo>
                <a:lnTo>
                  <a:pt x="164579" y="33540"/>
                </a:lnTo>
                <a:lnTo>
                  <a:pt x="179819" y="21348"/>
                </a:lnTo>
                <a:lnTo>
                  <a:pt x="202679" y="47256"/>
                </a:lnTo>
                <a:lnTo>
                  <a:pt x="207251" y="47256"/>
                </a:lnTo>
                <a:close/>
              </a:path>
              <a:path w="1431290" h="55245">
                <a:moveTo>
                  <a:pt x="292608" y="47256"/>
                </a:moveTo>
                <a:lnTo>
                  <a:pt x="286105" y="35064"/>
                </a:lnTo>
                <a:lnTo>
                  <a:pt x="284480" y="32016"/>
                </a:lnTo>
                <a:lnTo>
                  <a:pt x="278892" y="21539"/>
                </a:lnTo>
                <a:lnTo>
                  <a:pt x="278892" y="32016"/>
                </a:lnTo>
                <a:lnTo>
                  <a:pt x="251460" y="32016"/>
                </a:lnTo>
                <a:lnTo>
                  <a:pt x="265176" y="6108"/>
                </a:lnTo>
                <a:lnTo>
                  <a:pt x="278892" y="32016"/>
                </a:lnTo>
                <a:lnTo>
                  <a:pt x="278892" y="21539"/>
                </a:lnTo>
                <a:lnTo>
                  <a:pt x="270662" y="6108"/>
                </a:lnTo>
                <a:lnTo>
                  <a:pt x="268224" y="1536"/>
                </a:lnTo>
                <a:lnTo>
                  <a:pt x="262128" y="1536"/>
                </a:lnTo>
                <a:lnTo>
                  <a:pt x="237744" y="47256"/>
                </a:lnTo>
                <a:lnTo>
                  <a:pt x="242316" y="47256"/>
                </a:lnTo>
                <a:lnTo>
                  <a:pt x="248412" y="35064"/>
                </a:lnTo>
                <a:lnTo>
                  <a:pt x="280416" y="35064"/>
                </a:lnTo>
                <a:lnTo>
                  <a:pt x="288036" y="47256"/>
                </a:lnTo>
                <a:lnTo>
                  <a:pt x="292608" y="47256"/>
                </a:lnTo>
                <a:close/>
              </a:path>
              <a:path w="1431290" h="55245">
                <a:moveTo>
                  <a:pt x="355092" y="1536"/>
                </a:moveTo>
                <a:lnTo>
                  <a:pt x="350520" y="1536"/>
                </a:lnTo>
                <a:lnTo>
                  <a:pt x="350520" y="44208"/>
                </a:lnTo>
                <a:lnTo>
                  <a:pt x="312420" y="1536"/>
                </a:lnTo>
                <a:lnTo>
                  <a:pt x="306324" y="1536"/>
                </a:lnTo>
                <a:lnTo>
                  <a:pt x="306324" y="47256"/>
                </a:lnTo>
                <a:lnTo>
                  <a:pt x="310896" y="47256"/>
                </a:lnTo>
                <a:lnTo>
                  <a:pt x="310896" y="6108"/>
                </a:lnTo>
                <a:lnTo>
                  <a:pt x="348996" y="47256"/>
                </a:lnTo>
                <a:lnTo>
                  <a:pt x="355092" y="47256"/>
                </a:lnTo>
                <a:lnTo>
                  <a:pt x="355092" y="1536"/>
                </a:lnTo>
                <a:close/>
              </a:path>
              <a:path w="1431290" h="55245">
                <a:moveTo>
                  <a:pt x="428244" y="25920"/>
                </a:moveTo>
                <a:lnTo>
                  <a:pt x="426567" y="15671"/>
                </a:lnTo>
                <a:lnTo>
                  <a:pt x="423672" y="11061"/>
                </a:lnTo>
                <a:lnTo>
                  <a:pt x="423672" y="25920"/>
                </a:lnTo>
                <a:lnTo>
                  <a:pt x="423672" y="30492"/>
                </a:lnTo>
                <a:lnTo>
                  <a:pt x="422148" y="35064"/>
                </a:lnTo>
                <a:lnTo>
                  <a:pt x="414528" y="42684"/>
                </a:lnTo>
                <a:lnTo>
                  <a:pt x="409956" y="44208"/>
                </a:lnTo>
                <a:lnTo>
                  <a:pt x="381000" y="44208"/>
                </a:lnTo>
                <a:lnTo>
                  <a:pt x="381000" y="6108"/>
                </a:lnTo>
                <a:lnTo>
                  <a:pt x="405384" y="6108"/>
                </a:lnTo>
                <a:lnTo>
                  <a:pt x="412737" y="7480"/>
                </a:lnTo>
                <a:lnTo>
                  <a:pt x="418528" y="11442"/>
                </a:lnTo>
                <a:lnTo>
                  <a:pt x="422313" y="17678"/>
                </a:lnTo>
                <a:lnTo>
                  <a:pt x="423672" y="25920"/>
                </a:lnTo>
                <a:lnTo>
                  <a:pt x="423672" y="11061"/>
                </a:lnTo>
                <a:lnTo>
                  <a:pt x="421767" y="8013"/>
                </a:lnTo>
                <a:lnTo>
                  <a:pt x="418719" y="6108"/>
                </a:lnTo>
                <a:lnTo>
                  <a:pt x="414096" y="3200"/>
                </a:lnTo>
                <a:lnTo>
                  <a:pt x="403860" y="1536"/>
                </a:lnTo>
                <a:lnTo>
                  <a:pt x="377952" y="1536"/>
                </a:lnTo>
                <a:lnTo>
                  <a:pt x="377952" y="47256"/>
                </a:lnTo>
                <a:lnTo>
                  <a:pt x="411480" y="47256"/>
                </a:lnTo>
                <a:lnTo>
                  <a:pt x="417576" y="45732"/>
                </a:lnTo>
                <a:lnTo>
                  <a:pt x="419100" y="44208"/>
                </a:lnTo>
                <a:lnTo>
                  <a:pt x="422148" y="41160"/>
                </a:lnTo>
                <a:lnTo>
                  <a:pt x="426720" y="38112"/>
                </a:lnTo>
                <a:lnTo>
                  <a:pt x="428244" y="32016"/>
                </a:lnTo>
                <a:lnTo>
                  <a:pt x="428244" y="25920"/>
                </a:lnTo>
                <a:close/>
              </a:path>
              <a:path w="1431290" h="55245">
                <a:moveTo>
                  <a:pt x="513588" y="1524"/>
                </a:moveTo>
                <a:lnTo>
                  <a:pt x="472440" y="1524"/>
                </a:lnTo>
                <a:lnTo>
                  <a:pt x="472440" y="47244"/>
                </a:lnTo>
                <a:lnTo>
                  <a:pt x="475488" y="47244"/>
                </a:lnTo>
                <a:lnTo>
                  <a:pt x="475488" y="25908"/>
                </a:lnTo>
                <a:lnTo>
                  <a:pt x="502920" y="25908"/>
                </a:lnTo>
                <a:lnTo>
                  <a:pt x="502920" y="21336"/>
                </a:lnTo>
                <a:lnTo>
                  <a:pt x="475488" y="21336"/>
                </a:lnTo>
                <a:lnTo>
                  <a:pt x="475488" y="6096"/>
                </a:lnTo>
                <a:lnTo>
                  <a:pt x="513588" y="6096"/>
                </a:lnTo>
                <a:lnTo>
                  <a:pt x="513588" y="1524"/>
                </a:lnTo>
                <a:close/>
              </a:path>
              <a:path w="1431290" h="55245">
                <a:moveTo>
                  <a:pt x="533387" y="1536"/>
                </a:moveTo>
                <a:lnTo>
                  <a:pt x="530339" y="1536"/>
                </a:lnTo>
                <a:lnTo>
                  <a:pt x="530339" y="47256"/>
                </a:lnTo>
                <a:lnTo>
                  <a:pt x="533387" y="47256"/>
                </a:lnTo>
                <a:lnTo>
                  <a:pt x="533387" y="1536"/>
                </a:lnTo>
                <a:close/>
              </a:path>
              <a:path w="1431290" h="55245">
                <a:moveTo>
                  <a:pt x="605028" y="1536"/>
                </a:moveTo>
                <a:lnTo>
                  <a:pt x="598932" y="1536"/>
                </a:lnTo>
                <a:lnTo>
                  <a:pt x="598932" y="44208"/>
                </a:lnTo>
                <a:lnTo>
                  <a:pt x="562356" y="1536"/>
                </a:lnTo>
                <a:lnTo>
                  <a:pt x="556260" y="1536"/>
                </a:lnTo>
                <a:lnTo>
                  <a:pt x="556260" y="47256"/>
                </a:lnTo>
                <a:lnTo>
                  <a:pt x="560832" y="47256"/>
                </a:lnTo>
                <a:lnTo>
                  <a:pt x="560832" y="6108"/>
                </a:lnTo>
                <a:lnTo>
                  <a:pt x="597408" y="47256"/>
                </a:lnTo>
                <a:lnTo>
                  <a:pt x="605028" y="47256"/>
                </a:lnTo>
                <a:lnTo>
                  <a:pt x="605028" y="1536"/>
                </a:lnTo>
                <a:close/>
              </a:path>
              <a:path w="1431290" h="55245">
                <a:moveTo>
                  <a:pt x="673608" y="47256"/>
                </a:moveTo>
                <a:lnTo>
                  <a:pt x="667105" y="35064"/>
                </a:lnTo>
                <a:lnTo>
                  <a:pt x="665480" y="32016"/>
                </a:lnTo>
                <a:lnTo>
                  <a:pt x="659892" y="21539"/>
                </a:lnTo>
                <a:lnTo>
                  <a:pt x="659892" y="32016"/>
                </a:lnTo>
                <a:lnTo>
                  <a:pt x="632460" y="32016"/>
                </a:lnTo>
                <a:lnTo>
                  <a:pt x="646176" y="6108"/>
                </a:lnTo>
                <a:lnTo>
                  <a:pt x="659892" y="32016"/>
                </a:lnTo>
                <a:lnTo>
                  <a:pt x="659892" y="21539"/>
                </a:lnTo>
                <a:lnTo>
                  <a:pt x="651662" y="6108"/>
                </a:lnTo>
                <a:lnTo>
                  <a:pt x="649224" y="1536"/>
                </a:lnTo>
                <a:lnTo>
                  <a:pt x="643128" y="1536"/>
                </a:lnTo>
                <a:lnTo>
                  <a:pt x="618744" y="47256"/>
                </a:lnTo>
                <a:lnTo>
                  <a:pt x="623316" y="47256"/>
                </a:lnTo>
                <a:lnTo>
                  <a:pt x="629412" y="35064"/>
                </a:lnTo>
                <a:lnTo>
                  <a:pt x="661416" y="35064"/>
                </a:lnTo>
                <a:lnTo>
                  <a:pt x="669036" y="47256"/>
                </a:lnTo>
                <a:lnTo>
                  <a:pt x="673608" y="47256"/>
                </a:lnTo>
                <a:close/>
              </a:path>
              <a:path w="1431290" h="55245">
                <a:moveTo>
                  <a:pt x="736092" y="1536"/>
                </a:moveTo>
                <a:lnTo>
                  <a:pt x="731520" y="1536"/>
                </a:lnTo>
                <a:lnTo>
                  <a:pt x="731520" y="44208"/>
                </a:lnTo>
                <a:lnTo>
                  <a:pt x="693420" y="1536"/>
                </a:lnTo>
                <a:lnTo>
                  <a:pt x="687324" y="1536"/>
                </a:lnTo>
                <a:lnTo>
                  <a:pt x="687324" y="47256"/>
                </a:lnTo>
                <a:lnTo>
                  <a:pt x="691896" y="47256"/>
                </a:lnTo>
                <a:lnTo>
                  <a:pt x="691896" y="6108"/>
                </a:lnTo>
                <a:lnTo>
                  <a:pt x="729996" y="47256"/>
                </a:lnTo>
                <a:lnTo>
                  <a:pt x="736092" y="47256"/>
                </a:lnTo>
                <a:lnTo>
                  <a:pt x="736092" y="1536"/>
                </a:lnTo>
                <a:close/>
              </a:path>
              <a:path w="1431290" h="55245">
                <a:moveTo>
                  <a:pt x="806183" y="10668"/>
                </a:moveTo>
                <a:lnTo>
                  <a:pt x="801306" y="6438"/>
                </a:lnTo>
                <a:lnTo>
                  <a:pt x="795705" y="3048"/>
                </a:lnTo>
                <a:lnTo>
                  <a:pt x="789254" y="812"/>
                </a:lnTo>
                <a:lnTo>
                  <a:pt x="781799" y="0"/>
                </a:lnTo>
                <a:lnTo>
                  <a:pt x="775703" y="0"/>
                </a:lnTo>
                <a:lnTo>
                  <a:pt x="768083" y="3048"/>
                </a:lnTo>
                <a:lnTo>
                  <a:pt x="763511" y="6096"/>
                </a:lnTo>
                <a:lnTo>
                  <a:pt x="758939" y="10668"/>
                </a:lnTo>
                <a:lnTo>
                  <a:pt x="755891" y="16764"/>
                </a:lnTo>
                <a:lnTo>
                  <a:pt x="755891" y="33528"/>
                </a:lnTo>
                <a:lnTo>
                  <a:pt x="758939" y="41148"/>
                </a:lnTo>
                <a:lnTo>
                  <a:pt x="768083" y="45720"/>
                </a:lnTo>
                <a:lnTo>
                  <a:pt x="777227" y="48768"/>
                </a:lnTo>
                <a:lnTo>
                  <a:pt x="793991" y="48768"/>
                </a:lnTo>
                <a:lnTo>
                  <a:pt x="801611" y="45720"/>
                </a:lnTo>
                <a:lnTo>
                  <a:pt x="804659" y="39624"/>
                </a:lnTo>
                <a:lnTo>
                  <a:pt x="803135" y="38100"/>
                </a:lnTo>
                <a:lnTo>
                  <a:pt x="798563" y="42672"/>
                </a:lnTo>
                <a:lnTo>
                  <a:pt x="790943" y="44196"/>
                </a:lnTo>
                <a:lnTo>
                  <a:pt x="781799" y="44196"/>
                </a:lnTo>
                <a:lnTo>
                  <a:pt x="772452" y="42824"/>
                </a:lnTo>
                <a:lnTo>
                  <a:pt x="765225" y="38862"/>
                </a:lnTo>
                <a:lnTo>
                  <a:pt x="760590" y="32626"/>
                </a:lnTo>
                <a:lnTo>
                  <a:pt x="758939" y="24384"/>
                </a:lnTo>
                <a:lnTo>
                  <a:pt x="758939" y="18288"/>
                </a:lnTo>
                <a:lnTo>
                  <a:pt x="761987" y="13716"/>
                </a:lnTo>
                <a:lnTo>
                  <a:pt x="766559" y="9144"/>
                </a:lnTo>
                <a:lnTo>
                  <a:pt x="771131" y="6096"/>
                </a:lnTo>
                <a:lnTo>
                  <a:pt x="777227" y="4572"/>
                </a:lnTo>
                <a:lnTo>
                  <a:pt x="790943" y="4572"/>
                </a:lnTo>
                <a:lnTo>
                  <a:pt x="797039" y="6096"/>
                </a:lnTo>
                <a:lnTo>
                  <a:pt x="803135" y="12192"/>
                </a:lnTo>
                <a:lnTo>
                  <a:pt x="806183" y="10668"/>
                </a:lnTo>
                <a:close/>
              </a:path>
              <a:path w="1431290" h="55245">
                <a:moveTo>
                  <a:pt x="870204" y="44208"/>
                </a:moveTo>
                <a:lnTo>
                  <a:pt x="830580" y="44208"/>
                </a:lnTo>
                <a:lnTo>
                  <a:pt x="830580" y="25920"/>
                </a:lnTo>
                <a:lnTo>
                  <a:pt x="856488" y="25920"/>
                </a:lnTo>
                <a:lnTo>
                  <a:pt x="856488" y="21348"/>
                </a:lnTo>
                <a:lnTo>
                  <a:pt x="830580" y="21348"/>
                </a:lnTo>
                <a:lnTo>
                  <a:pt x="830580" y="6108"/>
                </a:lnTo>
                <a:lnTo>
                  <a:pt x="867156" y="6108"/>
                </a:lnTo>
                <a:lnTo>
                  <a:pt x="867156" y="1536"/>
                </a:lnTo>
                <a:lnTo>
                  <a:pt x="826008" y="1536"/>
                </a:lnTo>
                <a:lnTo>
                  <a:pt x="826008" y="47256"/>
                </a:lnTo>
                <a:lnTo>
                  <a:pt x="870204" y="47256"/>
                </a:lnTo>
                <a:lnTo>
                  <a:pt x="870204" y="44208"/>
                </a:lnTo>
                <a:close/>
              </a:path>
              <a:path w="1431290" h="55245">
                <a:moveTo>
                  <a:pt x="896112" y="44208"/>
                </a:moveTo>
                <a:lnTo>
                  <a:pt x="886955" y="44208"/>
                </a:lnTo>
                <a:lnTo>
                  <a:pt x="886955" y="47256"/>
                </a:lnTo>
                <a:lnTo>
                  <a:pt x="891527" y="47256"/>
                </a:lnTo>
                <a:lnTo>
                  <a:pt x="891527" y="51828"/>
                </a:lnTo>
                <a:lnTo>
                  <a:pt x="888479" y="53352"/>
                </a:lnTo>
                <a:lnTo>
                  <a:pt x="888479" y="54876"/>
                </a:lnTo>
                <a:lnTo>
                  <a:pt x="893051" y="54876"/>
                </a:lnTo>
                <a:lnTo>
                  <a:pt x="896112" y="53352"/>
                </a:lnTo>
                <a:lnTo>
                  <a:pt x="896112" y="44208"/>
                </a:lnTo>
                <a:close/>
              </a:path>
              <a:path w="1431290" h="55245">
                <a:moveTo>
                  <a:pt x="979919" y="1524"/>
                </a:moveTo>
                <a:lnTo>
                  <a:pt x="932675" y="1524"/>
                </a:lnTo>
                <a:lnTo>
                  <a:pt x="932675" y="6096"/>
                </a:lnTo>
                <a:lnTo>
                  <a:pt x="954011" y="6096"/>
                </a:lnTo>
                <a:lnTo>
                  <a:pt x="954011" y="47244"/>
                </a:lnTo>
                <a:lnTo>
                  <a:pt x="958583" y="47244"/>
                </a:lnTo>
                <a:lnTo>
                  <a:pt x="958583" y="6096"/>
                </a:lnTo>
                <a:lnTo>
                  <a:pt x="979919" y="6096"/>
                </a:lnTo>
                <a:lnTo>
                  <a:pt x="979919" y="1524"/>
                </a:lnTo>
                <a:close/>
              </a:path>
              <a:path w="1431290" h="55245">
                <a:moveTo>
                  <a:pt x="1043940" y="18288"/>
                </a:moveTo>
                <a:lnTo>
                  <a:pt x="1039368" y="10668"/>
                </a:lnTo>
                <a:lnTo>
                  <a:pt x="1039368" y="18288"/>
                </a:lnTo>
                <a:lnTo>
                  <a:pt x="1039368" y="24384"/>
                </a:lnTo>
                <a:lnTo>
                  <a:pt x="1037691" y="32626"/>
                </a:lnTo>
                <a:lnTo>
                  <a:pt x="1032891" y="38862"/>
                </a:lnTo>
                <a:lnTo>
                  <a:pt x="1025220" y="42824"/>
                </a:lnTo>
                <a:lnTo>
                  <a:pt x="1014984" y="44196"/>
                </a:lnTo>
                <a:lnTo>
                  <a:pt x="1005624" y="43040"/>
                </a:lnTo>
                <a:lnTo>
                  <a:pt x="998410" y="39433"/>
                </a:lnTo>
                <a:lnTo>
                  <a:pt x="993762" y="33274"/>
                </a:lnTo>
                <a:lnTo>
                  <a:pt x="992124" y="24384"/>
                </a:lnTo>
                <a:lnTo>
                  <a:pt x="992124" y="18288"/>
                </a:lnTo>
                <a:lnTo>
                  <a:pt x="995172" y="13716"/>
                </a:lnTo>
                <a:lnTo>
                  <a:pt x="999744" y="9144"/>
                </a:lnTo>
                <a:lnTo>
                  <a:pt x="1004316" y="6096"/>
                </a:lnTo>
                <a:lnTo>
                  <a:pt x="1008888" y="4572"/>
                </a:lnTo>
                <a:lnTo>
                  <a:pt x="1021080" y="4572"/>
                </a:lnTo>
                <a:lnTo>
                  <a:pt x="1027176" y="6096"/>
                </a:lnTo>
                <a:lnTo>
                  <a:pt x="1031748" y="9144"/>
                </a:lnTo>
                <a:lnTo>
                  <a:pt x="1036320" y="13716"/>
                </a:lnTo>
                <a:lnTo>
                  <a:pt x="1039368" y="18288"/>
                </a:lnTo>
                <a:lnTo>
                  <a:pt x="1039368" y="10668"/>
                </a:lnTo>
                <a:lnTo>
                  <a:pt x="1034796" y="6096"/>
                </a:lnTo>
                <a:lnTo>
                  <a:pt x="1032510" y="4572"/>
                </a:lnTo>
                <a:lnTo>
                  <a:pt x="1030224" y="3048"/>
                </a:lnTo>
                <a:lnTo>
                  <a:pt x="1022604" y="0"/>
                </a:lnTo>
                <a:lnTo>
                  <a:pt x="1008888" y="0"/>
                </a:lnTo>
                <a:lnTo>
                  <a:pt x="1001268" y="3048"/>
                </a:lnTo>
                <a:lnTo>
                  <a:pt x="996696" y="6096"/>
                </a:lnTo>
                <a:lnTo>
                  <a:pt x="990600" y="10668"/>
                </a:lnTo>
                <a:lnTo>
                  <a:pt x="987552" y="18288"/>
                </a:lnTo>
                <a:lnTo>
                  <a:pt x="987552" y="32004"/>
                </a:lnTo>
                <a:lnTo>
                  <a:pt x="990600" y="38100"/>
                </a:lnTo>
                <a:lnTo>
                  <a:pt x="996696" y="42672"/>
                </a:lnTo>
                <a:lnTo>
                  <a:pt x="1001268" y="47244"/>
                </a:lnTo>
                <a:lnTo>
                  <a:pt x="1008888" y="48768"/>
                </a:lnTo>
                <a:lnTo>
                  <a:pt x="1022604" y="48768"/>
                </a:lnTo>
                <a:lnTo>
                  <a:pt x="1030224" y="47244"/>
                </a:lnTo>
                <a:lnTo>
                  <a:pt x="1033272" y="44196"/>
                </a:lnTo>
                <a:lnTo>
                  <a:pt x="1034796" y="42672"/>
                </a:lnTo>
                <a:lnTo>
                  <a:pt x="1040892" y="38100"/>
                </a:lnTo>
                <a:lnTo>
                  <a:pt x="1043940" y="32004"/>
                </a:lnTo>
                <a:lnTo>
                  <a:pt x="1043940" y="18288"/>
                </a:lnTo>
                <a:close/>
              </a:path>
              <a:path w="1431290" h="55245">
                <a:moveTo>
                  <a:pt x="1115555" y="25920"/>
                </a:moveTo>
                <a:lnTo>
                  <a:pt x="1085075" y="25920"/>
                </a:lnTo>
                <a:lnTo>
                  <a:pt x="1085075" y="28968"/>
                </a:lnTo>
                <a:lnTo>
                  <a:pt x="1109459" y="28968"/>
                </a:lnTo>
                <a:lnTo>
                  <a:pt x="1106322" y="35839"/>
                </a:lnTo>
                <a:lnTo>
                  <a:pt x="1101458" y="40589"/>
                </a:lnTo>
                <a:lnTo>
                  <a:pt x="1094892" y="43319"/>
                </a:lnTo>
                <a:lnTo>
                  <a:pt x="1086599" y="44208"/>
                </a:lnTo>
                <a:lnTo>
                  <a:pt x="1077252" y="42824"/>
                </a:lnTo>
                <a:lnTo>
                  <a:pt x="1070025" y="38874"/>
                </a:lnTo>
                <a:lnTo>
                  <a:pt x="1065390" y="32626"/>
                </a:lnTo>
                <a:lnTo>
                  <a:pt x="1063739" y="24396"/>
                </a:lnTo>
                <a:lnTo>
                  <a:pt x="1063739" y="18300"/>
                </a:lnTo>
                <a:lnTo>
                  <a:pt x="1066787" y="13728"/>
                </a:lnTo>
                <a:lnTo>
                  <a:pt x="1071359" y="9156"/>
                </a:lnTo>
                <a:lnTo>
                  <a:pt x="1075931" y="6108"/>
                </a:lnTo>
                <a:lnTo>
                  <a:pt x="1082027" y="4584"/>
                </a:lnTo>
                <a:lnTo>
                  <a:pt x="1095743" y="4584"/>
                </a:lnTo>
                <a:lnTo>
                  <a:pt x="1101839" y="6108"/>
                </a:lnTo>
                <a:lnTo>
                  <a:pt x="1106411" y="12204"/>
                </a:lnTo>
                <a:lnTo>
                  <a:pt x="1110983" y="10680"/>
                </a:lnTo>
                <a:lnTo>
                  <a:pt x="1106106" y="6438"/>
                </a:lnTo>
                <a:lnTo>
                  <a:pt x="1100505" y="3060"/>
                </a:lnTo>
                <a:lnTo>
                  <a:pt x="1094054" y="812"/>
                </a:lnTo>
                <a:lnTo>
                  <a:pt x="1086599" y="12"/>
                </a:lnTo>
                <a:lnTo>
                  <a:pt x="1080503" y="12"/>
                </a:lnTo>
                <a:lnTo>
                  <a:pt x="1072883" y="3060"/>
                </a:lnTo>
                <a:lnTo>
                  <a:pt x="1068311" y="6108"/>
                </a:lnTo>
                <a:lnTo>
                  <a:pt x="1063739" y="10680"/>
                </a:lnTo>
                <a:lnTo>
                  <a:pt x="1060691" y="18300"/>
                </a:lnTo>
                <a:lnTo>
                  <a:pt x="1060691" y="32016"/>
                </a:lnTo>
                <a:lnTo>
                  <a:pt x="1063739" y="38112"/>
                </a:lnTo>
                <a:lnTo>
                  <a:pt x="1072883" y="47256"/>
                </a:lnTo>
                <a:lnTo>
                  <a:pt x="1080503" y="48780"/>
                </a:lnTo>
                <a:lnTo>
                  <a:pt x="1086599" y="48780"/>
                </a:lnTo>
                <a:lnTo>
                  <a:pt x="1094054" y="48209"/>
                </a:lnTo>
                <a:lnTo>
                  <a:pt x="1100505" y="46494"/>
                </a:lnTo>
                <a:lnTo>
                  <a:pt x="1106106" y="43637"/>
                </a:lnTo>
                <a:lnTo>
                  <a:pt x="1110983" y="39636"/>
                </a:lnTo>
                <a:lnTo>
                  <a:pt x="1115555" y="25920"/>
                </a:lnTo>
                <a:close/>
              </a:path>
              <a:path w="1431290" h="55245">
                <a:moveTo>
                  <a:pt x="1178039" y="1536"/>
                </a:moveTo>
                <a:lnTo>
                  <a:pt x="1135367" y="1536"/>
                </a:lnTo>
                <a:lnTo>
                  <a:pt x="1135367" y="47256"/>
                </a:lnTo>
                <a:lnTo>
                  <a:pt x="1178039" y="47256"/>
                </a:lnTo>
                <a:lnTo>
                  <a:pt x="1178039" y="44208"/>
                </a:lnTo>
                <a:lnTo>
                  <a:pt x="1138415" y="44208"/>
                </a:lnTo>
                <a:lnTo>
                  <a:pt x="1138415" y="25920"/>
                </a:lnTo>
                <a:lnTo>
                  <a:pt x="1165847" y="25920"/>
                </a:lnTo>
                <a:lnTo>
                  <a:pt x="1165847" y="21348"/>
                </a:lnTo>
                <a:lnTo>
                  <a:pt x="1138415" y="21348"/>
                </a:lnTo>
                <a:lnTo>
                  <a:pt x="1138415" y="6108"/>
                </a:lnTo>
                <a:lnTo>
                  <a:pt x="1178039" y="6108"/>
                </a:lnTo>
                <a:lnTo>
                  <a:pt x="1178039" y="1536"/>
                </a:lnTo>
                <a:close/>
              </a:path>
              <a:path w="1431290" h="55245">
                <a:moveTo>
                  <a:pt x="1237488" y="1524"/>
                </a:moveTo>
                <a:lnTo>
                  <a:pt x="1190244" y="1524"/>
                </a:lnTo>
                <a:lnTo>
                  <a:pt x="1190244" y="6096"/>
                </a:lnTo>
                <a:lnTo>
                  <a:pt x="1211580" y="6096"/>
                </a:lnTo>
                <a:lnTo>
                  <a:pt x="1211580" y="47244"/>
                </a:lnTo>
                <a:lnTo>
                  <a:pt x="1216152" y="47244"/>
                </a:lnTo>
                <a:lnTo>
                  <a:pt x="1216152" y="6096"/>
                </a:lnTo>
                <a:lnTo>
                  <a:pt x="1237488" y="6096"/>
                </a:lnTo>
                <a:lnTo>
                  <a:pt x="1237488" y="1524"/>
                </a:lnTo>
                <a:close/>
              </a:path>
              <a:path w="1431290" h="55245">
                <a:moveTo>
                  <a:pt x="1299972" y="1536"/>
                </a:moveTo>
                <a:lnTo>
                  <a:pt x="1295400" y="1536"/>
                </a:lnTo>
                <a:lnTo>
                  <a:pt x="1295400" y="21348"/>
                </a:lnTo>
                <a:lnTo>
                  <a:pt x="1255776" y="21348"/>
                </a:lnTo>
                <a:lnTo>
                  <a:pt x="1255776" y="1536"/>
                </a:lnTo>
                <a:lnTo>
                  <a:pt x="1251204" y="1536"/>
                </a:lnTo>
                <a:lnTo>
                  <a:pt x="1251204" y="47256"/>
                </a:lnTo>
                <a:lnTo>
                  <a:pt x="1255776" y="47256"/>
                </a:lnTo>
                <a:lnTo>
                  <a:pt x="1255776" y="25920"/>
                </a:lnTo>
                <a:lnTo>
                  <a:pt x="1295400" y="25920"/>
                </a:lnTo>
                <a:lnTo>
                  <a:pt x="1295400" y="47256"/>
                </a:lnTo>
                <a:lnTo>
                  <a:pt x="1299972" y="47256"/>
                </a:lnTo>
                <a:lnTo>
                  <a:pt x="1299972" y="1536"/>
                </a:lnTo>
                <a:close/>
              </a:path>
              <a:path w="1431290" h="55245">
                <a:moveTo>
                  <a:pt x="1365504" y="44208"/>
                </a:moveTo>
                <a:lnTo>
                  <a:pt x="1325880" y="44208"/>
                </a:lnTo>
                <a:lnTo>
                  <a:pt x="1325880" y="25920"/>
                </a:lnTo>
                <a:lnTo>
                  <a:pt x="1353312" y="25920"/>
                </a:lnTo>
                <a:lnTo>
                  <a:pt x="1353312" y="21348"/>
                </a:lnTo>
                <a:lnTo>
                  <a:pt x="1325880" y="21348"/>
                </a:lnTo>
                <a:lnTo>
                  <a:pt x="1325880" y="6108"/>
                </a:lnTo>
                <a:lnTo>
                  <a:pt x="1363980" y="6108"/>
                </a:lnTo>
                <a:lnTo>
                  <a:pt x="1363980" y="1536"/>
                </a:lnTo>
                <a:lnTo>
                  <a:pt x="1321308" y="1536"/>
                </a:lnTo>
                <a:lnTo>
                  <a:pt x="1321308" y="47256"/>
                </a:lnTo>
                <a:lnTo>
                  <a:pt x="1365504" y="47256"/>
                </a:lnTo>
                <a:lnTo>
                  <a:pt x="1365504" y="44208"/>
                </a:lnTo>
                <a:close/>
              </a:path>
              <a:path w="1431290" h="55245">
                <a:moveTo>
                  <a:pt x="1431023" y="7632"/>
                </a:moveTo>
                <a:lnTo>
                  <a:pt x="1429499" y="6108"/>
                </a:lnTo>
                <a:lnTo>
                  <a:pt x="1426451" y="3060"/>
                </a:lnTo>
                <a:lnTo>
                  <a:pt x="1426451" y="9156"/>
                </a:lnTo>
                <a:lnTo>
                  <a:pt x="1426451" y="21348"/>
                </a:lnTo>
                <a:lnTo>
                  <a:pt x="1423403" y="25920"/>
                </a:lnTo>
                <a:lnTo>
                  <a:pt x="1388351" y="25920"/>
                </a:lnTo>
                <a:lnTo>
                  <a:pt x="1388351" y="6108"/>
                </a:lnTo>
                <a:lnTo>
                  <a:pt x="1421879" y="6108"/>
                </a:lnTo>
                <a:lnTo>
                  <a:pt x="1426451" y="9156"/>
                </a:lnTo>
                <a:lnTo>
                  <a:pt x="1426451" y="3060"/>
                </a:lnTo>
                <a:lnTo>
                  <a:pt x="1424927" y="1536"/>
                </a:lnTo>
                <a:lnTo>
                  <a:pt x="1383779" y="1536"/>
                </a:lnTo>
                <a:lnTo>
                  <a:pt x="1383779" y="47256"/>
                </a:lnTo>
                <a:lnTo>
                  <a:pt x="1388351" y="47256"/>
                </a:lnTo>
                <a:lnTo>
                  <a:pt x="1388351" y="28968"/>
                </a:lnTo>
                <a:lnTo>
                  <a:pt x="1411211" y="28968"/>
                </a:lnTo>
                <a:lnTo>
                  <a:pt x="1426451" y="47256"/>
                </a:lnTo>
                <a:lnTo>
                  <a:pt x="1431023" y="47256"/>
                </a:lnTo>
                <a:lnTo>
                  <a:pt x="1417307" y="28968"/>
                </a:lnTo>
                <a:lnTo>
                  <a:pt x="1426451" y="27444"/>
                </a:lnTo>
                <a:lnTo>
                  <a:pt x="1427975" y="25920"/>
                </a:lnTo>
                <a:lnTo>
                  <a:pt x="1431023" y="22872"/>
                </a:lnTo>
                <a:lnTo>
                  <a:pt x="1431023" y="7632"/>
                </a:lnTo>
                <a:close/>
              </a:path>
            </a:pathLst>
          </a:custGeom>
          <a:no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3" name="TextBox 2">
            <a:extLst>
              <a:ext uri="{FF2B5EF4-FFF2-40B4-BE49-F238E27FC236}">
                <a16:creationId xmlns:a16="http://schemas.microsoft.com/office/drawing/2014/main" id="{2E7E6335-638B-C0EA-0B81-1C8952AF9291}"/>
              </a:ext>
            </a:extLst>
          </p:cNvPr>
          <p:cNvSpPr txBox="1"/>
          <p:nvPr/>
        </p:nvSpPr>
        <p:spPr>
          <a:xfrm>
            <a:off x="351283" y="961873"/>
            <a:ext cx="11348345" cy="954107"/>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Les variations du taux sans risque, du spread de duration du marché, du taux de référence et de la marge de financement relèvent toutes de la définition de </a:t>
            </a:r>
            <a:r>
              <a:rPr kumimoji="0" lang="fr-FR" sz="1400" b="1"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l'IRRBB (</a:t>
            </a:r>
            <a:r>
              <a:rPr kumimoji="0" lang="fr-FR" sz="1400" b="1" i="0" u="none" strike="noStrike" kern="1200" cap="none" spc="0" normalizeH="0" baseline="0" noProof="0" dirty="0" err="1">
                <a:ln>
                  <a:noFill/>
                </a:ln>
                <a:solidFill>
                  <a:srgbClr val="115264">
                    <a:lumMod val="75000"/>
                  </a:srgbClr>
                </a:solidFill>
                <a:effectLst/>
                <a:uLnTx/>
                <a:uFillTx/>
                <a:latin typeface="Calibri" panose="020F0502020204030204"/>
                <a:ea typeface="+mn-ea"/>
                <a:cs typeface="Calibri"/>
                <a:sym typeface="Arial"/>
              </a:rPr>
              <a:t>Interest</a:t>
            </a:r>
            <a:r>
              <a:rPr kumimoji="0" lang="fr-FR" sz="1400" b="1"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 Rate Risk in the Banking Book). </a:t>
            </a:r>
          </a:p>
          <a:p>
            <a:pPr marL="0" marR="0" lvl="0" indent="0" algn="just"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Les variations des spreads de liquidité et de crédit sur le marché sont combinées dans la définition du </a:t>
            </a:r>
            <a:r>
              <a:rPr kumimoji="0" lang="fr-FR" sz="1400" b="1"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CSRBB (</a:t>
            </a:r>
            <a:r>
              <a:rPr kumimoji="0" lang="fr-FR" sz="1400" b="1" i="0" u="none" strike="noStrike" kern="1200" cap="none" spc="0" normalizeH="0" baseline="0" noProof="0" dirty="0" err="1">
                <a:ln>
                  <a:noFill/>
                </a:ln>
                <a:solidFill>
                  <a:srgbClr val="115264">
                    <a:lumMod val="75000"/>
                  </a:srgbClr>
                </a:solidFill>
                <a:effectLst/>
                <a:uLnTx/>
                <a:uFillTx/>
                <a:latin typeface="Calibri" panose="020F0502020204030204"/>
                <a:ea typeface="+mn-ea"/>
                <a:cs typeface="Calibri"/>
                <a:sym typeface="Arial"/>
              </a:rPr>
              <a:t>Credit</a:t>
            </a:r>
            <a:r>
              <a:rPr kumimoji="0" lang="fr-FR" sz="1400" b="1"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 Spread Risk in the Banking Book).</a:t>
            </a:r>
          </a:p>
          <a:p>
            <a:pPr marL="0" marR="0" lvl="0" indent="0" algn="just"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Le diagramme ci-dessous donne une représentation visuelle de la manière dont les différents éléments s'articulent.</a:t>
            </a:r>
            <a:endParaRPr kumimoji="0" lang="fr-FR" sz="1400" b="0" i="0" u="none" strike="noStrike" kern="0" cap="none" spc="0" normalizeH="0" baseline="0" noProof="0" dirty="0">
              <a:ln>
                <a:noFill/>
              </a:ln>
              <a:solidFill>
                <a:srgbClr val="000000"/>
              </a:solidFill>
              <a:effectLst/>
              <a:uLnTx/>
              <a:uFillTx/>
              <a:latin typeface="Arial"/>
              <a:cs typeface="Arial"/>
              <a:sym typeface="Arial"/>
            </a:endParaRPr>
          </a:p>
        </p:txBody>
      </p:sp>
      <p:graphicFrame>
        <p:nvGraphicFramePr>
          <p:cNvPr id="31" name="Table 30">
            <a:extLst>
              <a:ext uri="{FF2B5EF4-FFF2-40B4-BE49-F238E27FC236}">
                <a16:creationId xmlns:a16="http://schemas.microsoft.com/office/drawing/2014/main" id="{2F3E9C6B-90D3-1215-2198-3B7FDD090F09}"/>
              </a:ext>
            </a:extLst>
          </p:cNvPr>
          <p:cNvGraphicFramePr>
            <a:graphicFrameLocks noGrp="1"/>
          </p:cNvGraphicFramePr>
          <p:nvPr/>
        </p:nvGraphicFramePr>
        <p:xfrm>
          <a:off x="3047894" y="2124838"/>
          <a:ext cx="6807306" cy="3779054"/>
        </p:xfrm>
        <a:graphic>
          <a:graphicData uri="http://schemas.openxmlformats.org/drawingml/2006/table">
            <a:tbl>
              <a:tblPr/>
              <a:tblGrid>
                <a:gridCol w="1677419">
                  <a:extLst>
                    <a:ext uri="{9D8B030D-6E8A-4147-A177-3AD203B41FA5}">
                      <a16:colId xmlns:a16="http://schemas.microsoft.com/office/drawing/2014/main" val="3799287926"/>
                    </a:ext>
                  </a:extLst>
                </a:gridCol>
                <a:gridCol w="1398402">
                  <a:extLst>
                    <a:ext uri="{9D8B030D-6E8A-4147-A177-3AD203B41FA5}">
                      <a16:colId xmlns:a16="http://schemas.microsoft.com/office/drawing/2014/main" val="400707319"/>
                    </a:ext>
                  </a:extLst>
                </a:gridCol>
                <a:gridCol w="976964">
                  <a:extLst>
                    <a:ext uri="{9D8B030D-6E8A-4147-A177-3AD203B41FA5}">
                      <a16:colId xmlns:a16="http://schemas.microsoft.com/office/drawing/2014/main" val="2314093586"/>
                    </a:ext>
                  </a:extLst>
                </a:gridCol>
                <a:gridCol w="1454546">
                  <a:extLst>
                    <a:ext uri="{9D8B030D-6E8A-4147-A177-3AD203B41FA5}">
                      <a16:colId xmlns:a16="http://schemas.microsoft.com/office/drawing/2014/main" val="3983272413"/>
                    </a:ext>
                  </a:extLst>
                </a:gridCol>
                <a:gridCol w="1299975">
                  <a:extLst>
                    <a:ext uri="{9D8B030D-6E8A-4147-A177-3AD203B41FA5}">
                      <a16:colId xmlns:a16="http://schemas.microsoft.com/office/drawing/2014/main" val="3975312893"/>
                    </a:ext>
                  </a:extLst>
                </a:gridCol>
              </a:tblGrid>
              <a:tr h="469352">
                <a:tc rowSpan="2" gridSpan="2">
                  <a:txBody>
                    <a:bodyPr/>
                    <a:lstStyle/>
                    <a:p>
                      <a:pPr algn="ctr" fontAlgn="ctr"/>
                      <a:r>
                        <a:rPr lang="fr-FR" sz="1400" b="1" i="0" u="none" strike="noStrike">
                          <a:solidFill>
                            <a:srgbClr val="FFFFFF"/>
                          </a:solidFill>
                          <a:effectLst/>
                          <a:latin typeface="Calibri" panose="020F0502020204030204" pitchFamily="34" charset="0"/>
                        </a:rPr>
                        <a:t>Instruments évalués au coût amorti</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44546A"/>
                    </a:solidFill>
                  </a:tcPr>
                </a:tc>
                <a:tc rowSpan="2" hMerge="1">
                  <a:txBody>
                    <a:bodyPr/>
                    <a:lstStyle/>
                    <a:p>
                      <a:endParaRPr lang="fr-FR"/>
                    </a:p>
                  </a:txBody>
                  <a:tcPr/>
                </a:tc>
                <a:tc gridSpan="3">
                  <a:txBody>
                    <a:bodyPr/>
                    <a:lstStyle/>
                    <a:p>
                      <a:pPr algn="ctr" fontAlgn="ctr"/>
                      <a:r>
                        <a:rPr lang="fr-FR" sz="1400" b="1" i="0" u="none" strike="noStrike">
                          <a:solidFill>
                            <a:srgbClr val="FFFFFF"/>
                          </a:solidFill>
                          <a:effectLst/>
                          <a:latin typeface="Calibri" panose="020F0502020204030204" pitchFamily="34" charset="0"/>
                        </a:rPr>
                        <a:t>Instruments évalués en juste valeur (MtM)</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44546A"/>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4108704258"/>
                  </a:ext>
                </a:extLst>
              </a:tr>
              <a:tr h="469352">
                <a:tc gridSpan="2" vMerge="1">
                  <a:txBody>
                    <a:bodyPr/>
                    <a:lstStyle/>
                    <a:p>
                      <a:endParaRPr lang="fr-FR"/>
                    </a:p>
                  </a:txBody>
                  <a:tcPr/>
                </a:tc>
                <a:tc hMerge="1" vMerge="1">
                  <a:txBody>
                    <a:bodyPr/>
                    <a:lstStyle/>
                    <a:p>
                      <a:endParaRPr lang="fr-FR"/>
                    </a:p>
                  </a:txBody>
                  <a:tcPr/>
                </a:tc>
                <a:tc>
                  <a:txBody>
                    <a:bodyPr/>
                    <a:lstStyle/>
                    <a:p>
                      <a:pPr algn="ctr" fontAlgn="ctr"/>
                      <a:r>
                        <a:rPr lang="fr-FR" sz="1400" b="1" i="0" u="none" strike="noStrike">
                          <a:solidFill>
                            <a:srgbClr val="FFFFFF"/>
                          </a:solidFill>
                          <a:effectLst/>
                          <a:latin typeface="Calibri" panose="020F0502020204030204" pitchFamily="34" charset="0"/>
                        </a:rPr>
                        <a:t>Secteur</a:t>
                      </a:r>
                    </a:p>
                  </a:txBody>
                  <a:tcPr marL="6350" marR="6350" marT="6350" marB="0" anchor="ctr">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44546A"/>
                    </a:solidFill>
                  </a:tcPr>
                </a:tc>
                <a:tc>
                  <a:txBody>
                    <a:bodyPr/>
                    <a:lstStyle/>
                    <a:p>
                      <a:pPr algn="ctr" fontAlgn="ctr"/>
                      <a:r>
                        <a:rPr lang="fr-FR" sz="1400" b="1" i="0" u="none" strike="noStrike">
                          <a:solidFill>
                            <a:srgbClr val="FFFFFF"/>
                          </a:solidFill>
                          <a:effectLst/>
                          <a:latin typeface="Calibri" panose="020F0502020204030204" pitchFamily="34" charset="0"/>
                        </a:rPr>
                        <a:t>Zone Géographique</a:t>
                      </a: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solidFill>
                      <a:srgbClr val="44546A"/>
                    </a:solidFill>
                  </a:tcPr>
                </a:tc>
                <a:tc>
                  <a:txBody>
                    <a:bodyPr/>
                    <a:lstStyle/>
                    <a:p>
                      <a:pPr algn="ctr" fontAlgn="ctr"/>
                      <a:r>
                        <a:rPr lang="fr-FR" sz="1400" b="1" i="0" u="none" strike="noStrike">
                          <a:solidFill>
                            <a:srgbClr val="FFFFFF"/>
                          </a:solidFill>
                          <a:effectLst/>
                          <a:latin typeface="Calibri" panose="020F0502020204030204" pitchFamily="34" charset="0"/>
                        </a:rPr>
                        <a:t>Type d'instrument</a:t>
                      </a:r>
                    </a:p>
                  </a:txBody>
                  <a:tcPr marL="6350" marR="6350" marT="6350" marB="0" anchor="ctr">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44546A"/>
                    </a:solidFill>
                  </a:tcPr>
                </a:tc>
                <a:extLst>
                  <a:ext uri="{0D108BD9-81ED-4DB2-BD59-A6C34878D82A}">
                    <a16:rowId xmlns:a16="http://schemas.microsoft.com/office/drawing/2014/main" val="685041156"/>
                  </a:ext>
                </a:extLst>
              </a:tr>
              <a:tr h="469352">
                <a:tc rowSpan="2">
                  <a:txBody>
                    <a:bodyPr/>
                    <a:lstStyle/>
                    <a:p>
                      <a:pPr algn="ctr" fontAlgn="ctr"/>
                      <a:r>
                        <a:rPr lang="fr-FR" sz="1400" b="0" i="0" u="none" strike="noStrike">
                          <a:solidFill>
                            <a:srgbClr val="000000"/>
                          </a:solidFill>
                          <a:effectLst/>
                          <a:latin typeface="Calibri" panose="020F0502020204030204" pitchFamily="34" charset="0"/>
                        </a:rPr>
                        <a:t>Marge commerciale</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D23A"/>
                    </a:solidFill>
                  </a:tcPr>
                </a:tc>
                <a:tc rowSpan="2">
                  <a:txBody>
                    <a:bodyPr/>
                    <a:lstStyle/>
                    <a:p>
                      <a:pPr algn="ctr" fontAlgn="ctr"/>
                      <a:r>
                        <a:rPr lang="fr-FR" sz="1400" b="0" i="0" u="none" strike="noStrike">
                          <a:solidFill>
                            <a:srgbClr val="000000"/>
                          </a:solidFill>
                          <a:effectLst/>
                          <a:latin typeface="Calibri" panose="020F0502020204030204" pitchFamily="34" charset="0"/>
                        </a:rPr>
                        <a:t>Marge commerciale</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D23A"/>
                    </a:solidFill>
                  </a:tcPr>
                </a:tc>
                <a:tc gridSpan="3">
                  <a:txBody>
                    <a:bodyPr/>
                    <a:lstStyle/>
                    <a:p>
                      <a:pPr algn="ctr" fontAlgn="ctr"/>
                      <a:r>
                        <a:rPr lang="fr-FR" sz="1400" b="0" i="0" u="none" strike="noStrike">
                          <a:solidFill>
                            <a:srgbClr val="000000"/>
                          </a:solidFill>
                          <a:effectLst/>
                          <a:latin typeface="Calibri" panose="020F0502020204030204" pitchFamily="34" charset="0"/>
                        </a:rPr>
                        <a:t>Spread de crédit idiosyncratique</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D23A"/>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580989329"/>
                  </a:ext>
                </a:extLst>
              </a:tr>
              <a:tr h="85648">
                <a:tc vMerge="1">
                  <a:txBody>
                    <a:bodyPr/>
                    <a:lstStyle/>
                    <a:p>
                      <a:endParaRPr lang="fr-FR"/>
                    </a:p>
                  </a:txBody>
                  <a:tcPr/>
                </a:tc>
                <a:tc vMerge="1">
                  <a:txBody>
                    <a:bodyPr/>
                    <a:lstStyle/>
                    <a:p>
                      <a:endParaRPr lang="fr-FR"/>
                    </a:p>
                  </a:txBody>
                  <a:tcPr/>
                </a:tc>
                <a:tc rowSpan="2" gridSpan="3">
                  <a:txBody>
                    <a:bodyPr/>
                    <a:lstStyle/>
                    <a:p>
                      <a:pPr algn="ctr" fontAlgn="ctr"/>
                      <a:r>
                        <a:rPr lang="fr-FR" sz="1400" b="0" i="0" u="none" strike="noStrike" dirty="0">
                          <a:solidFill>
                            <a:srgbClr val="000000"/>
                          </a:solidFill>
                          <a:effectLst/>
                          <a:latin typeface="Calibri" panose="020F0502020204030204" pitchFamily="34" charset="0"/>
                        </a:rPr>
                        <a:t>Spread de crédit marché</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6699"/>
                    </a:solidFill>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2818295109"/>
                  </a:ext>
                </a:extLst>
              </a:tr>
              <a:tr h="383703">
                <a:tc rowSpan="4">
                  <a:txBody>
                    <a:bodyPr/>
                    <a:lstStyle/>
                    <a:p>
                      <a:pPr algn="ctr" fontAlgn="ctr"/>
                      <a:r>
                        <a:rPr lang="fr-FR" sz="1400" b="0" i="0" u="none" strike="noStrike">
                          <a:solidFill>
                            <a:srgbClr val="000000"/>
                          </a:solidFill>
                          <a:effectLst/>
                          <a:latin typeface="Calibri" panose="020F0502020204030204" pitchFamily="34" charset="0"/>
                        </a:rPr>
                        <a:t>Cout du financement</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rowSpan="2">
                  <a:txBody>
                    <a:bodyPr/>
                    <a:lstStyle/>
                    <a:p>
                      <a:pPr algn="ctr" fontAlgn="ctr"/>
                      <a:r>
                        <a:rPr lang="fr-FR" sz="1400" b="0" i="0" u="none" strike="noStrike">
                          <a:solidFill>
                            <a:srgbClr val="000000"/>
                          </a:solidFill>
                          <a:effectLst/>
                          <a:latin typeface="Calibri" panose="020F0502020204030204" pitchFamily="34" charset="0"/>
                        </a:rPr>
                        <a:t>Marge de financement</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gridSpan="3"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687149145"/>
                  </a:ext>
                </a:extLst>
              </a:tr>
              <a:tr h="469352">
                <a:tc vMerge="1">
                  <a:txBody>
                    <a:bodyPr/>
                    <a:lstStyle/>
                    <a:p>
                      <a:endParaRPr lang="fr-FR"/>
                    </a:p>
                  </a:txBody>
                  <a:tcPr/>
                </a:tc>
                <a:tc vMerge="1">
                  <a:txBody>
                    <a:bodyPr/>
                    <a:lstStyle/>
                    <a:p>
                      <a:endParaRPr lang="fr-FR"/>
                    </a:p>
                  </a:txBody>
                  <a:tcPr/>
                </a:tc>
                <a:tc gridSpan="3">
                  <a:txBody>
                    <a:bodyPr/>
                    <a:lstStyle/>
                    <a:p>
                      <a:pPr algn="ctr" fontAlgn="ctr"/>
                      <a:r>
                        <a:rPr lang="fr-FR" sz="1400" b="0" i="0" u="none" strike="noStrike" dirty="0">
                          <a:solidFill>
                            <a:srgbClr val="000000"/>
                          </a:solidFill>
                          <a:effectLst/>
                          <a:latin typeface="Calibri" panose="020F0502020204030204" pitchFamily="34" charset="0"/>
                        </a:rPr>
                        <a:t>Spread de Liquidité</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6699"/>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127558864"/>
                  </a:ext>
                </a:extLst>
              </a:tr>
              <a:tr h="469352">
                <a:tc vMerge="1">
                  <a:txBody>
                    <a:bodyPr/>
                    <a:lstStyle/>
                    <a:p>
                      <a:endParaRPr lang="fr-FR"/>
                    </a:p>
                  </a:txBody>
                  <a:tcPr/>
                </a:tc>
                <a:tc rowSpan="2">
                  <a:txBody>
                    <a:bodyPr/>
                    <a:lstStyle/>
                    <a:p>
                      <a:pPr algn="ctr" fontAlgn="ctr"/>
                      <a:r>
                        <a:rPr lang="fr-FR" sz="1400" b="0" i="0" u="none" strike="noStrike">
                          <a:solidFill>
                            <a:srgbClr val="000000"/>
                          </a:solidFill>
                          <a:effectLst/>
                          <a:latin typeface="Calibri" panose="020F0502020204030204" pitchFamily="34" charset="0"/>
                        </a:rPr>
                        <a:t>Taux de référence</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gridSpan="3">
                  <a:txBody>
                    <a:bodyPr/>
                    <a:lstStyle/>
                    <a:p>
                      <a:pPr algn="ctr" fontAlgn="ctr"/>
                      <a:r>
                        <a:rPr lang="fr-FR" sz="1400" b="0" i="0" u="none" strike="noStrike">
                          <a:solidFill>
                            <a:srgbClr val="000000"/>
                          </a:solidFill>
                          <a:effectLst/>
                          <a:latin typeface="Calibri" panose="020F0502020204030204" pitchFamily="34" charset="0"/>
                        </a:rPr>
                        <a:t>Spread de duration marché</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436504740"/>
                  </a:ext>
                </a:extLst>
              </a:tr>
              <a:tr h="469352">
                <a:tc vMerge="1">
                  <a:txBody>
                    <a:bodyPr/>
                    <a:lstStyle/>
                    <a:p>
                      <a:endParaRPr lang="fr-FR"/>
                    </a:p>
                  </a:txBody>
                  <a:tcPr/>
                </a:tc>
                <a:tc vMerge="1">
                  <a:txBody>
                    <a:bodyPr/>
                    <a:lstStyle/>
                    <a:p>
                      <a:endParaRPr lang="fr-FR"/>
                    </a:p>
                  </a:txBody>
                  <a:tcPr/>
                </a:tc>
                <a:tc gridSpan="3">
                  <a:txBody>
                    <a:bodyPr/>
                    <a:lstStyle/>
                    <a:p>
                      <a:pPr algn="ctr" fontAlgn="ctr"/>
                      <a:r>
                        <a:rPr lang="fr-FR" sz="1400" b="0" i="0" u="none" strike="noStrike">
                          <a:solidFill>
                            <a:srgbClr val="000000"/>
                          </a:solidFill>
                          <a:effectLst/>
                          <a:latin typeface="Calibri" panose="020F0502020204030204" pitchFamily="34" charset="0"/>
                        </a:rPr>
                        <a:t>Taux sans risque</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865016407"/>
                  </a:ext>
                </a:extLst>
              </a:tr>
              <a:tr h="493591">
                <a:tc>
                  <a:txBody>
                    <a:bodyPr/>
                    <a:lstStyle/>
                    <a:p>
                      <a:pPr algn="ctr" fontAlgn="ctr"/>
                      <a:r>
                        <a:rPr lang="fr-FR" sz="1400" b="0" i="0" u="none" strike="noStrike" err="1">
                          <a:solidFill>
                            <a:srgbClr val="000000"/>
                          </a:solidFill>
                          <a:effectLst/>
                          <a:latin typeface="Calibri" panose="020F0502020204030204" pitchFamily="34" charset="0"/>
                        </a:rPr>
                        <a:t>p.e</a:t>
                      </a:r>
                      <a:r>
                        <a:rPr lang="fr-FR" sz="1400" b="0" i="0" u="none" strike="noStrike">
                          <a:solidFill>
                            <a:srgbClr val="000000"/>
                          </a:solidFill>
                          <a:effectLst/>
                          <a:latin typeface="Calibri" panose="020F0502020204030204" pitchFamily="34" charset="0"/>
                        </a:rPr>
                        <a:t> prêts aux particuliers</a:t>
                      </a:r>
                    </a:p>
                  </a:txBody>
                  <a:tcPr marL="6350" marR="6350" marT="6350" marB="0" anchor="ctr">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fr-FR" sz="1400" b="0" i="0" u="none" strike="noStrike" dirty="0" err="1">
                          <a:solidFill>
                            <a:srgbClr val="000000"/>
                          </a:solidFill>
                          <a:effectLst/>
                          <a:latin typeface="Calibri" panose="020F0502020204030204" pitchFamily="34" charset="0"/>
                        </a:rPr>
                        <a:t>p.e</a:t>
                      </a:r>
                      <a:r>
                        <a:rPr lang="fr-FR" sz="1400" b="0" i="0" u="none" strike="noStrike" dirty="0">
                          <a:solidFill>
                            <a:srgbClr val="000000"/>
                          </a:solidFill>
                          <a:effectLst/>
                          <a:latin typeface="Calibri" panose="020F0502020204030204" pitchFamily="34" charset="0"/>
                        </a:rPr>
                        <a:t>. prêts aux entreprises</a:t>
                      </a:r>
                    </a:p>
                  </a:txBody>
                  <a:tcPr marL="6350" marR="6350" marT="6350" marB="0" anchor="ctr">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3">
                  <a:txBody>
                    <a:bodyPr/>
                    <a:lstStyle/>
                    <a:p>
                      <a:pPr algn="ctr" fontAlgn="ctr"/>
                      <a:r>
                        <a:rPr lang="fr-FR" sz="1400" b="0" i="0" u="none" strike="noStrike" dirty="0" err="1">
                          <a:solidFill>
                            <a:srgbClr val="000000"/>
                          </a:solidFill>
                          <a:effectLst/>
                          <a:latin typeface="Calibri" panose="020F0502020204030204" pitchFamily="34" charset="0"/>
                        </a:rPr>
                        <a:t>p.e</a:t>
                      </a:r>
                      <a:r>
                        <a:rPr lang="fr-FR" sz="1400" b="0" i="0" u="none" strike="noStrike" dirty="0">
                          <a:solidFill>
                            <a:srgbClr val="000000"/>
                          </a:solidFill>
                          <a:effectLst/>
                          <a:latin typeface="Calibri" panose="020F0502020204030204" pitchFamily="34" charset="0"/>
                        </a:rPr>
                        <a:t>. e.g. obligations</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801549237"/>
                  </a:ext>
                </a:extLst>
              </a:tr>
            </a:tbl>
          </a:graphicData>
        </a:graphic>
      </p:graphicFrame>
      <p:sp>
        <p:nvSpPr>
          <p:cNvPr id="32" name="TextBox 31">
            <a:extLst>
              <a:ext uri="{FF2B5EF4-FFF2-40B4-BE49-F238E27FC236}">
                <a16:creationId xmlns:a16="http://schemas.microsoft.com/office/drawing/2014/main" id="{8920A89C-0DE6-FCFC-4839-6725556117DC}"/>
              </a:ext>
            </a:extLst>
          </p:cNvPr>
          <p:cNvSpPr txBox="1"/>
          <p:nvPr/>
        </p:nvSpPr>
        <p:spPr>
          <a:xfrm>
            <a:off x="1548079" y="3275111"/>
            <a:ext cx="920965" cy="307777"/>
          </a:xfrm>
          <a:prstGeom prst="rect">
            <a:avLst/>
          </a:prstGeom>
          <a:solidFill>
            <a:srgbClr val="00B0F0"/>
          </a:solidFill>
          <a:ln w="28575">
            <a:solidFill>
              <a:schemeClr val="tx1"/>
            </a:solidFill>
            <a:prstDash val="sysDash"/>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rPr>
              <a:t>IRRBB</a:t>
            </a:r>
          </a:p>
        </p:txBody>
      </p:sp>
      <p:sp>
        <p:nvSpPr>
          <p:cNvPr id="33" name="TextBox 32">
            <a:extLst>
              <a:ext uri="{FF2B5EF4-FFF2-40B4-BE49-F238E27FC236}">
                <a16:creationId xmlns:a16="http://schemas.microsoft.com/office/drawing/2014/main" id="{040232DB-6F67-5B9D-3927-7B6BB44B76C3}"/>
              </a:ext>
            </a:extLst>
          </p:cNvPr>
          <p:cNvSpPr txBox="1"/>
          <p:nvPr/>
        </p:nvSpPr>
        <p:spPr>
          <a:xfrm>
            <a:off x="1548078" y="4014365"/>
            <a:ext cx="920965" cy="307777"/>
          </a:xfrm>
          <a:prstGeom prst="rect">
            <a:avLst/>
          </a:prstGeom>
          <a:solidFill>
            <a:srgbClr val="FF6699"/>
          </a:solidFill>
          <a:ln w="28575">
            <a:solidFill>
              <a:schemeClr val="tx1"/>
            </a:solidFill>
            <a:prstDash val="sysDash"/>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rPr>
              <a:t>CSRBB</a:t>
            </a:r>
          </a:p>
        </p:txBody>
      </p:sp>
      <p:sp>
        <p:nvSpPr>
          <p:cNvPr id="23" name="Espace réservé du texte 15">
            <a:extLst>
              <a:ext uri="{FF2B5EF4-FFF2-40B4-BE49-F238E27FC236}">
                <a16:creationId xmlns:a16="http://schemas.microsoft.com/office/drawing/2014/main" id="{A2A2C67A-1C3C-3DD6-A652-59E7A4A2D903}"/>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151314547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6D8219C-5124-AD11-73B1-66F676811C31}"/>
              </a:ext>
            </a:extLst>
          </p:cNvPr>
          <p:cNvSpPr>
            <a:spLocks noGrp="1"/>
          </p:cNvSpPr>
          <p:nvPr>
            <p:ph type="body" sz="quarter" idx="11"/>
          </p:nvPr>
        </p:nvSpPr>
        <p:spPr/>
        <p:txBody>
          <a:bodyPr/>
          <a:lstStyle/>
          <a:p>
            <a:r>
              <a:rPr lang="fr-FR" dirty="0"/>
              <a:t>Annexes</a:t>
            </a:r>
          </a:p>
        </p:txBody>
      </p:sp>
      <p:graphicFrame>
        <p:nvGraphicFramePr>
          <p:cNvPr id="6" name="Table 5">
            <a:extLst>
              <a:ext uri="{FF2B5EF4-FFF2-40B4-BE49-F238E27FC236}">
                <a16:creationId xmlns:a16="http://schemas.microsoft.com/office/drawing/2014/main" id="{B39A0EC9-4117-ECD5-67B3-26941C806F36}"/>
              </a:ext>
            </a:extLst>
          </p:cNvPr>
          <p:cNvGraphicFramePr>
            <a:graphicFrameLocks noGrp="1"/>
          </p:cNvGraphicFramePr>
          <p:nvPr>
            <p:extLst>
              <p:ext uri="{D42A27DB-BD31-4B8C-83A1-F6EECF244321}">
                <p14:modId xmlns:p14="http://schemas.microsoft.com/office/powerpoint/2010/main" val="3110224791"/>
              </p:ext>
            </p:extLst>
          </p:nvPr>
        </p:nvGraphicFramePr>
        <p:xfrm>
          <a:off x="999137" y="1637238"/>
          <a:ext cx="5890578" cy="1650448"/>
        </p:xfrm>
        <a:graphic>
          <a:graphicData uri="http://schemas.openxmlformats.org/drawingml/2006/table">
            <a:tbl>
              <a:tblPr firstRow="1" bandRow="1">
                <a:tableStyleId>{B407F83F-F4B1-428F-90E6-6AE17F0CE779}</a:tableStyleId>
              </a:tblPr>
              <a:tblGrid>
                <a:gridCol w="2945289">
                  <a:extLst>
                    <a:ext uri="{9D8B030D-6E8A-4147-A177-3AD203B41FA5}">
                      <a16:colId xmlns:a16="http://schemas.microsoft.com/office/drawing/2014/main" val="365084050"/>
                    </a:ext>
                  </a:extLst>
                </a:gridCol>
                <a:gridCol w="2945289">
                  <a:extLst>
                    <a:ext uri="{9D8B030D-6E8A-4147-A177-3AD203B41FA5}">
                      <a16:colId xmlns:a16="http://schemas.microsoft.com/office/drawing/2014/main" val="3308542114"/>
                    </a:ext>
                  </a:extLst>
                </a:gridCol>
              </a:tblGrid>
              <a:tr h="527422">
                <a:tc>
                  <a:txBody>
                    <a:bodyPr/>
                    <a:lstStyle/>
                    <a:p>
                      <a:r>
                        <a:rPr lang="fr-FR" b="1" dirty="0"/>
                        <a:t>Documents réglementaires</a:t>
                      </a:r>
                    </a:p>
                  </a:txBody>
                  <a:tcPr>
                    <a:solidFill>
                      <a:schemeClr val="bg1">
                        <a:lumMod val="75000"/>
                      </a:schemeClr>
                    </a:solidFill>
                  </a:tcPr>
                </a:tc>
                <a:tc>
                  <a:txBody>
                    <a:bodyPr/>
                    <a:lstStyle/>
                    <a:p>
                      <a:r>
                        <a:rPr lang="fr-FR" b="1" dirty="0"/>
                        <a:t>Liens</a:t>
                      </a:r>
                    </a:p>
                  </a:txBody>
                  <a:tcPr>
                    <a:solidFill>
                      <a:schemeClr val="bg1">
                        <a:lumMod val="75000"/>
                      </a:schemeClr>
                    </a:solidFill>
                  </a:tcPr>
                </a:tc>
                <a:extLst>
                  <a:ext uri="{0D108BD9-81ED-4DB2-BD59-A6C34878D82A}">
                    <a16:rowId xmlns:a16="http://schemas.microsoft.com/office/drawing/2014/main" val="3062179187"/>
                  </a:ext>
                </a:extLst>
              </a:tr>
              <a:tr h="561513">
                <a:tc>
                  <a:txBody>
                    <a:bodyPr/>
                    <a:lstStyle/>
                    <a:p>
                      <a:endParaRPr lang="fr-FR" dirty="0"/>
                    </a:p>
                  </a:txBody>
                  <a:tcPr/>
                </a:tc>
                <a:tc>
                  <a:txBody>
                    <a:bodyPr/>
                    <a:lstStyle/>
                    <a:p>
                      <a:endParaRPr lang="fr-FR" dirty="0"/>
                    </a:p>
                  </a:txBody>
                  <a:tcPr/>
                </a:tc>
                <a:extLst>
                  <a:ext uri="{0D108BD9-81ED-4DB2-BD59-A6C34878D82A}">
                    <a16:rowId xmlns:a16="http://schemas.microsoft.com/office/drawing/2014/main" val="1660030121"/>
                  </a:ext>
                </a:extLst>
              </a:tr>
              <a:tr h="561513">
                <a:tc>
                  <a:txBody>
                    <a:bodyPr/>
                    <a:lstStyle/>
                    <a:p>
                      <a:endParaRPr lang="fr-FR" dirty="0"/>
                    </a:p>
                  </a:txBody>
                  <a:tcPr/>
                </a:tc>
                <a:tc>
                  <a:txBody>
                    <a:bodyPr/>
                    <a:lstStyle/>
                    <a:p>
                      <a:endParaRPr lang="fr-FR" dirty="0"/>
                    </a:p>
                  </a:txBody>
                  <a:tcPr/>
                </a:tc>
                <a:extLst>
                  <a:ext uri="{0D108BD9-81ED-4DB2-BD59-A6C34878D82A}">
                    <a16:rowId xmlns:a16="http://schemas.microsoft.com/office/drawing/2014/main" val="1919074072"/>
                  </a:ext>
                </a:extLst>
              </a:tr>
            </a:tbl>
          </a:graphicData>
        </a:graphic>
      </p:graphicFrame>
    </p:spTree>
    <p:extLst>
      <p:ext uri="{BB962C8B-B14F-4D97-AF65-F5344CB8AC3E}">
        <p14:creationId xmlns:p14="http://schemas.microsoft.com/office/powerpoint/2010/main" val="402633114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7A8DF79-0DEC-01A8-0F03-F0D0C5C20534}"/>
              </a:ext>
            </a:extLst>
          </p:cNvPr>
          <p:cNvSpPr>
            <a:spLocks noGrp="1"/>
          </p:cNvSpPr>
          <p:nvPr>
            <p:ph type="body" sz="quarter" idx="11"/>
          </p:nvPr>
        </p:nvSpPr>
        <p:spPr/>
        <p:txBody>
          <a:bodyPr/>
          <a:lstStyle/>
          <a:p>
            <a:r>
              <a:rPr lang="fr-FR" dirty="0"/>
              <a:t>Trame PPT pour la thématique CSRBB</a:t>
            </a:r>
          </a:p>
        </p:txBody>
      </p:sp>
      <p:sp>
        <p:nvSpPr>
          <p:cNvPr id="4" name="Rectangle 3">
            <a:extLst>
              <a:ext uri="{FF2B5EF4-FFF2-40B4-BE49-F238E27FC236}">
                <a16:creationId xmlns:a16="http://schemas.microsoft.com/office/drawing/2014/main" id="{8F9D1BCE-D5E2-90BE-DF71-D8BD11D49805}"/>
              </a:ext>
            </a:extLst>
          </p:cNvPr>
          <p:cNvSpPr/>
          <p:nvPr/>
        </p:nvSpPr>
        <p:spPr>
          <a:xfrm>
            <a:off x="4272101" y="3147997"/>
            <a:ext cx="5164667" cy="29972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dirty="0"/>
              <a:t>Gap </a:t>
            </a:r>
            <a:r>
              <a:rPr lang="fr-FR" dirty="0" err="1"/>
              <a:t>analysis</a:t>
            </a:r>
            <a:r>
              <a:rPr lang="fr-FR" dirty="0"/>
              <a:t> avec IRRBB ?</a:t>
            </a:r>
          </a:p>
          <a:p>
            <a:pPr algn="ctr"/>
            <a:r>
              <a:rPr lang="fr-FR" dirty="0"/>
              <a:t>+ tableau avec les différents taux ? …</a:t>
            </a:r>
          </a:p>
          <a:p>
            <a:pPr algn="ctr"/>
            <a:endParaRPr lang="fr-FR" dirty="0"/>
          </a:p>
        </p:txBody>
      </p:sp>
    </p:spTree>
    <p:extLst>
      <p:ext uri="{BB962C8B-B14F-4D97-AF65-F5344CB8AC3E}">
        <p14:creationId xmlns:p14="http://schemas.microsoft.com/office/powerpoint/2010/main" val="384360972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F957DE3-100D-0B9F-E112-53B250FB008B}"/>
              </a:ext>
            </a:extLst>
          </p:cNvPr>
          <p:cNvSpPr>
            <a:spLocks noGrp="1"/>
          </p:cNvSpPr>
          <p:nvPr>
            <p:ph type="body" sz="quarter" idx="11"/>
          </p:nvPr>
        </p:nvSpPr>
        <p:spPr>
          <a:noFill/>
        </p:spPr>
        <p:txBody>
          <a:bodyPr anchor="ctr"/>
          <a:lstStyle/>
          <a:p>
            <a:r>
              <a:rPr lang="fr-FR" dirty="0"/>
              <a:t>	Risque de taux dans le </a:t>
            </a:r>
            <a:r>
              <a:rPr lang="fr-FR" dirty="0" err="1"/>
              <a:t>banking</a:t>
            </a:r>
            <a:r>
              <a:rPr lang="fr-FR" dirty="0"/>
              <a:t> book</a:t>
            </a:r>
          </a:p>
          <a:p>
            <a:pPr>
              <a:spcBef>
                <a:spcPts val="0"/>
              </a:spcBef>
            </a:pPr>
            <a:r>
              <a:rPr lang="fr-FR" sz="2000" b="0" dirty="0"/>
              <a:t>	Notion de taux d’intérêt</a:t>
            </a:r>
          </a:p>
        </p:txBody>
      </p:sp>
      <p:sp>
        <p:nvSpPr>
          <p:cNvPr id="4" name="object 3">
            <a:extLst>
              <a:ext uri="{FF2B5EF4-FFF2-40B4-BE49-F238E27FC236}">
                <a16:creationId xmlns:a16="http://schemas.microsoft.com/office/drawing/2014/main" id="{0FE6394E-3F4A-770C-DC12-BF19D6F07E2A}"/>
              </a:ext>
            </a:extLst>
          </p:cNvPr>
          <p:cNvSpPr/>
          <p:nvPr/>
        </p:nvSpPr>
        <p:spPr>
          <a:xfrm>
            <a:off x="7892796" y="7033259"/>
            <a:ext cx="0" cy="472440"/>
          </a:xfrm>
          <a:custGeom>
            <a:avLst/>
            <a:gdLst/>
            <a:ahLst/>
            <a:cxnLst/>
            <a:rect l="l" t="t" r="r" b="b"/>
            <a:pathLst>
              <a:path h="472440">
                <a:moveTo>
                  <a:pt x="0" y="0"/>
                </a:moveTo>
                <a:lnTo>
                  <a:pt x="0" y="4724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grpSp>
        <p:nvGrpSpPr>
          <p:cNvPr id="5" name="object 4">
            <a:extLst>
              <a:ext uri="{FF2B5EF4-FFF2-40B4-BE49-F238E27FC236}">
                <a16:creationId xmlns:a16="http://schemas.microsoft.com/office/drawing/2014/main" id="{C1D71733-34F6-2D81-E688-139A31F5A274}"/>
              </a:ext>
            </a:extLst>
          </p:cNvPr>
          <p:cNvGrpSpPr/>
          <p:nvPr/>
        </p:nvGrpSpPr>
        <p:grpSpPr>
          <a:xfrm>
            <a:off x="7339571" y="7065276"/>
            <a:ext cx="404495" cy="411988"/>
            <a:chOff x="7339571" y="7065276"/>
            <a:chExt cx="404495" cy="411988"/>
          </a:xfrm>
          <a:noFill/>
        </p:grpSpPr>
        <p:sp>
          <p:nvSpPr>
            <p:cNvPr id="6" name="object 5">
              <a:extLst>
                <a:ext uri="{FF2B5EF4-FFF2-40B4-BE49-F238E27FC236}">
                  <a16:creationId xmlns:a16="http://schemas.microsoft.com/office/drawing/2014/main" id="{29F6F458-560F-8894-3E55-09C7A71AF8C4}"/>
                </a:ext>
              </a:extLst>
            </p:cNvPr>
            <p:cNvSpPr/>
            <p:nvPr/>
          </p:nvSpPr>
          <p:spPr>
            <a:xfrm>
              <a:off x="7339571" y="7065276"/>
              <a:ext cx="404495" cy="411480"/>
            </a:xfrm>
            <a:custGeom>
              <a:avLst/>
              <a:gdLst/>
              <a:ahLst/>
              <a:cxnLst/>
              <a:rect l="l" t="t" r="r" b="b"/>
              <a:pathLst>
                <a:path w="404495" h="411479">
                  <a:moveTo>
                    <a:pt x="403872" y="0"/>
                  </a:moveTo>
                  <a:lnTo>
                    <a:pt x="0" y="0"/>
                  </a:lnTo>
                  <a:lnTo>
                    <a:pt x="0" y="46990"/>
                  </a:lnTo>
                  <a:lnTo>
                    <a:pt x="0" y="411480"/>
                  </a:lnTo>
                  <a:lnTo>
                    <a:pt x="48768" y="411480"/>
                  </a:lnTo>
                  <a:lnTo>
                    <a:pt x="48768" y="46990"/>
                  </a:lnTo>
                  <a:lnTo>
                    <a:pt x="358140" y="46990"/>
                  </a:lnTo>
                  <a:lnTo>
                    <a:pt x="358140" y="411480"/>
                  </a:lnTo>
                  <a:lnTo>
                    <a:pt x="403872" y="411480"/>
                  </a:lnTo>
                  <a:lnTo>
                    <a:pt x="403872" y="46990"/>
                  </a:lnTo>
                  <a:lnTo>
                    <a:pt x="403872" y="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7" name="object 6">
              <a:extLst>
                <a:ext uri="{FF2B5EF4-FFF2-40B4-BE49-F238E27FC236}">
                  <a16:creationId xmlns:a16="http://schemas.microsoft.com/office/drawing/2014/main" id="{B74E1C72-ABD9-BC0B-AF1C-F1804148DEAF}"/>
                </a:ext>
              </a:extLst>
            </p:cNvPr>
            <p:cNvSpPr/>
            <p:nvPr/>
          </p:nvSpPr>
          <p:spPr>
            <a:xfrm>
              <a:off x="7511795" y="7295387"/>
              <a:ext cx="59690" cy="48895"/>
            </a:xfrm>
            <a:custGeom>
              <a:avLst/>
              <a:gdLst/>
              <a:ahLst/>
              <a:cxnLst/>
              <a:rect l="l" t="t" r="r" b="b"/>
              <a:pathLst>
                <a:path w="59690" h="48895">
                  <a:moveTo>
                    <a:pt x="59435" y="48767"/>
                  </a:moveTo>
                  <a:lnTo>
                    <a:pt x="0" y="48767"/>
                  </a:lnTo>
                  <a:lnTo>
                    <a:pt x="0" y="0"/>
                  </a:lnTo>
                  <a:lnTo>
                    <a:pt x="59435" y="0"/>
                  </a:lnTo>
                  <a:lnTo>
                    <a:pt x="59435" y="48767"/>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8" name="object 7">
              <a:extLst>
                <a:ext uri="{FF2B5EF4-FFF2-40B4-BE49-F238E27FC236}">
                  <a16:creationId xmlns:a16="http://schemas.microsoft.com/office/drawing/2014/main" id="{8CE0C4B1-0348-FFD9-4264-63B89FCF7122}"/>
                </a:ext>
              </a:extLst>
            </p:cNvPr>
            <p:cNvSpPr/>
            <p:nvPr/>
          </p:nvSpPr>
          <p:spPr>
            <a:xfrm>
              <a:off x="7427976" y="7152639"/>
              <a:ext cx="144780" cy="323850"/>
            </a:xfrm>
            <a:custGeom>
              <a:avLst/>
              <a:gdLst/>
              <a:ahLst/>
              <a:cxnLst/>
              <a:rect l="l" t="t" r="r" b="b"/>
              <a:pathLst>
                <a:path w="144779" h="323850">
                  <a:moveTo>
                    <a:pt x="144780" y="276860"/>
                  </a:moveTo>
                  <a:lnTo>
                    <a:pt x="48768" y="276860"/>
                  </a:lnTo>
                  <a:lnTo>
                    <a:pt x="48768" y="0"/>
                  </a:lnTo>
                  <a:lnTo>
                    <a:pt x="0" y="0"/>
                  </a:lnTo>
                  <a:lnTo>
                    <a:pt x="0" y="276860"/>
                  </a:lnTo>
                  <a:lnTo>
                    <a:pt x="0" y="323850"/>
                  </a:lnTo>
                  <a:lnTo>
                    <a:pt x="144780" y="323850"/>
                  </a:lnTo>
                  <a:lnTo>
                    <a:pt x="144780" y="27686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9" name="object 8">
              <a:extLst>
                <a:ext uri="{FF2B5EF4-FFF2-40B4-BE49-F238E27FC236}">
                  <a16:creationId xmlns:a16="http://schemas.microsoft.com/office/drawing/2014/main" id="{20AD0A77-A08B-4C35-41E1-32E5FA0A9569}"/>
                </a:ext>
              </a:extLst>
            </p:cNvPr>
            <p:cNvSpPr/>
            <p:nvPr/>
          </p:nvSpPr>
          <p:spPr>
            <a:xfrm>
              <a:off x="7511796" y="7152144"/>
              <a:ext cx="142240" cy="325120"/>
            </a:xfrm>
            <a:custGeom>
              <a:avLst/>
              <a:gdLst/>
              <a:ahLst/>
              <a:cxnLst/>
              <a:rect l="l" t="t" r="r" b="b"/>
              <a:pathLst>
                <a:path w="142240" h="325120">
                  <a:moveTo>
                    <a:pt x="141732" y="0"/>
                  </a:moveTo>
                  <a:lnTo>
                    <a:pt x="0" y="0"/>
                  </a:lnTo>
                  <a:lnTo>
                    <a:pt x="0" y="48260"/>
                  </a:lnTo>
                  <a:lnTo>
                    <a:pt x="94488" y="48260"/>
                  </a:lnTo>
                  <a:lnTo>
                    <a:pt x="94488" y="325120"/>
                  </a:lnTo>
                  <a:lnTo>
                    <a:pt x="141732" y="325120"/>
                  </a:lnTo>
                  <a:lnTo>
                    <a:pt x="141732" y="48260"/>
                  </a:lnTo>
                  <a:lnTo>
                    <a:pt x="141732" y="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grpSp>
      <p:pic>
        <p:nvPicPr>
          <p:cNvPr id="10" name="object 9">
            <a:extLst>
              <a:ext uri="{FF2B5EF4-FFF2-40B4-BE49-F238E27FC236}">
                <a16:creationId xmlns:a16="http://schemas.microsoft.com/office/drawing/2014/main" id="{3C35C66E-CB3F-40E2-269B-186F9EEC59F3}"/>
              </a:ext>
            </a:extLst>
          </p:cNvPr>
          <p:cNvPicPr/>
          <p:nvPr/>
        </p:nvPicPr>
        <p:blipFill>
          <a:blip r:embed="rId3" cstate="print"/>
          <a:stretch>
            <a:fillRect/>
          </a:stretch>
        </p:blipFill>
        <p:spPr>
          <a:xfrm>
            <a:off x="8057388" y="7161276"/>
            <a:ext cx="123444" cy="96012"/>
          </a:xfrm>
          <a:prstGeom prst="rect">
            <a:avLst/>
          </a:prstGeom>
          <a:noFill/>
        </p:spPr>
      </p:pic>
      <p:grpSp>
        <p:nvGrpSpPr>
          <p:cNvPr id="11" name="object 10">
            <a:extLst>
              <a:ext uri="{FF2B5EF4-FFF2-40B4-BE49-F238E27FC236}">
                <a16:creationId xmlns:a16="http://schemas.microsoft.com/office/drawing/2014/main" id="{F39AF2CE-35E7-DDC8-5488-8E27EB0C4EA9}"/>
              </a:ext>
            </a:extLst>
          </p:cNvPr>
          <p:cNvGrpSpPr/>
          <p:nvPr/>
        </p:nvGrpSpPr>
        <p:grpSpPr>
          <a:xfrm>
            <a:off x="8240255" y="7160767"/>
            <a:ext cx="622058" cy="97028"/>
            <a:chOff x="8240255" y="7160767"/>
            <a:chExt cx="622058" cy="97028"/>
          </a:xfrm>
          <a:noFill/>
        </p:grpSpPr>
        <p:sp>
          <p:nvSpPr>
            <p:cNvPr id="12" name="object 11">
              <a:extLst>
                <a:ext uri="{FF2B5EF4-FFF2-40B4-BE49-F238E27FC236}">
                  <a16:creationId xmlns:a16="http://schemas.microsoft.com/office/drawing/2014/main" id="{840143FA-D174-F453-9235-AB2576A9A8C0}"/>
                </a:ext>
              </a:extLst>
            </p:cNvPr>
            <p:cNvSpPr/>
            <p:nvPr/>
          </p:nvSpPr>
          <p:spPr>
            <a:xfrm>
              <a:off x="8240255" y="7160767"/>
              <a:ext cx="86995" cy="96520"/>
            </a:xfrm>
            <a:custGeom>
              <a:avLst/>
              <a:gdLst/>
              <a:ahLst/>
              <a:cxnLst/>
              <a:rect l="l" t="t" r="r" b="b"/>
              <a:pathLst>
                <a:path w="86995" h="96520">
                  <a:moveTo>
                    <a:pt x="86868" y="78740"/>
                  </a:moveTo>
                  <a:lnTo>
                    <a:pt x="21336" y="78740"/>
                  </a:lnTo>
                  <a:lnTo>
                    <a:pt x="21336" y="0"/>
                  </a:lnTo>
                  <a:lnTo>
                    <a:pt x="0" y="0"/>
                  </a:lnTo>
                  <a:lnTo>
                    <a:pt x="0" y="78740"/>
                  </a:lnTo>
                  <a:lnTo>
                    <a:pt x="0" y="96520"/>
                  </a:lnTo>
                  <a:lnTo>
                    <a:pt x="86868" y="96520"/>
                  </a:lnTo>
                  <a:lnTo>
                    <a:pt x="86868" y="7874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pic>
          <p:nvPicPr>
            <p:cNvPr id="13" name="object 12">
              <a:extLst>
                <a:ext uri="{FF2B5EF4-FFF2-40B4-BE49-F238E27FC236}">
                  <a16:creationId xmlns:a16="http://schemas.microsoft.com/office/drawing/2014/main" id="{A158D297-3608-D45E-60EF-8987057F5499}"/>
                </a:ext>
              </a:extLst>
            </p:cNvPr>
            <p:cNvPicPr/>
            <p:nvPr/>
          </p:nvPicPr>
          <p:blipFill>
            <a:blip r:embed="rId4" cstate="print"/>
            <a:stretch>
              <a:fillRect/>
            </a:stretch>
          </p:blipFill>
          <p:spPr>
            <a:xfrm>
              <a:off x="8368283" y="7161275"/>
              <a:ext cx="117348" cy="96012"/>
            </a:xfrm>
            <a:prstGeom prst="rect">
              <a:avLst/>
            </a:prstGeom>
            <a:grpFill/>
          </p:spPr>
        </p:pic>
        <p:pic>
          <p:nvPicPr>
            <p:cNvPr id="14" name="object 13">
              <a:extLst>
                <a:ext uri="{FF2B5EF4-FFF2-40B4-BE49-F238E27FC236}">
                  <a16:creationId xmlns:a16="http://schemas.microsoft.com/office/drawing/2014/main" id="{05F23F5F-4E48-F852-EF28-3F50FE25E294}"/>
                </a:ext>
              </a:extLst>
            </p:cNvPr>
            <p:cNvPicPr/>
            <p:nvPr/>
          </p:nvPicPr>
          <p:blipFill>
            <a:blip r:embed="rId5" cstate="print"/>
            <a:stretch>
              <a:fillRect/>
            </a:stretch>
          </p:blipFill>
          <p:spPr>
            <a:xfrm>
              <a:off x="8529827" y="7161275"/>
              <a:ext cx="109728" cy="96012"/>
            </a:xfrm>
            <a:prstGeom prst="rect">
              <a:avLst/>
            </a:prstGeom>
            <a:grpFill/>
          </p:spPr>
        </p:pic>
        <p:pic>
          <p:nvPicPr>
            <p:cNvPr id="15" name="object 14">
              <a:extLst>
                <a:ext uri="{FF2B5EF4-FFF2-40B4-BE49-F238E27FC236}">
                  <a16:creationId xmlns:a16="http://schemas.microsoft.com/office/drawing/2014/main" id="{EF85DA0B-F0F1-9DEC-D5D2-2361EA8E2CC4}"/>
                </a:ext>
              </a:extLst>
            </p:cNvPr>
            <p:cNvPicPr/>
            <p:nvPr/>
          </p:nvPicPr>
          <p:blipFill>
            <a:blip r:embed="rId6" cstate="print"/>
            <a:stretch>
              <a:fillRect/>
            </a:stretch>
          </p:blipFill>
          <p:spPr>
            <a:xfrm>
              <a:off x="8677655" y="7161275"/>
              <a:ext cx="120396" cy="96012"/>
            </a:xfrm>
            <a:prstGeom prst="rect">
              <a:avLst/>
            </a:prstGeom>
            <a:grpFill/>
          </p:spPr>
        </p:pic>
        <p:sp>
          <p:nvSpPr>
            <p:cNvPr id="16" name="object 15">
              <a:extLst>
                <a:ext uri="{FF2B5EF4-FFF2-40B4-BE49-F238E27FC236}">
                  <a16:creationId xmlns:a16="http://schemas.microsoft.com/office/drawing/2014/main" id="{65A90C1E-4C51-B911-33BA-88BC886A3004}"/>
                </a:ext>
              </a:extLst>
            </p:cNvPr>
            <p:cNvSpPr/>
            <p:nvPr/>
          </p:nvSpPr>
          <p:spPr>
            <a:xfrm>
              <a:off x="8840723" y="7161275"/>
              <a:ext cx="21590" cy="96520"/>
            </a:xfrm>
            <a:custGeom>
              <a:avLst/>
              <a:gdLst/>
              <a:ahLst/>
              <a:cxnLst/>
              <a:rect l="l" t="t" r="r" b="b"/>
              <a:pathLst>
                <a:path w="21590" h="96520">
                  <a:moveTo>
                    <a:pt x="21336" y="96011"/>
                  </a:moveTo>
                  <a:lnTo>
                    <a:pt x="0" y="96011"/>
                  </a:lnTo>
                  <a:lnTo>
                    <a:pt x="0" y="0"/>
                  </a:lnTo>
                  <a:lnTo>
                    <a:pt x="21336" y="0"/>
                  </a:lnTo>
                  <a:lnTo>
                    <a:pt x="21336" y="9601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grpSp>
      <p:pic>
        <p:nvPicPr>
          <p:cNvPr id="17" name="object 16">
            <a:extLst>
              <a:ext uri="{FF2B5EF4-FFF2-40B4-BE49-F238E27FC236}">
                <a16:creationId xmlns:a16="http://schemas.microsoft.com/office/drawing/2014/main" id="{69AE7696-D252-06B9-7B87-8B3860151B90}"/>
              </a:ext>
            </a:extLst>
          </p:cNvPr>
          <p:cNvPicPr/>
          <p:nvPr/>
        </p:nvPicPr>
        <p:blipFill>
          <a:blip r:embed="rId7" cstate="print"/>
          <a:stretch>
            <a:fillRect/>
          </a:stretch>
        </p:blipFill>
        <p:spPr>
          <a:xfrm>
            <a:off x="8913876" y="7158227"/>
            <a:ext cx="106680" cy="102107"/>
          </a:xfrm>
          <a:prstGeom prst="rect">
            <a:avLst/>
          </a:prstGeom>
          <a:noFill/>
        </p:spPr>
      </p:pic>
      <p:pic>
        <p:nvPicPr>
          <p:cNvPr id="18" name="object 17">
            <a:extLst>
              <a:ext uri="{FF2B5EF4-FFF2-40B4-BE49-F238E27FC236}">
                <a16:creationId xmlns:a16="http://schemas.microsoft.com/office/drawing/2014/main" id="{5C47DB6D-4EDA-96BE-F55D-5D186EC16D64}"/>
              </a:ext>
            </a:extLst>
          </p:cNvPr>
          <p:cNvPicPr/>
          <p:nvPr/>
        </p:nvPicPr>
        <p:blipFill>
          <a:blip r:embed="rId8" cstate="print"/>
          <a:stretch>
            <a:fillRect/>
          </a:stretch>
        </p:blipFill>
        <p:spPr>
          <a:xfrm>
            <a:off x="9067800" y="7158228"/>
            <a:ext cx="115824" cy="102108"/>
          </a:xfrm>
          <a:prstGeom prst="rect">
            <a:avLst/>
          </a:prstGeom>
          <a:noFill/>
        </p:spPr>
      </p:pic>
      <p:grpSp>
        <p:nvGrpSpPr>
          <p:cNvPr id="19" name="object 18">
            <a:extLst>
              <a:ext uri="{FF2B5EF4-FFF2-40B4-BE49-F238E27FC236}">
                <a16:creationId xmlns:a16="http://schemas.microsoft.com/office/drawing/2014/main" id="{EFA5C0DA-684D-60E0-5274-E007215B6D4B}"/>
              </a:ext>
            </a:extLst>
          </p:cNvPr>
          <p:cNvGrpSpPr/>
          <p:nvPr/>
        </p:nvGrpSpPr>
        <p:grpSpPr>
          <a:xfrm>
            <a:off x="9240011" y="7161276"/>
            <a:ext cx="257556" cy="96012"/>
            <a:chOff x="9240011" y="7161276"/>
            <a:chExt cx="257556" cy="96012"/>
          </a:xfrm>
          <a:noFill/>
        </p:grpSpPr>
        <p:pic>
          <p:nvPicPr>
            <p:cNvPr id="20" name="object 19">
              <a:extLst>
                <a:ext uri="{FF2B5EF4-FFF2-40B4-BE49-F238E27FC236}">
                  <a16:creationId xmlns:a16="http://schemas.microsoft.com/office/drawing/2014/main" id="{916E990C-D2AA-0E0C-B725-90FD7589D585}"/>
                </a:ext>
              </a:extLst>
            </p:cNvPr>
            <p:cNvPicPr/>
            <p:nvPr/>
          </p:nvPicPr>
          <p:blipFill>
            <a:blip r:embed="rId9" cstate="print"/>
            <a:stretch>
              <a:fillRect/>
            </a:stretch>
          </p:blipFill>
          <p:spPr>
            <a:xfrm>
              <a:off x="9240011" y="7161276"/>
              <a:ext cx="103632" cy="96012"/>
            </a:xfrm>
            <a:prstGeom prst="rect">
              <a:avLst/>
            </a:prstGeom>
            <a:grpFill/>
          </p:spPr>
        </p:pic>
        <p:pic>
          <p:nvPicPr>
            <p:cNvPr id="21" name="object 20">
              <a:extLst>
                <a:ext uri="{FF2B5EF4-FFF2-40B4-BE49-F238E27FC236}">
                  <a16:creationId xmlns:a16="http://schemas.microsoft.com/office/drawing/2014/main" id="{6EAD4D52-0716-74C2-A783-6027F16FD747}"/>
                </a:ext>
              </a:extLst>
            </p:cNvPr>
            <p:cNvPicPr/>
            <p:nvPr/>
          </p:nvPicPr>
          <p:blipFill>
            <a:blip r:embed="rId10" cstate="print"/>
            <a:stretch>
              <a:fillRect/>
            </a:stretch>
          </p:blipFill>
          <p:spPr>
            <a:xfrm>
              <a:off x="9375647" y="7161276"/>
              <a:ext cx="121920" cy="96012"/>
            </a:xfrm>
            <a:prstGeom prst="rect">
              <a:avLst/>
            </a:prstGeom>
            <a:grpFill/>
          </p:spPr>
        </p:pic>
      </p:grpSp>
      <p:sp>
        <p:nvSpPr>
          <p:cNvPr id="22" name="object 21">
            <a:extLst>
              <a:ext uri="{FF2B5EF4-FFF2-40B4-BE49-F238E27FC236}">
                <a16:creationId xmlns:a16="http://schemas.microsoft.com/office/drawing/2014/main" id="{41D868D6-DBB9-DF8F-A315-BD1D82FE5594}"/>
              </a:ext>
            </a:extLst>
          </p:cNvPr>
          <p:cNvSpPr/>
          <p:nvPr/>
        </p:nvSpPr>
        <p:spPr>
          <a:xfrm>
            <a:off x="8057388" y="7333488"/>
            <a:ext cx="1431290" cy="55244"/>
          </a:xfrm>
          <a:custGeom>
            <a:avLst/>
            <a:gdLst/>
            <a:ahLst/>
            <a:cxnLst/>
            <a:rect l="l" t="t" r="r" b="b"/>
            <a:pathLst>
              <a:path w="1431290" h="55245">
                <a:moveTo>
                  <a:pt x="47244" y="7632"/>
                </a:moveTo>
                <a:lnTo>
                  <a:pt x="46101" y="6108"/>
                </a:lnTo>
                <a:lnTo>
                  <a:pt x="42672" y="1536"/>
                </a:lnTo>
                <a:lnTo>
                  <a:pt x="42672" y="9156"/>
                </a:lnTo>
                <a:lnTo>
                  <a:pt x="42672" y="21348"/>
                </a:lnTo>
                <a:lnTo>
                  <a:pt x="39624" y="25920"/>
                </a:lnTo>
                <a:lnTo>
                  <a:pt x="4572" y="25920"/>
                </a:lnTo>
                <a:lnTo>
                  <a:pt x="4572" y="6108"/>
                </a:lnTo>
                <a:lnTo>
                  <a:pt x="39624" y="6108"/>
                </a:lnTo>
                <a:lnTo>
                  <a:pt x="42672" y="9156"/>
                </a:lnTo>
                <a:lnTo>
                  <a:pt x="42672" y="1536"/>
                </a:lnTo>
                <a:lnTo>
                  <a:pt x="0" y="1536"/>
                </a:lnTo>
                <a:lnTo>
                  <a:pt x="0" y="47256"/>
                </a:lnTo>
                <a:lnTo>
                  <a:pt x="4572" y="47256"/>
                </a:lnTo>
                <a:lnTo>
                  <a:pt x="4572" y="28968"/>
                </a:lnTo>
                <a:lnTo>
                  <a:pt x="28956" y="28968"/>
                </a:lnTo>
                <a:lnTo>
                  <a:pt x="42672" y="47256"/>
                </a:lnTo>
                <a:lnTo>
                  <a:pt x="47244" y="47256"/>
                </a:lnTo>
                <a:lnTo>
                  <a:pt x="33528" y="28968"/>
                </a:lnTo>
                <a:lnTo>
                  <a:pt x="42672" y="27444"/>
                </a:lnTo>
                <a:lnTo>
                  <a:pt x="44196" y="25920"/>
                </a:lnTo>
                <a:lnTo>
                  <a:pt x="47244" y="22872"/>
                </a:lnTo>
                <a:lnTo>
                  <a:pt x="47244" y="7632"/>
                </a:lnTo>
                <a:close/>
              </a:path>
              <a:path w="1431290" h="55245">
                <a:moveTo>
                  <a:pt x="73139" y="1536"/>
                </a:moveTo>
                <a:lnTo>
                  <a:pt x="68567" y="1536"/>
                </a:lnTo>
                <a:lnTo>
                  <a:pt x="68567" y="47256"/>
                </a:lnTo>
                <a:lnTo>
                  <a:pt x="73139" y="47256"/>
                </a:lnTo>
                <a:lnTo>
                  <a:pt x="73139" y="1536"/>
                </a:lnTo>
                <a:close/>
              </a:path>
              <a:path w="1431290" h="55245">
                <a:moveTo>
                  <a:pt x="140208" y="28968"/>
                </a:moveTo>
                <a:lnTo>
                  <a:pt x="137160" y="25920"/>
                </a:lnTo>
                <a:lnTo>
                  <a:pt x="132588" y="22872"/>
                </a:lnTo>
                <a:lnTo>
                  <a:pt x="129540" y="21348"/>
                </a:lnTo>
                <a:lnTo>
                  <a:pt x="103632" y="21348"/>
                </a:lnTo>
                <a:lnTo>
                  <a:pt x="97536" y="19824"/>
                </a:lnTo>
                <a:lnTo>
                  <a:pt x="97536" y="7632"/>
                </a:lnTo>
                <a:lnTo>
                  <a:pt x="103632" y="4584"/>
                </a:lnTo>
                <a:lnTo>
                  <a:pt x="121920" y="4584"/>
                </a:lnTo>
                <a:lnTo>
                  <a:pt x="128016" y="6108"/>
                </a:lnTo>
                <a:lnTo>
                  <a:pt x="134112" y="9156"/>
                </a:lnTo>
                <a:lnTo>
                  <a:pt x="137160" y="6108"/>
                </a:lnTo>
                <a:lnTo>
                  <a:pt x="131064" y="1536"/>
                </a:lnTo>
                <a:lnTo>
                  <a:pt x="100584" y="1536"/>
                </a:lnTo>
                <a:lnTo>
                  <a:pt x="92964" y="6108"/>
                </a:lnTo>
                <a:lnTo>
                  <a:pt x="92964" y="18300"/>
                </a:lnTo>
                <a:lnTo>
                  <a:pt x="96012" y="21348"/>
                </a:lnTo>
                <a:lnTo>
                  <a:pt x="99060" y="22872"/>
                </a:lnTo>
                <a:lnTo>
                  <a:pt x="103632" y="24396"/>
                </a:lnTo>
                <a:lnTo>
                  <a:pt x="109728" y="25920"/>
                </a:lnTo>
                <a:lnTo>
                  <a:pt x="129540" y="25920"/>
                </a:lnTo>
                <a:lnTo>
                  <a:pt x="135636" y="27444"/>
                </a:lnTo>
                <a:lnTo>
                  <a:pt x="135636" y="41160"/>
                </a:lnTo>
                <a:lnTo>
                  <a:pt x="128016" y="44208"/>
                </a:lnTo>
                <a:lnTo>
                  <a:pt x="108204" y="44208"/>
                </a:lnTo>
                <a:lnTo>
                  <a:pt x="100584" y="42684"/>
                </a:lnTo>
                <a:lnTo>
                  <a:pt x="94488" y="38112"/>
                </a:lnTo>
                <a:lnTo>
                  <a:pt x="91440" y="42684"/>
                </a:lnTo>
                <a:lnTo>
                  <a:pt x="96558" y="45554"/>
                </a:lnTo>
                <a:lnTo>
                  <a:pt x="102679" y="47447"/>
                </a:lnTo>
                <a:lnTo>
                  <a:pt x="109651" y="48463"/>
                </a:lnTo>
                <a:lnTo>
                  <a:pt x="117348" y="48780"/>
                </a:lnTo>
                <a:lnTo>
                  <a:pt x="127342" y="47675"/>
                </a:lnTo>
                <a:lnTo>
                  <a:pt x="134493" y="44589"/>
                </a:lnTo>
                <a:lnTo>
                  <a:pt x="138772" y="39776"/>
                </a:lnTo>
                <a:lnTo>
                  <a:pt x="140208" y="33540"/>
                </a:lnTo>
                <a:lnTo>
                  <a:pt x="140208" y="28968"/>
                </a:lnTo>
                <a:close/>
              </a:path>
              <a:path w="1431290" h="55245">
                <a:moveTo>
                  <a:pt x="207251" y="47256"/>
                </a:moveTo>
                <a:lnTo>
                  <a:pt x="182867" y="18300"/>
                </a:lnTo>
                <a:lnTo>
                  <a:pt x="204203" y="1536"/>
                </a:lnTo>
                <a:lnTo>
                  <a:pt x="198107" y="1536"/>
                </a:lnTo>
                <a:lnTo>
                  <a:pt x="164579" y="28968"/>
                </a:lnTo>
                <a:lnTo>
                  <a:pt x="164579" y="1536"/>
                </a:lnTo>
                <a:lnTo>
                  <a:pt x="160007" y="1536"/>
                </a:lnTo>
                <a:lnTo>
                  <a:pt x="160007" y="47256"/>
                </a:lnTo>
                <a:lnTo>
                  <a:pt x="164579" y="47256"/>
                </a:lnTo>
                <a:lnTo>
                  <a:pt x="164579" y="33540"/>
                </a:lnTo>
                <a:lnTo>
                  <a:pt x="179819" y="21348"/>
                </a:lnTo>
                <a:lnTo>
                  <a:pt x="202679" y="47256"/>
                </a:lnTo>
                <a:lnTo>
                  <a:pt x="207251" y="47256"/>
                </a:lnTo>
                <a:close/>
              </a:path>
              <a:path w="1431290" h="55245">
                <a:moveTo>
                  <a:pt x="292608" y="47256"/>
                </a:moveTo>
                <a:lnTo>
                  <a:pt x="286105" y="35064"/>
                </a:lnTo>
                <a:lnTo>
                  <a:pt x="284480" y="32016"/>
                </a:lnTo>
                <a:lnTo>
                  <a:pt x="278892" y="21539"/>
                </a:lnTo>
                <a:lnTo>
                  <a:pt x="278892" y="32016"/>
                </a:lnTo>
                <a:lnTo>
                  <a:pt x="251460" y="32016"/>
                </a:lnTo>
                <a:lnTo>
                  <a:pt x="265176" y="6108"/>
                </a:lnTo>
                <a:lnTo>
                  <a:pt x="278892" y="32016"/>
                </a:lnTo>
                <a:lnTo>
                  <a:pt x="278892" y="21539"/>
                </a:lnTo>
                <a:lnTo>
                  <a:pt x="270662" y="6108"/>
                </a:lnTo>
                <a:lnTo>
                  <a:pt x="268224" y="1536"/>
                </a:lnTo>
                <a:lnTo>
                  <a:pt x="262128" y="1536"/>
                </a:lnTo>
                <a:lnTo>
                  <a:pt x="237744" y="47256"/>
                </a:lnTo>
                <a:lnTo>
                  <a:pt x="242316" y="47256"/>
                </a:lnTo>
                <a:lnTo>
                  <a:pt x="248412" y="35064"/>
                </a:lnTo>
                <a:lnTo>
                  <a:pt x="280416" y="35064"/>
                </a:lnTo>
                <a:lnTo>
                  <a:pt x="288036" y="47256"/>
                </a:lnTo>
                <a:lnTo>
                  <a:pt x="292608" y="47256"/>
                </a:lnTo>
                <a:close/>
              </a:path>
              <a:path w="1431290" h="55245">
                <a:moveTo>
                  <a:pt x="355092" y="1536"/>
                </a:moveTo>
                <a:lnTo>
                  <a:pt x="350520" y="1536"/>
                </a:lnTo>
                <a:lnTo>
                  <a:pt x="350520" y="44208"/>
                </a:lnTo>
                <a:lnTo>
                  <a:pt x="312420" y="1536"/>
                </a:lnTo>
                <a:lnTo>
                  <a:pt x="306324" y="1536"/>
                </a:lnTo>
                <a:lnTo>
                  <a:pt x="306324" y="47256"/>
                </a:lnTo>
                <a:lnTo>
                  <a:pt x="310896" y="47256"/>
                </a:lnTo>
                <a:lnTo>
                  <a:pt x="310896" y="6108"/>
                </a:lnTo>
                <a:lnTo>
                  <a:pt x="348996" y="47256"/>
                </a:lnTo>
                <a:lnTo>
                  <a:pt x="355092" y="47256"/>
                </a:lnTo>
                <a:lnTo>
                  <a:pt x="355092" y="1536"/>
                </a:lnTo>
                <a:close/>
              </a:path>
              <a:path w="1431290" h="55245">
                <a:moveTo>
                  <a:pt x="428244" y="25920"/>
                </a:moveTo>
                <a:lnTo>
                  <a:pt x="426567" y="15671"/>
                </a:lnTo>
                <a:lnTo>
                  <a:pt x="423672" y="11061"/>
                </a:lnTo>
                <a:lnTo>
                  <a:pt x="423672" y="25920"/>
                </a:lnTo>
                <a:lnTo>
                  <a:pt x="423672" y="30492"/>
                </a:lnTo>
                <a:lnTo>
                  <a:pt x="422148" y="35064"/>
                </a:lnTo>
                <a:lnTo>
                  <a:pt x="414528" y="42684"/>
                </a:lnTo>
                <a:lnTo>
                  <a:pt x="409956" y="44208"/>
                </a:lnTo>
                <a:lnTo>
                  <a:pt x="381000" y="44208"/>
                </a:lnTo>
                <a:lnTo>
                  <a:pt x="381000" y="6108"/>
                </a:lnTo>
                <a:lnTo>
                  <a:pt x="405384" y="6108"/>
                </a:lnTo>
                <a:lnTo>
                  <a:pt x="412737" y="7480"/>
                </a:lnTo>
                <a:lnTo>
                  <a:pt x="418528" y="11442"/>
                </a:lnTo>
                <a:lnTo>
                  <a:pt x="422313" y="17678"/>
                </a:lnTo>
                <a:lnTo>
                  <a:pt x="423672" y="25920"/>
                </a:lnTo>
                <a:lnTo>
                  <a:pt x="423672" y="11061"/>
                </a:lnTo>
                <a:lnTo>
                  <a:pt x="421767" y="8013"/>
                </a:lnTo>
                <a:lnTo>
                  <a:pt x="418719" y="6108"/>
                </a:lnTo>
                <a:lnTo>
                  <a:pt x="414096" y="3200"/>
                </a:lnTo>
                <a:lnTo>
                  <a:pt x="403860" y="1536"/>
                </a:lnTo>
                <a:lnTo>
                  <a:pt x="377952" y="1536"/>
                </a:lnTo>
                <a:lnTo>
                  <a:pt x="377952" y="47256"/>
                </a:lnTo>
                <a:lnTo>
                  <a:pt x="411480" y="47256"/>
                </a:lnTo>
                <a:lnTo>
                  <a:pt x="417576" y="45732"/>
                </a:lnTo>
                <a:lnTo>
                  <a:pt x="419100" y="44208"/>
                </a:lnTo>
                <a:lnTo>
                  <a:pt x="422148" y="41160"/>
                </a:lnTo>
                <a:lnTo>
                  <a:pt x="426720" y="38112"/>
                </a:lnTo>
                <a:lnTo>
                  <a:pt x="428244" y="32016"/>
                </a:lnTo>
                <a:lnTo>
                  <a:pt x="428244" y="25920"/>
                </a:lnTo>
                <a:close/>
              </a:path>
              <a:path w="1431290" h="55245">
                <a:moveTo>
                  <a:pt x="513588" y="1524"/>
                </a:moveTo>
                <a:lnTo>
                  <a:pt x="472440" y="1524"/>
                </a:lnTo>
                <a:lnTo>
                  <a:pt x="472440" y="47244"/>
                </a:lnTo>
                <a:lnTo>
                  <a:pt x="475488" y="47244"/>
                </a:lnTo>
                <a:lnTo>
                  <a:pt x="475488" y="25908"/>
                </a:lnTo>
                <a:lnTo>
                  <a:pt x="502920" y="25908"/>
                </a:lnTo>
                <a:lnTo>
                  <a:pt x="502920" y="21336"/>
                </a:lnTo>
                <a:lnTo>
                  <a:pt x="475488" y="21336"/>
                </a:lnTo>
                <a:lnTo>
                  <a:pt x="475488" y="6096"/>
                </a:lnTo>
                <a:lnTo>
                  <a:pt x="513588" y="6096"/>
                </a:lnTo>
                <a:lnTo>
                  <a:pt x="513588" y="1524"/>
                </a:lnTo>
                <a:close/>
              </a:path>
              <a:path w="1431290" h="55245">
                <a:moveTo>
                  <a:pt x="533387" y="1536"/>
                </a:moveTo>
                <a:lnTo>
                  <a:pt x="530339" y="1536"/>
                </a:lnTo>
                <a:lnTo>
                  <a:pt x="530339" y="47256"/>
                </a:lnTo>
                <a:lnTo>
                  <a:pt x="533387" y="47256"/>
                </a:lnTo>
                <a:lnTo>
                  <a:pt x="533387" y="1536"/>
                </a:lnTo>
                <a:close/>
              </a:path>
              <a:path w="1431290" h="55245">
                <a:moveTo>
                  <a:pt x="605028" y="1536"/>
                </a:moveTo>
                <a:lnTo>
                  <a:pt x="598932" y="1536"/>
                </a:lnTo>
                <a:lnTo>
                  <a:pt x="598932" y="44208"/>
                </a:lnTo>
                <a:lnTo>
                  <a:pt x="562356" y="1536"/>
                </a:lnTo>
                <a:lnTo>
                  <a:pt x="556260" y="1536"/>
                </a:lnTo>
                <a:lnTo>
                  <a:pt x="556260" y="47256"/>
                </a:lnTo>
                <a:lnTo>
                  <a:pt x="560832" y="47256"/>
                </a:lnTo>
                <a:lnTo>
                  <a:pt x="560832" y="6108"/>
                </a:lnTo>
                <a:lnTo>
                  <a:pt x="597408" y="47256"/>
                </a:lnTo>
                <a:lnTo>
                  <a:pt x="605028" y="47256"/>
                </a:lnTo>
                <a:lnTo>
                  <a:pt x="605028" y="1536"/>
                </a:lnTo>
                <a:close/>
              </a:path>
              <a:path w="1431290" h="55245">
                <a:moveTo>
                  <a:pt x="673608" y="47256"/>
                </a:moveTo>
                <a:lnTo>
                  <a:pt x="667105" y="35064"/>
                </a:lnTo>
                <a:lnTo>
                  <a:pt x="665480" y="32016"/>
                </a:lnTo>
                <a:lnTo>
                  <a:pt x="659892" y="21539"/>
                </a:lnTo>
                <a:lnTo>
                  <a:pt x="659892" y="32016"/>
                </a:lnTo>
                <a:lnTo>
                  <a:pt x="632460" y="32016"/>
                </a:lnTo>
                <a:lnTo>
                  <a:pt x="646176" y="6108"/>
                </a:lnTo>
                <a:lnTo>
                  <a:pt x="659892" y="32016"/>
                </a:lnTo>
                <a:lnTo>
                  <a:pt x="659892" y="21539"/>
                </a:lnTo>
                <a:lnTo>
                  <a:pt x="651662" y="6108"/>
                </a:lnTo>
                <a:lnTo>
                  <a:pt x="649224" y="1536"/>
                </a:lnTo>
                <a:lnTo>
                  <a:pt x="643128" y="1536"/>
                </a:lnTo>
                <a:lnTo>
                  <a:pt x="618744" y="47256"/>
                </a:lnTo>
                <a:lnTo>
                  <a:pt x="623316" y="47256"/>
                </a:lnTo>
                <a:lnTo>
                  <a:pt x="629412" y="35064"/>
                </a:lnTo>
                <a:lnTo>
                  <a:pt x="661416" y="35064"/>
                </a:lnTo>
                <a:lnTo>
                  <a:pt x="669036" y="47256"/>
                </a:lnTo>
                <a:lnTo>
                  <a:pt x="673608" y="47256"/>
                </a:lnTo>
                <a:close/>
              </a:path>
              <a:path w="1431290" h="55245">
                <a:moveTo>
                  <a:pt x="736092" y="1536"/>
                </a:moveTo>
                <a:lnTo>
                  <a:pt x="731520" y="1536"/>
                </a:lnTo>
                <a:lnTo>
                  <a:pt x="731520" y="44208"/>
                </a:lnTo>
                <a:lnTo>
                  <a:pt x="693420" y="1536"/>
                </a:lnTo>
                <a:lnTo>
                  <a:pt x="687324" y="1536"/>
                </a:lnTo>
                <a:lnTo>
                  <a:pt x="687324" y="47256"/>
                </a:lnTo>
                <a:lnTo>
                  <a:pt x="691896" y="47256"/>
                </a:lnTo>
                <a:lnTo>
                  <a:pt x="691896" y="6108"/>
                </a:lnTo>
                <a:lnTo>
                  <a:pt x="729996" y="47256"/>
                </a:lnTo>
                <a:lnTo>
                  <a:pt x="736092" y="47256"/>
                </a:lnTo>
                <a:lnTo>
                  <a:pt x="736092" y="1536"/>
                </a:lnTo>
                <a:close/>
              </a:path>
              <a:path w="1431290" h="55245">
                <a:moveTo>
                  <a:pt x="806183" y="10668"/>
                </a:moveTo>
                <a:lnTo>
                  <a:pt x="801306" y="6438"/>
                </a:lnTo>
                <a:lnTo>
                  <a:pt x="795705" y="3048"/>
                </a:lnTo>
                <a:lnTo>
                  <a:pt x="789254" y="812"/>
                </a:lnTo>
                <a:lnTo>
                  <a:pt x="781799" y="0"/>
                </a:lnTo>
                <a:lnTo>
                  <a:pt x="775703" y="0"/>
                </a:lnTo>
                <a:lnTo>
                  <a:pt x="768083" y="3048"/>
                </a:lnTo>
                <a:lnTo>
                  <a:pt x="763511" y="6096"/>
                </a:lnTo>
                <a:lnTo>
                  <a:pt x="758939" y="10668"/>
                </a:lnTo>
                <a:lnTo>
                  <a:pt x="755891" y="16764"/>
                </a:lnTo>
                <a:lnTo>
                  <a:pt x="755891" y="33528"/>
                </a:lnTo>
                <a:lnTo>
                  <a:pt x="758939" y="41148"/>
                </a:lnTo>
                <a:lnTo>
                  <a:pt x="768083" y="45720"/>
                </a:lnTo>
                <a:lnTo>
                  <a:pt x="777227" y="48768"/>
                </a:lnTo>
                <a:lnTo>
                  <a:pt x="793991" y="48768"/>
                </a:lnTo>
                <a:lnTo>
                  <a:pt x="801611" y="45720"/>
                </a:lnTo>
                <a:lnTo>
                  <a:pt x="804659" y="39624"/>
                </a:lnTo>
                <a:lnTo>
                  <a:pt x="803135" y="38100"/>
                </a:lnTo>
                <a:lnTo>
                  <a:pt x="798563" y="42672"/>
                </a:lnTo>
                <a:lnTo>
                  <a:pt x="790943" y="44196"/>
                </a:lnTo>
                <a:lnTo>
                  <a:pt x="781799" y="44196"/>
                </a:lnTo>
                <a:lnTo>
                  <a:pt x="772452" y="42824"/>
                </a:lnTo>
                <a:lnTo>
                  <a:pt x="765225" y="38862"/>
                </a:lnTo>
                <a:lnTo>
                  <a:pt x="760590" y="32626"/>
                </a:lnTo>
                <a:lnTo>
                  <a:pt x="758939" y="24384"/>
                </a:lnTo>
                <a:lnTo>
                  <a:pt x="758939" y="18288"/>
                </a:lnTo>
                <a:lnTo>
                  <a:pt x="761987" y="13716"/>
                </a:lnTo>
                <a:lnTo>
                  <a:pt x="766559" y="9144"/>
                </a:lnTo>
                <a:lnTo>
                  <a:pt x="771131" y="6096"/>
                </a:lnTo>
                <a:lnTo>
                  <a:pt x="777227" y="4572"/>
                </a:lnTo>
                <a:lnTo>
                  <a:pt x="790943" y="4572"/>
                </a:lnTo>
                <a:lnTo>
                  <a:pt x="797039" y="6096"/>
                </a:lnTo>
                <a:lnTo>
                  <a:pt x="803135" y="12192"/>
                </a:lnTo>
                <a:lnTo>
                  <a:pt x="806183" y="10668"/>
                </a:lnTo>
                <a:close/>
              </a:path>
              <a:path w="1431290" h="55245">
                <a:moveTo>
                  <a:pt x="870204" y="44208"/>
                </a:moveTo>
                <a:lnTo>
                  <a:pt x="830580" y="44208"/>
                </a:lnTo>
                <a:lnTo>
                  <a:pt x="830580" y="25920"/>
                </a:lnTo>
                <a:lnTo>
                  <a:pt x="856488" y="25920"/>
                </a:lnTo>
                <a:lnTo>
                  <a:pt x="856488" y="21348"/>
                </a:lnTo>
                <a:lnTo>
                  <a:pt x="830580" y="21348"/>
                </a:lnTo>
                <a:lnTo>
                  <a:pt x="830580" y="6108"/>
                </a:lnTo>
                <a:lnTo>
                  <a:pt x="867156" y="6108"/>
                </a:lnTo>
                <a:lnTo>
                  <a:pt x="867156" y="1536"/>
                </a:lnTo>
                <a:lnTo>
                  <a:pt x="826008" y="1536"/>
                </a:lnTo>
                <a:lnTo>
                  <a:pt x="826008" y="47256"/>
                </a:lnTo>
                <a:lnTo>
                  <a:pt x="870204" y="47256"/>
                </a:lnTo>
                <a:lnTo>
                  <a:pt x="870204" y="44208"/>
                </a:lnTo>
                <a:close/>
              </a:path>
              <a:path w="1431290" h="55245">
                <a:moveTo>
                  <a:pt x="896112" y="44208"/>
                </a:moveTo>
                <a:lnTo>
                  <a:pt x="886955" y="44208"/>
                </a:lnTo>
                <a:lnTo>
                  <a:pt x="886955" y="47256"/>
                </a:lnTo>
                <a:lnTo>
                  <a:pt x="891527" y="47256"/>
                </a:lnTo>
                <a:lnTo>
                  <a:pt x="891527" y="51828"/>
                </a:lnTo>
                <a:lnTo>
                  <a:pt x="888479" y="53352"/>
                </a:lnTo>
                <a:lnTo>
                  <a:pt x="888479" y="54876"/>
                </a:lnTo>
                <a:lnTo>
                  <a:pt x="893051" y="54876"/>
                </a:lnTo>
                <a:lnTo>
                  <a:pt x="896112" y="53352"/>
                </a:lnTo>
                <a:lnTo>
                  <a:pt x="896112" y="44208"/>
                </a:lnTo>
                <a:close/>
              </a:path>
              <a:path w="1431290" h="55245">
                <a:moveTo>
                  <a:pt x="979919" y="1524"/>
                </a:moveTo>
                <a:lnTo>
                  <a:pt x="932675" y="1524"/>
                </a:lnTo>
                <a:lnTo>
                  <a:pt x="932675" y="6096"/>
                </a:lnTo>
                <a:lnTo>
                  <a:pt x="954011" y="6096"/>
                </a:lnTo>
                <a:lnTo>
                  <a:pt x="954011" y="47244"/>
                </a:lnTo>
                <a:lnTo>
                  <a:pt x="958583" y="47244"/>
                </a:lnTo>
                <a:lnTo>
                  <a:pt x="958583" y="6096"/>
                </a:lnTo>
                <a:lnTo>
                  <a:pt x="979919" y="6096"/>
                </a:lnTo>
                <a:lnTo>
                  <a:pt x="979919" y="1524"/>
                </a:lnTo>
                <a:close/>
              </a:path>
              <a:path w="1431290" h="55245">
                <a:moveTo>
                  <a:pt x="1043940" y="18288"/>
                </a:moveTo>
                <a:lnTo>
                  <a:pt x="1039368" y="10668"/>
                </a:lnTo>
                <a:lnTo>
                  <a:pt x="1039368" y="18288"/>
                </a:lnTo>
                <a:lnTo>
                  <a:pt x="1039368" y="24384"/>
                </a:lnTo>
                <a:lnTo>
                  <a:pt x="1037691" y="32626"/>
                </a:lnTo>
                <a:lnTo>
                  <a:pt x="1032891" y="38862"/>
                </a:lnTo>
                <a:lnTo>
                  <a:pt x="1025220" y="42824"/>
                </a:lnTo>
                <a:lnTo>
                  <a:pt x="1014984" y="44196"/>
                </a:lnTo>
                <a:lnTo>
                  <a:pt x="1005624" y="43040"/>
                </a:lnTo>
                <a:lnTo>
                  <a:pt x="998410" y="39433"/>
                </a:lnTo>
                <a:lnTo>
                  <a:pt x="993762" y="33274"/>
                </a:lnTo>
                <a:lnTo>
                  <a:pt x="992124" y="24384"/>
                </a:lnTo>
                <a:lnTo>
                  <a:pt x="992124" y="18288"/>
                </a:lnTo>
                <a:lnTo>
                  <a:pt x="995172" y="13716"/>
                </a:lnTo>
                <a:lnTo>
                  <a:pt x="999744" y="9144"/>
                </a:lnTo>
                <a:lnTo>
                  <a:pt x="1004316" y="6096"/>
                </a:lnTo>
                <a:lnTo>
                  <a:pt x="1008888" y="4572"/>
                </a:lnTo>
                <a:lnTo>
                  <a:pt x="1021080" y="4572"/>
                </a:lnTo>
                <a:lnTo>
                  <a:pt x="1027176" y="6096"/>
                </a:lnTo>
                <a:lnTo>
                  <a:pt x="1031748" y="9144"/>
                </a:lnTo>
                <a:lnTo>
                  <a:pt x="1036320" y="13716"/>
                </a:lnTo>
                <a:lnTo>
                  <a:pt x="1039368" y="18288"/>
                </a:lnTo>
                <a:lnTo>
                  <a:pt x="1039368" y="10668"/>
                </a:lnTo>
                <a:lnTo>
                  <a:pt x="1034796" y="6096"/>
                </a:lnTo>
                <a:lnTo>
                  <a:pt x="1032510" y="4572"/>
                </a:lnTo>
                <a:lnTo>
                  <a:pt x="1030224" y="3048"/>
                </a:lnTo>
                <a:lnTo>
                  <a:pt x="1022604" y="0"/>
                </a:lnTo>
                <a:lnTo>
                  <a:pt x="1008888" y="0"/>
                </a:lnTo>
                <a:lnTo>
                  <a:pt x="1001268" y="3048"/>
                </a:lnTo>
                <a:lnTo>
                  <a:pt x="996696" y="6096"/>
                </a:lnTo>
                <a:lnTo>
                  <a:pt x="990600" y="10668"/>
                </a:lnTo>
                <a:lnTo>
                  <a:pt x="987552" y="18288"/>
                </a:lnTo>
                <a:lnTo>
                  <a:pt x="987552" y="32004"/>
                </a:lnTo>
                <a:lnTo>
                  <a:pt x="990600" y="38100"/>
                </a:lnTo>
                <a:lnTo>
                  <a:pt x="996696" y="42672"/>
                </a:lnTo>
                <a:lnTo>
                  <a:pt x="1001268" y="47244"/>
                </a:lnTo>
                <a:lnTo>
                  <a:pt x="1008888" y="48768"/>
                </a:lnTo>
                <a:lnTo>
                  <a:pt x="1022604" y="48768"/>
                </a:lnTo>
                <a:lnTo>
                  <a:pt x="1030224" y="47244"/>
                </a:lnTo>
                <a:lnTo>
                  <a:pt x="1033272" y="44196"/>
                </a:lnTo>
                <a:lnTo>
                  <a:pt x="1034796" y="42672"/>
                </a:lnTo>
                <a:lnTo>
                  <a:pt x="1040892" y="38100"/>
                </a:lnTo>
                <a:lnTo>
                  <a:pt x="1043940" y="32004"/>
                </a:lnTo>
                <a:lnTo>
                  <a:pt x="1043940" y="18288"/>
                </a:lnTo>
                <a:close/>
              </a:path>
              <a:path w="1431290" h="55245">
                <a:moveTo>
                  <a:pt x="1115555" y="25920"/>
                </a:moveTo>
                <a:lnTo>
                  <a:pt x="1085075" y="25920"/>
                </a:lnTo>
                <a:lnTo>
                  <a:pt x="1085075" y="28968"/>
                </a:lnTo>
                <a:lnTo>
                  <a:pt x="1109459" y="28968"/>
                </a:lnTo>
                <a:lnTo>
                  <a:pt x="1106322" y="35839"/>
                </a:lnTo>
                <a:lnTo>
                  <a:pt x="1101458" y="40589"/>
                </a:lnTo>
                <a:lnTo>
                  <a:pt x="1094892" y="43319"/>
                </a:lnTo>
                <a:lnTo>
                  <a:pt x="1086599" y="44208"/>
                </a:lnTo>
                <a:lnTo>
                  <a:pt x="1077252" y="42824"/>
                </a:lnTo>
                <a:lnTo>
                  <a:pt x="1070025" y="38874"/>
                </a:lnTo>
                <a:lnTo>
                  <a:pt x="1065390" y="32626"/>
                </a:lnTo>
                <a:lnTo>
                  <a:pt x="1063739" y="24396"/>
                </a:lnTo>
                <a:lnTo>
                  <a:pt x="1063739" y="18300"/>
                </a:lnTo>
                <a:lnTo>
                  <a:pt x="1066787" y="13728"/>
                </a:lnTo>
                <a:lnTo>
                  <a:pt x="1071359" y="9156"/>
                </a:lnTo>
                <a:lnTo>
                  <a:pt x="1075931" y="6108"/>
                </a:lnTo>
                <a:lnTo>
                  <a:pt x="1082027" y="4584"/>
                </a:lnTo>
                <a:lnTo>
                  <a:pt x="1095743" y="4584"/>
                </a:lnTo>
                <a:lnTo>
                  <a:pt x="1101839" y="6108"/>
                </a:lnTo>
                <a:lnTo>
                  <a:pt x="1106411" y="12204"/>
                </a:lnTo>
                <a:lnTo>
                  <a:pt x="1110983" y="10680"/>
                </a:lnTo>
                <a:lnTo>
                  <a:pt x="1106106" y="6438"/>
                </a:lnTo>
                <a:lnTo>
                  <a:pt x="1100505" y="3060"/>
                </a:lnTo>
                <a:lnTo>
                  <a:pt x="1094054" y="812"/>
                </a:lnTo>
                <a:lnTo>
                  <a:pt x="1086599" y="12"/>
                </a:lnTo>
                <a:lnTo>
                  <a:pt x="1080503" y="12"/>
                </a:lnTo>
                <a:lnTo>
                  <a:pt x="1072883" y="3060"/>
                </a:lnTo>
                <a:lnTo>
                  <a:pt x="1068311" y="6108"/>
                </a:lnTo>
                <a:lnTo>
                  <a:pt x="1063739" y="10680"/>
                </a:lnTo>
                <a:lnTo>
                  <a:pt x="1060691" y="18300"/>
                </a:lnTo>
                <a:lnTo>
                  <a:pt x="1060691" y="32016"/>
                </a:lnTo>
                <a:lnTo>
                  <a:pt x="1063739" y="38112"/>
                </a:lnTo>
                <a:lnTo>
                  <a:pt x="1072883" y="47256"/>
                </a:lnTo>
                <a:lnTo>
                  <a:pt x="1080503" y="48780"/>
                </a:lnTo>
                <a:lnTo>
                  <a:pt x="1086599" y="48780"/>
                </a:lnTo>
                <a:lnTo>
                  <a:pt x="1094054" y="48209"/>
                </a:lnTo>
                <a:lnTo>
                  <a:pt x="1100505" y="46494"/>
                </a:lnTo>
                <a:lnTo>
                  <a:pt x="1106106" y="43637"/>
                </a:lnTo>
                <a:lnTo>
                  <a:pt x="1110983" y="39636"/>
                </a:lnTo>
                <a:lnTo>
                  <a:pt x="1115555" y="25920"/>
                </a:lnTo>
                <a:close/>
              </a:path>
              <a:path w="1431290" h="55245">
                <a:moveTo>
                  <a:pt x="1178039" y="1536"/>
                </a:moveTo>
                <a:lnTo>
                  <a:pt x="1135367" y="1536"/>
                </a:lnTo>
                <a:lnTo>
                  <a:pt x="1135367" y="47256"/>
                </a:lnTo>
                <a:lnTo>
                  <a:pt x="1178039" y="47256"/>
                </a:lnTo>
                <a:lnTo>
                  <a:pt x="1178039" y="44208"/>
                </a:lnTo>
                <a:lnTo>
                  <a:pt x="1138415" y="44208"/>
                </a:lnTo>
                <a:lnTo>
                  <a:pt x="1138415" y="25920"/>
                </a:lnTo>
                <a:lnTo>
                  <a:pt x="1165847" y="25920"/>
                </a:lnTo>
                <a:lnTo>
                  <a:pt x="1165847" y="21348"/>
                </a:lnTo>
                <a:lnTo>
                  <a:pt x="1138415" y="21348"/>
                </a:lnTo>
                <a:lnTo>
                  <a:pt x="1138415" y="6108"/>
                </a:lnTo>
                <a:lnTo>
                  <a:pt x="1178039" y="6108"/>
                </a:lnTo>
                <a:lnTo>
                  <a:pt x="1178039" y="1536"/>
                </a:lnTo>
                <a:close/>
              </a:path>
              <a:path w="1431290" h="55245">
                <a:moveTo>
                  <a:pt x="1237488" y="1524"/>
                </a:moveTo>
                <a:lnTo>
                  <a:pt x="1190244" y="1524"/>
                </a:lnTo>
                <a:lnTo>
                  <a:pt x="1190244" y="6096"/>
                </a:lnTo>
                <a:lnTo>
                  <a:pt x="1211580" y="6096"/>
                </a:lnTo>
                <a:lnTo>
                  <a:pt x="1211580" y="47244"/>
                </a:lnTo>
                <a:lnTo>
                  <a:pt x="1216152" y="47244"/>
                </a:lnTo>
                <a:lnTo>
                  <a:pt x="1216152" y="6096"/>
                </a:lnTo>
                <a:lnTo>
                  <a:pt x="1237488" y="6096"/>
                </a:lnTo>
                <a:lnTo>
                  <a:pt x="1237488" y="1524"/>
                </a:lnTo>
                <a:close/>
              </a:path>
              <a:path w="1431290" h="55245">
                <a:moveTo>
                  <a:pt x="1299972" y="1536"/>
                </a:moveTo>
                <a:lnTo>
                  <a:pt x="1295400" y="1536"/>
                </a:lnTo>
                <a:lnTo>
                  <a:pt x="1295400" y="21348"/>
                </a:lnTo>
                <a:lnTo>
                  <a:pt x="1255776" y="21348"/>
                </a:lnTo>
                <a:lnTo>
                  <a:pt x="1255776" y="1536"/>
                </a:lnTo>
                <a:lnTo>
                  <a:pt x="1251204" y="1536"/>
                </a:lnTo>
                <a:lnTo>
                  <a:pt x="1251204" y="47256"/>
                </a:lnTo>
                <a:lnTo>
                  <a:pt x="1255776" y="47256"/>
                </a:lnTo>
                <a:lnTo>
                  <a:pt x="1255776" y="25920"/>
                </a:lnTo>
                <a:lnTo>
                  <a:pt x="1295400" y="25920"/>
                </a:lnTo>
                <a:lnTo>
                  <a:pt x="1295400" y="47256"/>
                </a:lnTo>
                <a:lnTo>
                  <a:pt x="1299972" y="47256"/>
                </a:lnTo>
                <a:lnTo>
                  <a:pt x="1299972" y="1536"/>
                </a:lnTo>
                <a:close/>
              </a:path>
              <a:path w="1431290" h="55245">
                <a:moveTo>
                  <a:pt x="1365504" y="44208"/>
                </a:moveTo>
                <a:lnTo>
                  <a:pt x="1325880" y="44208"/>
                </a:lnTo>
                <a:lnTo>
                  <a:pt x="1325880" y="25920"/>
                </a:lnTo>
                <a:lnTo>
                  <a:pt x="1353312" y="25920"/>
                </a:lnTo>
                <a:lnTo>
                  <a:pt x="1353312" y="21348"/>
                </a:lnTo>
                <a:lnTo>
                  <a:pt x="1325880" y="21348"/>
                </a:lnTo>
                <a:lnTo>
                  <a:pt x="1325880" y="6108"/>
                </a:lnTo>
                <a:lnTo>
                  <a:pt x="1363980" y="6108"/>
                </a:lnTo>
                <a:lnTo>
                  <a:pt x="1363980" y="1536"/>
                </a:lnTo>
                <a:lnTo>
                  <a:pt x="1321308" y="1536"/>
                </a:lnTo>
                <a:lnTo>
                  <a:pt x="1321308" y="47256"/>
                </a:lnTo>
                <a:lnTo>
                  <a:pt x="1365504" y="47256"/>
                </a:lnTo>
                <a:lnTo>
                  <a:pt x="1365504" y="44208"/>
                </a:lnTo>
                <a:close/>
              </a:path>
              <a:path w="1431290" h="55245">
                <a:moveTo>
                  <a:pt x="1431023" y="7632"/>
                </a:moveTo>
                <a:lnTo>
                  <a:pt x="1429499" y="6108"/>
                </a:lnTo>
                <a:lnTo>
                  <a:pt x="1426451" y="3060"/>
                </a:lnTo>
                <a:lnTo>
                  <a:pt x="1426451" y="9156"/>
                </a:lnTo>
                <a:lnTo>
                  <a:pt x="1426451" y="21348"/>
                </a:lnTo>
                <a:lnTo>
                  <a:pt x="1423403" y="25920"/>
                </a:lnTo>
                <a:lnTo>
                  <a:pt x="1388351" y="25920"/>
                </a:lnTo>
                <a:lnTo>
                  <a:pt x="1388351" y="6108"/>
                </a:lnTo>
                <a:lnTo>
                  <a:pt x="1421879" y="6108"/>
                </a:lnTo>
                <a:lnTo>
                  <a:pt x="1426451" y="9156"/>
                </a:lnTo>
                <a:lnTo>
                  <a:pt x="1426451" y="3060"/>
                </a:lnTo>
                <a:lnTo>
                  <a:pt x="1424927" y="1536"/>
                </a:lnTo>
                <a:lnTo>
                  <a:pt x="1383779" y="1536"/>
                </a:lnTo>
                <a:lnTo>
                  <a:pt x="1383779" y="47256"/>
                </a:lnTo>
                <a:lnTo>
                  <a:pt x="1388351" y="47256"/>
                </a:lnTo>
                <a:lnTo>
                  <a:pt x="1388351" y="28968"/>
                </a:lnTo>
                <a:lnTo>
                  <a:pt x="1411211" y="28968"/>
                </a:lnTo>
                <a:lnTo>
                  <a:pt x="1426451" y="47256"/>
                </a:lnTo>
                <a:lnTo>
                  <a:pt x="1431023" y="47256"/>
                </a:lnTo>
                <a:lnTo>
                  <a:pt x="1417307" y="28968"/>
                </a:lnTo>
                <a:lnTo>
                  <a:pt x="1426451" y="27444"/>
                </a:lnTo>
                <a:lnTo>
                  <a:pt x="1427975" y="25920"/>
                </a:lnTo>
                <a:lnTo>
                  <a:pt x="1431023" y="22872"/>
                </a:lnTo>
                <a:lnTo>
                  <a:pt x="1431023" y="7632"/>
                </a:lnTo>
                <a:close/>
              </a:path>
            </a:pathLst>
          </a:custGeom>
          <a:no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3" name="TextBox 2">
            <a:extLst>
              <a:ext uri="{FF2B5EF4-FFF2-40B4-BE49-F238E27FC236}">
                <a16:creationId xmlns:a16="http://schemas.microsoft.com/office/drawing/2014/main" id="{2E7E6335-638B-C0EA-0B81-1C8952AF9291}"/>
              </a:ext>
            </a:extLst>
          </p:cNvPr>
          <p:cNvSpPr txBox="1"/>
          <p:nvPr/>
        </p:nvSpPr>
        <p:spPr>
          <a:xfrm>
            <a:off x="351283" y="961873"/>
            <a:ext cx="11348345" cy="954107"/>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Les variations du taux sans risque, du spread de duration du marché, du taux de référence et de la marge de financement relèvent toutes de la définition de </a:t>
            </a:r>
            <a:r>
              <a:rPr kumimoji="0" lang="fr-FR" sz="1400" b="1"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l'IRRBB (</a:t>
            </a:r>
            <a:r>
              <a:rPr kumimoji="0" lang="fr-FR" sz="1400" b="1" i="0" u="none" strike="noStrike" kern="1200" cap="none" spc="0" normalizeH="0" baseline="0" noProof="0" dirty="0" err="1">
                <a:ln>
                  <a:noFill/>
                </a:ln>
                <a:solidFill>
                  <a:srgbClr val="115264">
                    <a:lumMod val="75000"/>
                  </a:srgbClr>
                </a:solidFill>
                <a:effectLst/>
                <a:uLnTx/>
                <a:uFillTx/>
                <a:latin typeface="Calibri" panose="020F0502020204030204"/>
                <a:ea typeface="+mn-ea"/>
                <a:cs typeface="Calibri"/>
                <a:sym typeface="Arial"/>
              </a:rPr>
              <a:t>Interest</a:t>
            </a:r>
            <a:r>
              <a:rPr kumimoji="0" lang="fr-FR" sz="1400" b="1"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 Rate Risk in the Banking Book). </a:t>
            </a:r>
          </a:p>
          <a:p>
            <a:pPr marL="0" marR="0" lvl="0" indent="0" algn="just"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Les variations des spreads de liquidité et de crédit sur le marché sont combinées dans la définition du </a:t>
            </a:r>
            <a:r>
              <a:rPr kumimoji="0" lang="fr-FR" sz="1400" b="1"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CSRBB (</a:t>
            </a:r>
            <a:r>
              <a:rPr kumimoji="0" lang="fr-FR" sz="1400" b="1" i="0" u="none" strike="noStrike" kern="1200" cap="none" spc="0" normalizeH="0" baseline="0" noProof="0" dirty="0" err="1">
                <a:ln>
                  <a:noFill/>
                </a:ln>
                <a:solidFill>
                  <a:srgbClr val="115264">
                    <a:lumMod val="75000"/>
                  </a:srgbClr>
                </a:solidFill>
                <a:effectLst/>
                <a:uLnTx/>
                <a:uFillTx/>
                <a:latin typeface="Calibri" panose="020F0502020204030204"/>
                <a:ea typeface="+mn-ea"/>
                <a:cs typeface="Calibri"/>
                <a:sym typeface="Arial"/>
              </a:rPr>
              <a:t>Credit</a:t>
            </a:r>
            <a:r>
              <a:rPr kumimoji="0" lang="fr-FR" sz="1400" b="1"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 Spread Risk in the Banking Book).</a:t>
            </a:r>
          </a:p>
          <a:p>
            <a:pPr marL="0" marR="0" lvl="0" indent="0" algn="just"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1200" cap="none" spc="0" normalizeH="0" baseline="0" noProof="0" dirty="0">
                <a:ln>
                  <a:noFill/>
                </a:ln>
                <a:solidFill>
                  <a:srgbClr val="115264">
                    <a:lumMod val="75000"/>
                  </a:srgbClr>
                </a:solidFill>
                <a:effectLst/>
                <a:uLnTx/>
                <a:uFillTx/>
                <a:latin typeface="Calibri" panose="020F0502020204030204"/>
                <a:ea typeface="+mn-ea"/>
                <a:cs typeface="Calibri"/>
                <a:sym typeface="Arial"/>
              </a:rPr>
              <a:t>Le diagramme ci-dessous donne une représentation visuelle de la manière dont les différents éléments s'articulent.</a:t>
            </a:r>
            <a:endParaRPr kumimoji="0" lang="fr-FR" sz="1400" b="0" i="0" u="none" strike="noStrike" kern="0" cap="none" spc="0" normalizeH="0" baseline="0" noProof="0" dirty="0">
              <a:ln>
                <a:noFill/>
              </a:ln>
              <a:solidFill>
                <a:srgbClr val="000000"/>
              </a:solidFill>
              <a:effectLst/>
              <a:uLnTx/>
              <a:uFillTx/>
              <a:latin typeface="Arial"/>
              <a:cs typeface="Arial"/>
              <a:sym typeface="Arial"/>
            </a:endParaRPr>
          </a:p>
        </p:txBody>
      </p:sp>
      <p:graphicFrame>
        <p:nvGraphicFramePr>
          <p:cNvPr id="31" name="Table 30">
            <a:extLst>
              <a:ext uri="{FF2B5EF4-FFF2-40B4-BE49-F238E27FC236}">
                <a16:creationId xmlns:a16="http://schemas.microsoft.com/office/drawing/2014/main" id="{2F3E9C6B-90D3-1215-2198-3B7FDD090F09}"/>
              </a:ext>
            </a:extLst>
          </p:cNvPr>
          <p:cNvGraphicFramePr>
            <a:graphicFrameLocks noGrp="1"/>
          </p:cNvGraphicFramePr>
          <p:nvPr/>
        </p:nvGraphicFramePr>
        <p:xfrm>
          <a:off x="3047894" y="2124838"/>
          <a:ext cx="6807306" cy="3779054"/>
        </p:xfrm>
        <a:graphic>
          <a:graphicData uri="http://schemas.openxmlformats.org/drawingml/2006/table">
            <a:tbl>
              <a:tblPr/>
              <a:tblGrid>
                <a:gridCol w="1677419">
                  <a:extLst>
                    <a:ext uri="{9D8B030D-6E8A-4147-A177-3AD203B41FA5}">
                      <a16:colId xmlns:a16="http://schemas.microsoft.com/office/drawing/2014/main" val="3799287926"/>
                    </a:ext>
                  </a:extLst>
                </a:gridCol>
                <a:gridCol w="1398402">
                  <a:extLst>
                    <a:ext uri="{9D8B030D-6E8A-4147-A177-3AD203B41FA5}">
                      <a16:colId xmlns:a16="http://schemas.microsoft.com/office/drawing/2014/main" val="400707319"/>
                    </a:ext>
                  </a:extLst>
                </a:gridCol>
                <a:gridCol w="976964">
                  <a:extLst>
                    <a:ext uri="{9D8B030D-6E8A-4147-A177-3AD203B41FA5}">
                      <a16:colId xmlns:a16="http://schemas.microsoft.com/office/drawing/2014/main" val="2314093586"/>
                    </a:ext>
                  </a:extLst>
                </a:gridCol>
                <a:gridCol w="1454546">
                  <a:extLst>
                    <a:ext uri="{9D8B030D-6E8A-4147-A177-3AD203B41FA5}">
                      <a16:colId xmlns:a16="http://schemas.microsoft.com/office/drawing/2014/main" val="3983272413"/>
                    </a:ext>
                  </a:extLst>
                </a:gridCol>
                <a:gridCol w="1299975">
                  <a:extLst>
                    <a:ext uri="{9D8B030D-6E8A-4147-A177-3AD203B41FA5}">
                      <a16:colId xmlns:a16="http://schemas.microsoft.com/office/drawing/2014/main" val="3975312893"/>
                    </a:ext>
                  </a:extLst>
                </a:gridCol>
              </a:tblGrid>
              <a:tr h="469352">
                <a:tc rowSpan="2" gridSpan="2">
                  <a:txBody>
                    <a:bodyPr/>
                    <a:lstStyle/>
                    <a:p>
                      <a:pPr algn="ctr" fontAlgn="ctr"/>
                      <a:r>
                        <a:rPr lang="fr-FR" sz="1400" b="1" i="0" u="none" strike="noStrike">
                          <a:solidFill>
                            <a:srgbClr val="FFFFFF"/>
                          </a:solidFill>
                          <a:effectLst/>
                          <a:latin typeface="Calibri" panose="020F0502020204030204" pitchFamily="34" charset="0"/>
                        </a:rPr>
                        <a:t>Instruments évalués au coût amorti</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44546A"/>
                    </a:solidFill>
                  </a:tcPr>
                </a:tc>
                <a:tc rowSpan="2" hMerge="1">
                  <a:txBody>
                    <a:bodyPr/>
                    <a:lstStyle/>
                    <a:p>
                      <a:endParaRPr lang="fr-FR"/>
                    </a:p>
                  </a:txBody>
                  <a:tcPr/>
                </a:tc>
                <a:tc gridSpan="3">
                  <a:txBody>
                    <a:bodyPr/>
                    <a:lstStyle/>
                    <a:p>
                      <a:pPr algn="ctr" fontAlgn="ctr"/>
                      <a:r>
                        <a:rPr lang="fr-FR" sz="1400" b="1" i="0" u="none" strike="noStrike">
                          <a:solidFill>
                            <a:srgbClr val="FFFFFF"/>
                          </a:solidFill>
                          <a:effectLst/>
                          <a:latin typeface="Calibri" panose="020F0502020204030204" pitchFamily="34" charset="0"/>
                        </a:rPr>
                        <a:t>Instruments évalués en juste valeur (MtM)</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44546A"/>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4108704258"/>
                  </a:ext>
                </a:extLst>
              </a:tr>
              <a:tr h="469352">
                <a:tc gridSpan="2" vMerge="1">
                  <a:txBody>
                    <a:bodyPr/>
                    <a:lstStyle/>
                    <a:p>
                      <a:endParaRPr lang="fr-FR"/>
                    </a:p>
                  </a:txBody>
                  <a:tcPr/>
                </a:tc>
                <a:tc hMerge="1" vMerge="1">
                  <a:txBody>
                    <a:bodyPr/>
                    <a:lstStyle/>
                    <a:p>
                      <a:endParaRPr lang="fr-FR"/>
                    </a:p>
                  </a:txBody>
                  <a:tcPr/>
                </a:tc>
                <a:tc>
                  <a:txBody>
                    <a:bodyPr/>
                    <a:lstStyle/>
                    <a:p>
                      <a:pPr algn="ctr" fontAlgn="ctr"/>
                      <a:r>
                        <a:rPr lang="fr-FR" sz="1400" b="1" i="0" u="none" strike="noStrike">
                          <a:solidFill>
                            <a:srgbClr val="FFFFFF"/>
                          </a:solidFill>
                          <a:effectLst/>
                          <a:latin typeface="Calibri" panose="020F0502020204030204" pitchFamily="34" charset="0"/>
                        </a:rPr>
                        <a:t>Secteur</a:t>
                      </a:r>
                    </a:p>
                  </a:txBody>
                  <a:tcPr marL="6350" marR="6350" marT="6350" marB="0" anchor="ctr">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44546A"/>
                    </a:solidFill>
                  </a:tcPr>
                </a:tc>
                <a:tc>
                  <a:txBody>
                    <a:bodyPr/>
                    <a:lstStyle/>
                    <a:p>
                      <a:pPr algn="ctr" fontAlgn="ctr"/>
                      <a:r>
                        <a:rPr lang="fr-FR" sz="1400" b="1" i="0" u="none" strike="noStrike">
                          <a:solidFill>
                            <a:srgbClr val="FFFFFF"/>
                          </a:solidFill>
                          <a:effectLst/>
                          <a:latin typeface="Calibri" panose="020F0502020204030204" pitchFamily="34" charset="0"/>
                        </a:rPr>
                        <a:t>Zone Géographique</a:t>
                      </a: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solidFill>
                      <a:srgbClr val="44546A"/>
                    </a:solidFill>
                  </a:tcPr>
                </a:tc>
                <a:tc>
                  <a:txBody>
                    <a:bodyPr/>
                    <a:lstStyle/>
                    <a:p>
                      <a:pPr algn="ctr" fontAlgn="ctr"/>
                      <a:r>
                        <a:rPr lang="fr-FR" sz="1400" b="1" i="0" u="none" strike="noStrike">
                          <a:solidFill>
                            <a:srgbClr val="FFFFFF"/>
                          </a:solidFill>
                          <a:effectLst/>
                          <a:latin typeface="Calibri" panose="020F0502020204030204" pitchFamily="34" charset="0"/>
                        </a:rPr>
                        <a:t>Type d'instrument</a:t>
                      </a:r>
                    </a:p>
                  </a:txBody>
                  <a:tcPr marL="6350" marR="6350" marT="6350" marB="0" anchor="ctr">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44546A"/>
                    </a:solidFill>
                  </a:tcPr>
                </a:tc>
                <a:extLst>
                  <a:ext uri="{0D108BD9-81ED-4DB2-BD59-A6C34878D82A}">
                    <a16:rowId xmlns:a16="http://schemas.microsoft.com/office/drawing/2014/main" val="685041156"/>
                  </a:ext>
                </a:extLst>
              </a:tr>
              <a:tr h="469352">
                <a:tc rowSpan="2">
                  <a:txBody>
                    <a:bodyPr/>
                    <a:lstStyle/>
                    <a:p>
                      <a:pPr algn="ctr" fontAlgn="ctr"/>
                      <a:r>
                        <a:rPr lang="fr-FR" sz="1400" b="0" i="0" u="none" strike="noStrike">
                          <a:solidFill>
                            <a:srgbClr val="000000"/>
                          </a:solidFill>
                          <a:effectLst/>
                          <a:latin typeface="Calibri" panose="020F0502020204030204" pitchFamily="34" charset="0"/>
                        </a:rPr>
                        <a:t>Marge commerciale</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D23A"/>
                    </a:solidFill>
                  </a:tcPr>
                </a:tc>
                <a:tc rowSpan="2">
                  <a:txBody>
                    <a:bodyPr/>
                    <a:lstStyle/>
                    <a:p>
                      <a:pPr algn="ctr" fontAlgn="ctr"/>
                      <a:r>
                        <a:rPr lang="fr-FR" sz="1400" b="0" i="0" u="none" strike="noStrike">
                          <a:solidFill>
                            <a:srgbClr val="000000"/>
                          </a:solidFill>
                          <a:effectLst/>
                          <a:latin typeface="Calibri" panose="020F0502020204030204" pitchFamily="34" charset="0"/>
                        </a:rPr>
                        <a:t>Marge commerciale</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D23A"/>
                    </a:solidFill>
                  </a:tcPr>
                </a:tc>
                <a:tc gridSpan="3">
                  <a:txBody>
                    <a:bodyPr/>
                    <a:lstStyle/>
                    <a:p>
                      <a:pPr algn="ctr" fontAlgn="ctr"/>
                      <a:r>
                        <a:rPr lang="fr-FR" sz="1400" b="0" i="0" u="none" strike="noStrike">
                          <a:solidFill>
                            <a:srgbClr val="000000"/>
                          </a:solidFill>
                          <a:effectLst/>
                          <a:latin typeface="Calibri" panose="020F0502020204030204" pitchFamily="34" charset="0"/>
                        </a:rPr>
                        <a:t>Spread de crédit idiosyncratique</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D23A"/>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580989329"/>
                  </a:ext>
                </a:extLst>
              </a:tr>
              <a:tr h="85648">
                <a:tc vMerge="1">
                  <a:txBody>
                    <a:bodyPr/>
                    <a:lstStyle/>
                    <a:p>
                      <a:endParaRPr lang="fr-FR"/>
                    </a:p>
                  </a:txBody>
                  <a:tcPr/>
                </a:tc>
                <a:tc vMerge="1">
                  <a:txBody>
                    <a:bodyPr/>
                    <a:lstStyle/>
                    <a:p>
                      <a:endParaRPr lang="fr-FR"/>
                    </a:p>
                  </a:txBody>
                  <a:tcPr/>
                </a:tc>
                <a:tc rowSpan="2" gridSpan="3">
                  <a:txBody>
                    <a:bodyPr/>
                    <a:lstStyle/>
                    <a:p>
                      <a:pPr algn="ctr" fontAlgn="ctr"/>
                      <a:r>
                        <a:rPr lang="fr-FR" sz="1400" b="0" i="0" u="none" strike="noStrike">
                          <a:solidFill>
                            <a:srgbClr val="000000"/>
                          </a:solidFill>
                          <a:effectLst/>
                          <a:latin typeface="Calibri" panose="020F0502020204030204" pitchFamily="34" charset="0"/>
                        </a:rPr>
                        <a:t>Spread de crédit marché</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6699"/>
                    </a:solidFill>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2818295109"/>
                  </a:ext>
                </a:extLst>
              </a:tr>
              <a:tr h="383703">
                <a:tc rowSpan="4">
                  <a:txBody>
                    <a:bodyPr/>
                    <a:lstStyle/>
                    <a:p>
                      <a:pPr algn="ctr" fontAlgn="ctr"/>
                      <a:r>
                        <a:rPr lang="fr-FR" sz="1400" b="0" i="0" u="none" strike="noStrike">
                          <a:solidFill>
                            <a:srgbClr val="000000"/>
                          </a:solidFill>
                          <a:effectLst/>
                          <a:latin typeface="Calibri" panose="020F0502020204030204" pitchFamily="34" charset="0"/>
                        </a:rPr>
                        <a:t>Cout du financement</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rowSpan="2">
                  <a:txBody>
                    <a:bodyPr/>
                    <a:lstStyle/>
                    <a:p>
                      <a:pPr algn="ctr" fontAlgn="ctr"/>
                      <a:r>
                        <a:rPr lang="fr-FR" sz="1400" b="0" i="0" u="none" strike="noStrike">
                          <a:solidFill>
                            <a:srgbClr val="000000"/>
                          </a:solidFill>
                          <a:effectLst/>
                          <a:latin typeface="Calibri" panose="020F0502020204030204" pitchFamily="34" charset="0"/>
                        </a:rPr>
                        <a:t>Marge de financement</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gridSpan="3"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687149145"/>
                  </a:ext>
                </a:extLst>
              </a:tr>
              <a:tr h="469352">
                <a:tc vMerge="1">
                  <a:txBody>
                    <a:bodyPr/>
                    <a:lstStyle/>
                    <a:p>
                      <a:endParaRPr lang="fr-FR"/>
                    </a:p>
                  </a:txBody>
                  <a:tcPr/>
                </a:tc>
                <a:tc vMerge="1">
                  <a:txBody>
                    <a:bodyPr/>
                    <a:lstStyle/>
                    <a:p>
                      <a:endParaRPr lang="fr-FR"/>
                    </a:p>
                  </a:txBody>
                  <a:tcPr/>
                </a:tc>
                <a:tc gridSpan="3">
                  <a:txBody>
                    <a:bodyPr/>
                    <a:lstStyle/>
                    <a:p>
                      <a:pPr algn="ctr" fontAlgn="ctr"/>
                      <a:r>
                        <a:rPr lang="fr-FR" sz="1400" b="0" i="0" u="none" strike="noStrike">
                          <a:solidFill>
                            <a:srgbClr val="000000"/>
                          </a:solidFill>
                          <a:effectLst/>
                          <a:latin typeface="Calibri" panose="020F0502020204030204" pitchFamily="34" charset="0"/>
                        </a:rPr>
                        <a:t>Spread de Liquidité</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6699"/>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127558864"/>
                  </a:ext>
                </a:extLst>
              </a:tr>
              <a:tr h="469352">
                <a:tc vMerge="1">
                  <a:txBody>
                    <a:bodyPr/>
                    <a:lstStyle/>
                    <a:p>
                      <a:endParaRPr lang="fr-FR"/>
                    </a:p>
                  </a:txBody>
                  <a:tcPr/>
                </a:tc>
                <a:tc rowSpan="2">
                  <a:txBody>
                    <a:bodyPr/>
                    <a:lstStyle/>
                    <a:p>
                      <a:pPr algn="ctr" fontAlgn="ctr"/>
                      <a:r>
                        <a:rPr lang="fr-FR" sz="1400" b="0" i="0" u="none" strike="noStrike">
                          <a:solidFill>
                            <a:srgbClr val="000000"/>
                          </a:solidFill>
                          <a:effectLst/>
                          <a:latin typeface="Calibri" panose="020F0502020204030204" pitchFamily="34" charset="0"/>
                        </a:rPr>
                        <a:t>Taux de référence</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gridSpan="3">
                  <a:txBody>
                    <a:bodyPr/>
                    <a:lstStyle/>
                    <a:p>
                      <a:pPr algn="ctr" fontAlgn="ctr"/>
                      <a:r>
                        <a:rPr lang="fr-FR" sz="1400" b="0" i="0" u="none" strike="noStrike">
                          <a:solidFill>
                            <a:srgbClr val="000000"/>
                          </a:solidFill>
                          <a:effectLst/>
                          <a:latin typeface="Calibri" panose="020F0502020204030204" pitchFamily="34" charset="0"/>
                        </a:rPr>
                        <a:t>Spread de duration marché</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436504740"/>
                  </a:ext>
                </a:extLst>
              </a:tr>
              <a:tr h="469352">
                <a:tc vMerge="1">
                  <a:txBody>
                    <a:bodyPr/>
                    <a:lstStyle/>
                    <a:p>
                      <a:endParaRPr lang="fr-FR"/>
                    </a:p>
                  </a:txBody>
                  <a:tcPr/>
                </a:tc>
                <a:tc vMerge="1">
                  <a:txBody>
                    <a:bodyPr/>
                    <a:lstStyle/>
                    <a:p>
                      <a:endParaRPr lang="fr-FR"/>
                    </a:p>
                  </a:txBody>
                  <a:tcPr/>
                </a:tc>
                <a:tc gridSpan="3">
                  <a:txBody>
                    <a:bodyPr/>
                    <a:lstStyle/>
                    <a:p>
                      <a:pPr algn="ctr" fontAlgn="ctr"/>
                      <a:r>
                        <a:rPr lang="fr-FR" sz="1400" b="0" i="0" u="none" strike="noStrike">
                          <a:solidFill>
                            <a:srgbClr val="000000"/>
                          </a:solidFill>
                          <a:effectLst/>
                          <a:latin typeface="Calibri" panose="020F0502020204030204" pitchFamily="34" charset="0"/>
                        </a:rPr>
                        <a:t>Taux sans risque</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865016407"/>
                  </a:ext>
                </a:extLst>
              </a:tr>
              <a:tr h="493591">
                <a:tc>
                  <a:txBody>
                    <a:bodyPr/>
                    <a:lstStyle/>
                    <a:p>
                      <a:pPr algn="ctr" fontAlgn="ctr"/>
                      <a:r>
                        <a:rPr lang="fr-FR" sz="1400" b="0" i="0" u="none" strike="noStrike" err="1">
                          <a:solidFill>
                            <a:srgbClr val="000000"/>
                          </a:solidFill>
                          <a:effectLst/>
                          <a:latin typeface="Calibri" panose="020F0502020204030204" pitchFamily="34" charset="0"/>
                        </a:rPr>
                        <a:t>p.e</a:t>
                      </a:r>
                      <a:r>
                        <a:rPr lang="fr-FR" sz="1400" b="0" i="0" u="none" strike="noStrike">
                          <a:solidFill>
                            <a:srgbClr val="000000"/>
                          </a:solidFill>
                          <a:effectLst/>
                          <a:latin typeface="Calibri" panose="020F0502020204030204" pitchFamily="34" charset="0"/>
                        </a:rPr>
                        <a:t> prêts aux particuliers</a:t>
                      </a:r>
                    </a:p>
                  </a:txBody>
                  <a:tcPr marL="6350" marR="6350" marT="6350" marB="0" anchor="ctr">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fr-FR" sz="1400" b="0" i="0" u="none" strike="noStrike" err="1">
                          <a:solidFill>
                            <a:srgbClr val="000000"/>
                          </a:solidFill>
                          <a:effectLst/>
                          <a:latin typeface="Calibri" panose="020F0502020204030204" pitchFamily="34" charset="0"/>
                        </a:rPr>
                        <a:t>p.e</a:t>
                      </a:r>
                      <a:r>
                        <a:rPr lang="fr-FR" sz="1400" b="0" i="0" u="none" strike="noStrike">
                          <a:solidFill>
                            <a:srgbClr val="000000"/>
                          </a:solidFill>
                          <a:effectLst/>
                          <a:latin typeface="Calibri" panose="020F0502020204030204" pitchFamily="34" charset="0"/>
                        </a:rPr>
                        <a:t>. prêts aux entreprises</a:t>
                      </a:r>
                    </a:p>
                  </a:txBody>
                  <a:tcPr marL="6350" marR="6350" marT="6350" marB="0" anchor="ctr">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3">
                  <a:txBody>
                    <a:bodyPr/>
                    <a:lstStyle/>
                    <a:p>
                      <a:pPr algn="ctr" fontAlgn="ctr"/>
                      <a:r>
                        <a:rPr lang="fr-FR" sz="1400" b="0" i="0" u="none" strike="noStrike" err="1">
                          <a:solidFill>
                            <a:srgbClr val="000000"/>
                          </a:solidFill>
                          <a:effectLst/>
                          <a:latin typeface="Calibri" panose="020F0502020204030204" pitchFamily="34" charset="0"/>
                        </a:rPr>
                        <a:t>p.e</a:t>
                      </a:r>
                      <a:r>
                        <a:rPr lang="fr-FR" sz="1400" b="0" i="0" u="none" strike="noStrike">
                          <a:solidFill>
                            <a:srgbClr val="000000"/>
                          </a:solidFill>
                          <a:effectLst/>
                          <a:latin typeface="Calibri" panose="020F0502020204030204" pitchFamily="34" charset="0"/>
                        </a:rPr>
                        <a:t>. e.g. obligations</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801549237"/>
                  </a:ext>
                </a:extLst>
              </a:tr>
            </a:tbl>
          </a:graphicData>
        </a:graphic>
      </p:graphicFrame>
      <p:sp>
        <p:nvSpPr>
          <p:cNvPr id="32" name="TextBox 31">
            <a:extLst>
              <a:ext uri="{FF2B5EF4-FFF2-40B4-BE49-F238E27FC236}">
                <a16:creationId xmlns:a16="http://schemas.microsoft.com/office/drawing/2014/main" id="{8920A89C-0DE6-FCFC-4839-6725556117DC}"/>
              </a:ext>
            </a:extLst>
          </p:cNvPr>
          <p:cNvSpPr txBox="1"/>
          <p:nvPr/>
        </p:nvSpPr>
        <p:spPr>
          <a:xfrm>
            <a:off x="1548079" y="3275111"/>
            <a:ext cx="920965" cy="307777"/>
          </a:xfrm>
          <a:prstGeom prst="rect">
            <a:avLst/>
          </a:prstGeom>
          <a:solidFill>
            <a:srgbClr val="00B0F0"/>
          </a:solidFill>
          <a:ln w="28575">
            <a:solidFill>
              <a:schemeClr val="tx1"/>
            </a:solidFill>
            <a:prstDash val="sysDash"/>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rPr>
              <a:t>IRRBB</a:t>
            </a:r>
          </a:p>
        </p:txBody>
      </p:sp>
      <p:sp>
        <p:nvSpPr>
          <p:cNvPr id="33" name="TextBox 32">
            <a:extLst>
              <a:ext uri="{FF2B5EF4-FFF2-40B4-BE49-F238E27FC236}">
                <a16:creationId xmlns:a16="http://schemas.microsoft.com/office/drawing/2014/main" id="{040232DB-6F67-5B9D-3927-7B6BB44B76C3}"/>
              </a:ext>
            </a:extLst>
          </p:cNvPr>
          <p:cNvSpPr txBox="1"/>
          <p:nvPr/>
        </p:nvSpPr>
        <p:spPr>
          <a:xfrm>
            <a:off x="1548078" y="4014365"/>
            <a:ext cx="920965" cy="307777"/>
          </a:xfrm>
          <a:prstGeom prst="rect">
            <a:avLst/>
          </a:prstGeom>
          <a:solidFill>
            <a:srgbClr val="FF6699"/>
          </a:solidFill>
          <a:ln w="28575">
            <a:solidFill>
              <a:schemeClr val="tx1"/>
            </a:solidFill>
            <a:prstDash val="sysDash"/>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rPr>
              <a:t>CSRBB</a:t>
            </a:r>
          </a:p>
        </p:txBody>
      </p:sp>
      <p:sp>
        <p:nvSpPr>
          <p:cNvPr id="23" name="Espace réservé du texte 15">
            <a:extLst>
              <a:ext uri="{FF2B5EF4-FFF2-40B4-BE49-F238E27FC236}">
                <a16:creationId xmlns:a16="http://schemas.microsoft.com/office/drawing/2014/main" id="{A2A2C67A-1C3C-3DD6-A652-59E7A4A2D903}"/>
              </a:ext>
            </a:extLst>
          </p:cNvPr>
          <p:cNvSpPr txBox="1">
            <a:spLocks/>
          </p:cNvSpPr>
          <p:nvPr/>
        </p:nvSpPr>
        <p:spPr>
          <a:xfrm flipH="1">
            <a:off x="64172" y="90951"/>
            <a:ext cx="648740" cy="608849"/>
          </a:xfrm>
          <a:prstGeom prst="parallelogram">
            <a:avLst/>
          </a:prstGeom>
          <a:solidFill>
            <a:srgbClr val="1F5363"/>
          </a:solidFill>
        </p:spPr>
        <p:txBody>
          <a:bodyPr lIns="0" tIns="0" rIns="0" bIns="0" anchor="ctr"/>
          <a:lstStyle>
            <a:lvl1pPr marL="0" indent="0" algn="ctr" defTabSz="914400" rtl="0" eaLnBrk="1" latinLnBrk="0" hangingPunct="1">
              <a:lnSpc>
                <a:spcPct val="90000"/>
              </a:lnSpc>
              <a:spcBef>
                <a:spcPts val="1000"/>
              </a:spcBef>
              <a:buFont typeface="Arial" panose="020B0604020202020204" pitchFamily="34" charset="0"/>
              <a:buNone/>
              <a:defRPr sz="3600" b="1" i="0" kern="1200" spc="0">
                <a:solidFill>
                  <a:schemeClr val="bg1"/>
                </a:solidFill>
                <a:latin typeface="Calibri" panose="020F0502020204030204" pitchFamily="34" charset="0"/>
                <a:ea typeface="+mn-ea"/>
                <a:cs typeface="Calibri" panose="020F050202020403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tx1"/>
                </a:solidFill>
                <a:latin typeface="Noe Display" panose="020A0500090400000002" pitchFamily="18" charset="77"/>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b="0" i="0" kern="1200">
                <a:solidFill>
                  <a:schemeClr val="tx1"/>
                </a:solidFill>
                <a:latin typeface="Noe Display" panose="020A0500090400000002" pitchFamily="18" charset="77"/>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Noe Display" panose="020A0500090400000002" pitchFamily="18"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Tx/>
            </a:pPr>
            <a:r>
              <a:rPr lang="fr-FR" dirty="0"/>
              <a:t>1</a:t>
            </a:r>
          </a:p>
        </p:txBody>
      </p:sp>
    </p:spTree>
    <p:extLst>
      <p:ext uri="{BB962C8B-B14F-4D97-AF65-F5344CB8AC3E}">
        <p14:creationId xmlns:p14="http://schemas.microsoft.com/office/powerpoint/2010/main" val="124239519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6D8219C-5124-AD11-73B1-66F676811C31}"/>
              </a:ext>
            </a:extLst>
          </p:cNvPr>
          <p:cNvSpPr>
            <a:spLocks noGrp="1"/>
          </p:cNvSpPr>
          <p:nvPr>
            <p:ph type="body" sz="quarter" idx="11"/>
          </p:nvPr>
        </p:nvSpPr>
        <p:spPr/>
        <p:txBody>
          <a:bodyPr/>
          <a:lstStyle/>
          <a:p>
            <a:r>
              <a:rPr lang="fr-FR" dirty="0"/>
              <a:t>Annexes</a:t>
            </a:r>
          </a:p>
        </p:txBody>
      </p:sp>
      <p:graphicFrame>
        <p:nvGraphicFramePr>
          <p:cNvPr id="6" name="Table 5">
            <a:extLst>
              <a:ext uri="{FF2B5EF4-FFF2-40B4-BE49-F238E27FC236}">
                <a16:creationId xmlns:a16="http://schemas.microsoft.com/office/drawing/2014/main" id="{B39A0EC9-4117-ECD5-67B3-26941C806F36}"/>
              </a:ext>
            </a:extLst>
          </p:cNvPr>
          <p:cNvGraphicFramePr>
            <a:graphicFrameLocks noGrp="1"/>
          </p:cNvGraphicFramePr>
          <p:nvPr/>
        </p:nvGraphicFramePr>
        <p:xfrm>
          <a:off x="999137" y="1637238"/>
          <a:ext cx="5890578" cy="1650448"/>
        </p:xfrm>
        <a:graphic>
          <a:graphicData uri="http://schemas.openxmlformats.org/drawingml/2006/table">
            <a:tbl>
              <a:tblPr firstRow="1" bandRow="1">
                <a:tableStyleId>{B407F83F-F4B1-428F-90E6-6AE17F0CE779}</a:tableStyleId>
              </a:tblPr>
              <a:tblGrid>
                <a:gridCol w="2945289">
                  <a:extLst>
                    <a:ext uri="{9D8B030D-6E8A-4147-A177-3AD203B41FA5}">
                      <a16:colId xmlns:a16="http://schemas.microsoft.com/office/drawing/2014/main" val="365084050"/>
                    </a:ext>
                  </a:extLst>
                </a:gridCol>
                <a:gridCol w="2945289">
                  <a:extLst>
                    <a:ext uri="{9D8B030D-6E8A-4147-A177-3AD203B41FA5}">
                      <a16:colId xmlns:a16="http://schemas.microsoft.com/office/drawing/2014/main" val="3308542114"/>
                    </a:ext>
                  </a:extLst>
                </a:gridCol>
              </a:tblGrid>
              <a:tr h="527422">
                <a:tc>
                  <a:txBody>
                    <a:bodyPr/>
                    <a:lstStyle/>
                    <a:p>
                      <a:r>
                        <a:rPr lang="fr-FR" b="1" dirty="0"/>
                        <a:t>Documents réglementaires</a:t>
                      </a:r>
                    </a:p>
                  </a:txBody>
                  <a:tcPr>
                    <a:solidFill>
                      <a:schemeClr val="bg1">
                        <a:lumMod val="75000"/>
                      </a:schemeClr>
                    </a:solidFill>
                  </a:tcPr>
                </a:tc>
                <a:tc>
                  <a:txBody>
                    <a:bodyPr/>
                    <a:lstStyle/>
                    <a:p>
                      <a:r>
                        <a:rPr lang="fr-FR" b="1" dirty="0"/>
                        <a:t>Liens</a:t>
                      </a:r>
                    </a:p>
                  </a:txBody>
                  <a:tcPr>
                    <a:solidFill>
                      <a:schemeClr val="bg1">
                        <a:lumMod val="75000"/>
                      </a:schemeClr>
                    </a:solidFill>
                  </a:tcPr>
                </a:tc>
                <a:extLst>
                  <a:ext uri="{0D108BD9-81ED-4DB2-BD59-A6C34878D82A}">
                    <a16:rowId xmlns:a16="http://schemas.microsoft.com/office/drawing/2014/main" val="3062179187"/>
                  </a:ext>
                </a:extLst>
              </a:tr>
              <a:tr h="561513">
                <a:tc>
                  <a:txBody>
                    <a:bodyPr/>
                    <a:lstStyle/>
                    <a:p>
                      <a:endParaRPr lang="fr-FR" dirty="0"/>
                    </a:p>
                  </a:txBody>
                  <a:tcPr/>
                </a:tc>
                <a:tc>
                  <a:txBody>
                    <a:bodyPr/>
                    <a:lstStyle/>
                    <a:p>
                      <a:endParaRPr lang="fr-FR" dirty="0"/>
                    </a:p>
                  </a:txBody>
                  <a:tcPr/>
                </a:tc>
                <a:extLst>
                  <a:ext uri="{0D108BD9-81ED-4DB2-BD59-A6C34878D82A}">
                    <a16:rowId xmlns:a16="http://schemas.microsoft.com/office/drawing/2014/main" val="1660030121"/>
                  </a:ext>
                </a:extLst>
              </a:tr>
              <a:tr h="561513">
                <a:tc>
                  <a:txBody>
                    <a:bodyPr/>
                    <a:lstStyle/>
                    <a:p>
                      <a:endParaRPr lang="fr-FR" dirty="0"/>
                    </a:p>
                  </a:txBody>
                  <a:tcPr/>
                </a:tc>
                <a:tc>
                  <a:txBody>
                    <a:bodyPr/>
                    <a:lstStyle/>
                    <a:p>
                      <a:endParaRPr lang="fr-FR" dirty="0"/>
                    </a:p>
                  </a:txBody>
                  <a:tcPr/>
                </a:tc>
                <a:extLst>
                  <a:ext uri="{0D108BD9-81ED-4DB2-BD59-A6C34878D82A}">
                    <a16:rowId xmlns:a16="http://schemas.microsoft.com/office/drawing/2014/main" val="1919074072"/>
                  </a:ext>
                </a:extLst>
              </a:tr>
            </a:tbl>
          </a:graphicData>
        </a:graphic>
      </p:graphicFrame>
    </p:spTree>
    <p:extLst>
      <p:ext uri="{BB962C8B-B14F-4D97-AF65-F5344CB8AC3E}">
        <p14:creationId xmlns:p14="http://schemas.microsoft.com/office/powerpoint/2010/main" val="3769286041"/>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25060&quot;&gt;&lt;version val=&quot;28388&quot;/&gt;&lt;CPresentation id=&quot;1&quot;&gt;&lt;m_precDefaultNumber&gt;&lt;m_bNumberIsYear val=&quot;1&quot;/&gt;&lt;m_chMinusSymbol&gt;-&lt;/m_chMinusSymbol&gt;&lt;m_chDecimalSymbol17909&gt;,&lt;/m_chDecimalSymbol17909&gt;&lt;m_nGroupingDigits17909 val=&quot;3&quot;/&gt;&lt;m_chGroupingSymbol17909&gt; &lt;/m_chGroupingSymbol17909&gt;&lt;m_yearfmt&gt;&lt;begin val=&quot;0&quot;/&gt;&lt;end val=&quot;4&quot;/&gt;&lt;/m_yearfmt&gt;&lt;/m_precDefaultNumber&gt;&lt;m_precDefaultPercent&gt;&lt;m_bNumberIsYear val=&quot;1&quot;/&gt;&lt;m_chMinusSymbol&gt;-&lt;/m_chMinusSymbol&gt;&lt;m_nDecimalDigits17909 val=&quot;0&quot;/&gt;&lt;m_chDecimalSymbol17909&gt;,&lt;/m_chDecimalSymbol17909&gt;&lt;m_nGroupingDigits17909 val=&quot;3&quot;/&gt;&lt;m_chGroupingSymbol17909&gt; &lt;/m_chGroupingSymbol17909&gt;&lt;m_strSuffix17909&gt;%&lt;/m_strSuffix17909&gt;&lt;m_yearfmt&gt;&lt;begin val=&quot;0&quot;/&gt;&lt;end val=&quot;4&quot;/&gt;&lt;/m_yearfmt&gt;&lt;/m_precDefaultPercent&gt;&lt;m_precDefaultDate&gt;&lt;m_yearfmt&gt;&lt;begin val=&quot;0&quot;/&gt;&lt;end val=&quot;4&quot;/&gt;&lt;/m_yearfmt&gt;&lt;/m_precDefaultDate&gt;&lt;m_precDefaultYear&gt;&lt;m_yearfmt&gt;&lt;begin val=&quot;0&quot;/&gt;&lt;end val=&quot;4&quot;/&gt;&lt;/m_yearfmt&gt;&lt;/m_precDefaultYear&gt;&lt;m_precDefaultQuarter&gt;&lt;m_yearfmt&gt;&lt;begin val=&quot;0&quot;/&gt;&lt;end val=&quot;4&quot;/&gt;&lt;/m_yearfmt&gt;&lt;/m_precDefaultQuarter&gt;&lt;m_precDefaultMonth&gt;&lt;m_yearfmt&gt;&lt;begin val=&quot;0&quot;/&gt;&lt;end val=&quot;4&quot;/&gt;&lt;/m_yearfmt&gt;&lt;/m_precDefaultMonth&gt;&lt;m_precDefaultWeek&gt;&lt;m_yearfmt&gt;&lt;begin val=&quot;0&quot;/&gt;&lt;end val=&quot;4&quot;/&gt;&lt;/m_yearfmt&gt;&lt;/m_precDefaultWeek&gt;&lt;m_precDefaultDay&gt;&lt;m_yearfmt&gt;&lt;begin val=&quot;0&quot;/&gt;&lt;end val=&quot;4&quot;/&gt;&lt;/m_yearfmt&gt;&lt;/m_precDefaultDay&gt;&lt;m_mruColor&gt;&lt;m_vecMRU length=&quot;0&quot;/&gt;&lt;/m_mruColor&gt;&lt;m_eweekdayFirstOfWeek val=&quot;2&quot;/&gt;&lt;m_eweekdayFirstOfWorkweek val=&quot;2&quot;/&gt;&lt;m_eweekdayFirstOfWeekend val=&quot;7&quot;/&gt;&lt;/CPresentation&gt;&lt;/root&gt;"/>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Conception personnalisée">
  <a:themeElements>
    <a:clrScheme name="MLA">
      <a:dk1>
        <a:srgbClr val="115264"/>
      </a:dk1>
      <a:lt1>
        <a:sysClr val="window" lastClr="FFFFFF"/>
      </a:lt1>
      <a:dk2>
        <a:srgbClr val="44546A"/>
      </a:dk2>
      <a:lt2>
        <a:srgbClr val="E7E6E6"/>
      </a:lt2>
      <a:accent1>
        <a:srgbClr val="115264"/>
      </a:accent1>
      <a:accent2>
        <a:srgbClr val="E7E6E6"/>
      </a:accent2>
      <a:accent3>
        <a:srgbClr val="1D7B96"/>
      </a:accent3>
      <a:accent4>
        <a:srgbClr val="D0CECE"/>
      </a:accent4>
      <a:accent5>
        <a:srgbClr val="22A4C8"/>
      </a:accent5>
      <a:accent6>
        <a:srgbClr val="92D7CC"/>
      </a:accent6>
      <a:hlink>
        <a:srgbClr val="0563C1"/>
      </a:hlink>
      <a:folHlink>
        <a:srgbClr val="0563C1"/>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3_Conception personnalisée">
  <a:themeElements>
    <a:clrScheme name="MLA">
      <a:dk1>
        <a:srgbClr val="115264"/>
      </a:dk1>
      <a:lt1>
        <a:sysClr val="window" lastClr="FFFFFF"/>
      </a:lt1>
      <a:dk2>
        <a:srgbClr val="44546A"/>
      </a:dk2>
      <a:lt2>
        <a:srgbClr val="E7E6E6"/>
      </a:lt2>
      <a:accent1>
        <a:srgbClr val="115264"/>
      </a:accent1>
      <a:accent2>
        <a:srgbClr val="E7E6E6"/>
      </a:accent2>
      <a:accent3>
        <a:srgbClr val="1D7B96"/>
      </a:accent3>
      <a:accent4>
        <a:srgbClr val="D0CECE"/>
      </a:accent4>
      <a:accent5>
        <a:srgbClr val="22A4C8"/>
      </a:accent5>
      <a:accent6>
        <a:srgbClr val="92D7CC"/>
      </a:accent6>
      <a:hlink>
        <a:srgbClr val="0563C1"/>
      </a:hlink>
      <a:folHlink>
        <a:srgbClr val="0563C1"/>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Conception personnalisé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2013 - 2022" id="{62F939B6-93AF-4DB8-9C6B-D6C7DFDC589F}" vid="{4A3C46E8-61CC-4603-A589-7422A47A8E4A}"/>
    </a:ext>
  </a:extLst>
</a:theme>
</file>

<file path=ppt/theme/theme4.xml><?xml version="1.0" encoding="utf-8"?>
<a:theme xmlns:a="http://schemas.openxmlformats.org/drawingml/2006/main" name="1_Conception personnalisé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2013 - 2022" id="{62F939B6-93AF-4DB8-9C6B-D6C7DFDC589F}" vid="{4A3C46E8-61CC-4603-A589-7422A47A8E4A}"/>
    </a:ext>
  </a:extLst>
</a:theme>
</file>

<file path=ppt/theme/theme5.xml><?xml version="1.0" encoding="utf-8"?>
<a:theme xmlns:a="http://schemas.openxmlformats.org/drawingml/2006/main" name="Custom Design">
  <a:themeElements>
    <a:clrScheme name="MLA">
      <a:dk1>
        <a:srgbClr val="115264"/>
      </a:dk1>
      <a:lt1>
        <a:sysClr val="window" lastClr="FFFFFF"/>
      </a:lt1>
      <a:dk2>
        <a:srgbClr val="44546A"/>
      </a:dk2>
      <a:lt2>
        <a:srgbClr val="E7E6E6"/>
      </a:lt2>
      <a:accent1>
        <a:srgbClr val="115264"/>
      </a:accent1>
      <a:accent2>
        <a:srgbClr val="E7E6E6"/>
      </a:accent2>
      <a:accent3>
        <a:srgbClr val="1D7B96"/>
      </a:accent3>
      <a:accent4>
        <a:srgbClr val="D0CECE"/>
      </a:accent4>
      <a:accent5>
        <a:srgbClr val="22A4C8"/>
      </a:accent5>
      <a:accent6>
        <a:srgbClr val="92D7CC"/>
      </a:accent6>
      <a:hlink>
        <a:srgbClr val="0563C1"/>
      </a:hlink>
      <a:folHlink>
        <a:srgbClr val="0563C1"/>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4_Conception personnalisée">
  <a:themeElements>
    <a:clrScheme name="MLA">
      <a:dk1>
        <a:srgbClr val="115264"/>
      </a:dk1>
      <a:lt1>
        <a:sysClr val="window" lastClr="FFFFFF"/>
      </a:lt1>
      <a:dk2>
        <a:srgbClr val="44546A"/>
      </a:dk2>
      <a:lt2>
        <a:srgbClr val="E7E6E6"/>
      </a:lt2>
      <a:accent1>
        <a:srgbClr val="115264"/>
      </a:accent1>
      <a:accent2>
        <a:srgbClr val="E7E6E6"/>
      </a:accent2>
      <a:accent3>
        <a:srgbClr val="1D7B96"/>
      </a:accent3>
      <a:accent4>
        <a:srgbClr val="D0CECE"/>
      </a:accent4>
      <a:accent5>
        <a:srgbClr val="22A4C8"/>
      </a:accent5>
      <a:accent6>
        <a:srgbClr val="92D7CC"/>
      </a:accent6>
      <a:hlink>
        <a:srgbClr val="0563C1"/>
      </a:hlink>
      <a:folHlink>
        <a:srgbClr val="0563C1"/>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Thème global">
  <a:themeElements>
    <a:clrScheme name="CCF PPT">
      <a:dk1>
        <a:sysClr val="windowText" lastClr="000000"/>
      </a:dk1>
      <a:lt1>
        <a:srgbClr val="FFFFFF"/>
      </a:lt1>
      <a:dk2>
        <a:srgbClr val="003565"/>
      </a:dk2>
      <a:lt2>
        <a:srgbClr val="FAFAFA"/>
      </a:lt2>
      <a:accent1>
        <a:srgbClr val="ADB9CC"/>
      </a:accent1>
      <a:accent2>
        <a:srgbClr val="E1C86E"/>
      </a:accent2>
      <a:accent3>
        <a:srgbClr val="97B280"/>
      </a:accent3>
      <a:accent4>
        <a:srgbClr val="CFA595"/>
      </a:accent4>
      <a:accent5>
        <a:srgbClr val="C5C2C2"/>
      </a:accent5>
      <a:accent6>
        <a:srgbClr val="ADF2FF"/>
      </a:accent6>
      <a:hlink>
        <a:srgbClr val="000000"/>
      </a:hlink>
      <a:folHlink>
        <a:srgbClr val="00000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000" dirty="0" smtClean="0">
            <a:solidFill>
              <a:schemeClr val="tx2"/>
            </a:solidFill>
            <a:latin typeface="+mj-lt"/>
          </a:defRPr>
        </a:defPPr>
      </a:lstStyle>
    </a:txDef>
  </a:objectDefaults>
  <a:extraClrSchemeLst/>
  <a:extLst>
    <a:ext uri="{05A4C25C-085E-4340-85A3-A5531E510DB2}">
      <thm15:themeFamily xmlns:thm15="http://schemas.microsoft.com/office/thememl/2012/main" name="Thème global" id="{7972518B-10CF-4B4C-B581-E0C612151C62}" vid="{98E7CB37-79AF-4872-8342-1610401138D0}"/>
    </a:ext>
  </a:extLst>
</a:theme>
</file>

<file path=ppt/theme/theme8.xml><?xml version="1.0" encoding="utf-8"?>
<a:theme xmlns:a="http://schemas.openxmlformats.org/drawingml/2006/main" name="5_Conception personnalisée">
  <a:themeElements>
    <a:clrScheme name="MLA">
      <a:dk1>
        <a:srgbClr val="115264"/>
      </a:dk1>
      <a:lt1>
        <a:sysClr val="window" lastClr="FFFFFF"/>
      </a:lt1>
      <a:dk2>
        <a:srgbClr val="44546A"/>
      </a:dk2>
      <a:lt2>
        <a:srgbClr val="E7E6E6"/>
      </a:lt2>
      <a:accent1>
        <a:srgbClr val="115264"/>
      </a:accent1>
      <a:accent2>
        <a:srgbClr val="E7E6E6"/>
      </a:accent2>
      <a:accent3>
        <a:srgbClr val="1D7B96"/>
      </a:accent3>
      <a:accent4>
        <a:srgbClr val="D0CECE"/>
      </a:accent4>
      <a:accent5>
        <a:srgbClr val="22A4C8"/>
      </a:accent5>
      <a:accent6>
        <a:srgbClr val="92D7CC"/>
      </a:accent6>
      <a:hlink>
        <a:srgbClr val="0563C1"/>
      </a:hlink>
      <a:folHlink>
        <a:srgbClr val="0563C1"/>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Tema de Offic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C7400DDACAA48A4BA9D9FCA42720ACD9" ma:contentTypeVersion="17" ma:contentTypeDescription="Create a new document." ma:contentTypeScope="" ma:versionID="741d0dd5926a2b1239c2f6ae083dc53a">
  <xsd:schema xmlns:xsd="http://www.w3.org/2001/XMLSchema" xmlns:xs="http://www.w3.org/2001/XMLSchema" xmlns:p="http://schemas.microsoft.com/office/2006/metadata/properties" xmlns:ns2="612bdca4-89c1-45e2-98e9-58d5270b6287" xmlns:ns3="c1a4f10e-3a84-4436-91e5-3979464aa1e5" targetNamespace="http://schemas.microsoft.com/office/2006/metadata/properties" ma:root="true" ma:fieldsID="823f47a00f35fe5d85eeb78f30807318" ns2:_="" ns3:_="">
    <xsd:import namespace="612bdca4-89c1-45e2-98e9-58d5270b6287"/>
    <xsd:import namespace="c1a4f10e-3a84-4436-91e5-3979464aa1e5"/>
    <xsd:element name="properties">
      <xsd:complexType>
        <xsd:sequence>
          <xsd:element name="documentManagement">
            <xsd:complexType>
              <xsd:all>
                <xsd:element ref="ns2:MediaServiceMetadata" minOccurs="0"/>
                <xsd:element ref="ns2:MediaServiceFastMetadata" minOccurs="0"/>
                <xsd:element ref="ns2:lcf76f155ced4ddcb4097134ff3c332f" minOccurs="0"/>
                <xsd:element ref="ns3:TaxCatchAll" minOccurs="0"/>
                <xsd:element ref="ns2:MediaServiceDateTaken" minOccurs="0"/>
                <xsd:element ref="ns2:MediaServiceLocation" minOccurs="0"/>
                <xsd:element ref="ns2:MediaServiceOCR" minOccurs="0"/>
                <xsd:element ref="ns2:MediaServiceGenerationTime" minOccurs="0"/>
                <xsd:element ref="ns2:MediaServiceEventHashCode" minOccurs="0"/>
                <xsd:element ref="ns2:MediaServiceObjectDetectorVersions" minOccurs="0"/>
                <xsd:element ref="ns2:Content" minOccurs="0"/>
                <xsd:element ref="ns2:Topic" minOccurs="0"/>
                <xsd:element ref="ns2:Comment" minOccurs="0"/>
                <xsd:element ref="ns3:SharedWithUsers" minOccurs="0"/>
                <xsd:element ref="ns3:SharedWithDetails"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612bdca4-89c1-45e2-98e9-58d5270b6287"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lcf76f155ced4ddcb4097134ff3c332f" ma:index="11" nillable="true" ma:taxonomy="true" ma:internalName="lcf76f155ced4ddcb4097134ff3c332f" ma:taxonomyFieldName="MediaServiceImageTags" ma:displayName="Image Tags" ma:readOnly="false" ma:fieldId="{5cf76f15-5ced-4ddc-b409-7134ff3c332f}" ma:taxonomyMulti="true" ma:sspId="529347cf-97fc-4919-85de-59ddbcd9a0d9" ma:termSetId="09814cd3-568e-fe90-9814-8d621ff8fb84" ma:anchorId="fba54fb3-c3e1-fe81-a776-ca4b69148c4d" ma:open="true" ma:isKeyword="false">
      <xsd:complexType>
        <xsd:sequence>
          <xsd:element ref="pc:Terms" minOccurs="0" maxOccurs="1"/>
        </xsd:sequence>
      </xsd:complexType>
    </xsd:element>
    <xsd:element name="MediaServiceDateTaken" ma:index="13" nillable="true" ma:displayName="MediaServiceDateTaken" ma:hidden="true" ma:indexed="true" ma:internalName="MediaServiceDateTaken" ma:readOnly="true">
      <xsd:simpleType>
        <xsd:restriction base="dms:Text"/>
      </xsd:simpleType>
    </xsd:element>
    <xsd:element name="MediaServiceLocation" ma:index="14" nillable="true" ma:displayName="Location" ma:indexed="true" ma:internalName="MediaServiceLocation" ma:readOnly="true">
      <xsd:simpleType>
        <xsd:restriction base="dms:Text"/>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ObjectDetectorVersions" ma:index="18" nillable="true" ma:displayName="MediaServiceObjectDetectorVersions" ma:hidden="true" ma:indexed="true" ma:internalName="MediaServiceObjectDetectorVersions" ma:readOnly="true">
      <xsd:simpleType>
        <xsd:restriction base="dms:Text"/>
      </xsd:simpleType>
    </xsd:element>
    <xsd:element name="Content" ma:index="19" nillable="true" ma:displayName="Content" ma:format="Dropdown" ma:internalName="Content">
      <xsd:simpleType>
        <xsd:restriction base="dms:Text">
          <xsd:maxLength value="255"/>
        </xsd:restriction>
      </xsd:simpleType>
    </xsd:element>
    <xsd:element name="Topic" ma:index="20" nillable="true" ma:displayName="Topic" ma:format="Dropdown" ma:internalName="Topic">
      <xsd:simpleType>
        <xsd:restriction base="dms:Text">
          <xsd:maxLength value="255"/>
        </xsd:restriction>
      </xsd:simpleType>
    </xsd:element>
    <xsd:element name="Comment" ma:index="21" nillable="true" ma:displayName="Comment " ma:format="Dropdown" ma:internalName="Comment">
      <xsd:simpleType>
        <xsd:restriction base="dms:Text">
          <xsd:maxLength value="255"/>
        </xsd:restriction>
      </xsd:simpleType>
    </xsd:element>
    <xsd:element name="MediaServiceSearchProperties" ma:index="24"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c1a4f10e-3a84-4436-91e5-3979464aa1e5" elementFormDefault="qualified">
    <xsd:import namespace="http://schemas.microsoft.com/office/2006/documentManagement/types"/>
    <xsd:import namespace="http://schemas.microsoft.com/office/infopath/2007/PartnerControls"/>
    <xsd:element name="TaxCatchAll" ma:index="12" nillable="true" ma:displayName="Taxonomy Catch All Column" ma:hidden="true" ma:list="{c2f0e5d9-9631-4c25-8cc5-e18e190d26d0}" ma:internalName="TaxCatchAll" ma:showField="CatchAllData" ma:web="c1a4f10e-3a84-4436-91e5-3979464aa1e5">
      <xsd:complexType>
        <xsd:complexContent>
          <xsd:extension base="dms:MultiChoiceLookup">
            <xsd:sequence>
              <xsd:element name="Value" type="dms:Lookup" maxOccurs="unbounded" minOccurs="0" nillable="true"/>
            </xsd:sequence>
          </xsd:extension>
        </xsd:complexContent>
      </xsd:complexType>
    </xsd:element>
    <xsd:element name="SharedWithUsers" ma:index="2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3"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TaxCatchAll xmlns="c1a4f10e-3a84-4436-91e5-3979464aa1e5" xsi:nil="true"/>
    <Content xmlns="612bdca4-89c1-45e2-98e9-58d5270b6287" xsi:nil="true"/>
    <Topic xmlns="612bdca4-89c1-45e2-98e9-58d5270b6287" xsi:nil="true"/>
    <Comment xmlns="612bdca4-89c1-45e2-98e9-58d5270b6287" xsi:nil="true"/>
    <lcf76f155ced4ddcb4097134ff3c332f xmlns="612bdca4-89c1-45e2-98e9-58d5270b6287">
      <Terms xmlns="http://schemas.microsoft.com/office/infopath/2007/PartnerControls"/>
    </lcf76f155ced4ddcb4097134ff3c332f>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24AB1140-0365-4D59-AAA9-CED66C5C30D7}">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612bdca4-89c1-45e2-98e9-58d5270b6287"/>
    <ds:schemaRef ds:uri="c1a4f10e-3a84-4436-91e5-3979464aa1e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116401C-C916-4D46-B28A-D748B54066EC}">
  <ds:schemaRefs>
    <ds:schemaRef ds:uri="612bdca4-89c1-45e2-98e9-58d5270b6287"/>
    <ds:schemaRef ds:uri="http://purl.org/dc/elements/1.1/"/>
    <ds:schemaRef ds:uri="http://schemas.microsoft.com/office/infopath/2007/PartnerControls"/>
    <ds:schemaRef ds:uri="http://schemas.openxmlformats.org/package/2006/metadata/core-properties"/>
    <ds:schemaRef ds:uri="c1a4f10e-3a84-4436-91e5-3979464aa1e5"/>
    <ds:schemaRef ds:uri="http://schemas.microsoft.com/office/2006/documentManagement/types"/>
    <ds:schemaRef ds:uri="http://www.w3.org/XML/1998/namespace"/>
    <ds:schemaRef ds:uri="http://purl.org/dc/terms/"/>
    <ds:schemaRef ds:uri="http://schemas.microsoft.com/office/2006/metadata/properties"/>
    <ds:schemaRef ds:uri="http://purl.org/dc/dcmitype/"/>
  </ds:schemaRefs>
</ds:datastoreItem>
</file>

<file path=customXml/itemProps3.xml><?xml version="1.0" encoding="utf-8"?>
<ds:datastoreItem xmlns:ds="http://schemas.openxmlformats.org/officeDocument/2006/customXml" ds:itemID="{1B78FA80-0CAA-4FF6-B8C9-92B276089EE9}">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
  <TotalTime>35480</TotalTime>
  <Words>24238</Words>
  <Application>Microsoft Office PowerPoint</Application>
  <PresentationFormat>Grand écran</PresentationFormat>
  <Paragraphs>9048</Paragraphs>
  <Slides>96</Slides>
  <Notes>58</Notes>
  <HiddenSlides>0</HiddenSlides>
  <MMClips>0</MMClips>
  <ScaleCrop>false</ScaleCrop>
  <HeadingPairs>
    <vt:vector size="4" baseType="variant">
      <vt:variant>
        <vt:lpstr>Thème</vt:lpstr>
      </vt:variant>
      <vt:variant>
        <vt:i4>8</vt:i4>
      </vt:variant>
      <vt:variant>
        <vt:lpstr>Titres des diapositives</vt:lpstr>
      </vt:variant>
      <vt:variant>
        <vt:i4>96</vt:i4>
      </vt:variant>
    </vt:vector>
  </HeadingPairs>
  <TitlesOfParts>
    <vt:vector size="104" baseType="lpstr">
      <vt:lpstr>Conception personnalisée</vt:lpstr>
      <vt:lpstr>3_Conception personnalisée</vt:lpstr>
      <vt:lpstr>2_Conception personnalisée</vt:lpstr>
      <vt:lpstr>1_Conception personnalisée</vt:lpstr>
      <vt:lpstr>Custom Design</vt:lpstr>
      <vt:lpstr>4_Conception personnalisée</vt:lpstr>
      <vt:lpstr>Thème global</vt:lpstr>
      <vt:lpstr>5_Conception personnalisée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Sustainable Finance</dc:title>
  <dc:creator>Hélène Fréon-Douzon</dc:creator>
  <cp:lastModifiedBy>Arthur Tala</cp:lastModifiedBy>
  <cp:revision>245</cp:revision>
  <cp:lastPrinted>2022-06-29T12:22:01Z</cp:lastPrinted>
  <dcterms:created xsi:type="dcterms:W3CDTF">2019-07-08T09:10:13Z</dcterms:created>
  <dcterms:modified xsi:type="dcterms:W3CDTF">2026-01-12T14:34:11Z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0x010100C7400DDACAA48A4BA9D9FCA42720ACD9</vt:lpwstr>
  </property>
  <property fmtid="{D5CDD505-2E9C-101B-9397-08002B2CF9AE}" pid="3" name="MediaServiceImageTags">
    <vt:lpwstr/>
  </property>
  <property fmtid="{D5CDD505-2E9C-101B-9397-08002B2CF9AE}" pid="4" name="Order">
    <vt:lpwstr>68300.0000000000</vt:lpwstr>
  </property>
  <property fmtid="{D5CDD505-2E9C-101B-9397-08002B2CF9AE}" pid="5" name="xd_ProgID">
    <vt:lpwstr/>
  </property>
  <property fmtid="{D5CDD505-2E9C-101B-9397-08002B2CF9AE}" pid="6" name="ComplianceAssetId">
    <vt:lpwstr/>
  </property>
  <property fmtid="{D5CDD505-2E9C-101B-9397-08002B2CF9AE}" pid="7" name="TemplateUrl">
    <vt:lpwstr/>
  </property>
  <property fmtid="{D5CDD505-2E9C-101B-9397-08002B2CF9AE}" pid="8" name="_ExtendedDescription">
    <vt:lpwstr/>
  </property>
  <property fmtid="{D5CDD505-2E9C-101B-9397-08002B2CF9AE}" pid="9" name="TriggerFlowInfo">
    <vt:lpwstr/>
  </property>
  <property fmtid="{D5CDD505-2E9C-101B-9397-08002B2CF9AE}" pid="10" name="xd_Signature">
    <vt:lpwstr/>
  </property>
</Properties>
</file>